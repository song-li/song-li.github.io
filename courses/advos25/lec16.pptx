
<file path=[Content_Types].xml><?xml version="1.0" encoding="utf-8"?>
<Types xmlns="http://schemas.openxmlformats.org/package/2006/content-types">
  <Default Extension="xml" ContentType="application/xml"/>
  <Default Extension="jpeg" ContentType="image/jpeg"/>
  <Default Extension="png" ContentType="image/png"/>
  <Default Extension="gif" ContentType="image/gif"/>
  <Default Extension="emf" ContentType="image/x-emf"/>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1" r:id="rId1"/>
  </p:sldMasterIdLst>
  <p:notesMasterIdLst>
    <p:notesMasterId r:id="rId67"/>
  </p:notesMasterIdLst>
  <p:handoutMasterIdLst>
    <p:handoutMasterId r:id="rId68"/>
  </p:handoutMasterIdLst>
  <p:sldIdLst>
    <p:sldId id="560" r:id="rId2"/>
    <p:sldId id="561" r:id="rId3"/>
    <p:sldId id="562" r:id="rId4"/>
    <p:sldId id="563" r:id="rId5"/>
    <p:sldId id="564" r:id="rId6"/>
    <p:sldId id="565" r:id="rId7"/>
    <p:sldId id="566" r:id="rId8"/>
    <p:sldId id="567" r:id="rId9"/>
    <p:sldId id="568" r:id="rId10"/>
    <p:sldId id="569" r:id="rId11"/>
    <p:sldId id="570" r:id="rId12"/>
    <p:sldId id="571" r:id="rId13"/>
    <p:sldId id="572" r:id="rId14"/>
    <p:sldId id="573" r:id="rId15"/>
    <p:sldId id="574" r:id="rId16"/>
    <p:sldId id="575" r:id="rId17"/>
    <p:sldId id="576" r:id="rId18"/>
    <p:sldId id="577" r:id="rId19"/>
    <p:sldId id="578" r:id="rId20"/>
    <p:sldId id="579" r:id="rId21"/>
    <p:sldId id="580" r:id="rId22"/>
    <p:sldId id="581" r:id="rId23"/>
    <p:sldId id="582" r:id="rId24"/>
    <p:sldId id="583" r:id="rId25"/>
    <p:sldId id="584" r:id="rId26"/>
    <p:sldId id="585" r:id="rId27"/>
    <p:sldId id="586" r:id="rId28"/>
    <p:sldId id="587" r:id="rId29"/>
    <p:sldId id="588" r:id="rId30"/>
    <p:sldId id="589" r:id="rId31"/>
    <p:sldId id="590" r:id="rId32"/>
    <p:sldId id="591" r:id="rId33"/>
    <p:sldId id="592" r:id="rId34"/>
    <p:sldId id="593" r:id="rId35"/>
    <p:sldId id="594" r:id="rId36"/>
    <p:sldId id="595" r:id="rId37"/>
    <p:sldId id="596" r:id="rId38"/>
    <p:sldId id="597" r:id="rId39"/>
    <p:sldId id="598" r:id="rId40"/>
    <p:sldId id="599" r:id="rId41"/>
    <p:sldId id="601" r:id="rId42"/>
    <p:sldId id="602" r:id="rId43"/>
    <p:sldId id="603" r:id="rId44"/>
    <p:sldId id="604" r:id="rId45"/>
    <p:sldId id="605" r:id="rId46"/>
    <p:sldId id="607" r:id="rId47"/>
    <p:sldId id="608" r:id="rId48"/>
    <p:sldId id="609" r:id="rId49"/>
    <p:sldId id="610" r:id="rId50"/>
    <p:sldId id="611" r:id="rId51"/>
    <p:sldId id="612" r:id="rId52"/>
    <p:sldId id="613" r:id="rId53"/>
    <p:sldId id="614" r:id="rId54"/>
    <p:sldId id="615" r:id="rId55"/>
    <p:sldId id="616" r:id="rId56"/>
    <p:sldId id="617" r:id="rId57"/>
    <p:sldId id="618" r:id="rId58"/>
    <p:sldId id="619" r:id="rId59"/>
    <p:sldId id="620" r:id="rId60"/>
    <p:sldId id="621" r:id="rId61"/>
    <p:sldId id="622" r:id="rId62"/>
    <p:sldId id="623" r:id="rId63"/>
    <p:sldId id="624" r:id="rId64"/>
    <p:sldId id="625" r:id="rId65"/>
    <p:sldId id="626" r:id="rId66"/>
  </p:sldIdLst>
  <p:sldSz cx="9144000" cy="6858000" type="screen4x3"/>
  <p:notesSz cx="7315200" cy="9601200"/>
  <p:defaultTextStyle>
    <a:defPPr>
      <a:defRPr lang="en-US"/>
    </a:defPPr>
    <a:lvl1pPr algn="l" rtl="0" fontAlgn="base">
      <a:spcBef>
        <a:spcPct val="0"/>
      </a:spcBef>
      <a:spcAft>
        <a:spcPct val="0"/>
      </a:spcAft>
      <a:defRPr sz="2000" kern="1200">
        <a:solidFill>
          <a:schemeClr val="tx1"/>
        </a:solidFill>
        <a:latin typeface="Tahoma" pitchFamily="34" charset="0"/>
        <a:ea typeface="+mn-ea"/>
        <a:cs typeface="+mn-cs"/>
      </a:defRPr>
    </a:lvl1pPr>
    <a:lvl2pPr marL="457200" algn="l" rtl="0" fontAlgn="base">
      <a:spcBef>
        <a:spcPct val="0"/>
      </a:spcBef>
      <a:spcAft>
        <a:spcPct val="0"/>
      </a:spcAft>
      <a:defRPr sz="2000" kern="1200">
        <a:solidFill>
          <a:schemeClr val="tx1"/>
        </a:solidFill>
        <a:latin typeface="Tahoma" pitchFamily="34" charset="0"/>
        <a:ea typeface="+mn-ea"/>
        <a:cs typeface="+mn-cs"/>
      </a:defRPr>
    </a:lvl2pPr>
    <a:lvl3pPr marL="914400" algn="l" rtl="0" fontAlgn="base">
      <a:spcBef>
        <a:spcPct val="0"/>
      </a:spcBef>
      <a:spcAft>
        <a:spcPct val="0"/>
      </a:spcAft>
      <a:defRPr sz="2000" kern="1200">
        <a:solidFill>
          <a:schemeClr val="tx1"/>
        </a:solidFill>
        <a:latin typeface="Tahoma" pitchFamily="34" charset="0"/>
        <a:ea typeface="+mn-ea"/>
        <a:cs typeface="+mn-cs"/>
      </a:defRPr>
    </a:lvl3pPr>
    <a:lvl4pPr marL="1371600" algn="l" rtl="0" fontAlgn="base">
      <a:spcBef>
        <a:spcPct val="0"/>
      </a:spcBef>
      <a:spcAft>
        <a:spcPct val="0"/>
      </a:spcAft>
      <a:defRPr sz="2000" kern="1200">
        <a:solidFill>
          <a:schemeClr val="tx1"/>
        </a:solidFill>
        <a:latin typeface="Tahoma" pitchFamily="34" charset="0"/>
        <a:ea typeface="+mn-ea"/>
        <a:cs typeface="+mn-cs"/>
      </a:defRPr>
    </a:lvl4pPr>
    <a:lvl5pPr marL="1828800" algn="l" rtl="0" fontAlgn="base">
      <a:spcBef>
        <a:spcPct val="0"/>
      </a:spcBef>
      <a:spcAft>
        <a:spcPct val="0"/>
      </a:spcAft>
      <a:defRPr sz="2000" kern="1200">
        <a:solidFill>
          <a:schemeClr val="tx1"/>
        </a:solidFill>
        <a:latin typeface="Tahoma" pitchFamily="34" charset="0"/>
        <a:ea typeface="+mn-ea"/>
        <a:cs typeface="+mn-cs"/>
      </a:defRPr>
    </a:lvl5pPr>
    <a:lvl6pPr marL="2286000" algn="l" defTabSz="914400" rtl="0" eaLnBrk="1" latinLnBrk="0" hangingPunct="1">
      <a:defRPr sz="2000" kern="1200">
        <a:solidFill>
          <a:schemeClr val="tx1"/>
        </a:solidFill>
        <a:latin typeface="Tahoma" pitchFamily="34" charset="0"/>
        <a:ea typeface="+mn-ea"/>
        <a:cs typeface="+mn-cs"/>
      </a:defRPr>
    </a:lvl6pPr>
    <a:lvl7pPr marL="2743200" algn="l" defTabSz="914400" rtl="0" eaLnBrk="1" latinLnBrk="0" hangingPunct="1">
      <a:defRPr sz="2000" kern="1200">
        <a:solidFill>
          <a:schemeClr val="tx1"/>
        </a:solidFill>
        <a:latin typeface="Tahoma" pitchFamily="34" charset="0"/>
        <a:ea typeface="+mn-ea"/>
        <a:cs typeface="+mn-cs"/>
      </a:defRPr>
    </a:lvl7pPr>
    <a:lvl8pPr marL="3200400" algn="l" defTabSz="914400" rtl="0" eaLnBrk="1" latinLnBrk="0" hangingPunct="1">
      <a:defRPr sz="2000" kern="1200">
        <a:solidFill>
          <a:schemeClr val="tx1"/>
        </a:solidFill>
        <a:latin typeface="Tahoma" pitchFamily="34" charset="0"/>
        <a:ea typeface="+mn-ea"/>
        <a:cs typeface="+mn-cs"/>
      </a:defRPr>
    </a:lvl8pPr>
    <a:lvl9pPr marL="3657600" algn="l" defTabSz="914400" rtl="0" eaLnBrk="1" latinLnBrk="0" hangingPunct="1">
      <a:defRPr sz="20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FF66"/>
    <a:srgbClr val="FF9900"/>
    <a:srgbClr val="CC3300"/>
    <a:srgbClr val="9999FF"/>
    <a:srgbClr val="808080"/>
    <a:srgbClr val="869406"/>
    <a:srgbClr val="666699"/>
    <a:srgbClr val="66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774" autoAdjust="0"/>
    <p:restoredTop sz="94591" autoAdjust="0"/>
  </p:normalViewPr>
  <p:slideViewPr>
    <p:cSldViewPr snapToObjects="1">
      <p:cViewPr>
        <p:scale>
          <a:sx n="100" d="100"/>
          <a:sy n="100" d="100"/>
        </p:scale>
        <p:origin x="600" y="424"/>
      </p:cViewPr>
      <p:guideLst>
        <p:guide orient="horz" pos="2160"/>
        <p:guide pos="2880"/>
      </p:guideLst>
    </p:cSldViewPr>
  </p:slideViewPr>
  <p:outlineViewPr>
    <p:cViewPr>
      <p:scale>
        <a:sx n="66" d="100"/>
        <a:sy n="66" d="100"/>
      </p:scale>
      <p:origin x="0" y="0"/>
    </p:cViewPr>
  </p:outlineViewPr>
  <p:notesTextViewPr>
    <p:cViewPr>
      <p:scale>
        <a:sx n="100" d="100"/>
        <a:sy n="100" d="100"/>
      </p:scale>
      <p:origin x="0" y="0"/>
    </p:cViewPr>
  </p:notesTextViewPr>
  <p:sorterViewPr>
    <p:cViewPr>
      <p:scale>
        <a:sx n="100" d="100"/>
        <a:sy n="100" d="100"/>
      </p:scale>
      <p:origin x="0" y="21186"/>
    </p:cViewPr>
  </p:sorterViewPr>
  <p:notesViewPr>
    <p:cSldViewPr snapToObjects="1">
      <p:cViewPr varScale="1">
        <p:scale>
          <a:sx n="87" d="100"/>
          <a:sy n="87" d="100"/>
        </p:scale>
        <p:origin x="-1914" y="-96"/>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notesMaster" Target="notesMasters/notesMaster1.xml"/><Relationship Id="rId68" Type="http://schemas.openxmlformats.org/officeDocument/2006/relationships/handoutMaster" Target="handoutMasters/handoutMaster1.xml"/><Relationship Id="rId69" Type="http://schemas.openxmlformats.org/officeDocument/2006/relationships/presProps" Target="presProps.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0" y="0"/>
            <a:ext cx="3168650" cy="481013"/>
          </a:xfrm>
          <a:prstGeom prst="rect">
            <a:avLst/>
          </a:prstGeom>
          <a:noFill/>
          <a:ln w="9525">
            <a:noFill/>
            <a:miter lim="800000"/>
            <a:headEnd/>
            <a:tailEnd/>
          </a:ln>
          <a:effectLst/>
        </p:spPr>
        <p:txBody>
          <a:bodyPr vert="horz" wrap="square" lIns="96631" tIns="48316" rIns="96631" bIns="48316" numCol="1" anchor="t" anchorCtr="0" compatLnSpc="1">
            <a:prstTxWarp prst="textNoShape">
              <a:avLst/>
            </a:prstTxWarp>
          </a:bodyPr>
          <a:lstStyle>
            <a:lvl1pPr defTabSz="966621" eaLnBrk="0" hangingPunct="0">
              <a:defRPr sz="1300">
                <a:latin typeface="Times New Roman" pitchFamily="18" charset="0"/>
              </a:defRPr>
            </a:lvl1pPr>
          </a:lstStyle>
          <a:p>
            <a:pPr>
              <a:defRPr/>
            </a:pPr>
            <a:endParaRPr lang="en-US"/>
          </a:p>
        </p:txBody>
      </p:sp>
      <p:sp>
        <p:nvSpPr>
          <p:cNvPr id="16387" name="Rectangle 3"/>
          <p:cNvSpPr>
            <a:spLocks noGrp="1" noChangeArrowheads="1"/>
          </p:cNvSpPr>
          <p:nvPr>
            <p:ph type="dt" sz="quarter" idx="1"/>
          </p:nvPr>
        </p:nvSpPr>
        <p:spPr bwMode="auto">
          <a:xfrm>
            <a:off x="4146550" y="0"/>
            <a:ext cx="3168650" cy="481013"/>
          </a:xfrm>
          <a:prstGeom prst="rect">
            <a:avLst/>
          </a:prstGeom>
          <a:noFill/>
          <a:ln w="9525">
            <a:noFill/>
            <a:miter lim="800000"/>
            <a:headEnd/>
            <a:tailEnd/>
          </a:ln>
          <a:effectLst/>
        </p:spPr>
        <p:txBody>
          <a:bodyPr vert="horz" wrap="square" lIns="96631" tIns="48316" rIns="96631" bIns="48316" numCol="1" anchor="t" anchorCtr="0" compatLnSpc="1">
            <a:prstTxWarp prst="textNoShape">
              <a:avLst/>
            </a:prstTxWarp>
          </a:bodyPr>
          <a:lstStyle>
            <a:lvl1pPr algn="r" defTabSz="966621" eaLnBrk="0" hangingPunct="0">
              <a:defRPr sz="1300">
                <a:latin typeface="Times New Roman" pitchFamily="18" charset="0"/>
              </a:defRPr>
            </a:lvl1pPr>
          </a:lstStyle>
          <a:p>
            <a:pPr>
              <a:defRPr/>
            </a:pPr>
            <a:endParaRPr lang="en-US"/>
          </a:p>
        </p:txBody>
      </p:sp>
      <p:sp>
        <p:nvSpPr>
          <p:cNvPr id="16388" name="Rectangle 4"/>
          <p:cNvSpPr>
            <a:spLocks noGrp="1" noChangeArrowheads="1"/>
          </p:cNvSpPr>
          <p:nvPr>
            <p:ph type="ftr" sz="quarter" idx="2"/>
          </p:nvPr>
        </p:nvSpPr>
        <p:spPr bwMode="auto">
          <a:xfrm>
            <a:off x="0" y="9120188"/>
            <a:ext cx="3168650" cy="481012"/>
          </a:xfrm>
          <a:prstGeom prst="rect">
            <a:avLst/>
          </a:prstGeom>
          <a:noFill/>
          <a:ln w="9525">
            <a:noFill/>
            <a:miter lim="800000"/>
            <a:headEnd/>
            <a:tailEnd/>
          </a:ln>
          <a:effectLst/>
        </p:spPr>
        <p:txBody>
          <a:bodyPr vert="horz" wrap="square" lIns="96631" tIns="48316" rIns="96631" bIns="48316" numCol="1" anchor="b" anchorCtr="0" compatLnSpc="1">
            <a:prstTxWarp prst="textNoShape">
              <a:avLst/>
            </a:prstTxWarp>
          </a:bodyPr>
          <a:lstStyle>
            <a:lvl1pPr defTabSz="966621" eaLnBrk="0" hangingPunct="0">
              <a:defRPr sz="1300">
                <a:latin typeface="Times New Roman" pitchFamily="18" charset="0"/>
              </a:defRPr>
            </a:lvl1pPr>
          </a:lstStyle>
          <a:p>
            <a:pPr>
              <a:defRPr/>
            </a:pPr>
            <a:endParaRPr lang="en-US"/>
          </a:p>
        </p:txBody>
      </p:sp>
      <p:sp>
        <p:nvSpPr>
          <p:cNvPr id="16389" name="Rectangle 5"/>
          <p:cNvSpPr>
            <a:spLocks noGrp="1" noChangeArrowheads="1"/>
          </p:cNvSpPr>
          <p:nvPr>
            <p:ph type="sldNum" sz="quarter" idx="3"/>
          </p:nvPr>
        </p:nvSpPr>
        <p:spPr bwMode="auto">
          <a:xfrm>
            <a:off x="4146550" y="9120188"/>
            <a:ext cx="3168650" cy="481012"/>
          </a:xfrm>
          <a:prstGeom prst="rect">
            <a:avLst/>
          </a:prstGeom>
          <a:noFill/>
          <a:ln w="9525">
            <a:noFill/>
            <a:miter lim="800000"/>
            <a:headEnd/>
            <a:tailEnd/>
          </a:ln>
          <a:effectLst/>
        </p:spPr>
        <p:txBody>
          <a:bodyPr vert="horz" wrap="square" lIns="96631" tIns="48316" rIns="96631" bIns="48316" numCol="1" anchor="b" anchorCtr="0" compatLnSpc="1">
            <a:prstTxWarp prst="textNoShape">
              <a:avLst/>
            </a:prstTxWarp>
          </a:bodyPr>
          <a:lstStyle>
            <a:lvl1pPr algn="r" defTabSz="966621" eaLnBrk="0" hangingPunct="0">
              <a:defRPr sz="1300">
                <a:latin typeface="Times New Roman" pitchFamily="18" charset="0"/>
              </a:defRPr>
            </a:lvl1pPr>
          </a:lstStyle>
          <a:p>
            <a:pPr>
              <a:defRPr/>
            </a:pPr>
            <a:fld id="{C8D74864-EB05-49AA-BA59-F6F5B3173BC5}" type="slidenum">
              <a:rPr lang="en-US"/>
              <a:pPr>
                <a:defRPr/>
              </a:pPr>
              <a:t>‹#›</a:t>
            </a:fld>
            <a:endParaRPr lang="en-US"/>
          </a:p>
        </p:txBody>
      </p:sp>
    </p:spTree>
    <p:extLst>
      <p:ext uri="{BB962C8B-B14F-4D97-AF65-F5344CB8AC3E}">
        <p14:creationId xmlns:p14="http://schemas.microsoft.com/office/powerpoint/2010/main" val="20639883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bwMode="auto">
          <a:xfrm>
            <a:off x="0" y="0"/>
            <a:ext cx="3168650" cy="481013"/>
          </a:xfrm>
          <a:prstGeom prst="rect">
            <a:avLst/>
          </a:prstGeom>
          <a:noFill/>
          <a:ln w="9525">
            <a:noFill/>
            <a:miter lim="800000"/>
            <a:headEnd/>
            <a:tailEnd/>
          </a:ln>
          <a:effectLst/>
        </p:spPr>
        <p:txBody>
          <a:bodyPr vert="horz" wrap="square" lIns="96631" tIns="48316" rIns="96631" bIns="48316" numCol="1" anchor="t" anchorCtr="0" compatLnSpc="1">
            <a:prstTxWarp prst="textNoShape">
              <a:avLst/>
            </a:prstTxWarp>
          </a:bodyPr>
          <a:lstStyle>
            <a:lvl1pPr defTabSz="966621" eaLnBrk="0" hangingPunct="0">
              <a:defRPr sz="1300">
                <a:latin typeface="Times New Roman" pitchFamily="18" charset="0"/>
              </a:defRPr>
            </a:lvl1pPr>
          </a:lstStyle>
          <a:p>
            <a:pPr>
              <a:defRPr/>
            </a:pPr>
            <a:endParaRPr lang="en-US"/>
          </a:p>
        </p:txBody>
      </p:sp>
      <p:sp>
        <p:nvSpPr>
          <p:cNvPr id="19459" name="Rectangle 3"/>
          <p:cNvSpPr>
            <a:spLocks noGrp="1" noChangeArrowheads="1"/>
          </p:cNvSpPr>
          <p:nvPr>
            <p:ph type="dt" idx="1"/>
          </p:nvPr>
        </p:nvSpPr>
        <p:spPr bwMode="auto">
          <a:xfrm>
            <a:off x="4146550" y="0"/>
            <a:ext cx="3168650" cy="481013"/>
          </a:xfrm>
          <a:prstGeom prst="rect">
            <a:avLst/>
          </a:prstGeom>
          <a:noFill/>
          <a:ln w="9525">
            <a:noFill/>
            <a:miter lim="800000"/>
            <a:headEnd/>
            <a:tailEnd/>
          </a:ln>
          <a:effectLst/>
        </p:spPr>
        <p:txBody>
          <a:bodyPr vert="horz" wrap="square" lIns="96631" tIns="48316" rIns="96631" bIns="48316" numCol="1" anchor="t" anchorCtr="0" compatLnSpc="1">
            <a:prstTxWarp prst="textNoShape">
              <a:avLst/>
            </a:prstTxWarp>
          </a:bodyPr>
          <a:lstStyle>
            <a:lvl1pPr algn="r" defTabSz="966621" eaLnBrk="0" hangingPunct="0">
              <a:defRPr sz="1300">
                <a:latin typeface="Times New Roman" pitchFamily="18" charset="0"/>
              </a:defRPr>
            </a:lvl1pPr>
          </a:lstStyle>
          <a:p>
            <a:pPr>
              <a:defRPr/>
            </a:pPr>
            <a:endParaRPr lang="en-US"/>
          </a:p>
        </p:txBody>
      </p:sp>
      <p:sp>
        <p:nvSpPr>
          <p:cNvPr id="92164" name="Rectangle 4"/>
          <p:cNvSpPr>
            <a:spLocks noGrp="1" noRot="1" noChangeAspect="1" noChangeArrowheads="1" noTextEdit="1"/>
          </p:cNvSpPr>
          <p:nvPr>
            <p:ph type="sldImg" idx="2"/>
          </p:nvPr>
        </p:nvSpPr>
        <p:spPr bwMode="auto">
          <a:xfrm>
            <a:off x="1260475" y="719138"/>
            <a:ext cx="4800600" cy="3600450"/>
          </a:xfrm>
          <a:prstGeom prst="rect">
            <a:avLst/>
          </a:prstGeom>
          <a:noFill/>
          <a:ln w="9525">
            <a:solidFill>
              <a:srgbClr val="000000"/>
            </a:solidFill>
            <a:miter lim="800000"/>
            <a:headEnd/>
            <a:tailEnd/>
          </a:ln>
        </p:spPr>
      </p:sp>
      <p:sp>
        <p:nvSpPr>
          <p:cNvPr id="19461" name="Rectangle 5"/>
          <p:cNvSpPr>
            <a:spLocks noGrp="1" noChangeArrowheads="1"/>
          </p:cNvSpPr>
          <p:nvPr>
            <p:ph type="body" sz="quarter" idx="3"/>
          </p:nvPr>
        </p:nvSpPr>
        <p:spPr bwMode="auto">
          <a:xfrm>
            <a:off x="976313" y="4559300"/>
            <a:ext cx="5362575" cy="4322763"/>
          </a:xfrm>
          <a:prstGeom prst="rect">
            <a:avLst/>
          </a:prstGeom>
          <a:noFill/>
          <a:ln w="9525">
            <a:noFill/>
            <a:miter lim="800000"/>
            <a:headEnd/>
            <a:tailEnd/>
          </a:ln>
          <a:effectLst/>
        </p:spPr>
        <p:txBody>
          <a:bodyPr vert="horz" wrap="square" lIns="96631" tIns="48316" rIns="96631" bIns="48316"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9462" name="Rectangle 6"/>
          <p:cNvSpPr>
            <a:spLocks noGrp="1" noChangeArrowheads="1"/>
          </p:cNvSpPr>
          <p:nvPr>
            <p:ph type="ftr" sz="quarter" idx="4"/>
          </p:nvPr>
        </p:nvSpPr>
        <p:spPr bwMode="auto">
          <a:xfrm>
            <a:off x="0" y="9120188"/>
            <a:ext cx="3168650" cy="481012"/>
          </a:xfrm>
          <a:prstGeom prst="rect">
            <a:avLst/>
          </a:prstGeom>
          <a:noFill/>
          <a:ln w="9525">
            <a:noFill/>
            <a:miter lim="800000"/>
            <a:headEnd/>
            <a:tailEnd/>
          </a:ln>
          <a:effectLst/>
        </p:spPr>
        <p:txBody>
          <a:bodyPr vert="horz" wrap="square" lIns="96631" tIns="48316" rIns="96631" bIns="48316" numCol="1" anchor="b" anchorCtr="0" compatLnSpc="1">
            <a:prstTxWarp prst="textNoShape">
              <a:avLst/>
            </a:prstTxWarp>
          </a:bodyPr>
          <a:lstStyle>
            <a:lvl1pPr defTabSz="966621" eaLnBrk="0" hangingPunct="0">
              <a:defRPr sz="1300">
                <a:latin typeface="Times New Roman" pitchFamily="18" charset="0"/>
              </a:defRPr>
            </a:lvl1pPr>
          </a:lstStyle>
          <a:p>
            <a:pPr>
              <a:defRPr/>
            </a:pPr>
            <a:endParaRPr lang="en-US"/>
          </a:p>
        </p:txBody>
      </p:sp>
      <p:sp>
        <p:nvSpPr>
          <p:cNvPr id="19463" name="Rectangle 7"/>
          <p:cNvSpPr>
            <a:spLocks noGrp="1" noChangeArrowheads="1"/>
          </p:cNvSpPr>
          <p:nvPr>
            <p:ph type="sldNum" sz="quarter" idx="5"/>
          </p:nvPr>
        </p:nvSpPr>
        <p:spPr bwMode="auto">
          <a:xfrm>
            <a:off x="4146550" y="9120188"/>
            <a:ext cx="3168650" cy="481012"/>
          </a:xfrm>
          <a:prstGeom prst="rect">
            <a:avLst/>
          </a:prstGeom>
          <a:noFill/>
          <a:ln w="9525">
            <a:noFill/>
            <a:miter lim="800000"/>
            <a:headEnd/>
            <a:tailEnd/>
          </a:ln>
          <a:effectLst/>
        </p:spPr>
        <p:txBody>
          <a:bodyPr vert="horz" wrap="square" lIns="96631" tIns="48316" rIns="96631" bIns="48316" numCol="1" anchor="b" anchorCtr="0" compatLnSpc="1">
            <a:prstTxWarp prst="textNoShape">
              <a:avLst/>
            </a:prstTxWarp>
          </a:bodyPr>
          <a:lstStyle>
            <a:lvl1pPr algn="r" defTabSz="966621" eaLnBrk="0" hangingPunct="0">
              <a:defRPr sz="1300">
                <a:latin typeface="Times New Roman" pitchFamily="18" charset="0"/>
              </a:defRPr>
            </a:lvl1pPr>
          </a:lstStyle>
          <a:p>
            <a:pPr>
              <a:defRPr/>
            </a:pPr>
            <a:fld id="{B35E1360-550A-4529-B4D2-5DC013EF65A5}" type="slidenum">
              <a:rPr lang="en-US"/>
              <a:pPr>
                <a:defRPr/>
              </a:pPr>
              <a:t>‹#›</a:t>
            </a:fld>
            <a:endParaRPr lang="en-US"/>
          </a:p>
        </p:txBody>
      </p:sp>
    </p:spTree>
    <p:extLst>
      <p:ext uri="{BB962C8B-B14F-4D97-AF65-F5344CB8AC3E}">
        <p14:creationId xmlns:p14="http://schemas.microsoft.com/office/powerpoint/2010/main" val="45665366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3D7EF7B8-ED25-CA49-9971-F8A4EFECA0A9}" type="slidenum">
              <a:rPr lang="en-US">
                <a:latin typeface="Helvetica" charset="0"/>
              </a:rPr>
              <a:pPr/>
              <a:t>2</a:t>
            </a:fld>
            <a:endParaRPr lang="en-US">
              <a:latin typeface="Helvetica" charset="0"/>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13010039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5272AD63-75CD-824E-A9A1-7704DE5980D4}" type="slidenum">
              <a:rPr lang="en-US">
                <a:latin typeface="Helvetica" charset="0"/>
              </a:rPr>
              <a:pPr/>
              <a:t>3</a:t>
            </a:fld>
            <a:endParaRPr lang="en-US">
              <a:latin typeface="Helvetica"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2947930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D6DCB030-6A2F-D546-A619-21E930F99A90}" type="slidenum">
              <a:rPr lang="en-US">
                <a:latin typeface="Helvetica" charset="0"/>
              </a:rPr>
              <a:pPr/>
              <a:t>4</a:t>
            </a:fld>
            <a:endParaRPr lang="en-US">
              <a:latin typeface="Helvetica"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3420849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EB2169CF-4246-9341-B975-090255798307}" type="slidenum">
              <a:rPr lang="en-US">
                <a:latin typeface="Helvetica" charset="0"/>
              </a:rPr>
              <a:pPr/>
              <a:t>5</a:t>
            </a:fld>
            <a:endParaRPr lang="en-US">
              <a:latin typeface="Helvetica" charset="0"/>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6080148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58AB729B-2113-8143-89BD-3E4A80173C9C}" type="slidenum">
              <a:rPr lang="en-US">
                <a:latin typeface="Helvetica" charset="0"/>
              </a:rPr>
              <a:pPr/>
              <a:t>6</a:t>
            </a:fld>
            <a:endParaRPr lang="en-US">
              <a:latin typeface="Helvetica" charset="0"/>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11779545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03BFEFBA-705B-B649-B158-D10638278314}" type="slidenum">
              <a:rPr lang="en-US">
                <a:latin typeface="Helvetica" charset="0"/>
              </a:rPr>
              <a:pPr/>
              <a:t>7</a:t>
            </a:fld>
            <a:endParaRPr lang="en-US">
              <a:latin typeface="Helvetica" charset="0"/>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2302457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4B0F9C63-D7EC-A444-933E-2AE513142DCF}" type="slidenum">
              <a:rPr lang="en-US">
                <a:latin typeface="Helvetica" charset="0"/>
              </a:rPr>
              <a:pPr/>
              <a:t>8</a:t>
            </a:fld>
            <a:endParaRPr lang="en-US">
              <a:latin typeface="Helvetica" charset="0"/>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5132760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56B694F6-10C2-8B4B-AC67-09D1B89912C4}" type="slidenum">
              <a:rPr lang="en-US">
                <a:latin typeface="Helvetica" charset="0"/>
              </a:rPr>
              <a:pPr/>
              <a:t>9</a:t>
            </a:fld>
            <a:endParaRPr lang="en-US">
              <a:latin typeface="Helvetica" charset="0"/>
            </a:endParaRP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1892497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F40C960D-C69D-544A-B0F0-F068436C5C5C}" type="slidenum">
              <a:rPr lang="en-US">
                <a:latin typeface="Helvetica" charset="0"/>
              </a:rPr>
              <a:pPr/>
              <a:t>10</a:t>
            </a:fld>
            <a:endParaRPr lang="en-US">
              <a:latin typeface="Helvetica" charset="0"/>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2973342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4C8D6C9F-57A8-AA44-8B73-8231A5F208F5}" type="slidenum">
              <a:rPr lang="en-US">
                <a:latin typeface="Helvetica" charset="0"/>
              </a:rPr>
              <a:pPr/>
              <a:t>11</a:t>
            </a:fld>
            <a:endParaRPr lang="en-US">
              <a:latin typeface="Helvetica"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1026461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6EA7EF1A-F268-294C-BFCC-ACCCE984ECE6}" type="slidenum">
              <a:rPr lang="en-US">
                <a:latin typeface="Helvetica" charset="0"/>
              </a:rPr>
              <a:pPr/>
              <a:t>12</a:t>
            </a:fld>
            <a:endParaRPr lang="en-US">
              <a:latin typeface="Helvetica" charset="0"/>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7441047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63A84041-64DB-4A4C-B6EC-602051F8E215}" type="slidenum">
              <a:rPr lang="en-US">
                <a:latin typeface="Helvetica" charset="0"/>
              </a:rPr>
              <a:pPr/>
              <a:t>13</a:t>
            </a:fld>
            <a:endParaRPr lang="en-US">
              <a:latin typeface="Helvetica"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13713408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6312914C-EE15-4A46-898C-FB61C4E9F338}" type="slidenum">
              <a:rPr lang="en-US">
                <a:latin typeface="Helvetica" charset="0"/>
              </a:rPr>
              <a:pPr/>
              <a:t>14</a:t>
            </a:fld>
            <a:endParaRPr lang="en-US">
              <a:latin typeface="Helvetica"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13303932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F8A07CEC-2275-1B47-A314-8153E75E089A}" type="slidenum">
              <a:rPr lang="en-US">
                <a:latin typeface="Helvetica" charset="0"/>
              </a:rPr>
              <a:pPr/>
              <a:t>15</a:t>
            </a:fld>
            <a:endParaRPr lang="en-US">
              <a:latin typeface="Helvetica"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3191832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FC1AC0C4-ECFC-F247-A025-5DB058265F7E}" type="slidenum">
              <a:rPr lang="en-US">
                <a:latin typeface="Helvetica" charset="0"/>
              </a:rPr>
              <a:pPr/>
              <a:t>16</a:t>
            </a:fld>
            <a:endParaRPr lang="en-US">
              <a:latin typeface="Helvetica"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979594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7B938214-4195-A24B-8749-CF4530884B71}" type="slidenum">
              <a:rPr lang="en-US">
                <a:latin typeface="Helvetica" charset="0"/>
              </a:rPr>
              <a:pPr/>
              <a:t>17</a:t>
            </a:fld>
            <a:endParaRPr lang="en-US">
              <a:latin typeface="Helvetica"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14315319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56401D95-2C44-3D42-AF69-E3325603F6F1}" type="slidenum">
              <a:rPr lang="en-US">
                <a:latin typeface="Helvetica" charset="0"/>
              </a:rPr>
              <a:pPr/>
              <a:t>18</a:t>
            </a:fld>
            <a:endParaRPr lang="en-US">
              <a:latin typeface="Helvetica" charset="0"/>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14982199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6A9CBB49-1383-4C4A-B404-3D572186E8BF}" type="slidenum">
              <a:rPr lang="en-US">
                <a:latin typeface="Helvetica" charset="0"/>
              </a:rPr>
              <a:pPr/>
              <a:t>19</a:t>
            </a:fld>
            <a:endParaRPr lang="en-US">
              <a:latin typeface="Helvetica"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13364847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14C26653-1ABE-AF47-8CEB-25980726CC44}" type="slidenum">
              <a:rPr lang="en-US">
                <a:latin typeface="Helvetica" charset="0"/>
              </a:rPr>
              <a:pPr/>
              <a:t>20</a:t>
            </a:fld>
            <a:endParaRPr lang="en-US">
              <a:latin typeface="Helvetica" charset="0"/>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17683343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14B1E979-73DD-FB46-BC21-B1E899D2D4C1}" type="slidenum">
              <a:rPr lang="en-US">
                <a:latin typeface="Helvetica" charset="0"/>
              </a:rPr>
              <a:pPr/>
              <a:t>21</a:t>
            </a:fld>
            <a:endParaRPr lang="en-US">
              <a:latin typeface="Helvetica"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13688766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3678B5C1-4393-8D4F-96D8-A62937904D21}" type="slidenum">
              <a:rPr lang="en-US">
                <a:latin typeface="Helvetica" charset="0"/>
              </a:rPr>
              <a:pPr/>
              <a:t>22</a:t>
            </a:fld>
            <a:endParaRPr lang="en-US">
              <a:latin typeface="Helvetica"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7178823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9D96681A-636E-F44A-8425-139532EDE3D9}" type="slidenum">
              <a:rPr lang="en-US">
                <a:latin typeface="Helvetica" charset="0"/>
              </a:rPr>
              <a:pPr/>
              <a:t>23</a:t>
            </a:fld>
            <a:endParaRPr lang="en-US">
              <a:latin typeface="Helvetica"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8860150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C3858A60-2E19-0F47-B1BC-52EBA32CE548}" type="slidenum">
              <a:rPr lang="en-US">
                <a:latin typeface="Helvetica" charset="0"/>
              </a:rPr>
              <a:pPr/>
              <a:t>24</a:t>
            </a:fld>
            <a:endParaRPr lang="en-US">
              <a:latin typeface="Helvetica"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6026143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5BBF6CBE-6763-1649-B6EA-21937D73D57A}" type="slidenum">
              <a:rPr lang="en-US">
                <a:latin typeface="Helvetica" charset="0"/>
              </a:rPr>
              <a:pPr/>
              <a:t>25</a:t>
            </a:fld>
            <a:endParaRPr lang="en-US">
              <a:latin typeface="Helvetica"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6065180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3013D8C1-01CA-CB4F-8BE1-972619E59CD1}" type="slidenum">
              <a:rPr lang="en-US">
                <a:latin typeface="Helvetica" charset="0"/>
              </a:rPr>
              <a:pPr/>
              <a:t>26</a:t>
            </a:fld>
            <a:endParaRPr lang="en-US">
              <a:latin typeface="Helvetica" charset="0"/>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17907213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1CE69A52-8738-7845-AEA0-8CAB80C04A22}" type="slidenum">
              <a:rPr lang="en-US">
                <a:latin typeface="Helvetica" charset="0"/>
              </a:rPr>
              <a:pPr/>
              <a:t>27</a:t>
            </a:fld>
            <a:endParaRPr lang="en-US">
              <a:latin typeface="Helvetica"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18182869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FF57BB25-FB6A-5C40-AB86-BD0EBF411C0B}" type="slidenum">
              <a:rPr lang="en-US">
                <a:latin typeface="Helvetica" charset="0"/>
              </a:rPr>
              <a:pPr/>
              <a:t>28</a:t>
            </a:fld>
            <a:endParaRPr lang="en-US">
              <a:latin typeface="Helvetica"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12565222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84CADD13-4EE6-484B-9529-72852C25C8D7}" type="slidenum">
              <a:rPr lang="en-US">
                <a:latin typeface="Helvetica" charset="0"/>
              </a:rPr>
              <a:pPr/>
              <a:t>29</a:t>
            </a:fld>
            <a:endParaRPr lang="en-US">
              <a:latin typeface="Helvetica"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154560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53B7B35C-C9AC-6E43-9D46-9606B7881FCA}" type="slidenum">
              <a:rPr lang="en-US">
                <a:latin typeface="Helvetica" charset="0"/>
              </a:rPr>
              <a:pPr/>
              <a:t>30</a:t>
            </a:fld>
            <a:endParaRPr lang="en-US">
              <a:latin typeface="Helvetica"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20714417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F7C965E2-306C-2B41-8C03-E64F1E87C523}" type="slidenum">
              <a:rPr lang="en-US">
                <a:latin typeface="Helvetica" charset="0"/>
              </a:rPr>
              <a:pPr/>
              <a:t>31</a:t>
            </a:fld>
            <a:endParaRPr lang="en-US">
              <a:latin typeface="Helvetica"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18643092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8C9551DB-1577-3742-80B3-D0052D4FACEF}" type="slidenum">
              <a:rPr lang="en-US">
                <a:latin typeface="Helvetica" charset="0"/>
              </a:rPr>
              <a:pPr/>
              <a:t>32</a:t>
            </a:fld>
            <a:endParaRPr lang="en-US">
              <a:latin typeface="Helvetica" charset="0"/>
            </a:endParaRP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16587180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DF18BA43-C969-1F4A-A806-9EA0593CE0B3}" type="slidenum">
              <a:rPr lang="en-US">
                <a:latin typeface="Helvetica" charset="0"/>
              </a:rPr>
              <a:pPr/>
              <a:t>33</a:t>
            </a:fld>
            <a:endParaRPr lang="en-US">
              <a:latin typeface="Helvetica"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158884295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FC85D99C-8587-9B4D-AED9-3E3A7C74A312}" type="slidenum">
              <a:rPr lang="en-US">
                <a:latin typeface="Helvetica" charset="0"/>
              </a:rPr>
              <a:pPr/>
              <a:t>34</a:t>
            </a:fld>
            <a:endParaRPr lang="en-US">
              <a:latin typeface="Helvetica"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18719451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AD740F2A-9696-4242-9B9E-67937F561081}" type="slidenum">
              <a:rPr lang="en-US">
                <a:latin typeface="Helvetica" charset="0"/>
              </a:rPr>
              <a:pPr/>
              <a:t>35</a:t>
            </a:fld>
            <a:endParaRPr lang="en-US">
              <a:latin typeface="Helvetica" charset="0"/>
            </a:endParaRP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11461192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2EB2AF82-5ADC-C14E-B1FD-DFABEF420687}" type="slidenum">
              <a:rPr lang="en-US">
                <a:latin typeface="Helvetica" charset="0"/>
              </a:rPr>
              <a:pPr/>
              <a:t>36</a:t>
            </a:fld>
            <a:endParaRPr lang="en-US">
              <a:latin typeface="Helvetica" charset="0"/>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20454888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E257CCED-18F2-7940-9DA9-DEAB0F99F6ED}" type="slidenum">
              <a:rPr lang="en-US">
                <a:latin typeface="Helvetica" charset="0"/>
              </a:rPr>
              <a:pPr/>
              <a:t>37</a:t>
            </a:fld>
            <a:endParaRPr lang="en-US">
              <a:latin typeface="Helvetica" charset="0"/>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161274631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0B72A4A1-200C-E849-850A-4C369F4E0874}" type="slidenum">
              <a:rPr lang="en-US">
                <a:latin typeface="Helvetica" charset="0"/>
              </a:rPr>
              <a:pPr/>
              <a:t>38</a:t>
            </a:fld>
            <a:endParaRPr lang="en-US">
              <a:latin typeface="Helvetica" charset="0"/>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203625783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CCF90A84-5519-D94C-8D28-5F3CE50E6556}" type="slidenum">
              <a:rPr lang="en-US">
                <a:latin typeface="Helvetica" charset="0"/>
              </a:rPr>
              <a:pPr/>
              <a:t>39</a:t>
            </a:fld>
            <a:endParaRPr lang="en-US">
              <a:latin typeface="Helvetica"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10861014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5832">
              <a:defRPr>
                <a:solidFill>
                  <a:schemeClr val="tx1"/>
                </a:solidFill>
                <a:latin typeface="Verdana" charset="0"/>
                <a:ea typeface="MS PGothic" charset="0"/>
                <a:cs typeface="MS PGothic" charset="0"/>
              </a:defRPr>
            </a:lvl1pPr>
            <a:lvl2pPr marL="763530" indent="-293665" defTabSz="965832">
              <a:defRPr>
                <a:solidFill>
                  <a:schemeClr val="tx1"/>
                </a:solidFill>
                <a:latin typeface="Verdana" charset="0"/>
                <a:ea typeface="MS PGothic" charset="0"/>
                <a:cs typeface="MS PGothic" charset="0"/>
              </a:defRPr>
            </a:lvl2pPr>
            <a:lvl3pPr marL="1174661" indent="-234932" defTabSz="965832">
              <a:defRPr>
                <a:solidFill>
                  <a:schemeClr val="tx1"/>
                </a:solidFill>
                <a:latin typeface="Verdana" charset="0"/>
                <a:ea typeface="MS PGothic" charset="0"/>
                <a:cs typeface="MS PGothic" charset="0"/>
              </a:defRPr>
            </a:lvl3pPr>
            <a:lvl4pPr marL="1644526" indent="-234932" defTabSz="965832">
              <a:defRPr>
                <a:solidFill>
                  <a:schemeClr val="tx1"/>
                </a:solidFill>
                <a:latin typeface="Verdana" charset="0"/>
                <a:ea typeface="MS PGothic" charset="0"/>
                <a:cs typeface="MS PGothic" charset="0"/>
              </a:defRPr>
            </a:lvl4pPr>
            <a:lvl5pPr marL="2114390" indent="-234932" defTabSz="965832">
              <a:defRPr>
                <a:solidFill>
                  <a:schemeClr val="tx1"/>
                </a:solidFill>
                <a:latin typeface="Verdana" charset="0"/>
                <a:ea typeface="MS PGothic" charset="0"/>
                <a:cs typeface="MS PGothic" charset="0"/>
              </a:defRPr>
            </a:lvl5pPr>
            <a:lvl6pPr marL="2584254" indent="-234932" defTabSz="965832" eaLnBrk="0" fontAlgn="base" hangingPunct="0">
              <a:spcBef>
                <a:spcPct val="0"/>
              </a:spcBef>
              <a:spcAft>
                <a:spcPct val="0"/>
              </a:spcAft>
              <a:defRPr>
                <a:solidFill>
                  <a:schemeClr val="tx1"/>
                </a:solidFill>
                <a:latin typeface="Verdana" charset="0"/>
                <a:ea typeface="MS PGothic" charset="0"/>
                <a:cs typeface="MS PGothic" charset="0"/>
              </a:defRPr>
            </a:lvl6pPr>
            <a:lvl7pPr marL="3054119" indent="-234932" defTabSz="965832" eaLnBrk="0" fontAlgn="base" hangingPunct="0">
              <a:spcBef>
                <a:spcPct val="0"/>
              </a:spcBef>
              <a:spcAft>
                <a:spcPct val="0"/>
              </a:spcAft>
              <a:defRPr>
                <a:solidFill>
                  <a:schemeClr val="tx1"/>
                </a:solidFill>
                <a:latin typeface="Verdana" charset="0"/>
                <a:ea typeface="MS PGothic" charset="0"/>
                <a:cs typeface="MS PGothic" charset="0"/>
              </a:defRPr>
            </a:lvl7pPr>
            <a:lvl8pPr marL="3523983" indent="-234932" defTabSz="965832" eaLnBrk="0" fontAlgn="base" hangingPunct="0">
              <a:spcBef>
                <a:spcPct val="0"/>
              </a:spcBef>
              <a:spcAft>
                <a:spcPct val="0"/>
              </a:spcAft>
              <a:defRPr>
                <a:solidFill>
                  <a:schemeClr val="tx1"/>
                </a:solidFill>
                <a:latin typeface="Verdana" charset="0"/>
                <a:ea typeface="MS PGothic" charset="0"/>
                <a:cs typeface="MS PGothic" charset="0"/>
              </a:defRPr>
            </a:lvl8pPr>
            <a:lvl9pPr marL="3993848" indent="-234932" defTabSz="965832" eaLnBrk="0" fontAlgn="base" hangingPunct="0">
              <a:spcBef>
                <a:spcPct val="0"/>
              </a:spcBef>
              <a:spcAft>
                <a:spcPct val="0"/>
              </a:spcAft>
              <a:defRPr>
                <a:solidFill>
                  <a:schemeClr val="tx1"/>
                </a:solidFill>
                <a:latin typeface="Verdana" charset="0"/>
                <a:ea typeface="MS PGothic" charset="0"/>
                <a:cs typeface="MS PGothic" charset="0"/>
              </a:defRPr>
            </a:lvl9pPr>
          </a:lstStyle>
          <a:p>
            <a:fld id="{AD5301A0-9722-1241-AE04-755656411530}" type="slidenum">
              <a:rPr lang="en-US">
                <a:latin typeface="Helvetica" charset="0"/>
              </a:rPr>
              <a:pPr/>
              <a:t>40</a:t>
            </a:fld>
            <a:endParaRPr lang="en-US">
              <a:latin typeface="Helvetica" charset="0"/>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FAA26D3D-D897-4be2-8F04-BA451C77F1D7}">
              <ma14:placeholderFlag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ea typeface="MS PGothic" charset="0"/>
            </a:endParaRPr>
          </a:p>
        </p:txBody>
      </p:sp>
    </p:spTree>
    <p:extLst>
      <p:ext uri="{BB962C8B-B14F-4D97-AF65-F5344CB8AC3E}">
        <p14:creationId xmlns:p14="http://schemas.microsoft.com/office/powerpoint/2010/main" val="4965916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026"/>
          <p:cNvGrpSpPr>
            <a:grpSpLocks/>
          </p:cNvGrpSpPr>
          <p:nvPr/>
        </p:nvGrpSpPr>
        <p:grpSpPr bwMode="auto">
          <a:xfrm>
            <a:off x="0" y="0"/>
            <a:ext cx="9144000" cy="6858000"/>
            <a:chOff x="0" y="0"/>
            <a:chExt cx="5760" cy="4320"/>
          </a:xfrm>
        </p:grpSpPr>
        <p:grpSp>
          <p:nvGrpSpPr>
            <p:cNvPr id="5" name="Group 1027"/>
            <p:cNvGrpSpPr>
              <a:grpSpLocks/>
            </p:cNvGrpSpPr>
            <p:nvPr/>
          </p:nvGrpSpPr>
          <p:grpSpPr bwMode="auto">
            <a:xfrm>
              <a:off x="0" y="0"/>
              <a:ext cx="5760" cy="4320"/>
              <a:chOff x="0" y="0"/>
              <a:chExt cx="5760" cy="4320"/>
            </a:xfrm>
          </p:grpSpPr>
          <p:sp>
            <p:nvSpPr>
              <p:cNvPr id="15" name="Rectangle 1028"/>
              <p:cNvSpPr>
                <a:spLocks noChangeArrowheads="1"/>
              </p:cNvSpPr>
              <p:nvPr/>
            </p:nvSpPr>
            <p:spPr bwMode="ltGray">
              <a:xfrm>
                <a:off x="2112" y="0"/>
                <a:ext cx="3648" cy="96"/>
              </a:xfrm>
              <a:prstGeom prst="rect">
                <a:avLst/>
              </a:prstGeom>
              <a:solidFill>
                <a:schemeClr val="folHlink"/>
              </a:solidFill>
              <a:ln w="9525">
                <a:noFill/>
                <a:miter lim="800000"/>
                <a:headEnd/>
                <a:tailEnd/>
              </a:ln>
              <a:effectLst/>
            </p:spPr>
            <p:txBody>
              <a:bodyPr wrap="none" anchor="ctr"/>
              <a:lstStyle/>
              <a:p>
                <a:pPr>
                  <a:defRPr/>
                </a:pPr>
                <a:endParaRPr lang="en-US"/>
              </a:p>
            </p:txBody>
          </p:sp>
          <p:grpSp>
            <p:nvGrpSpPr>
              <p:cNvPr id="16" name="Group 1029"/>
              <p:cNvGrpSpPr>
                <a:grpSpLocks/>
              </p:cNvGrpSpPr>
              <p:nvPr userDrawn="1"/>
            </p:nvGrpSpPr>
            <p:grpSpPr bwMode="auto">
              <a:xfrm>
                <a:off x="0" y="0"/>
                <a:ext cx="5760" cy="4320"/>
                <a:chOff x="0" y="0"/>
                <a:chExt cx="5760" cy="4320"/>
              </a:xfrm>
            </p:grpSpPr>
            <p:sp>
              <p:nvSpPr>
                <p:cNvPr id="18" name="Line 1030"/>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9" name="Line 1031"/>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20" name="Line 1032"/>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21" name="Line 1033"/>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22" name="Line 1034"/>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23" name="Line 1035"/>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24" name="Line 1036"/>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25" name="Line 1037"/>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26" name="Line 1038"/>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27" name="Line 1039"/>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28" name="Line 1040"/>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29" name="Line 1041"/>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0" name="Line 1042"/>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1" name="Line 1043"/>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2" name="Line 1044"/>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3" name="Line 1045"/>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4" name="Line 1046"/>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5" name="Line 1047"/>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6" name="Line 1048"/>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7" name="Line 1049"/>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8" name="Line 1050"/>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39" name="Line 1051"/>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40" name="Line 1052"/>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41" name="Line 1053"/>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42" name="Line 1054"/>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43" name="Line 1055"/>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44" name="Line 1056"/>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45" name="Line 1057"/>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46" name="Line 1058"/>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47" name="Line 1059"/>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48" name="Line 1060"/>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49" name="Line 1061"/>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50" name="Line 1062"/>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51" name="Line 1063"/>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52" name="Line 1064"/>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53" name="Line 1065"/>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54" name="Line 1066"/>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55" name="Line 1067"/>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56" name="Line 1068"/>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57" name="Line 1069"/>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58" name="Line 1070"/>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59" name="Line 1071"/>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60" name="Line 1072"/>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61" name="Line 1073"/>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62" name="Line 1074"/>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63" name="Line 1075"/>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64" name="Line 1076"/>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65" name="Line 1077"/>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66" name="Line 1078"/>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67" name="Line 1079"/>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68" name="Line 1080"/>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grpSp>
          <p:sp>
            <p:nvSpPr>
              <p:cNvPr id="17" name="Line 1081"/>
              <p:cNvSpPr>
                <a:spLocks noChangeShapeType="1"/>
              </p:cNvSpPr>
              <p:nvPr/>
            </p:nvSpPr>
            <p:spPr bwMode="ltGray">
              <a:xfrm>
                <a:off x="5568" y="0"/>
                <a:ext cx="0" cy="1488"/>
              </a:xfrm>
              <a:prstGeom prst="line">
                <a:avLst/>
              </a:prstGeom>
              <a:noFill/>
              <a:ln w="9525">
                <a:solidFill>
                  <a:schemeClr val="hlink"/>
                </a:solidFill>
                <a:round/>
                <a:headEnd/>
                <a:tailEnd/>
              </a:ln>
              <a:effectLst/>
            </p:spPr>
            <p:txBody>
              <a:bodyPr wrap="none" anchor="ctr"/>
              <a:lstStyle/>
              <a:p>
                <a:pPr>
                  <a:defRPr/>
                </a:pPr>
                <a:endParaRPr lang="en-US"/>
              </a:p>
            </p:txBody>
          </p:sp>
        </p:grpSp>
        <p:grpSp>
          <p:nvGrpSpPr>
            <p:cNvPr id="6" name="Group 1082"/>
            <p:cNvGrpSpPr>
              <a:grpSpLocks/>
            </p:cNvGrpSpPr>
            <p:nvPr userDrawn="1"/>
          </p:nvGrpSpPr>
          <p:grpSpPr bwMode="auto">
            <a:xfrm>
              <a:off x="3" y="559"/>
              <a:ext cx="4192" cy="1796"/>
              <a:chOff x="3" y="559"/>
              <a:chExt cx="4192" cy="1796"/>
            </a:xfrm>
          </p:grpSpPr>
          <p:sp>
            <p:nvSpPr>
              <p:cNvPr id="11" name="Line 1083"/>
              <p:cNvSpPr>
                <a:spLocks noChangeShapeType="1"/>
              </p:cNvSpPr>
              <p:nvPr/>
            </p:nvSpPr>
            <p:spPr bwMode="ltGray">
              <a:xfrm>
                <a:off x="506" y="559"/>
                <a:ext cx="0" cy="1796"/>
              </a:xfrm>
              <a:prstGeom prst="line">
                <a:avLst/>
              </a:prstGeom>
              <a:noFill/>
              <a:ln w="9525">
                <a:solidFill>
                  <a:schemeClr val="hlink"/>
                </a:solidFill>
                <a:round/>
                <a:headEnd/>
                <a:tailEnd/>
              </a:ln>
              <a:effectLst/>
            </p:spPr>
            <p:txBody>
              <a:bodyPr wrap="none" anchor="ctr"/>
              <a:lstStyle/>
              <a:p>
                <a:pPr>
                  <a:defRPr/>
                </a:pPr>
                <a:endParaRPr lang="en-US"/>
              </a:p>
            </p:txBody>
          </p:sp>
          <p:sp>
            <p:nvSpPr>
              <p:cNvPr id="12" name="Line 1084"/>
              <p:cNvSpPr>
                <a:spLocks noChangeShapeType="1"/>
              </p:cNvSpPr>
              <p:nvPr/>
            </p:nvSpPr>
            <p:spPr bwMode="ltGray">
              <a:xfrm flipH="1" flipV="1">
                <a:off x="3" y="1924"/>
                <a:ext cx="3211" cy="1"/>
              </a:xfrm>
              <a:prstGeom prst="line">
                <a:avLst/>
              </a:prstGeom>
              <a:noFill/>
              <a:ln w="9525">
                <a:solidFill>
                  <a:schemeClr val="hlink"/>
                </a:solidFill>
                <a:round/>
                <a:headEnd/>
                <a:tailEnd/>
              </a:ln>
              <a:effectLst/>
            </p:spPr>
            <p:txBody>
              <a:bodyPr wrap="none" anchor="ctr"/>
              <a:lstStyle/>
              <a:p>
                <a:pPr>
                  <a:defRPr/>
                </a:pPr>
                <a:endParaRPr lang="en-US"/>
              </a:p>
            </p:txBody>
          </p:sp>
          <p:sp>
            <p:nvSpPr>
              <p:cNvPr id="13" name="Line 1085"/>
              <p:cNvSpPr>
                <a:spLocks noChangeShapeType="1"/>
              </p:cNvSpPr>
              <p:nvPr/>
            </p:nvSpPr>
            <p:spPr bwMode="ltGray">
              <a:xfrm flipH="1" flipV="1">
                <a:off x="384" y="938"/>
                <a:ext cx="3811" cy="1"/>
              </a:xfrm>
              <a:prstGeom prst="line">
                <a:avLst/>
              </a:prstGeom>
              <a:noFill/>
              <a:ln w="9525">
                <a:solidFill>
                  <a:schemeClr val="hlink"/>
                </a:solidFill>
                <a:round/>
                <a:headEnd/>
                <a:tailEnd/>
              </a:ln>
              <a:effectLst/>
            </p:spPr>
            <p:txBody>
              <a:bodyPr wrap="none" anchor="ctr"/>
              <a:lstStyle/>
              <a:p>
                <a:pPr>
                  <a:defRPr/>
                </a:pPr>
                <a:endParaRPr lang="en-US"/>
              </a:p>
            </p:txBody>
          </p:sp>
          <p:sp>
            <p:nvSpPr>
              <p:cNvPr id="14" name="Arc 1086"/>
              <p:cNvSpPr>
                <a:spLocks/>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headEnd/>
                <a:tailEnd/>
              </a:ln>
              <a:effectLst/>
            </p:spPr>
            <p:txBody>
              <a:bodyPr wrap="none" anchor="ctr"/>
              <a:lstStyle/>
              <a:p>
                <a:pPr>
                  <a:defRPr/>
                </a:pPr>
                <a:endParaRPr lang="en-US"/>
              </a:p>
            </p:txBody>
          </p:sp>
        </p:grpSp>
        <p:grpSp>
          <p:nvGrpSpPr>
            <p:cNvPr id="7" name="Group 1087"/>
            <p:cNvGrpSpPr>
              <a:grpSpLocks/>
            </p:cNvGrpSpPr>
            <p:nvPr userDrawn="1"/>
          </p:nvGrpSpPr>
          <p:grpSpPr bwMode="auto">
            <a:xfrm>
              <a:off x="1480" y="1952"/>
              <a:ext cx="3808" cy="1812"/>
              <a:chOff x="1480" y="1952"/>
              <a:chExt cx="3808" cy="1812"/>
            </a:xfrm>
          </p:grpSpPr>
          <p:sp>
            <p:nvSpPr>
              <p:cNvPr id="8" name="Line 1088"/>
              <p:cNvSpPr>
                <a:spLocks noChangeShapeType="1"/>
              </p:cNvSpPr>
              <p:nvPr/>
            </p:nvSpPr>
            <p:spPr bwMode="ltGray">
              <a:xfrm flipV="1">
                <a:off x="1480" y="3442"/>
                <a:ext cx="3808" cy="0"/>
              </a:xfrm>
              <a:prstGeom prst="line">
                <a:avLst/>
              </a:prstGeom>
              <a:noFill/>
              <a:ln w="9525">
                <a:solidFill>
                  <a:schemeClr val="hlink"/>
                </a:solidFill>
                <a:round/>
                <a:headEnd/>
                <a:tailEnd/>
              </a:ln>
              <a:effectLst/>
            </p:spPr>
            <p:txBody>
              <a:bodyPr wrap="none" anchor="ctr"/>
              <a:lstStyle/>
              <a:p>
                <a:pPr>
                  <a:defRPr/>
                </a:pPr>
                <a:endParaRPr lang="en-US"/>
              </a:p>
            </p:txBody>
          </p:sp>
          <p:sp>
            <p:nvSpPr>
              <p:cNvPr id="9" name="Line 1089"/>
              <p:cNvSpPr>
                <a:spLocks noChangeShapeType="1"/>
              </p:cNvSpPr>
              <p:nvPr/>
            </p:nvSpPr>
            <p:spPr bwMode="ltGray">
              <a:xfrm flipH="1">
                <a:off x="5172" y="1952"/>
                <a:ext cx="0" cy="1812"/>
              </a:xfrm>
              <a:prstGeom prst="line">
                <a:avLst/>
              </a:prstGeom>
              <a:noFill/>
              <a:ln w="9525">
                <a:solidFill>
                  <a:schemeClr val="hlink"/>
                </a:solidFill>
                <a:round/>
                <a:headEnd/>
                <a:tailEnd/>
              </a:ln>
              <a:effectLst/>
            </p:spPr>
            <p:txBody>
              <a:bodyPr wrap="none" anchor="ctr"/>
              <a:lstStyle/>
              <a:p>
                <a:pPr>
                  <a:defRPr/>
                </a:pPr>
                <a:endParaRPr lang="en-US"/>
              </a:p>
            </p:txBody>
          </p:sp>
          <p:sp>
            <p:nvSpPr>
              <p:cNvPr id="10" name="Arc 1090"/>
              <p:cNvSpPr>
                <a:spLocks/>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headEnd/>
                <a:tailEnd/>
              </a:ln>
              <a:effectLst/>
            </p:spPr>
            <p:txBody>
              <a:bodyPr wrap="none" anchor="ctr"/>
              <a:lstStyle/>
              <a:p>
                <a:pPr>
                  <a:defRPr/>
                </a:pPr>
                <a:endParaRPr lang="en-US"/>
              </a:p>
            </p:txBody>
          </p:sp>
        </p:grpSp>
      </p:grpSp>
      <p:sp>
        <p:nvSpPr>
          <p:cNvPr id="1069123" name="Rectangle 1091"/>
          <p:cNvSpPr>
            <a:spLocks noGrp="1" noChangeArrowheads="1"/>
          </p:cNvSpPr>
          <p:nvPr>
            <p:ph type="ctrTitle"/>
          </p:nvPr>
        </p:nvSpPr>
        <p:spPr>
          <a:xfrm>
            <a:off x="990600" y="1752600"/>
            <a:ext cx="7772400" cy="1143000"/>
          </a:xfrm>
        </p:spPr>
        <p:txBody>
          <a:bodyPr/>
          <a:lstStyle>
            <a:lvl1pPr>
              <a:defRPr/>
            </a:lvl1pPr>
          </a:lstStyle>
          <a:p>
            <a:r>
              <a:rPr lang="en-GB"/>
              <a:t>Click to edit Master title style</a:t>
            </a:r>
          </a:p>
        </p:txBody>
      </p:sp>
      <p:sp>
        <p:nvSpPr>
          <p:cNvPr id="1069124" name="Rectangle 1092" descr="Rectangle: Click to edit Master text styles&#10;Second level&#10;Third level&#10;Fourth level&#10;Fifth level"/>
          <p:cNvSpPr>
            <a:spLocks noGrp="1" noChangeArrowheads="1"/>
          </p:cNvSpPr>
          <p:nvPr>
            <p:ph type="subTitle" idx="1"/>
          </p:nvPr>
        </p:nvSpPr>
        <p:spPr>
          <a:xfrm>
            <a:off x="990600" y="3309938"/>
            <a:ext cx="6400800" cy="1752600"/>
          </a:xfrm>
        </p:spPr>
        <p:txBody>
          <a:bodyPr/>
          <a:lstStyle>
            <a:lvl1pPr marL="0" indent="0">
              <a:buFont typeface="Wingdings" pitchFamily="2" charset="2"/>
              <a:buNone/>
              <a:defRPr/>
            </a:lvl1pPr>
          </a:lstStyle>
          <a:p>
            <a:r>
              <a:rPr lang="en-GB"/>
              <a:t>Click to edit Master subtitle style</a:t>
            </a:r>
          </a:p>
        </p:txBody>
      </p:sp>
      <p:sp>
        <p:nvSpPr>
          <p:cNvPr id="69" name="Rectangle 1093"/>
          <p:cNvSpPr>
            <a:spLocks noGrp="1" noChangeArrowheads="1"/>
          </p:cNvSpPr>
          <p:nvPr>
            <p:ph type="dt" sz="quarter" idx="10"/>
          </p:nvPr>
        </p:nvSpPr>
        <p:spPr bwMode="auto">
          <a:xfrm>
            <a:off x="6858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400"/>
            </a:lvl1pPr>
          </a:lstStyle>
          <a:p>
            <a:pPr>
              <a:defRPr/>
            </a:pPr>
            <a:endParaRPr lang="en-GB"/>
          </a:p>
        </p:txBody>
      </p:sp>
      <p:sp>
        <p:nvSpPr>
          <p:cNvPr id="70" name="Rectangle 1094"/>
          <p:cNvSpPr>
            <a:spLocks noGrp="1" noChangeArrowheads="1"/>
          </p:cNvSpPr>
          <p:nvPr>
            <p:ph type="ftr" sz="quarter" idx="11"/>
          </p:nvPr>
        </p:nvSpPr>
        <p:spPr bwMode="auto">
          <a:xfrm>
            <a:off x="31242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a:defRPr sz="1400"/>
            </a:lvl1pPr>
          </a:lstStyle>
          <a:p>
            <a:pPr>
              <a:defRPr/>
            </a:pPr>
            <a:endParaRPr lang="en-GB"/>
          </a:p>
        </p:txBody>
      </p:sp>
      <p:sp>
        <p:nvSpPr>
          <p:cNvPr id="71" name="Rectangle 1095"/>
          <p:cNvSpPr>
            <a:spLocks noGrp="1" noChangeArrowheads="1"/>
          </p:cNvSpPr>
          <p:nvPr>
            <p:ph type="sldNum" sz="quarter" idx="12"/>
          </p:nvPr>
        </p:nvSpPr>
        <p:spPr bwMode="auto">
          <a:xfrm>
            <a:off x="65532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a:defRPr sz="1400"/>
            </a:lvl1pPr>
          </a:lstStyle>
          <a:p>
            <a:pPr>
              <a:defRPr/>
            </a:pPr>
            <a:fld id="{D020C872-3BC4-4E8F-8435-60B84CF2BB6E}" type="slidenum">
              <a:rPr lang="en-GB"/>
              <a:pPr>
                <a:defRPr/>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7772400" cy="990600"/>
          </a:xfrm>
        </p:spPr>
        <p:txBody>
          <a:bodyPr/>
          <a:lstStyle>
            <a:lvl1pPr>
              <a:defRPr sz="4000"/>
            </a:lvl1pPr>
          </a:lstStyle>
          <a:p>
            <a:r>
              <a:rPr lang="en-US" dirty="0" smtClean="0"/>
              <a:t>Click to edit Master title style</a:t>
            </a:r>
            <a:endParaRPr lang="en-US" dirty="0"/>
          </a:p>
        </p:txBody>
      </p:sp>
      <p:sp>
        <p:nvSpPr>
          <p:cNvPr id="3" name="Content Placeholder 2"/>
          <p:cNvSpPr>
            <a:spLocks noGrp="1"/>
          </p:cNvSpPr>
          <p:nvPr>
            <p:ph idx="1"/>
          </p:nvPr>
        </p:nvSpPr>
        <p:spPr>
          <a:xfrm>
            <a:off x="609600" y="1600200"/>
            <a:ext cx="7772400" cy="4114800"/>
          </a:xfrm>
        </p:spPr>
        <p:txBody>
          <a:bodyPr/>
          <a:lstStyle>
            <a:lvl1pPr>
              <a:defRPr sz="2800"/>
            </a:lvl1pPr>
            <a:lvl2pPr>
              <a:defRPr sz="2400"/>
            </a:lvl2pPr>
            <a:lvl3pPr>
              <a:defRPr sz="2000"/>
            </a:lvl3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8006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304800"/>
            <a:ext cx="2000250" cy="5715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304800"/>
            <a:ext cx="5848350" cy="5715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7772400" cy="1143000"/>
          </a:xfrm>
        </p:spPr>
        <p:txBody>
          <a:bodyPr/>
          <a:lstStyle/>
          <a:p>
            <a:r>
              <a:rPr lang="en-US" smtClean="0"/>
              <a:t>Click to edit Master title style</a:t>
            </a:r>
            <a:endParaRPr lang="en-US"/>
          </a:p>
        </p:txBody>
      </p:sp>
      <p:sp>
        <p:nvSpPr>
          <p:cNvPr id="3" name="Chart Placeholder 2"/>
          <p:cNvSpPr>
            <a:spLocks noGrp="1"/>
          </p:cNvSpPr>
          <p:nvPr>
            <p:ph type="chart" idx="1"/>
          </p:nvPr>
        </p:nvSpPr>
        <p:spPr>
          <a:xfrm>
            <a:off x="838200" y="1905000"/>
            <a:ext cx="7772400" cy="4114800"/>
          </a:xfrm>
        </p:spPr>
        <p:txBody>
          <a:bodyPr/>
          <a:lstStyle/>
          <a:p>
            <a:pPr lvl="0"/>
            <a:endParaRPr lang="en-US" noProof="0" smtClean="0"/>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050" name="Group 2"/>
          <p:cNvGrpSpPr>
            <a:grpSpLocks/>
          </p:cNvGrpSpPr>
          <p:nvPr userDrawn="1"/>
        </p:nvGrpSpPr>
        <p:grpSpPr bwMode="auto">
          <a:xfrm>
            <a:off x="0" y="0"/>
            <a:ext cx="9144000" cy="6858000"/>
            <a:chOff x="0" y="0"/>
            <a:chExt cx="5760" cy="4320"/>
          </a:xfrm>
        </p:grpSpPr>
        <p:grpSp>
          <p:nvGrpSpPr>
            <p:cNvPr id="2053" name="Group 3"/>
            <p:cNvGrpSpPr>
              <a:grpSpLocks/>
            </p:cNvGrpSpPr>
            <p:nvPr userDrawn="1"/>
          </p:nvGrpSpPr>
          <p:grpSpPr bwMode="auto">
            <a:xfrm>
              <a:off x="0" y="0"/>
              <a:ext cx="5760" cy="4320"/>
              <a:chOff x="0" y="0"/>
              <a:chExt cx="5760" cy="4320"/>
            </a:xfrm>
          </p:grpSpPr>
          <p:grpSp>
            <p:nvGrpSpPr>
              <p:cNvPr id="2060" name="Group 4"/>
              <p:cNvGrpSpPr>
                <a:grpSpLocks/>
              </p:cNvGrpSpPr>
              <p:nvPr userDrawn="1"/>
            </p:nvGrpSpPr>
            <p:grpSpPr bwMode="auto">
              <a:xfrm>
                <a:off x="0" y="192"/>
                <a:ext cx="5760" cy="4032"/>
                <a:chOff x="0" y="192"/>
                <a:chExt cx="5760" cy="4032"/>
              </a:xfrm>
            </p:grpSpPr>
            <p:sp>
              <p:nvSpPr>
                <p:cNvPr id="1068037" name="Line 5"/>
                <p:cNvSpPr>
                  <a:spLocks noChangeShapeType="1"/>
                </p:cNvSpPr>
                <p:nvPr userDrawn="1"/>
              </p:nvSpPr>
              <p:spPr bwMode="white">
                <a:xfrm>
                  <a:off x="0" y="19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38" name="Line 6"/>
                <p:cNvSpPr>
                  <a:spLocks noChangeShapeType="1"/>
                </p:cNvSpPr>
                <p:nvPr userDrawn="1"/>
              </p:nvSpPr>
              <p:spPr bwMode="white">
                <a:xfrm>
                  <a:off x="0" y="38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39" name="Line 7"/>
                <p:cNvSpPr>
                  <a:spLocks noChangeShapeType="1"/>
                </p:cNvSpPr>
                <p:nvPr userDrawn="1"/>
              </p:nvSpPr>
              <p:spPr bwMode="white">
                <a:xfrm>
                  <a:off x="0" y="576"/>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40" name="Line 8"/>
                <p:cNvSpPr>
                  <a:spLocks noChangeShapeType="1"/>
                </p:cNvSpPr>
                <p:nvPr userDrawn="1"/>
              </p:nvSpPr>
              <p:spPr bwMode="white">
                <a:xfrm>
                  <a:off x="0" y="768"/>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41" name="Line 9"/>
                <p:cNvSpPr>
                  <a:spLocks noChangeShapeType="1"/>
                </p:cNvSpPr>
                <p:nvPr userDrawn="1"/>
              </p:nvSpPr>
              <p:spPr bwMode="white">
                <a:xfrm>
                  <a:off x="0" y="960"/>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42" name="Line 10"/>
                <p:cNvSpPr>
                  <a:spLocks noChangeShapeType="1"/>
                </p:cNvSpPr>
                <p:nvPr userDrawn="1"/>
              </p:nvSpPr>
              <p:spPr bwMode="white">
                <a:xfrm>
                  <a:off x="0" y="115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43" name="Line 11"/>
                <p:cNvSpPr>
                  <a:spLocks noChangeShapeType="1"/>
                </p:cNvSpPr>
                <p:nvPr userDrawn="1"/>
              </p:nvSpPr>
              <p:spPr bwMode="white">
                <a:xfrm>
                  <a:off x="0" y="134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44" name="Line 12"/>
                <p:cNvSpPr>
                  <a:spLocks noChangeShapeType="1"/>
                </p:cNvSpPr>
                <p:nvPr userDrawn="1"/>
              </p:nvSpPr>
              <p:spPr bwMode="white">
                <a:xfrm>
                  <a:off x="0" y="1536"/>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45" name="Line 13"/>
                <p:cNvSpPr>
                  <a:spLocks noChangeShapeType="1"/>
                </p:cNvSpPr>
                <p:nvPr userDrawn="1"/>
              </p:nvSpPr>
              <p:spPr bwMode="white">
                <a:xfrm>
                  <a:off x="0" y="1728"/>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46" name="Line 14"/>
                <p:cNvSpPr>
                  <a:spLocks noChangeShapeType="1"/>
                </p:cNvSpPr>
                <p:nvPr userDrawn="1"/>
              </p:nvSpPr>
              <p:spPr bwMode="white">
                <a:xfrm>
                  <a:off x="0" y="1920"/>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47" name="Line 15"/>
                <p:cNvSpPr>
                  <a:spLocks noChangeShapeType="1"/>
                </p:cNvSpPr>
                <p:nvPr userDrawn="1"/>
              </p:nvSpPr>
              <p:spPr bwMode="white">
                <a:xfrm>
                  <a:off x="0" y="211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48" name="Line 16"/>
                <p:cNvSpPr>
                  <a:spLocks noChangeShapeType="1"/>
                </p:cNvSpPr>
                <p:nvPr userDrawn="1"/>
              </p:nvSpPr>
              <p:spPr bwMode="white">
                <a:xfrm>
                  <a:off x="0" y="230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49" name="Line 17"/>
                <p:cNvSpPr>
                  <a:spLocks noChangeShapeType="1"/>
                </p:cNvSpPr>
                <p:nvPr userDrawn="1"/>
              </p:nvSpPr>
              <p:spPr bwMode="white">
                <a:xfrm>
                  <a:off x="0" y="2496"/>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50" name="Line 18"/>
                <p:cNvSpPr>
                  <a:spLocks noChangeShapeType="1"/>
                </p:cNvSpPr>
                <p:nvPr userDrawn="1"/>
              </p:nvSpPr>
              <p:spPr bwMode="white">
                <a:xfrm>
                  <a:off x="0" y="2688"/>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51" name="Line 19"/>
                <p:cNvSpPr>
                  <a:spLocks noChangeShapeType="1"/>
                </p:cNvSpPr>
                <p:nvPr userDrawn="1"/>
              </p:nvSpPr>
              <p:spPr bwMode="white">
                <a:xfrm>
                  <a:off x="0" y="2880"/>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52" name="Line 20"/>
                <p:cNvSpPr>
                  <a:spLocks noChangeShapeType="1"/>
                </p:cNvSpPr>
                <p:nvPr userDrawn="1"/>
              </p:nvSpPr>
              <p:spPr bwMode="white">
                <a:xfrm>
                  <a:off x="0" y="307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53" name="Line 21"/>
                <p:cNvSpPr>
                  <a:spLocks noChangeShapeType="1"/>
                </p:cNvSpPr>
                <p:nvPr userDrawn="1"/>
              </p:nvSpPr>
              <p:spPr bwMode="white">
                <a:xfrm>
                  <a:off x="0" y="326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54" name="Line 22"/>
                <p:cNvSpPr>
                  <a:spLocks noChangeShapeType="1"/>
                </p:cNvSpPr>
                <p:nvPr userDrawn="1"/>
              </p:nvSpPr>
              <p:spPr bwMode="white">
                <a:xfrm>
                  <a:off x="0" y="3456"/>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55" name="Line 23"/>
                <p:cNvSpPr>
                  <a:spLocks noChangeShapeType="1"/>
                </p:cNvSpPr>
                <p:nvPr userDrawn="1"/>
              </p:nvSpPr>
              <p:spPr bwMode="white">
                <a:xfrm>
                  <a:off x="0" y="3648"/>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56" name="Line 24"/>
                <p:cNvSpPr>
                  <a:spLocks noChangeShapeType="1"/>
                </p:cNvSpPr>
                <p:nvPr userDrawn="1"/>
              </p:nvSpPr>
              <p:spPr bwMode="white">
                <a:xfrm>
                  <a:off x="0" y="3840"/>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57" name="Line 25"/>
                <p:cNvSpPr>
                  <a:spLocks noChangeShapeType="1"/>
                </p:cNvSpPr>
                <p:nvPr userDrawn="1"/>
              </p:nvSpPr>
              <p:spPr bwMode="white">
                <a:xfrm>
                  <a:off x="0" y="403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58" name="Line 26"/>
                <p:cNvSpPr>
                  <a:spLocks noChangeShapeType="1"/>
                </p:cNvSpPr>
                <p:nvPr userDrawn="1"/>
              </p:nvSpPr>
              <p:spPr bwMode="white">
                <a:xfrm>
                  <a:off x="0" y="422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grpSp>
          <p:grpSp>
            <p:nvGrpSpPr>
              <p:cNvPr id="2061" name="Group 27"/>
              <p:cNvGrpSpPr>
                <a:grpSpLocks/>
              </p:cNvGrpSpPr>
              <p:nvPr userDrawn="1"/>
            </p:nvGrpSpPr>
            <p:grpSpPr bwMode="auto">
              <a:xfrm>
                <a:off x="192" y="0"/>
                <a:ext cx="5376" cy="4320"/>
                <a:chOff x="192" y="0"/>
                <a:chExt cx="5376" cy="4320"/>
              </a:xfrm>
            </p:grpSpPr>
            <p:sp>
              <p:nvSpPr>
                <p:cNvPr id="1068060" name="Line 28"/>
                <p:cNvSpPr>
                  <a:spLocks noChangeShapeType="1"/>
                </p:cNvSpPr>
                <p:nvPr userDrawn="1"/>
              </p:nvSpPr>
              <p:spPr bwMode="white">
                <a:xfrm>
                  <a:off x="19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61" name="Line 29"/>
                <p:cNvSpPr>
                  <a:spLocks noChangeShapeType="1"/>
                </p:cNvSpPr>
                <p:nvPr userDrawn="1"/>
              </p:nvSpPr>
              <p:spPr bwMode="white">
                <a:xfrm>
                  <a:off x="38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62" name="Line 30"/>
                <p:cNvSpPr>
                  <a:spLocks noChangeShapeType="1"/>
                </p:cNvSpPr>
                <p:nvPr userDrawn="1"/>
              </p:nvSpPr>
              <p:spPr bwMode="white">
                <a:xfrm>
                  <a:off x="57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63" name="Line 31"/>
                <p:cNvSpPr>
                  <a:spLocks noChangeShapeType="1"/>
                </p:cNvSpPr>
                <p:nvPr userDrawn="1"/>
              </p:nvSpPr>
              <p:spPr bwMode="white">
                <a:xfrm>
                  <a:off x="76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64" name="Line 32"/>
                <p:cNvSpPr>
                  <a:spLocks noChangeShapeType="1"/>
                </p:cNvSpPr>
                <p:nvPr userDrawn="1"/>
              </p:nvSpPr>
              <p:spPr bwMode="white">
                <a:xfrm>
                  <a:off x="96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65" name="Line 33"/>
                <p:cNvSpPr>
                  <a:spLocks noChangeShapeType="1"/>
                </p:cNvSpPr>
                <p:nvPr userDrawn="1"/>
              </p:nvSpPr>
              <p:spPr bwMode="white">
                <a:xfrm>
                  <a:off x="115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66" name="Line 34"/>
                <p:cNvSpPr>
                  <a:spLocks noChangeShapeType="1"/>
                </p:cNvSpPr>
                <p:nvPr userDrawn="1"/>
              </p:nvSpPr>
              <p:spPr bwMode="white">
                <a:xfrm>
                  <a:off x="134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67" name="Line 35"/>
                <p:cNvSpPr>
                  <a:spLocks noChangeShapeType="1"/>
                </p:cNvSpPr>
                <p:nvPr userDrawn="1"/>
              </p:nvSpPr>
              <p:spPr bwMode="white">
                <a:xfrm>
                  <a:off x="153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68" name="Line 36"/>
                <p:cNvSpPr>
                  <a:spLocks noChangeShapeType="1"/>
                </p:cNvSpPr>
                <p:nvPr userDrawn="1"/>
              </p:nvSpPr>
              <p:spPr bwMode="white">
                <a:xfrm>
                  <a:off x="172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69" name="Line 37"/>
                <p:cNvSpPr>
                  <a:spLocks noChangeShapeType="1"/>
                </p:cNvSpPr>
                <p:nvPr userDrawn="1"/>
              </p:nvSpPr>
              <p:spPr bwMode="white">
                <a:xfrm>
                  <a:off x="192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70" name="Line 38"/>
                <p:cNvSpPr>
                  <a:spLocks noChangeShapeType="1"/>
                </p:cNvSpPr>
                <p:nvPr userDrawn="1"/>
              </p:nvSpPr>
              <p:spPr bwMode="white">
                <a:xfrm>
                  <a:off x="211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71" name="Line 39"/>
                <p:cNvSpPr>
                  <a:spLocks noChangeShapeType="1"/>
                </p:cNvSpPr>
                <p:nvPr userDrawn="1"/>
              </p:nvSpPr>
              <p:spPr bwMode="white">
                <a:xfrm>
                  <a:off x="230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72" name="Line 40"/>
                <p:cNvSpPr>
                  <a:spLocks noChangeShapeType="1"/>
                </p:cNvSpPr>
                <p:nvPr userDrawn="1"/>
              </p:nvSpPr>
              <p:spPr bwMode="white">
                <a:xfrm>
                  <a:off x="249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73" name="Line 41"/>
                <p:cNvSpPr>
                  <a:spLocks noChangeShapeType="1"/>
                </p:cNvSpPr>
                <p:nvPr userDrawn="1"/>
              </p:nvSpPr>
              <p:spPr bwMode="white">
                <a:xfrm>
                  <a:off x="268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74" name="Line 42"/>
                <p:cNvSpPr>
                  <a:spLocks noChangeShapeType="1"/>
                </p:cNvSpPr>
                <p:nvPr userDrawn="1"/>
              </p:nvSpPr>
              <p:spPr bwMode="white">
                <a:xfrm>
                  <a:off x="288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75" name="Line 43"/>
                <p:cNvSpPr>
                  <a:spLocks noChangeShapeType="1"/>
                </p:cNvSpPr>
                <p:nvPr userDrawn="1"/>
              </p:nvSpPr>
              <p:spPr bwMode="white">
                <a:xfrm>
                  <a:off x="307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76" name="Line 44"/>
                <p:cNvSpPr>
                  <a:spLocks noChangeShapeType="1"/>
                </p:cNvSpPr>
                <p:nvPr userDrawn="1"/>
              </p:nvSpPr>
              <p:spPr bwMode="white">
                <a:xfrm>
                  <a:off x="326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77" name="Line 45"/>
                <p:cNvSpPr>
                  <a:spLocks noChangeShapeType="1"/>
                </p:cNvSpPr>
                <p:nvPr userDrawn="1"/>
              </p:nvSpPr>
              <p:spPr bwMode="white">
                <a:xfrm>
                  <a:off x="345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78" name="Line 46"/>
                <p:cNvSpPr>
                  <a:spLocks noChangeShapeType="1"/>
                </p:cNvSpPr>
                <p:nvPr userDrawn="1"/>
              </p:nvSpPr>
              <p:spPr bwMode="white">
                <a:xfrm>
                  <a:off x="364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79" name="Line 47"/>
                <p:cNvSpPr>
                  <a:spLocks noChangeShapeType="1"/>
                </p:cNvSpPr>
                <p:nvPr userDrawn="1"/>
              </p:nvSpPr>
              <p:spPr bwMode="white">
                <a:xfrm>
                  <a:off x="384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80" name="Line 48"/>
                <p:cNvSpPr>
                  <a:spLocks noChangeShapeType="1"/>
                </p:cNvSpPr>
                <p:nvPr userDrawn="1"/>
              </p:nvSpPr>
              <p:spPr bwMode="white">
                <a:xfrm>
                  <a:off x="403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81" name="Line 49"/>
                <p:cNvSpPr>
                  <a:spLocks noChangeShapeType="1"/>
                </p:cNvSpPr>
                <p:nvPr userDrawn="1"/>
              </p:nvSpPr>
              <p:spPr bwMode="white">
                <a:xfrm>
                  <a:off x="422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82" name="Line 50"/>
                <p:cNvSpPr>
                  <a:spLocks noChangeShapeType="1"/>
                </p:cNvSpPr>
                <p:nvPr userDrawn="1"/>
              </p:nvSpPr>
              <p:spPr bwMode="white">
                <a:xfrm>
                  <a:off x="441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83" name="Line 51"/>
                <p:cNvSpPr>
                  <a:spLocks noChangeShapeType="1"/>
                </p:cNvSpPr>
                <p:nvPr userDrawn="1"/>
              </p:nvSpPr>
              <p:spPr bwMode="white">
                <a:xfrm>
                  <a:off x="460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84" name="Line 52"/>
                <p:cNvSpPr>
                  <a:spLocks noChangeShapeType="1"/>
                </p:cNvSpPr>
                <p:nvPr userDrawn="1"/>
              </p:nvSpPr>
              <p:spPr bwMode="white">
                <a:xfrm>
                  <a:off x="480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85" name="Line 53"/>
                <p:cNvSpPr>
                  <a:spLocks noChangeShapeType="1"/>
                </p:cNvSpPr>
                <p:nvPr userDrawn="1"/>
              </p:nvSpPr>
              <p:spPr bwMode="white">
                <a:xfrm>
                  <a:off x="499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86" name="Line 54"/>
                <p:cNvSpPr>
                  <a:spLocks noChangeShapeType="1"/>
                </p:cNvSpPr>
                <p:nvPr userDrawn="1"/>
              </p:nvSpPr>
              <p:spPr bwMode="white">
                <a:xfrm>
                  <a:off x="518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87" name="Line 55"/>
                <p:cNvSpPr>
                  <a:spLocks noChangeShapeType="1"/>
                </p:cNvSpPr>
                <p:nvPr userDrawn="1"/>
              </p:nvSpPr>
              <p:spPr bwMode="white">
                <a:xfrm>
                  <a:off x="537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sp>
              <p:nvSpPr>
                <p:cNvPr id="1068088" name="Line 56"/>
                <p:cNvSpPr>
                  <a:spLocks noChangeShapeType="1"/>
                </p:cNvSpPr>
                <p:nvPr userDrawn="1"/>
              </p:nvSpPr>
              <p:spPr bwMode="white">
                <a:xfrm>
                  <a:off x="556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en-US"/>
                </a:p>
              </p:txBody>
            </p:sp>
          </p:grpSp>
        </p:grpSp>
        <p:sp>
          <p:nvSpPr>
            <p:cNvPr id="1068089" name="Rectangle 57" descr="60%"/>
            <p:cNvSpPr>
              <a:spLocks noChangeArrowheads="1"/>
            </p:cNvSpPr>
            <p:nvPr userDrawn="1"/>
          </p:nvSpPr>
          <p:spPr bwMode="ltGray">
            <a:xfrm>
              <a:off x="2112" y="0"/>
              <a:ext cx="3648" cy="96"/>
            </a:xfrm>
            <a:prstGeom prst="rect">
              <a:avLst/>
            </a:prstGeom>
            <a:pattFill prst="pct60">
              <a:fgClr>
                <a:schemeClr val="folHlink"/>
              </a:fgClr>
              <a:bgClr>
                <a:schemeClr val="bg1"/>
              </a:bgClr>
            </a:pattFill>
            <a:ln w="9525">
              <a:noFill/>
              <a:miter lim="800000"/>
              <a:headEnd/>
              <a:tailEnd/>
            </a:ln>
            <a:effectLst/>
          </p:spPr>
          <p:txBody>
            <a:bodyPr wrap="none" anchor="ctr"/>
            <a:lstStyle/>
            <a:p>
              <a:pPr>
                <a:defRPr/>
              </a:pPr>
              <a:endParaRPr lang="en-US"/>
            </a:p>
          </p:txBody>
        </p:sp>
        <p:sp>
          <p:nvSpPr>
            <p:cNvPr id="1068090" name="Line 58"/>
            <p:cNvSpPr>
              <a:spLocks noChangeShapeType="1"/>
            </p:cNvSpPr>
            <p:nvPr userDrawn="1"/>
          </p:nvSpPr>
          <p:spPr bwMode="ltGray">
            <a:xfrm>
              <a:off x="5568" y="0"/>
              <a:ext cx="0" cy="1488"/>
            </a:xfrm>
            <a:prstGeom prst="line">
              <a:avLst/>
            </a:prstGeom>
            <a:noFill/>
            <a:ln w="9525">
              <a:solidFill>
                <a:schemeClr val="hlink"/>
              </a:solidFill>
              <a:round/>
              <a:headEnd/>
              <a:tailEnd/>
            </a:ln>
            <a:effectLst/>
          </p:spPr>
          <p:txBody>
            <a:bodyPr wrap="none" anchor="ctr"/>
            <a:lstStyle/>
            <a:p>
              <a:pPr>
                <a:defRPr/>
              </a:pPr>
              <a:endParaRPr lang="en-US"/>
            </a:p>
          </p:txBody>
        </p:sp>
        <p:grpSp>
          <p:nvGrpSpPr>
            <p:cNvPr id="2056" name="Group 59"/>
            <p:cNvGrpSpPr>
              <a:grpSpLocks/>
            </p:cNvGrpSpPr>
            <p:nvPr userDrawn="1"/>
          </p:nvGrpSpPr>
          <p:grpSpPr bwMode="auto">
            <a:xfrm>
              <a:off x="261" y="892"/>
              <a:ext cx="1124" cy="1464"/>
              <a:chOff x="96" y="916"/>
              <a:chExt cx="2208" cy="2876"/>
            </a:xfrm>
          </p:grpSpPr>
          <p:sp>
            <p:nvSpPr>
              <p:cNvPr id="1068092" name="Line 60"/>
              <p:cNvSpPr>
                <a:spLocks noChangeShapeType="1"/>
              </p:cNvSpPr>
              <p:nvPr userDrawn="1"/>
            </p:nvSpPr>
            <p:spPr bwMode="ltGray">
              <a:xfrm flipH="1">
                <a:off x="96" y="1038"/>
                <a:ext cx="2208" cy="0"/>
              </a:xfrm>
              <a:prstGeom prst="line">
                <a:avLst/>
              </a:prstGeom>
              <a:noFill/>
              <a:ln w="9525">
                <a:solidFill>
                  <a:schemeClr val="hlink"/>
                </a:solidFill>
                <a:round/>
                <a:headEnd/>
                <a:tailEnd/>
              </a:ln>
              <a:effectLst/>
            </p:spPr>
            <p:txBody>
              <a:bodyPr wrap="none" anchor="ctr"/>
              <a:lstStyle/>
              <a:p>
                <a:pPr>
                  <a:defRPr/>
                </a:pPr>
                <a:endParaRPr lang="en-US"/>
              </a:p>
            </p:txBody>
          </p:sp>
          <p:sp>
            <p:nvSpPr>
              <p:cNvPr id="1068093" name="Line 61"/>
              <p:cNvSpPr>
                <a:spLocks noChangeShapeType="1"/>
              </p:cNvSpPr>
              <p:nvPr userDrawn="1"/>
            </p:nvSpPr>
            <p:spPr bwMode="ltGray">
              <a:xfrm>
                <a:off x="336" y="920"/>
                <a:ext cx="0" cy="2872"/>
              </a:xfrm>
              <a:prstGeom prst="line">
                <a:avLst/>
              </a:prstGeom>
              <a:noFill/>
              <a:ln w="9525">
                <a:solidFill>
                  <a:schemeClr val="hlink"/>
                </a:solidFill>
                <a:round/>
                <a:headEnd/>
                <a:tailEnd/>
              </a:ln>
              <a:effectLst/>
            </p:spPr>
            <p:txBody>
              <a:bodyPr wrap="none" anchor="ctr"/>
              <a:lstStyle/>
              <a:p>
                <a:pPr>
                  <a:defRPr/>
                </a:pPr>
                <a:endParaRPr lang="en-US"/>
              </a:p>
            </p:txBody>
          </p:sp>
          <p:sp>
            <p:nvSpPr>
              <p:cNvPr id="1068094" name="Arc 62"/>
              <p:cNvSpPr>
                <a:spLocks/>
              </p:cNvSpPr>
              <p:nvPr userDrawn="1"/>
            </p:nvSpPr>
            <p:spPr bwMode="ltGray">
              <a:xfrm flipH="1">
                <a:off x="218" y="916"/>
                <a:ext cx="238" cy="240"/>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headEnd/>
                <a:tailEnd/>
              </a:ln>
              <a:effectLst/>
            </p:spPr>
            <p:txBody>
              <a:bodyPr wrap="none" anchor="ctr"/>
              <a:lstStyle/>
              <a:p>
                <a:pPr>
                  <a:defRPr/>
                </a:pPr>
                <a:endParaRPr lang="en-US"/>
              </a:p>
            </p:txBody>
          </p:sp>
        </p:grpSp>
      </p:grpSp>
      <p:sp>
        <p:nvSpPr>
          <p:cNvPr id="2051" name="Rectangle 63"/>
          <p:cNvSpPr>
            <a:spLocks noGrp="1" noChangeArrowheads="1"/>
          </p:cNvSpPr>
          <p:nvPr>
            <p:ph type="title"/>
          </p:nvPr>
        </p:nvSpPr>
        <p:spPr bwMode="auto">
          <a:xfrm>
            <a:off x="609600" y="304800"/>
            <a:ext cx="7772400" cy="11430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GB" smtClean="0"/>
              <a:t>Click to edit Master title style</a:t>
            </a:r>
          </a:p>
        </p:txBody>
      </p:sp>
      <p:sp>
        <p:nvSpPr>
          <p:cNvPr id="2052" name="Rectangle 64" descr="Rectangle: Click to edit Master text styles&#10;Second level&#10;Third level&#10;Fourth level&#10;Fifth level"/>
          <p:cNvSpPr>
            <a:spLocks noGrp="1" noChangeArrowheads="1"/>
          </p:cNvSpPr>
          <p:nvPr>
            <p:ph type="body" idx="1"/>
          </p:nvPr>
        </p:nvSpPr>
        <p:spPr bwMode="auto">
          <a:xfrm>
            <a:off x="838200" y="19050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p>
        </p:txBody>
      </p:sp>
    </p:spTree>
  </p:cSld>
  <p:clrMap bg1="lt1" tx1="dk1" bg2="lt2" tx2="dk2" accent1="accent1" accent2="accent2" accent3="accent3" accent4="accent4" accent5="accent5" accent6="accent6" hlink="hlink" folHlink="folHlink"/>
  <p:sldLayoutIdLst>
    <p:sldLayoutId id="2147483749"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hlink"/>
        </a:buClr>
        <a:buSzPct val="110000"/>
        <a:buFont typeface="Wingdings" pitchFamily="2" charset="2"/>
        <a:buBlip>
          <a:blip r:embed="rId14"/>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sz="2400">
          <a:solidFill>
            <a:schemeClr val="tx1"/>
          </a:solidFill>
          <a:latin typeface="+mn-lt"/>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4.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5.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6.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7.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8.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9.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13.gif"/></Relationships>
</file>

<file path=ppt/slides/_rels/slide44.xml.rels><?xml version="1.0" encoding="UTF-8" standalone="yes"?>
<Relationships xmlns="http://schemas.openxmlformats.org/package/2006/relationships"><Relationship Id="rId3" Type="http://schemas.openxmlformats.org/officeDocument/2006/relationships/image" Target="../media/image15.jpeg"/><Relationship Id="rId4" Type="http://schemas.openxmlformats.org/officeDocument/2006/relationships/image" Target="../media/image16.jpeg"/><Relationship Id="rId5" Type="http://schemas.openxmlformats.org/officeDocument/2006/relationships/image" Target="../media/image17.jpeg"/><Relationship Id="rId1" Type="http://schemas.openxmlformats.org/officeDocument/2006/relationships/slideLayout" Target="../slideLayouts/slideLayout2.xml"/><Relationship Id="rId2" Type="http://schemas.openxmlformats.org/officeDocument/2006/relationships/image" Target="../media/image14.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jpeg"/><Relationship Id="rId3" Type="http://schemas.openxmlformats.org/officeDocument/2006/relationships/image" Target="../media/image19.png"/></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4" Type="http://schemas.openxmlformats.org/officeDocument/2006/relationships/image" Target="../media/image22.jpeg"/><Relationship Id="rId5" Type="http://schemas.openxmlformats.org/officeDocument/2006/relationships/image" Target="../media/image23.jpeg"/><Relationship Id="rId6" Type="http://schemas.openxmlformats.org/officeDocument/2006/relationships/image" Target="../media/image24.png"/><Relationship Id="rId7" Type="http://schemas.openxmlformats.org/officeDocument/2006/relationships/image" Target="../media/image25.gif"/><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jpe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jpe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p:txBody>
          <a:bodyPr/>
          <a:lstStyle/>
          <a:p>
            <a:pPr algn="ctr"/>
            <a:r>
              <a:rPr lang="en-US" altLang="zh-CN" dirty="0" smtClean="0"/>
              <a:t>Distributed Systems/Networking</a:t>
            </a:r>
            <a:endParaRPr lang="en-US" dirty="0" smtClean="0"/>
          </a:p>
        </p:txBody>
      </p:sp>
      <p:sp>
        <p:nvSpPr>
          <p:cNvPr id="4099" name="Rectangle 3" descr="Rectangle: Click to edit Master text styles&#10;Second level&#10;Third level&#10;Fourth level&#10;Fifth level"/>
          <p:cNvSpPr>
            <a:spLocks noGrp="1" noChangeArrowheads="1"/>
          </p:cNvSpPr>
          <p:nvPr>
            <p:ph type="subTitle" idx="1"/>
          </p:nvPr>
        </p:nvSpPr>
        <p:spPr>
          <a:xfrm>
            <a:off x="1981200" y="3309938"/>
            <a:ext cx="5410200" cy="1752600"/>
          </a:xfrm>
        </p:spPr>
        <p:txBody>
          <a:bodyPr/>
          <a:lstStyle/>
          <a:p>
            <a:pPr algn="ctr"/>
            <a:r>
              <a:rPr lang="en-US" dirty="0" smtClean="0"/>
              <a:t>Presenter: Yinzhi Cao</a:t>
            </a:r>
          </a:p>
        </p:txBody>
      </p:sp>
      <p:sp>
        <p:nvSpPr>
          <p:cNvPr id="4100" name="Text Box 4"/>
          <p:cNvSpPr txBox="1">
            <a:spLocks noChangeArrowheads="1"/>
          </p:cNvSpPr>
          <p:nvPr/>
        </p:nvSpPr>
        <p:spPr bwMode="auto">
          <a:xfrm>
            <a:off x="228600" y="147638"/>
            <a:ext cx="4572000" cy="400050"/>
          </a:xfrm>
          <a:prstGeom prst="rect">
            <a:avLst/>
          </a:prstGeom>
          <a:noFill/>
          <a:ln w="9525">
            <a:noFill/>
            <a:miter lim="800000"/>
            <a:headEnd/>
            <a:tailEnd/>
          </a:ln>
        </p:spPr>
        <p:txBody>
          <a:bodyPr>
            <a:spAutoFit/>
          </a:bodyPr>
          <a:lstStyle/>
          <a:p>
            <a:pPr>
              <a:spcBef>
                <a:spcPct val="50000"/>
              </a:spcBef>
            </a:pPr>
            <a:r>
              <a:rPr lang="en-US" dirty="0" smtClean="0">
                <a:latin typeface="Arial" charset="0"/>
              </a:rPr>
              <a:t>CSE403 Lehigh University</a:t>
            </a:r>
            <a:endParaRPr lang="en-US" dirty="0">
              <a:latin typeface="Times New Roman" pitchFamily="18" charset="0"/>
            </a:endParaRPr>
          </a:p>
        </p:txBody>
      </p:sp>
      <p:sp>
        <p:nvSpPr>
          <p:cNvPr id="4101" name="Text Box 8"/>
          <p:cNvSpPr txBox="1">
            <a:spLocks noChangeArrowheads="1"/>
          </p:cNvSpPr>
          <p:nvPr/>
        </p:nvSpPr>
        <p:spPr bwMode="auto">
          <a:xfrm>
            <a:off x="6477000" y="147638"/>
            <a:ext cx="2286000" cy="400050"/>
          </a:xfrm>
          <a:prstGeom prst="rect">
            <a:avLst/>
          </a:prstGeom>
          <a:noFill/>
          <a:ln w="9525">
            <a:noFill/>
            <a:miter lim="800000"/>
            <a:headEnd/>
            <a:tailEnd/>
          </a:ln>
        </p:spPr>
        <p:txBody>
          <a:bodyPr>
            <a:spAutoFit/>
          </a:bodyPr>
          <a:lstStyle/>
          <a:p>
            <a:pPr algn="r">
              <a:spcBef>
                <a:spcPct val="50000"/>
              </a:spcBef>
            </a:pPr>
            <a:r>
              <a:rPr lang="en-US" dirty="0">
                <a:latin typeface="Arial" charset="0"/>
              </a:rPr>
              <a:t> </a:t>
            </a:r>
            <a:r>
              <a:rPr lang="en-US" smtClean="0">
                <a:latin typeface="Arial" charset="0"/>
              </a:rPr>
              <a:t>Spring </a:t>
            </a:r>
            <a:r>
              <a:rPr lang="en-US" smtClean="0">
                <a:latin typeface="Arial" charset="0"/>
              </a:rPr>
              <a:t>2017</a:t>
            </a:r>
            <a:endParaRPr lang="en-US" dirty="0">
              <a:latin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219200" y="150813"/>
            <a:ext cx="7847013" cy="576262"/>
          </a:xfrm>
        </p:spPr>
        <p:txBody>
          <a:bodyPr/>
          <a:lstStyle/>
          <a:p>
            <a:pPr eaLnBrk="1" hangingPunct="1"/>
            <a:r>
              <a:rPr lang="en-US">
                <a:latin typeface="Arial" charset="0"/>
                <a:ea typeface="MS PGothic" charset="0"/>
              </a:rPr>
              <a:t>Overview</a:t>
            </a:r>
          </a:p>
        </p:txBody>
      </p:sp>
      <p:sp>
        <p:nvSpPr>
          <p:cNvPr id="6147" name="Rectangle 3"/>
          <p:cNvSpPr>
            <a:spLocks noGrp="1" noChangeArrowheads="1"/>
          </p:cNvSpPr>
          <p:nvPr>
            <p:ph type="body" idx="1"/>
          </p:nvPr>
        </p:nvSpPr>
        <p:spPr>
          <a:xfrm>
            <a:off x="304800" y="685800"/>
            <a:ext cx="8610599" cy="4530725"/>
          </a:xfrm>
        </p:spPr>
        <p:txBody>
          <a:bodyPr/>
          <a:lstStyle/>
          <a:p>
            <a:pPr>
              <a:defRPr/>
            </a:pPr>
            <a:r>
              <a:rPr lang="en-US" b="1" dirty="0">
                <a:solidFill>
                  <a:srgbClr val="3366FF"/>
                </a:solidFill>
                <a:ea typeface="ＭＳ Ｐゴシック" charset="0"/>
                <a:cs typeface="ＭＳ Ｐゴシック" charset="-128"/>
              </a:rPr>
              <a:t>Distributed system</a:t>
            </a:r>
            <a:r>
              <a:rPr lang="en-US" dirty="0">
                <a:solidFill>
                  <a:srgbClr val="3366FF"/>
                </a:solidFill>
                <a:ea typeface="ＭＳ Ｐゴシック" charset="0"/>
                <a:cs typeface="ＭＳ Ｐゴシック" charset="-128"/>
              </a:rPr>
              <a:t> </a:t>
            </a:r>
            <a:r>
              <a:rPr lang="en-US" dirty="0">
                <a:ea typeface="ＭＳ Ｐゴシック" charset="0"/>
                <a:cs typeface="ＭＳ Ｐゴシック" charset="-128"/>
              </a:rPr>
              <a:t>is collection of loosely coupled processors interconnected by a communications </a:t>
            </a:r>
            <a:r>
              <a:rPr lang="en-US" dirty="0" smtClean="0">
                <a:ea typeface="ＭＳ Ｐゴシック" charset="0"/>
                <a:cs typeface="ＭＳ Ｐゴシック" charset="-128"/>
              </a:rPr>
              <a:t>network</a:t>
            </a:r>
            <a:endParaRPr lang="en-US" sz="900" dirty="0">
              <a:ea typeface="ＭＳ Ｐゴシック" charset="0"/>
              <a:cs typeface="ＭＳ Ｐゴシック" charset="-128"/>
            </a:endParaRPr>
          </a:p>
          <a:p>
            <a:pPr>
              <a:defRPr/>
            </a:pPr>
            <a:r>
              <a:rPr lang="en-US" dirty="0">
                <a:ea typeface="ＭＳ Ｐゴシック" charset="0"/>
                <a:cs typeface="ＭＳ Ｐゴシック" charset="-128"/>
              </a:rPr>
              <a:t>Processors variously called </a:t>
            </a:r>
            <a:r>
              <a:rPr lang="en-US" b="1" i="1" dirty="0">
                <a:ea typeface="ＭＳ Ｐゴシック" charset="0"/>
                <a:cs typeface="ＭＳ Ｐゴシック" charset="-128"/>
              </a:rPr>
              <a:t>nodes, computers, machines, hosts</a:t>
            </a:r>
          </a:p>
          <a:p>
            <a:pPr lvl="1">
              <a:defRPr/>
            </a:pPr>
            <a:r>
              <a:rPr lang="en-US" b="1" i="1" dirty="0">
                <a:ea typeface="ＭＳ Ｐゴシック" charset="0"/>
              </a:rPr>
              <a:t>Site</a:t>
            </a:r>
            <a:r>
              <a:rPr lang="en-US" dirty="0">
                <a:ea typeface="ＭＳ Ｐゴシック" charset="0"/>
              </a:rPr>
              <a:t> is location of the </a:t>
            </a:r>
            <a:r>
              <a:rPr lang="en-US" dirty="0" smtClean="0">
                <a:ea typeface="ＭＳ Ｐゴシック" charset="0"/>
              </a:rPr>
              <a:t>processor</a:t>
            </a:r>
          </a:p>
          <a:p>
            <a:pPr lvl="1">
              <a:defRPr/>
            </a:pPr>
            <a:r>
              <a:rPr lang="en-US" dirty="0" smtClean="0">
                <a:ea typeface="ＭＳ Ｐゴシック" charset="0"/>
              </a:rPr>
              <a:t>Generally a </a:t>
            </a:r>
            <a:r>
              <a:rPr lang="en-US" b="1" i="1" dirty="0">
                <a:ea typeface="ＭＳ Ｐゴシック" charset="0"/>
                <a:cs typeface="ＭＳ Ｐゴシック" charset="0"/>
              </a:rPr>
              <a:t>server</a:t>
            </a:r>
            <a:r>
              <a:rPr lang="en-US" dirty="0" smtClean="0">
                <a:ea typeface="ＭＳ Ｐゴシック" charset="0"/>
              </a:rPr>
              <a:t> has a </a:t>
            </a:r>
            <a:r>
              <a:rPr lang="en-US" smtClean="0">
                <a:ea typeface="ＭＳ Ｐゴシック" charset="0"/>
              </a:rPr>
              <a:t>resource that </a:t>
            </a:r>
            <a:r>
              <a:rPr lang="en-US" dirty="0" smtClean="0">
                <a:ea typeface="ＭＳ Ｐゴシック" charset="0"/>
              </a:rPr>
              <a:t>a </a:t>
            </a:r>
            <a:r>
              <a:rPr lang="en-US" b="1" i="1" dirty="0">
                <a:ea typeface="ＭＳ Ｐゴシック" charset="0"/>
                <a:cs typeface="ＭＳ Ｐゴシック" charset="0"/>
              </a:rPr>
              <a:t>client</a:t>
            </a:r>
            <a:r>
              <a:rPr lang="en-US" dirty="0" smtClean="0">
                <a:ea typeface="ＭＳ Ｐゴシック" charset="0"/>
              </a:rPr>
              <a:t> node at a different site wants to use</a:t>
            </a:r>
            <a:endParaRPr lang="en-US" dirty="0">
              <a:ea typeface="ＭＳ Ｐゴシック" charset="0"/>
            </a:endParaRPr>
          </a:p>
          <a:p>
            <a:pPr marL="457200" lvl="1" indent="0">
              <a:buFont typeface="Monotype Sorts" charset="0"/>
              <a:buNone/>
              <a:defRPr/>
            </a:pPr>
            <a:endParaRPr lang="en-US" sz="900" dirty="0">
              <a:ea typeface="ＭＳ Ｐゴシック" charset="0"/>
            </a:endParaRPr>
          </a:p>
        </p:txBody>
      </p:sp>
      <p:pic>
        <p:nvPicPr>
          <p:cNvPr id="6148" name="Picture 1" descr="17_01.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87600" y="4191000"/>
            <a:ext cx="4073525" cy="26257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2177761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054100" y="109538"/>
            <a:ext cx="7556500" cy="576262"/>
          </a:xfrm>
        </p:spPr>
        <p:txBody>
          <a:bodyPr/>
          <a:lstStyle/>
          <a:p>
            <a:pPr eaLnBrk="1" hangingPunct="1"/>
            <a:r>
              <a:rPr lang="en-US" sz="2800">
                <a:latin typeface="Arial" charset="0"/>
                <a:ea typeface="MS PGothic" charset="0"/>
              </a:rPr>
              <a:t>Reasons for Distributed Systems</a:t>
            </a:r>
          </a:p>
        </p:txBody>
      </p:sp>
      <p:sp>
        <p:nvSpPr>
          <p:cNvPr id="7171" name="Rectangle 3"/>
          <p:cNvSpPr>
            <a:spLocks noGrp="1" noChangeArrowheads="1"/>
          </p:cNvSpPr>
          <p:nvPr>
            <p:ph type="body" idx="1"/>
          </p:nvPr>
        </p:nvSpPr>
        <p:spPr>
          <a:xfrm>
            <a:off x="76200" y="762000"/>
            <a:ext cx="8991600" cy="4857750"/>
          </a:xfrm>
        </p:spPr>
        <p:txBody>
          <a:bodyPr/>
          <a:lstStyle/>
          <a:p>
            <a:r>
              <a:rPr lang="en-US" dirty="0">
                <a:latin typeface="Helvetica" charset="0"/>
                <a:ea typeface="MS PGothic" charset="0"/>
              </a:rPr>
              <a:t>Reasons for distributed systems</a:t>
            </a:r>
          </a:p>
          <a:p>
            <a:pPr lvl="1"/>
            <a:r>
              <a:rPr lang="en-US" b="1" dirty="0">
                <a:solidFill>
                  <a:srgbClr val="3366FF"/>
                </a:solidFill>
                <a:latin typeface="Helvetica" charset="0"/>
                <a:ea typeface="MS PGothic" charset="0"/>
              </a:rPr>
              <a:t>Resource sharing</a:t>
            </a:r>
          </a:p>
          <a:p>
            <a:pPr lvl="2"/>
            <a:r>
              <a:rPr lang="en-US" dirty="0">
                <a:latin typeface="Helvetica" charset="0"/>
                <a:ea typeface="MS PGothic" charset="0"/>
              </a:rPr>
              <a:t>Sharing and printing files at remote sites</a:t>
            </a:r>
          </a:p>
          <a:p>
            <a:pPr lvl="2"/>
            <a:r>
              <a:rPr lang="en-US" dirty="0">
                <a:latin typeface="Helvetica" charset="0"/>
                <a:ea typeface="MS PGothic" charset="0"/>
              </a:rPr>
              <a:t>Processing information in a distributed database</a:t>
            </a:r>
          </a:p>
          <a:p>
            <a:pPr lvl="2"/>
            <a:r>
              <a:rPr lang="en-US" dirty="0">
                <a:latin typeface="Helvetica" charset="0"/>
                <a:ea typeface="MS PGothic" charset="0"/>
              </a:rPr>
              <a:t>Using remote specialized hardware devices</a:t>
            </a:r>
          </a:p>
          <a:p>
            <a:pPr lvl="1"/>
            <a:r>
              <a:rPr lang="en-US" b="1" dirty="0">
                <a:solidFill>
                  <a:srgbClr val="3366FF"/>
                </a:solidFill>
                <a:latin typeface="Helvetica" charset="0"/>
                <a:ea typeface="MS PGothic" charset="0"/>
              </a:rPr>
              <a:t>Computation speedup </a:t>
            </a:r>
            <a:r>
              <a:rPr lang="en-US" dirty="0">
                <a:latin typeface="Helvetica" charset="0"/>
                <a:ea typeface="MS PGothic" charset="0"/>
              </a:rPr>
              <a:t>– </a:t>
            </a:r>
            <a:r>
              <a:rPr lang="en-US" b="1" dirty="0">
                <a:solidFill>
                  <a:srgbClr val="3366FF"/>
                </a:solidFill>
                <a:latin typeface="Helvetica" charset="0"/>
                <a:ea typeface="MS PGothic" charset="0"/>
              </a:rPr>
              <a:t>load sharing </a:t>
            </a:r>
            <a:r>
              <a:rPr lang="en-US" dirty="0">
                <a:latin typeface="Helvetica" charset="0"/>
                <a:ea typeface="MS PGothic" charset="0"/>
              </a:rPr>
              <a:t>or</a:t>
            </a:r>
            <a:r>
              <a:rPr lang="en-US" b="1" dirty="0">
                <a:solidFill>
                  <a:srgbClr val="3366FF"/>
                </a:solidFill>
                <a:latin typeface="Helvetica" charset="0"/>
                <a:ea typeface="MS PGothic" charset="0"/>
              </a:rPr>
              <a:t> job migration</a:t>
            </a:r>
          </a:p>
          <a:p>
            <a:pPr lvl="1"/>
            <a:r>
              <a:rPr lang="en-US" dirty="0">
                <a:latin typeface="Helvetica" charset="0"/>
                <a:ea typeface="MS PGothic" charset="0"/>
              </a:rPr>
              <a:t>Reliability – detect and recover from site failure, function transfer, reintegrate failed site</a:t>
            </a:r>
          </a:p>
          <a:p>
            <a:pPr lvl="1"/>
            <a:r>
              <a:rPr lang="en-US" dirty="0">
                <a:latin typeface="Helvetica" charset="0"/>
                <a:ea typeface="MS PGothic" charset="0"/>
              </a:rPr>
              <a:t>Communication – </a:t>
            </a:r>
            <a:r>
              <a:rPr lang="en-US" b="1" dirty="0">
                <a:solidFill>
                  <a:srgbClr val="3366FF"/>
                </a:solidFill>
                <a:latin typeface="Helvetica" charset="0"/>
                <a:ea typeface="MS PGothic" charset="0"/>
              </a:rPr>
              <a:t>message</a:t>
            </a:r>
            <a:r>
              <a:rPr lang="en-US" dirty="0">
                <a:latin typeface="Helvetica" charset="0"/>
                <a:ea typeface="MS PGothic" charset="0"/>
              </a:rPr>
              <a:t> passing</a:t>
            </a:r>
          </a:p>
          <a:p>
            <a:pPr lvl="2"/>
            <a:r>
              <a:rPr lang="en-US" dirty="0">
                <a:latin typeface="Helvetica" charset="0"/>
                <a:ea typeface="MS PGothic" charset="0"/>
              </a:rPr>
              <a:t>All higher-level functions of a standalone system  can be expanded to encompass a distributed system</a:t>
            </a:r>
          </a:p>
          <a:p>
            <a:pPr lvl="1"/>
            <a:r>
              <a:rPr lang="en-US" dirty="0">
                <a:latin typeface="Helvetica" charset="0"/>
                <a:ea typeface="MS PGothic" charset="0"/>
              </a:rPr>
              <a:t>Computers can be downsized, more flexibility, better user interfaces and easier maintenance by moving from large system to multiple smaller systems performing distributed computing</a:t>
            </a:r>
          </a:p>
          <a:p>
            <a:pPr lvl="1"/>
            <a:endParaRPr lang="en-US" dirty="0">
              <a:latin typeface="Helvetica" charset="0"/>
              <a:ea typeface="MS PGothic" charset="0"/>
            </a:endParaRPr>
          </a:p>
          <a:p>
            <a:pPr lvl="1">
              <a:buFont typeface="Monotype Sorts" charset="0"/>
              <a:buNone/>
            </a:pPr>
            <a:endParaRPr lang="en-US" sz="900" dirty="0">
              <a:latin typeface="Helvetica" charset="0"/>
              <a:ea typeface="MS PGothic" charset="0"/>
            </a:endParaRPr>
          </a:p>
        </p:txBody>
      </p:sp>
    </p:spTree>
    <p:extLst>
      <p:ext uri="{BB962C8B-B14F-4D97-AF65-F5344CB8AC3E}">
        <p14:creationId xmlns:p14="http://schemas.microsoft.com/office/powerpoint/2010/main" val="164756351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463675" y="150813"/>
            <a:ext cx="7645400" cy="576262"/>
          </a:xfrm>
        </p:spPr>
        <p:txBody>
          <a:bodyPr/>
          <a:lstStyle/>
          <a:p>
            <a:pPr eaLnBrk="1" hangingPunct="1"/>
            <a:r>
              <a:rPr lang="en-US" sz="3000">
                <a:latin typeface="Arial" charset="0"/>
                <a:ea typeface="MS PGothic" charset="0"/>
              </a:rPr>
              <a:t>Types of Distributed Operating Systems</a:t>
            </a:r>
          </a:p>
        </p:txBody>
      </p:sp>
      <p:sp>
        <p:nvSpPr>
          <p:cNvPr id="8195" name="Rectangle 3"/>
          <p:cNvSpPr>
            <a:spLocks noGrp="1" noChangeArrowheads="1"/>
          </p:cNvSpPr>
          <p:nvPr>
            <p:ph type="body" idx="1"/>
          </p:nvPr>
        </p:nvSpPr>
        <p:spPr/>
        <p:txBody>
          <a:bodyPr/>
          <a:lstStyle/>
          <a:p>
            <a:r>
              <a:rPr lang="en-US">
                <a:latin typeface="Helvetica" charset="0"/>
                <a:ea typeface="MS PGothic" charset="0"/>
              </a:rPr>
              <a:t>Network Operating Systems</a:t>
            </a:r>
          </a:p>
          <a:p>
            <a:endParaRPr lang="en-US">
              <a:latin typeface="Helvetica" charset="0"/>
              <a:ea typeface="MS PGothic" charset="0"/>
            </a:endParaRPr>
          </a:p>
          <a:p>
            <a:r>
              <a:rPr lang="en-US">
                <a:latin typeface="Helvetica" charset="0"/>
                <a:ea typeface="MS PGothic" charset="0"/>
              </a:rPr>
              <a:t>Distributed Operating Systems</a:t>
            </a:r>
          </a:p>
          <a:p>
            <a:pPr>
              <a:buFont typeface="Monotype Sorts" charset="0"/>
              <a:buNone/>
            </a:pPr>
            <a:endParaRPr lang="en-US">
              <a:latin typeface="Helvetica" charset="0"/>
              <a:ea typeface="MS PGothic" charset="0"/>
            </a:endParaRPr>
          </a:p>
        </p:txBody>
      </p:sp>
    </p:spTree>
    <p:extLst>
      <p:ext uri="{BB962C8B-B14F-4D97-AF65-F5344CB8AC3E}">
        <p14:creationId xmlns:p14="http://schemas.microsoft.com/office/powerpoint/2010/main" val="3561039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500063" y="179388"/>
            <a:ext cx="8229600" cy="576262"/>
          </a:xfrm>
        </p:spPr>
        <p:txBody>
          <a:bodyPr/>
          <a:lstStyle/>
          <a:p>
            <a:pPr eaLnBrk="1" hangingPunct="1"/>
            <a:r>
              <a:rPr lang="en-US">
                <a:latin typeface="Arial" charset="0"/>
                <a:ea typeface="MS PGothic" charset="0"/>
              </a:rPr>
              <a:t>Network-Operating Systems</a:t>
            </a:r>
          </a:p>
        </p:txBody>
      </p:sp>
      <p:sp>
        <p:nvSpPr>
          <p:cNvPr id="9219" name="Rectangle 3"/>
          <p:cNvSpPr>
            <a:spLocks noGrp="1" noChangeArrowheads="1"/>
          </p:cNvSpPr>
          <p:nvPr>
            <p:ph type="body" idx="1"/>
          </p:nvPr>
        </p:nvSpPr>
        <p:spPr>
          <a:xfrm>
            <a:off x="571500" y="1087438"/>
            <a:ext cx="7429500" cy="4516437"/>
          </a:xfrm>
        </p:spPr>
        <p:txBody>
          <a:bodyPr/>
          <a:lstStyle/>
          <a:p>
            <a:r>
              <a:rPr lang="en-US" dirty="0">
                <a:latin typeface="Helvetica" charset="0"/>
                <a:ea typeface="MS PGothic" charset="0"/>
              </a:rPr>
              <a:t>Users are aware of multiplicity of machines</a:t>
            </a:r>
          </a:p>
          <a:p>
            <a:r>
              <a:rPr lang="en-US" dirty="0">
                <a:latin typeface="Helvetica" charset="0"/>
                <a:ea typeface="MS PGothic" charset="0"/>
              </a:rPr>
              <a:t>Access to resources of various machines is done explicitly by:</a:t>
            </a:r>
          </a:p>
          <a:p>
            <a:pPr lvl="1"/>
            <a:r>
              <a:rPr lang="en-US" dirty="0">
                <a:latin typeface="Helvetica" charset="0"/>
                <a:ea typeface="MS PGothic" charset="0"/>
              </a:rPr>
              <a:t>Remote logging into the appropriate remote machine (telnet, </a:t>
            </a:r>
            <a:r>
              <a:rPr lang="en-US" dirty="0" err="1">
                <a:latin typeface="Helvetica" charset="0"/>
                <a:ea typeface="MS PGothic" charset="0"/>
              </a:rPr>
              <a:t>ssh</a:t>
            </a:r>
            <a:r>
              <a:rPr lang="en-US" dirty="0">
                <a:latin typeface="Helvetica" charset="0"/>
                <a:ea typeface="MS PGothic" charset="0"/>
              </a:rPr>
              <a:t>)</a:t>
            </a:r>
          </a:p>
          <a:p>
            <a:pPr lvl="1"/>
            <a:r>
              <a:rPr lang="en-US" dirty="0">
                <a:latin typeface="Helvetica" charset="0"/>
                <a:ea typeface="MS PGothic" charset="0"/>
              </a:rPr>
              <a:t>Remote Desktop (Microsoft Windows)</a:t>
            </a:r>
          </a:p>
          <a:p>
            <a:pPr lvl="1"/>
            <a:r>
              <a:rPr lang="en-US" dirty="0">
                <a:latin typeface="Helvetica" charset="0"/>
                <a:ea typeface="MS PGothic" charset="0"/>
              </a:rPr>
              <a:t>Transferring data from remote machines to local machines, via the File Transfer Protocol (FTP) mechanism</a:t>
            </a:r>
          </a:p>
          <a:p>
            <a:r>
              <a:rPr lang="en-US" dirty="0">
                <a:latin typeface="Helvetica" charset="0"/>
                <a:ea typeface="MS PGothic" charset="0"/>
              </a:rPr>
              <a:t>Users must change paradigms – establish a </a:t>
            </a:r>
            <a:r>
              <a:rPr lang="en-US" b="1" dirty="0">
                <a:solidFill>
                  <a:srgbClr val="3366FF"/>
                </a:solidFill>
                <a:latin typeface="Helvetica" charset="0"/>
                <a:ea typeface="MS PGothic" charset="0"/>
              </a:rPr>
              <a:t>session</a:t>
            </a:r>
            <a:r>
              <a:rPr lang="en-US" dirty="0">
                <a:latin typeface="Helvetica" charset="0"/>
                <a:ea typeface="MS PGothic" charset="0"/>
              </a:rPr>
              <a:t>, give network-based commands</a:t>
            </a:r>
          </a:p>
          <a:p>
            <a:pPr lvl="1"/>
            <a:r>
              <a:rPr lang="en-US" dirty="0">
                <a:latin typeface="Helvetica" charset="0"/>
                <a:ea typeface="MS PGothic" charset="0"/>
              </a:rPr>
              <a:t>More difficult for users </a:t>
            </a:r>
          </a:p>
        </p:txBody>
      </p:sp>
    </p:spTree>
    <p:extLst>
      <p:ext uri="{BB962C8B-B14F-4D97-AF65-F5344CB8AC3E}">
        <p14:creationId xmlns:p14="http://schemas.microsoft.com/office/powerpoint/2010/main" val="15168203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026"/>
          <p:cNvSpPr>
            <a:spLocks noGrp="1" noChangeArrowheads="1"/>
          </p:cNvSpPr>
          <p:nvPr>
            <p:ph type="title"/>
          </p:nvPr>
        </p:nvSpPr>
        <p:spPr>
          <a:xfrm>
            <a:off x="976313" y="150813"/>
            <a:ext cx="7724775" cy="576262"/>
          </a:xfrm>
        </p:spPr>
        <p:txBody>
          <a:bodyPr/>
          <a:lstStyle/>
          <a:p>
            <a:pPr eaLnBrk="1" hangingPunct="1"/>
            <a:r>
              <a:rPr lang="en-US" sz="2800">
                <a:latin typeface="Arial" charset="0"/>
                <a:ea typeface="MS PGothic" charset="0"/>
              </a:rPr>
              <a:t>Distributed-Operating Systems</a:t>
            </a:r>
          </a:p>
        </p:txBody>
      </p:sp>
      <p:sp>
        <p:nvSpPr>
          <p:cNvPr id="10243" name="Rectangle 1027"/>
          <p:cNvSpPr>
            <a:spLocks noGrp="1" noChangeArrowheads="1"/>
          </p:cNvSpPr>
          <p:nvPr>
            <p:ph type="body" idx="1"/>
          </p:nvPr>
        </p:nvSpPr>
        <p:spPr>
          <a:xfrm>
            <a:off x="727075" y="990600"/>
            <a:ext cx="7578725" cy="4483100"/>
          </a:xfrm>
        </p:spPr>
        <p:txBody>
          <a:bodyPr/>
          <a:lstStyle/>
          <a:p>
            <a:r>
              <a:rPr lang="en-US" dirty="0">
                <a:latin typeface="Helvetica" charset="0"/>
                <a:ea typeface="MS PGothic" charset="0"/>
              </a:rPr>
              <a:t>Users not aware of multiplicity of machines</a:t>
            </a:r>
          </a:p>
          <a:p>
            <a:pPr lvl="1"/>
            <a:r>
              <a:rPr lang="en-US" dirty="0">
                <a:latin typeface="Helvetica" charset="0"/>
                <a:ea typeface="MS PGothic" charset="0"/>
              </a:rPr>
              <a:t>Access to remote resources similar to access to local resources</a:t>
            </a:r>
          </a:p>
          <a:p>
            <a:r>
              <a:rPr lang="en-US" b="1" dirty="0">
                <a:solidFill>
                  <a:srgbClr val="3366FF"/>
                </a:solidFill>
                <a:latin typeface="Helvetica" charset="0"/>
                <a:ea typeface="MS PGothic" charset="0"/>
              </a:rPr>
              <a:t>Data Migration </a:t>
            </a:r>
            <a:r>
              <a:rPr lang="en-US" dirty="0">
                <a:latin typeface="Helvetica" charset="0"/>
                <a:ea typeface="MS PGothic" charset="0"/>
              </a:rPr>
              <a:t>– transfer data by transferring entire file, or transferring only those portions of the file necessary for the immediate task</a:t>
            </a:r>
          </a:p>
          <a:p>
            <a:r>
              <a:rPr lang="en-US" b="1" dirty="0">
                <a:solidFill>
                  <a:srgbClr val="3366FF"/>
                </a:solidFill>
                <a:latin typeface="Helvetica" charset="0"/>
                <a:ea typeface="MS PGothic" charset="0"/>
              </a:rPr>
              <a:t>Computation Migration </a:t>
            </a:r>
            <a:r>
              <a:rPr lang="en-US" dirty="0">
                <a:latin typeface="Helvetica" charset="0"/>
                <a:ea typeface="MS PGothic" charset="0"/>
              </a:rPr>
              <a:t>– transfer the computation, rather than the data, across the system</a:t>
            </a:r>
          </a:p>
          <a:p>
            <a:pPr lvl="1"/>
            <a:r>
              <a:rPr lang="en-US" dirty="0">
                <a:latin typeface="Helvetica" charset="0"/>
                <a:ea typeface="MS PGothic" charset="0"/>
              </a:rPr>
              <a:t>Via remote procedure calls (RPCs)</a:t>
            </a:r>
          </a:p>
          <a:p>
            <a:pPr lvl="1"/>
            <a:r>
              <a:rPr lang="en-US" dirty="0">
                <a:latin typeface="Helvetica" charset="0"/>
                <a:ea typeface="MS PGothic" charset="0"/>
              </a:rPr>
              <a:t>or via messaging system</a:t>
            </a:r>
          </a:p>
          <a:p>
            <a:pPr lvl="1"/>
            <a:endParaRPr lang="en-US" dirty="0">
              <a:latin typeface="Helvetica" charset="0"/>
              <a:ea typeface="MS PGothic" charset="0"/>
            </a:endParaRPr>
          </a:p>
        </p:txBody>
      </p:sp>
    </p:spTree>
    <p:extLst>
      <p:ext uri="{BB962C8B-B14F-4D97-AF65-F5344CB8AC3E}">
        <p14:creationId xmlns:p14="http://schemas.microsoft.com/office/powerpoint/2010/main" val="42649849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026"/>
          <p:cNvSpPr>
            <a:spLocks noGrp="1" noChangeArrowheads="1"/>
          </p:cNvSpPr>
          <p:nvPr>
            <p:ph type="title"/>
          </p:nvPr>
        </p:nvSpPr>
        <p:spPr>
          <a:xfrm>
            <a:off x="1262063" y="146050"/>
            <a:ext cx="7772400" cy="576263"/>
          </a:xfrm>
        </p:spPr>
        <p:txBody>
          <a:bodyPr/>
          <a:lstStyle/>
          <a:p>
            <a:pPr eaLnBrk="1" hangingPunct="1"/>
            <a:r>
              <a:rPr lang="en-US" sz="2800">
                <a:latin typeface="Arial" charset="0"/>
                <a:ea typeface="MS PGothic" charset="0"/>
              </a:rPr>
              <a:t>Distributed-Operating Systems (Cont.)</a:t>
            </a:r>
          </a:p>
        </p:txBody>
      </p:sp>
      <p:sp>
        <p:nvSpPr>
          <p:cNvPr id="11267" name="Rectangle 1027"/>
          <p:cNvSpPr>
            <a:spLocks noGrp="1" noChangeArrowheads="1"/>
          </p:cNvSpPr>
          <p:nvPr>
            <p:ph type="body" idx="1"/>
          </p:nvPr>
        </p:nvSpPr>
        <p:spPr>
          <a:xfrm>
            <a:off x="849313" y="1036638"/>
            <a:ext cx="7267575" cy="4530725"/>
          </a:xfrm>
        </p:spPr>
        <p:txBody>
          <a:bodyPr/>
          <a:lstStyle/>
          <a:p>
            <a:r>
              <a:rPr lang="en-US" b="1">
                <a:solidFill>
                  <a:srgbClr val="3366FF"/>
                </a:solidFill>
                <a:latin typeface="Helvetica" charset="0"/>
                <a:ea typeface="MS PGothic" charset="0"/>
              </a:rPr>
              <a:t>Process Migration </a:t>
            </a:r>
            <a:r>
              <a:rPr lang="en-US">
                <a:latin typeface="Helvetica" charset="0"/>
                <a:ea typeface="MS PGothic" charset="0"/>
              </a:rPr>
              <a:t>– execute an entire process, or parts of it, at different sites</a:t>
            </a:r>
          </a:p>
          <a:p>
            <a:pPr lvl="1"/>
            <a:r>
              <a:rPr lang="en-US" b="1">
                <a:latin typeface="Helvetica" charset="0"/>
                <a:ea typeface="MS PGothic" charset="0"/>
              </a:rPr>
              <a:t>Load balancing </a:t>
            </a:r>
            <a:r>
              <a:rPr lang="en-US">
                <a:latin typeface="Helvetica" charset="0"/>
                <a:ea typeface="MS PGothic" charset="0"/>
              </a:rPr>
              <a:t>– distribute processes across network to even the workload</a:t>
            </a:r>
          </a:p>
          <a:p>
            <a:pPr lvl="1"/>
            <a:r>
              <a:rPr lang="en-US" b="1">
                <a:latin typeface="Helvetica" charset="0"/>
                <a:ea typeface="MS PGothic" charset="0"/>
              </a:rPr>
              <a:t>Computation speedup </a:t>
            </a:r>
            <a:r>
              <a:rPr lang="en-US">
                <a:latin typeface="Helvetica" charset="0"/>
                <a:ea typeface="MS PGothic" charset="0"/>
              </a:rPr>
              <a:t>– subprocesses can run concurrently on different sites</a:t>
            </a:r>
          </a:p>
          <a:p>
            <a:pPr lvl="1"/>
            <a:r>
              <a:rPr lang="en-US" b="1">
                <a:latin typeface="Helvetica" charset="0"/>
                <a:ea typeface="MS PGothic" charset="0"/>
              </a:rPr>
              <a:t>Hardware preference </a:t>
            </a:r>
            <a:r>
              <a:rPr lang="en-US">
                <a:latin typeface="Helvetica" charset="0"/>
                <a:ea typeface="MS PGothic" charset="0"/>
              </a:rPr>
              <a:t>– process execution may require specialized processor</a:t>
            </a:r>
          </a:p>
          <a:p>
            <a:pPr lvl="1"/>
            <a:r>
              <a:rPr lang="en-US" b="1">
                <a:latin typeface="Helvetica" charset="0"/>
                <a:ea typeface="MS PGothic" charset="0"/>
              </a:rPr>
              <a:t>Software preference </a:t>
            </a:r>
            <a:r>
              <a:rPr lang="en-US">
                <a:latin typeface="Helvetica" charset="0"/>
                <a:ea typeface="MS PGothic" charset="0"/>
              </a:rPr>
              <a:t>– required software may be available at only a particular site</a:t>
            </a:r>
          </a:p>
          <a:p>
            <a:pPr lvl="1"/>
            <a:r>
              <a:rPr lang="en-US" b="1">
                <a:latin typeface="Helvetica" charset="0"/>
                <a:ea typeface="MS PGothic" charset="0"/>
              </a:rPr>
              <a:t>Data access </a:t>
            </a:r>
            <a:r>
              <a:rPr lang="en-US">
                <a:latin typeface="Helvetica" charset="0"/>
                <a:ea typeface="MS PGothic" charset="0"/>
              </a:rPr>
              <a:t>– run process remotely, rather than transfer all data locally</a:t>
            </a:r>
          </a:p>
          <a:p>
            <a:r>
              <a:rPr lang="en-US">
                <a:latin typeface="Helvetica" charset="0"/>
                <a:ea typeface="MS PGothic" charset="0"/>
              </a:rPr>
              <a:t>Consider the World Wide Web</a:t>
            </a:r>
          </a:p>
        </p:txBody>
      </p:sp>
    </p:spTree>
    <p:extLst>
      <p:ext uri="{BB962C8B-B14F-4D97-AF65-F5344CB8AC3E}">
        <p14:creationId xmlns:p14="http://schemas.microsoft.com/office/powerpoint/2010/main" val="296214337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768350" y="33337"/>
            <a:ext cx="7918450" cy="576263"/>
          </a:xfrm>
        </p:spPr>
        <p:txBody>
          <a:bodyPr/>
          <a:lstStyle/>
          <a:p>
            <a:pPr eaLnBrk="1" hangingPunct="1"/>
            <a:r>
              <a:rPr lang="en-US" dirty="0">
                <a:latin typeface="Arial" charset="0"/>
                <a:ea typeface="MS PGothic" charset="0"/>
              </a:rPr>
              <a:t>Network Structure</a:t>
            </a:r>
          </a:p>
        </p:txBody>
      </p:sp>
      <p:sp>
        <p:nvSpPr>
          <p:cNvPr id="12291" name="Rectangle 3"/>
          <p:cNvSpPr>
            <a:spLocks noGrp="1" noChangeArrowheads="1"/>
          </p:cNvSpPr>
          <p:nvPr>
            <p:ph type="body" idx="1"/>
          </p:nvPr>
        </p:nvSpPr>
        <p:spPr>
          <a:xfrm>
            <a:off x="304800" y="457200"/>
            <a:ext cx="8610600" cy="4829175"/>
          </a:xfrm>
        </p:spPr>
        <p:txBody>
          <a:bodyPr/>
          <a:lstStyle/>
          <a:p>
            <a:r>
              <a:rPr lang="en-US" b="1" dirty="0">
                <a:solidFill>
                  <a:srgbClr val="3366FF"/>
                </a:solidFill>
                <a:latin typeface="Helvetica" charset="0"/>
                <a:ea typeface="MS PGothic" charset="0"/>
              </a:rPr>
              <a:t>Local-Area Network</a:t>
            </a:r>
            <a:r>
              <a:rPr lang="en-US" dirty="0">
                <a:solidFill>
                  <a:srgbClr val="3366FF"/>
                </a:solidFill>
                <a:latin typeface="Helvetica" charset="0"/>
                <a:ea typeface="MS PGothic" charset="0"/>
              </a:rPr>
              <a:t> </a:t>
            </a:r>
            <a:r>
              <a:rPr lang="en-US" dirty="0">
                <a:latin typeface="Helvetica" charset="0"/>
                <a:ea typeface="MS PGothic" charset="0"/>
              </a:rPr>
              <a:t>(</a:t>
            </a:r>
            <a:r>
              <a:rPr lang="en-US" b="1" dirty="0">
                <a:solidFill>
                  <a:srgbClr val="3366FF"/>
                </a:solidFill>
                <a:latin typeface="Helvetica" charset="0"/>
                <a:ea typeface="MS PGothic" charset="0"/>
              </a:rPr>
              <a:t>LAN</a:t>
            </a:r>
            <a:r>
              <a:rPr lang="en-US" dirty="0">
                <a:latin typeface="Helvetica" charset="0"/>
                <a:ea typeface="MS PGothic" charset="0"/>
              </a:rPr>
              <a:t>) – designed to cover small geographical area</a:t>
            </a:r>
          </a:p>
          <a:p>
            <a:pPr lvl="1"/>
            <a:r>
              <a:rPr lang="en-US" dirty="0">
                <a:latin typeface="Helvetica" charset="0"/>
                <a:ea typeface="MS PGothic" charset="0"/>
              </a:rPr>
              <a:t>Multiple topologies like star or ring</a:t>
            </a:r>
          </a:p>
          <a:p>
            <a:pPr lvl="1"/>
            <a:r>
              <a:rPr lang="en-US" dirty="0">
                <a:latin typeface="Helvetica" charset="0"/>
                <a:ea typeface="MS PGothic" charset="0"/>
              </a:rPr>
              <a:t>Speeds from 1Mb per second (</a:t>
            </a:r>
            <a:r>
              <a:rPr lang="en-US" dirty="0" err="1">
                <a:latin typeface="Helvetica" charset="0"/>
                <a:ea typeface="MS PGothic" charset="0"/>
              </a:rPr>
              <a:t>Appletalk</a:t>
            </a:r>
            <a:r>
              <a:rPr lang="en-US" dirty="0">
                <a:latin typeface="Helvetica" charset="0"/>
                <a:ea typeface="MS PGothic" charset="0"/>
              </a:rPr>
              <a:t>, </a:t>
            </a:r>
            <a:r>
              <a:rPr lang="en-US" dirty="0" err="1">
                <a:latin typeface="Helvetica" charset="0"/>
                <a:ea typeface="MS PGothic" charset="0"/>
              </a:rPr>
              <a:t>bluetooth</a:t>
            </a:r>
            <a:r>
              <a:rPr lang="en-US" dirty="0">
                <a:latin typeface="Helvetica" charset="0"/>
                <a:ea typeface="MS PGothic" charset="0"/>
              </a:rPr>
              <a:t>) to 40 </a:t>
            </a:r>
            <a:r>
              <a:rPr lang="en-US" dirty="0" err="1">
                <a:latin typeface="Helvetica" charset="0"/>
                <a:ea typeface="MS PGothic" charset="0"/>
              </a:rPr>
              <a:t>Gbps</a:t>
            </a:r>
            <a:r>
              <a:rPr lang="en-US" dirty="0">
                <a:latin typeface="Helvetica" charset="0"/>
                <a:ea typeface="MS PGothic" charset="0"/>
              </a:rPr>
              <a:t> for fastest Ethernet over twisted pair copper or optical </a:t>
            </a:r>
            <a:r>
              <a:rPr lang="en-US" dirty="0" err="1">
                <a:latin typeface="Helvetica" charset="0"/>
                <a:ea typeface="MS PGothic" charset="0"/>
              </a:rPr>
              <a:t>fibre</a:t>
            </a:r>
            <a:endParaRPr lang="en-US" dirty="0">
              <a:latin typeface="Helvetica" charset="0"/>
              <a:ea typeface="MS PGothic" charset="0"/>
            </a:endParaRPr>
          </a:p>
          <a:p>
            <a:pPr lvl="1"/>
            <a:r>
              <a:rPr lang="en-US" dirty="0">
                <a:latin typeface="Helvetica" charset="0"/>
                <a:ea typeface="MS PGothic" charset="0"/>
                <a:sym typeface="Symbol" charset="0"/>
              </a:rPr>
              <a:t>Consists of multiple computers (mainframes through mobile devices), peripherals (printers, storage arrays), routers (specialized network communication processors) providing access to other networks</a:t>
            </a:r>
          </a:p>
          <a:p>
            <a:pPr lvl="1"/>
            <a:r>
              <a:rPr lang="en-US" dirty="0">
                <a:latin typeface="Helvetica" charset="0"/>
                <a:ea typeface="MS PGothic" charset="0"/>
                <a:sym typeface="Symbol" charset="0"/>
              </a:rPr>
              <a:t>Ethernet most common way to construct LANs</a:t>
            </a:r>
          </a:p>
          <a:p>
            <a:pPr lvl="2"/>
            <a:r>
              <a:rPr lang="en-US" dirty="0" err="1">
                <a:latin typeface="Helvetica" charset="0"/>
                <a:ea typeface="MS PGothic" charset="0"/>
                <a:sym typeface="Symbol" charset="0"/>
              </a:rPr>
              <a:t>Multiaccess</a:t>
            </a:r>
            <a:r>
              <a:rPr lang="en-US" dirty="0">
                <a:latin typeface="Helvetica" charset="0"/>
                <a:ea typeface="MS PGothic" charset="0"/>
                <a:sym typeface="Symbol" charset="0"/>
              </a:rPr>
              <a:t> bus-based</a:t>
            </a:r>
          </a:p>
          <a:p>
            <a:pPr lvl="2"/>
            <a:r>
              <a:rPr lang="en-US" dirty="0">
                <a:latin typeface="Helvetica" charset="0"/>
                <a:ea typeface="MS PGothic" charset="0"/>
                <a:sym typeface="Symbol" charset="0"/>
              </a:rPr>
              <a:t>Defined by standard IEEE 802.3</a:t>
            </a:r>
          </a:p>
          <a:p>
            <a:pPr lvl="1"/>
            <a:r>
              <a:rPr lang="en-US" dirty="0">
                <a:latin typeface="Helvetica" charset="0"/>
                <a:ea typeface="MS PGothic" charset="0"/>
                <a:sym typeface="Symbol" charset="0"/>
              </a:rPr>
              <a:t>Wireless spectrum (</a:t>
            </a:r>
            <a:r>
              <a:rPr lang="en-US" b="1" dirty="0" err="1">
                <a:solidFill>
                  <a:srgbClr val="3366FF"/>
                </a:solidFill>
                <a:latin typeface="Helvetica" charset="0"/>
                <a:ea typeface="MS PGothic" charset="0"/>
                <a:sym typeface="Symbol" charset="0"/>
              </a:rPr>
              <a:t>WiFi</a:t>
            </a:r>
            <a:r>
              <a:rPr lang="en-US" dirty="0">
                <a:latin typeface="Helvetica" charset="0"/>
                <a:ea typeface="MS PGothic" charset="0"/>
                <a:sym typeface="Symbol" charset="0"/>
              </a:rPr>
              <a:t>) increasingly used for networking</a:t>
            </a:r>
          </a:p>
          <a:p>
            <a:pPr lvl="2"/>
            <a:r>
              <a:rPr lang="en-US" dirty="0">
                <a:latin typeface="Helvetica" charset="0"/>
                <a:ea typeface="MS PGothic" charset="0"/>
                <a:sym typeface="Symbol" charset="0"/>
              </a:rPr>
              <a:t>I.e. IEEE 802.11g standard implemented at 54 Mbps</a:t>
            </a:r>
          </a:p>
        </p:txBody>
      </p:sp>
    </p:spTree>
    <p:extLst>
      <p:ext uri="{BB962C8B-B14F-4D97-AF65-F5344CB8AC3E}">
        <p14:creationId xmlns:p14="http://schemas.microsoft.com/office/powerpoint/2010/main" val="15786444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atin typeface="Arial" charset="0"/>
                <a:ea typeface="MS PGothic" charset="0"/>
              </a:rPr>
              <a:t>Local-area Network</a:t>
            </a:r>
          </a:p>
        </p:txBody>
      </p:sp>
      <p:pic>
        <p:nvPicPr>
          <p:cNvPr id="13315" name="Picture 1" descr="17_02.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38250" y="1196975"/>
            <a:ext cx="6954838" cy="3544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7799067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57200" y="165100"/>
            <a:ext cx="8229600" cy="576263"/>
          </a:xfrm>
        </p:spPr>
        <p:txBody>
          <a:bodyPr/>
          <a:lstStyle/>
          <a:p>
            <a:pPr eaLnBrk="1" hangingPunct="1"/>
            <a:r>
              <a:rPr lang="en-US">
                <a:latin typeface="Arial" charset="0"/>
                <a:ea typeface="MS PGothic" charset="0"/>
              </a:rPr>
              <a:t>Network Types (Cont.)</a:t>
            </a:r>
          </a:p>
        </p:txBody>
      </p:sp>
      <p:sp>
        <p:nvSpPr>
          <p:cNvPr id="14339" name="Rectangle 3"/>
          <p:cNvSpPr>
            <a:spLocks noGrp="1" noChangeArrowheads="1"/>
          </p:cNvSpPr>
          <p:nvPr>
            <p:ph type="body" idx="1"/>
          </p:nvPr>
        </p:nvSpPr>
        <p:spPr>
          <a:xfrm>
            <a:off x="304800" y="838200"/>
            <a:ext cx="8610600" cy="4702175"/>
          </a:xfrm>
        </p:spPr>
        <p:txBody>
          <a:bodyPr/>
          <a:lstStyle/>
          <a:p>
            <a:r>
              <a:rPr lang="en-US" b="1" dirty="0">
                <a:solidFill>
                  <a:srgbClr val="3366FF"/>
                </a:solidFill>
                <a:latin typeface="Helvetica" charset="0"/>
                <a:ea typeface="MS PGothic" charset="0"/>
              </a:rPr>
              <a:t>Wide-Area Network</a:t>
            </a:r>
            <a:r>
              <a:rPr lang="en-US" dirty="0">
                <a:solidFill>
                  <a:srgbClr val="3366FF"/>
                </a:solidFill>
                <a:latin typeface="Helvetica" charset="0"/>
                <a:ea typeface="MS PGothic" charset="0"/>
              </a:rPr>
              <a:t> </a:t>
            </a:r>
            <a:r>
              <a:rPr lang="en-US" dirty="0">
                <a:latin typeface="Helvetica" charset="0"/>
                <a:ea typeface="MS PGothic" charset="0"/>
              </a:rPr>
              <a:t>(</a:t>
            </a:r>
            <a:r>
              <a:rPr lang="en-US" b="1" dirty="0">
                <a:solidFill>
                  <a:srgbClr val="3366FF"/>
                </a:solidFill>
                <a:latin typeface="Helvetica" charset="0"/>
                <a:ea typeface="MS PGothic" charset="0"/>
              </a:rPr>
              <a:t>WAN</a:t>
            </a:r>
            <a:r>
              <a:rPr lang="en-US" dirty="0">
                <a:latin typeface="Helvetica" charset="0"/>
                <a:ea typeface="MS PGothic" charset="0"/>
              </a:rPr>
              <a:t>) – links geographically separated sites</a:t>
            </a:r>
          </a:p>
          <a:p>
            <a:pPr lvl="1"/>
            <a:r>
              <a:rPr lang="en-US" dirty="0">
                <a:latin typeface="Helvetica" charset="0"/>
                <a:ea typeface="MS PGothic" charset="0"/>
              </a:rPr>
              <a:t>Point-to-point connections over long-haul lines (often leased from a phone company)</a:t>
            </a:r>
          </a:p>
          <a:p>
            <a:pPr lvl="2"/>
            <a:r>
              <a:rPr lang="en-US" dirty="0">
                <a:latin typeface="Helvetica" charset="0"/>
                <a:ea typeface="MS PGothic" charset="0"/>
              </a:rPr>
              <a:t>Implemented via </a:t>
            </a:r>
            <a:r>
              <a:rPr lang="en-US" b="1" dirty="0">
                <a:solidFill>
                  <a:srgbClr val="3366FF"/>
                </a:solidFill>
                <a:latin typeface="Helvetica" charset="0"/>
                <a:ea typeface="MS PGothic" charset="0"/>
              </a:rPr>
              <a:t>connection processors </a:t>
            </a:r>
            <a:r>
              <a:rPr lang="en-US" dirty="0">
                <a:latin typeface="Helvetica" charset="0"/>
                <a:ea typeface="MS PGothic" charset="0"/>
              </a:rPr>
              <a:t>known as</a:t>
            </a:r>
            <a:r>
              <a:rPr lang="en-US" b="1" dirty="0">
                <a:solidFill>
                  <a:srgbClr val="3366FF"/>
                </a:solidFill>
                <a:latin typeface="Helvetica" charset="0"/>
                <a:ea typeface="MS PGothic" charset="0"/>
              </a:rPr>
              <a:t> routers</a:t>
            </a:r>
          </a:p>
          <a:p>
            <a:pPr lvl="1"/>
            <a:r>
              <a:rPr lang="en-US" dirty="0">
                <a:latin typeface="Helvetica" charset="0"/>
                <a:ea typeface="MS PGothic" charset="0"/>
              </a:rPr>
              <a:t>Internet WAN enables hosts world wide to communicate</a:t>
            </a:r>
          </a:p>
          <a:p>
            <a:pPr lvl="2"/>
            <a:r>
              <a:rPr lang="en-US" dirty="0">
                <a:latin typeface="Helvetica" charset="0"/>
                <a:ea typeface="MS PGothic" charset="0"/>
              </a:rPr>
              <a:t>Hosts differ in all dimensions but WAN allows communications</a:t>
            </a:r>
          </a:p>
          <a:p>
            <a:pPr lvl="1"/>
            <a:r>
              <a:rPr lang="en-US" dirty="0">
                <a:latin typeface="Helvetica" charset="0"/>
                <a:ea typeface="MS PGothic" charset="0"/>
              </a:rPr>
              <a:t>Speeds</a:t>
            </a:r>
          </a:p>
          <a:p>
            <a:pPr lvl="2"/>
            <a:r>
              <a:rPr lang="en-US" dirty="0">
                <a:latin typeface="Helvetica" charset="0"/>
                <a:ea typeface="MS PGothic" charset="0"/>
                <a:sym typeface="Symbol" charset="0"/>
              </a:rPr>
              <a:t>T1 link is 1.544 Megabits per second</a:t>
            </a:r>
          </a:p>
          <a:p>
            <a:pPr lvl="2"/>
            <a:r>
              <a:rPr lang="en-US" dirty="0">
                <a:latin typeface="Helvetica" charset="0"/>
                <a:ea typeface="MS PGothic" charset="0"/>
                <a:sym typeface="Symbol" charset="0"/>
              </a:rPr>
              <a:t>T3 is 28 x T1s = 45 Mbps</a:t>
            </a:r>
          </a:p>
          <a:p>
            <a:pPr lvl="2"/>
            <a:r>
              <a:rPr lang="en-US" dirty="0">
                <a:latin typeface="Helvetica" charset="0"/>
                <a:ea typeface="MS PGothic" charset="0"/>
                <a:sym typeface="Symbol" charset="0"/>
              </a:rPr>
              <a:t>OC-12 is 622 Mbps</a:t>
            </a:r>
          </a:p>
          <a:p>
            <a:pPr lvl="1"/>
            <a:r>
              <a:rPr lang="en-US" dirty="0">
                <a:latin typeface="Helvetica" charset="0"/>
                <a:ea typeface="MS PGothic" charset="0"/>
                <a:sym typeface="Symbol" charset="0"/>
              </a:rPr>
              <a:t>WANs and LANs interconnect, similar to cell phone network:</a:t>
            </a:r>
          </a:p>
          <a:p>
            <a:pPr lvl="2"/>
            <a:r>
              <a:rPr lang="en-US" dirty="0">
                <a:latin typeface="Helvetica" charset="0"/>
                <a:ea typeface="MS PGothic" charset="0"/>
                <a:sym typeface="Symbol" charset="0"/>
              </a:rPr>
              <a:t>Cell phones use radio waves to cell towers</a:t>
            </a:r>
          </a:p>
          <a:p>
            <a:pPr lvl="2"/>
            <a:r>
              <a:rPr lang="en-US" dirty="0">
                <a:latin typeface="Helvetica" charset="0"/>
                <a:ea typeface="MS PGothic" charset="0"/>
                <a:sym typeface="Symbol" charset="0"/>
              </a:rPr>
              <a:t>Towers connect to other towers and hubs</a:t>
            </a:r>
          </a:p>
        </p:txBody>
      </p:sp>
    </p:spTree>
    <p:extLst>
      <p:ext uri="{BB962C8B-B14F-4D97-AF65-F5344CB8AC3E}">
        <p14:creationId xmlns:p14="http://schemas.microsoft.com/office/powerpoint/2010/main" val="156845130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3"/>
          <p:cNvSpPr>
            <a:spLocks noGrp="1" noChangeArrowheads="1"/>
          </p:cNvSpPr>
          <p:nvPr>
            <p:ph type="title"/>
          </p:nvPr>
        </p:nvSpPr>
        <p:spPr>
          <a:xfrm>
            <a:off x="966788" y="204788"/>
            <a:ext cx="8401050" cy="457200"/>
          </a:xfrm>
        </p:spPr>
        <p:txBody>
          <a:bodyPr/>
          <a:lstStyle/>
          <a:p>
            <a:pPr eaLnBrk="1" hangingPunct="1"/>
            <a:r>
              <a:rPr lang="en-US" sz="2400">
                <a:latin typeface="Arial" charset="0"/>
                <a:ea typeface="MS PGothic" charset="0"/>
              </a:rPr>
              <a:t>Communication Processors in a Wide-Area Network</a:t>
            </a:r>
          </a:p>
        </p:txBody>
      </p:sp>
      <p:pic>
        <p:nvPicPr>
          <p:cNvPr id="15363" name="Picture 1" descr="17_03.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84363" y="1130300"/>
            <a:ext cx="5822950" cy="47672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8013144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747713" y="150813"/>
            <a:ext cx="7939087" cy="576262"/>
          </a:xfrm>
        </p:spPr>
        <p:txBody>
          <a:bodyPr/>
          <a:lstStyle/>
          <a:p>
            <a:pPr eaLnBrk="1" hangingPunct="1"/>
            <a:r>
              <a:rPr lang="en-US">
                <a:latin typeface="Arial" charset="0"/>
                <a:ea typeface="MS PGothic" charset="0"/>
              </a:rPr>
              <a:t>Communication Structure</a:t>
            </a:r>
          </a:p>
        </p:txBody>
      </p:sp>
      <p:sp>
        <p:nvSpPr>
          <p:cNvPr id="16387" name="Rectangle 3"/>
          <p:cNvSpPr>
            <a:spLocks noGrp="1" noChangeArrowheads="1"/>
          </p:cNvSpPr>
          <p:nvPr>
            <p:ph type="body" idx="1"/>
          </p:nvPr>
        </p:nvSpPr>
        <p:spPr>
          <a:xfrm>
            <a:off x="1300163" y="1725613"/>
            <a:ext cx="6761162" cy="3781425"/>
          </a:xfrm>
        </p:spPr>
        <p:txBody>
          <a:bodyPr/>
          <a:lstStyle/>
          <a:p>
            <a:r>
              <a:rPr lang="en-US" b="1" dirty="0">
                <a:latin typeface="Helvetica" charset="0"/>
                <a:ea typeface="MS PGothic" charset="0"/>
              </a:rPr>
              <a:t>Naming and name resolution</a:t>
            </a:r>
            <a:r>
              <a:rPr lang="en-US" dirty="0">
                <a:latin typeface="Helvetica" charset="0"/>
                <a:ea typeface="MS PGothic" charset="0"/>
              </a:rPr>
              <a:t> -  How do two processes locate each other to communicate?</a:t>
            </a:r>
          </a:p>
          <a:p>
            <a:r>
              <a:rPr lang="en-US" b="1" dirty="0">
                <a:latin typeface="Helvetica" charset="0"/>
                <a:ea typeface="MS PGothic" charset="0"/>
              </a:rPr>
              <a:t>Routing strategies</a:t>
            </a:r>
            <a:r>
              <a:rPr lang="en-US" dirty="0">
                <a:latin typeface="Helvetica" charset="0"/>
                <a:ea typeface="MS PGothic" charset="0"/>
              </a:rPr>
              <a:t> -  How are messages sent through the network?</a:t>
            </a:r>
          </a:p>
          <a:p>
            <a:r>
              <a:rPr lang="en-US" b="1" dirty="0">
                <a:latin typeface="Helvetica" charset="0"/>
                <a:ea typeface="MS PGothic" charset="0"/>
              </a:rPr>
              <a:t>Connection strategies</a:t>
            </a:r>
            <a:r>
              <a:rPr lang="en-US" dirty="0">
                <a:latin typeface="Helvetica" charset="0"/>
                <a:ea typeface="MS PGothic" charset="0"/>
              </a:rPr>
              <a:t> -  How do two processes send a sequence of messages?</a:t>
            </a:r>
          </a:p>
          <a:p>
            <a:r>
              <a:rPr lang="en-US" b="1" dirty="0">
                <a:latin typeface="Helvetica" charset="0"/>
                <a:ea typeface="MS PGothic" charset="0"/>
              </a:rPr>
              <a:t>Contention -</a:t>
            </a:r>
            <a:r>
              <a:rPr lang="en-US" dirty="0">
                <a:latin typeface="Helvetica" charset="0"/>
                <a:ea typeface="MS PGothic" charset="0"/>
              </a:rPr>
              <a:t>  The network is a shared resource, so how do we resolve conflicting demands for its use?</a:t>
            </a:r>
          </a:p>
        </p:txBody>
      </p:sp>
      <p:sp>
        <p:nvSpPr>
          <p:cNvPr id="16388" name="Text Box 4"/>
          <p:cNvSpPr txBox="1">
            <a:spLocks noChangeArrowheads="1"/>
          </p:cNvSpPr>
          <p:nvPr/>
        </p:nvSpPr>
        <p:spPr bwMode="auto">
          <a:xfrm>
            <a:off x="966788" y="1092200"/>
            <a:ext cx="7305675" cy="646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Verdana" charset="0"/>
                <a:ea typeface="MS PGothic" charset="0"/>
                <a:cs typeface="MS PGothic" charset="0"/>
              </a:defRPr>
            </a:lvl1pPr>
            <a:lvl2pPr marL="742950" indent="-285750">
              <a:defRPr>
                <a:solidFill>
                  <a:schemeClr val="tx1"/>
                </a:solidFill>
                <a:latin typeface="Verdana" charset="0"/>
                <a:ea typeface="MS PGothic" charset="0"/>
                <a:cs typeface="MS PGothic" charset="0"/>
              </a:defRPr>
            </a:lvl2pPr>
            <a:lvl3pPr marL="1143000" indent="-228600">
              <a:defRPr>
                <a:solidFill>
                  <a:schemeClr val="tx1"/>
                </a:solidFill>
                <a:latin typeface="Verdana" charset="0"/>
                <a:ea typeface="MS PGothic" charset="0"/>
                <a:cs typeface="MS PGothic" charset="0"/>
              </a:defRPr>
            </a:lvl3pPr>
            <a:lvl4pPr marL="1600200" indent="-228600">
              <a:defRPr>
                <a:solidFill>
                  <a:schemeClr val="tx1"/>
                </a:solidFill>
                <a:latin typeface="Verdana" charset="0"/>
                <a:ea typeface="MS PGothic" charset="0"/>
                <a:cs typeface="MS PGothic" charset="0"/>
              </a:defRPr>
            </a:lvl4pPr>
            <a:lvl5pPr marL="2057400" indent="-228600">
              <a:defRPr>
                <a:solidFill>
                  <a:schemeClr val="tx1"/>
                </a:solidFill>
                <a:latin typeface="Verdana" charset="0"/>
                <a:ea typeface="MS PGothic" charset="0"/>
                <a:cs typeface="MS PGothic" charset="0"/>
              </a:defRPr>
            </a:lvl5pPr>
            <a:lvl6pPr marL="2514600" indent="-228600" eaLnBrk="0" fontAlgn="base" hangingPunct="0">
              <a:spcBef>
                <a:spcPct val="0"/>
              </a:spcBef>
              <a:spcAft>
                <a:spcPct val="0"/>
              </a:spcAft>
              <a:defRPr>
                <a:solidFill>
                  <a:schemeClr val="tx1"/>
                </a:solidFill>
                <a:latin typeface="Verdana" charset="0"/>
                <a:ea typeface="MS PGothic" charset="0"/>
                <a:cs typeface="MS PGothic" charset="0"/>
              </a:defRPr>
            </a:lvl6pPr>
            <a:lvl7pPr marL="2971800" indent="-228600" eaLnBrk="0" fontAlgn="base" hangingPunct="0">
              <a:spcBef>
                <a:spcPct val="0"/>
              </a:spcBef>
              <a:spcAft>
                <a:spcPct val="0"/>
              </a:spcAft>
              <a:defRPr>
                <a:solidFill>
                  <a:schemeClr val="tx1"/>
                </a:solidFill>
                <a:latin typeface="Verdana" charset="0"/>
                <a:ea typeface="MS PGothic" charset="0"/>
                <a:cs typeface="MS PGothic" charset="0"/>
              </a:defRPr>
            </a:lvl7pPr>
            <a:lvl8pPr marL="3429000" indent="-228600" eaLnBrk="0" fontAlgn="base" hangingPunct="0">
              <a:spcBef>
                <a:spcPct val="0"/>
              </a:spcBef>
              <a:spcAft>
                <a:spcPct val="0"/>
              </a:spcAft>
              <a:defRPr>
                <a:solidFill>
                  <a:schemeClr val="tx1"/>
                </a:solidFill>
                <a:latin typeface="Verdana" charset="0"/>
                <a:ea typeface="MS PGothic" charset="0"/>
                <a:cs typeface="MS PGothic" charset="0"/>
              </a:defRPr>
            </a:lvl8pPr>
            <a:lvl9pPr marL="3886200" indent="-228600" eaLnBrk="0" fontAlgn="base" hangingPunct="0">
              <a:spcBef>
                <a:spcPct val="0"/>
              </a:spcBef>
              <a:spcAft>
                <a:spcPct val="0"/>
              </a:spcAft>
              <a:defRPr>
                <a:solidFill>
                  <a:schemeClr val="tx1"/>
                </a:solidFill>
                <a:latin typeface="Verdana" charset="0"/>
                <a:ea typeface="MS PGothic" charset="0"/>
                <a:cs typeface="MS PGothic" charset="0"/>
              </a:defRPr>
            </a:lvl9pPr>
          </a:lstStyle>
          <a:p>
            <a:r>
              <a:rPr lang="en-US">
                <a:latin typeface="Helvetica" charset="0"/>
              </a:rPr>
              <a:t>The design of a communication</a:t>
            </a:r>
            <a:r>
              <a:rPr lang="en-US" i="1">
                <a:latin typeface="Helvetica" charset="0"/>
              </a:rPr>
              <a:t> </a:t>
            </a:r>
            <a:r>
              <a:rPr lang="en-US">
                <a:latin typeface="Helvetica" charset="0"/>
              </a:rPr>
              <a:t>network must address four basic issues:</a:t>
            </a:r>
          </a:p>
        </p:txBody>
      </p:sp>
    </p:spTree>
    <p:extLst>
      <p:ext uri="{BB962C8B-B14F-4D97-AF65-F5344CB8AC3E}">
        <p14:creationId xmlns:p14="http://schemas.microsoft.com/office/powerpoint/2010/main" val="68261502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957263" y="381000"/>
            <a:ext cx="7772400" cy="576263"/>
          </a:xfrm>
        </p:spPr>
        <p:txBody>
          <a:bodyPr/>
          <a:lstStyle/>
          <a:p>
            <a:pPr eaLnBrk="1" hangingPunct="1"/>
            <a:r>
              <a:rPr lang="en-US" dirty="0">
                <a:latin typeface="Arial" charset="0"/>
                <a:ea typeface="MS PGothic" charset="0"/>
              </a:rPr>
              <a:t>Naming and Name Resolution</a:t>
            </a:r>
          </a:p>
        </p:txBody>
      </p:sp>
      <p:sp>
        <p:nvSpPr>
          <p:cNvPr id="17411" name="Rectangle 3"/>
          <p:cNvSpPr>
            <a:spLocks noGrp="1" noChangeArrowheads="1"/>
          </p:cNvSpPr>
          <p:nvPr>
            <p:ph type="body" idx="1"/>
          </p:nvPr>
        </p:nvSpPr>
        <p:spPr>
          <a:xfrm>
            <a:off x="835025" y="1128713"/>
            <a:ext cx="6100763" cy="3822700"/>
          </a:xfrm>
        </p:spPr>
        <p:txBody>
          <a:bodyPr/>
          <a:lstStyle/>
          <a:p>
            <a:r>
              <a:rPr lang="en-US">
                <a:latin typeface="Helvetica" charset="0"/>
                <a:ea typeface="MS PGothic" charset="0"/>
              </a:rPr>
              <a:t>Name systems in the network</a:t>
            </a:r>
          </a:p>
          <a:p>
            <a:r>
              <a:rPr lang="en-US">
                <a:latin typeface="Helvetica" charset="0"/>
                <a:ea typeface="MS PGothic" charset="0"/>
              </a:rPr>
              <a:t>Address messages with the process-id</a:t>
            </a:r>
          </a:p>
          <a:p>
            <a:r>
              <a:rPr lang="en-US">
                <a:latin typeface="Helvetica" charset="0"/>
                <a:ea typeface="MS PGothic" charset="0"/>
              </a:rPr>
              <a:t>Identify processes on remote systems by </a:t>
            </a:r>
          </a:p>
          <a:p>
            <a:pPr lvl="3">
              <a:buFontTx/>
              <a:buNone/>
            </a:pPr>
            <a:r>
              <a:rPr lang="en-US">
                <a:latin typeface="Helvetica" charset="0"/>
                <a:ea typeface="MS PGothic" charset="0"/>
              </a:rPr>
              <a:t>&lt;</a:t>
            </a:r>
            <a:r>
              <a:rPr lang="en-US" b="1">
                <a:solidFill>
                  <a:srgbClr val="3366FF"/>
                </a:solidFill>
                <a:latin typeface="Helvetica" charset="0"/>
                <a:ea typeface="MS PGothic" charset="0"/>
              </a:rPr>
              <a:t>host-name</a:t>
            </a:r>
            <a:r>
              <a:rPr lang="en-US">
                <a:latin typeface="Helvetica" charset="0"/>
                <a:ea typeface="MS PGothic" charset="0"/>
              </a:rPr>
              <a:t>, </a:t>
            </a:r>
            <a:r>
              <a:rPr lang="en-US" b="1">
                <a:solidFill>
                  <a:srgbClr val="3366FF"/>
                </a:solidFill>
                <a:latin typeface="Helvetica" charset="0"/>
                <a:ea typeface="MS PGothic" charset="0"/>
              </a:rPr>
              <a:t>identifier</a:t>
            </a:r>
            <a:r>
              <a:rPr lang="en-US">
                <a:latin typeface="Helvetica" charset="0"/>
                <a:ea typeface="MS PGothic" charset="0"/>
              </a:rPr>
              <a:t>&gt; pair</a:t>
            </a:r>
          </a:p>
          <a:p>
            <a:r>
              <a:rPr lang="en-US" b="1">
                <a:solidFill>
                  <a:srgbClr val="3366FF"/>
                </a:solidFill>
                <a:latin typeface="Helvetica" charset="0"/>
                <a:ea typeface="MS PGothic" charset="0"/>
              </a:rPr>
              <a:t>Domain name system </a:t>
            </a:r>
            <a:r>
              <a:rPr lang="en-US">
                <a:latin typeface="Helvetica" charset="0"/>
                <a:ea typeface="MS PGothic" charset="0"/>
              </a:rPr>
              <a:t>(</a:t>
            </a:r>
            <a:r>
              <a:rPr lang="en-US" b="1">
                <a:solidFill>
                  <a:srgbClr val="3366FF"/>
                </a:solidFill>
                <a:latin typeface="Helvetica" charset="0"/>
                <a:ea typeface="MS PGothic" charset="0"/>
              </a:rPr>
              <a:t>DNS</a:t>
            </a:r>
            <a:r>
              <a:rPr lang="en-US">
                <a:latin typeface="Helvetica" charset="0"/>
                <a:ea typeface="MS PGothic" charset="0"/>
              </a:rPr>
              <a:t>) – specifies the naming structure of the hosts, as well as name to address </a:t>
            </a:r>
            <a:r>
              <a:rPr lang="en-US" b="1">
                <a:solidFill>
                  <a:srgbClr val="3366FF"/>
                </a:solidFill>
                <a:latin typeface="Helvetica" charset="0"/>
                <a:ea typeface="MS PGothic" charset="0"/>
              </a:rPr>
              <a:t>resolution</a:t>
            </a:r>
            <a:r>
              <a:rPr lang="en-US">
                <a:latin typeface="Helvetica" charset="0"/>
                <a:ea typeface="MS PGothic" charset="0"/>
              </a:rPr>
              <a:t> (Internet)</a:t>
            </a:r>
          </a:p>
          <a:p>
            <a:pPr lvl="1"/>
            <a:endParaRPr lang="en-US">
              <a:latin typeface="Helvetica" charset="0"/>
              <a:ea typeface="MS PGothic" charset="0"/>
            </a:endParaRPr>
          </a:p>
        </p:txBody>
      </p:sp>
    </p:spTree>
    <p:extLst>
      <p:ext uri="{BB962C8B-B14F-4D97-AF65-F5344CB8AC3E}">
        <p14:creationId xmlns:p14="http://schemas.microsoft.com/office/powerpoint/2010/main" val="127998027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207963"/>
            <a:ext cx="8229600" cy="576262"/>
          </a:xfrm>
        </p:spPr>
        <p:txBody>
          <a:bodyPr/>
          <a:lstStyle/>
          <a:p>
            <a:pPr eaLnBrk="1" hangingPunct="1"/>
            <a:r>
              <a:rPr lang="en-US">
                <a:latin typeface="Arial" charset="0"/>
                <a:ea typeface="MS PGothic" charset="0"/>
              </a:rPr>
              <a:t>Routing Strategies</a:t>
            </a:r>
          </a:p>
        </p:txBody>
      </p:sp>
      <p:sp>
        <p:nvSpPr>
          <p:cNvPr id="18435" name="Rectangle 3"/>
          <p:cNvSpPr>
            <a:spLocks noGrp="1" noChangeArrowheads="1"/>
          </p:cNvSpPr>
          <p:nvPr>
            <p:ph type="body" idx="1"/>
          </p:nvPr>
        </p:nvSpPr>
        <p:spPr>
          <a:xfrm>
            <a:off x="76200" y="762000"/>
            <a:ext cx="8915399" cy="4978400"/>
          </a:xfrm>
        </p:spPr>
        <p:txBody>
          <a:bodyPr/>
          <a:lstStyle/>
          <a:p>
            <a:r>
              <a:rPr lang="en-US" b="1" dirty="0">
                <a:solidFill>
                  <a:srgbClr val="3366FF"/>
                </a:solidFill>
                <a:latin typeface="Helvetica" charset="0"/>
                <a:ea typeface="MS PGothic" charset="0"/>
              </a:rPr>
              <a:t>Fixed routing </a:t>
            </a:r>
            <a:r>
              <a:rPr lang="en-US" dirty="0">
                <a:latin typeface="Helvetica" charset="0"/>
                <a:ea typeface="MS PGothic" charset="0"/>
              </a:rPr>
              <a:t>- A path from </a:t>
            </a:r>
            <a:r>
              <a:rPr lang="en-US" i="1" dirty="0">
                <a:latin typeface="Helvetica" charset="0"/>
                <a:ea typeface="MS PGothic" charset="0"/>
              </a:rPr>
              <a:t>A</a:t>
            </a:r>
            <a:r>
              <a:rPr lang="en-US" dirty="0">
                <a:latin typeface="Helvetica" charset="0"/>
                <a:ea typeface="MS PGothic" charset="0"/>
              </a:rPr>
              <a:t> to </a:t>
            </a:r>
            <a:r>
              <a:rPr lang="en-US" i="1" dirty="0">
                <a:latin typeface="Helvetica" charset="0"/>
                <a:ea typeface="MS PGothic" charset="0"/>
              </a:rPr>
              <a:t>B</a:t>
            </a:r>
            <a:r>
              <a:rPr lang="en-US" dirty="0">
                <a:latin typeface="Helvetica" charset="0"/>
                <a:ea typeface="MS PGothic" charset="0"/>
              </a:rPr>
              <a:t> is specified in advance; path changes only if a hardware failure disables it</a:t>
            </a:r>
          </a:p>
          <a:p>
            <a:pPr lvl="1"/>
            <a:r>
              <a:rPr lang="en-US" dirty="0">
                <a:latin typeface="Helvetica" charset="0"/>
                <a:ea typeface="MS PGothic" charset="0"/>
              </a:rPr>
              <a:t>Since the shortest path is usually chosen, communication costs are minimized</a:t>
            </a:r>
          </a:p>
          <a:p>
            <a:pPr lvl="1"/>
            <a:r>
              <a:rPr lang="en-US" dirty="0">
                <a:latin typeface="Helvetica" charset="0"/>
                <a:ea typeface="MS PGothic" charset="0"/>
              </a:rPr>
              <a:t>Fixed routing cannot adapt to load changes</a:t>
            </a:r>
          </a:p>
          <a:p>
            <a:pPr lvl="1"/>
            <a:r>
              <a:rPr lang="en-US" dirty="0">
                <a:latin typeface="Helvetica" charset="0"/>
                <a:ea typeface="MS PGothic" charset="0"/>
              </a:rPr>
              <a:t>Ensures that messages will be delivered in the order in which they were sent</a:t>
            </a:r>
          </a:p>
          <a:p>
            <a:r>
              <a:rPr lang="en-US" b="1" dirty="0">
                <a:solidFill>
                  <a:srgbClr val="3366FF"/>
                </a:solidFill>
                <a:latin typeface="Helvetica" charset="0"/>
                <a:ea typeface="MS PGothic" charset="0"/>
              </a:rPr>
              <a:t>Virtual routing</a:t>
            </a:r>
            <a:r>
              <a:rPr lang="en-US" dirty="0">
                <a:latin typeface="Helvetica" charset="0"/>
                <a:ea typeface="MS PGothic" charset="0"/>
              </a:rPr>
              <a:t>-  A path from </a:t>
            </a:r>
            <a:r>
              <a:rPr lang="en-US" i="1" dirty="0">
                <a:latin typeface="Helvetica" charset="0"/>
                <a:ea typeface="MS PGothic" charset="0"/>
              </a:rPr>
              <a:t>A</a:t>
            </a:r>
            <a:r>
              <a:rPr lang="en-US" dirty="0">
                <a:latin typeface="Helvetica" charset="0"/>
                <a:ea typeface="MS PGothic" charset="0"/>
              </a:rPr>
              <a:t> to </a:t>
            </a:r>
            <a:r>
              <a:rPr lang="en-US" i="1" dirty="0">
                <a:latin typeface="Helvetica" charset="0"/>
                <a:ea typeface="MS PGothic" charset="0"/>
              </a:rPr>
              <a:t>B</a:t>
            </a:r>
            <a:r>
              <a:rPr lang="en-US" dirty="0">
                <a:latin typeface="Helvetica" charset="0"/>
                <a:ea typeface="MS PGothic" charset="0"/>
              </a:rPr>
              <a:t> is fixed for the duration of one session.  Different sessions involving messages from </a:t>
            </a:r>
            <a:r>
              <a:rPr lang="en-US" i="1" dirty="0">
                <a:latin typeface="Helvetica" charset="0"/>
                <a:ea typeface="MS PGothic" charset="0"/>
              </a:rPr>
              <a:t>A</a:t>
            </a:r>
            <a:r>
              <a:rPr lang="en-US" dirty="0">
                <a:latin typeface="Helvetica" charset="0"/>
                <a:ea typeface="MS PGothic" charset="0"/>
              </a:rPr>
              <a:t> to </a:t>
            </a:r>
            <a:r>
              <a:rPr lang="en-US" i="1" dirty="0">
                <a:latin typeface="Helvetica" charset="0"/>
                <a:ea typeface="MS PGothic" charset="0"/>
              </a:rPr>
              <a:t>B</a:t>
            </a:r>
            <a:r>
              <a:rPr lang="en-US" dirty="0">
                <a:latin typeface="Helvetica" charset="0"/>
                <a:ea typeface="MS PGothic" charset="0"/>
              </a:rPr>
              <a:t> may have different paths </a:t>
            </a:r>
          </a:p>
          <a:p>
            <a:pPr lvl="1"/>
            <a:r>
              <a:rPr lang="en-US" dirty="0">
                <a:latin typeface="Helvetica" charset="0"/>
                <a:ea typeface="MS PGothic" charset="0"/>
              </a:rPr>
              <a:t>Partial remedy to adapting to load changes</a:t>
            </a:r>
          </a:p>
          <a:p>
            <a:pPr lvl="1"/>
            <a:r>
              <a:rPr lang="en-US" dirty="0">
                <a:latin typeface="Helvetica" charset="0"/>
                <a:ea typeface="MS PGothic" charset="0"/>
              </a:rPr>
              <a:t>Ensures that messages will be delivered in the order in which they were sent</a:t>
            </a:r>
          </a:p>
        </p:txBody>
      </p:sp>
    </p:spTree>
    <p:extLst>
      <p:ext uri="{BB962C8B-B14F-4D97-AF65-F5344CB8AC3E}">
        <p14:creationId xmlns:p14="http://schemas.microsoft.com/office/powerpoint/2010/main" val="13001254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039813" y="179388"/>
            <a:ext cx="7646987" cy="576262"/>
          </a:xfrm>
        </p:spPr>
        <p:txBody>
          <a:bodyPr/>
          <a:lstStyle/>
          <a:p>
            <a:pPr eaLnBrk="1" hangingPunct="1"/>
            <a:r>
              <a:rPr lang="en-US">
                <a:latin typeface="Arial" charset="0"/>
                <a:ea typeface="MS PGothic" charset="0"/>
              </a:rPr>
              <a:t>Routing Strategies (Cont.)</a:t>
            </a:r>
          </a:p>
        </p:txBody>
      </p:sp>
      <p:sp>
        <p:nvSpPr>
          <p:cNvPr id="19459" name="Rectangle 3"/>
          <p:cNvSpPr>
            <a:spLocks noGrp="1" noChangeArrowheads="1"/>
          </p:cNvSpPr>
          <p:nvPr>
            <p:ph type="body" idx="1"/>
          </p:nvPr>
        </p:nvSpPr>
        <p:spPr>
          <a:xfrm>
            <a:off x="76200" y="609600"/>
            <a:ext cx="8915399" cy="4787900"/>
          </a:xfrm>
        </p:spPr>
        <p:txBody>
          <a:bodyPr/>
          <a:lstStyle/>
          <a:p>
            <a:r>
              <a:rPr lang="en-US" b="1" dirty="0">
                <a:solidFill>
                  <a:srgbClr val="3366FF"/>
                </a:solidFill>
                <a:latin typeface="Helvetica" charset="0"/>
                <a:ea typeface="MS PGothic" charset="0"/>
              </a:rPr>
              <a:t>Dynamic routing </a:t>
            </a:r>
            <a:r>
              <a:rPr lang="en-US" dirty="0">
                <a:latin typeface="Helvetica" charset="0"/>
                <a:ea typeface="MS PGothic" charset="0"/>
              </a:rPr>
              <a:t>-  The path used to send a message form site </a:t>
            </a:r>
            <a:r>
              <a:rPr lang="en-US" i="1" dirty="0">
                <a:latin typeface="Helvetica" charset="0"/>
                <a:ea typeface="MS PGothic" charset="0"/>
              </a:rPr>
              <a:t>A</a:t>
            </a:r>
            <a:r>
              <a:rPr lang="en-US" dirty="0">
                <a:latin typeface="Helvetica" charset="0"/>
                <a:ea typeface="MS PGothic" charset="0"/>
              </a:rPr>
              <a:t> to site </a:t>
            </a:r>
            <a:r>
              <a:rPr lang="en-US" i="1" dirty="0">
                <a:latin typeface="Helvetica" charset="0"/>
                <a:ea typeface="MS PGothic" charset="0"/>
              </a:rPr>
              <a:t>B</a:t>
            </a:r>
            <a:r>
              <a:rPr lang="en-US" dirty="0">
                <a:latin typeface="Helvetica" charset="0"/>
                <a:ea typeface="MS PGothic" charset="0"/>
              </a:rPr>
              <a:t> is chosen only when a message is sent</a:t>
            </a:r>
          </a:p>
          <a:p>
            <a:pPr lvl="1"/>
            <a:r>
              <a:rPr lang="en-US" dirty="0">
                <a:latin typeface="Helvetica" charset="0"/>
                <a:ea typeface="MS PGothic" charset="0"/>
              </a:rPr>
              <a:t>Usually a site sends a message to another site on the link least used at that particular time</a:t>
            </a:r>
          </a:p>
          <a:p>
            <a:pPr lvl="1"/>
            <a:r>
              <a:rPr lang="en-US" dirty="0">
                <a:latin typeface="Helvetica" charset="0"/>
                <a:ea typeface="MS PGothic" charset="0"/>
              </a:rPr>
              <a:t>Adapts to load changes by avoiding routing messages on heavily used path</a:t>
            </a:r>
          </a:p>
          <a:p>
            <a:pPr lvl="1"/>
            <a:r>
              <a:rPr lang="en-US" dirty="0">
                <a:latin typeface="Helvetica" charset="0"/>
                <a:ea typeface="MS PGothic" charset="0"/>
              </a:rPr>
              <a:t>Messages may arrive out of order</a:t>
            </a:r>
          </a:p>
          <a:p>
            <a:pPr lvl="2"/>
            <a:r>
              <a:rPr lang="en-US" dirty="0">
                <a:latin typeface="Helvetica" charset="0"/>
                <a:ea typeface="MS PGothic" charset="0"/>
              </a:rPr>
              <a:t>This problem can be remedied by appending a sequence number to each message</a:t>
            </a:r>
          </a:p>
          <a:p>
            <a:pPr lvl="1"/>
            <a:r>
              <a:rPr lang="en-US" dirty="0">
                <a:latin typeface="Helvetica" charset="0"/>
                <a:ea typeface="MS PGothic" charset="0"/>
              </a:rPr>
              <a:t>Most complex to set up</a:t>
            </a:r>
          </a:p>
          <a:p>
            <a:r>
              <a:rPr lang="en-US" dirty="0">
                <a:latin typeface="Helvetica" charset="0"/>
                <a:ea typeface="MS PGothic" charset="0"/>
              </a:rPr>
              <a:t>Tradeoffs mean all methods are used</a:t>
            </a:r>
          </a:p>
          <a:p>
            <a:pPr lvl="1"/>
            <a:r>
              <a:rPr lang="en-US" dirty="0">
                <a:latin typeface="Helvetica" charset="0"/>
                <a:ea typeface="MS PGothic" charset="0"/>
              </a:rPr>
              <a:t>UNIX provides ability to mix fixed and dynamic</a:t>
            </a:r>
          </a:p>
          <a:p>
            <a:pPr lvl="1"/>
            <a:r>
              <a:rPr lang="en-US" dirty="0">
                <a:latin typeface="Helvetica" charset="0"/>
                <a:ea typeface="MS PGothic" charset="0"/>
              </a:rPr>
              <a:t>Hosts may have fixed routes and </a:t>
            </a:r>
            <a:r>
              <a:rPr lang="en-US" b="1" dirty="0">
                <a:solidFill>
                  <a:srgbClr val="3366FF"/>
                </a:solidFill>
                <a:latin typeface="Helvetica" charset="0"/>
                <a:ea typeface="MS PGothic" charset="0"/>
              </a:rPr>
              <a:t>gateways</a:t>
            </a:r>
            <a:r>
              <a:rPr lang="en-US" dirty="0">
                <a:latin typeface="Helvetica" charset="0"/>
                <a:ea typeface="MS PGothic" charset="0"/>
              </a:rPr>
              <a:t> connecting networks together may have dynamic routes</a:t>
            </a:r>
          </a:p>
        </p:txBody>
      </p:sp>
    </p:spTree>
    <p:extLst>
      <p:ext uri="{BB962C8B-B14F-4D97-AF65-F5344CB8AC3E}">
        <p14:creationId xmlns:p14="http://schemas.microsoft.com/office/powerpoint/2010/main" val="201314385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039813" y="136525"/>
            <a:ext cx="7646987" cy="576263"/>
          </a:xfrm>
        </p:spPr>
        <p:txBody>
          <a:bodyPr/>
          <a:lstStyle/>
          <a:p>
            <a:pPr eaLnBrk="1" hangingPunct="1"/>
            <a:r>
              <a:rPr lang="en-US">
                <a:latin typeface="Arial" charset="0"/>
                <a:ea typeface="MS PGothic" charset="0"/>
              </a:rPr>
              <a:t>Routing Strategies (Cont.)</a:t>
            </a:r>
          </a:p>
        </p:txBody>
      </p:sp>
      <p:sp>
        <p:nvSpPr>
          <p:cNvPr id="20483" name="Rectangle 3"/>
          <p:cNvSpPr>
            <a:spLocks noGrp="1" noChangeArrowheads="1"/>
          </p:cNvSpPr>
          <p:nvPr>
            <p:ph type="body" idx="1"/>
          </p:nvPr>
        </p:nvSpPr>
        <p:spPr>
          <a:xfrm>
            <a:off x="835025" y="1106488"/>
            <a:ext cx="6958013" cy="5126037"/>
          </a:xfrm>
        </p:spPr>
        <p:txBody>
          <a:bodyPr/>
          <a:lstStyle/>
          <a:p>
            <a:r>
              <a:rPr lang="en-US" b="1">
                <a:solidFill>
                  <a:srgbClr val="3366FF"/>
                </a:solidFill>
                <a:latin typeface="Helvetica" charset="0"/>
                <a:ea typeface="MS PGothic" charset="0"/>
              </a:rPr>
              <a:t>Router</a:t>
            </a:r>
            <a:r>
              <a:rPr lang="en-US">
                <a:latin typeface="Helvetica" charset="0"/>
                <a:ea typeface="MS PGothic" charset="0"/>
              </a:rPr>
              <a:t> is communications processor responsible for routing messages</a:t>
            </a:r>
          </a:p>
          <a:p>
            <a:r>
              <a:rPr lang="en-US">
                <a:latin typeface="Helvetica" charset="0"/>
                <a:ea typeface="MS PGothic" charset="0"/>
              </a:rPr>
              <a:t>Must have at least 2 network connections</a:t>
            </a:r>
          </a:p>
          <a:p>
            <a:r>
              <a:rPr lang="en-US">
                <a:latin typeface="Helvetica" charset="0"/>
                <a:ea typeface="MS PGothic" charset="0"/>
              </a:rPr>
              <a:t>Maybe special purpose or just function running on host</a:t>
            </a:r>
          </a:p>
          <a:p>
            <a:r>
              <a:rPr lang="en-US">
                <a:latin typeface="Helvetica" charset="0"/>
                <a:ea typeface="MS PGothic" charset="0"/>
              </a:rPr>
              <a:t>Checks its tables to determine where destination host is, where to send messages</a:t>
            </a:r>
          </a:p>
          <a:p>
            <a:pPr lvl="1"/>
            <a:r>
              <a:rPr lang="en-US">
                <a:latin typeface="Helvetica" charset="0"/>
                <a:ea typeface="MS PGothic" charset="0"/>
              </a:rPr>
              <a:t>Static routing – table only changed manually</a:t>
            </a:r>
          </a:p>
          <a:p>
            <a:pPr lvl="1"/>
            <a:r>
              <a:rPr lang="en-US">
                <a:latin typeface="Helvetica" charset="0"/>
                <a:ea typeface="MS PGothic" charset="0"/>
              </a:rPr>
              <a:t>Dynamic routing – table changed via </a:t>
            </a:r>
            <a:r>
              <a:rPr lang="en-US" b="1">
                <a:solidFill>
                  <a:srgbClr val="3366FF"/>
                </a:solidFill>
                <a:latin typeface="Helvetica" charset="0"/>
                <a:ea typeface="MS PGothic" charset="0"/>
              </a:rPr>
              <a:t>routing protocol</a:t>
            </a:r>
          </a:p>
          <a:p>
            <a:pPr>
              <a:buFont typeface="Monotype Sorts" charset="0"/>
              <a:buNone/>
            </a:pPr>
            <a:endParaRPr lang="en-US" sz="1600">
              <a:latin typeface="Helvetica" charset="0"/>
              <a:ea typeface="MS PGothic" charset="0"/>
            </a:endParaRPr>
          </a:p>
        </p:txBody>
      </p:sp>
    </p:spTree>
    <p:extLst>
      <p:ext uri="{BB962C8B-B14F-4D97-AF65-F5344CB8AC3E}">
        <p14:creationId xmlns:p14="http://schemas.microsoft.com/office/powerpoint/2010/main" val="418348282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039813" y="136525"/>
            <a:ext cx="7646987" cy="576263"/>
          </a:xfrm>
        </p:spPr>
        <p:txBody>
          <a:bodyPr/>
          <a:lstStyle/>
          <a:p>
            <a:pPr eaLnBrk="1" hangingPunct="1"/>
            <a:r>
              <a:rPr lang="en-US">
                <a:latin typeface="Arial" charset="0"/>
                <a:ea typeface="MS PGothic" charset="0"/>
              </a:rPr>
              <a:t>Routing Strategies (Cont.)</a:t>
            </a:r>
          </a:p>
        </p:txBody>
      </p:sp>
      <p:sp>
        <p:nvSpPr>
          <p:cNvPr id="21507" name="Rectangle 3"/>
          <p:cNvSpPr>
            <a:spLocks noGrp="1" noChangeArrowheads="1"/>
          </p:cNvSpPr>
          <p:nvPr>
            <p:ph type="body" idx="1"/>
          </p:nvPr>
        </p:nvSpPr>
        <p:spPr>
          <a:xfrm>
            <a:off x="495300" y="990600"/>
            <a:ext cx="7962900" cy="5126037"/>
          </a:xfrm>
        </p:spPr>
        <p:txBody>
          <a:bodyPr/>
          <a:lstStyle/>
          <a:p>
            <a:r>
              <a:rPr lang="en-US" dirty="0">
                <a:latin typeface="Helvetica" charset="0"/>
                <a:ea typeface="MS PGothic" charset="0"/>
              </a:rPr>
              <a:t>More recently, routing managed by intelligent software more intelligently than routing protocols</a:t>
            </a:r>
          </a:p>
          <a:p>
            <a:pPr lvl="1"/>
            <a:r>
              <a:rPr lang="en-US" b="1" dirty="0" err="1">
                <a:solidFill>
                  <a:srgbClr val="3366FF"/>
                </a:solidFill>
                <a:latin typeface="Helvetica" charset="0"/>
                <a:ea typeface="MS PGothic" charset="0"/>
              </a:rPr>
              <a:t>OpenFlow</a:t>
            </a:r>
            <a:r>
              <a:rPr lang="en-US" dirty="0">
                <a:latin typeface="Helvetica" charset="0"/>
                <a:ea typeface="MS PGothic" charset="0"/>
              </a:rPr>
              <a:t> is device-independent, allowing developers to introduce network efficiencies by decoupling data-routing decisions from underlying network devices</a:t>
            </a:r>
          </a:p>
          <a:p>
            <a:r>
              <a:rPr lang="en-US" dirty="0">
                <a:latin typeface="Helvetica" charset="0"/>
                <a:ea typeface="MS PGothic" charset="0"/>
              </a:rPr>
              <a:t>Messages vary in length – simplified design breaks them into </a:t>
            </a:r>
            <a:r>
              <a:rPr lang="en-US" b="1" dirty="0">
                <a:solidFill>
                  <a:srgbClr val="3366FF"/>
                </a:solidFill>
                <a:latin typeface="Helvetica" charset="0"/>
                <a:ea typeface="MS PGothic" charset="0"/>
              </a:rPr>
              <a:t>packets</a:t>
            </a:r>
            <a:r>
              <a:rPr lang="en-US" dirty="0">
                <a:latin typeface="Helvetica" charset="0"/>
                <a:ea typeface="MS PGothic" charset="0"/>
              </a:rPr>
              <a:t> (or </a:t>
            </a:r>
            <a:r>
              <a:rPr lang="en-US" b="1" dirty="0">
                <a:solidFill>
                  <a:srgbClr val="3366FF"/>
                </a:solidFill>
                <a:latin typeface="Helvetica" charset="0"/>
                <a:ea typeface="MS PGothic" charset="0"/>
              </a:rPr>
              <a:t>frames</a:t>
            </a:r>
            <a:r>
              <a:rPr lang="en-US" dirty="0">
                <a:latin typeface="Helvetica" charset="0"/>
                <a:ea typeface="MS PGothic" charset="0"/>
              </a:rPr>
              <a:t>, or </a:t>
            </a:r>
            <a:r>
              <a:rPr lang="en-US" b="1" dirty="0">
                <a:solidFill>
                  <a:srgbClr val="3366FF"/>
                </a:solidFill>
                <a:latin typeface="Helvetica" charset="0"/>
                <a:ea typeface="MS PGothic" charset="0"/>
              </a:rPr>
              <a:t>datagrams</a:t>
            </a:r>
            <a:r>
              <a:rPr lang="en-US" dirty="0">
                <a:latin typeface="Helvetica" charset="0"/>
                <a:ea typeface="MS PGothic" charset="0"/>
              </a:rPr>
              <a:t>)</a:t>
            </a:r>
          </a:p>
          <a:p>
            <a:r>
              <a:rPr lang="en-US" b="1" dirty="0">
                <a:solidFill>
                  <a:srgbClr val="3366FF"/>
                </a:solidFill>
                <a:latin typeface="Helvetica" charset="0"/>
                <a:ea typeface="MS PGothic" charset="0"/>
              </a:rPr>
              <a:t>Connectionless message </a:t>
            </a:r>
            <a:r>
              <a:rPr lang="en-US" dirty="0">
                <a:latin typeface="Helvetica" charset="0"/>
                <a:ea typeface="MS PGothic" charset="0"/>
              </a:rPr>
              <a:t>is just one packet</a:t>
            </a:r>
          </a:p>
          <a:p>
            <a:pPr lvl="1"/>
            <a:r>
              <a:rPr lang="en-US" dirty="0">
                <a:latin typeface="Helvetica" charset="0"/>
                <a:ea typeface="MS PGothic" charset="0"/>
              </a:rPr>
              <a:t>Otherwise need a connection to get a multi-packet message from source to destination</a:t>
            </a:r>
          </a:p>
          <a:p>
            <a:endParaRPr lang="en-US" sz="1600" dirty="0">
              <a:latin typeface="Helvetica" charset="0"/>
              <a:ea typeface="MS PGothic" charset="0"/>
            </a:endParaRPr>
          </a:p>
        </p:txBody>
      </p:sp>
    </p:spTree>
    <p:extLst>
      <p:ext uri="{BB962C8B-B14F-4D97-AF65-F5344CB8AC3E}">
        <p14:creationId xmlns:p14="http://schemas.microsoft.com/office/powerpoint/2010/main" val="356458113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57200" y="150813"/>
            <a:ext cx="8229600" cy="576262"/>
          </a:xfrm>
        </p:spPr>
        <p:txBody>
          <a:bodyPr/>
          <a:lstStyle/>
          <a:p>
            <a:pPr eaLnBrk="1" hangingPunct="1"/>
            <a:r>
              <a:rPr lang="en-US">
                <a:latin typeface="Arial" charset="0"/>
                <a:ea typeface="MS PGothic" charset="0"/>
              </a:rPr>
              <a:t>Connection Strategies</a:t>
            </a:r>
          </a:p>
        </p:txBody>
      </p:sp>
      <p:sp>
        <p:nvSpPr>
          <p:cNvPr id="22531" name="Rectangle 3"/>
          <p:cNvSpPr>
            <a:spLocks noGrp="1" noChangeArrowheads="1"/>
          </p:cNvSpPr>
          <p:nvPr>
            <p:ph type="body" idx="1"/>
          </p:nvPr>
        </p:nvSpPr>
        <p:spPr>
          <a:xfrm>
            <a:off x="381000" y="762000"/>
            <a:ext cx="8610600" cy="5146675"/>
          </a:xfrm>
        </p:spPr>
        <p:txBody>
          <a:bodyPr/>
          <a:lstStyle/>
          <a:p>
            <a:r>
              <a:rPr lang="en-US" sz="2300" b="1" dirty="0">
                <a:latin typeface="Helvetica" charset="0"/>
                <a:ea typeface="MS PGothic" charset="0"/>
              </a:rPr>
              <a:t>Circuit switching</a:t>
            </a:r>
            <a:r>
              <a:rPr lang="en-US" sz="2300" dirty="0">
                <a:latin typeface="Helvetica" charset="0"/>
                <a:ea typeface="MS PGothic" charset="0"/>
              </a:rPr>
              <a:t> -  A permanent physical link is established for the duration of the communication (i.e., telephone system)</a:t>
            </a:r>
          </a:p>
          <a:p>
            <a:r>
              <a:rPr lang="en-US" sz="2300" b="1" dirty="0">
                <a:latin typeface="Helvetica" charset="0"/>
                <a:ea typeface="MS PGothic" charset="0"/>
              </a:rPr>
              <a:t>Message switching</a:t>
            </a:r>
            <a:r>
              <a:rPr lang="en-US" sz="2300" dirty="0">
                <a:latin typeface="Helvetica" charset="0"/>
                <a:ea typeface="MS PGothic" charset="0"/>
              </a:rPr>
              <a:t> - A temporary link is established for the duration of one message transfer (i.e., post-office mailing system)</a:t>
            </a:r>
          </a:p>
          <a:p>
            <a:r>
              <a:rPr lang="en-US" sz="2300" b="1" dirty="0">
                <a:latin typeface="Helvetica" charset="0"/>
                <a:ea typeface="MS PGothic" charset="0"/>
              </a:rPr>
              <a:t>Packet switching</a:t>
            </a:r>
            <a:r>
              <a:rPr lang="en-US" sz="2300" dirty="0">
                <a:latin typeface="Helvetica" charset="0"/>
                <a:ea typeface="MS PGothic" charset="0"/>
              </a:rPr>
              <a:t> -  Messages of variable length are divided into fixed-length packets which are sent to the destination</a:t>
            </a:r>
          </a:p>
          <a:p>
            <a:pPr lvl="1"/>
            <a:r>
              <a:rPr lang="en-US" sz="2300" dirty="0">
                <a:latin typeface="Helvetica" charset="0"/>
                <a:ea typeface="MS PGothic" charset="0"/>
              </a:rPr>
              <a:t> Each packet may take a different path through the network</a:t>
            </a:r>
          </a:p>
          <a:p>
            <a:pPr lvl="1"/>
            <a:r>
              <a:rPr lang="en-US" sz="2300" dirty="0">
                <a:latin typeface="Helvetica" charset="0"/>
                <a:ea typeface="MS PGothic" charset="0"/>
              </a:rPr>
              <a:t>The packets must be reassembled into messages as they arrive</a:t>
            </a:r>
          </a:p>
          <a:p>
            <a:r>
              <a:rPr lang="en-US" sz="2300" dirty="0">
                <a:latin typeface="Helvetica" charset="0"/>
                <a:ea typeface="MS PGothic" charset="0"/>
              </a:rPr>
              <a:t>Circuit switching requires setup time, but incurs less overhead for shipping each message, and may waste network bandwidth</a:t>
            </a:r>
          </a:p>
          <a:p>
            <a:pPr lvl="1"/>
            <a:r>
              <a:rPr lang="en-US" sz="2300" dirty="0">
                <a:latin typeface="Helvetica" charset="0"/>
                <a:ea typeface="MS PGothic" charset="0"/>
              </a:rPr>
              <a:t>Message and packet switching require less setup time, but incur more overhead per message</a:t>
            </a:r>
          </a:p>
        </p:txBody>
      </p:sp>
    </p:spTree>
    <p:extLst>
      <p:ext uri="{BB962C8B-B14F-4D97-AF65-F5344CB8AC3E}">
        <p14:creationId xmlns:p14="http://schemas.microsoft.com/office/powerpoint/2010/main" val="62744222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701675" y="207963"/>
            <a:ext cx="7985125" cy="576262"/>
          </a:xfrm>
        </p:spPr>
        <p:txBody>
          <a:bodyPr/>
          <a:lstStyle/>
          <a:p>
            <a:pPr eaLnBrk="1" hangingPunct="1"/>
            <a:r>
              <a:rPr lang="en-US">
                <a:latin typeface="Arial" charset="0"/>
                <a:ea typeface="MS PGothic" charset="0"/>
              </a:rPr>
              <a:t>Communication Protocol</a:t>
            </a:r>
          </a:p>
        </p:txBody>
      </p:sp>
      <p:sp>
        <p:nvSpPr>
          <p:cNvPr id="23555" name="Rectangle 3"/>
          <p:cNvSpPr>
            <a:spLocks noGrp="1" noChangeArrowheads="1"/>
          </p:cNvSpPr>
          <p:nvPr>
            <p:ph type="body" idx="1"/>
          </p:nvPr>
        </p:nvSpPr>
        <p:spPr>
          <a:xfrm>
            <a:off x="304800" y="1855788"/>
            <a:ext cx="8763000" cy="3783012"/>
          </a:xfrm>
        </p:spPr>
        <p:txBody>
          <a:bodyPr/>
          <a:lstStyle/>
          <a:p>
            <a:r>
              <a:rPr lang="en-US" sz="2400" b="1" dirty="0">
                <a:latin typeface="Helvetica" charset="0"/>
                <a:ea typeface="MS PGothic" charset="0"/>
              </a:rPr>
              <a:t>Layer 1: Physical layer</a:t>
            </a:r>
            <a:r>
              <a:rPr lang="en-US" sz="2400" dirty="0">
                <a:latin typeface="Helvetica" charset="0"/>
                <a:ea typeface="MS PGothic" charset="0"/>
              </a:rPr>
              <a:t> – handles the mechanical and electrical details of the physical transmission of a bit stream</a:t>
            </a:r>
          </a:p>
          <a:p>
            <a:r>
              <a:rPr lang="en-US" sz="2400" b="1" dirty="0">
                <a:latin typeface="Helvetica" charset="0"/>
                <a:ea typeface="MS PGothic" charset="0"/>
              </a:rPr>
              <a:t>Layer 2: Data-link layer</a:t>
            </a:r>
            <a:r>
              <a:rPr lang="en-US" sz="2400" dirty="0">
                <a:latin typeface="Helvetica" charset="0"/>
                <a:ea typeface="MS PGothic" charset="0"/>
              </a:rPr>
              <a:t> – handles the </a:t>
            </a:r>
            <a:r>
              <a:rPr lang="en-US" sz="2400" i="1" dirty="0">
                <a:latin typeface="Helvetica" charset="0"/>
                <a:ea typeface="MS PGothic" charset="0"/>
              </a:rPr>
              <a:t>frames</a:t>
            </a:r>
            <a:r>
              <a:rPr lang="en-US" sz="2400" dirty="0">
                <a:latin typeface="Helvetica" charset="0"/>
                <a:ea typeface="MS PGothic" charset="0"/>
              </a:rPr>
              <a:t>, or fixed-length parts of packets, including any error detection and recovery that occurred in the physical layer</a:t>
            </a:r>
          </a:p>
          <a:p>
            <a:r>
              <a:rPr lang="en-US" sz="2400" b="1" dirty="0">
                <a:latin typeface="Helvetica" charset="0"/>
                <a:ea typeface="MS PGothic" charset="0"/>
              </a:rPr>
              <a:t>Layer 3: Network layer</a:t>
            </a:r>
            <a:r>
              <a:rPr lang="en-US" sz="2400" dirty="0">
                <a:latin typeface="Helvetica" charset="0"/>
                <a:ea typeface="MS PGothic" charset="0"/>
              </a:rPr>
              <a:t> – provides connections and routes packets in the communication network, including handling the address of outgoing packets, decoding the address of incoming packets, and maintaining routing information for proper response to changing load levels</a:t>
            </a:r>
          </a:p>
        </p:txBody>
      </p:sp>
      <p:sp>
        <p:nvSpPr>
          <p:cNvPr id="23556" name="Text Box 5"/>
          <p:cNvSpPr txBox="1">
            <a:spLocks noChangeArrowheads="1"/>
          </p:cNvSpPr>
          <p:nvPr/>
        </p:nvSpPr>
        <p:spPr bwMode="auto">
          <a:xfrm>
            <a:off x="839788" y="1035050"/>
            <a:ext cx="7686675" cy="6413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Verdana" charset="0"/>
                <a:ea typeface="MS PGothic" charset="0"/>
                <a:cs typeface="MS PGothic" charset="0"/>
              </a:defRPr>
            </a:lvl1pPr>
            <a:lvl2pPr marL="742950" indent="-285750">
              <a:defRPr>
                <a:solidFill>
                  <a:schemeClr val="tx1"/>
                </a:solidFill>
                <a:latin typeface="Verdana" charset="0"/>
                <a:ea typeface="MS PGothic" charset="0"/>
                <a:cs typeface="MS PGothic" charset="0"/>
              </a:defRPr>
            </a:lvl2pPr>
            <a:lvl3pPr marL="1143000" indent="-228600">
              <a:defRPr>
                <a:solidFill>
                  <a:schemeClr val="tx1"/>
                </a:solidFill>
                <a:latin typeface="Verdana" charset="0"/>
                <a:ea typeface="MS PGothic" charset="0"/>
                <a:cs typeface="MS PGothic" charset="0"/>
              </a:defRPr>
            </a:lvl3pPr>
            <a:lvl4pPr marL="1600200" indent="-228600">
              <a:defRPr>
                <a:solidFill>
                  <a:schemeClr val="tx1"/>
                </a:solidFill>
                <a:latin typeface="Verdana" charset="0"/>
                <a:ea typeface="MS PGothic" charset="0"/>
                <a:cs typeface="MS PGothic" charset="0"/>
              </a:defRPr>
            </a:lvl4pPr>
            <a:lvl5pPr marL="2057400" indent="-228600">
              <a:defRPr>
                <a:solidFill>
                  <a:schemeClr val="tx1"/>
                </a:solidFill>
                <a:latin typeface="Verdana" charset="0"/>
                <a:ea typeface="MS PGothic" charset="0"/>
                <a:cs typeface="MS PGothic" charset="0"/>
              </a:defRPr>
            </a:lvl5pPr>
            <a:lvl6pPr marL="2514600" indent="-228600" eaLnBrk="0" fontAlgn="base" hangingPunct="0">
              <a:spcBef>
                <a:spcPct val="0"/>
              </a:spcBef>
              <a:spcAft>
                <a:spcPct val="0"/>
              </a:spcAft>
              <a:defRPr>
                <a:solidFill>
                  <a:schemeClr val="tx1"/>
                </a:solidFill>
                <a:latin typeface="Verdana" charset="0"/>
                <a:ea typeface="MS PGothic" charset="0"/>
                <a:cs typeface="MS PGothic" charset="0"/>
              </a:defRPr>
            </a:lvl6pPr>
            <a:lvl7pPr marL="2971800" indent="-228600" eaLnBrk="0" fontAlgn="base" hangingPunct="0">
              <a:spcBef>
                <a:spcPct val="0"/>
              </a:spcBef>
              <a:spcAft>
                <a:spcPct val="0"/>
              </a:spcAft>
              <a:defRPr>
                <a:solidFill>
                  <a:schemeClr val="tx1"/>
                </a:solidFill>
                <a:latin typeface="Verdana" charset="0"/>
                <a:ea typeface="MS PGothic" charset="0"/>
                <a:cs typeface="MS PGothic" charset="0"/>
              </a:defRPr>
            </a:lvl7pPr>
            <a:lvl8pPr marL="3429000" indent="-228600" eaLnBrk="0" fontAlgn="base" hangingPunct="0">
              <a:spcBef>
                <a:spcPct val="0"/>
              </a:spcBef>
              <a:spcAft>
                <a:spcPct val="0"/>
              </a:spcAft>
              <a:defRPr>
                <a:solidFill>
                  <a:schemeClr val="tx1"/>
                </a:solidFill>
                <a:latin typeface="Verdana" charset="0"/>
                <a:ea typeface="MS PGothic" charset="0"/>
                <a:cs typeface="MS PGothic" charset="0"/>
              </a:defRPr>
            </a:lvl8pPr>
            <a:lvl9pPr marL="3886200" indent="-228600" eaLnBrk="0" fontAlgn="base" hangingPunct="0">
              <a:spcBef>
                <a:spcPct val="0"/>
              </a:spcBef>
              <a:spcAft>
                <a:spcPct val="0"/>
              </a:spcAft>
              <a:defRPr>
                <a:solidFill>
                  <a:schemeClr val="tx1"/>
                </a:solidFill>
                <a:latin typeface="Verdana" charset="0"/>
                <a:ea typeface="MS PGothic" charset="0"/>
                <a:cs typeface="MS PGothic" charset="0"/>
              </a:defRPr>
            </a:lvl9pPr>
          </a:lstStyle>
          <a:p>
            <a:r>
              <a:rPr kumimoji="1" lang="en-US" dirty="0">
                <a:latin typeface="Helvetica" charset="0"/>
              </a:rPr>
              <a:t>The communication network is partitioned into the following multiple layers:</a:t>
            </a:r>
          </a:p>
        </p:txBody>
      </p:sp>
    </p:spTree>
    <p:extLst>
      <p:ext uri="{BB962C8B-B14F-4D97-AF65-F5344CB8AC3E}">
        <p14:creationId xmlns:p14="http://schemas.microsoft.com/office/powerpoint/2010/main" val="69512166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993775" y="150813"/>
            <a:ext cx="7918450" cy="576262"/>
          </a:xfrm>
        </p:spPr>
        <p:txBody>
          <a:bodyPr/>
          <a:lstStyle/>
          <a:p>
            <a:pPr eaLnBrk="1" hangingPunct="1"/>
            <a:r>
              <a:rPr lang="en-US">
                <a:latin typeface="Arial" charset="0"/>
                <a:ea typeface="MS PGothic" charset="0"/>
              </a:rPr>
              <a:t>Communication Protocol (Cont.)</a:t>
            </a:r>
          </a:p>
        </p:txBody>
      </p:sp>
      <p:sp>
        <p:nvSpPr>
          <p:cNvPr id="24579" name="Rectangle 3"/>
          <p:cNvSpPr>
            <a:spLocks noGrp="1" noChangeArrowheads="1"/>
          </p:cNvSpPr>
          <p:nvPr>
            <p:ph type="body" idx="1"/>
          </p:nvPr>
        </p:nvSpPr>
        <p:spPr>
          <a:xfrm>
            <a:off x="152400" y="1120775"/>
            <a:ext cx="8534400" cy="5043488"/>
          </a:xfrm>
        </p:spPr>
        <p:txBody>
          <a:bodyPr/>
          <a:lstStyle/>
          <a:p>
            <a:r>
              <a:rPr lang="en-US" sz="2400" b="1" dirty="0">
                <a:latin typeface="Helvetica" charset="0"/>
                <a:ea typeface="MS PGothic" charset="0"/>
              </a:rPr>
              <a:t>Layer 4: Transport layer</a:t>
            </a:r>
            <a:r>
              <a:rPr lang="en-US" sz="2400" dirty="0">
                <a:latin typeface="Helvetica" charset="0"/>
                <a:ea typeface="MS PGothic" charset="0"/>
              </a:rPr>
              <a:t> – responsible for low-level network access and for message transfer between clients, including partitioning messages into packets, maintaining packet order, controlling flow, and generating physical addresses</a:t>
            </a:r>
          </a:p>
          <a:p>
            <a:r>
              <a:rPr lang="en-US" sz="2400" b="1" dirty="0">
                <a:latin typeface="Helvetica" charset="0"/>
                <a:ea typeface="MS PGothic" charset="0"/>
              </a:rPr>
              <a:t>Layer 5: Session layer</a:t>
            </a:r>
            <a:r>
              <a:rPr lang="en-US" sz="2400" dirty="0">
                <a:latin typeface="Helvetica" charset="0"/>
                <a:ea typeface="MS PGothic" charset="0"/>
              </a:rPr>
              <a:t> – implements sessions, or process-to-process communications protocols</a:t>
            </a:r>
          </a:p>
          <a:p>
            <a:r>
              <a:rPr lang="en-US" sz="2400" b="1" dirty="0">
                <a:latin typeface="Helvetica" charset="0"/>
                <a:ea typeface="MS PGothic" charset="0"/>
              </a:rPr>
              <a:t>Layer 6: Presentation layer</a:t>
            </a:r>
            <a:r>
              <a:rPr lang="en-US" sz="2400" dirty="0">
                <a:latin typeface="Helvetica" charset="0"/>
                <a:ea typeface="MS PGothic" charset="0"/>
              </a:rPr>
              <a:t> – resolves the differences in formats among the various sites in the network, including character conversions, and half duplex/full duplex (echoing)</a:t>
            </a:r>
          </a:p>
          <a:p>
            <a:r>
              <a:rPr lang="en-US" sz="2400" b="1" dirty="0">
                <a:latin typeface="Helvetica" charset="0"/>
                <a:ea typeface="MS PGothic" charset="0"/>
              </a:rPr>
              <a:t>Layer 7: Application layer</a:t>
            </a:r>
            <a:r>
              <a:rPr lang="en-US" sz="2400" dirty="0">
                <a:latin typeface="Helvetica" charset="0"/>
                <a:ea typeface="MS PGothic" charset="0"/>
              </a:rPr>
              <a:t> – interacts directly with the users,</a:t>
            </a:r>
            <a:r>
              <a:rPr lang="en-US" altLang="ja-JP" sz="2400" dirty="0">
                <a:latin typeface="Helvetica" charset="0"/>
                <a:ea typeface="MS PGothic" charset="0"/>
              </a:rPr>
              <a:t> deals with file transfer, remote-login protocols and electronic mail, as well as schemas for distributed databases</a:t>
            </a:r>
            <a:endParaRPr lang="en-US" sz="2400" dirty="0">
              <a:latin typeface="Helvetica" charset="0"/>
              <a:ea typeface="MS PGothic" charset="0"/>
            </a:endParaRPr>
          </a:p>
        </p:txBody>
      </p:sp>
    </p:spTree>
    <p:extLst>
      <p:ext uri="{BB962C8B-B14F-4D97-AF65-F5344CB8AC3E}">
        <p14:creationId xmlns:p14="http://schemas.microsoft.com/office/powerpoint/2010/main" val="312472892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152525" y="109538"/>
            <a:ext cx="7786688" cy="660400"/>
          </a:xfrm>
        </p:spPr>
        <p:txBody>
          <a:bodyPr/>
          <a:lstStyle/>
          <a:p>
            <a:pPr eaLnBrk="1" hangingPunct="1"/>
            <a:r>
              <a:rPr lang="en-US" sz="3000">
                <a:latin typeface="Arial" charset="0"/>
                <a:ea typeface="MS PGothic" charset="0"/>
              </a:rPr>
              <a:t>Communication Via ISO Network Model</a:t>
            </a:r>
          </a:p>
        </p:txBody>
      </p:sp>
      <p:pic>
        <p:nvPicPr>
          <p:cNvPr id="25603" name="Picture 1" descr="17_05.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14463" y="1279525"/>
            <a:ext cx="6811962" cy="40020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4553069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739775" y="165100"/>
            <a:ext cx="7947025" cy="576263"/>
          </a:xfrm>
        </p:spPr>
        <p:txBody>
          <a:bodyPr/>
          <a:lstStyle/>
          <a:p>
            <a:pPr eaLnBrk="1" hangingPunct="1"/>
            <a:r>
              <a:rPr lang="en-US">
                <a:latin typeface="Arial" charset="0"/>
                <a:ea typeface="MS PGothic" charset="0"/>
              </a:rPr>
              <a:t>The ISO Protocol Layer</a:t>
            </a:r>
          </a:p>
        </p:txBody>
      </p:sp>
      <p:pic>
        <p:nvPicPr>
          <p:cNvPr id="26627" name="Picture 1" descr="17_06.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41625" y="1158875"/>
            <a:ext cx="3302000" cy="50069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0105704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57200" y="179388"/>
            <a:ext cx="8229600" cy="576262"/>
          </a:xfrm>
        </p:spPr>
        <p:txBody>
          <a:bodyPr/>
          <a:lstStyle/>
          <a:p>
            <a:pPr eaLnBrk="1" hangingPunct="1"/>
            <a:r>
              <a:rPr lang="en-US">
                <a:latin typeface="Arial" charset="0"/>
                <a:ea typeface="MS PGothic" charset="0"/>
              </a:rPr>
              <a:t>The ISO Network Message</a:t>
            </a:r>
          </a:p>
        </p:txBody>
      </p:sp>
      <p:pic>
        <p:nvPicPr>
          <p:cNvPr id="27651" name="Picture 1" descr="17_07.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67025" y="1195388"/>
            <a:ext cx="2941638" cy="44545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524401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193675"/>
            <a:ext cx="8229600" cy="576263"/>
          </a:xfrm>
        </p:spPr>
        <p:txBody>
          <a:bodyPr/>
          <a:lstStyle/>
          <a:p>
            <a:pPr eaLnBrk="1" hangingPunct="1"/>
            <a:r>
              <a:rPr lang="en-US">
                <a:latin typeface="Arial" charset="0"/>
                <a:ea typeface="MS PGothic" charset="0"/>
              </a:rPr>
              <a:t>The TCP/IP Protocol Layers</a:t>
            </a:r>
          </a:p>
        </p:txBody>
      </p:sp>
      <p:pic>
        <p:nvPicPr>
          <p:cNvPr id="28675" name="Picture 1" descr="17_08.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03488" y="1220788"/>
            <a:ext cx="4375150" cy="43751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0055049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026"/>
          <p:cNvSpPr>
            <a:spLocks noGrp="1" noChangeArrowheads="1"/>
          </p:cNvSpPr>
          <p:nvPr>
            <p:ph type="title"/>
          </p:nvPr>
        </p:nvSpPr>
        <p:spPr>
          <a:xfrm>
            <a:off x="457200" y="193675"/>
            <a:ext cx="8229600" cy="576263"/>
          </a:xfrm>
        </p:spPr>
        <p:txBody>
          <a:bodyPr/>
          <a:lstStyle/>
          <a:p>
            <a:pPr eaLnBrk="1" hangingPunct="1"/>
            <a:r>
              <a:rPr lang="en-US">
                <a:latin typeface="Arial" charset="0"/>
                <a:ea typeface="MS PGothic" charset="0"/>
              </a:rPr>
              <a:t>Example: TCP/IP</a:t>
            </a:r>
          </a:p>
        </p:txBody>
      </p:sp>
      <p:sp>
        <p:nvSpPr>
          <p:cNvPr id="29699" name="Rectangle 1027"/>
          <p:cNvSpPr>
            <a:spLocks noGrp="1" noChangeArrowheads="1"/>
          </p:cNvSpPr>
          <p:nvPr>
            <p:ph type="body" idx="1"/>
          </p:nvPr>
        </p:nvSpPr>
        <p:spPr>
          <a:xfrm>
            <a:off x="152400" y="685800"/>
            <a:ext cx="8763000" cy="5118100"/>
          </a:xfrm>
        </p:spPr>
        <p:txBody>
          <a:bodyPr/>
          <a:lstStyle/>
          <a:p>
            <a:r>
              <a:rPr lang="en-US" sz="2400" dirty="0">
                <a:latin typeface="Helvetica" charset="0"/>
                <a:ea typeface="MS PGothic" charset="0"/>
              </a:rPr>
              <a:t>The transmission of a network packet between hosts on an Ethernet network</a:t>
            </a:r>
          </a:p>
          <a:p>
            <a:r>
              <a:rPr lang="en-US" sz="2400" dirty="0">
                <a:latin typeface="Helvetica" charset="0"/>
                <a:ea typeface="MS PGothic" charset="0"/>
              </a:rPr>
              <a:t>Every host has a unique IP address and a corresponding Ethernet </a:t>
            </a:r>
            <a:r>
              <a:rPr lang="en-US" sz="2400" b="1" dirty="0">
                <a:solidFill>
                  <a:srgbClr val="3366FF"/>
                </a:solidFill>
                <a:latin typeface="Helvetica" charset="0"/>
                <a:ea typeface="MS PGothic" charset="0"/>
              </a:rPr>
              <a:t>Media Access Control </a:t>
            </a:r>
            <a:r>
              <a:rPr lang="en-US" sz="2400" dirty="0">
                <a:latin typeface="Helvetica" charset="0"/>
                <a:ea typeface="MS PGothic" charset="0"/>
              </a:rPr>
              <a:t>(</a:t>
            </a:r>
            <a:r>
              <a:rPr lang="en-US" sz="2400" b="1" dirty="0">
                <a:solidFill>
                  <a:srgbClr val="3366FF"/>
                </a:solidFill>
                <a:latin typeface="Helvetica" charset="0"/>
                <a:ea typeface="MS PGothic" charset="0"/>
              </a:rPr>
              <a:t>MAC</a:t>
            </a:r>
            <a:r>
              <a:rPr lang="en-US" sz="2400" dirty="0">
                <a:latin typeface="Helvetica" charset="0"/>
                <a:ea typeface="MS PGothic" charset="0"/>
              </a:rPr>
              <a:t>) address</a:t>
            </a:r>
          </a:p>
          <a:p>
            <a:r>
              <a:rPr lang="en-US" sz="2400" dirty="0">
                <a:latin typeface="Helvetica" charset="0"/>
                <a:ea typeface="MS PGothic" charset="0"/>
              </a:rPr>
              <a:t>Communication requires both addresses</a:t>
            </a:r>
          </a:p>
          <a:p>
            <a:r>
              <a:rPr lang="en-US" sz="2400" b="1" dirty="0">
                <a:solidFill>
                  <a:srgbClr val="3366FF"/>
                </a:solidFill>
                <a:latin typeface="Helvetica" charset="0"/>
                <a:ea typeface="MS PGothic" charset="0"/>
              </a:rPr>
              <a:t>Domain Name Service </a:t>
            </a:r>
            <a:r>
              <a:rPr lang="en-US" sz="2400" dirty="0">
                <a:latin typeface="Helvetica" charset="0"/>
                <a:ea typeface="MS PGothic" charset="0"/>
              </a:rPr>
              <a:t>(</a:t>
            </a:r>
            <a:r>
              <a:rPr lang="en-US" sz="2400" b="1" dirty="0">
                <a:solidFill>
                  <a:srgbClr val="3366FF"/>
                </a:solidFill>
                <a:latin typeface="Helvetica" charset="0"/>
                <a:ea typeface="MS PGothic" charset="0"/>
              </a:rPr>
              <a:t>DNS</a:t>
            </a:r>
            <a:r>
              <a:rPr lang="en-US" sz="2400" dirty="0">
                <a:latin typeface="Helvetica" charset="0"/>
                <a:ea typeface="MS PGothic" charset="0"/>
              </a:rPr>
              <a:t>) can be used to acquire IP addresses </a:t>
            </a:r>
          </a:p>
          <a:p>
            <a:r>
              <a:rPr lang="en-US" sz="2400" b="1" dirty="0">
                <a:solidFill>
                  <a:srgbClr val="3366FF"/>
                </a:solidFill>
                <a:latin typeface="Helvetica" charset="0"/>
                <a:ea typeface="MS PGothic" charset="0"/>
              </a:rPr>
              <a:t>Address Resolution Protocol</a:t>
            </a:r>
            <a:r>
              <a:rPr lang="en-US" sz="2400" dirty="0">
                <a:latin typeface="Helvetica" charset="0"/>
                <a:ea typeface="MS PGothic" charset="0"/>
              </a:rPr>
              <a:t> (</a:t>
            </a:r>
            <a:r>
              <a:rPr lang="en-US" sz="2400" b="1" dirty="0">
                <a:solidFill>
                  <a:srgbClr val="3366FF"/>
                </a:solidFill>
                <a:latin typeface="Helvetica" charset="0"/>
                <a:ea typeface="MS PGothic" charset="0"/>
              </a:rPr>
              <a:t>ARP</a:t>
            </a:r>
            <a:r>
              <a:rPr lang="en-US" sz="2400" dirty="0">
                <a:latin typeface="Helvetica" charset="0"/>
                <a:ea typeface="MS PGothic" charset="0"/>
              </a:rPr>
              <a:t>) is used to map MAC addresses to IP addresses</a:t>
            </a:r>
          </a:p>
          <a:p>
            <a:pPr lvl="1"/>
            <a:r>
              <a:rPr lang="en-US" b="1" dirty="0">
                <a:solidFill>
                  <a:srgbClr val="3366FF"/>
                </a:solidFill>
                <a:latin typeface="Helvetica" charset="0"/>
                <a:ea typeface="MS PGothic" charset="0"/>
              </a:rPr>
              <a:t>Broadcast</a:t>
            </a:r>
            <a:r>
              <a:rPr lang="en-US" dirty="0">
                <a:latin typeface="Helvetica" charset="0"/>
                <a:ea typeface="MS PGothic" charset="0"/>
              </a:rPr>
              <a:t> to all other systems on the Ethernet network</a:t>
            </a:r>
          </a:p>
          <a:p>
            <a:r>
              <a:rPr lang="en-US" sz="2400" dirty="0">
                <a:latin typeface="Helvetica" charset="0"/>
                <a:ea typeface="MS PGothic" charset="0"/>
              </a:rPr>
              <a:t>If the hosts are on the same network, ARP can be used</a:t>
            </a:r>
          </a:p>
          <a:p>
            <a:pPr lvl="1"/>
            <a:r>
              <a:rPr lang="en-US" dirty="0">
                <a:latin typeface="Helvetica" charset="0"/>
                <a:ea typeface="MS PGothic" charset="0"/>
              </a:rPr>
              <a:t>If the hosts are on different networks, the sending host will send the packet to a router which routes the packet to the destination network</a:t>
            </a:r>
          </a:p>
        </p:txBody>
      </p:sp>
    </p:spTree>
    <p:extLst>
      <p:ext uri="{BB962C8B-B14F-4D97-AF65-F5344CB8AC3E}">
        <p14:creationId xmlns:p14="http://schemas.microsoft.com/office/powerpoint/2010/main" val="277806815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457200" y="179388"/>
            <a:ext cx="8229600" cy="576262"/>
          </a:xfrm>
        </p:spPr>
        <p:txBody>
          <a:bodyPr/>
          <a:lstStyle/>
          <a:p>
            <a:pPr eaLnBrk="1" hangingPunct="1"/>
            <a:r>
              <a:rPr lang="en-US">
                <a:latin typeface="Arial" charset="0"/>
                <a:ea typeface="MS PGothic" charset="0"/>
              </a:rPr>
              <a:t>An Ethernet Packet</a:t>
            </a:r>
          </a:p>
        </p:txBody>
      </p:sp>
      <p:pic>
        <p:nvPicPr>
          <p:cNvPr id="30723" name="Picture 1" descr="17_09.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74813" y="1233488"/>
            <a:ext cx="6343650" cy="41243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2268059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457200" y="165100"/>
            <a:ext cx="8229600" cy="576263"/>
          </a:xfrm>
        </p:spPr>
        <p:txBody>
          <a:bodyPr/>
          <a:lstStyle/>
          <a:p>
            <a:pPr eaLnBrk="1" hangingPunct="1"/>
            <a:r>
              <a:rPr lang="en-US">
                <a:latin typeface="Arial" charset="0"/>
                <a:ea typeface="MS PGothic" charset="0"/>
              </a:rPr>
              <a:t>Robustness</a:t>
            </a:r>
          </a:p>
        </p:txBody>
      </p:sp>
      <p:sp>
        <p:nvSpPr>
          <p:cNvPr id="31747" name="Rectangle 3"/>
          <p:cNvSpPr>
            <a:spLocks noGrp="1" noChangeArrowheads="1"/>
          </p:cNvSpPr>
          <p:nvPr>
            <p:ph type="body" idx="1"/>
          </p:nvPr>
        </p:nvSpPr>
        <p:spPr>
          <a:xfrm>
            <a:off x="938213" y="1220788"/>
            <a:ext cx="7351712" cy="4483100"/>
          </a:xfrm>
        </p:spPr>
        <p:txBody>
          <a:bodyPr/>
          <a:lstStyle/>
          <a:p>
            <a:r>
              <a:rPr lang="en-US">
                <a:latin typeface="Helvetica" charset="0"/>
                <a:ea typeface="MS PGothic" charset="0"/>
              </a:rPr>
              <a:t>Failure detection</a:t>
            </a:r>
            <a:br>
              <a:rPr lang="en-US">
                <a:latin typeface="Helvetica" charset="0"/>
                <a:ea typeface="MS PGothic" charset="0"/>
              </a:rPr>
            </a:br>
            <a:endParaRPr lang="en-US">
              <a:latin typeface="Helvetica" charset="0"/>
              <a:ea typeface="MS PGothic" charset="0"/>
            </a:endParaRPr>
          </a:p>
          <a:p>
            <a:r>
              <a:rPr lang="en-US">
                <a:latin typeface="Helvetica" charset="0"/>
                <a:ea typeface="MS PGothic" charset="0"/>
              </a:rPr>
              <a:t>Reconfiguration</a:t>
            </a:r>
          </a:p>
        </p:txBody>
      </p:sp>
    </p:spTree>
    <p:extLst>
      <p:ext uri="{BB962C8B-B14F-4D97-AF65-F5344CB8AC3E}">
        <p14:creationId xmlns:p14="http://schemas.microsoft.com/office/powerpoint/2010/main" val="126167338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457200" y="193675"/>
            <a:ext cx="8229600" cy="576263"/>
          </a:xfrm>
        </p:spPr>
        <p:txBody>
          <a:bodyPr/>
          <a:lstStyle/>
          <a:p>
            <a:pPr eaLnBrk="1" hangingPunct="1"/>
            <a:r>
              <a:rPr lang="en-US">
                <a:latin typeface="Arial" charset="0"/>
                <a:ea typeface="MS PGothic" charset="0"/>
              </a:rPr>
              <a:t>Failure Detection</a:t>
            </a:r>
          </a:p>
        </p:txBody>
      </p:sp>
      <p:sp>
        <p:nvSpPr>
          <p:cNvPr id="32771" name="Rectangle 3"/>
          <p:cNvSpPr>
            <a:spLocks noGrp="1" noChangeArrowheads="1"/>
          </p:cNvSpPr>
          <p:nvPr>
            <p:ph type="body" idx="1"/>
          </p:nvPr>
        </p:nvSpPr>
        <p:spPr>
          <a:xfrm>
            <a:off x="304800" y="836612"/>
            <a:ext cx="8382000" cy="5106988"/>
          </a:xfrm>
        </p:spPr>
        <p:txBody>
          <a:bodyPr/>
          <a:lstStyle/>
          <a:p>
            <a:r>
              <a:rPr lang="en-US" dirty="0">
                <a:latin typeface="Helvetica" charset="0"/>
                <a:ea typeface="MS PGothic" charset="0"/>
              </a:rPr>
              <a:t>Detecting hardware failure is difficult</a:t>
            </a:r>
            <a:endParaRPr lang="en-US" sz="800" dirty="0">
              <a:latin typeface="Helvetica" charset="0"/>
              <a:ea typeface="MS PGothic" charset="0"/>
            </a:endParaRPr>
          </a:p>
          <a:p>
            <a:r>
              <a:rPr lang="en-US" dirty="0">
                <a:latin typeface="Helvetica" charset="0"/>
                <a:ea typeface="MS PGothic" charset="0"/>
              </a:rPr>
              <a:t>To detect a link failure, a </a:t>
            </a:r>
            <a:r>
              <a:rPr lang="en-US" sz="1600" b="1" dirty="0">
                <a:solidFill>
                  <a:srgbClr val="3366FF"/>
                </a:solidFill>
                <a:latin typeface="Helvetica" charset="0"/>
                <a:ea typeface="MS PGothic" charset="0"/>
              </a:rPr>
              <a:t>heartbeat</a:t>
            </a:r>
            <a:r>
              <a:rPr lang="en-US" dirty="0">
                <a:latin typeface="Helvetica" charset="0"/>
                <a:ea typeface="MS PGothic" charset="0"/>
              </a:rPr>
              <a:t> protocol can be used</a:t>
            </a:r>
            <a:endParaRPr lang="en-US" sz="800" dirty="0">
              <a:latin typeface="Helvetica" charset="0"/>
              <a:ea typeface="MS PGothic" charset="0"/>
            </a:endParaRPr>
          </a:p>
          <a:p>
            <a:r>
              <a:rPr lang="en-US" dirty="0">
                <a:latin typeface="Helvetica" charset="0"/>
                <a:ea typeface="MS PGothic" charset="0"/>
              </a:rPr>
              <a:t>Assume Site A and Site B have established a link</a:t>
            </a:r>
          </a:p>
          <a:p>
            <a:pPr lvl="1"/>
            <a:r>
              <a:rPr lang="en-US" dirty="0">
                <a:latin typeface="Helvetica" charset="0"/>
                <a:ea typeface="MS PGothic" charset="0"/>
              </a:rPr>
              <a:t> At fixed intervals, each site will exchange an </a:t>
            </a:r>
            <a:r>
              <a:rPr lang="en-US" i="1" dirty="0">
                <a:latin typeface="Helvetica" charset="0"/>
                <a:ea typeface="MS PGothic" charset="0"/>
              </a:rPr>
              <a:t>I-am-up</a:t>
            </a:r>
            <a:r>
              <a:rPr lang="en-US" dirty="0">
                <a:latin typeface="Helvetica" charset="0"/>
                <a:ea typeface="MS PGothic" charset="0"/>
              </a:rPr>
              <a:t> message indicating that they are up and running</a:t>
            </a:r>
            <a:endParaRPr lang="en-US" sz="800" dirty="0">
              <a:latin typeface="Helvetica" charset="0"/>
              <a:ea typeface="MS PGothic" charset="0"/>
            </a:endParaRPr>
          </a:p>
          <a:p>
            <a:r>
              <a:rPr lang="en-US" dirty="0">
                <a:latin typeface="Helvetica" charset="0"/>
                <a:ea typeface="MS PGothic" charset="0"/>
              </a:rPr>
              <a:t>If Site A does not receive a message within the fixed interval, it assumes either (a) the other site is not up or (b) the message was lost</a:t>
            </a:r>
            <a:endParaRPr lang="en-US" sz="800" dirty="0">
              <a:latin typeface="Helvetica" charset="0"/>
              <a:ea typeface="MS PGothic" charset="0"/>
            </a:endParaRPr>
          </a:p>
          <a:p>
            <a:r>
              <a:rPr lang="en-US" dirty="0">
                <a:latin typeface="Helvetica" charset="0"/>
                <a:ea typeface="MS PGothic" charset="0"/>
              </a:rPr>
              <a:t>Site A can now send an </a:t>
            </a:r>
            <a:r>
              <a:rPr lang="en-US" i="1" dirty="0">
                <a:latin typeface="Helvetica" charset="0"/>
                <a:ea typeface="MS PGothic" charset="0"/>
              </a:rPr>
              <a:t>Are-you-up?</a:t>
            </a:r>
            <a:r>
              <a:rPr lang="en-US" dirty="0">
                <a:latin typeface="Helvetica" charset="0"/>
                <a:ea typeface="MS PGothic" charset="0"/>
              </a:rPr>
              <a:t> message to Site B</a:t>
            </a:r>
            <a:endParaRPr lang="en-US" sz="800" dirty="0">
              <a:latin typeface="Helvetica" charset="0"/>
              <a:ea typeface="MS PGothic" charset="0"/>
            </a:endParaRPr>
          </a:p>
          <a:p>
            <a:r>
              <a:rPr lang="en-US" dirty="0">
                <a:latin typeface="Helvetica" charset="0"/>
                <a:ea typeface="MS PGothic" charset="0"/>
              </a:rPr>
              <a:t>If Site A does not receive a reply, it can repeat the message or try an alternate route to Site B</a:t>
            </a:r>
          </a:p>
        </p:txBody>
      </p:sp>
    </p:spTree>
    <p:extLst>
      <p:ext uri="{BB962C8B-B14F-4D97-AF65-F5344CB8AC3E}">
        <p14:creationId xmlns:p14="http://schemas.microsoft.com/office/powerpoint/2010/main" val="427735729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026"/>
          <p:cNvSpPr>
            <a:spLocks noGrp="1" noChangeArrowheads="1"/>
          </p:cNvSpPr>
          <p:nvPr>
            <p:ph type="title"/>
          </p:nvPr>
        </p:nvSpPr>
        <p:spPr>
          <a:xfrm>
            <a:off x="738188" y="150813"/>
            <a:ext cx="8229600" cy="576262"/>
          </a:xfrm>
        </p:spPr>
        <p:txBody>
          <a:bodyPr/>
          <a:lstStyle/>
          <a:p>
            <a:pPr eaLnBrk="1" hangingPunct="1"/>
            <a:r>
              <a:rPr lang="en-US">
                <a:latin typeface="Arial" charset="0"/>
                <a:ea typeface="MS PGothic" charset="0"/>
              </a:rPr>
              <a:t>Failure Detection (Cont.)</a:t>
            </a:r>
          </a:p>
        </p:txBody>
      </p:sp>
      <p:sp>
        <p:nvSpPr>
          <p:cNvPr id="33795" name="Rectangle 1027"/>
          <p:cNvSpPr>
            <a:spLocks noGrp="1" noChangeArrowheads="1"/>
          </p:cNvSpPr>
          <p:nvPr>
            <p:ph type="body" idx="1"/>
          </p:nvPr>
        </p:nvSpPr>
        <p:spPr>
          <a:xfrm>
            <a:off x="820738" y="1149350"/>
            <a:ext cx="6691312" cy="4530725"/>
          </a:xfrm>
        </p:spPr>
        <p:txBody>
          <a:bodyPr/>
          <a:lstStyle/>
          <a:p>
            <a:r>
              <a:rPr lang="en-US">
                <a:latin typeface="Helvetica" charset="0"/>
                <a:ea typeface="MS PGothic" charset="0"/>
              </a:rPr>
              <a:t>If Site A does not ultimately receive a reply from Site B, it concludes some type of failure has occurred</a:t>
            </a:r>
          </a:p>
          <a:p>
            <a:r>
              <a:rPr lang="en-US">
                <a:latin typeface="Helvetica" charset="0"/>
                <a:ea typeface="MS PGothic" charset="0"/>
              </a:rPr>
              <a:t>Types of failures:</a:t>
            </a:r>
            <a:br>
              <a:rPr lang="en-US">
                <a:latin typeface="Helvetica" charset="0"/>
                <a:ea typeface="MS PGothic" charset="0"/>
              </a:rPr>
            </a:br>
            <a:r>
              <a:rPr lang="en-US">
                <a:latin typeface="Helvetica" charset="0"/>
                <a:ea typeface="MS PGothic" charset="0"/>
              </a:rPr>
              <a:t>- Site B is down</a:t>
            </a:r>
            <a:br>
              <a:rPr lang="en-US">
                <a:latin typeface="Helvetica" charset="0"/>
                <a:ea typeface="MS PGothic" charset="0"/>
              </a:rPr>
            </a:br>
            <a:r>
              <a:rPr lang="en-US">
                <a:latin typeface="Helvetica" charset="0"/>
                <a:ea typeface="MS PGothic" charset="0"/>
              </a:rPr>
              <a:t>- The direct link between A and B is down</a:t>
            </a:r>
            <a:br>
              <a:rPr lang="en-US">
                <a:latin typeface="Helvetica" charset="0"/>
                <a:ea typeface="MS PGothic" charset="0"/>
              </a:rPr>
            </a:br>
            <a:r>
              <a:rPr lang="en-US">
                <a:latin typeface="Helvetica" charset="0"/>
                <a:ea typeface="MS PGothic" charset="0"/>
              </a:rPr>
              <a:t>- The alternate link from A to B is down</a:t>
            </a:r>
            <a:br>
              <a:rPr lang="en-US">
                <a:latin typeface="Helvetica" charset="0"/>
                <a:ea typeface="MS PGothic" charset="0"/>
              </a:rPr>
            </a:br>
            <a:r>
              <a:rPr lang="en-US">
                <a:latin typeface="Helvetica" charset="0"/>
                <a:ea typeface="MS PGothic" charset="0"/>
              </a:rPr>
              <a:t>- The message has been lost</a:t>
            </a:r>
          </a:p>
          <a:p>
            <a:r>
              <a:rPr lang="en-US">
                <a:latin typeface="Helvetica" charset="0"/>
                <a:ea typeface="MS PGothic" charset="0"/>
              </a:rPr>
              <a:t>However, Site A cannot determine exactly </a:t>
            </a:r>
            <a:r>
              <a:rPr lang="en-US" b="1">
                <a:latin typeface="Helvetica" charset="0"/>
                <a:ea typeface="MS PGothic" charset="0"/>
              </a:rPr>
              <a:t>why</a:t>
            </a:r>
            <a:r>
              <a:rPr lang="en-US">
                <a:latin typeface="Helvetica" charset="0"/>
                <a:ea typeface="MS PGothic" charset="0"/>
              </a:rPr>
              <a:t> the failure has occurred</a:t>
            </a:r>
          </a:p>
        </p:txBody>
      </p:sp>
    </p:spTree>
    <p:extLst>
      <p:ext uri="{BB962C8B-B14F-4D97-AF65-F5344CB8AC3E}">
        <p14:creationId xmlns:p14="http://schemas.microsoft.com/office/powerpoint/2010/main" val="249330328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836613" y="136525"/>
            <a:ext cx="7850187" cy="576263"/>
          </a:xfrm>
        </p:spPr>
        <p:txBody>
          <a:bodyPr/>
          <a:lstStyle/>
          <a:p>
            <a:pPr eaLnBrk="1" hangingPunct="1"/>
            <a:r>
              <a:rPr lang="en-US">
                <a:latin typeface="Arial" charset="0"/>
                <a:ea typeface="MS PGothic" charset="0"/>
              </a:rPr>
              <a:t>Reconfiguration</a:t>
            </a:r>
          </a:p>
        </p:txBody>
      </p:sp>
      <p:sp>
        <p:nvSpPr>
          <p:cNvPr id="34819" name="Rectangle 3"/>
          <p:cNvSpPr>
            <a:spLocks noGrp="1" noChangeArrowheads="1"/>
          </p:cNvSpPr>
          <p:nvPr>
            <p:ph type="body" idx="1"/>
          </p:nvPr>
        </p:nvSpPr>
        <p:spPr>
          <a:xfrm>
            <a:off x="806450" y="1233488"/>
            <a:ext cx="6610350" cy="4703762"/>
          </a:xfrm>
        </p:spPr>
        <p:txBody>
          <a:bodyPr/>
          <a:lstStyle/>
          <a:p>
            <a:r>
              <a:rPr lang="en-US">
                <a:latin typeface="Helvetica" charset="0"/>
                <a:ea typeface="MS PGothic" charset="0"/>
              </a:rPr>
              <a:t>When Site A determines a failure has occurred, it must reconfigure the system: </a:t>
            </a:r>
          </a:p>
          <a:p>
            <a:pPr lvl="1">
              <a:buFont typeface="Arial" charset="0"/>
              <a:buAutoNum type="arabicPeriod"/>
            </a:pPr>
            <a:r>
              <a:rPr lang="en-US">
                <a:latin typeface="Helvetica" charset="0"/>
                <a:ea typeface="MS PGothic" charset="0"/>
              </a:rPr>
              <a:t>If the link from A to B has failed, this must be  broadcast  to every site in the system</a:t>
            </a:r>
          </a:p>
          <a:p>
            <a:pPr lvl="1">
              <a:buFont typeface="Arial" charset="0"/>
              <a:buAutoNum type="arabicPeriod"/>
            </a:pPr>
            <a:r>
              <a:rPr lang="en-US">
                <a:latin typeface="Helvetica" charset="0"/>
                <a:ea typeface="MS PGothic" charset="0"/>
              </a:rPr>
              <a:t>If a site has failed, every other site must also be notified  indicating that the services offered by the failed site are no longer available</a:t>
            </a:r>
          </a:p>
          <a:p>
            <a:r>
              <a:rPr lang="en-US">
                <a:latin typeface="Helvetica" charset="0"/>
                <a:ea typeface="MS PGothic" charset="0"/>
              </a:rPr>
              <a:t>When the link or the site becomes available again, this information must again be broadcast to all other sites</a:t>
            </a:r>
          </a:p>
        </p:txBody>
      </p:sp>
    </p:spTree>
    <p:extLst>
      <p:ext uri="{BB962C8B-B14F-4D97-AF65-F5344CB8AC3E}">
        <p14:creationId xmlns:p14="http://schemas.microsoft.com/office/powerpoint/2010/main" val="88916540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457200" y="109538"/>
            <a:ext cx="8229600" cy="576262"/>
          </a:xfrm>
        </p:spPr>
        <p:txBody>
          <a:bodyPr/>
          <a:lstStyle/>
          <a:p>
            <a:pPr eaLnBrk="1" hangingPunct="1"/>
            <a:r>
              <a:rPr lang="en-US">
                <a:latin typeface="Arial" charset="0"/>
                <a:ea typeface="MS PGothic" charset="0"/>
              </a:rPr>
              <a:t>Design Issues</a:t>
            </a:r>
          </a:p>
        </p:txBody>
      </p:sp>
      <p:sp>
        <p:nvSpPr>
          <p:cNvPr id="35843" name="Rectangle 3"/>
          <p:cNvSpPr>
            <a:spLocks noGrp="1" noChangeArrowheads="1"/>
          </p:cNvSpPr>
          <p:nvPr>
            <p:ph type="body" idx="1"/>
          </p:nvPr>
        </p:nvSpPr>
        <p:spPr>
          <a:xfrm>
            <a:off x="228600" y="914400"/>
            <a:ext cx="8686800" cy="4530725"/>
          </a:xfrm>
        </p:spPr>
        <p:txBody>
          <a:bodyPr/>
          <a:lstStyle/>
          <a:p>
            <a:r>
              <a:rPr lang="en-US" b="1" dirty="0">
                <a:latin typeface="Helvetica" charset="0"/>
                <a:ea typeface="MS PGothic" charset="0"/>
              </a:rPr>
              <a:t>Transparency</a:t>
            </a:r>
            <a:r>
              <a:rPr lang="en-US" dirty="0">
                <a:latin typeface="Helvetica" charset="0"/>
                <a:ea typeface="MS PGothic" charset="0"/>
              </a:rPr>
              <a:t> – the distributed system should appear as a conventional, centralized system to the user</a:t>
            </a:r>
          </a:p>
          <a:p>
            <a:r>
              <a:rPr lang="en-US" b="1" dirty="0">
                <a:latin typeface="Helvetica" charset="0"/>
                <a:ea typeface="MS PGothic" charset="0"/>
              </a:rPr>
              <a:t>Fault tolerance</a:t>
            </a:r>
            <a:r>
              <a:rPr lang="en-US" dirty="0">
                <a:latin typeface="Helvetica" charset="0"/>
                <a:ea typeface="MS PGothic" charset="0"/>
              </a:rPr>
              <a:t> – the distributed system should continue to function in the face of failure</a:t>
            </a:r>
          </a:p>
          <a:p>
            <a:r>
              <a:rPr lang="en-US" b="1" dirty="0">
                <a:latin typeface="Helvetica" charset="0"/>
                <a:ea typeface="MS PGothic" charset="0"/>
              </a:rPr>
              <a:t>Scalability</a:t>
            </a:r>
            <a:r>
              <a:rPr lang="en-US" dirty="0">
                <a:latin typeface="Helvetica" charset="0"/>
                <a:ea typeface="MS PGothic" charset="0"/>
              </a:rPr>
              <a:t> – as demands increase, the system should easily accept the addition of new resources to accommodate the increased demand</a:t>
            </a:r>
          </a:p>
          <a:p>
            <a:pPr lvl="1"/>
            <a:r>
              <a:rPr lang="en-US" dirty="0">
                <a:latin typeface="Helvetica" charset="0"/>
                <a:ea typeface="MS PGothic" charset="0"/>
              </a:rPr>
              <a:t>Consider </a:t>
            </a:r>
            <a:r>
              <a:rPr lang="en-US" sz="1600" b="1" dirty="0" err="1">
                <a:solidFill>
                  <a:srgbClr val="3366FF"/>
                </a:solidFill>
                <a:latin typeface="Helvetica" charset="0"/>
                <a:ea typeface="MS PGothic" charset="0"/>
              </a:rPr>
              <a:t>Hadoop</a:t>
            </a:r>
            <a:r>
              <a:rPr lang="en-US" dirty="0">
                <a:latin typeface="Helvetica" charset="0"/>
                <a:ea typeface="MS PGothic" charset="0"/>
              </a:rPr>
              <a:t> open source programming framework for processing large datasets in distributed environments (based on Google search indexing)</a:t>
            </a:r>
          </a:p>
          <a:p>
            <a:r>
              <a:rPr lang="en-US" b="1" dirty="0">
                <a:latin typeface="Helvetica" charset="0"/>
                <a:ea typeface="MS PGothic" charset="0"/>
              </a:rPr>
              <a:t>Clusters</a:t>
            </a:r>
            <a:r>
              <a:rPr lang="en-US" dirty="0">
                <a:latin typeface="Helvetica" charset="0"/>
                <a:ea typeface="MS PGothic" charset="0"/>
              </a:rPr>
              <a:t> – a collection of semi-autonomous machines that acts as a single system</a:t>
            </a:r>
          </a:p>
        </p:txBody>
      </p:sp>
    </p:spTree>
    <p:extLst>
      <p:ext uri="{BB962C8B-B14F-4D97-AF65-F5344CB8AC3E}">
        <p14:creationId xmlns:p14="http://schemas.microsoft.com/office/powerpoint/2010/main" val="333287329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457200" y="136525"/>
            <a:ext cx="8229600" cy="576263"/>
          </a:xfrm>
        </p:spPr>
        <p:txBody>
          <a:bodyPr/>
          <a:lstStyle/>
          <a:p>
            <a:pPr eaLnBrk="1" hangingPunct="1"/>
            <a:r>
              <a:rPr lang="en-US">
                <a:latin typeface="Arial" charset="0"/>
                <a:ea typeface="MS PGothic" charset="0"/>
              </a:rPr>
              <a:t>Distributed File System</a:t>
            </a:r>
          </a:p>
        </p:txBody>
      </p:sp>
      <p:sp>
        <p:nvSpPr>
          <p:cNvPr id="36867" name="Rectangle 3"/>
          <p:cNvSpPr>
            <a:spLocks noGrp="1" noChangeArrowheads="1"/>
          </p:cNvSpPr>
          <p:nvPr>
            <p:ph type="body" idx="1"/>
          </p:nvPr>
        </p:nvSpPr>
        <p:spPr>
          <a:xfrm>
            <a:off x="152400" y="685800"/>
            <a:ext cx="8686800" cy="4483100"/>
          </a:xfrm>
        </p:spPr>
        <p:txBody>
          <a:bodyPr/>
          <a:lstStyle/>
          <a:p>
            <a:r>
              <a:rPr lang="en-US" b="1" dirty="0">
                <a:solidFill>
                  <a:srgbClr val="3366FF"/>
                </a:solidFill>
                <a:latin typeface="Helvetica" charset="0"/>
                <a:ea typeface="MS PGothic" charset="0"/>
              </a:rPr>
              <a:t>Distributed file system</a:t>
            </a:r>
            <a:r>
              <a:rPr lang="en-US" dirty="0">
                <a:latin typeface="Helvetica" charset="0"/>
                <a:ea typeface="MS PGothic" charset="0"/>
              </a:rPr>
              <a:t> (</a:t>
            </a:r>
            <a:r>
              <a:rPr lang="en-US" b="1" dirty="0">
                <a:solidFill>
                  <a:srgbClr val="3366FF"/>
                </a:solidFill>
                <a:latin typeface="Helvetica" charset="0"/>
                <a:ea typeface="MS PGothic" charset="0"/>
              </a:rPr>
              <a:t>DFS</a:t>
            </a:r>
            <a:r>
              <a:rPr lang="en-US" dirty="0">
                <a:latin typeface="Helvetica" charset="0"/>
                <a:ea typeface="MS PGothic" charset="0"/>
              </a:rPr>
              <a:t>) – a distributed implementation of the classical time-sharing model of a file system, where multiple users share files and storage resources</a:t>
            </a:r>
          </a:p>
          <a:p>
            <a:r>
              <a:rPr lang="en-US" dirty="0">
                <a:latin typeface="Helvetica" charset="0"/>
                <a:ea typeface="MS PGothic" charset="0"/>
              </a:rPr>
              <a:t>A DFS manages set of dispersed storage devices</a:t>
            </a:r>
          </a:p>
          <a:p>
            <a:r>
              <a:rPr lang="en-US" dirty="0">
                <a:latin typeface="Helvetica" charset="0"/>
                <a:ea typeface="MS PGothic" charset="0"/>
              </a:rPr>
              <a:t>Overall storage space managed by a DFS is composed of different, remotely located, smaller storage spaces</a:t>
            </a:r>
          </a:p>
          <a:p>
            <a:r>
              <a:rPr lang="en-US" dirty="0">
                <a:latin typeface="Helvetica" charset="0"/>
                <a:ea typeface="MS PGothic" charset="0"/>
              </a:rPr>
              <a:t>There is usually a correspondence between constituent storage spaces and sets of files </a:t>
            </a:r>
          </a:p>
          <a:p>
            <a:r>
              <a:rPr lang="en-US" dirty="0">
                <a:latin typeface="Helvetica" charset="0"/>
                <a:ea typeface="MS PGothic" charset="0"/>
              </a:rPr>
              <a:t>Challenges include:</a:t>
            </a:r>
          </a:p>
          <a:p>
            <a:pPr lvl="1"/>
            <a:r>
              <a:rPr lang="en-US" dirty="0">
                <a:latin typeface="Helvetica" charset="0"/>
                <a:ea typeface="MS PGothic" charset="0"/>
              </a:rPr>
              <a:t>Naming and Transparency</a:t>
            </a:r>
          </a:p>
          <a:p>
            <a:pPr lvl="1"/>
            <a:r>
              <a:rPr lang="en-US" dirty="0">
                <a:latin typeface="Helvetica" charset="0"/>
                <a:ea typeface="MS PGothic" charset="0"/>
              </a:rPr>
              <a:t>Remote File Access </a:t>
            </a:r>
          </a:p>
          <a:p>
            <a:endParaRPr lang="en-US" dirty="0">
              <a:latin typeface="Helvetica" charset="0"/>
              <a:ea typeface="MS PGothic" charset="0"/>
            </a:endParaRPr>
          </a:p>
          <a:p>
            <a:pPr>
              <a:buFont typeface="Monotype Sorts" charset="0"/>
              <a:buNone/>
            </a:pPr>
            <a:endParaRPr lang="en-US" dirty="0">
              <a:latin typeface="Helvetica" charset="0"/>
              <a:ea typeface="MS PGothic" charset="0"/>
            </a:endParaRPr>
          </a:p>
        </p:txBody>
      </p:sp>
    </p:spTree>
    <p:extLst>
      <p:ext uri="{BB962C8B-B14F-4D97-AF65-F5344CB8AC3E}">
        <p14:creationId xmlns:p14="http://schemas.microsoft.com/office/powerpoint/2010/main" val="407490933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457200" y="109538"/>
            <a:ext cx="8229600" cy="576262"/>
          </a:xfrm>
        </p:spPr>
        <p:txBody>
          <a:bodyPr/>
          <a:lstStyle/>
          <a:p>
            <a:pPr eaLnBrk="1" hangingPunct="1"/>
            <a:r>
              <a:rPr lang="en-US">
                <a:latin typeface="Arial" charset="0"/>
                <a:ea typeface="MS PGothic" charset="0"/>
              </a:rPr>
              <a:t>DFS Structure</a:t>
            </a:r>
          </a:p>
        </p:txBody>
      </p:sp>
      <p:sp>
        <p:nvSpPr>
          <p:cNvPr id="37891" name="Rectangle 3"/>
          <p:cNvSpPr>
            <a:spLocks noGrp="1" noChangeArrowheads="1"/>
          </p:cNvSpPr>
          <p:nvPr>
            <p:ph type="body" idx="1"/>
          </p:nvPr>
        </p:nvSpPr>
        <p:spPr>
          <a:xfrm>
            <a:off x="152400" y="457200"/>
            <a:ext cx="8686799" cy="5011738"/>
          </a:xfrm>
        </p:spPr>
        <p:txBody>
          <a:bodyPr/>
          <a:lstStyle/>
          <a:p>
            <a:r>
              <a:rPr lang="en-US" b="1" dirty="0">
                <a:solidFill>
                  <a:srgbClr val="3366FF"/>
                </a:solidFill>
                <a:latin typeface="Helvetica" charset="0"/>
                <a:ea typeface="MS PGothic" charset="0"/>
              </a:rPr>
              <a:t>Service</a:t>
            </a:r>
            <a:r>
              <a:rPr lang="en-US" dirty="0">
                <a:latin typeface="Helvetica" charset="0"/>
                <a:ea typeface="MS PGothic" charset="0"/>
              </a:rPr>
              <a:t> – software entity running on one or more machines and providing a particular type of function to a priori unknown clients</a:t>
            </a:r>
          </a:p>
          <a:p>
            <a:r>
              <a:rPr lang="en-US" b="1" dirty="0">
                <a:solidFill>
                  <a:srgbClr val="3366FF"/>
                </a:solidFill>
                <a:latin typeface="Helvetica" charset="0"/>
                <a:ea typeface="MS PGothic" charset="0"/>
              </a:rPr>
              <a:t>Server</a:t>
            </a:r>
            <a:r>
              <a:rPr lang="en-US" dirty="0">
                <a:latin typeface="Helvetica" charset="0"/>
                <a:ea typeface="MS PGothic" charset="0"/>
              </a:rPr>
              <a:t> – service software running on a single machine</a:t>
            </a:r>
          </a:p>
          <a:p>
            <a:r>
              <a:rPr lang="en-US" b="1" dirty="0">
                <a:solidFill>
                  <a:srgbClr val="3366FF"/>
                </a:solidFill>
                <a:latin typeface="Helvetica" charset="0"/>
                <a:ea typeface="MS PGothic" charset="0"/>
              </a:rPr>
              <a:t>Client</a:t>
            </a:r>
            <a:r>
              <a:rPr lang="en-US" dirty="0">
                <a:latin typeface="Helvetica" charset="0"/>
                <a:ea typeface="MS PGothic" charset="0"/>
              </a:rPr>
              <a:t> –  process that can invoke a service using a set of operations that forms its client interface</a:t>
            </a:r>
            <a:endParaRPr lang="en-US" i="1" dirty="0">
              <a:latin typeface="Helvetica" charset="0"/>
              <a:ea typeface="MS PGothic" charset="0"/>
            </a:endParaRPr>
          </a:p>
          <a:p>
            <a:r>
              <a:rPr lang="en-US" dirty="0">
                <a:latin typeface="Helvetica" charset="0"/>
                <a:ea typeface="MS PGothic" charset="0"/>
              </a:rPr>
              <a:t>A client interface for a file service is formed by a set of primitive file operations (create, delete, read, write)</a:t>
            </a:r>
          </a:p>
          <a:p>
            <a:r>
              <a:rPr lang="en-US" dirty="0">
                <a:latin typeface="Helvetica" charset="0"/>
                <a:ea typeface="MS PGothic" charset="0"/>
              </a:rPr>
              <a:t>Client interface of a DFS should be transparent, i.e., not distinguish between local and remote files </a:t>
            </a:r>
          </a:p>
          <a:p>
            <a:r>
              <a:rPr lang="en-US" dirty="0">
                <a:latin typeface="Helvetica" charset="0"/>
                <a:ea typeface="MS PGothic" charset="0"/>
              </a:rPr>
              <a:t>Sometimes lower level </a:t>
            </a:r>
            <a:r>
              <a:rPr lang="en-US" b="1" dirty="0" err="1">
                <a:solidFill>
                  <a:srgbClr val="3366FF"/>
                </a:solidFill>
                <a:latin typeface="Helvetica" charset="0"/>
                <a:ea typeface="MS PGothic" charset="0"/>
              </a:rPr>
              <a:t>intermachine</a:t>
            </a:r>
            <a:r>
              <a:rPr lang="en-US" dirty="0">
                <a:latin typeface="Helvetica" charset="0"/>
                <a:ea typeface="MS PGothic" charset="0"/>
              </a:rPr>
              <a:t> interface need for cross-machine interaction</a:t>
            </a:r>
          </a:p>
        </p:txBody>
      </p:sp>
    </p:spTree>
    <p:extLst>
      <p:ext uri="{BB962C8B-B14F-4D97-AF65-F5344CB8AC3E}">
        <p14:creationId xmlns:p14="http://schemas.microsoft.com/office/powerpoint/2010/main" val="83591755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884238" y="150813"/>
            <a:ext cx="7802562" cy="576262"/>
          </a:xfrm>
        </p:spPr>
        <p:txBody>
          <a:bodyPr/>
          <a:lstStyle/>
          <a:p>
            <a:pPr eaLnBrk="1" hangingPunct="1"/>
            <a:r>
              <a:rPr lang="en-US">
                <a:latin typeface="Arial" charset="0"/>
                <a:ea typeface="MS PGothic" charset="0"/>
              </a:rPr>
              <a:t>Naming and Transparency</a:t>
            </a:r>
          </a:p>
        </p:txBody>
      </p:sp>
      <p:sp>
        <p:nvSpPr>
          <p:cNvPr id="38915" name="Rectangle 3"/>
          <p:cNvSpPr>
            <a:spLocks noGrp="1" noChangeArrowheads="1"/>
          </p:cNvSpPr>
          <p:nvPr>
            <p:ph type="body" idx="1"/>
          </p:nvPr>
        </p:nvSpPr>
        <p:spPr>
          <a:xfrm>
            <a:off x="663575" y="1066800"/>
            <a:ext cx="7261225" cy="4483100"/>
          </a:xfrm>
        </p:spPr>
        <p:txBody>
          <a:bodyPr/>
          <a:lstStyle/>
          <a:p>
            <a:r>
              <a:rPr lang="en-US" b="1" dirty="0">
                <a:solidFill>
                  <a:srgbClr val="3366FF"/>
                </a:solidFill>
                <a:latin typeface="Helvetica" charset="0"/>
                <a:ea typeface="MS PGothic" charset="0"/>
              </a:rPr>
              <a:t>Naming</a:t>
            </a:r>
            <a:r>
              <a:rPr lang="en-US" dirty="0">
                <a:latin typeface="Helvetica" charset="0"/>
                <a:ea typeface="MS PGothic" charset="0"/>
              </a:rPr>
              <a:t> – mapping between logical and physical objects</a:t>
            </a:r>
          </a:p>
          <a:p>
            <a:r>
              <a:rPr lang="en-US" b="1" dirty="0">
                <a:solidFill>
                  <a:srgbClr val="3366FF"/>
                </a:solidFill>
                <a:latin typeface="Helvetica" charset="0"/>
                <a:ea typeface="MS PGothic" charset="0"/>
              </a:rPr>
              <a:t>Multilevel mapping</a:t>
            </a:r>
            <a:r>
              <a:rPr lang="en-US" dirty="0">
                <a:solidFill>
                  <a:srgbClr val="3366FF"/>
                </a:solidFill>
                <a:latin typeface="Helvetica" charset="0"/>
                <a:ea typeface="MS PGothic" charset="0"/>
              </a:rPr>
              <a:t> </a:t>
            </a:r>
            <a:r>
              <a:rPr lang="en-US" dirty="0">
                <a:latin typeface="Helvetica" charset="0"/>
                <a:ea typeface="MS PGothic" charset="0"/>
              </a:rPr>
              <a:t>– abstraction of a file that hides the details of how and where on the disk the file is actually stored</a:t>
            </a:r>
          </a:p>
          <a:p>
            <a:r>
              <a:rPr lang="en-US" dirty="0">
                <a:latin typeface="Helvetica" charset="0"/>
                <a:ea typeface="MS PGothic" charset="0"/>
              </a:rPr>
              <a:t>A </a:t>
            </a:r>
            <a:r>
              <a:rPr lang="en-US" b="1" dirty="0">
                <a:solidFill>
                  <a:srgbClr val="3366FF"/>
                </a:solidFill>
                <a:latin typeface="Helvetica" charset="0"/>
                <a:ea typeface="MS PGothic" charset="0"/>
              </a:rPr>
              <a:t>transparent</a:t>
            </a:r>
            <a:r>
              <a:rPr lang="en-US" dirty="0">
                <a:latin typeface="Helvetica" charset="0"/>
                <a:ea typeface="MS PGothic" charset="0"/>
              </a:rPr>
              <a:t> DFS hides the location where in the network the file is stored</a:t>
            </a:r>
          </a:p>
          <a:p>
            <a:r>
              <a:rPr lang="en-US" dirty="0">
                <a:latin typeface="Helvetica" charset="0"/>
                <a:ea typeface="MS PGothic" charset="0"/>
              </a:rPr>
              <a:t>For a file being </a:t>
            </a:r>
            <a:r>
              <a:rPr lang="en-US" b="1" dirty="0">
                <a:solidFill>
                  <a:srgbClr val="3366FF"/>
                </a:solidFill>
                <a:latin typeface="Helvetica" charset="0"/>
                <a:ea typeface="MS PGothic" charset="0"/>
              </a:rPr>
              <a:t>replicated</a:t>
            </a:r>
            <a:r>
              <a:rPr lang="en-US" dirty="0">
                <a:latin typeface="Helvetica" charset="0"/>
                <a:ea typeface="MS PGothic" charset="0"/>
              </a:rPr>
              <a:t> in several sites, the mapping returns a set of the locations of this file’</a:t>
            </a:r>
            <a:r>
              <a:rPr lang="en-US" altLang="ja-JP" dirty="0">
                <a:latin typeface="Helvetica" charset="0"/>
                <a:ea typeface="MS PGothic" charset="0"/>
              </a:rPr>
              <a:t>s replicas; both the existence of multiple copies and their location are hidden</a:t>
            </a:r>
            <a:endParaRPr lang="en-US" dirty="0">
              <a:latin typeface="Helvetica" charset="0"/>
              <a:ea typeface="MS PGothic" charset="0"/>
            </a:endParaRPr>
          </a:p>
        </p:txBody>
      </p:sp>
    </p:spTree>
    <p:extLst>
      <p:ext uri="{BB962C8B-B14F-4D97-AF65-F5344CB8AC3E}">
        <p14:creationId xmlns:p14="http://schemas.microsoft.com/office/powerpoint/2010/main" val="69461161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57200" y="165100"/>
            <a:ext cx="8229600" cy="576263"/>
          </a:xfrm>
        </p:spPr>
        <p:txBody>
          <a:bodyPr/>
          <a:lstStyle/>
          <a:p>
            <a:pPr eaLnBrk="1" hangingPunct="1"/>
            <a:r>
              <a:rPr lang="en-US">
                <a:latin typeface="Arial" charset="0"/>
                <a:ea typeface="MS PGothic" charset="0"/>
              </a:rPr>
              <a:t>Naming Structures </a:t>
            </a:r>
          </a:p>
        </p:txBody>
      </p:sp>
      <p:sp>
        <p:nvSpPr>
          <p:cNvPr id="39939" name="Rectangle 3"/>
          <p:cNvSpPr>
            <a:spLocks noGrp="1" noChangeArrowheads="1"/>
          </p:cNvSpPr>
          <p:nvPr>
            <p:ph type="body" idx="1"/>
          </p:nvPr>
        </p:nvSpPr>
        <p:spPr>
          <a:xfrm>
            <a:off x="819150" y="1246188"/>
            <a:ext cx="6426200" cy="4467225"/>
          </a:xfrm>
        </p:spPr>
        <p:txBody>
          <a:bodyPr/>
          <a:lstStyle/>
          <a:p>
            <a:r>
              <a:rPr lang="en-US" b="1">
                <a:solidFill>
                  <a:srgbClr val="3366FF"/>
                </a:solidFill>
                <a:latin typeface="Helvetica" charset="0"/>
                <a:ea typeface="MS PGothic" charset="0"/>
              </a:rPr>
              <a:t>Location transparency</a:t>
            </a:r>
            <a:r>
              <a:rPr lang="en-US">
                <a:solidFill>
                  <a:srgbClr val="3366FF"/>
                </a:solidFill>
                <a:latin typeface="Helvetica" charset="0"/>
                <a:ea typeface="MS PGothic" charset="0"/>
              </a:rPr>
              <a:t> </a:t>
            </a:r>
            <a:r>
              <a:rPr lang="en-US">
                <a:latin typeface="Helvetica" charset="0"/>
                <a:ea typeface="MS PGothic" charset="0"/>
              </a:rPr>
              <a:t>–  file name does not reveal the file</a:t>
            </a:r>
            <a:r>
              <a:rPr lang="ja-JP" altLang="en-US">
                <a:latin typeface="Helvetica" charset="0"/>
                <a:ea typeface="MS PGothic" charset="0"/>
              </a:rPr>
              <a:t>’</a:t>
            </a:r>
            <a:r>
              <a:rPr lang="en-US" altLang="ja-JP">
                <a:latin typeface="Helvetica" charset="0"/>
                <a:ea typeface="MS PGothic" charset="0"/>
              </a:rPr>
              <a:t>s physical storage location</a:t>
            </a:r>
            <a:endParaRPr lang="en-US">
              <a:latin typeface="Helvetica" charset="0"/>
              <a:ea typeface="MS PGothic" charset="0"/>
            </a:endParaRPr>
          </a:p>
          <a:p>
            <a:r>
              <a:rPr lang="en-US" b="1">
                <a:solidFill>
                  <a:srgbClr val="3366FF"/>
                </a:solidFill>
                <a:latin typeface="Helvetica" charset="0"/>
                <a:ea typeface="MS PGothic" charset="0"/>
              </a:rPr>
              <a:t>Location independence</a:t>
            </a:r>
            <a:r>
              <a:rPr lang="en-US">
                <a:solidFill>
                  <a:srgbClr val="3366FF"/>
                </a:solidFill>
                <a:latin typeface="Helvetica" charset="0"/>
                <a:ea typeface="MS PGothic" charset="0"/>
              </a:rPr>
              <a:t> </a:t>
            </a:r>
            <a:r>
              <a:rPr lang="en-US">
                <a:latin typeface="Helvetica" charset="0"/>
                <a:ea typeface="MS PGothic" charset="0"/>
              </a:rPr>
              <a:t>– file name does not need to be changed when the file</a:t>
            </a:r>
            <a:r>
              <a:rPr lang="ja-JP" altLang="en-US">
                <a:latin typeface="Helvetica" charset="0"/>
                <a:ea typeface="MS PGothic" charset="0"/>
              </a:rPr>
              <a:t>’</a:t>
            </a:r>
            <a:r>
              <a:rPr lang="en-US" altLang="ja-JP">
                <a:latin typeface="Helvetica" charset="0"/>
                <a:ea typeface="MS PGothic" charset="0"/>
              </a:rPr>
              <a:t>s physical storage location changes </a:t>
            </a:r>
            <a:endParaRPr lang="en-US">
              <a:latin typeface="Helvetica" charset="0"/>
              <a:ea typeface="MS PGothic" charset="0"/>
            </a:endParaRPr>
          </a:p>
        </p:txBody>
      </p:sp>
    </p:spTree>
    <p:extLst>
      <p:ext uri="{BB962C8B-B14F-4D97-AF65-F5344CB8AC3E}">
        <p14:creationId xmlns:p14="http://schemas.microsoft.com/office/powerpoint/2010/main" val="196660561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123950" y="247650"/>
            <a:ext cx="8167688" cy="457200"/>
          </a:xfrm>
        </p:spPr>
        <p:txBody>
          <a:bodyPr/>
          <a:lstStyle/>
          <a:p>
            <a:pPr eaLnBrk="1" hangingPunct="1"/>
            <a:r>
              <a:rPr lang="en-US" sz="2800">
                <a:latin typeface="Arial" charset="0"/>
                <a:ea typeface="MS PGothic" charset="0"/>
              </a:rPr>
              <a:t>Naming Schemes — Three Main Approaches </a:t>
            </a:r>
          </a:p>
        </p:txBody>
      </p:sp>
      <p:sp>
        <p:nvSpPr>
          <p:cNvPr id="40963" name="Rectangle 3"/>
          <p:cNvSpPr>
            <a:spLocks noGrp="1" noChangeArrowheads="1"/>
          </p:cNvSpPr>
          <p:nvPr>
            <p:ph type="body" idx="1"/>
          </p:nvPr>
        </p:nvSpPr>
        <p:spPr>
          <a:xfrm>
            <a:off x="228600" y="685800"/>
            <a:ext cx="8839200" cy="4483100"/>
          </a:xfrm>
        </p:spPr>
        <p:txBody>
          <a:bodyPr/>
          <a:lstStyle/>
          <a:p>
            <a:r>
              <a:rPr lang="en-US" sz="2400" dirty="0">
                <a:latin typeface="Helvetica" charset="0"/>
                <a:ea typeface="MS PGothic" charset="0"/>
              </a:rPr>
              <a:t>Files named by combination of their host name and local name; guarantees a unique system-wide name</a:t>
            </a:r>
          </a:p>
          <a:p>
            <a:r>
              <a:rPr lang="en-US" sz="2400" dirty="0">
                <a:latin typeface="Helvetica" charset="0"/>
                <a:ea typeface="MS PGothic" charset="0"/>
              </a:rPr>
              <a:t>Attach remote directories to local directories, giving the appearance of a coherent directory tree; only previously mounted remote directories can be accessed transparently</a:t>
            </a:r>
          </a:p>
          <a:p>
            <a:r>
              <a:rPr lang="en-US" sz="2400" dirty="0">
                <a:latin typeface="Helvetica" charset="0"/>
                <a:ea typeface="MS PGothic" charset="0"/>
              </a:rPr>
              <a:t>Total integration of the component file systems</a:t>
            </a:r>
          </a:p>
          <a:p>
            <a:pPr lvl="1"/>
            <a:r>
              <a:rPr lang="en-US" dirty="0">
                <a:latin typeface="Helvetica" charset="0"/>
                <a:ea typeface="MS PGothic" charset="0"/>
              </a:rPr>
              <a:t>A single global name structure spans all the files in the system</a:t>
            </a:r>
          </a:p>
          <a:p>
            <a:pPr lvl="1"/>
            <a:r>
              <a:rPr lang="en-US" dirty="0">
                <a:latin typeface="Helvetica" charset="0"/>
                <a:ea typeface="MS PGothic" charset="0"/>
              </a:rPr>
              <a:t>If a server is unavailable, some arbitrary set of directories on different machines also becomes unavailable </a:t>
            </a:r>
          </a:p>
          <a:p>
            <a:r>
              <a:rPr lang="en-US" sz="2400" dirty="0">
                <a:latin typeface="Helvetica" charset="0"/>
                <a:ea typeface="MS PGothic" charset="0"/>
              </a:rPr>
              <a:t>In practice most DFSs use static, location-transparent mapping for user-level names</a:t>
            </a:r>
          </a:p>
          <a:p>
            <a:pPr lvl="1"/>
            <a:r>
              <a:rPr lang="en-US" dirty="0">
                <a:latin typeface="Helvetica" charset="0"/>
                <a:ea typeface="MS PGothic" charset="0"/>
              </a:rPr>
              <a:t>Some support file migration</a:t>
            </a:r>
          </a:p>
          <a:p>
            <a:pPr lvl="1"/>
            <a:r>
              <a:rPr lang="en-US" dirty="0" err="1">
                <a:latin typeface="Helvetica" charset="0"/>
                <a:ea typeface="MS PGothic" charset="0"/>
              </a:rPr>
              <a:t>Hadoop</a:t>
            </a:r>
            <a:r>
              <a:rPr lang="en-US" dirty="0">
                <a:latin typeface="Helvetica" charset="0"/>
                <a:ea typeface="MS PGothic" charset="0"/>
              </a:rPr>
              <a:t> supports file migration but without following POSIX standards </a:t>
            </a:r>
          </a:p>
        </p:txBody>
      </p:sp>
    </p:spTree>
    <p:extLst>
      <p:ext uri="{BB962C8B-B14F-4D97-AF65-F5344CB8AC3E}">
        <p14:creationId xmlns:p14="http://schemas.microsoft.com/office/powerpoint/2010/main" val="195723887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787400" y="179388"/>
            <a:ext cx="7899400" cy="576262"/>
          </a:xfrm>
        </p:spPr>
        <p:txBody>
          <a:bodyPr/>
          <a:lstStyle/>
          <a:p>
            <a:pPr eaLnBrk="1" hangingPunct="1"/>
            <a:r>
              <a:rPr lang="en-US">
                <a:latin typeface="Arial" charset="0"/>
                <a:ea typeface="MS PGothic" charset="0"/>
              </a:rPr>
              <a:t>Remote File Access </a:t>
            </a:r>
          </a:p>
        </p:txBody>
      </p:sp>
      <p:sp>
        <p:nvSpPr>
          <p:cNvPr id="41987" name="Rectangle 3"/>
          <p:cNvSpPr>
            <a:spLocks noGrp="1" noChangeArrowheads="1"/>
          </p:cNvSpPr>
          <p:nvPr>
            <p:ph type="body" idx="1"/>
          </p:nvPr>
        </p:nvSpPr>
        <p:spPr>
          <a:xfrm>
            <a:off x="152400" y="563563"/>
            <a:ext cx="8839200" cy="4846637"/>
          </a:xfrm>
        </p:spPr>
        <p:txBody>
          <a:bodyPr/>
          <a:lstStyle/>
          <a:p>
            <a:r>
              <a:rPr lang="en-US" b="1" dirty="0">
                <a:solidFill>
                  <a:srgbClr val="3366FF"/>
                </a:solidFill>
                <a:latin typeface="Helvetica" charset="0"/>
                <a:ea typeface="MS PGothic" charset="0"/>
              </a:rPr>
              <a:t>Remote-service mechanism</a:t>
            </a:r>
            <a:r>
              <a:rPr lang="en-US" dirty="0">
                <a:solidFill>
                  <a:srgbClr val="3366FF"/>
                </a:solidFill>
                <a:latin typeface="Helvetica" charset="0"/>
                <a:ea typeface="MS PGothic" charset="0"/>
              </a:rPr>
              <a:t> </a:t>
            </a:r>
            <a:r>
              <a:rPr lang="en-US" dirty="0">
                <a:latin typeface="Helvetica" charset="0"/>
                <a:ea typeface="MS PGothic" charset="0"/>
              </a:rPr>
              <a:t>is one transfer approach</a:t>
            </a:r>
          </a:p>
          <a:p>
            <a:r>
              <a:rPr lang="en-US" dirty="0">
                <a:latin typeface="Helvetica" charset="0"/>
                <a:ea typeface="MS PGothic" charset="0"/>
              </a:rPr>
              <a:t>Reduce network traffic by retaining recently accessed disk blocks in a cache, so that repeated accesses to the same information can be handled locally</a:t>
            </a:r>
          </a:p>
          <a:p>
            <a:pPr lvl="1"/>
            <a:r>
              <a:rPr lang="en-US" dirty="0">
                <a:latin typeface="Helvetica" charset="0"/>
                <a:ea typeface="MS PGothic" charset="0"/>
              </a:rPr>
              <a:t>If needed data not already cached, a copy of data is brought from the server to the user</a:t>
            </a:r>
          </a:p>
          <a:p>
            <a:pPr lvl="1"/>
            <a:r>
              <a:rPr lang="en-US" dirty="0">
                <a:latin typeface="Helvetica" charset="0"/>
                <a:ea typeface="MS PGothic" charset="0"/>
              </a:rPr>
              <a:t>Accesses are performed on the cached copy</a:t>
            </a:r>
          </a:p>
          <a:p>
            <a:pPr lvl="1"/>
            <a:r>
              <a:rPr lang="en-US" dirty="0">
                <a:latin typeface="Helvetica" charset="0"/>
                <a:ea typeface="MS PGothic" charset="0"/>
              </a:rPr>
              <a:t>Files identified with one master copy residing at the server machine, but copies of (parts of) the file are scattered in different caches</a:t>
            </a:r>
          </a:p>
          <a:p>
            <a:pPr lvl="1"/>
            <a:r>
              <a:rPr lang="en-US" b="1" dirty="0">
                <a:solidFill>
                  <a:srgbClr val="3366FF"/>
                </a:solidFill>
                <a:latin typeface="Helvetica" charset="0"/>
                <a:ea typeface="MS PGothic" charset="0"/>
              </a:rPr>
              <a:t>Cache-consistency problem</a:t>
            </a:r>
            <a:r>
              <a:rPr lang="en-US" dirty="0">
                <a:solidFill>
                  <a:srgbClr val="3366FF"/>
                </a:solidFill>
                <a:latin typeface="Helvetica" charset="0"/>
                <a:ea typeface="MS PGothic" charset="0"/>
              </a:rPr>
              <a:t> </a:t>
            </a:r>
            <a:r>
              <a:rPr lang="en-US" dirty="0">
                <a:latin typeface="Helvetica" charset="0"/>
                <a:ea typeface="MS PGothic" charset="0"/>
              </a:rPr>
              <a:t>– keeping the cached copies consistent with the master file</a:t>
            </a:r>
          </a:p>
          <a:p>
            <a:pPr lvl="2"/>
            <a:r>
              <a:rPr lang="en-US" dirty="0">
                <a:latin typeface="Helvetica" charset="0"/>
                <a:ea typeface="MS PGothic" charset="0"/>
              </a:rPr>
              <a:t>Could be called </a:t>
            </a:r>
            <a:r>
              <a:rPr lang="en-US" b="1" dirty="0">
                <a:solidFill>
                  <a:srgbClr val="3366FF"/>
                </a:solidFill>
                <a:latin typeface="Helvetica" charset="0"/>
                <a:ea typeface="MS PGothic" charset="0"/>
              </a:rPr>
              <a:t>network virtual memory</a:t>
            </a:r>
          </a:p>
        </p:txBody>
      </p:sp>
    </p:spTree>
    <p:extLst>
      <p:ext uri="{BB962C8B-B14F-4D97-AF65-F5344CB8AC3E}">
        <p14:creationId xmlns:p14="http://schemas.microsoft.com/office/powerpoint/2010/main" val="139006241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100138" y="123825"/>
            <a:ext cx="7958137" cy="571500"/>
          </a:xfrm>
        </p:spPr>
        <p:txBody>
          <a:bodyPr/>
          <a:lstStyle/>
          <a:p>
            <a:pPr eaLnBrk="1" hangingPunct="1"/>
            <a:r>
              <a:rPr lang="en-US" sz="2800">
                <a:latin typeface="Arial" charset="0"/>
                <a:ea typeface="MS PGothic" charset="0"/>
              </a:rPr>
              <a:t>Cache Location – Disk vs. Main Memory</a:t>
            </a:r>
          </a:p>
        </p:txBody>
      </p:sp>
      <p:sp>
        <p:nvSpPr>
          <p:cNvPr id="43011" name="Rectangle 3"/>
          <p:cNvSpPr>
            <a:spLocks noGrp="1" noChangeArrowheads="1"/>
          </p:cNvSpPr>
          <p:nvPr>
            <p:ph type="body" idx="1"/>
          </p:nvPr>
        </p:nvSpPr>
        <p:spPr>
          <a:xfrm>
            <a:off x="381001" y="1135063"/>
            <a:ext cx="7188200" cy="4483100"/>
          </a:xfrm>
        </p:spPr>
        <p:txBody>
          <a:bodyPr/>
          <a:lstStyle/>
          <a:p>
            <a:r>
              <a:rPr lang="en-US" dirty="0">
                <a:latin typeface="Helvetica" charset="0"/>
                <a:ea typeface="MS PGothic" charset="0"/>
              </a:rPr>
              <a:t>Advantages of disk caches</a:t>
            </a:r>
          </a:p>
          <a:p>
            <a:pPr lvl="1"/>
            <a:r>
              <a:rPr lang="en-US" dirty="0">
                <a:latin typeface="Helvetica" charset="0"/>
                <a:ea typeface="MS PGothic" charset="0"/>
              </a:rPr>
              <a:t>More reliable</a:t>
            </a:r>
          </a:p>
          <a:p>
            <a:pPr lvl="1"/>
            <a:r>
              <a:rPr lang="en-US" dirty="0">
                <a:latin typeface="Helvetica" charset="0"/>
                <a:ea typeface="MS PGothic" charset="0"/>
              </a:rPr>
              <a:t>Cached data kept on disk are still there during recovery and don</a:t>
            </a:r>
            <a:r>
              <a:rPr lang="ja-JP" altLang="en-US" dirty="0">
                <a:latin typeface="Helvetica" charset="0"/>
                <a:ea typeface="MS PGothic" charset="0"/>
              </a:rPr>
              <a:t>’</a:t>
            </a:r>
            <a:r>
              <a:rPr lang="en-US" altLang="ja-JP" dirty="0">
                <a:latin typeface="Helvetica" charset="0"/>
                <a:ea typeface="MS PGothic" charset="0"/>
              </a:rPr>
              <a:t>t need to be fetched again</a:t>
            </a:r>
          </a:p>
          <a:p>
            <a:r>
              <a:rPr lang="en-US" dirty="0">
                <a:latin typeface="Helvetica" charset="0"/>
                <a:ea typeface="MS PGothic" charset="0"/>
              </a:rPr>
              <a:t>Advantages of main-memory caches:</a:t>
            </a:r>
          </a:p>
          <a:p>
            <a:pPr lvl="1"/>
            <a:r>
              <a:rPr lang="en-US" dirty="0">
                <a:latin typeface="Helvetica" charset="0"/>
                <a:ea typeface="MS PGothic" charset="0"/>
              </a:rPr>
              <a:t>Permit workstations to be diskless</a:t>
            </a:r>
          </a:p>
          <a:p>
            <a:pPr lvl="1"/>
            <a:r>
              <a:rPr lang="en-US" dirty="0">
                <a:latin typeface="Helvetica" charset="0"/>
                <a:ea typeface="MS PGothic" charset="0"/>
              </a:rPr>
              <a:t>Data can be accessed more quickly</a:t>
            </a:r>
          </a:p>
          <a:p>
            <a:pPr lvl="1"/>
            <a:r>
              <a:rPr lang="en-US" dirty="0">
                <a:latin typeface="Helvetica" charset="0"/>
                <a:ea typeface="MS PGothic" charset="0"/>
              </a:rPr>
              <a:t>Performance speedup in bigger memories</a:t>
            </a:r>
          </a:p>
          <a:p>
            <a:pPr lvl="1"/>
            <a:r>
              <a:rPr lang="en-US" dirty="0">
                <a:latin typeface="Helvetica" charset="0"/>
                <a:ea typeface="MS PGothic" charset="0"/>
              </a:rPr>
              <a:t>Server caches (used to speed up disk I/O) are in main memory regardless of where user caches are located; using main-memory caches on the user machine permits a single caching mechanism for servers and users </a:t>
            </a:r>
          </a:p>
        </p:txBody>
      </p:sp>
    </p:spTree>
    <p:extLst>
      <p:ext uri="{BB962C8B-B14F-4D97-AF65-F5344CB8AC3E}">
        <p14:creationId xmlns:p14="http://schemas.microsoft.com/office/powerpoint/2010/main" val="267857442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612775" y="136525"/>
            <a:ext cx="8074025" cy="576263"/>
          </a:xfrm>
        </p:spPr>
        <p:txBody>
          <a:bodyPr/>
          <a:lstStyle/>
          <a:p>
            <a:pPr eaLnBrk="1" hangingPunct="1"/>
            <a:r>
              <a:rPr lang="en-US">
                <a:latin typeface="Arial" charset="0"/>
                <a:ea typeface="MS PGothic" charset="0"/>
              </a:rPr>
              <a:t>Cache Update Policy</a:t>
            </a:r>
          </a:p>
        </p:txBody>
      </p:sp>
      <p:sp>
        <p:nvSpPr>
          <p:cNvPr id="44035" name="Rectangle 3"/>
          <p:cNvSpPr>
            <a:spLocks noGrp="1" noChangeArrowheads="1"/>
          </p:cNvSpPr>
          <p:nvPr>
            <p:ph type="body" idx="1"/>
          </p:nvPr>
        </p:nvSpPr>
        <p:spPr>
          <a:xfrm>
            <a:off x="832304" y="838200"/>
            <a:ext cx="7173913" cy="5143500"/>
          </a:xfrm>
        </p:spPr>
        <p:txBody>
          <a:bodyPr/>
          <a:lstStyle/>
          <a:p>
            <a:r>
              <a:rPr lang="en-US" b="1" dirty="0">
                <a:solidFill>
                  <a:srgbClr val="3366FF"/>
                </a:solidFill>
                <a:latin typeface="Helvetica" charset="0"/>
                <a:ea typeface="MS PGothic" charset="0"/>
              </a:rPr>
              <a:t>Write-through</a:t>
            </a:r>
            <a:r>
              <a:rPr lang="en-US" dirty="0">
                <a:solidFill>
                  <a:srgbClr val="3366FF"/>
                </a:solidFill>
                <a:latin typeface="Helvetica" charset="0"/>
                <a:ea typeface="MS PGothic" charset="0"/>
              </a:rPr>
              <a:t> </a:t>
            </a:r>
            <a:r>
              <a:rPr lang="en-US" dirty="0">
                <a:latin typeface="Helvetica" charset="0"/>
                <a:ea typeface="MS PGothic" charset="0"/>
              </a:rPr>
              <a:t>– write data through to disk as soon as they are placed on any cache</a:t>
            </a:r>
          </a:p>
          <a:p>
            <a:pPr lvl="1"/>
            <a:r>
              <a:rPr lang="en-US" dirty="0">
                <a:latin typeface="Helvetica" charset="0"/>
                <a:ea typeface="MS PGothic" charset="0"/>
              </a:rPr>
              <a:t>Reliable, but poor performance</a:t>
            </a:r>
            <a:endParaRPr lang="en-US" sz="800" dirty="0">
              <a:latin typeface="Helvetica" charset="0"/>
              <a:ea typeface="MS PGothic" charset="0"/>
            </a:endParaRPr>
          </a:p>
          <a:p>
            <a:r>
              <a:rPr lang="en-US" b="1" dirty="0">
                <a:solidFill>
                  <a:srgbClr val="3366FF"/>
                </a:solidFill>
                <a:latin typeface="Helvetica" charset="0"/>
                <a:ea typeface="MS PGothic" charset="0"/>
              </a:rPr>
              <a:t>Delayed-write</a:t>
            </a:r>
            <a:r>
              <a:rPr lang="en-US" dirty="0">
                <a:solidFill>
                  <a:srgbClr val="3366FF"/>
                </a:solidFill>
                <a:latin typeface="Helvetica" charset="0"/>
                <a:ea typeface="MS PGothic" charset="0"/>
              </a:rPr>
              <a:t> </a:t>
            </a:r>
            <a:r>
              <a:rPr lang="en-US" dirty="0">
                <a:latin typeface="Helvetica" charset="0"/>
                <a:ea typeface="MS PGothic" charset="0"/>
              </a:rPr>
              <a:t>(</a:t>
            </a:r>
            <a:r>
              <a:rPr lang="en-US" b="1" dirty="0">
                <a:solidFill>
                  <a:srgbClr val="3366FF"/>
                </a:solidFill>
                <a:latin typeface="Helvetica" charset="0"/>
                <a:ea typeface="MS PGothic" charset="0"/>
              </a:rPr>
              <a:t>write-back</a:t>
            </a:r>
            <a:r>
              <a:rPr lang="en-US" dirty="0">
                <a:latin typeface="Helvetica" charset="0"/>
                <a:ea typeface="MS PGothic" charset="0"/>
              </a:rPr>
              <a:t>)</a:t>
            </a:r>
            <a:r>
              <a:rPr lang="en-US" dirty="0">
                <a:solidFill>
                  <a:srgbClr val="3366FF"/>
                </a:solidFill>
                <a:latin typeface="Helvetica" charset="0"/>
                <a:ea typeface="MS PGothic" charset="0"/>
              </a:rPr>
              <a:t> </a:t>
            </a:r>
            <a:r>
              <a:rPr lang="en-US" dirty="0">
                <a:latin typeface="Helvetica" charset="0"/>
                <a:ea typeface="MS PGothic" charset="0"/>
              </a:rPr>
              <a:t>– modifications written to the cache and then written through to the server later</a:t>
            </a:r>
          </a:p>
          <a:p>
            <a:pPr lvl="1"/>
            <a:r>
              <a:rPr lang="en-US" sz="1600" dirty="0">
                <a:latin typeface="Helvetica" charset="0"/>
                <a:ea typeface="MS PGothic" charset="0"/>
              </a:rPr>
              <a:t> Write accesses complete quickly; some data may be overwritten before they are written back, and so need never be written at all</a:t>
            </a:r>
          </a:p>
          <a:p>
            <a:pPr lvl="1"/>
            <a:r>
              <a:rPr lang="en-US" sz="1600" dirty="0">
                <a:latin typeface="Helvetica" charset="0"/>
                <a:ea typeface="MS PGothic" charset="0"/>
              </a:rPr>
              <a:t>Poor reliability; unwritten data will be lost whenever a user machine crashes</a:t>
            </a:r>
          </a:p>
          <a:p>
            <a:pPr lvl="1"/>
            <a:r>
              <a:rPr lang="en-US" sz="1600" dirty="0">
                <a:latin typeface="Helvetica" charset="0"/>
                <a:ea typeface="MS PGothic" charset="0"/>
              </a:rPr>
              <a:t>Variation – scan cache at regular intervals and flush blocks that have been modified since the last scan</a:t>
            </a:r>
          </a:p>
          <a:p>
            <a:pPr lvl="1"/>
            <a:r>
              <a:rPr lang="en-US" sz="1600" dirty="0">
                <a:latin typeface="Helvetica" charset="0"/>
                <a:ea typeface="MS PGothic" charset="0"/>
              </a:rPr>
              <a:t>Variation –</a:t>
            </a:r>
            <a:r>
              <a:rPr lang="en-US" sz="1600" b="1" dirty="0">
                <a:latin typeface="Helvetica" charset="0"/>
                <a:ea typeface="MS PGothic" charset="0"/>
              </a:rPr>
              <a:t> </a:t>
            </a:r>
            <a:r>
              <a:rPr lang="en-US" sz="1600" b="1" dirty="0">
                <a:solidFill>
                  <a:srgbClr val="3366FF"/>
                </a:solidFill>
                <a:latin typeface="Helvetica" charset="0"/>
                <a:ea typeface="MS PGothic" charset="0"/>
              </a:rPr>
              <a:t>write-on-close</a:t>
            </a:r>
            <a:r>
              <a:rPr lang="en-US" sz="1600" dirty="0">
                <a:latin typeface="Helvetica" charset="0"/>
                <a:ea typeface="MS PGothic" charset="0"/>
              </a:rPr>
              <a:t>, writes data back to the server when the file is closed</a:t>
            </a:r>
          </a:p>
          <a:p>
            <a:pPr lvl="2"/>
            <a:r>
              <a:rPr lang="en-US" sz="1600" dirty="0">
                <a:latin typeface="Helvetica" charset="0"/>
                <a:ea typeface="MS PGothic" charset="0"/>
              </a:rPr>
              <a:t>Best for files that are open for long periods and frequently modified</a:t>
            </a:r>
          </a:p>
        </p:txBody>
      </p:sp>
    </p:spTree>
    <p:extLst>
      <p:ext uri="{BB962C8B-B14F-4D97-AF65-F5344CB8AC3E}">
        <p14:creationId xmlns:p14="http://schemas.microsoft.com/office/powerpoint/2010/main" val="140173099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457200" y="179388"/>
            <a:ext cx="8229600" cy="576262"/>
          </a:xfrm>
        </p:spPr>
        <p:txBody>
          <a:bodyPr/>
          <a:lstStyle/>
          <a:p>
            <a:pPr eaLnBrk="1" hangingPunct="1"/>
            <a:r>
              <a:rPr lang="en-US">
                <a:latin typeface="Arial" charset="0"/>
                <a:ea typeface="MS PGothic" charset="0"/>
              </a:rPr>
              <a:t>Consistency</a:t>
            </a:r>
          </a:p>
        </p:txBody>
      </p:sp>
      <p:sp>
        <p:nvSpPr>
          <p:cNvPr id="45059" name="Rectangle 3"/>
          <p:cNvSpPr>
            <a:spLocks noGrp="1" noChangeArrowheads="1"/>
          </p:cNvSpPr>
          <p:nvPr>
            <p:ph type="body" idx="1"/>
          </p:nvPr>
        </p:nvSpPr>
        <p:spPr>
          <a:xfrm>
            <a:off x="815975" y="1176338"/>
            <a:ext cx="6808788" cy="4483100"/>
          </a:xfrm>
        </p:spPr>
        <p:txBody>
          <a:bodyPr/>
          <a:lstStyle/>
          <a:p>
            <a:r>
              <a:rPr lang="en-US">
                <a:latin typeface="Helvetica" charset="0"/>
                <a:ea typeface="MS PGothic" charset="0"/>
              </a:rPr>
              <a:t>Is locally cached copy of the data consistent with the master copy?</a:t>
            </a:r>
          </a:p>
          <a:p>
            <a:r>
              <a:rPr lang="en-US" b="1">
                <a:solidFill>
                  <a:srgbClr val="3366FF"/>
                </a:solidFill>
                <a:latin typeface="Helvetica" charset="0"/>
                <a:ea typeface="MS PGothic" charset="0"/>
              </a:rPr>
              <a:t>Client-initiated approach</a:t>
            </a:r>
          </a:p>
          <a:p>
            <a:pPr lvl="1"/>
            <a:r>
              <a:rPr lang="en-US">
                <a:latin typeface="Helvetica" charset="0"/>
                <a:ea typeface="MS PGothic" charset="0"/>
              </a:rPr>
              <a:t>Client initiates a validity check</a:t>
            </a:r>
          </a:p>
          <a:p>
            <a:pPr lvl="1"/>
            <a:r>
              <a:rPr lang="en-US">
                <a:latin typeface="Helvetica" charset="0"/>
                <a:ea typeface="MS PGothic" charset="0"/>
              </a:rPr>
              <a:t>Server checks whether the local data are consistent with the master copy</a:t>
            </a:r>
          </a:p>
          <a:p>
            <a:r>
              <a:rPr lang="en-US" b="1">
                <a:solidFill>
                  <a:srgbClr val="3366FF"/>
                </a:solidFill>
                <a:latin typeface="Helvetica" charset="0"/>
                <a:ea typeface="MS PGothic" charset="0"/>
              </a:rPr>
              <a:t>Server-initiated approach</a:t>
            </a:r>
          </a:p>
          <a:p>
            <a:pPr lvl="1"/>
            <a:r>
              <a:rPr lang="en-US">
                <a:latin typeface="Helvetica" charset="0"/>
                <a:ea typeface="MS PGothic" charset="0"/>
              </a:rPr>
              <a:t>Server records, for each client, the (parts of) files it caches </a:t>
            </a:r>
          </a:p>
          <a:p>
            <a:pPr lvl="1"/>
            <a:r>
              <a:rPr lang="en-US">
                <a:latin typeface="Helvetica" charset="0"/>
                <a:ea typeface="MS PGothic" charset="0"/>
              </a:rPr>
              <a:t>When server detects a potential inconsistency, it must react </a:t>
            </a:r>
          </a:p>
        </p:txBody>
      </p:sp>
    </p:spTree>
    <p:extLst>
      <p:ext uri="{BB962C8B-B14F-4D97-AF65-F5344CB8AC3E}">
        <p14:creationId xmlns:p14="http://schemas.microsoft.com/office/powerpoint/2010/main" val="62403481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err="1" smtClean="0">
                <a:latin typeface="Cambria" pitchFamily="18" charset="0"/>
              </a:rPr>
              <a:t>Hadoop</a:t>
            </a:r>
            <a:endParaRPr lang="en-US" dirty="0">
              <a:latin typeface="Cambria" pitchFamily="18" charset="0"/>
            </a:endParaRPr>
          </a:p>
        </p:txBody>
      </p:sp>
      <p:sp>
        <p:nvSpPr>
          <p:cNvPr id="5123" name="Rectangle 3"/>
          <p:cNvSpPr>
            <a:spLocks noGrp="1" noChangeArrowheads="1"/>
          </p:cNvSpPr>
          <p:nvPr>
            <p:ph type="body" idx="1"/>
          </p:nvPr>
        </p:nvSpPr>
        <p:spPr/>
        <p:txBody>
          <a:bodyPr/>
          <a:lstStyle/>
          <a:p>
            <a:pPr>
              <a:buAutoNum type="arabicPeriod"/>
            </a:pPr>
            <a:r>
              <a:rPr lang="en-US" b="1" dirty="0" smtClean="0">
                <a:solidFill>
                  <a:schemeClr val="accent6">
                    <a:lumMod val="75000"/>
                  </a:schemeClr>
                </a:solidFill>
                <a:latin typeface="Cambria" pitchFamily="18" charset="0"/>
              </a:rPr>
              <a:t> Introduction: </a:t>
            </a:r>
            <a:r>
              <a:rPr lang="en-US" b="1" dirty="0" err="1" smtClean="0">
                <a:solidFill>
                  <a:schemeClr val="accent6">
                    <a:lumMod val="75000"/>
                  </a:schemeClr>
                </a:solidFill>
                <a:latin typeface="Cambria" pitchFamily="18" charset="0"/>
              </a:rPr>
              <a:t>Hadoop’s</a:t>
            </a:r>
            <a:r>
              <a:rPr lang="en-US" b="1" dirty="0" smtClean="0">
                <a:solidFill>
                  <a:schemeClr val="accent6">
                    <a:lumMod val="75000"/>
                  </a:schemeClr>
                </a:solidFill>
                <a:latin typeface="Cambria" pitchFamily="18" charset="0"/>
              </a:rPr>
              <a:t> history and advantages</a:t>
            </a:r>
          </a:p>
          <a:p>
            <a:pPr>
              <a:buAutoNum type="arabicPeriod"/>
            </a:pPr>
            <a:endParaRPr lang="en-US" b="1" dirty="0" smtClean="0">
              <a:solidFill>
                <a:schemeClr val="accent6">
                  <a:lumMod val="75000"/>
                </a:schemeClr>
              </a:solidFill>
              <a:latin typeface="Cambria" pitchFamily="18" charset="0"/>
            </a:endParaRPr>
          </a:p>
          <a:p>
            <a:pPr>
              <a:buAutoNum type="arabicPeriod"/>
            </a:pPr>
            <a:r>
              <a:rPr lang="en-US" b="1" dirty="0" smtClean="0">
                <a:solidFill>
                  <a:schemeClr val="accent6">
                    <a:lumMod val="75000"/>
                  </a:schemeClr>
                </a:solidFill>
                <a:latin typeface="Cambria" pitchFamily="18" charset="0"/>
              </a:rPr>
              <a:t> Architecture in detail</a:t>
            </a:r>
          </a:p>
          <a:p>
            <a:pPr>
              <a:buAutoNum type="arabicPeriod"/>
            </a:pPr>
            <a:endParaRPr lang="en-US" b="1" dirty="0" smtClean="0">
              <a:solidFill>
                <a:schemeClr val="accent6">
                  <a:lumMod val="75000"/>
                </a:schemeClr>
              </a:solidFill>
              <a:latin typeface="Cambria" pitchFamily="18" charset="0"/>
            </a:endParaRPr>
          </a:p>
          <a:p>
            <a:pPr>
              <a:buAutoNum type="arabicPeriod"/>
            </a:pPr>
            <a:r>
              <a:rPr lang="en-US" b="1" dirty="0" smtClean="0">
                <a:solidFill>
                  <a:schemeClr val="accent6">
                    <a:lumMod val="75000"/>
                  </a:schemeClr>
                </a:solidFill>
                <a:latin typeface="Cambria" pitchFamily="18" charset="0"/>
              </a:rPr>
              <a:t> </a:t>
            </a:r>
            <a:r>
              <a:rPr lang="en-US" b="1" dirty="0" err="1" smtClean="0">
                <a:solidFill>
                  <a:schemeClr val="accent6">
                    <a:lumMod val="75000"/>
                  </a:schemeClr>
                </a:solidFill>
                <a:latin typeface="Cambria" pitchFamily="18" charset="0"/>
              </a:rPr>
              <a:t>Hadoop</a:t>
            </a:r>
            <a:r>
              <a:rPr lang="en-US" b="1" dirty="0" smtClean="0">
                <a:solidFill>
                  <a:schemeClr val="accent6">
                    <a:lumMod val="75000"/>
                  </a:schemeClr>
                </a:solidFill>
                <a:latin typeface="Cambria" pitchFamily="18" charset="0"/>
              </a:rPr>
              <a:t> in industry</a:t>
            </a:r>
          </a:p>
          <a:p>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76600" y="4038600"/>
            <a:ext cx="3558745" cy="2743200"/>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38800" y="5943600"/>
            <a:ext cx="3429000" cy="875645"/>
          </a:xfrm>
          <a:prstGeom prst="rect">
            <a:avLst/>
          </a:prstGeom>
        </p:spPr>
      </p:pic>
    </p:spTree>
    <p:extLst>
      <p:ext uri="{BB962C8B-B14F-4D97-AF65-F5344CB8AC3E}">
        <p14:creationId xmlns:p14="http://schemas.microsoft.com/office/powerpoint/2010/main" val="3762672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t>
            </a:r>
            <a:r>
              <a:rPr lang="en-US" dirty="0" err="1" smtClean="0"/>
              <a:t>Hadoop</a:t>
            </a:r>
            <a:r>
              <a:rPr lang="en-US" dirty="0" smtClean="0"/>
              <a:t>?</a:t>
            </a:r>
            <a:endParaRPr lang="en-US" dirty="0"/>
          </a:p>
        </p:txBody>
      </p:sp>
      <p:sp>
        <p:nvSpPr>
          <p:cNvPr id="3" name="Content Placeholder 2"/>
          <p:cNvSpPr>
            <a:spLocks noGrp="1"/>
          </p:cNvSpPr>
          <p:nvPr>
            <p:ph idx="1"/>
          </p:nvPr>
        </p:nvSpPr>
        <p:spPr/>
        <p:txBody>
          <a:bodyPr/>
          <a:lstStyle/>
          <a:p>
            <a:r>
              <a:rPr lang="en-US" dirty="0"/>
              <a:t>Apache top level project, open-source implementation of frameworks for reliable, scalable, distributed computing and data storage.</a:t>
            </a:r>
          </a:p>
          <a:p>
            <a:r>
              <a:rPr lang="en-US" dirty="0"/>
              <a:t>It is a flexible and highly-available architecture for large scale computation and data processing on a network of commodity hardware.</a:t>
            </a:r>
          </a:p>
          <a:p>
            <a:endParaRPr lang="en-US" dirty="0"/>
          </a:p>
        </p:txBody>
      </p:sp>
    </p:spTree>
    <p:extLst>
      <p:ext uri="{BB962C8B-B14F-4D97-AF65-F5344CB8AC3E}">
        <p14:creationId xmlns:p14="http://schemas.microsoft.com/office/powerpoint/2010/main" val="28625835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smtClean="0">
                <a:latin typeface="Cambria" pitchFamily="18" charset="0"/>
              </a:rPr>
              <a:t>Brief History of </a:t>
            </a:r>
            <a:r>
              <a:rPr lang="en-US" dirty="0" err="1" smtClean="0">
                <a:latin typeface="Cambria" pitchFamily="18" charset="0"/>
              </a:rPr>
              <a:t>Hadoop</a:t>
            </a:r>
            <a:endParaRPr lang="en-US" dirty="0">
              <a:latin typeface="Cambria" pitchFamily="18" charset="0"/>
            </a:endParaRPr>
          </a:p>
        </p:txBody>
      </p:sp>
      <p:sp>
        <p:nvSpPr>
          <p:cNvPr id="5123" name="Rectangle 3"/>
          <p:cNvSpPr>
            <a:spLocks noGrp="1" noChangeArrowheads="1"/>
          </p:cNvSpPr>
          <p:nvPr>
            <p:ph type="body" idx="1"/>
          </p:nvPr>
        </p:nvSpPr>
        <p:spPr>
          <a:xfrm>
            <a:off x="1527048" y="1295400"/>
            <a:ext cx="7215188" cy="1600199"/>
          </a:xfrm>
        </p:spPr>
        <p:txBody>
          <a:bodyPr/>
          <a:lstStyle/>
          <a:p>
            <a:r>
              <a:rPr lang="en-US" dirty="0" smtClean="0"/>
              <a:t>Designed to answer the question: </a:t>
            </a:r>
            <a:r>
              <a:rPr lang="en-US" b="1" dirty="0" smtClean="0"/>
              <a:t>“How to process big data with reasonable cost and time?”</a:t>
            </a:r>
            <a:endParaRPr lang="en-US" b="1"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67600" y="5562600"/>
            <a:ext cx="1752219" cy="1350669"/>
          </a:xfrm>
          <a:prstGeom prst="rect">
            <a:avLst/>
          </a:prstGeom>
        </p:spPr>
      </p:pic>
      <p:pic>
        <p:nvPicPr>
          <p:cNvPr id="6" name="Picture 2" descr="http://2.bp.blogspot.com/-Y0yKsyAy3QQ/UGv2G6PLYBI/AAAAAAAAAOw/mG4diacSefQ/s320/web-crawler.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19400" y="3124200"/>
            <a:ext cx="3286125" cy="2896466"/>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2301436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smtClean="0">
                <a:latin typeface="Cambria" pitchFamily="18" charset="0"/>
              </a:rPr>
              <a:t>Search engines in 1990s</a:t>
            </a:r>
            <a:endParaRPr lang="en-US" dirty="0">
              <a:latin typeface="Cambria" pitchFamily="18" charset="0"/>
            </a:endParaRPr>
          </a:p>
        </p:txBody>
      </p:sp>
      <p:pic>
        <p:nvPicPr>
          <p:cNvPr id="8" name="Picture 7"/>
          <p:cNvPicPr>
            <a:picLocks noChangeAspect="1"/>
          </p:cNvPicPr>
          <p:nvPr/>
        </p:nvPicPr>
        <p:blipFill rotWithShape="1">
          <a:blip r:embed="rId2" cstate="print">
            <a:extLst>
              <a:ext uri="{28A0092B-C50C-407E-A947-70E740481C1C}">
                <a14:useLocalDpi xmlns:a14="http://schemas.microsoft.com/office/drawing/2010/main" val="0"/>
              </a:ext>
            </a:extLst>
          </a:blip>
          <a:srcRect r="37705" b="53852"/>
          <a:stretch/>
        </p:blipFill>
        <p:spPr>
          <a:xfrm>
            <a:off x="4648200" y="931091"/>
            <a:ext cx="4127787" cy="2329543"/>
          </a:xfrm>
          <a:prstGeom prst="rect">
            <a:avLst/>
          </a:prstGeom>
        </p:spPr>
      </p:pic>
      <p:pic>
        <p:nvPicPr>
          <p:cNvPr id="9" name="Picture 8"/>
          <p:cNvPicPr>
            <a:picLocks noChangeAspect="1"/>
          </p:cNvPicPr>
          <p:nvPr/>
        </p:nvPicPr>
        <p:blipFill rotWithShape="1">
          <a:blip r:embed="rId3" cstate="print">
            <a:extLst>
              <a:ext uri="{28A0092B-C50C-407E-A947-70E740481C1C}">
                <a14:useLocalDpi xmlns:a14="http://schemas.microsoft.com/office/drawing/2010/main" val="0"/>
              </a:ext>
            </a:extLst>
          </a:blip>
          <a:srcRect l="16666" r="15294" b="33824"/>
          <a:stretch/>
        </p:blipFill>
        <p:spPr>
          <a:xfrm>
            <a:off x="533401" y="4191000"/>
            <a:ext cx="3733800" cy="2516530"/>
          </a:xfrm>
          <a:prstGeom prst="rect">
            <a:avLst/>
          </a:prstGeom>
        </p:spPr>
      </p:pic>
      <p:pic>
        <p:nvPicPr>
          <p:cNvPr id="10" name="Picture 9"/>
          <p:cNvPicPr>
            <a:picLocks noChangeAspect="1"/>
          </p:cNvPicPr>
          <p:nvPr/>
        </p:nvPicPr>
        <p:blipFill rotWithShape="1">
          <a:blip r:embed="rId4" cstate="print">
            <a:extLst>
              <a:ext uri="{28A0092B-C50C-407E-A947-70E740481C1C}">
                <a14:useLocalDpi xmlns:a14="http://schemas.microsoft.com/office/drawing/2010/main" val="0"/>
              </a:ext>
            </a:extLst>
          </a:blip>
          <a:srcRect t="1" r="27548" b="54154"/>
          <a:stretch/>
        </p:blipFill>
        <p:spPr>
          <a:xfrm>
            <a:off x="4648200" y="3429000"/>
            <a:ext cx="4191000" cy="2020265"/>
          </a:xfrm>
          <a:prstGeom prst="rect">
            <a:avLst/>
          </a:prstGeom>
        </p:spPr>
      </p:pic>
      <p:sp>
        <p:nvSpPr>
          <p:cNvPr id="2" name="Rectangle 1"/>
          <p:cNvSpPr/>
          <p:nvPr/>
        </p:nvSpPr>
        <p:spPr>
          <a:xfrm>
            <a:off x="750173" y="5061466"/>
            <a:ext cx="697627" cy="369332"/>
          </a:xfrm>
          <a:prstGeom prst="rect">
            <a:avLst/>
          </a:prstGeom>
        </p:spPr>
        <p:txBody>
          <a:bodyPr wrap="none">
            <a:spAutoFit/>
          </a:bodyPr>
          <a:lstStyle/>
          <a:p>
            <a:r>
              <a:rPr lang="en-US" dirty="0" smtClean="0">
                <a:solidFill>
                  <a:srgbClr val="FF0000"/>
                </a:solidFill>
              </a:rPr>
              <a:t>1996</a:t>
            </a:r>
            <a:endParaRPr lang="en-US" dirty="0">
              <a:solidFill>
                <a:srgbClr val="FF0000"/>
              </a:solidFill>
            </a:endParaRPr>
          </a:p>
        </p:txBody>
      </p:sp>
      <p:sp>
        <p:nvSpPr>
          <p:cNvPr id="3" name="Rectangle 2"/>
          <p:cNvSpPr/>
          <p:nvPr/>
        </p:nvSpPr>
        <p:spPr>
          <a:xfrm>
            <a:off x="8456533" y="1371600"/>
            <a:ext cx="697627" cy="369332"/>
          </a:xfrm>
          <a:prstGeom prst="rect">
            <a:avLst/>
          </a:prstGeom>
        </p:spPr>
        <p:txBody>
          <a:bodyPr wrap="none">
            <a:spAutoFit/>
          </a:bodyPr>
          <a:lstStyle/>
          <a:p>
            <a:r>
              <a:rPr lang="en-US" dirty="0" smtClean="0">
                <a:solidFill>
                  <a:srgbClr val="FF0000"/>
                </a:solidFill>
              </a:rPr>
              <a:t>1996</a:t>
            </a:r>
            <a:endParaRPr lang="en-US" dirty="0">
              <a:solidFill>
                <a:srgbClr val="FF0000"/>
              </a:solidFill>
            </a:endParaRPr>
          </a:p>
        </p:txBody>
      </p:sp>
      <p:sp>
        <p:nvSpPr>
          <p:cNvPr id="11" name="Rectangle 10"/>
          <p:cNvSpPr/>
          <p:nvPr/>
        </p:nvSpPr>
        <p:spPr>
          <a:xfrm>
            <a:off x="5367019" y="5562600"/>
            <a:ext cx="697627" cy="369332"/>
          </a:xfrm>
          <a:prstGeom prst="rect">
            <a:avLst/>
          </a:prstGeom>
        </p:spPr>
        <p:txBody>
          <a:bodyPr wrap="none">
            <a:spAutoFit/>
          </a:bodyPr>
          <a:lstStyle/>
          <a:p>
            <a:r>
              <a:rPr lang="en-US" dirty="0" smtClean="0">
                <a:solidFill>
                  <a:srgbClr val="FF0000"/>
                </a:solidFill>
              </a:rPr>
              <a:t>1997</a:t>
            </a:r>
            <a:endParaRPr lang="en-US" dirty="0">
              <a:solidFill>
                <a:srgbClr val="FF0000"/>
              </a:solidFill>
            </a:endParaRPr>
          </a:p>
        </p:txBody>
      </p:sp>
      <p:pic>
        <p:nvPicPr>
          <p:cNvPr id="27" name="Content Placeholder 4"/>
          <p:cNvPicPr>
            <a:picLocks noGrp="1" noChangeAspect="1"/>
          </p:cNvPicPr>
          <p:nvPr>
            <p:ph sz="half" idx="1"/>
          </p:nvPr>
        </p:nvPicPr>
        <p:blipFill rotWithShape="1">
          <a:blip r:embed="rId5" cstate="print">
            <a:extLst>
              <a:ext uri="{28A0092B-C50C-407E-A947-70E740481C1C}">
                <a14:useLocalDpi xmlns:a14="http://schemas.microsoft.com/office/drawing/2010/main" val="0"/>
              </a:ext>
            </a:extLst>
          </a:blip>
          <a:srcRect r="22049" b="25399"/>
          <a:stretch/>
        </p:blipFill>
        <p:spPr>
          <a:xfrm>
            <a:off x="553721" y="1295400"/>
            <a:ext cx="3733800" cy="2722253"/>
          </a:xfrm>
        </p:spPr>
      </p:pic>
      <p:sp>
        <p:nvSpPr>
          <p:cNvPr id="24" name="Rectangle 23"/>
          <p:cNvSpPr/>
          <p:nvPr/>
        </p:nvSpPr>
        <p:spPr>
          <a:xfrm>
            <a:off x="750172" y="2667000"/>
            <a:ext cx="697627" cy="369332"/>
          </a:xfrm>
          <a:prstGeom prst="rect">
            <a:avLst/>
          </a:prstGeom>
        </p:spPr>
        <p:txBody>
          <a:bodyPr wrap="none">
            <a:spAutoFit/>
          </a:bodyPr>
          <a:lstStyle/>
          <a:p>
            <a:r>
              <a:rPr lang="en-US" dirty="0" smtClean="0">
                <a:solidFill>
                  <a:srgbClr val="FF0000"/>
                </a:solidFill>
              </a:rPr>
              <a:t>1996</a:t>
            </a:r>
            <a:endParaRPr lang="en-US" dirty="0">
              <a:solidFill>
                <a:srgbClr val="FF0000"/>
              </a:solidFill>
            </a:endParaRPr>
          </a:p>
        </p:txBody>
      </p:sp>
    </p:spTree>
    <p:extLst>
      <p:ext uri="{BB962C8B-B14F-4D97-AF65-F5344CB8AC3E}">
        <p14:creationId xmlns:p14="http://schemas.microsoft.com/office/powerpoint/2010/main" val="30021490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childTnLst>
                          </p:cTn>
                        </p:par>
                        <p:par>
                          <p:cTn id="8" fill="hold">
                            <p:stCondLst>
                              <p:cond delay="2000"/>
                            </p:stCondLst>
                            <p:childTnLst>
                              <p:par>
                                <p:cTn id="9" presetID="2" presetClass="entr" presetSubtype="4"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900" fill="hold"/>
                                        <p:tgtEl>
                                          <p:spTgt spid="9"/>
                                        </p:tgtEl>
                                        <p:attrNameLst>
                                          <p:attrName>ppt_x</p:attrName>
                                        </p:attrNameLst>
                                      </p:cBhvr>
                                      <p:tavLst>
                                        <p:tav tm="0">
                                          <p:val>
                                            <p:strVal val="#ppt_x"/>
                                          </p:val>
                                        </p:tav>
                                        <p:tav tm="100000">
                                          <p:val>
                                            <p:strVal val="#ppt_x"/>
                                          </p:val>
                                        </p:tav>
                                      </p:tavLst>
                                    </p:anim>
                                    <p:anim calcmode="lin" valueType="num">
                                      <p:cBhvr additive="base">
                                        <p:cTn id="12" dur="9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2900"/>
                            </p:stCondLst>
                            <p:childTnLst>
                              <p:par>
                                <p:cTn id="14" presetID="16" presetClass="entr" presetSubtype="21" fill="hold"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barn(inVertical)">
                                      <p:cBhvr>
                                        <p:cTn id="16" dur="1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smtClean="0">
                <a:latin typeface="Cambria" pitchFamily="18" charset="0"/>
              </a:rPr>
              <a:t>Google search engines</a:t>
            </a:r>
            <a:endParaRPr lang="en-US" dirty="0">
              <a:latin typeface="Cambria" pitchFamily="18" charset="0"/>
            </a:endParaRPr>
          </a:p>
        </p:txBody>
      </p:sp>
      <p:pic>
        <p:nvPicPr>
          <p:cNvPr id="14" name="Content Placeholder 4"/>
          <p:cNvPicPr>
            <a:picLocks noGrp="1" noChangeAspect="1"/>
          </p:cNvPicPr>
          <p:nvPr>
            <p:ph sz="half" idx="1"/>
          </p:nvPr>
        </p:nvPicPr>
        <p:blipFill rotWithShape="1">
          <a:blip r:embed="rId2" cstate="print">
            <a:extLst>
              <a:ext uri="{28A0092B-C50C-407E-A947-70E740481C1C}">
                <a14:useLocalDpi xmlns:a14="http://schemas.microsoft.com/office/drawing/2010/main" val="0"/>
              </a:ext>
            </a:extLst>
          </a:blip>
          <a:srcRect l="5813" r="4486" b="43237"/>
          <a:stretch/>
        </p:blipFill>
        <p:spPr>
          <a:xfrm>
            <a:off x="1295400" y="1066800"/>
            <a:ext cx="5878286" cy="2833828"/>
          </a:xfrm>
        </p:spPr>
      </p:pic>
      <p:pic>
        <p:nvPicPr>
          <p:cNvPr id="15" name="Picture 3"/>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2201" t="43719" r="3802" b="14336"/>
          <a:stretch/>
        </p:blipFill>
        <p:spPr bwMode="auto">
          <a:xfrm>
            <a:off x="1295401" y="4120330"/>
            <a:ext cx="5867399" cy="220427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7610522" y="2743200"/>
            <a:ext cx="697627" cy="369332"/>
          </a:xfrm>
          <a:prstGeom prst="rect">
            <a:avLst/>
          </a:prstGeom>
        </p:spPr>
        <p:txBody>
          <a:bodyPr wrap="none">
            <a:spAutoFit/>
          </a:bodyPr>
          <a:lstStyle/>
          <a:p>
            <a:r>
              <a:rPr lang="en-US" dirty="0" smtClean="0">
                <a:solidFill>
                  <a:srgbClr val="FF0000"/>
                </a:solidFill>
              </a:rPr>
              <a:t>1998</a:t>
            </a:r>
            <a:endParaRPr lang="en-US" dirty="0">
              <a:solidFill>
                <a:srgbClr val="FF0000"/>
              </a:solidFill>
            </a:endParaRPr>
          </a:p>
        </p:txBody>
      </p:sp>
      <p:sp>
        <p:nvSpPr>
          <p:cNvPr id="7" name="Rectangle 6"/>
          <p:cNvSpPr/>
          <p:nvPr/>
        </p:nvSpPr>
        <p:spPr>
          <a:xfrm>
            <a:off x="7772400" y="4853133"/>
            <a:ext cx="697627" cy="369332"/>
          </a:xfrm>
          <a:prstGeom prst="rect">
            <a:avLst/>
          </a:prstGeom>
        </p:spPr>
        <p:txBody>
          <a:bodyPr wrap="none">
            <a:spAutoFit/>
          </a:bodyPr>
          <a:lstStyle/>
          <a:p>
            <a:r>
              <a:rPr lang="en-US" dirty="0" smtClean="0">
                <a:solidFill>
                  <a:srgbClr val="FF0000"/>
                </a:solidFill>
              </a:rPr>
              <a:t>2013</a:t>
            </a:r>
            <a:endParaRPr lang="en-US" dirty="0">
              <a:solidFill>
                <a:srgbClr val="FF0000"/>
              </a:solidFill>
            </a:endParaRPr>
          </a:p>
        </p:txBody>
      </p:sp>
    </p:spTree>
    <p:extLst>
      <p:ext uri="{BB962C8B-B14F-4D97-AF65-F5344CB8AC3E}">
        <p14:creationId xmlns:p14="http://schemas.microsoft.com/office/powerpoint/2010/main" val="8575775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smtClean="0">
                <a:latin typeface="Cambria" pitchFamily="18" charset="0"/>
              </a:rPr>
              <a:t>Google Origins</a:t>
            </a:r>
            <a:endParaRPr lang="en-US" dirty="0">
              <a:latin typeface="Cambria" pitchFamily="18" charset="0"/>
            </a:endParaRPr>
          </a:p>
        </p:txBody>
      </p:sp>
      <p:pic>
        <p:nvPicPr>
          <p:cNvPr id="11" name="Picture 3"/>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0110" t="30325" r="15980" b="50000"/>
          <a:stretch/>
        </p:blipFill>
        <p:spPr bwMode="auto">
          <a:xfrm>
            <a:off x="1447800" y="1853402"/>
            <a:ext cx="3962400" cy="80847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2" name="Picture 4"/>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9112" t="37977" r="20992" b="32709"/>
          <a:stretch/>
        </p:blipFill>
        <p:spPr bwMode="auto">
          <a:xfrm>
            <a:off x="1447800" y="2940472"/>
            <a:ext cx="3962400" cy="12852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3" name="TextBox 12"/>
          <p:cNvSpPr txBox="1"/>
          <p:nvPr/>
        </p:nvSpPr>
        <p:spPr>
          <a:xfrm>
            <a:off x="381000" y="2164036"/>
            <a:ext cx="914400" cy="369332"/>
          </a:xfrm>
          <a:prstGeom prst="rect">
            <a:avLst/>
          </a:prstGeom>
          <a:noFill/>
        </p:spPr>
        <p:txBody>
          <a:bodyPr wrap="square" rtlCol="0">
            <a:spAutoFit/>
          </a:bodyPr>
          <a:lstStyle/>
          <a:p>
            <a:r>
              <a:rPr lang="en-US" b="1" dirty="0" smtClean="0">
                <a:solidFill>
                  <a:srgbClr val="0070C0"/>
                </a:solidFill>
              </a:rPr>
              <a:t>2003</a:t>
            </a:r>
            <a:endParaRPr lang="en-US" b="1" dirty="0">
              <a:solidFill>
                <a:srgbClr val="0070C0"/>
              </a:solidFill>
            </a:endParaRPr>
          </a:p>
        </p:txBody>
      </p:sp>
      <p:sp>
        <p:nvSpPr>
          <p:cNvPr id="16" name="TextBox 15"/>
          <p:cNvSpPr txBox="1"/>
          <p:nvPr/>
        </p:nvSpPr>
        <p:spPr>
          <a:xfrm>
            <a:off x="457200" y="3358540"/>
            <a:ext cx="914400" cy="369332"/>
          </a:xfrm>
          <a:prstGeom prst="rect">
            <a:avLst/>
          </a:prstGeom>
          <a:noFill/>
        </p:spPr>
        <p:txBody>
          <a:bodyPr wrap="square" rtlCol="0">
            <a:spAutoFit/>
          </a:bodyPr>
          <a:lstStyle/>
          <a:p>
            <a:r>
              <a:rPr lang="en-US" b="1" dirty="0" smtClean="0">
                <a:solidFill>
                  <a:srgbClr val="00B050"/>
                </a:solidFill>
              </a:rPr>
              <a:t>2004</a:t>
            </a:r>
            <a:endParaRPr lang="en-US" b="1" dirty="0">
              <a:solidFill>
                <a:srgbClr val="00B050"/>
              </a:solidFill>
            </a:endParaRPr>
          </a:p>
        </p:txBody>
      </p:sp>
      <p:pic>
        <p:nvPicPr>
          <p:cNvPr id="1026" name="Picture 2" descr="http://davidepalmisano.com/wp-content/uploads/2012/10/hdfs-logo.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52090" y="1845090"/>
            <a:ext cx="2514600" cy="785813"/>
          </a:xfrm>
          <a:prstGeom prst="rect">
            <a:avLst/>
          </a:prstGeom>
          <a:noFill/>
          <a:extLst>
            <a:ext uri="{909E8E84-426E-40dd-AFC4-6F175D3DCCD1}">
              <a14:hiddenFill xmlns="" xmlns:a14="http://schemas.microsoft.com/office/drawing/2010/main">
                <a:solidFill>
                  <a:srgbClr val="FFFFFF"/>
                </a:solidFill>
              </a14:hiddenFill>
            </a:ext>
          </a:extLst>
        </p:spPr>
      </p:pic>
      <p:cxnSp>
        <p:nvCxnSpPr>
          <p:cNvPr id="3" name="Straight Arrow Connector 2"/>
          <p:cNvCxnSpPr/>
          <p:nvPr/>
        </p:nvCxnSpPr>
        <p:spPr>
          <a:xfrm>
            <a:off x="5562600" y="2249325"/>
            <a:ext cx="457200"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pic>
        <p:nvPicPr>
          <p:cNvPr id="1028" name="Picture 4" descr="http://fcl.uncc.edu/nhnguye1/cloud_computing.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48400" y="3048000"/>
            <a:ext cx="2514600" cy="770096"/>
          </a:xfrm>
          <a:prstGeom prst="rect">
            <a:avLst/>
          </a:prstGeom>
          <a:noFill/>
          <a:extLst>
            <a:ext uri="{909E8E84-426E-40dd-AFC4-6F175D3DCCD1}">
              <a14:hiddenFill xmlns="" xmlns:a14="http://schemas.microsoft.com/office/drawing/2010/main">
                <a:solidFill>
                  <a:srgbClr val="FFFFFF"/>
                </a:solidFill>
              </a14:hiddenFill>
            </a:ext>
          </a:extLst>
        </p:spPr>
      </p:pic>
      <p:cxnSp>
        <p:nvCxnSpPr>
          <p:cNvPr id="15" name="Straight Arrow Connector 14"/>
          <p:cNvCxnSpPr/>
          <p:nvPr/>
        </p:nvCxnSpPr>
        <p:spPr>
          <a:xfrm>
            <a:off x="5638800" y="3413897"/>
            <a:ext cx="457200"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pic>
        <p:nvPicPr>
          <p:cNvPr id="1030" name="Picture 6" descr="https://si0.twimg.com/profile_images/1921741692/HBase-Twitter3.png"/>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t="29244" b="31153"/>
          <a:stretch/>
        </p:blipFill>
        <p:spPr bwMode="auto">
          <a:xfrm>
            <a:off x="6300788" y="4235193"/>
            <a:ext cx="2514600" cy="979715"/>
          </a:xfrm>
          <a:prstGeom prst="rect">
            <a:avLst/>
          </a:prstGeom>
          <a:noFill/>
          <a:extLst>
            <a:ext uri="{909E8E84-426E-40dd-AFC4-6F175D3DCCD1}">
              <a14:hiddenFill xmlns="" xmlns:a14="http://schemas.microsoft.com/office/drawing/2010/main">
                <a:solidFill>
                  <a:srgbClr val="FFFFFF"/>
                </a:solidFill>
              </a14:hiddenFill>
            </a:ext>
          </a:extLst>
        </p:spPr>
      </p:pic>
      <p:cxnSp>
        <p:nvCxnSpPr>
          <p:cNvPr id="17" name="Straight Arrow Connector 16"/>
          <p:cNvCxnSpPr/>
          <p:nvPr/>
        </p:nvCxnSpPr>
        <p:spPr>
          <a:xfrm>
            <a:off x="5673436" y="4724400"/>
            <a:ext cx="457200"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pic>
        <p:nvPicPr>
          <p:cNvPr id="1032" name="Picture 8" descr="Google BigTable Database Service Launch Rumoured"/>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514600" y="4504333"/>
            <a:ext cx="2133600" cy="1237489"/>
          </a:xfrm>
          <a:prstGeom prst="rect">
            <a:avLst/>
          </a:prstGeom>
          <a:noFill/>
          <a:extLst>
            <a:ext uri="{909E8E84-426E-40dd-AFC4-6F175D3DCCD1}">
              <a14:hiddenFill xmlns="" xmlns:a14="http://schemas.microsoft.com/office/drawing/2010/main">
                <a:solidFill>
                  <a:srgbClr val="FFFFFF"/>
                </a:solidFill>
              </a14:hiddenFill>
            </a:ext>
          </a:extLst>
        </p:spPr>
      </p:pic>
      <p:sp>
        <p:nvSpPr>
          <p:cNvPr id="19" name="TextBox 18"/>
          <p:cNvSpPr txBox="1"/>
          <p:nvPr/>
        </p:nvSpPr>
        <p:spPr>
          <a:xfrm>
            <a:off x="462742" y="4863587"/>
            <a:ext cx="914400" cy="369332"/>
          </a:xfrm>
          <a:prstGeom prst="rect">
            <a:avLst/>
          </a:prstGeom>
          <a:noFill/>
        </p:spPr>
        <p:txBody>
          <a:bodyPr wrap="square" rtlCol="0">
            <a:spAutoFit/>
          </a:bodyPr>
          <a:lstStyle/>
          <a:p>
            <a:r>
              <a:rPr lang="en-US" b="1" dirty="0" smtClean="0">
                <a:solidFill>
                  <a:srgbClr val="FF0000"/>
                </a:solidFill>
              </a:rPr>
              <a:t>2006</a:t>
            </a:r>
            <a:endParaRPr lang="en-US" b="1" dirty="0">
              <a:solidFill>
                <a:srgbClr val="FF0000"/>
              </a:solidFill>
            </a:endParaRPr>
          </a:p>
        </p:txBody>
      </p:sp>
    </p:spTree>
    <p:extLst>
      <p:ext uri="{BB962C8B-B14F-4D97-AF65-F5344CB8AC3E}">
        <p14:creationId xmlns:p14="http://schemas.microsoft.com/office/powerpoint/2010/main" val="20265134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smtClean="0">
                <a:latin typeface="Cambria" pitchFamily="18" charset="0"/>
              </a:rPr>
              <a:t>Some </a:t>
            </a:r>
            <a:r>
              <a:rPr lang="en-US" dirty="0" err="1" smtClean="0">
                <a:latin typeface="Cambria" pitchFamily="18" charset="0"/>
              </a:rPr>
              <a:t>Hadoop</a:t>
            </a:r>
            <a:r>
              <a:rPr lang="en-US" dirty="0" smtClean="0">
                <a:latin typeface="Cambria" pitchFamily="18" charset="0"/>
              </a:rPr>
              <a:t> Milestones </a:t>
            </a:r>
            <a:endParaRPr lang="en-US" dirty="0">
              <a:latin typeface="Cambria" pitchFamily="18" charset="0"/>
            </a:endParaRPr>
          </a:p>
        </p:txBody>
      </p:sp>
      <p:sp>
        <p:nvSpPr>
          <p:cNvPr id="5" name="Rectangle 3"/>
          <p:cNvSpPr txBox="1">
            <a:spLocks noChangeArrowheads="1"/>
          </p:cNvSpPr>
          <p:nvPr/>
        </p:nvSpPr>
        <p:spPr bwMode="auto">
          <a:xfrm>
            <a:off x="457200" y="1600201"/>
            <a:ext cx="6781800" cy="44957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r>
              <a:rPr lang="en-US" sz="1600" b="1" dirty="0" smtClean="0"/>
              <a:t>2008 - </a:t>
            </a:r>
            <a:r>
              <a:rPr lang="en-US" sz="1600" b="1" dirty="0" err="1" smtClean="0"/>
              <a:t>Hadoop</a:t>
            </a:r>
            <a:r>
              <a:rPr lang="en-US" sz="1600" b="1" dirty="0" smtClean="0"/>
              <a:t> Wins Terabyte Sort  Benchmark (</a:t>
            </a:r>
            <a:r>
              <a:rPr lang="en-US" sz="1600" dirty="0" smtClean="0"/>
              <a:t>sorted 1 terabyte of data in 209 seconds, compared to previous record of 297 seconds)</a:t>
            </a:r>
          </a:p>
          <a:p>
            <a:endParaRPr lang="en-US" sz="1600" dirty="0" smtClean="0"/>
          </a:p>
          <a:p>
            <a:r>
              <a:rPr lang="en-US" sz="1600" dirty="0" smtClean="0"/>
              <a:t>2009 - Avro and </a:t>
            </a:r>
            <a:r>
              <a:rPr lang="en-US" sz="1600" dirty="0" err="1" smtClean="0"/>
              <a:t>Chukwa</a:t>
            </a:r>
            <a:r>
              <a:rPr lang="en-US" sz="1600" dirty="0" smtClean="0"/>
              <a:t> became new members of </a:t>
            </a:r>
            <a:r>
              <a:rPr lang="en-US" sz="1600" dirty="0" err="1" smtClean="0"/>
              <a:t>Hadoop</a:t>
            </a:r>
            <a:r>
              <a:rPr lang="en-US" sz="1600" dirty="0" smtClean="0"/>
              <a:t> Framework family</a:t>
            </a:r>
          </a:p>
          <a:p>
            <a:endParaRPr lang="en-US" sz="1600" dirty="0" smtClean="0"/>
          </a:p>
          <a:p>
            <a:r>
              <a:rPr lang="en-US" sz="1600" dirty="0" smtClean="0"/>
              <a:t>2010 - </a:t>
            </a:r>
            <a:r>
              <a:rPr lang="en-US" sz="1600" dirty="0" err="1" smtClean="0"/>
              <a:t>Hadoop's</a:t>
            </a:r>
            <a:r>
              <a:rPr lang="en-US" sz="1600" dirty="0" smtClean="0"/>
              <a:t> </a:t>
            </a:r>
            <a:r>
              <a:rPr lang="en-US" sz="1600" dirty="0" err="1" smtClean="0"/>
              <a:t>Hbase</a:t>
            </a:r>
            <a:r>
              <a:rPr lang="en-US" sz="1600" dirty="0" smtClean="0"/>
              <a:t>, Hive and Pig subprojects completed, adding more computational power to </a:t>
            </a:r>
            <a:r>
              <a:rPr lang="en-US" sz="1600" dirty="0" err="1" smtClean="0"/>
              <a:t>Hadoop</a:t>
            </a:r>
            <a:r>
              <a:rPr lang="en-US" sz="1600" dirty="0" smtClean="0"/>
              <a:t> framework</a:t>
            </a:r>
          </a:p>
          <a:p>
            <a:endParaRPr lang="en-US" sz="1600" dirty="0" smtClean="0"/>
          </a:p>
          <a:p>
            <a:r>
              <a:rPr lang="en-US" sz="1600" b="1" dirty="0" smtClean="0"/>
              <a:t>2011 - </a:t>
            </a:r>
            <a:r>
              <a:rPr lang="en-US" sz="1600" b="1" dirty="0" err="1" smtClean="0"/>
              <a:t>ZooKeeper</a:t>
            </a:r>
            <a:r>
              <a:rPr lang="en-US" sz="1600" b="1" dirty="0" smtClean="0"/>
              <a:t> Completed</a:t>
            </a:r>
          </a:p>
          <a:p>
            <a:endParaRPr lang="en-US" sz="1600" b="1" dirty="0" smtClean="0"/>
          </a:p>
          <a:p>
            <a:r>
              <a:rPr lang="en-US" sz="1600" b="1" dirty="0" smtClean="0"/>
              <a:t>2013 - </a:t>
            </a:r>
            <a:r>
              <a:rPr lang="en-US" sz="1600" b="1" dirty="0" err="1" smtClean="0"/>
              <a:t>Hadoop</a:t>
            </a:r>
            <a:r>
              <a:rPr lang="en-US" sz="1600" b="1" dirty="0" smtClean="0"/>
              <a:t> 1.1.2 and </a:t>
            </a:r>
            <a:r>
              <a:rPr lang="en-US" sz="1600" b="1" dirty="0" err="1" smtClean="0"/>
              <a:t>Hadoop</a:t>
            </a:r>
            <a:r>
              <a:rPr lang="en-US" sz="1600" b="1" dirty="0" smtClean="0"/>
              <a:t> 2.0.3 alpha. </a:t>
            </a:r>
          </a:p>
          <a:p>
            <a:pPr marL="0" indent="0">
              <a:buNone/>
            </a:pPr>
            <a:r>
              <a:rPr lang="en-US" sz="1600" b="1" dirty="0"/>
              <a:t> </a:t>
            </a:r>
            <a:r>
              <a:rPr lang="en-US" sz="1600" b="1" dirty="0" smtClean="0"/>
              <a:t>              - </a:t>
            </a:r>
            <a:r>
              <a:rPr lang="en-US" sz="1600" b="1" dirty="0" err="1" smtClean="0"/>
              <a:t>Ambari</a:t>
            </a:r>
            <a:r>
              <a:rPr lang="en-US" sz="1600" b="1" dirty="0" smtClean="0"/>
              <a:t>, Cassandra, Mahout have been added </a:t>
            </a:r>
            <a:endParaRPr lang="en-US" sz="1600" b="1" dirty="0"/>
          </a:p>
        </p:txBody>
      </p:sp>
    </p:spTree>
    <p:extLst>
      <p:ext uri="{BB962C8B-B14F-4D97-AF65-F5344CB8AC3E}">
        <p14:creationId xmlns:p14="http://schemas.microsoft.com/office/powerpoint/2010/main" val="5872776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609600" y="152400"/>
            <a:ext cx="7772400" cy="990600"/>
          </a:xfrm>
        </p:spPr>
        <p:txBody>
          <a:bodyPr/>
          <a:lstStyle/>
          <a:p>
            <a:r>
              <a:rPr lang="en-US" dirty="0" smtClean="0">
                <a:latin typeface="Cambria" pitchFamily="18" charset="0"/>
              </a:rPr>
              <a:t>What is </a:t>
            </a:r>
            <a:r>
              <a:rPr lang="en-US" dirty="0" err="1" smtClean="0">
                <a:latin typeface="Cambria" pitchFamily="18" charset="0"/>
              </a:rPr>
              <a:t>Hadoop</a:t>
            </a:r>
            <a:r>
              <a:rPr lang="en-US" dirty="0" smtClean="0">
                <a:latin typeface="Cambria" pitchFamily="18" charset="0"/>
              </a:rPr>
              <a:t>?</a:t>
            </a:r>
            <a:endParaRPr lang="en-US" dirty="0">
              <a:latin typeface="Cambria" pitchFamily="18" charset="0"/>
            </a:endParaRPr>
          </a:p>
        </p:txBody>
      </p:sp>
      <p:sp>
        <p:nvSpPr>
          <p:cNvPr id="2" name="TextBox 1"/>
          <p:cNvSpPr txBox="1"/>
          <p:nvPr/>
        </p:nvSpPr>
        <p:spPr>
          <a:xfrm>
            <a:off x="381000" y="1066800"/>
            <a:ext cx="8610600" cy="5632311"/>
          </a:xfrm>
          <a:prstGeom prst="rect">
            <a:avLst/>
          </a:prstGeom>
          <a:noFill/>
        </p:spPr>
        <p:txBody>
          <a:bodyPr wrap="square" rtlCol="0">
            <a:spAutoFit/>
          </a:bodyPr>
          <a:lstStyle/>
          <a:p>
            <a:pPr marL="285750" indent="-285750">
              <a:buFont typeface="Arial" panose="020B0604020202020204" pitchFamily="34" charset="0"/>
              <a:buChar char="•"/>
            </a:pPr>
            <a:r>
              <a:rPr lang="en-US" b="1" u="sng" dirty="0" err="1" smtClean="0"/>
              <a:t>Hadoop</a:t>
            </a:r>
            <a:r>
              <a:rPr lang="en-US" b="1" u="sng" dirty="0"/>
              <a:t>: </a:t>
            </a:r>
            <a:endParaRPr lang="en-US" b="1" u="sng" dirty="0" smtClean="0"/>
          </a:p>
          <a:p>
            <a:pPr marL="285750" indent="-285750">
              <a:buFont typeface="Arial" panose="020B0604020202020204" pitchFamily="34" charset="0"/>
              <a:buChar char="•"/>
            </a:pPr>
            <a:endParaRPr lang="en-US" b="1" u="sng" dirty="0" smtClean="0"/>
          </a:p>
          <a:p>
            <a:pPr marL="742950" lvl="1" indent="-285750">
              <a:buFont typeface="Arial" panose="020B0604020202020204" pitchFamily="34" charset="0"/>
              <a:buChar char="•"/>
            </a:pPr>
            <a:r>
              <a:rPr lang="en-US" dirty="0" smtClean="0"/>
              <a:t>an </a:t>
            </a:r>
            <a:r>
              <a:rPr lang="en-US" dirty="0"/>
              <a:t>open-source software framework that supports data-intensive distributed applications, licensed under the Apache v2 </a:t>
            </a:r>
            <a:r>
              <a:rPr lang="en-US" dirty="0" smtClean="0"/>
              <a:t>license.</a:t>
            </a:r>
          </a:p>
          <a:p>
            <a:pPr marL="742950" lvl="1" indent="-285750">
              <a:buFont typeface="Arial" panose="020B0604020202020204" pitchFamily="34" charset="0"/>
              <a:buChar char="•"/>
            </a:pPr>
            <a:endParaRPr lang="en-US" dirty="0" smtClean="0"/>
          </a:p>
          <a:p>
            <a:pPr marL="285750" indent="-285750">
              <a:buFont typeface="Arial" panose="020B0604020202020204" pitchFamily="34" charset="0"/>
              <a:buChar char="•"/>
            </a:pPr>
            <a:r>
              <a:rPr lang="en-US" b="1" u="sng" dirty="0" smtClean="0"/>
              <a:t>Goals / Requirements: </a:t>
            </a:r>
            <a:endParaRPr lang="en-US" b="1" u="sng" dirty="0"/>
          </a:p>
          <a:p>
            <a:pPr lvl="1"/>
            <a:endParaRPr lang="en-US" dirty="0"/>
          </a:p>
          <a:p>
            <a:pPr marL="742950" lvl="1" indent="-285750">
              <a:buFont typeface="Arial" panose="020B0604020202020204" pitchFamily="34" charset="0"/>
              <a:buChar char="•"/>
            </a:pPr>
            <a:r>
              <a:rPr lang="en-US" dirty="0" smtClean="0"/>
              <a:t>Abstract and facilitate the storage and processing of large and/or rapidly growing data sets</a:t>
            </a:r>
          </a:p>
          <a:p>
            <a:pPr marL="1200150" lvl="2" indent="-285750">
              <a:buFont typeface="Arial" panose="020B0604020202020204" pitchFamily="34" charset="0"/>
              <a:buChar char="•"/>
            </a:pPr>
            <a:r>
              <a:rPr lang="en-US" dirty="0" smtClean="0">
                <a:solidFill>
                  <a:schemeClr val="tx2">
                    <a:lumMod val="50000"/>
                  </a:schemeClr>
                </a:solidFill>
              </a:rPr>
              <a:t>Structured and non-structured data</a:t>
            </a:r>
          </a:p>
          <a:p>
            <a:pPr marL="1200150" lvl="2" indent="-285750">
              <a:buFont typeface="Arial" panose="020B0604020202020204" pitchFamily="34" charset="0"/>
              <a:buChar char="•"/>
            </a:pPr>
            <a:r>
              <a:rPr lang="en-US" dirty="0" smtClean="0">
                <a:solidFill>
                  <a:schemeClr val="tx2">
                    <a:lumMod val="50000"/>
                  </a:schemeClr>
                </a:solidFill>
              </a:rPr>
              <a:t>Simple programming models</a:t>
            </a:r>
            <a:endParaRPr lang="en-US" dirty="0" smtClean="0"/>
          </a:p>
          <a:p>
            <a:pPr marL="742950" lvl="1" indent="-285750">
              <a:buFont typeface="Arial" panose="020B0604020202020204" pitchFamily="34" charset="0"/>
              <a:buChar char="•"/>
            </a:pPr>
            <a:r>
              <a:rPr lang="en-US" dirty="0" smtClean="0"/>
              <a:t>High </a:t>
            </a:r>
            <a:r>
              <a:rPr lang="en-US" dirty="0"/>
              <a:t>scalability and availability</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Use commodity </a:t>
            </a:r>
            <a:r>
              <a:rPr lang="en-US" dirty="0" smtClean="0"/>
              <a:t>(cheap!) hardware with little redundancy</a:t>
            </a:r>
            <a:endParaRPr lang="en-US"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smtClean="0"/>
              <a:t>Fault-tolerance</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smtClean="0"/>
              <a:t>Move computation rather than data</a:t>
            </a:r>
            <a:endParaRPr lang="en-US" dirty="0"/>
          </a:p>
        </p:txBody>
      </p:sp>
    </p:spTree>
    <p:extLst>
      <p:ext uri="{BB962C8B-B14F-4D97-AF65-F5344CB8AC3E}">
        <p14:creationId xmlns:p14="http://schemas.microsoft.com/office/powerpoint/2010/main" val="3091324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err="1" smtClean="0">
                <a:latin typeface="Cambria" pitchFamily="18" charset="0"/>
              </a:rPr>
              <a:t>Hadoop</a:t>
            </a:r>
            <a:r>
              <a:rPr lang="en-US" dirty="0" smtClean="0">
                <a:latin typeface="Cambria" pitchFamily="18" charset="0"/>
              </a:rPr>
              <a:t> Framework Tools</a:t>
            </a:r>
            <a:endParaRPr lang="en-US" dirty="0">
              <a:latin typeface="Cambria" pitchFamily="18" charset="0"/>
            </a:endParaRPr>
          </a:p>
        </p:txBody>
      </p:sp>
      <p:pic>
        <p:nvPicPr>
          <p:cNvPr id="5" name="Picture 2" descr="http://rationalintelligence.com/wp_log/wp-content/uploads/2011/08/Picture20.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34440" y="1371600"/>
            <a:ext cx="7543800" cy="4357064"/>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0005687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80">
                                          <p:stCondLst>
                                            <p:cond delay="0"/>
                                          </p:stCondLst>
                                        </p:cTn>
                                        <p:tgtEl>
                                          <p:spTgt spid="5"/>
                                        </p:tgtEl>
                                      </p:cBhvr>
                                    </p:animEffect>
                                    <p:anim calcmode="lin" valueType="num">
                                      <p:cBhvr>
                                        <p:cTn id="8"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3" dur="26">
                                          <p:stCondLst>
                                            <p:cond delay="650"/>
                                          </p:stCondLst>
                                        </p:cTn>
                                        <p:tgtEl>
                                          <p:spTgt spid="5"/>
                                        </p:tgtEl>
                                      </p:cBhvr>
                                      <p:to x="100000" y="60000"/>
                                    </p:animScale>
                                    <p:animScale>
                                      <p:cBhvr>
                                        <p:cTn id="14" dur="166" decel="50000">
                                          <p:stCondLst>
                                            <p:cond delay="676"/>
                                          </p:stCondLst>
                                        </p:cTn>
                                        <p:tgtEl>
                                          <p:spTgt spid="5"/>
                                        </p:tgtEl>
                                      </p:cBhvr>
                                      <p:to x="100000" y="100000"/>
                                    </p:animScale>
                                    <p:animScale>
                                      <p:cBhvr>
                                        <p:cTn id="15" dur="26">
                                          <p:stCondLst>
                                            <p:cond delay="1312"/>
                                          </p:stCondLst>
                                        </p:cTn>
                                        <p:tgtEl>
                                          <p:spTgt spid="5"/>
                                        </p:tgtEl>
                                      </p:cBhvr>
                                      <p:to x="100000" y="80000"/>
                                    </p:animScale>
                                    <p:animScale>
                                      <p:cBhvr>
                                        <p:cTn id="16" dur="166" decel="50000">
                                          <p:stCondLst>
                                            <p:cond delay="1338"/>
                                          </p:stCondLst>
                                        </p:cTn>
                                        <p:tgtEl>
                                          <p:spTgt spid="5"/>
                                        </p:tgtEl>
                                      </p:cBhvr>
                                      <p:to x="100000" y="100000"/>
                                    </p:animScale>
                                    <p:animScale>
                                      <p:cBhvr>
                                        <p:cTn id="17" dur="26">
                                          <p:stCondLst>
                                            <p:cond delay="1642"/>
                                          </p:stCondLst>
                                        </p:cTn>
                                        <p:tgtEl>
                                          <p:spTgt spid="5"/>
                                        </p:tgtEl>
                                      </p:cBhvr>
                                      <p:to x="100000" y="90000"/>
                                    </p:animScale>
                                    <p:animScale>
                                      <p:cBhvr>
                                        <p:cTn id="18" dur="166" decel="50000">
                                          <p:stCondLst>
                                            <p:cond delay="1668"/>
                                          </p:stCondLst>
                                        </p:cTn>
                                        <p:tgtEl>
                                          <p:spTgt spid="5"/>
                                        </p:tgtEl>
                                      </p:cBhvr>
                                      <p:to x="100000" y="100000"/>
                                    </p:animScale>
                                    <p:animScale>
                                      <p:cBhvr>
                                        <p:cTn id="19" dur="26">
                                          <p:stCondLst>
                                            <p:cond delay="1808"/>
                                          </p:stCondLst>
                                        </p:cTn>
                                        <p:tgtEl>
                                          <p:spTgt spid="5"/>
                                        </p:tgtEl>
                                      </p:cBhvr>
                                      <p:to x="100000" y="95000"/>
                                    </p:animScale>
                                    <p:animScale>
                                      <p:cBhvr>
                                        <p:cTn id="20" dur="166" decel="50000">
                                          <p:stCondLst>
                                            <p:cond delay="1834"/>
                                          </p:stCondLst>
                                        </p:cTn>
                                        <p:tgtEl>
                                          <p:spTgt spid="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1524000" y="173038"/>
            <a:ext cx="7138988" cy="490537"/>
          </a:xfrm>
        </p:spPr>
        <p:txBody>
          <a:bodyPr/>
          <a:lstStyle/>
          <a:p>
            <a:r>
              <a:rPr lang="en-US" dirty="0" err="1" smtClean="0">
                <a:latin typeface="Cambria" pitchFamily="18" charset="0"/>
              </a:rPr>
              <a:t>Hadoop’s</a:t>
            </a:r>
            <a:r>
              <a:rPr lang="en-US" dirty="0" smtClean="0">
                <a:latin typeface="Cambria" pitchFamily="18" charset="0"/>
              </a:rPr>
              <a:t> Architecture</a:t>
            </a:r>
            <a:endParaRPr lang="en-US" dirty="0">
              <a:latin typeface="Cambria" pitchFamily="18" charset="0"/>
            </a:endParaRPr>
          </a:p>
        </p:txBody>
      </p:sp>
      <p:sp>
        <p:nvSpPr>
          <p:cNvPr id="2" name="Rectangle 1"/>
          <p:cNvSpPr/>
          <p:nvPr/>
        </p:nvSpPr>
        <p:spPr>
          <a:xfrm>
            <a:off x="990600" y="1600200"/>
            <a:ext cx="7086600" cy="3970318"/>
          </a:xfrm>
          <a:prstGeom prst="rect">
            <a:avLst/>
          </a:prstGeom>
        </p:spPr>
        <p:txBody>
          <a:bodyPr wrap="square">
            <a:spAutoFit/>
          </a:bodyPr>
          <a:lstStyle/>
          <a:p>
            <a:pPr marL="285750" indent="-285750">
              <a:buSzPct val="100000"/>
              <a:buFont typeface="Arial" panose="020B0604020202020204" pitchFamily="34" charset="0"/>
              <a:buChar char="•"/>
            </a:pPr>
            <a:r>
              <a:rPr lang="en-US" dirty="0"/>
              <a:t>Distributed, with some </a:t>
            </a:r>
            <a:r>
              <a:rPr lang="en-US" dirty="0" smtClean="0"/>
              <a:t>centralization</a:t>
            </a:r>
          </a:p>
          <a:p>
            <a:pPr marL="285750" indent="-285750">
              <a:buSzPct val="100000"/>
              <a:buFont typeface="Arial" panose="020B0604020202020204" pitchFamily="34" charset="0"/>
              <a:buChar char="•"/>
            </a:pPr>
            <a:endParaRPr lang="en-US" dirty="0"/>
          </a:p>
          <a:p>
            <a:pPr marL="285750" indent="-285750">
              <a:buSzPct val="100000"/>
              <a:buFont typeface="Arial" panose="020B0604020202020204" pitchFamily="34" charset="0"/>
              <a:buChar char="•"/>
            </a:pPr>
            <a:r>
              <a:rPr lang="en-US" dirty="0"/>
              <a:t>Main nodes of cluster are where most of the computational power and storage of the system </a:t>
            </a:r>
            <a:r>
              <a:rPr lang="en-US" dirty="0" smtClean="0"/>
              <a:t>lies</a:t>
            </a:r>
          </a:p>
          <a:p>
            <a:pPr marL="285750" indent="-285750">
              <a:buSzPct val="100000"/>
              <a:buFont typeface="Arial" panose="020B0604020202020204" pitchFamily="34" charset="0"/>
              <a:buChar char="•"/>
            </a:pPr>
            <a:endParaRPr lang="en-US" dirty="0"/>
          </a:p>
          <a:p>
            <a:pPr marL="285750" indent="-285750">
              <a:buSzPct val="100000"/>
              <a:buFont typeface="Arial" panose="020B0604020202020204" pitchFamily="34" charset="0"/>
              <a:buChar char="•"/>
            </a:pPr>
            <a:r>
              <a:rPr lang="en-US" dirty="0"/>
              <a:t>Main nodes run </a:t>
            </a:r>
            <a:r>
              <a:rPr lang="en-US" dirty="0" err="1"/>
              <a:t>TaskTracker</a:t>
            </a:r>
            <a:r>
              <a:rPr lang="en-US" dirty="0"/>
              <a:t> to accept and reply to </a:t>
            </a:r>
            <a:r>
              <a:rPr lang="en-US" dirty="0" err="1"/>
              <a:t>MapReduce</a:t>
            </a:r>
            <a:r>
              <a:rPr lang="en-US" dirty="0"/>
              <a:t> tasks, and also </a:t>
            </a:r>
            <a:r>
              <a:rPr lang="en-US" dirty="0" err="1"/>
              <a:t>DataNode</a:t>
            </a:r>
            <a:r>
              <a:rPr lang="en-US" dirty="0"/>
              <a:t> to store needed blocks closely as </a:t>
            </a:r>
            <a:r>
              <a:rPr lang="en-US" dirty="0" smtClean="0"/>
              <a:t>possible</a:t>
            </a:r>
          </a:p>
          <a:p>
            <a:pPr marL="285750" indent="-285750">
              <a:buSzPct val="100000"/>
              <a:buFont typeface="Arial" panose="020B0604020202020204" pitchFamily="34" charset="0"/>
              <a:buChar char="•"/>
            </a:pPr>
            <a:endParaRPr lang="en-US" dirty="0"/>
          </a:p>
          <a:p>
            <a:pPr marL="285750" indent="-285750">
              <a:buSzPct val="100000"/>
              <a:buFont typeface="Arial" panose="020B0604020202020204" pitchFamily="34" charset="0"/>
              <a:buChar char="•"/>
            </a:pPr>
            <a:r>
              <a:rPr lang="en-US" dirty="0"/>
              <a:t>Central control node runs </a:t>
            </a:r>
            <a:r>
              <a:rPr lang="en-US" dirty="0" err="1"/>
              <a:t>NameNode</a:t>
            </a:r>
            <a:r>
              <a:rPr lang="en-US" dirty="0"/>
              <a:t> to keep track of HDFS directories &amp; files, and </a:t>
            </a:r>
            <a:r>
              <a:rPr lang="en-US" dirty="0" err="1"/>
              <a:t>JobTracker</a:t>
            </a:r>
            <a:r>
              <a:rPr lang="en-US" dirty="0"/>
              <a:t> to dispatch compute tasks to </a:t>
            </a:r>
            <a:r>
              <a:rPr lang="en-US" dirty="0" err="1" smtClean="0"/>
              <a:t>TaskTracker</a:t>
            </a:r>
            <a:endParaRPr lang="en-US" dirty="0" smtClean="0"/>
          </a:p>
          <a:p>
            <a:pPr marL="285750" indent="-285750">
              <a:buSzPct val="100000"/>
              <a:buFont typeface="Arial" panose="020B0604020202020204" pitchFamily="34" charset="0"/>
              <a:buChar char="•"/>
            </a:pPr>
            <a:endParaRPr lang="en-US" dirty="0"/>
          </a:p>
          <a:p>
            <a:pPr marL="285750" indent="-285750">
              <a:buSzPct val="100000"/>
              <a:buFont typeface="Arial" panose="020B0604020202020204" pitchFamily="34" charset="0"/>
              <a:buChar char="•"/>
            </a:pPr>
            <a:r>
              <a:rPr lang="en-US" dirty="0" smtClean="0"/>
              <a:t>Written in Java, also supports Python and Ruby</a:t>
            </a:r>
            <a:endParaRPr lang="en-US" dirty="0"/>
          </a:p>
        </p:txBody>
      </p:sp>
    </p:spTree>
    <p:extLst>
      <p:ext uri="{BB962C8B-B14F-4D97-AF65-F5344CB8AC3E}">
        <p14:creationId xmlns:p14="http://schemas.microsoft.com/office/powerpoint/2010/main" val="25660690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1524000" y="173038"/>
            <a:ext cx="7138988" cy="490537"/>
          </a:xfrm>
        </p:spPr>
        <p:txBody>
          <a:bodyPr/>
          <a:lstStyle/>
          <a:p>
            <a:r>
              <a:rPr lang="en-US" dirty="0" err="1" smtClean="0">
                <a:latin typeface="Cambria" pitchFamily="18" charset="0"/>
              </a:rPr>
              <a:t>Hadoop’s</a:t>
            </a:r>
            <a:r>
              <a:rPr lang="en-US" dirty="0" smtClean="0">
                <a:latin typeface="Cambria" pitchFamily="18" charset="0"/>
              </a:rPr>
              <a:t> Architecture</a:t>
            </a:r>
            <a:endParaRPr lang="en-US" dirty="0">
              <a:latin typeface="Cambria" pitchFamily="18" charset="0"/>
            </a:endParaRPr>
          </a:p>
        </p:txBody>
      </p:sp>
      <p:pic>
        <p:nvPicPr>
          <p:cNvPr id="6" name="Picture 2" descr="http://www.atlantbh.com/wp-content/uploads/2012/01/Hadoop-Cluster.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60744" y="1371600"/>
            <a:ext cx="7183705" cy="3793266"/>
          </a:xfrm>
          <a:prstGeom prst="rect">
            <a:avLst/>
          </a:prstGeom>
          <a:ln>
            <a:noFill/>
          </a:ln>
          <a:effectLst>
            <a:outerShdw blurRad="292100" dist="139700" dir="2700000" algn="tl" rotWithShape="0">
              <a:srgbClr val="333333">
                <a:alpha val="65000"/>
              </a:srgbClr>
            </a:outerShdw>
          </a:effectLst>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0067656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err="1" smtClean="0">
                <a:latin typeface="Cambria" pitchFamily="18" charset="0"/>
              </a:rPr>
              <a:t>Hadoop’s</a:t>
            </a:r>
            <a:r>
              <a:rPr lang="en-US" dirty="0" smtClean="0">
                <a:latin typeface="Cambria" pitchFamily="18" charset="0"/>
              </a:rPr>
              <a:t> Architecture</a:t>
            </a:r>
            <a:endParaRPr lang="en-US" dirty="0">
              <a:latin typeface="Cambria" pitchFamily="18" charset="0"/>
            </a:endParaRPr>
          </a:p>
        </p:txBody>
      </p:sp>
      <p:sp>
        <p:nvSpPr>
          <p:cNvPr id="2" name="Rectangle 1"/>
          <p:cNvSpPr/>
          <p:nvPr/>
        </p:nvSpPr>
        <p:spPr>
          <a:xfrm>
            <a:off x="1143000" y="1676400"/>
            <a:ext cx="6629400" cy="4524315"/>
          </a:xfrm>
          <a:prstGeom prst="rect">
            <a:avLst/>
          </a:prstGeom>
        </p:spPr>
        <p:txBody>
          <a:bodyPr wrap="square">
            <a:spAutoFit/>
          </a:bodyPr>
          <a:lstStyle/>
          <a:p>
            <a:pPr marL="285750" indent="-285750" algn="just">
              <a:buSzPct val="100000"/>
              <a:buFont typeface="Arial" panose="020B0604020202020204" pitchFamily="34" charset="0"/>
              <a:buChar char="•"/>
            </a:pPr>
            <a:r>
              <a:rPr lang="en-US" u="sng" dirty="0" err="1" smtClean="0"/>
              <a:t>H</a:t>
            </a:r>
            <a:r>
              <a:rPr lang="en-US" dirty="0" err="1" smtClean="0"/>
              <a:t>adoop</a:t>
            </a:r>
            <a:r>
              <a:rPr lang="en-US" dirty="0" smtClean="0"/>
              <a:t> </a:t>
            </a:r>
            <a:r>
              <a:rPr lang="en-US" u="sng" dirty="0"/>
              <a:t>D</a:t>
            </a:r>
            <a:r>
              <a:rPr lang="en-US" dirty="0"/>
              <a:t>istributed </a:t>
            </a:r>
            <a:r>
              <a:rPr lang="en-US" u="sng" dirty="0" err="1" smtClean="0"/>
              <a:t>F</a:t>
            </a:r>
            <a:r>
              <a:rPr lang="en-US" dirty="0" err="1" smtClean="0"/>
              <a:t>ile</a:t>
            </a:r>
            <a:r>
              <a:rPr lang="en-US" u="sng" dirty="0" err="1" smtClean="0"/>
              <a:t>s</a:t>
            </a:r>
            <a:r>
              <a:rPr lang="en-US" dirty="0" err="1" smtClean="0"/>
              <a:t>ystem</a:t>
            </a:r>
            <a:endParaRPr lang="en-US" dirty="0" smtClean="0"/>
          </a:p>
          <a:p>
            <a:pPr marL="285750" indent="-285750" algn="just">
              <a:buSzPct val="100000"/>
              <a:buFont typeface="Arial" panose="020B0604020202020204" pitchFamily="34" charset="0"/>
              <a:buChar char="•"/>
            </a:pPr>
            <a:endParaRPr lang="en-US" dirty="0"/>
          </a:p>
          <a:p>
            <a:pPr marL="285750" indent="-285750" algn="just">
              <a:buSzPct val="100000"/>
              <a:buFont typeface="Arial" panose="020B0604020202020204" pitchFamily="34" charset="0"/>
              <a:buChar char="•"/>
            </a:pPr>
            <a:r>
              <a:rPr lang="en-US" dirty="0"/>
              <a:t>Tailored to needs of </a:t>
            </a:r>
            <a:r>
              <a:rPr lang="en-US" dirty="0" err="1"/>
              <a:t>MapReduce</a:t>
            </a:r>
            <a:r>
              <a:rPr lang="en-US" dirty="0"/>
              <a:t> </a:t>
            </a:r>
            <a:endParaRPr lang="en-US" dirty="0" smtClean="0"/>
          </a:p>
          <a:p>
            <a:pPr marL="285750" indent="-285750" algn="just">
              <a:buSzPct val="100000"/>
              <a:buFont typeface="Arial" panose="020B0604020202020204" pitchFamily="34" charset="0"/>
              <a:buChar char="•"/>
            </a:pPr>
            <a:endParaRPr lang="en-US" dirty="0"/>
          </a:p>
          <a:p>
            <a:pPr marL="285750" indent="-285750" algn="just">
              <a:buSzPct val="100000"/>
              <a:buFont typeface="Arial" panose="020B0604020202020204" pitchFamily="34" charset="0"/>
              <a:buChar char="•"/>
            </a:pPr>
            <a:r>
              <a:rPr lang="en-US" dirty="0"/>
              <a:t>Targeted towards many reads of </a:t>
            </a:r>
            <a:r>
              <a:rPr lang="en-US" dirty="0" err="1" smtClean="0"/>
              <a:t>filestreams</a:t>
            </a:r>
            <a:endParaRPr lang="en-US" dirty="0" smtClean="0"/>
          </a:p>
          <a:p>
            <a:pPr marL="285750" indent="-285750" algn="just">
              <a:buSzPct val="100000"/>
              <a:buFont typeface="Arial" panose="020B0604020202020204" pitchFamily="34" charset="0"/>
              <a:buChar char="•"/>
            </a:pPr>
            <a:endParaRPr lang="en-US" dirty="0"/>
          </a:p>
          <a:p>
            <a:pPr marL="285750" indent="-285750" algn="just">
              <a:buSzPct val="100000"/>
              <a:buFont typeface="Arial" panose="020B0604020202020204" pitchFamily="34" charset="0"/>
              <a:buChar char="•"/>
            </a:pPr>
            <a:r>
              <a:rPr lang="en-US" dirty="0"/>
              <a:t>Writes are more costly </a:t>
            </a:r>
            <a:endParaRPr lang="en-US" dirty="0" smtClean="0"/>
          </a:p>
          <a:p>
            <a:pPr marL="285750" indent="-285750" algn="just">
              <a:buSzPct val="100000"/>
              <a:buFont typeface="Arial" panose="020B0604020202020204" pitchFamily="34" charset="0"/>
              <a:buChar char="•"/>
            </a:pPr>
            <a:endParaRPr lang="en-US" dirty="0"/>
          </a:p>
          <a:p>
            <a:pPr marL="285750" indent="-285750" algn="just">
              <a:buSzPct val="100000"/>
              <a:buFont typeface="Arial" panose="020B0604020202020204" pitchFamily="34" charset="0"/>
              <a:buChar char="•"/>
            </a:pPr>
            <a:r>
              <a:rPr lang="en-US" dirty="0"/>
              <a:t>High degree of data replication (3x by default</a:t>
            </a:r>
            <a:r>
              <a:rPr lang="en-US" dirty="0" smtClean="0"/>
              <a:t>)</a:t>
            </a:r>
          </a:p>
          <a:p>
            <a:pPr marL="285750" indent="-285750" algn="just">
              <a:buSzPct val="100000"/>
              <a:buFont typeface="Arial" panose="020B0604020202020204" pitchFamily="34" charset="0"/>
              <a:buChar char="•"/>
            </a:pPr>
            <a:endParaRPr lang="en-US" dirty="0"/>
          </a:p>
          <a:p>
            <a:pPr marL="285750" indent="-285750" algn="just">
              <a:buSzPct val="100000"/>
              <a:buFont typeface="Arial" panose="020B0604020202020204" pitchFamily="34" charset="0"/>
              <a:buChar char="•"/>
            </a:pPr>
            <a:r>
              <a:rPr lang="en-US" dirty="0"/>
              <a:t>No need for RAID on normal </a:t>
            </a:r>
            <a:r>
              <a:rPr lang="en-US" dirty="0" smtClean="0"/>
              <a:t>nodes</a:t>
            </a:r>
          </a:p>
          <a:p>
            <a:pPr marL="285750" indent="-285750" algn="just">
              <a:buSzPct val="100000"/>
              <a:buFont typeface="Arial" panose="020B0604020202020204" pitchFamily="34" charset="0"/>
              <a:buChar char="•"/>
            </a:pPr>
            <a:endParaRPr lang="en-US" dirty="0"/>
          </a:p>
          <a:p>
            <a:pPr marL="285750" indent="-285750" algn="just">
              <a:buSzPct val="100000"/>
              <a:buFont typeface="Arial" panose="020B0604020202020204" pitchFamily="34" charset="0"/>
              <a:buChar char="•"/>
            </a:pPr>
            <a:r>
              <a:rPr lang="en-US" dirty="0"/>
              <a:t>Large </a:t>
            </a:r>
            <a:r>
              <a:rPr lang="en-US" dirty="0" err="1" smtClean="0"/>
              <a:t>blocksize</a:t>
            </a:r>
            <a:r>
              <a:rPr lang="en-US" dirty="0" smtClean="0"/>
              <a:t> </a:t>
            </a:r>
            <a:r>
              <a:rPr lang="en-US" dirty="0"/>
              <a:t>(64MB</a:t>
            </a:r>
            <a:r>
              <a:rPr lang="en-US" dirty="0" smtClean="0"/>
              <a:t>)</a:t>
            </a:r>
          </a:p>
          <a:p>
            <a:pPr marL="285750" indent="-285750" algn="just">
              <a:buSzPct val="100000"/>
              <a:buFont typeface="Arial" panose="020B0604020202020204" pitchFamily="34" charset="0"/>
              <a:buChar char="•"/>
            </a:pPr>
            <a:endParaRPr lang="en-US" dirty="0"/>
          </a:p>
          <a:p>
            <a:pPr marL="285750" indent="-285750" algn="just">
              <a:buSzPct val="100000"/>
              <a:buFont typeface="Arial" panose="020B0604020202020204" pitchFamily="34" charset="0"/>
              <a:buChar char="•"/>
            </a:pPr>
            <a:r>
              <a:rPr lang="en-US" dirty="0"/>
              <a:t>Location awareness of </a:t>
            </a:r>
            <a:r>
              <a:rPr lang="en-US" dirty="0" err="1"/>
              <a:t>DataNodes</a:t>
            </a:r>
            <a:r>
              <a:rPr lang="en-US" dirty="0"/>
              <a:t> in network</a:t>
            </a:r>
          </a:p>
          <a:p>
            <a:pPr marL="285750" indent="-285750" algn="just">
              <a:buSzPct val="100000"/>
              <a:buFont typeface="Arial" panose="020B0604020202020204" pitchFamily="34" charset="0"/>
              <a:buChar char="•"/>
            </a:pPr>
            <a:endParaRPr lang="en-US" dirty="0"/>
          </a:p>
        </p:txBody>
      </p:sp>
    </p:spTree>
    <p:extLst>
      <p:ext uri="{BB962C8B-B14F-4D97-AF65-F5344CB8AC3E}">
        <p14:creationId xmlns:p14="http://schemas.microsoft.com/office/powerpoint/2010/main" val="24203993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err="1" smtClean="0">
                <a:latin typeface="Cambria" pitchFamily="18" charset="0"/>
              </a:rPr>
              <a:t>Hadoop’s</a:t>
            </a:r>
            <a:r>
              <a:rPr lang="en-US" dirty="0" smtClean="0">
                <a:latin typeface="Cambria" pitchFamily="18" charset="0"/>
              </a:rPr>
              <a:t> Architecture</a:t>
            </a:r>
            <a:endParaRPr lang="en-US" dirty="0">
              <a:latin typeface="Cambria" pitchFamily="18" charset="0"/>
            </a:endParaRPr>
          </a:p>
        </p:txBody>
      </p:sp>
      <p:sp>
        <p:nvSpPr>
          <p:cNvPr id="2" name="Rectangle 1"/>
          <p:cNvSpPr/>
          <p:nvPr/>
        </p:nvSpPr>
        <p:spPr>
          <a:xfrm>
            <a:off x="1143000" y="1676400"/>
            <a:ext cx="6629400" cy="3970318"/>
          </a:xfrm>
          <a:prstGeom prst="rect">
            <a:avLst/>
          </a:prstGeom>
        </p:spPr>
        <p:txBody>
          <a:bodyPr wrap="square">
            <a:spAutoFit/>
          </a:bodyPr>
          <a:lstStyle/>
          <a:p>
            <a:pPr>
              <a:buSzPct val="100000"/>
            </a:pPr>
            <a:r>
              <a:rPr lang="en-US" b="1" u="sng" dirty="0" err="1" smtClean="0"/>
              <a:t>NameNode</a:t>
            </a:r>
            <a:r>
              <a:rPr lang="en-US" b="1" u="sng" dirty="0" smtClean="0"/>
              <a:t>:</a:t>
            </a:r>
          </a:p>
          <a:p>
            <a:pPr marL="285750" indent="-285750">
              <a:buSzPct val="100000"/>
              <a:buFont typeface="Arial" panose="020B0604020202020204" pitchFamily="34" charset="0"/>
              <a:buChar char="•"/>
            </a:pPr>
            <a:endParaRPr lang="en-US" dirty="0"/>
          </a:p>
          <a:p>
            <a:pPr marL="285750" indent="-285750">
              <a:buSzPct val="100000"/>
              <a:buFont typeface="Arial" panose="020B0604020202020204" pitchFamily="34" charset="0"/>
              <a:buChar char="•"/>
            </a:pPr>
            <a:r>
              <a:rPr lang="en-US" dirty="0"/>
              <a:t>Stores metadata for the files, like the directory structure of a typical FS</a:t>
            </a:r>
            <a:r>
              <a:rPr lang="en-US" dirty="0" smtClean="0"/>
              <a:t>.</a:t>
            </a:r>
          </a:p>
          <a:p>
            <a:pPr marL="285750" indent="-285750">
              <a:buSzPct val="100000"/>
              <a:buFont typeface="Arial" panose="020B0604020202020204" pitchFamily="34" charset="0"/>
              <a:buChar char="•"/>
            </a:pPr>
            <a:endParaRPr lang="en-US" dirty="0"/>
          </a:p>
          <a:p>
            <a:pPr marL="285750" indent="-285750">
              <a:buSzPct val="100000"/>
              <a:buFont typeface="Arial" panose="020B0604020202020204" pitchFamily="34" charset="0"/>
              <a:buChar char="•"/>
            </a:pPr>
            <a:r>
              <a:rPr lang="en-US" dirty="0"/>
              <a:t>The server holding the </a:t>
            </a:r>
            <a:r>
              <a:rPr lang="en-US" dirty="0" err="1"/>
              <a:t>NameNode</a:t>
            </a:r>
            <a:r>
              <a:rPr lang="en-US" dirty="0"/>
              <a:t> instance is quite crucial, as there is only one. </a:t>
            </a:r>
            <a:endParaRPr lang="en-US" dirty="0" smtClean="0"/>
          </a:p>
          <a:p>
            <a:pPr marL="285750" indent="-285750">
              <a:buSzPct val="100000"/>
              <a:buFont typeface="Arial" panose="020B0604020202020204" pitchFamily="34" charset="0"/>
              <a:buChar char="•"/>
            </a:pPr>
            <a:endParaRPr lang="en-US" dirty="0"/>
          </a:p>
          <a:p>
            <a:pPr marL="285750" indent="-285750">
              <a:buSzPct val="100000"/>
              <a:buFont typeface="Arial" panose="020B0604020202020204" pitchFamily="34" charset="0"/>
              <a:buChar char="•"/>
            </a:pPr>
            <a:r>
              <a:rPr lang="en-US" dirty="0"/>
              <a:t>Transaction log for file deletes/adds, etc. Does not use transactions for whole blocks or file-streams, only metadata</a:t>
            </a:r>
            <a:r>
              <a:rPr lang="en-US" dirty="0" smtClean="0"/>
              <a:t>.</a:t>
            </a:r>
          </a:p>
          <a:p>
            <a:pPr marL="285750" indent="-285750">
              <a:buSzPct val="100000"/>
              <a:buFont typeface="Arial" panose="020B0604020202020204" pitchFamily="34" charset="0"/>
              <a:buChar char="•"/>
            </a:pPr>
            <a:endParaRPr lang="en-US" dirty="0"/>
          </a:p>
          <a:p>
            <a:pPr marL="285750" indent="-285750">
              <a:buSzPct val="100000"/>
              <a:buFont typeface="Arial" panose="020B0604020202020204" pitchFamily="34" charset="0"/>
              <a:buChar char="•"/>
            </a:pPr>
            <a:r>
              <a:rPr lang="en-US" dirty="0"/>
              <a:t>Handles creation of more replica blocks when necessary after a </a:t>
            </a:r>
            <a:r>
              <a:rPr lang="en-US" dirty="0" err="1"/>
              <a:t>DataNode</a:t>
            </a:r>
            <a:r>
              <a:rPr lang="en-US" dirty="0"/>
              <a:t> failure</a:t>
            </a:r>
          </a:p>
          <a:p>
            <a:pPr marL="285750" indent="-285750">
              <a:buSzPct val="100000"/>
              <a:buFont typeface="Arial" panose="020B0604020202020204" pitchFamily="34" charset="0"/>
              <a:buChar char="•"/>
            </a:pPr>
            <a:endParaRPr lang="en-US" dirty="0"/>
          </a:p>
        </p:txBody>
      </p:sp>
    </p:spTree>
    <p:extLst>
      <p:ext uri="{BB962C8B-B14F-4D97-AF65-F5344CB8AC3E}">
        <p14:creationId xmlns:p14="http://schemas.microsoft.com/office/powerpoint/2010/main" val="11721078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err="1" smtClean="0">
                <a:latin typeface="Cambria" pitchFamily="18" charset="0"/>
              </a:rPr>
              <a:t>Hadoop’s</a:t>
            </a:r>
            <a:r>
              <a:rPr lang="en-US" dirty="0" smtClean="0">
                <a:latin typeface="Cambria" pitchFamily="18" charset="0"/>
              </a:rPr>
              <a:t> Architecture</a:t>
            </a:r>
            <a:endParaRPr lang="en-US" dirty="0">
              <a:latin typeface="Cambria" pitchFamily="18" charset="0"/>
            </a:endParaRPr>
          </a:p>
        </p:txBody>
      </p:sp>
      <p:sp>
        <p:nvSpPr>
          <p:cNvPr id="2" name="Rectangle 1"/>
          <p:cNvSpPr/>
          <p:nvPr/>
        </p:nvSpPr>
        <p:spPr>
          <a:xfrm>
            <a:off x="1143000" y="1676400"/>
            <a:ext cx="6629400" cy="2585323"/>
          </a:xfrm>
          <a:prstGeom prst="rect">
            <a:avLst/>
          </a:prstGeom>
        </p:spPr>
        <p:txBody>
          <a:bodyPr wrap="square">
            <a:spAutoFit/>
          </a:bodyPr>
          <a:lstStyle/>
          <a:p>
            <a:pPr>
              <a:buSzPct val="100000"/>
            </a:pPr>
            <a:r>
              <a:rPr lang="en-US" b="1" u="sng" dirty="0" err="1" smtClean="0"/>
              <a:t>DataNode</a:t>
            </a:r>
            <a:r>
              <a:rPr lang="en-US" b="1" u="sng" dirty="0" smtClean="0"/>
              <a:t>:</a:t>
            </a:r>
          </a:p>
          <a:p>
            <a:pPr marL="285750" indent="-285750">
              <a:buSzPct val="100000"/>
              <a:buFont typeface="Arial" panose="020B0604020202020204" pitchFamily="34" charset="0"/>
              <a:buChar char="•"/>
            </a:pPr>
            <a:endParaRPr lang="en-US" dirty="0"/>
          </a:p>
          <a:p>
            <a:pPr marL="285750" indent="-285750">
              <a:buSzPct val="100000"/>
              <a:buFont typeface="Arial" panose="020B0604020202020204" pitchFamily="34" charset="0"/>
              <a:buChar char="•"/>
            </a:pPr>
            <a:r>
              <a:rPr lang="en-US" dirty="0"/>
              <a:t>Stores the actual data in </a:t>
            </a:r>
            <a:r>
              <a:rPr lang="en-US" dirty="0" smtClean="0"/>
              <a:t>HDFS</a:t>
            </a:r>
          </a:p>
          <a:p>
            <a:pPr marL="285750" indent="-285750">
              <a:buSzPct val="100000"/>
              <a:buFont typeface="Arial" panose="020B0604020202020204" pitchFamily="34" charset="0"/>
              <a:buChar char="•"/>
            </a:pPr>
            <a:endParaRPr lang="en-US" dirty="0"/>
          </a:p>
          <a:p>
            <a:pPr marL="285750" indent="-285750">
              <a:buSzPct val="100000"/>
              <a:buFont typeface="Arial" panose="020B0604020202020204" pitchFamily="34" charset="0"/>
              <a:buChar char="•"/>
            </a:pPr>
            <a:r>
              <a:rPr lang="en-US" dirty="0"/>
              <a:t>Can run on any underlying </a:t>
            </a:r>
            <a:r>
              <a:rPr lang="en-US" dirty="0" err="1"/>
              <a:t>filesystem</a:t>
            </a:r>
            <a:r>
              <a:rPr lang="en-US" dirty="0"/>
              <a:t> (ext3/4, NTFS, </a:t>
            </a:r>
            <a:r>
              <a:rPr lang="en-US" dirty="0" err="1"/>
              <a:t>etc</a:t>
            </a:r>
            <a:r>
              <a:rPr lang="en-US" dirty="0" smtClean="0"/>
              <a:t>)</a:t>
            </a:r>
          </a:p>
          <a:p>
            <a:pPr marL="285750" indent="-285750">
              <a:buSzPct val="100000"/>
              <a:buFont typeface="Arial" panose="020B0604020202020204" pitchFamily="34" charset="0"/>
              <a:buChar char="•"/>
            </a:pPr>
            <a:endParaRPr lang="en-US" dirty="0"/>
          </a:p>
          <a:p>
            <a:pPr marL="285750" indent="-285750">
              <a:buSzPct val="100000"/>
              <a:buFont typeface="Arial" panose="020B0604020202020204" pitchFamily="34" charset="0"/>
              <a:buChar char="•"/>
            </a:pPr>
            <a:r>
              <a:rPr lang="en-US" dirty="0"/>
              <a:t>Notifies </a:t>
            </a:r>
            <a:r>
              <a:rPr lang="en-US" dirty="0" err="1"/>
              <a:t>NameNode</a:t>
            </a:r>
            <a:r>
              <a:rPr lang="en-US" dirty="0"/>
              <a:t> of what blocks it </a:t>
            </a:r>
            <a:r>
              <a:rPr lang="en-US" dirty="0" smtClean="0"/>
              <a:t>has</a:t>
            </a:r>
          </a:p>
          <a:p>
            <a:pPr marL="285750" indent="-285750">
              <a:buSzPct val="100000"/>
              <a:buFont typeface="Arial" panose="020B0604020202020204" pitchFamily="34" charset="0"/>
              <a:buChar char="•"/>
            </a:pPr>
            <a:endParaRPr lang="en-US" dirty="0"/>
          </a:p>
          <a:p>
            <a:pPr marL="285750" indent="-285750">
              <a:buSzPct val="100000"/>
              <a:buFont typeface="Arial" panose="020B0604020202020204" pitchFamily="34" charset="0"/>
              <a:buChar char="•"/>
            </a:pPr>
            <a:r>
              <a:rPr lang="en-US" dirty="0" err="1"/>
              <a:t>NameNode</a:t>
            </a:r>
            <a:r>
              <a:rPr lang="en-US" dirty="0"/>
              <a:t> replicates blocks 2x in local rack, 1x elsewhere</a:t>
            </a:r>
          </a:p>
        </p:txBody>
      </p:sp>
    </p:spTree>
    <p:extLst>
      <p:ext uri="{BB962C8B-B14F-4D97-AF65-F5344CB8AC3E}">
        <p14:creationId xmlns:p14="http://schemas.microsoft.com/office/powerpoint/2010/main" val="29734337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err="1" smtClean="0">
                <a:latin typeface="Cambria" pitchFamily="18" charset="0"/>
              </a:rPr>
              <a:t>Hadoop’s</a:t>
            </a:r>
            <a:r>
              <a:rPr lang="en-US" dirty="0" smtClean="0">
                <a:latin typeface="Cambria" pitchFamily="18" charset="0"/>
              </a:rPr>
              <a:t> Architecture: </a:t>
            </a:r>
            <a:r>
              <a:rPr lang="en-US" dirty="0" err="1" smtClean="0">
                <a:latin typeface="Cambria" pitchFamily="18" charset="0"/>
              </a:rPr>
              <a:t>MapReduce</a:t>
            </a:r>
            <a:r>
              <a:rPr lang="en-US" dirty="0" smtClean="0">
                <a:latin typeface="Cambria" pitchFamily="18" charset="0"/>
              </a:rPr>
              <a:t> Engine</a:t>
            </a:r>
            <a:endParaRPr lang="en-US" dirty="0">
              <a:latin typeface="Cambria" pitchFamily="18" charset="0"/>
            </a:endParaRPr>
          </a:p>
        </p:txBody>
      </p:sp>
      <p:pic>
        <p:nvPicPr>
          <p:cNvPr id="6" name="Picture 4"/>
          <p:cNvPicPr/>
          <p:nvPr/>
        </p:nvPicPr>
        <p:blipFill>
          <a:blip r:embed="rId2" cstate="print"/>
          <a:stretch>
            <a:fillRect/>
          </a:stretch>
        </p:blipFill>
        <p:spPr>
          <a:xfrm>
            <a:off x="640080" y="1264920"/>
            <a:ext cx="7589520" cy="5120640"/>
          </a:xfrm>
          <a:prstGeom prst="rect">
            <a:avLst/>
          </a:prstGeom>
        </p:spPr>
      </p:pic>
    </p:spTree>
    <p:extLst>
      <p:ext uri="{BB962C8B-B14F-4D97-AF65-F5344CB8AC3E}">
        <p14:creationId xmlns:p14="http://schemas.microsoft.com/office/powerpoint/2010/main" val="25562434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00200" y="1828800"/>
            <a:ext cx="5795898" cy="3484488"/>
          </a:xfrm>
          <a:prstGeom prst="rect">
            <a:avLst/>
          </a:prstGeom>
          <a:noFill/>
          <a:ln>
            <a:noFill/>
          </a:ln>
        </p:spPr>
      </p:pic>
    </p:spTree>
    <p:extLst>
      <p:ext uri="{BB962C8B-B14F-4D97-AF65-F5344CB8AC3E}">
        <p14:creationId xmlns:p14="http://schemas.microsoft.com/office/powerpoint/2010/main" val="29793983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err="1" smtClean="0">
                <a:latin typeface="Cambria" pitchFamily="18" charset="0"/>
              </a:rPr>
              <a:t>Hadoop’s</a:t>
            </a:r>
            <a:r>
              <a:rPr lang="en-US" dirty="0" smtClean="0">
                <a:latin typeface="Cambria" pitchFamily="18" charset="0"/>
              </a:rPr>
              <a:t> Architecture</a:t>
            </a:r>
            <a:endParaRPr lang="en-US" dirty="0">
              <a:latin typeface="Cambria" pitchFamily="18" charset="0"/>
            </a:endParaRPr>
          </a:p>
        </p:txBody>
      </p:sp>
      <p:sp>
        <p:nvSpPr>
          <p:cNvPr id="2" name="Rectangle 1"/>
          <p:cNvSpPr/>
          <p:nvPr/>
        </p:nvSpPr>
        <p:spPr>
          <a:xfrm>
            <a:off x="1143000" y="1676400"/>
            <a:ext cx="6629400" cy="2862322"/>
          </a:xfrm>
          <a:prstGeom prst="rect">
            <a:avLst/>
          </a:prstGeom>
        </p:spPr>
        <p:txBody>
          <a:bodyPr wrap="square">
            <a:spAutoFit/>
          </a:bodyPr>
          <a:lstStyle/>
          <a:p>
            <a:pPr>
              <a:buSzPct val="100000"/>
            </a:pPr>
            <a:r>
              <a:rPr lang="en-US" b="1" u="sng" dirty="0" err="1"/>
              <a:t>MapReduce</a:t>
            </a:r>
            <a:r>
              <a:rPr lang="en-US" b="1" u="sng" dirty="0"/>
              <a:t> </a:t>
            </a:r>
            <a:r>
              <a:rPr lang="en-US" b="1" u="sng" dirty="0" smtClean="0"/>
              <a:t>Engine:</a:t>
            </a:r>
          </a:p>
          <a:p>
            <a:pPr>
              <a:buSzPct val="100000"/>
            </a:pPr>
            <a:endParaRPr lang="en-US" b="1" u="sng" dirty="0"/>
          </a:p>
          <a:p>
            <a:pPr marL="285750" indent="-285750">
              <a:buSzPct val="100000"/>
              <a:buFont typeface="Arial" panose="020B0604020202020204" pitchFamily="34" charset="0"/>
              <a:buChar char="•"/>
            </a:pPr>
            <a:r>
              <a:rPr lang="en-US" dirty="0" err="1"/>
              <a:t>JobTracker</a:t>
            </a:r>
            <a:r>
              <a:rPr lang="en-US" dirty="0"/>
              <a:t> &amp; </a:t>
            </a:r>
            <a:r>
              <a:rPr lang="en-US" dirty="0" err="1" smtClean="0"/>
              <a:t>TaskTracker</a:t>
            </a:r>
            <a:endParaRPr lang="en-US" dirty="0" smtClean="0"/>
          </a:p>
          <a:p>
            <a:pPr marL="285750" indent="-285750">
              <a:buSzPct val="100000"/>
              <a:buFont typeface="Arial" panose="020B0604020202020204" pitchFamily="34" charset="0"/>
              <a:buChar char="•"/>
            </a:pPr>
            <a:endParaRPr lang="en-US" dirty="0"/>
          </a:p>
          <a:p>
            <a:pPr marL="285750" indent="-285750">
              <a:buSzPct val="100000"/>
              <a:buFont typeface="Arial" panose="020B0604020202020204" pitchFamily="34" charset="0"/>
              <a:buChar char="•"/>
            </a:pPr>
            <a:r>
              <a:rPr lang="en-US" dirty="0" err="1"/>
              <a:t>JobTracker</a:t>
            </a:r>
            <a:r>
              <a:rPr lang="en-US" dirty="0"/>
              <a:t> splits up data into smaller tasks(“Map”) and sends it to the </a:t>
            </a:r>
            <a:r>
              <a:rPr lang="en-US" dirty="0" err="1"/>
              <a:t>TaskTracker</a:t>
            </a:r>
            <a:r>
              <a:rPr lang="en-US" dirty="0"/>
              <a:t> process in each </a:t>
            </a:r>
            <a:r>
              <a:rPr lang="en-US" dirty="0" smtClean="0"/>
              <a:t>node</a:t>
            </a:r>
          </a:p>
          <a:p>
            <a:pPr marL="285750" indent="-285750">
              <a:buSzPct val="100000"/>
              <a:buFont typeface="Arial" panose="020B0604020202020204" pitchFamily="34" charset="0"/>
              <a:buChar char="•"/>
            </a:pPr>
            <a:endParaRPr lang="en-US" dirty="0"/>
          </a:p>
          <a:p>
            <a:pPr marL="285750" indent="-285750">
              <a:buSzPct val="100000"/>
              <a:buFont typeface="Arial" panose="020B0604020202020204" pitchFamily="34" charset="0"/>
              <a:buChar char="•"/>
            </a:pPr>
            <a:r>
              <a:rPr lang="en-US" dirty="0" err="1"/>
              <a:t>TaskTracker</a:t>
            </a:r>
            <a:r>
              <a:rPr lang="en-US" dirty="0"/>
              <a:t> reports back to the </a:t>
            </a:r>
            <a:r>
              <a:rPr lang="en-US" dirty="0" err="1"/>
              <a:t>JobTracker</a:t>
            </a:r>
            <a:r>
              <a:rPr lang="en-US" dirty="0"/>
              <a:t> node and reports on job progress, sends data (“Reduce”) or requests new jobs</a:t>
            </a:r>
          </a:p>
        </p:txBody>
      </p:sp>
    </p:spTree>
    <p:extLst>
      <p:ext uri="{BB962C8B-B14F-4D97-AF65-F5344CB8AC3E}">
        <p14:creationId xmlns:p14="http://schemas.microsoft.com/office/powerpoint/2010/main" val="29859453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err="1" smtClean="0">
                <a:latin typeface="Cambria" pitchFamily="18" charset="0"/>
              </a:rPr>
              <a:t>Hadoop’s</a:t>
            </a:r>
            <a:r>
              <a:rPr lang="en-US" dirty="0" smtClean="0">
                <a:latin typeface="Cambria" pitchFamily="18" charset="0"/>
              </a:rPr>
              <a:t> Architecture</a:t>
            </a:r>
            <a:endParaRPr lang="en-US" dirty="0">
              <a:latin typeface="Cambria" pitchFamily="18" charset="0"/>
            </a:endParaRPr>
          </a:p>
        </p:txBody>
      </p:sp>
      <p:sp>
        <p:nvSpPr>
          <p:cNvPr id="2" name="Rectangle 1"/>
          <p:cNvSpPr/>
          <p:nvPr/>
        </p:nvSpPr>
        <p:spPr>
          <a:xfrm>
            <a:off x="1143000" y="1676400"/>
            <a:ext cx="6629400" cy="2308324"/>
          </a:xfrm>
          <a:prstGeom prst="rect">
            <a:avLst/>
          </a:prstGeom>
        </p:spPr>
        <p:txBody>
          <a:bodyPr wrap="square">
            <a:spAutoFit/>
          </a:bodyPr>
          <a:lstStyle/>
          <a:p>
            <a:pPr marL="285750" indent="-285750">
              <a:buSzPct val="100000"/>
              <a:buFont typeface="Arial" panose="020B0604020202020204" pitchFamily="34" charset="0"/>
              <a:buChar char="•"/>
            </a:pPr>
            <a:r>
              <a:rPr lang="en-US" dirty="0" smtClean="0"/>
              <a:t>None of these components are necessarily limited to using HDFS</a:t>
            </a:r>
          </a:p>
          <a:p>
            <a:pPr marL="285750" indent="-285750">
              <a:buSzPct val="100000"/>
              <a:buFont typeface="Arial" panose="020B0604020202020204" pitchFamily="34" charset="0"/>
              <a:buChar char="•"/>
            </a:pPr>
            <a:endParaRPr lang="en-US" dirty="0" smtClean="0"/>
          </a:p>
          <a:p>
            <a:pPr marL="285750" indent="-285750">
              <a:buSzPct val="100000"/>
              <a:buFont typeface="Arial" panose="020B0604020202020204" pitchFamily="34" charset="0"/>
              <a:buChar char="•"/>
            </a:pPr>
            <a:r>
              <a:rPr lang="en-US" dirty="0" smtClean="0"/>
              <a:t>Many other distributed file-systems with quite different architectures work</a:t>
            </a:r>
          </a:p>
          <a:p>
            <a:pPr marL="285750" indent="-285750">
              <a:buSzPct val="100000"/>
              <a:buFont typeface="Arial" panose="020B0604020202020204" pitchFamily="34" charset="0"/>
              <a:buChar char="•"/>
            </a:pPr>
            <a:endParaRPr lang="en-US" dirty="0" smtClean="0"/>
          </a:p>
          <a:p>
            <a:pPr marL="285750" indent="-285750">
              <a:buSzPct val="100000"/>
              <a:buFont typeface="Arial" panose="020B0604020202020204" pitchFamily="34" charset="0"/>
              <a:buChar char="•"/>
            </a:pPr>
            <a:r>
              <a:rPr lang="en-US" dirty="0" smtClean="0"/>
              <a:t>Many other software packages besides </a:t>
            </a:r>
            <a:r>
              <a:rPr lang="en-US" dirty="0" err="1" smtClean="0"/>
              <a:t>Hadoop's</a:t>
            </a:r>
            <a:r>
              <a:rPr lang="en-US" dirty="0" smtClean="0"/>
              <a:t> </a:t>
            </a:r>
            <a:r>
              <a:rPr lang="en-US" dirty="0" err="1" smtClean="0"/>
              <a:t>MapReduce</a:t>
            </a:r>
            <a:r>
              <a:rPr lang="en-US" dirty="0" smtClean="0"/>
              <a:t> platform make use of HDFS </a:t>
            </a:r>
            <a:endParaRPr lang="en-US" dirty="0"/>
          </a:p>
        </p:txBody>
      </p:sp>
    </p:spTree>
    <p:extLst>
      <p:ext uri="{BB962C8B-B14F-4D97-AF65-F5344CB8AC3E}">
        <p14:creationId xmlns:p14="http://schemas.microsoft.com/office/powerpoint/2010/main" val="10454165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err="1" smtClean="0">
                <a:latin typeface="Cambria" pitchFamily="18" charset="0"/>
              </a:rPr>
              <a:t>Hadoop</a:t>
            </a:r>
            <a:r>
              <a:rPr lang="en-US" dirty="0" smtClean="0">
                <a:latin typeface="Cambria" pitchFamily="18" charset="0"/>
              </a:rPr>
              <a:t> in the Wild</a:t>
            </a:r>
            <a:endParaRPr lang="en-US" dirty="0">
              <a:latin typeface="Cambria" pitchFamily="18" charset="0"/>
            </a:endParaRPr>
          </a:p>
        </p:txBody>
      </p:sp>
      <p:sp>
        <p:nvSpPr>
          <p:cNvPr id="2" name="Rectangle 1"/>
          <p:cNvSpPr/>
          <p:nvPr/>
        </p:nvSpPr>
        <p:spPr>
          <a:xfrm>
            <a:off x="1143000" y="1524000"/>
            <a:ext cx="6629400" cy="3693319"/>
          </a:xfrm>
          <a:prstGeom prst="rect">
            <a:avLst/>
          </a:prstGeom>
        </p:spPr>
        <p:txBody>
          <a:bodyPr wrap="square">
            <a:spAutoFit/>
          </a:bodyPr>
          <a:lstStyle/>
          <a:p>
            <a:pPr marL="285750" indent="-285750">
              <a:buSzPct val="100000"/>
              <a:buFont typeface="Arial" panose="020B0604020202020204" pitchFamily="34" charset="0"/>
              <a:buChar char="•"/>
            </a:pPr>
            <a:r>
              <a:rPr lang="en-US" dirty="0" err="1" smtClean="0"/>
              <a:t>Hadoop</a:t>
            </a:r>
            <a:r>
              <a:rPr lang="en-US" dirty="0" smtClean="0"/>
              <a:t> is in use at most organizations that handle big data: </a:t>
            </a:r>
          </a:p>
          <a:p>
            <a:pPr marL="742950" lvl="1" indent="-285750">
              <a:buSzPct val="100000"/>
              <a:buFont typeface="Courier New" pitchFamily="49" charset="0"/>
              <a:buChar char="o"/>
            </a:pPr>
            <a:r>
              <a:rPr lang="en-US" dirty="0" smtClean="0"/>
              <a:t>Yahoo! </a:t>
            </a:r>
          </a:p>
          <a:p>
            <a:pPr marL="742950" lvl="1" indent="-285750">
              <a:buSzPct val="100000"/>
              <a:buFont typeface="Courier New" pitchFamily="49" charset="0"/>
              <a:buChar char="o"/>
            </a:pPr>
            <a:r>
              <a:rPr lang="en-US" dirty="0" smtClean="0"/>
              <a:t>Facebook</a:t>
            </a:r>
          </a:p>
          <a:p>
            <a:pPr marL="742950" lvl="1" indent="-285750">
              <a:buSzPct val="100000"/>
              <a:buFont typeface="Courier New" pitchFamily="49" charset="0"/>
              <a:buChar char="o"/>
            </a:pPr>
            <a:r>
              <a:rPr lang="en-US" dirty="0" smtClean="0"/>
              <a:t>Amazon</a:t>
            </a:r>
          </a:p>
          <a:p>
            <a:pPr marL="742950" lvl="1" indent="-285750">
              <a:buSzPct val="100000"/>
              <a:buFont typeface="Courier New" pitchFamily="49" charset="0"/>
              <a:buChar char="o"/>
            </a:pPr>
            <a:r>
              <a:rPr lang="en-US" dirty="0" smtClean="0"/>
              <a:t>Netflix</a:t>
            </a:r>
          </a:p>
          <a:p>
            <a:pPr marL="742950" lvl="1" indent="-285750">
              <a:buSzPct val="100000"/>
              <a:buFont typeface="Courier New" pitchFamily="49" charset="0"/>
              <a:buChar char="o"/>
            </a:pPr>
            <a:r>
              <a:rPr lang="en-US" dirty="0" smtClean="0"/>
              <a:t>Etc…</a:t>
            </a:r>
          </a:p>
          <a:p>
            <a:pPr marL="742950" lvl="1" indent="-285750">
              <a:buSzPct val="100000"/>
              <a:buFont typeface="Arial" panose="020B0604020202020204" pitchFamily="34" charset="0"/>
              <a:buChar char="•"/>
            </a:pPr>
            <a:endParaRPr lang="en-US" dirty="0"/>
          </a:p>
          <a:p>
            <a:pPr marL="285750" indent="-285750">
              <a:buSzPct val="100000"/>
              <a:buFont typeface="Arial" pitchFamily="34" charset="0"/>
              <a:buChar char="•"/>
            </a:pPr>
            <a:r>
              <a:rPr lang="en-US" dirty="0" smtClean="0"/>
              <a:t>Some examples of scale: </a:t>
            </a:r>
          </a:p>
          <a:p>
            <a:pPr marL="742950" lvl="1" indent="-285750">
              <a:buSzPct val="100000"/>
              <a:buFont typeface="Courier New" pitchFamily="49" charset="0"/>
              <a:buChar char="o"/>
            </a:pPr>
            <a:r>
              <a:rPr lang="en-US" dirty="0" smtClean="0"/>
              <a:t>Yahoo!’s Search </a:t>
            </a:r>
            <a:r>
              <a:rPr lang="en-US" dirty="0" err="1" smtClean="0"/>
              <a:t>Webmap</a:t>
            </a:r>
            <a:r>
              <a:rPr lang="en-US" dirty="0" smtClean="0"/>
              <a:t> runs on 10,000 core Linux cluster and powers Yahoo! Web search </a:t>
            </a:r>
          </a:p>
          <a:p>
            <a:pPr marL="742950" lvl="1" indent="-285750">
              <a:buSzPct val="100000"/>
              <a:buFont typeface="Courier New" pitchFamily="49" charset="0"/>
              <a:buChar char="o"/>
            </a:pPr>
            <a:endParaRPr lang="en-US" dirty="0"/>
          </a:p>
          <a:p>
            <a:pPr marL="742950" lvl="1" indent="-285750">
              <a:buSzPct val="100000"/>
              <a:buFont typeface="Courier New" pitchFamily="49" charset="0"/>
              <a:buChar char="o"/>
            </a:pPr>
            <a:r>
              <a:rPr lang="en-US" dirty="0" smtClean="0"/>
              <a:t>FB’s </a:t>
            </a:r>
            <a:r>
              <a:rPr lang="en-US" dirty="0" err="1" smtClean="0"/>
              <a:t>Hadoop</a:t>
            </a:r>
            <a:r>
              <a:rPr lang="en-US" dirty="0" smtClean="0"/>
              <a:t> cluster hosts 100+ PB of data (July, 2012) &amp; growing at ½ PB/day (Nov, 2012)</a:t>
            </a:r>
            <a:endParaRPr lang="en-US" dirty="0"/>
          </a:p>
        </p:txBody>
      </p:sp>
    </p:spTree>
    <p:extLst>
      <p:ext uri="{BB962C8B-B14F-4D97-AF65-F5344CB8AC3E}">
        <p14:creationId xmlns:p14="http://schemas.microsoft.com/office/powerpoint/2010/main" val="20355064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err="1" smtClean="0">
                <a:latin typeface="Cambria" pitchFamily="18" charset="0"/>
              </a:rPr>
              <a:t>Hadoop</a:t>
            </a:r>
            <a:r>
              <a:rPr lang="en-US" dirty="0" smtClean="0">
                <a:latin typeface="Cambria" pitchFamily="18" charset="0"/>
              </a:rPr>
              <a:t> in the Wild</a:t>
            </a:r>
            <a:endParaRPr lang="en-US" dirty="0">
              <a:latin typeface="Cambria" pitchFamily="18" charset="0"/>
            </a:endParaRPr>
          </a:p>
        </p:txBody>
      </p:sp>
      <p:sp>
        <p:nvSpPr>
          <p:cNvPr id="2" name="Rectangle 1"/>
          <p:cNvSpPr/>
          <p:nvPr/>
        </p:nvSpPr>
        <p:spPr>
          <a:xfrm>
            <a:off x="1143000" y="2436674"/>
            <a:ext cx="6629400" cy="1754326"/>
          </a:xfrm>
          <a:prstGeom prst="rect">
            <a:avLst/>
          </a:prstGeom>
        </p:spPr>
        <p:txBody>
          <a:bodyPr wrap="square">
            <a:spAutoFit/>
          </a:bodyPr>
          <a:lstStyle/>
          <a:p>
            <a:pPr marL="285750" indent="-285750">
              <a:buSzPct val="100000"/>
              <a:buFont typeface="Arial" panose="020B0604020202020204" pitchFamily="34" charset="0"/>
              <a:buChar char="•"/>
            </a:pPr>
            <a:r>
              <a:rPr lang="en-US" dirty="0" smtClean="0"/>
              <a:t>Advertisement (Mining user behavior to generate recommendations)</a:t>
            </a:r>
          </a:p>
          <a:p>
            <a:pPr marL="285750" indent="-285750">
              <a:buSzPct val="100000"/>
              <a:buFont typeface="Arial" panose="020B0604020202020204" pitchFamily="34" charset="0"/>
              <a:buChar char="•"/>
            </a:pPr>
            <a:endParaRPr lang="en-US" dirty="0"/>
          </a:p>
          <a:p>
            <a:pPr marL="285750" indent="-285750">
              <a:buSzPct val="100000"/>
              <a:buFont typeface="Arial" panose="020B0604020202020204" pitchFamily="34" charset="0"/>
              <a:buChar char="•"/>
            </a:pPr>
            <a:r>
              <a:rPr lang="en-US" dirty="0" smtClean="0"/>
              <a:t>Searches (group related documents)</a:t>
            </a:r>
          </a:p>
          <a:p>
            <a:pPr marL="285750" indent="-285750">
              <a:buSzPct val="100000"/>
              <a:buFont typeface="Arial" panose="020B0604020202020204" pitchFamily="34" charset="0"/>
              <a:buChar char="•"/>
            </a:pPr>
            <a:endParaRPr lang="en-US" dirty="0"/>
          </a:p>
          <a:p>
            <a:pPr marL="285750" indent="-285750">
              <a:buSzPct val="100000"/>
              <a:buFont typeface="Arial" panose="020B0604020202020204" pitchFamily="34" charset="0"/>
              <a:buChar char="•"/>
            </a:pPr>
            <a:r>
              <a:rPr lang="en-US" dirty="0" smtClean="0"/>
              <a:t>Security (search for uncommon patterns)</a:t>
            </a:r>
            <a:endParaRPr lang="en-US" dirty="0"/>
          </a:p>
        </p:txBody>
      </p:sp>
      <p:sp>
        <p:nvSpPr>
          <p:cNvPr id="3" name="TextBox 2"/>
          <p:cNvSpPr txBox="1"/>
          <p:nvPr/>
        </p:nvSpPr>
        <p:spPr>
          <a:xfrm>
            <a:off x="1143000" y="1828800"/>
            <a:ext cx="4267200" cy="369332"/>
          </a:xfrm>
          <a:prstGeom prst="rect">
            <a:avLst/>
          </a:prstGeom>
          <a:noFill/>
        </p:spPr>
        <p:txBody>
          <a:bodyPr wrap="square" rtlCol="0">
            <a:spAutoFit/>
          </a:bodyPr>
          <a:lstStyle/>
          <a:p>
            <a:r>
              <a:rPr lang="en-US" b="1" u="sng" dirty="0" smtClean="0"/>
              <a:t>Three main applications of </a:t>
            </a:r>
            <a:r>
              <a:rPr lang="en-US" b="1" u="sng" dirty="0" err="1" smtClean="0"/>
              <a:t>Hadoop</a:t>
            </a:r>
            <a:r>
              <a:rPr lang="en-US" b="1" u="sng" dirty="0" smtClean="0"/>
              <a:t>:</a:t>
            </a:r>
            <a:endParaRPr lang="en-US" b="1" u="sng" dirty="0"/>
          </a:p>
        </p:txBody>
      </p:sp>
    </p:spTree>
    <p:extLst>
      <p:ext uri="{BB962C8B-B14F-4D97-AF65-F5344CB8AC3E}">
        <p14:creationId xmlns:p14="http://schemas.microsoft.com/office/powerpoint/2010/main" val="11436281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err="1" smtClean="0">
                <a:latin typeface="Cambria" pitchFamily="18" charset="0"/>
              </a:rPr>
              <a:t>Hadoop</a:t>
            </a:r>
            <a:r>
              <a:rPr lang="en-US" dirty="0" smtClean="0">
                <a:latin typeface="Cambria" pitchFamily="18" charset="0"/>
              </a:rPr>
              <a:t> in the Wild</a:t>
            </a:r>
            <a:endParaRPr lang="en-US" dirty="0">
              <a:latin typeface="Cambria" pitchFamily="18" charset="0"/>
            </a:endParaRPr>
          </a:p>
        </p:txBody>
      </p:sp>
      <p:sp>
        <p:nvSpPr>
          <p:cNvPr id="2" name="Rectangle 1"/>
          <p:cNvSpPr/>
          <p:nvPr/>
        </p:nvSpPr>
        <p:spPr>
          <a:xfrm>
            <a:off x="990600" y="1676400"/>
            <a:ext cx="6629400" cy="3139321"/>
          </a:xfrm>
          <a:prstGeom prst="rect">
            <a:avLst/>
          </a:prstGeom>
        </p:spPr>
        <p:txBody>
          <a:bodyPr wrap="square">
            <a:spAutoFit/>
          </a:bodyPr>
          <a:lstStyle/>
          <a:p>
            <a:pPr marL="285750" indent="-285750">
              <a:buSzPct val="100000"/>
              <a:buFont typeface="Arial" panose="020B0604020202020204" pitchFamily="34" charset="0"/>
              <a:buChar char="•"/>
            </a:pPr>
            <a:r>
              <a:rPr lang="en-US" dirty="0" smtClean="0"/>
              <a:t>Non-</a:t>
            </a:r>
            <a:r>
              <a:rPr lang="en-US" dirty="0" err="1" smtClean="0"/>
              <a:t>realtime</a:t>
            </a:r>
            <a:r>
              <a:rPr lang="en-US" dirty="0" smtClean="0"/>
              <a:t> large dataset computing: </a:t>
            </a:r>
            <a:endParaRPr lang="en-US" dirty="0"/>
          </a:p>
          <a:p>
            <a:pPr marL="285750" indent="-285750">
              <a:buSzPct val="100000"/>
              <a:buFont typeface="Arial" panose="020B0604020202020204" pitchFamily="34" charset="0"/>
              <a:buChar char="•"/>
            </a:pPr>
            <a:endParaRPr lang="en-US" dirty="0"/>
          </a:p>
          <a:p>
            <a:pPr marL="742950" lvl="1" indent="-285750">
              <a:buSzPct val="100000"/>
              <a:buFont typeface="Courier New" pitchFamily="49" charset="0"/>
              <a:buChar char="o"/>
            </a:pPr>
            <a:r>
              <a:rPr lang="en-US" dirty="0" smtClean="0"/>
              <a:t>NY Times was dynamically generating PDFs of articles from 1851-1922</a:t>
            </a:r>
          </a:p>
          <a:p>
            <a:pPr marL="742950" lvl="1" indent="-285750">
              <a:buSzPct val="100000"/>
              <a:buFont typeface="Courier New" pitchFamily="49" charset="0"/>
              <a:buChar char="o"/>
            </a:pPr>
            <a:endParaRPr lang="en-US" dirty="0"/>
          </a:p>
          <a:p>
            <a:pPr marL="742950" lvl="1" indent="-285750">
              <a:buSzPct val="100000"/>
              <a:buFont typeface="Courier New" pitchFamily="49" charset="0"/>
              <a:buChar char="o"/>
            </a:pPr>
            <a:r>
              <a:rPr lang="en-US" dirty="0"/>
              <a:t>W</a:t>
            </a:r>
            <a:r>
              <a:rPr lang="en-US" dirty="0" smtClean="0"/>
              <a:t>anted to pre-generate &amp; statically serve articles to improve performance</a:t>
            </a:r>
          </a:p>
          <a:p>
            <a:pPr marL="285750" indent="-285750">
              <a:buSzPct val="100000"/>
              <a:buFont typeface="Courier New" pitchFamily="49" charset="0"/>
              <a:buChar char="o"/>
            </a:pPr>
            <a:endParaRPr lang="en-US" dirty="0"/>
          </a:p>
          <a:p>
            <a:pPr marL="742950" lvl="1" indent="-285750">
              <a:buSzPct val="100000"/>
              <a:buFont typeface="Courier New" pitchFamily="49" charset="0"/>
              <a:buChar char="o"/>
            </a:pPr>
            <a:r>
              <a:rPr lang="en-US" dirty="0" smtClean="0"/>
              <a:t>Using </a:t>
            </a:r>
            <a:r>
              <a:rPr lang="en-US" dirty="0" err="1" smtClean="0"/>
              <a:t>Hadoop</a:t>
            </a:r>
            <a:r>
              <a:rPr lang="en-US" dirty="0" smtClean="0"/>
              <a:t> + </a:t>
            </a:r>
            <a:r>
              <a:rPr lang="en-US" dirty="0" err="1" smtClean="0"/>
              <a:t>MapReduce</a:t>
            </a:r>
            <a:r>
              <a:rPr lang="en-US" dirty="0" smtClean="0"/>
              <a:t> running on EC2 / S3, converted 4TB of TIFFs into 11 million PDF articles in 24 </a:t>
            </a:r>
            <a:r>
              <a:rPr lang="en-US" dirty="0" err="1" smtClean="0"/>
              <a:t>hrs</a:t>
            </a:r>
            <a:endParaRPr lang="en-US" dirty="0" smtClean="0"/>
          </a:p>
        </p:txBody>
      </p:sp>
    </p:spTree>
    <p:extLst>
      <p:ext uri="{BB962C8B-B14F-4D97-AF65-F5344CB8AC3E}">
        <p14:creationId xmlns:p14="http://schemas.microsoft.com/office/powerpoint/2010/main" val="10751279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err="1" smtClean="0">
                <a:latin typeface="Cambria" pitchFamily="18" charset="0"/>
              </a:rPr>
              <a:t>Hadoop</a:t>
            </a:r>
            <a:r>
              <a:rPr lang="en-US" dirty="0" smtClean="0">
                <a:latin typeface="Cambria" pitchFamily="18" charset="0"/>
              </a:rPr>
              <a:t> in the Wild: Facebook Messages</a:t>
            </a:r>
            <a:endParaRPr lang="en-US" dirty="0">
              <a:latin typeface="Cambria" pitchFamily="18" charset="0"/>
            </a:endParaRPr>
          </a:p>
        </p:txBody>
      </p:sp>
      <p:sp>
        <p:nvSpPr>
          <p:cNvPr id="2" name="Rectangle 1"/>
          <p:cNvSpPr/>
          <p:nvPr/>
        </p:nvSpPr>
        <p:spPr>
          <a:xfrm>
            <a:off x="304800" y="1676400"/>
            <a:ext cx="4648200" cy="4247317"/>
          </a:xfrm>
          <a:prstGeom prst="rect">
            <a:avLst/>
          </a:prstGeom>
        </p:spPr>
        <p:txBody>
          <a:bodyPr wrap="square">
            <a:spAutoFit/>
          </a:bodyPr>
          <a:lstStyle/>
          <a:p>
            <a:pPr marL="285750" indent="-285750">
              <a:buSzPct val="100000"/>
              <a:buFont typeface="Arial" panose="020B0604020202020204" pitchFamily="34" charset="0"/>
              <a:buChar char="•"/>
            </a:pPr>
            <a:r>
              <a:rPr lang="en-US" dirty="0" smtClean="0"/>
              <a:t>Design requirements: </a:t>
            </a:r>
          </a:p>
          <a:p>
            <a:pPr marL="285750" indent="-285750">
              <a:buSzPct val="100000"/>
              <a:buFont typeface="Arial" panose="020B0604020202020204" pitchFamily="34" charset="0"/>
              <a:buChar char="•"/>
            </a:pPr>
            <a:endParaRPr lang="en-US" dirty="0" smtClean="0"/>
          </a:p>
          <a:p>
            <a:pPr marL="742950" lvl="1" indent="-285750">
              <a:buSzPct val="100000"/>
              <a:buFont typeface="Courier New" pitchFamily="49" charset="0"/>
              <a:buChar char="o"/>
            </a:pPr>
            <a:r>
              <a:rPr lang="en-US" dirty="0" smtClean="0"/>
              <a:t>Integrate display of email, SMS and chat messages between pairs and groups of users</a:t>
            </a:r>
          </a:p>
          <a:p>
            <a:pPr marL="742950" lvl="1" indent="-285750">
              <a:buSzPct val="100000"/>
              <a:buFont typeface="Courier New" pitchFamily="49" charset="0"/>
              <a:buChar char="o"/>
            </a:pPr>
            <a:endParaRPr lang="en-US" dirty="0" smtClean="0"/>
          </a:p>
          <a:p>
            <a:pPr marL="742950" lvl="1" indent="-285750">
              <a:buSzPct val="100000"/>
              <a:buFont typeface="Courier New" pitchFamily="49" charset="0"/>
              <a:buChar char="o"/>
            </a:pPr>
            <a:r>
              <a:rPr lang="en-US" dirty="0" smtClean="0"/>
              <a:t>Strong control over who users receive messages from</a:t>
            </a:r>
          </a:p>
          <a:p>
            <a:pPr marL="742950" lvl="1" indent="-285750">
              <a:buSzPct val="100000"/>
              <a:buFont typeface="Courier New" pitchFamily="49" charset="0"/>
              <a:buChar char="o"/>
            </a:pPr>
            <a:endParaRPr lang="en-US" dirty="0" smtClean="0"/>
          </a:p>
          <a:p>
            <a:pPr marL="742950" lvl="1" indent="-285750">
              <a:buSzPct val="100000"/>
              <a:buFont typeface="Courier New" pitchFamily="49" charset="0"/>
              <a:buChar char="o"/>
            </a:pPr>
            <a:r>
              <a:rPr lang="en-US" dirty="0" smtClean="0"/>
              <a:t>Suited for production use between 500 million people immediately after launch </a:t>
            </a:r>
          </a:p>
          <a:p>
            <a:pPr marL="742950" lvl="1" indent="-285750">
              <a:buSzPct val="100000"/>
              <a:buFont typeface="Courier New" pitchFamily="49" charset="0"/>
              <a:buChar char="o"/>
            </a:pPr>
            <a:endParaRPr lang="en-US" dirty="0" smtClean="0"/>
          </a:p>
          <a:p>
            <a:pPr marL="742950" lvl="1" indent="-285750">
              <a:buSzPct val="100000"/>
              <a:buFont typeface="Courier New" pitchFamily="49" charset="0"/>
              <a:buChar char="o"/>
            </a:pPr>
            <a:r>
              <a:rPr lang="en-US" dirty="0" smtClean="0"/>
              <a:t>Stringent latency &amp; uptime requirements</a:t>
            </a:r>
          </a:p>
        </p:txBody>
      </p:sp>
      <p:pic>
        <p:nvPicPr>
          <p:cNvPr id="1026" name="Picture 2" descr="http://news.cnet.com/i/bto/20080407/popout_window_540x482.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9630" b="12033"/>
          <a:stretch/>
        </p:blipFill>
        <p:spPr bwMode="auto">
          <a:xfrm>
            <a:off x="5105400" y="1673352"/>
            <a:ext cx="3858883" cy="33528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16525780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err="1" smtClean="0">
                <a:latin typeface="Cambria" pitchFamily="18" charset="0"/>
              </a:rPr>
              <a:t>Hadoop</a:t>
            </a:r>
            <a:r>
              <a:rPr lang="en-US" dirty="0" smtClean="0">
                <a:latin typeface="Cambria" pitchFamily="18" charset="0"/>
              </a:rPr>
              <a:t> in the Wild</a:t>
            </a:r>
            <a:endParaRPr lang="en-US" dirty="0">
              <a:latin typeface="Cambria" pitchFamily="18" charset="0"/>
            </a:endParaRPr>
          </a:p>
        </p:txBody>
      </p:sp>
      <p:sp>
        <p:nvSpPr>
          <p:cNvPr id="2" name="Rectangle 1"/>
          <p:cNvSpPr/>
          <p:nvPr/>
        </p:nvSpPr>
        <p:spPr>
          <a:xfrm>
            <a:off x="5295900" y="1219200"/>
            <a:ext cx="3773781" cy="4801314"/>
          </a:xfrm>
          <a:prstGeom prst="rect">
            <a:avLst/>
          </a:prstGeom>
        </p:spPr>
        <p:txBody>
          <a:bodyPr wrap="square">
            <a:spAutoFit/>
          </a:bodyPr>
          <a:lstStyle/>
          <a:p>
            <a:pPr marL="285750" indent="-285750">
              <a:buSzPct val="100000"/>
              <a:buFont typeface="Arial" panose="020B0604020202020204" pitchFamily="34" charset="0"/>
              <a:buChar char="•"/>
            </a:pPr>
            <a:r>
              <a:rPr lang="en-US" dirty="0" smtClean="0"/>
              <a:t>System requirements</a:t>
            </a:r>
          </a:p>
          <a:p>
            <a:pPr marL="285750" indent="-285750">
              <a:buSzPct val="100000"/>
              <a:buFont typeface="Arial" panose="020B0604020202020204" pitchFamily="34" charset="0"/>
              <a:buChar char="•"/>
            </a:pPr>
            <a:endParaRPr lang="en-US" dirty="0" smtClean="0"/>
          </a:p>
          <a:p>
            <a:pPr marL="742950" lvl="1" indent="-285750">
              <a:buSzPct val="100000"/>
              <a:buFont typeface="Courier New" pitchFamily="49" charset="0"/>
              <a:buChar char="o"/>
            </a:pPr>
            <a:r>
              <a:rPr lang="en-US" dirty="0" smtClean="0"/>
              <a:t>High write throughput </a:t>
            </a:r>
          </a:p>
          <a:p>
            <a:pPr marL="742950" lvl="1" indent="-285750">
              <a:buSzPct val="100000"/>
              <a:buFont typeface="Courier New" pitchFamily="49" charset="0"/>
              <a:buChar char="o"/>
            </a:pPr>
            <a:endParaRPr lang="en-US" dirty="0" smtClean="0"/>
          </a:p>
          <a:p>
            <a:pPr marL="742950" lvl="1" indent="-285750">
              <a:buSzPct val="100000"/>
              <a:buFont typeface="Courier New" pitchFamily="49" charset="0"/>
              <a:buChar char="o"/>
            </a:pPr>
            <a:r>
              <a:rPr lang="en-US" dirty="0" smtClean="0"/>
              <a:t>Cheap, elastic storage</a:t>
            </a:r>
          </a:p>
          <a:p>
            <a:pPr marL="742950" lvl="1" indent="-285750">
              <a:buSzPct val="100000"/>
              <a:buFont typeface="Courier New" pitchFamily="49" charset="0"/>
              <a:buChar char="o"/>
            </a:pPr>
            <a:endParaRPr lang="en-US" dirty="0" smtClean="0"/>
          </a:p>
          <a:p>
            <a:pPr marL="742950" lvl="1" indent="-285750">
              <a:buSzPct val="100000"/>
              <a:buFont typeface="Courier New" pitchFamily="49" charset="0"/>
              <a:buChar char="o"/>
            </a:pPr>
            <a:r>
              <a:rPr lang="en-US" dirty="0" smtClean="0"/>
              <a:t>Low latency</a:t>
            </a:r>
          </a:p>
          <a:p>
            <a:pPr marL="742950" lvl="1" indent="-285750">
              <a:buSzPct val="100000"/>
              <a:buFont typeface="Courier New" pitchFamily="49" charset="0"/>
              <a:buChar char="o"/>
            </a:pPr>
            <a:endParaRPr lang="en-US" dirty="0"/>
          </a:p>
          <a:p>
            <a:pPr marL="742950" lvl="1" indent="-285750">
              <a:buSzPct val="100000"/>
              <a:buFont typeface="Courier New" pitchFamily="49" charset="0"/>
              <a:buChar char="o"/>
            </a:pPr>
            <a:r>
              <a:rPr lang="en-US" dirty="0" smtClean="0"/>
              <a:t>High consistency (within a single data center good enough) </a:t>
            </a:r>
          </a:p>
          <a:p>
            <a:pPr marL="742950" lvl="1" indent="-285750">
              <a:buSzPct val="100000"/>
              <a:buFont typeface="Courier New" pitchFamily="49" charset="0"/>
              <a:buChar char="o"/>
            </a:pPr>
            <a:endParaRPr lang="en-US" dirty="0" smtClean="0"/>
          </a:p>
          <a:p>
            <a:pPr marL="742950" lvl="1" indent="-285750">
              <a:buSzPct val="100000"/>
              <a:buFont typeface="Courier New" pitchFamily="49" charset="0"/>
              <a:buChar char="o"/>
            </a:pPr>
            <a:r>
              <a:rPr lang="en-US" dirty="0" smtClean="0"/>
              <a:t>Disk-efficient sequential and random read performance</a:t>
            </a:r>
          </a:p>
          <a:p>
            <a:pPr marL="742950" lvl="1" indent="-285750">
              <a:buSzPct val="100000"/>
              <a:buFont typeface="Arial" panose="020B0604020202020204" pitchFamily="34" charset="0"/>
              <a:buChar char="•"/>
            </a:pPr>
            <a:endParaRPr lang="en-US" dirty="0"/>
          </a:p>
          <a:p>
            <a:pPr marL="742950" lvl="1" indent="-285750">
              <a:buSzPct val="100000"/>
              <a:buFont typeface="Arial" panose="020B0604020202020204" pitchFamily="34" charset="0"/>
              <a:buChar char="•"/>
            </a:pPr>
            <a:endParaRPr lang="en-US" dirty="0" smtClean="0"/>
          </a:p>
        </p:txBody>
      </p:sp>
      <p:pic>
        <p:nvPicPr>
          <p:cNvPr id="2050" name="Picture 2" descr="http://www.digitaltrends.com/wp-content/uploads/2012/05/Facebook-Messenger-Read-Receipt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2187157"/>
            <a:ext cx="4467725" cy="3299243"/>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11979925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err="1" smtClean="0">
                <a:latin typeface="Cambria" pitchFamily="18" charset="0"/>
              </a:rPr>
              <a:t>Hadoop</a:t>
            </a:r>
            <a:r>
              <a:rPr lang="en-US" dirty="0" smtClean="0">
                <a:latin typeface="Cambria" pitchFamily="18" charset="0"/>
              </a:rPr>
              <a:t> in the Wild</a:t>
            </a:r>
            <a:endParaRPr lang="en-US" dirty="0">
              <a:latin typeface="Cambria" pitchFamily="18" charset="0"/>
            </a:endParaRPr>
          </a:p>
        </p:txBody>
      </p:sp>
      <p:sp>
        <p:nvSpPr>
          <p:cNvPr id="2" name="Rectangle 1"/>
          <p:cNvSpPr/>
          <p:nvPr/>
        </p:nvSpPr>
        <p:spPr>
          <a:xfrm>
            <a:off x="228600" y="1371600"/>
            <a:ext cx="8839200" cy="5324535"/>
          </a:xfrm>
          <a:prstGeom prst="rect">
            <a:avLst/>
          </a:prstGeom>
        </p:spPr>
        <p:txBody>
          <a:bodyPr wrap="square">
            <a:spAutoFit/>
          </a:bodyPr>
          <a:lstStyle/>
          <a:p>
            <a:pPr marL="285750" indent="-285750">
              <a:buSzPct val="100000"/>
              <a:buFont typeface="Arial" panose="020B0604020202020204" pitchFamily="34" charset="0"/>
              <a:buChar char="•"/>
            </a:pPr>
            <a:r>
              <a:rPr lang="en-US" dirty="0" smtClean="0"/>
              <a:t>Classic alternatives</a:t>
            </a:r>
            <a:endParaRPr lang="en-US" dirty="0"/>
          </a:p>
          <a:p>
            <a:pPr marL="742950" lvl="1" indent="-285750">
              <a:buSzPct val="100000"/>
              <a:buFont typeface="Courier New" pitchFamily="49" charset="0"/>
              <a:buChar char="o"/>
            </a:pPr>
            <a:r>
              <a:rPr lang="en-US" dirty="0"/>
              <a:t>These requirements typically met using large MySQL cluster &amp; caching tiers using </a:t>
            </a:r>
            <a:r>
              <a:rPr lang="en-US" dirty="0" err="1"/>
              <a:t>Memcached</a:t>
            </a:r>
            <a:endParaRPr lang="en-US" dirty="0"/>
          </a:p>
          <a:p>
            <a:pPr marL="742950" lvl="1" indent="-285750">
              <a:buSzPct val="100000"/>
              <a:buFont typeface="Courier New" pitchFamily="49" charset="0"/>
              <a:buChar char="o"/>
            </a:pPr>
            <a:endParaRPr lang="en-US" dirty="0"/>
          </a:p>
          <a:p>
            <a:pPr marL="742950" lvl="1" indent="-285750">
              <a:buSzPct val="100000"/>
              <a:buFont typeface="Courier New" pitchFamily="49" charset="0"/>
              <a:buChar char="o"/>
            </a:pPr>
            <a:r>
              <a:rPr lang="en-US" dirty="0"/>
              <a:t>Content on HDFS could be loaded into MySQL or </a:t>
            </a:r>
            <a:r>
              <a:rPr lang="en-US" dirty="0" err="1"/>
              <a:t>Memcached</a:t>
            </a:r>
            <a:r>
              <a:rPr lang="en-US" dirty="0"/>
              <a:t> if needed by web tier</a:t>
            </a:r>
          </a:p>
          <a:p>
            <a:pPr marL="742950" lvl="1" indent="-285750">
              <a:buSzPct val="100000"/>
              <a:buFont typeface="Arial" panose="020B0604020202020204" pitchFamily="34" charset="0"/>
              <a:buChar char="•"/>
            </a:pPr>
            <a:endParaRPr lang="en-US" dirty="0"/>
          </a:p>
          <a:p>
            <a:pPr marL="285750" indent="-285750">
              <a:buSzPct val="100000"/>
              <a:buFont typeface="Arial" panose="020B0604020202020204" pitchFamily="34" charset="0"/>
              <a:buChar char="•"/>
            </a:pPr>
            <a:r>
              <a:rPr lang="en-US" dirty="0"/>
              <a:t>Problems with previous solutions</a:t>
            </a:r>
          </a:p>
          <a:p>
            <a:pPr marL="285750" indent="-285750">
              <a:buSzPct val="100000"/>
              <a:buFont typeface="Arial" panose="020B0604020202020204" pitchFamily="34" charset="0"/>
              <a:buChar char="•"/>
            </a:pPr>
            <a:endParaRPr lang="en-US" dirty="0"/>
          </a:p>
          <a:p>
            <a:pPr marL="742950" lvl="1" indent="-285750">
              <a:buSzPct val="100000"/>
              <a:buFont typeface="Courier New" pitchFamily="49" charset="0"/>
              <a:buChar char="o"/>
            </a:pPr>
            <a:r>
              <a:rPr lang="en-US" dirty="0"/>
              <a:t>MySQL has low random write </a:t>
            </a:r>
            <a:r>
              <a:rPr lang="en-US" dirty="0" smtClean="0"/>
              <a:t>throughput… BIG problem for messaging!</a:t>
            </a:r>
            <a:endParaRPr lang="en-US" dirty="0"/>
          </a:p>
          <a:p>
            <a:pPr marL="742950" lvl="1" indent="-285750">
              <a:buSzPct val="100000"/>
              <a:buFont typeface="Courier New" pitchFamily="49" charset="0"/>
              <a:buChar char="o"/>
            </a:pPr>
            <a:endParaRPr lang="en-US" dirty="0"/>
          </a:p>
          <a:p>
            <a:pPr marL="742950" lvl="1" indent="-285750">
              <a:buSzPct val="100000"/>
              <a:buFont typeface="Courier New" pitchFamily="49" charset="0"/>
              <a:buChar char="o"/>
            </a:pPr>
            <a:r>
              <a:rPr lang="en-US" dirty="0"/>
              <a:t>Difficult to scale MySQL clusters rapidly while maintaining performance</a:t>
            </a:r>
          </a:p>
          <a:p>
            <a:pPr marL="742950" lvl="1" indent="-285750">
              <a:buSzPct val="100000"/>
              <a:buFont typeface="Courier New" pitchFamily="49" charset="0"/>
              <a:buChar char="o"/>
            </a:pPr>
            <a:endParaRPr lang="en-US" dirty="0"/>
          </a:p>
          <a:p>
            <a:pPr marL="742950" lvl="1" indent="-285750">
              <a:buSzPct val="100000"/>
              <a:buFont typeface="Courier New" pitchFamily="49" charset="0"/>
              <a:buChar char="o"/>
            </a:pPr>
            <a:r>
              <a:rPr lang="en-US" dirty="0"/>
              <a:t>MySQL clusters have high management overhead, require more expensive hardware </a:t>
            </a:r>
          </a:p>
        </p:txBody>
      </p:sp>
    </p:spTree>
    <p:extLst>
      <p:ext uri="{BB962C8B-B14F-4D97-AF65-F5344CB8AC3E}">
        <p14:creationId xmlns:p14="http://schemas.microsoft.com/office/powerpoint/2010/main" val="30594988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err="1" smtClean="0">
                <a:latin typeface="Cambria" pitchFamily="18" charset="0"/>
              </a:rPr>
              <a:t>Hadoop</a:t>
            </a:r>
            <a:r>
              <a:rPr lang="en-US" dirty="0" smtClean="0">
                <a:latin typeface="Cambria" pitchFamily="18" charset="0"/>
              </a:rPr>
              <a:t> in the Wild</a:t>
            </a:r>
            <a:endParaRPr lang="en-US" dirty="0">
              <a:latin typeface="Cambria" pitchFamily="18" charset="0"/>
            </a:endParaRPr>
          </a:p>
        </p:txBody>
      </p:sp>
      <p:sp>
        <p:nvSpPr>
          <p:cNvPr id="2" name="Rectangle 1"/>
          <p:cNvSpPr/>
          <p:nvPr/>
        </p:nvSpPr>
        <p:spPr>
          <a:xfrm>
            <a:off x="838200" y="1295400"/>
            <a:ext cx="7277100" cy="4801314"/>
          </a:xfrm>
          <a:prstGeom prst="rect">
            <a:avLst/>
          </a:prstGeom>
        </p:spPr>
        <p:txBody>
          <a:bodyPr wrap="square">
            <a:spAutoFit/>
          </a:bodyPr>
          <a:lstStyle/>
          <a:p>
            <a:pPr marL="285750" indent="-285750">
              <a:buSzPct val="100000"/>
              <a:buFont typeface="Arial" panose="020B0604020202020204" pitchFamily="34" charset="0"/>
              <a:buChar char="•"/>
            </a:pPr>
            <a:r>
              <a:rPr lang="en-US" dirty="0" smtClean="0"/>
              <a:t>Facebook’s solution</a:t>
            </a:r>
          </a:p>
          <a:p>
            <a:pPr marL="285750" indent="-285750">
              <a:buSzPct val="100000"/>
              <a:buFont typeface="Arial" panose="020B0604020202020204" pitchFamily="34" charset="0"/>
              <a:buChar char="•"/>
            </a:pPr>
            <a:endParaRPr lang="en-US" dirty="0"/>
          </a:p>
          <a:p>
            <a:pPr marL="742950" lvl="1" indent="-285750">
              <a:buSzPct val="100000"/>
              <a:buFont typeface="Courier New" pitchFamily="49" charset="0"/>
              <a:buChar char="o"/>
            </a:pPr>
            <a:r>
              <a:rPr lang="en-US" dirty="0" err="1" smtClean="0"/>
              <a:t>Hadoop</a:t>
            </a:r>
            <a:r>
              <a:rPr lang="en-US" dirty="0" smtClean="0"/>
              <a:t> + </a:t>
            </a:r>
            <a:r>
              <a:rPr lang="en-US" dirty="0" err="1" smtClean="0"/>
              <a:t>HBase</a:t>
            </a:r>
            <a:r>
              <a:rPr lang="en-US" dirty="0" smtClean="0"/>
              <a:t> as foundations</a:t>
            </a:r>
          </a:p>
          <a:p>
            <a:pPr marL="742950" lvl="1" indent="-285750">
              <a:buSzPct val="100000"/>
              <a:buFont typeface="Courier New" pitchFamily="49" charset="0"/>
              <a:buChar char="o"/>
            </a:pPr>
            <a:endParaRPr lang="en-US" dirty="0"/>
          </a:p>
          <a:p>
            <a:pPr marL="742950" lvl="1" indent="-285750">
              <a:buSzPct val="100000"/>
              <a:buFont typeface="Courier New" pitchFamily="49" charset="0"/>
              <a:buChar char="o"/>
            </a:pPr>
            <a:r>
              <a:rPr lang="en-US" dirty="0" smtClean="0"/>
              <a:t>Improve &amp; adapt HDFS and </a:t>
            </a:r>
            <a:r>
              <a:rPr lang="en-US" dirty="0" err="1" smtClean="0"/>
              <a:t>HBase</a:t>
            </a:r>
            <a:r>
              <a:rPr lang="en-US" dirty="0" smtClean="0"/>
              <a:t> to scale to FB’s workload and operational considerations</a:t>
            </a:r>
          </a:p>
          <a:p>
            <a:pPr marL="742950" lvl="1" indent="-285750">
              <a:buSzPct val="100000"/>
              <a:buFont typeface="Arial" panose="020B0604020202020204" pitchFamily="34" charset="0"/>
              <a:buChar char="•"/>
            </a:pPr>
            <a:endParaRPr lang="en-US" dirty="0"/>
          </a:p>
          <a:p>
            <a:pPr marL="1200150" lvl="2" indent="-285750">
              <a:buSzPct val="100000"/>
              <a:buFont typeface="Wingdings" pitchFamily="2" charset="2"/>
              <a:buChar char="§"/>
            </a:pPr>
            <a:r>
              <a:rPr lang="en-US" dirty="0" smtClean="0"/>
              <a:t>Major concern was availability: </a:t>
            </a:r>
            <a:r>
              <a:rPr lang="en-US" dirty="0" err="1" smtClean="0"/>
              <a:t>NameNode</a:t>
            </a:r>
            <a:r>
              <a:rPr lang="en-US" dirty="0" smtClean="0"/>
              <a:t> is SPOF &amp; failover times are at least 20 minutes </a:t>
            </a:r>
          </a:p>
          <a:p>
            <a:pPr marL="1200150" lvl="2" indent="-285750">
              <a:buSzPct val="100000"/>
              <a:buFont typeface="Wingdings" pitchFamily="2" charset="2"/>
              <a:buChar char="§"/>
            </a:pPr>
            <a:endParaRPr lang="en-US" dirty="0"/>
          </a:p>
          <a:p>
            <a:pPr marL="1200150" lvl="2" indent="-285750">
              <a:buSzPct val="100000"/>
              <a:buFont typeface="Wingdings" pitchFamily="2" charset="2"/>
              <a:buChar char="§"/>
            </a:pPr>
            <a:r>
              <a:rPr lang="en-US" dirty="0" smtClean="0"/>
              <a:t>Proprietary “</a:t>
            </a:r>
            <a:r>
              <a:rPr lang="en-US" dirty="0" err="1" smtClean="0"/>
              <a:t>AvatarNode</a:t>
            </a:r>
            <a:r>
              <a:rPr lang="en-US" dirty="0" smtClean="0"/>
              <a:t>”: eliminates SPOF, makes HDFS safe to deploy even with 24/7 uptime requirement</a:t>
            </a:r>
          </a:p>
          <a:p>
            <a:pPr marL="1200150" lvl="2" indent="-285750">
              <a:buSzPct val="100000"/>
              <a:buFont typeface="Wingdings" pitchFamily="2" charset="2"/>
              <a:buChar char="§"/>
            </a:pPr>
            <a:endParaRPr lang="en-US" dirty="0"/>
          </a:p>
          <a:p>
            <a:pPr marL="1200150" lvl="2" indent="-285750">
              <a:buSzPct val="100000"/>
              <a:buFont typeface="Wingdings" pitchFamily="2" charset="2"/>
              <a:buChar char="§"/>
            </a:pPr>
            <a:r>
              <a:rPr lang="en-US" dirty="0" smtClean="0"/>
              <a:t>Performance improvements for </a:t>
            </a:r>
            <a:r>
              <a:rPr lang="en-US" dirty="0" err="1" smtClean="0"/>
              <a:t>realtime</a:t>
            </a:r>
            <a:r>
              <a:rPr lang="en-US" dirty="0" smtClean="0"/>
              <a:t> workload: RPC timeout. Rather fail fast and try a different </a:t>
            </a:r>
            <a:r>
              <a:rPr lang="en-US" dirty="0" err="1" smtClean="0"/>
              <a:t>DataNode</a:t>
            </a:r>
            <a:endParaRPr lang="en-US" dirty="0" smtClean="0"/>
          </a:p>
          <a:p>
            <a:pPr marL="1200150" lvl="2" indent="-285750">
              <a:buSzPct val="100000"/>
              <a:buFont typeface="Arial" panose="020B0604020202020204" pitchFamily="34" charset="0"/>
              <a:buChar char="•"/>
            </a:pPr>
            <a:endParaRPr lang="en-US" dirty="0" smtClean="0"/>
          </a:p>
          <a:p>
            <a:pPr marL="1200150" lvl="2" indent="-285750">
              <a:buSzPct val="100000"/>
              <a:buFont typeface="Arial" panose="020B0604020202020204" pitchFamily="34" charset="0"/>
              <a:buChar char="•"/>
            </a:pPr>
            <a:endParaRPr lang="en-US" dirty="0"/>
          </a:p>
        </p:txBody>
      </p:sp>
    </p:spTree>
    <p:extLst>
      <p:ext uri="{BB962C8B-B14F-4D97-AF65-F5344CB8AC3E}">
        <p14:creationId xmlns:p14="http://schemas.microsoft.com/office/powerpoint/2010/main" val="13631023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theme/theme1.xml><?xml version="1.0" encoding="utf-8"?>
<a:theme xmlns:a="http://schemas.openxmlformats.org/drawingml/2006/main" name="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Blueprint">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triangle" w="lg"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triangle" w="lg"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Designs\Blueprint.pot</Template>
  <TotalTime>56672</TotalTime>
  <Words>3636</Words>
  <Application>Microsoft Macintosh PowerPoint</Application>
  <PresentationFormat>On-screen Show (4:3)</PresentationFormat>
  <Paragraphs>466</Paragraphs>
  <Slides>65</Slides>
  <Notes>39</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65</vt:i4>
      </vt:variant>
    </vt:vector>
  </HeadingPairs>
  <TitlesOfParts>
    <vt:vector size="77" baseType="lpstr">
      <vt:lpstr>Arial</vt:lpstr>
      <vt:lpstr>Cambria</vt:lpstr>
      <vt:lpstr>Courier New</vt:lpstr>
      <vt:lpstr>Helvetica</vt:lpstr>
      <vt:lpstr>Monotype Sorts</vt:lpstr>
      <vt:lpstr>MS PGothic</vt:lpstr>
      <vt:lpstr>ＭＳ Ｐゴシック</vt:lpstr>
      <vt:lpstr>Symbol</vt:lpstr>
      <vt:lpstr>Tahoma</vt:lpstr>
      <vt:lpstr>Times New Roman</vt:lpstr>
      <vt:lpstr>Wingdings</vt:lpstr>
      <vt:lpstr>Blueprint</vt:lpstr>
      <vt:lpstr>Distributed Systems/Networking</vt:lpstr>
      <vt:lpstr>Overview</vt:lpstr>
      <vt:lpstr>Reasons for Distributed Systems</vt:lpstr>
      <vt:lpstr>Types of Distributed Operating Systems</vt:lpstr>
      <vt:lpstr>Network-Operating Systems</vt:lpstr>
      <vt:lpstr>Distributed-Operating Systems</vt:lpstr>
      <vt:lpstr>Distributed-Operating Systems (Cont.)</vt:lpstr>
      <vt:lpstr>Network Structure</vt:lpstr>
      <vt:lpstr>Local-area Network</vt:lpstr>
      <vt:lpstr>Network Types (Cont.)</vt:lpstr>
      <vt:lpstr>Communication Processors in a Wide-Area Network</vt:lpstr>
      <vt:lpstr>Communication Structure</vt:lpstr>
      <vt:lpstr>Naming and Name Resolution</vt:lpstr>
      <vt:lpstr>Routing Strategies</vt:lpstr>
      <vt:lpstr>Routing Strategies (Cont.)</vt:lpstr>
      <vt:lpstr>Routing Strategies (Cont.)</vt:lpstr>
      <vt:lpstr>Routing Strategies (Cont.)</vt:lpstr>
      <vt:lpstr>Connection Strategies</vt:lpstr>
      <vt:lpstr>Communication Protocol</vt:lpstr>
      <vt:lpstr>Communication Protocol (Cont.)</vt:lpstr>
      <vt:lpstr>Communication Via ISO Network Model</vt:lpstr>
      <vt:lpstr>The ISO Protocol Layer</vt:lpstr>
      <vt:lpstr>The ISO Network Message</vt:lpstr>
      <vt:lpstr>The TCP/IP Protocol Layers</vt:lpstr>
      <vt:lpstr>Example: TCP/IP</vt:lpstr>
      <vt:lpstr>An Ethernet Packet</vt:lpstr>
      <vt:lpstr>Robustness</vt:lpstr>
      <vt:lpstr>Failure Detection</vt:lpstr>
      <vt:lpstr>Failure Detection (Cont.)</vt:lpstr>
      <vt:lpstr>Reconfiguration</vt:lpstr>
      <vt:lpstr>Design Issues</vt:lpstr>
      <vt:lpstr>Distributed File System</vt:lpstr>
      <vt:lpstr>DFS Structure</vt:lpstr>
      <vt:lpstr>Naming and Transparency</vt:lpstr>
      <vt:lpstr>Naming Structures </vt:lpstr>
      <vt:lpstr>Naming Schemes — Three Main Approaches </vt:lpstr>
      <vt:lpstr>Remote File Access </vt:lpstr>
      <vt:lpstr>Cache Location – Disk vs. Main Memory</vt:lpstr>
      <vt:lpstr>Cache Update Policy</vt:lpstr>
      <vt:lpstr>Consistency</vt:lpstr>
      <vt:lpstr>Hadoop</vt:lpstr>
      <vt:lpstr>What is Hadoop?</vt:lpstr>
      <vt:lpstr>Brief History of Hadoop</vt:lpstr>
      <vt:lpstr>Search engines in 1990s</vt:lpstr>
      <vt:lpstr>Google search engines</vt:lpstr>
      <vt:lpstr>Google Origins</vt:lpstr>
      <vt:lpstr>Some Hadoop Milestones </vt:lpstr>
      <vt:lpstr>What is Hadoop?</vt:lpstr>
      <vt:lpstr>Hadoop Framework Tools</vt:lpstr>
      <vt:lpstr>Hadoop’s Architecture</vt:lpstr>
      <vt:lpstr>Hadoop’s Architecture</vt:lpstr>
      <vt:lpstr>Hadoop’s Architecture</vt:lpstr>
      <vt:lpstr>Hadoop’s Architecture</vt:lpstr>
      <vt:lpstr>Hadoop’s Architecture</vt:lpstr>
      <vt:lpstr>Hadoop’s Architecture: MapReduce Engine</vt:lpstr>
      <vt:lpstr>PowerPoint Presentation</vt:lpstr>
      <vt:lpstr>Hadoop’s Architecture</vt:lpstr>
      <vt:lpstr>Hadoop’s Architecture</vt:lpstr>
      <vt:lpstr>Hadoop in the Wild</vt:lpstr>
      <vt:lpstr>Hadoop in the Wild</vt:lpstr>
      <vt:lpstr>Hadoop in the Wild</vt:lpstr>
      <vt:lpstr>Hadoop in the Wild: Facebook Messages</vt:lpstr>
      <vt:lpstr>Hadoop in the Wild</vt:lpstr>
      <vt:lpstr>Hadoop in the Wild</vt:lpstr>
      <vt:lpstr>Hadoop in the Wild</vt:lpstr>
    </vt:vector>
  </TitlesOfParts>
  <Company>Stanford University</Company>
  <LinksUpToDate>false</LinksUpToDate>
  <SharedDoc>false</SharedDoc>
  <HyperlinksChanged>false</HyperlinksChanged>
  <AppVersion>15.0027</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Games and the Impossibility of Realizable Ideal Functionality</dc:title>
  <dc:creator>Ante Derek</dc:creator>
  <cp:lastModifiedBy>Microsoft Office User</cp:lastModifiedBy>
  <cp:revision>6976</cp:revision>
  <cp:lastPrinted>1998-03-10T18:42:22Z</cp:lastPrinted>
  <dcterms:created xsi:type="dcterms:W3CDTF">1997-09-07T20:51:32Z</dcterms:created>
  <dcterms:modified xsi:type="dcterms:W3CDTF">2017-04-13T17:10:01Z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2</vt:i4>
  </property>
  <property fmtid="{D5CDD505-2E9C-101B-9397-08002B2CF9AE}" pid="4" name="Compression">
    <vt:i4>100</vt:i4>
  </property>
  <property fmtid="{D5CDD505-2E9C-101B-9397-08002B2CF9AE}" pid="5" name="ScreenSize">
    <vt:i4>1</vt:i4>
  </property>
  <property fmtid="{D5CDD505-2E9C-101B-9397-08002B2CF9AE}" pid="6" name="ScreenUsage">
    <vt:i4>1</vt:i4>
  </property>
  <property fmtid="{D5CDD505-2E9C-101B-9397-08002B2CF9AE}" pid="7" name="MailAddress">
    <vt:lpwstr/>
  </property>
  <property fmtid="{D5CDD505-2E9C-101B-9397-08002B2CF9AE}" pid="8" name="HomePage">
    <vt:lpwstr/>
  </property>
  <property fmtid="{D5CDD505-2E9C-101B-9397-08002B2CF9AE}" pid="9" name="Other">
    <vt:lpwstr/>
  </property>
  <property fmtid="{D5CDD505-2E9C-101B-9397-08002B2CF9AE}" pid="10" name="DownloadOriginal">
    <vt:bool>true</vt:bool>
  </property>
  <property fmtid="{D5CDD505-2E9C-101B-9397-08002B2CF9AE}" pid="11" name="DownloadIEButton">
    <vt:bool>true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true</vt:bool>
  </property>
  <property fmtid="{D5CDD505-2E9C-101B-9397-08002B2CF9AE}" pid="20" name="NavBtnPos">
    <vt:i4>3</vt:i4>
  </property>
  <property fmtid="{D5CDD505-2E9C-101B-9397-08002B2CF9AE}" pid="21" name="OutputDir">
    <vt:lpwstr>C:\Documents\cs242\notes\web-slides</vt:lpwstr>
  </property>
</Properties>
</file>