
<file path=[Content_Types].xml><?xml version="1.0" encoding="utf-8"?>
<Types xmlns="http://schemas.openxmlformats.org/package/2006/content-types">
  <Default Extension="xml" ContentType="application/xml"/>
  <Default Extension="bin" ContentType="application/vnd.openxmlformats-officedocument.presentationml.printerSettings"/>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4" Type="http://schemas.openxmlformats.org/officeDocument/2006/relationships/custom-properties" Target="docProps/custom.xml"/><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3"/>
  </p:notesMasterIdLst>
  <p:handoutMasterIdLst>
    <p:handoutMasterId r:id="rId164"/>
  </p:handout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Lst>
  <p:sldSz cx="10058400" cy="7772400"/>
  <p:notesSz cx="10058400" cy="7772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27" d="100"/>
          <a:sy n="127" d="100"/>
        </p:scale>
        <p:origin x="-2360" y="-104"/>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63" Type="http://schemas.openxmlformats.org/officeDocument/2006/relationships/notesMaster" Target="notesMasters/notesMaster1.xml"/><Relationship Id="rId164" Type="http://schemas.openxmlformats.org/officeDocument/2006/relationships/handoutMaster" Target="handoutMasters/handoutMaster1.xml"/><Relationship Id="rId165" Type="http://schemas.openxmlformats.org/officeDocument/2006/relationships/printerSettings" Target="printerSettings/printerSettings1.bin"/><Relationship Id="rId166" Type="http://schemas.openxmlformats.org/officeDocument/2006/relationships/presProps" Target="presProps.xml"/><Relationship Id="rId167" Type="http://schemas.openxmlformats.org/officeDocument/2006/relationships/viewProps" Target="viewProps.xml"/><Relationship Id="rId168" Type="http://schemas.openxmlformats.org/officeDocument/2006/relationships/theme" Target="theme/theme1.xml"/><Relationship Id="rId169" Type="http://schemas.openxmlformats.org/officeDocument/2006/relationships/tableStyles" Target="tableStyles.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40" Type="http://schemas.openxmlformats.org/officeDocument/2006/relationships/slide" Target="slides/slide139.xml"/><Relationship Id="rId141" Type="http://schemas.openxmlformats.org/officeDocument/2006/relationships/slide" Target="slides/slide1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5697538" y="0"/>
            <a:ext cx="4359275" cy="388938"/>
          </a:xfrm>
          <a:prstGeom prst="rect">
            <a:avLst/>
          </a:prstGeom>
        </p:spPr>
        <p:txBody>
          <a:bodyPr vert="horz" lIns="91440" tIns="45720" rIns="91440" bIns="45720" rtlCol="0"/>
          <a:lstStyle>
            <a:lvl1pPr algn="r">
              <a:defRPr sz="1200"/>
            </a:lvl1pPr>
          </a:lstStyle>
          <a:p>
            <a:fld id="{E13CBA6E-03FB-2A47-81A8-7D05A7363CFB}" type="datetimeFigureOut">
              <a:rPr lang="en-US" smtClean="0"/>
              <a:t>12/1/15</a:t>
            </a:fld>
            <a:endParaRPr lang="en-US"/>
          </a:p>
        </p:txBody>
      </p:sp>
      <p:sp>
        <p:nvSpPr>
          <p:cNvPr id="4" name="Footer Placeholder 3"/>
          <p:cNvSpPr>
            <a:spLocks noGrp="1"/>
          </p:cNvSpPr>
          <p:nvPr>
            <p:ph type="ftr" sz="quarter" idx="2"/>
          </p:nvPr>
        </p:nvSpPr>
        <p:spPr>
          <a:xfrm>
            <a:off x="0" y="7381875"/>
            <a:ext cx="4359275" cy="3889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5697538" y="7381875"/>
            <a:ext cx="4359275" cy="388938"/>
          </a:xfrm>
          <a:prstGeom prst="rect">
            <a:avLst/>
          </a:prstGeom>
        </p:spPr>
        <p:txBody>
          <a:bodyPr vert="horz" lIns="91440" tIns="45720" rIns="91440" bIns="45720" rtlCol="0" anchor="b"/>
          <a:lstStyle>
            <a:lvl1pPr algn="r">
              <a:defRPr sz="1200"/>
            </a:lvl1pPr>
          </a:lstStyle>
          <a:p>
            <a:fld id="{501A4B04-9984-B448-82A8-C52915CBCEAF}" type="slidenum">
              <a:rPr lang="en-US" smtClean="0"/>
              <a:t>‹#›</a:t>
            </a:fld>
            <a:endParaRPr lang="en-US"/>
          </a:p>
        </p:txBody>
      </p:sp>
    </p:spTree>
    <p:extLst>
      <p:ext uri="{BB962C8B-B14F-4D97-AF65-F5344CB8AC3E}">
        <p14:creationId xmlns:p14="http://schemas.microsoft.com/office/powerpoint/2010/main" val="278846394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359275" cy="3889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697538" y="0"/>
            <a:ext cx="4359275" cy="388938"/>
          </a:xfrm>
          <a:prstGeom prst="rect">
            <a:avLst/>
          </a:prstGeom>
        </p:spPr>
        <p:txBody>
          <a:bodyPr vert="horz" lIns="91440" tIns="45720" rIns="91440" bIns="45720" rtlCol="0"/>
          <a:lstStyle>
            <a:lvl1pPr algn="r">
              <a:defRPr sz="1200"/>
            </a:lvl1pPr>
          </a:lstStyle>
          <a:p>
            <a:fld id="{25144979-679A-6A42-8931-CBE8B667011D}" type="datetimeFigureOut">
              <a:rPr lang="en-US" smtClean="0"/>
              <a:t>12/1/15</a:t>
            </a:fld>
            <a:endParaRPr lang="en-US"/>
          </a:p>
        </p:txBody>
      </p:sp>
      <p:sp>
        <p:nvSpPr>
          <p:cNvPr id="4" name="Slide Image Placeholder 3"/>
          <p:cNvSpPr>
            <a:spLocks noGrp="1" noRot="1" noChangeAspect="1"/>
          </p:cNvSpPr>
          <p:nvPr>
            <p:ph type="sldImg" idx="2"/>
          </p:nvPr>
        </p:nvSpPr>
        <p:spPr>
          <a:xfrm>
            <a:off x="3143250" y="582613"/>
            <a:ext cx="3771900" cy="29146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006475" y="3692525"/>
            <a:ext cx="8045450" cy="34972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7381875"/>
            <a:ext cx="4359275" cy="38893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697538" y="7381875"/>
            <a:ext cx="4359275" cy="388938"/>
          </a:xfrm>
          <a:prstGeom prst="rect">
            <a:avLst/>
          </a:prstGeom>
        </p:spPr>
        <p:txBody>
          <a:bodyPr vert="horz" lIns="91440" tIns="45720" rIns="91440" bIns="45720" rtlCol="0" anchor="b"/>
          <a:lstStyle>
            <a:lvl1pPr algn="r">
              <a:defRPr sz="1200"/>
            </a:lvl1pPr>
          </a:lstStyle>
          <a:p>
            <a:fld id="{D9ABC49C-19E9-2746-B7E6-009698FFB21D}" type="slidenum">
              <a:rPr lang="en-US" smtClean="0"/>
              <a:t>‹#›</a:t>
            </a:fld>
            <a:endParaRPr lang="en-US"/>
          </a:p>
        </p:txBody>
      </p:sp>
    </p:spTree>
    <p:extLst>
      <p:ext uri="{BB962C8B-B14F-4D97-AF65-F5344CB8AC3E}">
        <p14:creationId xmlns:p14="http://schemas.microsoft.com/office/powerpoint/2010/main" val="742885264"/>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54380" y="2409444"/>
            <a:ext cx="8549640" cy="1632204"/>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508760" y="4352544"/>
            <a:ext cx="7040880" cy="19431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1650" b="0" i="0">
                <a:solidFill>
                  <a:schemeClr val="tx1"/>
                </a:solidFill>
                <a:latin typeface="Arial"/>
                <a:cs typeface="Arial"/>
              </a:defRPr>
            </a:lvl1pPr>
          </a:lstStyle>
          <a:p>
            <a:pPr marL="12700">
              <a:lnSpc>
                <a:spcPts val="1730"/>
              </a:lnSpc>
            </a:pPr>
            <a:r>
              <a:rPr spc="114" dirty="0"/>
              <a:t>John</a:t>
            </a:r>
            <a:r>
              <a:rPr spc="165" dirty="0"/>
              <a:t> </a:t>
            </a:r>
            <a:r>
              <a:rPr spc="80" dirty="0"/>
              <a:t>Rushby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0B27801F-2E5E-574B-9E40-1030F4A9E03F}" type="datetime1">
              <a:rPr lang="en-US" smtClean="0"/>
              <a:t>12/1/15</a:t>
            </a:fld>
            <a:endParaRPr lang="en-US"/>
          </a:p>
        </p:txBody>
      </p:sp>
      <p:sp>
        <p:nvSpPr>
          <p:cNvPr id="6" name="Holder 6"/>
          <p:cNvSpPr>
            <a:spLocks noGrp="1"/>
          </p:cNvSpPr>
          <p:nvPr>
            <p:ph type="sldNum" sz="quarter" idx="7"/>
          </p:nvPr>
        </p:nvSpPr>
        <p:spPr/>
        <p:txBody>
          <a:bodyPr lIns="0" tIns="0" rIns="0" bIns="0"/>
          <a:lstStyle>
            <a:lvl1pPr>
              <a:defRPr sz="1650" b="0" i="0">
                <a:solidFill>
                  <a:schemeClr val="tx1"/>
                </a:solidFill>
                <a:latin typeface="Arial"/>
                <a:cs typeface="Arial"/>
              </a:defRPr>
            </a:lvl1pPr>
          </a:lstStyle>
          <a:p>
            <a:pPr marL="274955">
              <a:lnSpc>
                <a:spcPts val="1730"/>
              </a:lnSpc>
            </a:pPr>
            <a:r>
              <a:rPr spc="120" dirty="0"/>
              <a:t>Formal </a:t>
            </a:r>
            <a:r>
              <a:rPr spc="110" dirty="0"/>
              <a:t>Calculation:</a:t>
            </a:r>
            <a:r>
              <a:rPr spc="490" dirty="0"/>
              <a:t> </a:t>
            </a:r>
            <a:fld id="{81D60167-4931-47E6-BA6A-407CBD079E47}" type="slidenum">
              <a:rPr spc="114" dirty="0"/>
              <a:t>‹#›</a:t>
            </a:fld>
            <a:endParaRPr spc="114"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50" b="0" i="0">
                <a:solidFill>
                  <a:schemeClr val="hlink"/>
                </a:solidFill>
                <a:latin typeface="SimSun"/>
                <a:cs typeface="SimSun"/>
              </a:defRPr>
            </a:lvl1pPr>
          </a:lstStyle>
          <a:p>
            <a:endParaRPr/>
          </a:p>
        </p:txBody>
      </p:sp>
      <p:sp>
        <p:nvSpPr>
          <p:cNvPr id="3" name="Holder 3"/>
          <p:cNvSpPr>
            <a:spLocks noGrp="1"/>
          </p:cNvSpPr>
          <p:nvPr>
            <p:ph type="body" idx="1"/>
          </p:nvPr>
        </p:nvSpPr>
        <p:spPr/>
        <p:txBody>
          <a:bodyPr lIns="0" tIns="0" rIns="0" bIns="0"/>
          <a:lstStyle>
            <a:lvl1pPr>
              <a:defRPr sz="1950" b="0" i="0">
                <a:solidFill>
                  <a:srgbClr val="231F20"/>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defRPr sz="1650" b="0" i="0">
                <a:solidFill>
                  <a:schemeClr val="tx1"/>
                </a:solidFill>
                <a:latin typeface="Arial"/>
                <a:cs typeface="Arial"/>
              </a:defRPr>
            </a:lvl1pPr>
          </a:lstStyle>
          <a:p>
            <a:pPr marL="12700">
              <a:lnSpc>
                <a:spcPts val="1730"/>
              </a:lnSpc>
            </a:pPr>
            <a:r>
              <a:rPr spc="114" dirty="0"/>
              <a:t>John</a:t>
            </a:r>
            <a:r>
              <a:rPr spc="165" dirty="0"/>
              <a:t> </a:t>
            </a:r>
            <a:r>
              <a:rPr spc="80" dirty="0"/>
              <a:t>Rushby</a:t>
            </a: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F1A7BA92-89D6-CF48-9D61-55B6C3A2190A}" type="datetime1">
              <a:rPr lang="en-US" smtClean="0"/>
              <a:t>12/1/15</a:t>
            </a:fld>
            <a:endParaRPr lang="en-US"/>
          </a:p>
        </p:txBody>
      </p:sp>
      <p:sp>
        <p:nvSpPr>
          <p:cNvPr id="6" name="Holder 6"/>
          <p:cNvSpPr>
            <a:spLocks noGrp="1"/>
          </p:cNvSpPr>
          <p:nvPr>
            <p:ph type="sldNum" sz="quarter" idx="7"/>
          </p:nvPr>
        </p:nvSpPr>
        <p:spPr/>
        <p:txBody>
          <a:bodyPr lIns="0" tIns="0" rIns="0" bIns="0"/>
          <a:lstStyle>
            <a:lvl1pPr>
              <a:defRPr sz="1650" b="0" i="0">
                <a:solidFill>
                  <a:schemeClr val="tx1"/>
                </a:solidFill>
                <a:latin typeface="Arial"/>
                <a:cs typeface="Arial"/>
              </a:defRPr>
            </a:lvl1pPr>
          </a:lstStyle>
          <a:p>
            <a:pPr marL="274955">
              <a:lnSpc>
                <a:spcPts val="1730"/>
              </a:lnSpc>
            </a:pPr>
            <a:r>
              <a:rPr spc="120" dirty="0"/>
              <a:t>Formal </a:t>
            </a:r>
            <a:r>
              <a:rPr spc="110" dirty="0"/>
              <a:t>Calculation:</a:t>
            </a:r>
            <a:r>
              <a:rPr spc="490" dirty="0"/>
              <a:t> </a:t>
            </a:r>
            <a:fld id="{81D60167-4931-47E6-BA6A-407CBD079E47}" type="slidenum">
              <a:rPr spc="114" dirty="0"/>
              <a:t>‹#›</a:t>
            </a:fld>
            <a:endParaRPr spc="114"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50" b="0" i="0">
                <a:solidFill>
                  <a:schemeClr val="hlink"/>
                </a:solidFill>
                <a:latin typeface="SimSun"/>
                <a:cs typeface="SimSun"/>
              </a:defRPr>
            </a:lvl1pPr>
          </a:lstStyle>
          <a:p>
            <a:endParaRPr/>
          </a:p>
        </p:txBody>
      </p:sp>
      <p:sp>
        <p:nvSpPr>
          <p:cNvPr id="3" name="Holder 3"/>
          <p:cNvSpPr>
            <a:spLocks noGrp="1"/>
          </p:cNvSpPr>
          <p:nvPr>
            <p:ph sz="half" idx="2"/>
          </p:nvPr>
        </p:nvSpPr>
        <p:spPr>
          <a:xfrm>
            <a:off x="502920" y="1787652"/>
            <a:ext cx="4375404" cy="5129784"/>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5180076" y="1787652"/>
            <a:ext cx="4375404" cy="5129784"/>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1650" b="0" i="0">
                <a:solidFill>
                  <a:schemeClr val="tx1"/>
                </a:solidFill>
                <a:latin typeface="Arial"/>
                <a:cs typeface="Arial"/>
              </a:defRPr>
            </a:lvl1pPr>
          </a:lstStyle>
          <a:p>
            <a:pPr marL="12700">
              <a:lnSpc>
                <a:spcPts val="1730"/>
              </a:lnSpc>
            </a:pPr>
            <a:r>
              <a:rPr spc="114" dirty="0"/>
              <a:t>John</a:t>
            </a:r>
            <a:r>
              <a:rPr spc="165" dirty="0"/>
              <a:t> </a:t>
            </a:r>
            <a:r>
              <a:rPr spc="80" dirty="0"/>
              <a:t>Rushby</a:t>
            </a: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2B9755E7-3CAF-F44F-A386-C0FBE95398E7}" type="datetime1">
              <a:rPr lang="en-US" smtClean="0"/>
              <a:t>12/1/15</a:t>
            </a:fld>
            <a:endParaRPr lang="en-US"/>
          </a:p>
        </p:txBody>
      </p:sp>
      <p:sp>
        <p:nvSpPr>
          <p:cNvPr id="7" name="Holder 7"/>
          <p:cNvSpPr>
            <a:spLocks noGrp="1"/>
          </p:cNvSpPr>
          <p:nvPr>
            <p:ph type="sldNum" sz="quarter" idx="7"/>
          </p:nvPr>
        </p:nvSpPr>
        <p:spPr/>
        <p:txBody>
          <a:bodyPr lIns="0" tIns="0" rIns="0" bIns="0"/>
          <a:lstStyle>
            <a:lvl1pPr>
              <a:defRPr sz="1650" b="0" i="0">
                <a:solidFill>
                  <a:schemeClr val="tx1"/>
                </a:solidFill>
                <a:latin typeface="Arial"/>
                <a:cs typeface="Arial"/>
              </a:defRPr>
            </a:lvl1pPr>
          </a:lstStyle>
          <a:p>
            <a:pPr marL="274955">
              <a:lnSpc>
                <a:spcPts val="1730"/>
              </a:lnSpc>
            </a:pPr>
            <a:r>
              <a:rPr spc="120" dirty="0"/>
              <a:t>Formal </a:t>
            </a:r>
            <a:r>
              <a:rPr spc="110" dirty="0"/>
              <a:t>Calculation:</a:t>
            </a:r>
            <a:r>
              <a:rPr spc="490" dirty="0"/>
              <a:t> </a:t>
            </a:r>
            <a:fld id="{81D60167-4931-47E6-BA6A-407CBD079E47}" type="slidenum">
              <a:rPr spc="114" dirty="0"/>
              <a:t>‹#›</a:t>
            </a:fld>
            <a:endParaRPr spc="114"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050" b="0" i="0">
                <a:solidFill>
                  <a:schemeClr val="hlink"/>
                </a:solidFill>
                <a:latin typeface="SimSun"/>
                <a:cs typeface="SimSun"/>
              </a:defRPr>
            </a:lvl1pPr>
          </a:lstStyle>
          <a:p>
            <a:endParaRPr/>
          </a:p>
        </p:txBody>
      </p:sp>
      <p:sp>
        <p:nvSpPr>
          <p:cNvPr id="3" name="Holder 3"/>
          <p:cNvSpPr>
            <a:spLocks noGrp="1"/>
          </p:cNvSpPr>
          <p:nvPr>
            <p:ph type="ftr" sz="quarter" idx="5"/>
          </p:nvPr>
        </p:nvSpPr>
        <p:spPr/>
        <p:txBody>
          <a:bodyPr lIns="0" tIns="0" rIns="0" bIns="0"/>
          <a:lstStyle>
            <a:lvl1pPr>
              <a:defRPr sz="1650" b="0" i="0">
                <a:solidFill>
                  <a:schemeClr val="tx1"/>
                </a:solidFill>
                <a:latin typeface="Arial"/>
                <a:cs typeface="Arial"/>
              </a:defRPr>
            </a:lvl1pPr>
          </a:lstStyle>
          <a:p>
            <a:pPr marL="12700">
              <a:lnSpc>
                <a:spcPts val="1730"/>
              </a:lnSpc>
            </a:pPr>
            <a:r>
              <a:rPr spc="114" dirty="0"/>
              <a:t>John</a:t>
            </a:r>
            <a:r>
              <a:rPr spc="165" dirty="0"/>
              <a:t> </a:t>
            </a:r>
            <a:r>
              <a:rPr spc="80" dirty="0"/>
              <a:t>Rushby</a:t>
            </a: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F3585699-F9D4-ED46-A11C-8C4CF82182B3}" type="datetime1">
              <a:rPr lang="en-US" smtClean="0"/>
              <a:t>12/1/15</a:t>
            </a:fld>
            <a:endParaRPr lang="en-US"/>
          </a:p>
        </p:txBody>
      </p:sp>
      <p:sp>
        <p:nvSpPr>
          <p:cNvPr id="5" name="Holder 5"/>
          <p:cNvSpPr>
            <a:spLocks noGrp="1"/>
          </p:cNvSpPr>
          <p:nvPr>
            <p:ph type="sldNum" sz="quarter" idx="7"/>
          </p:nvPr>
        </p:nvSpPr>
        <p:spPr/>
        <p:txBody>
          <a:bodyPr lIns="0" tIns="0" rIns="0" bIns="0"/>
          <a:lstStyle>
            <a:lvl1pPr>
              <a:defRPr sz="1650" b="0" i="0">
                <a:solidFill>
                  <a:schemeClr val="tx1"/>
                </a:solidFill>
                <a:latin typeface="Arial"/>
                <a:cs typeface="Arial"/>
              </a:defRPr>
            </a:lvl1pPr>
          </a:lstStyle>
          <a:p>
            <a:pPr marL="274955">
              <a:lnSpc>
                <a:spcPts val="1730"/>
              </a:lnSpc>
            </a:pPr>
            <a:r>
              <a:rPr spc="120" dirty="0"/>
              <a:t>Formal </a:t>
            </a:r>
            <a:r>
              <a:rPr spc="110" dirty="0"/>
              <a:t>Calculation:</a:t>
            </a:r>
            <a:r>
              <a:rPr spc="490" dirty="0"/>
              <a:t> </a:t>
            </a:r>
            <a:fld id="{81D60167-4931-47E6-BA6A-407CBD079E47}" type="slidenum">
              <a:rPr spc="114" dirty="0"/>
              <a:t>‹#›</a:t>
            </a:fld>
            <a:endParaRPr spc="114"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1650" b="0" i="0">
                <a:solidFill>
                  <a:schemeClr val="tx1"/>
                </a:solidFill>
                <a:latin typeface="Arial"/>
                <a:cs typeface="Arial"/>
              </a:defRPr>
            </a:lvl1pPr>
          </a:lstStyle>
          <a:p>
            <a:pPr marL="12700">
              <a:lnSpc>
                <a:spcPts val="1730"/>
              </a:lnSpc>
            </a:pPr>
            <a:r>
              <a:rPr spc="114" dirty="0"/>
              <a:t>John</a:t>
            </a:r>
            <a:r>
              <a:rPr spc="165" dirty="0"/>
              <a:t> </a:t>
            </a:r>
            <a:r>
              <a:rPr spc="80" dirty="0"/>
              <a:t>Rushby</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BBDDF6CA-4485-9545-866D-54144CD8C341}" type="datetime1">
              <a:rPr lang="en-US" smtClean="0"/>
              <a:t>12/1/15</a:t>
            </a:fld>
            <a:endParaRPr lang="en-US"/>
          </a:p>
        </p:txBody>
      </p:sp>
      <p:sp>
        <p:nvSpPr>
          <p:cNvPr id="4" name="Holder 4"/>
          <p:cNvSpPr>
            <a:spLocks noGrp="1"/>
          </p:cNvSpPr>
          <p:nvPr>
            <p:ph type="sldNum" sz="quarter" idx="7"/>
          </p:nvPr>
        </p:nvSpPr>
        <p:spPr/>
        <p:txBody>
          <a:bodyPr lIns="0" tIns="0" rIns="0" bIns="0"/>
          <a:lstStyle>
            <a:lvl1pPr>
              <a:defRPr sz="1650" b="0" i="0">
                <a:solidFill>
                  <a:schemeClr val="tx1"/>
                </a:solidFill>
                <a:latin typeface="Arial"/>
                <a:cs typeface="Arial"/>
              </a:defRPr>
            </a:lvl1pPr>
          </a:lstStyle>
          <a:p>
            <a:pPr marL="274955">
              <a:lnSpc>
                <a:spcPts val="1730"/>
              </a:lnSpc>
            </a:pPr>
            <a:r>
              <a:rPr spc="120" dirty="0"/>
              <a:t>Formal </a:t>
            </a:r>
            <a:r>
              <a:rPr spc="110" dirty="0"/>
              <a:t>Calculation:</a:t>
            </a:r>
            <a:r>
              <a:rPr spc="490" dirty="0"/>
              <a:t> </a:t>
            </a:r>
            <a:fld id="{81D60167-4931-47E6-BA6A-407CBD079E47}" type="slidenum">
              <a:rPr spc="114" dirty="0"/>
              <a:t>‹#›</a:t>
            </a:fld>
            <a:endParaRPr spc="114"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896443" y="921479"/>
            <a:ext cx="8265513" cy="1105535"/>
          </a:xfrm>
          <a:prstGeom prst="rect">
            <a:avLst/>
          </a:prstGeom>
        </p:spPr>
        <p:txBody>
          <a:bodyPr wrap="square" lIns="0" tIns="0" rIns="0" bIns="0">
            <a:spAutoFit/>
          </a:bodyPr>
          <a:lstStyle>
            <a:lvl1pPr>
              <a:defRPr sz="2050" b="0" i="0">
                <a:solidFill>
                  <a:schemeClr val="hlink"/>
                </a:solidFill>
                <a:latin typeface="SimSun"/>
                <a:cs typeface="SimSun"/>
              </a:defRPr>
            </a:lvl1pPr>
          </a:lstStyle>
          <a:p>
            <a:endParaRPr/>
          </a:p>
        </p:txBody>
      </p:sp>
      <p:sp>
        <p:nvSpPr>
          <p:cNvPr id="3" name="Holder 3"/>
          <p:cNvSpPr>
            <a:spLocks noGrp="1"/>
          </p:cNvSpPr>
          <p:nvPr>
            <p:ph type="body" idx="1"/>
          </p:nvPr>
        </p:nvSpPr>
        <p:spPr>
          <a:xfrm>
            <a:off x="706297" y="1407985"/>
            <a:ext cx="8645804" cy="5068570"/>
          </a:xfrm>
          <a:prstGeom prst="rect">
            <a:avLst/>
          </a:prstGeom>
        </p:spPr>
        <p:txBody>
          <a:bodyPr wrap="square" lIns="0" tIns="0" rIns="0" bIns="0">
            <a:spAutoFit/>
          </a:bodyPr>
          <a:lstStyle>
            <a:lvl1pPr>
              <a:defRPr sz="1950" b="0" i="0">
                <a:solidFill>
                  <a:srgbClr val="231F20"/>
                </a:solidFill>
                <a:latin typeface="Arial"/>
                <a:cs typeface="Arial"/>
              </a:defRPr>
            </a:lvl1pPr>
          </a:lstStyle>
          <a:p>
            <a:endParaRPr/>
          </a:p>
        </p:txBody>
      </p:sp>
      <p:sp>
        <p:nvSpPr>
          <p:cNvPr id="4" name="Holder 4"/>
          <p:cNvSpPr>
            <a:spLocks noGrp="1"/>
          </p:cNvSpPr>
          <p:nvPr>
            <p:ph type="ftr" sz="quarter" idx="5"/>
          </p:nvPr>
        </p:nvSpPr>
        <p:spPr>
          <a:xfrm>
            <a:off x="535940" y="6854600"/>
            <a:ext cx="1402714" cy="235584"/>
          </a:xfrm>
          <a:prstGeom prst="rect">
            <a:avLst/>
          </a:prstGeom>
        </p:spPr>
        <p:txBody>
          <a:bodyPr wrap="square" lIns="0" tIns="0" rIns="0" bIns="0">
            <a:spAutoFit/>
          </a:bodyPr>
          <a:lstStyle>
            <a:lvl1pPr>
              <a:defRPr sz="1650" b="0" i="0">
                <a:solidFill>
                  <a:schemeClr val="tx1"/>
                </a:solidFill>
                <a:latin typeface="Arial"/>
                <a:cs typeface="Arial"/>
              </a:defRPr>
            </a:lvl1pPr>
          </a:lstStyle>
          <a:p>
            <a:pPr marL="12700">
              <a:lnSpc>
                <a:spcPts val="1730"/>
              </a:lnSpc>
            </a:pPr>
            <a:r>
              <a:rPr spc="114" dirty="0"/>
              <a:t>John</a:t>
            </a:r>
            <a:r>
              <a:rPr spc="165" dirty="0"/>
              <a:t> </a:t>
            </a:r>
            <a:r>
              <a:rPr spc="80" dirty="0"/>
              <a:t>Rushby</a:t>
            </a:r>
          </a:p>
        </p:txBody>
      </p:sp>
      <p:sp>
        <p:nvSpPr>
          <p:cNvPr id="5" name="Holder 5"/>
          <p:cNvSpPr>
            <a:spLocks noGrp="1"/>
          </p:cNvSpPr>
          <p:nvPr>
            <p:ph type="dt" sz="half" idx="6"/>
          </p:nvPr>
        </p:nvSpPr>
        <p:spPr>
          <a:xfrm>
            <a:off x="502920" y="7228332"/>
            <a:ext cx="2313432" cy="388620"/>
          </a:xfrm>
          <a:prstGeom prst="rect">
            <a:avLst/>
          </a:prstGeom>
        </p:spPr>
        <p:txBody>
          <a:bodyPr wrap="square" lIns="0" tIns="0" rIns="0" bIns="0">
            <a:spAutoFit/>
          </a:bodyPr>
          <a:lstStyle>
            <a:lvl1pPr algn="l">
              <a:defRPr>
                <a:solidFill>
                  <a:schemeClr val="tx1">
                    <a:tint val="75000"/>
                  </a:schemeClr>
                </a:solidFill>
              </a:defRPr>
            </a:lvl1pPr>
          </a:lstStyle>
          <a:p>
            <a:fld id="{4F11BA83-A2CA-A043-9858-9E2093110E23}" type="datetime1">
              <a:rPr lang="en-US" smtClean="0"/>
              <a:t>12/1/15</a:t>
            </a:fld>
            <a:endParaRPr lang="en-US"/>
          </a:p>
        </p:txBody>
      </p:sp>
      <p:sp>
        <p:nvSpPr>
          <p:cNvPr id="6" name="Holder 6"/>
          <p:cNvSpPr>
            <a:spLocks noGrp="1"/>
          </p:cNvSpPr>
          <p:nvPr>
            <p:ph type="sldNum" sz="quarter" idx="7"/>
          </p:nvPr>
        </p:nvSpPr>
        <p:spPr>
          <a:xfrm>
            <a:off x="6884390" y="6854600"/>
            <a:ext cx="2651125" cy="235584"/>
          </a:xfrm>
          <a:prstGeom prst="rect">
            <a:avLst/>
          </a:prstGeom>
        </p:spPr>
        <p:txBody>
          <a:bodyPr wrap="square" lIns="0" tIns="0" rIns="0" bIns="0">
            <a:spAutoFit/>
          </a:bodyPr>
          <a:lstStyle>
            <a:lvl1pPr>
              <a:defRPr sz="1650" b="0" i="0">
                <a:solidFill>
                  <a:schemeClr val="tx1"/>
                </a:solidFill>
                <a:latin typeface="Arial"/>
                <a:cs typeface="Arial"/>
              </a:defRPr>
            </a:lvl1pPr>
          </a:lstStyle>
          <a:p>
            <a:pPr marL="274955">
              <a:lnSpc>
                <a:spcPts val="1730"/>
              </a:lnSpc>
            </a:pPr>
            <a:r>
              <a:rPr spc="120" dirty="0"/>
              <a:t>Formal </a:t>
            </a:r>
            <a:r>
              <a:rPr spc="110" dirty="0"/>
              <a:t>Calculation:</a:t>
            </a:r>
            <a:r>
              <a:rPr spc="490" dirty="0"/>
              <a:t> </a:t>
            </a:r>
            <a:fld id="{81D60167-4931-47E6-BA6A-407CBD079E47}" type="slidenum">
              <a:rPr spc="114" dirty="0"/>
              <a:t>‹#›</a:t>
            </a:fld>
            <a:endParaRPr spc="114"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image" Target="../media/image4.png"/><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1" Type="http://schemas.openxmlformats.org/officeDocument/2006/relationships/slideLayout" Target="../slideLayouts/slideLayout5.xml"/><Relationship Id="rId2" Type="http://schemas.openxmlformats.org/officeDocument/2006/relationships/image" Target="../media/image5.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10.png"/><Relationship Id="rId4" Type="http://schemas.openxmlformats.org/officeDocument/2006/relationships/image" Target="../media/image11.png"/><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2.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8.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9.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0.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1.xml.rels><?xml version="1.0" encoding="UTF-8" standalone="yes"?>
<Relationships xmlns="http://schemas.openxmlformats.org/package/2006/relationships"><Relationship Id="rId3" Type="http://schemas.openxmlformats.org/officeDocument/2006/relationships/hyperlink" Target="http://pvs.csl.sri.com/" TargetMode="External"/><Relationship Id="rId4" Type="http://schemas.openxmlformats.org/officeDocument/2006/relationships/hyperlink" Target="http://yices.csl.sri.com/" TargetMode="External"/><Relationship Id="rId5" Type="http://schemas.openxmlformats.org/officeDocument/2006/relationships/hyperlink" Target="http://sal.csl.sri.com/" TargetMode="External"/><Relationship Id="rId1" Type="http://schemas.openxmlformats.org/officeDocument/2006/relationships/slideLayout" Target="../slideLayouts/slideLayout5.xml"/><Relationship Id="rId2" Type="http://schemas.openxmlformats.org/officeDocument/2006/relationships/hyperlink" Target="http://fm.csl.sri.com/"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914400" y="3276600"/>
            <a:ext cx="7949565" cy="1446550"/>
          </a:xfrm>
          <a:prstGeom prst="rect">
            <a:avLst/>
          </a:prstGeom>
        </p:spPr>
        <p:txBody>
          <a:bodyPr vert="horz" wrap="square" lIns="0" tIns="0" rIns="0" bIns="0" rtlCol="0">
            <a:spAutoFit/>
          </a:bodyPr>
          <a:lstStyle/>
          <a:p>
            <a:pPr algn="ctr">
              <a:lnSpc>
                <a:spcPct val="100000"/>
              </a:lnSpc>
              <a:tabLst>
                <a:tab pos="2124710" algn="l"/>
                <a:tab pos="3439160" algn="l"/>
              </a:tabLst>
            </a:pPr>
            <a:r>
              <a:rPr lang="en-US" sz="2350" spc="295" dirty="0" smtClean="0">
                <a:solidFill>
                  <a:srgbClr val="0000FF"/>
                </a:solidFill>
                <a:latin typeface="Arial"/>
                <a:cs typeface="Arial"/>
              </a:rPr>
              <a:t>Formal Methods</a:t>
            </a:r>
          </a:p>
          <a:p>
            <a:pPr algn="ctr">
              <a:lnSpc>
                <a:spcPct val="100000"/>
              </a:lnSpc>
              <a:tabLst>
                <a:tab pos="2124710" algn="l"/>
                <a:tab pos="3439160" algn="l"/>
              </a:tabLst>
            </a:pPr>
            <a:endParaRPr lang="en-US" sz="2350" spc="295" dirty="0">
              <a:solidFill>
                <a:srgbClr val="0000FF"/>
              </a:solidFill>
              <a:latin typeface="Arial"/>
              <a:cs typeface="Arial"/>
            </a:endParaRPr>
          </a:p>
          <a:p>
            <a:pPr algn="ctr">
              <a:lnSpc>
                <a:spcPct val="100000"/>
              </a:lnSpc>
              <a:tabLst>
                <a:tab pos="2124710" algn="l"/>
                <a:tab pos="3439160" algn="l"/>
              </a:tabLst>
            </a:pPr>
            <a:r>
              <a:rPr lang="en-US" sz="2350" spc="295" dirty="0" smtClean="0">
                <a:solidFill>
                  <a:srgbClr val="0000FF"/>
                </a:solidFill>
                <a:latin typeface="Arial"/>
                <a:cs typeface="Arial"/>
              </a:rPr>
              <a:t>Yinzhi Cao</a:t>
            </a:r>
          </a:p>
          <a:p>
            <a:pPr algn="ctr">
              <a:lnSpc>
                <a:spcPct val="100000"/>
              </a:lnSpc>
              <a:tabLst>
                <a:tab pos="2124710" algn="l"/>
                <a:tab pos="3439160" algn="l"/>
              </a:tabLst>
            </a:pPr>
            <a:r>
              <a:rPr lang="en-US" sz="2350" spc="295" dirty="0" smtClean="0">
                <a:solidFill>
                  <a:srgbClr val="0000FF"/>
                </a:solidFill>
                <a:latin typeface="Arial"/>
                <a:cs typeface="Arial"/>
              </a:rPr>
              <a:t>Lehigh University</a:t>
            </a:r>
            <a:endParaRPr sz="1950" dirty="0">
              <a:latin typeface="Arial"/>
              <a:cs typeface="Arial"/>
            </a:endParaRPr>
          </a:p>
        </p:txBody>
      </p:sp>
      <p:sp>
        <p:nvSpPr>
          <p:cNvPr id="6" name="Title 5"/>
          <p:cNvSpPr>
            <a:spLocks noGrp="1"/>
          </p:cNvSpPr>
          <p:nvPr>
            <p:ph type="title"/>
          </p:nvPr>
        </p:nvSpPr>
        <p:spPr/>
        <p:txBody>
          <a:bodyPr/>
          <a:lstStyle/>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94843"/>
            <a:ext cx="7933055" cy="5753100"/>
          </a:xfrm>
          <a:prstGeom prst="rect">
            <a:avLst/>
          </a:prstGeom>
        </p:spPr>
        <p:txBody>
          <a:bodyPr vert="horz" wrap="square" lIns="0" tIns="0" rIns="0" bIns="0" rtlCol="0">
            <a:spAutoFit/>
          </a:bodyPr>
          <a:lstStyle/>
          <a:p>
            <a:pPr marL="808355" marR="466090" algn="ctr">
              <a:lnSpc>
                <a:spcPct val="125000"/>
              </a:lnSpc>
            </a:pPr>
            <a:r>
              <a:rPr sz="1950" spc="280" dirty="0">
                <a:solidFill>
                  <a:srgbClr val="231F20"/>
                </a:solidFill>
                <a:latin typeface="Arial"/>
                <a:cs typeface="Arial"/>
              </a:rPr>
              <a:t>Some </a:t>
            </a:r>
            <a:r>
              <a:rPr sz="1950" spc="270" dirty="0">
                <a:solidFill>
                  <a:srgbClr val="231F20"/>
                </a:solidFill>
                <a:latin typeface="Arial"/>
                <a:cs typeface="Arial"/>
              </a:rPr>
              <a:t>Different </a:t>
            </a:r>
            <a:r>
              <a:rPr sz="1950" spc="235" dirty="0">
                <a:solidFill>
                  <a:srgbClr val="231F20"/>
                </a:solidFill>
                <a:latin typeface="Arial"/>
                <a:cs typeface="Arial"/>
              </a:rPr>
              <a:t>Approaches </a:t>
            </a:r>
            <a:r>
              <a:rPr sz="1950" spc="355" dirty="0">
                <a:solidFill>
                  <a:srgbClr val="231F20"/>
                </a:solidFill>
                <a:latin typeface="Arial"/>
                <a:cs typeface="Arial"/>
              </a:rPr>
              <a:t>to </a:t>
            </a:r>
            <a:r>
              <a:rPr sz="1950" spc="270" dirty="0">
                <a:solidFill>
                  <a:srgbClr val="231F20"/>
                </a:solidFill>
                <a:latin typeface="Arial"/>
                <a:cs typeface="Arial"/>
              </a:rPr>
              <a:t>Formal </a:t>
            </a:r>
            <a:r>
              <a:rPr sz="1950" spc="195" dirty="0">
                <a:solidFill>
                  <a:srgbClr val="231F20"/>
                </a:solidFill>
                <a:latin typeface="Arial"/>
                <a:cs typeface="Arial"/>
              </a:rPr>
              <a:t>Analysis  </a:t>
            </a:r>
            <a:r>
              <a:rPr sz="1950" spc="325" dirty="0">
                <a:solidFill>
                  <a:srgbClr val="231F20"/>
                </a:solidFill>
                <a:latin typeface="Arial"/>
                <a:cs typeface="Arial"/>
              </a:rPr>
              <a:t>(of </a:t>
            </a:r>
            <a:r>
              <a:rPr sz="1950" spc="215" dirty="0">
                <a:solidFill>
                  <a:srgbClr val="231F20"/>
                </a:solidFill>
                <a:latin typeface="Arial"/>
                <a:cs typeface="Arial"/>
              </a:rPr>
              <a:t>safety </a:t>
            </a:r>
            <a:r>
              <a:rPr sz="1950" spc="225" dirty="0">
                <a:solidFill>
                  <a:srgbClr val="231F20"/>
                </a:solidFill>
                <a:latin typeface="Arial"/>
                <a:cs typeface="Arial"/>
              </a:rPr>
              <a:t>properties </a:t>
            </a:r>
            <a:r>
              <a:rPr sz="1950" spc="280" dirty="0">
                <a:solidFill>
                  <a:srgbClr val="231F20"/>
                </a:solidFill>
                <a:latin typeface="Arial"/>
                <a:cs typeface="Arial"/>
              </a:rPr>
              <a:t>of </a:t>
            </a:r>
            <a:r>
              <a:rPr sz="1950" spc="265" dirty="0">
                <a:solidFill>
                  <a:srgbClr val="231F20"/>
                </a:solidFill>
                <a:latin typeface="Arial"/>
                <a:cs typeface="Arial"/>
              </a:rPr>
              <a:t>concurrent </a:t>
            </a:r>
            <a:r>
              <a:rPr sz="1950" spc="215" dirty="0">
                <a:solidFill>
                  <a:srgbClr val="231F20"/>
                </a:solidFill>
                <a:latin typeface="Arial"/>
                <a:cs typeface="Arial"/>
              </a:rPr>
              <a:t>systems  </a:t>
            </a:r>
            <a:r>
              <a:rPr sz="1950" spc="220" dirty="0">
                <a:solidFill>
                  <a:srgbClr val="231F20"/>
                </a:solidFill>
                <a:latin typeface="Arial"/>
                <a:cs typeface="Arial"/>
              </a:rPr>
              <a:t>defined </a:t>
            </a:r>
            <a:r>
              <a:rPr sz="1950" spc="130" dirty="0">
                <a:solidFill>
                  <a:srgbClr val="231F20"/>
                </a:solidFill>
                <a:latin typeface="Arial"/>
                <a:cs typeface="Arial"/>
              </a:rPr>
              <a:t>as </a:t>
            </a:r>
            <a:r>
              <a:rPr sz="1950" spc="250" dirty="0">
                <a:solidFill>
                  <a:srgbClr val="231F20"/>
                </a:solidFill>
                <a:latin typeface="Arial"/>
                <a:cs typeface="Arial"/>
              </a:rPr>
              <a:t>transition</a:t>
            </a:r>
            <a:r>
              <a:rPr sz="1950" spc="710" dirty="0">
                <a:solidFill>
                  <a:srgbClr val="231F20"/>
                </a:solidFill>
                <a:latin typeface="Arial"/>
                <a:cs typeface="Arial"/>
              </a:rPr>
              <a:t> </a:t>
            </a:r>
            <a:r>
              <a:rPr sz="1950" spc="235" dirty="0">
                <a:solidFill>
                  <a:srgbClr val="231F20"/>
                </a:solidFill>
                <a:latin typeface="Arial"/>
                <a:cs typeface="Arial"/>
              </a:rPr>
              <a:t>relations)</a:t>
            </a:r>
            <a:endParaRPr sz="1950">
              <a:latin typeface="Arial"/>
              <a:cs typeface="Arial"/>
            </a:endParaRPr>
          </a:p>
          <a:p>
            <a:pPr marL="17780" marR="1925320">
              <a:lnSpc>
                <a:spcPct val="125000"/>
              </a:lnSpc>
              <a:spcBef>
                <a:spcPts val="1340"/>
              </a:spcBef>
            </a:pPr>
            <a:r>
              <a:rPr sz="1950" spc="145" dirty="0">
                <a:solidFill>
                  <a:srgbClr val="231F20"/>
                </a:solidFill>
                <a:latin typeface="Arial"/>
                <a:cs typeface="Arial"/>
              </a:rPr>
              <a:t>. . . </a:t>
            </a:r>
            <a:r>
              <a:rPr sz="1950" spc="250" dirty="0">
                <a:solidFill>
                  <a:srgbClr val="231F20"/>
                </a:solidFill>
                <a:latin typeface="Arial"/>
                <a:cs typeface="Arial"/>
              </a:rPr>
              <a:t>to </a:t>
            </a:r>
            <a:r>
              <a:rPr sz="1950" spc="114" dirty="0">
                <a:solidFill>
                  <a:srgbClr val="231F20"/>
                </a:solidFill>
                <a:latin typeface="Arial"/>
                <a:cs typeface="Arial"/>
              </a:rPr>
              <a:t>be </a:t>
            </a:r>
            <a:r>
              <a:rPr sz="1950" spc="155" dirty="0">
                <a:solidFill>
                  <a:srgbClr val="231F20"/>
                </a:solidFill>
                <a:latin typeface="Arial"/>
                <a:cs typeface="Arial"/>
              </a:rPr>
              <a:t>demonstrated on </a:t>
            </a:r>
            <a:r>
              <a:rPr sz="1950" spc="85" dirty="0">
                <a:solidFill>
                  <a:srgbClr val="231F20"/>
                </a:solidFill>
                <a:latin typeface="Arial"/>
                <a:cs typeface="Arial"/>
              </a:rPr>
              <a:t>a </a:t>
            </a:r>
            <a:r>
              <a:rPr sz="1950" spc="135" dirty="0">
                <a:solidFill>
                  <a:srgbClr val="FF0000"/>
                </a:solidFill>
                <a:latin typeface="Arial"/>
                <a:cs typeface="Arial"/>
              </a:rPr>
              <a:t>concrete </a:t>
            </a:r>
            <a:r>
              <a:rPr sz="1950" spc="114" dirty="0">
                <a:solidFill>
                  <a:srgbClr val="FF0000"/>
                </a:solidFill>
                <a:latin typeface="Arial"/>
                <a:cs typeface="Arial"/>
              </a:rPr>
              <a:t>example  </a:t>
            </a:r>
            <a:r>
              <a:rPr sz="1950" spc="110" dirty="0">
                <a:solidFill>
                  <a:srgbClr val="231F20"/>
                </a:solidFill>
                <a:latin typeface="Arial"/>
                <a:cs typeface="Arial"/>
              </a:rPr>
              <a:t>Namely, </a:t>
            </a:r>
            <a:r>
              <a:rPr sz="1950" spc="195" dirty="0">
                <a:solidFill>
                  <a:srgbClr val="231F20"/>
                </a:solidFill>
                <a:latin typeface="Arial"/>
                <a:cs typeface="Arial"/>
              </a:rPr>
              <a:t>Lamport’s </a:t>
            </a:r>
            <a:r>
              <a:rPr sz="1950" spc="140" dirty="0">
                <a:solidFill>
                  <a:srgbClr val="0000FF"/>
                </a:solidFill>
                <a:latin typeface="Arial"/>
                <a:cs typeface="Arial"/>
              </a:rPr>
              <a:t>Bakery</a:t>
            </a:r>
            <a:r>
              <a:rPr sz="1950" spc="505" dirty="0">
                <a:solidFill>
                  <a:srgbClr val="0000FF"/>
                </a:solidFill>
                <a:latin typeface="Arial"/>
                <a:cs typeface="Arial"/>
              </a:rPr>
              <a:t> </a:t>
            </a:r>
            <a:r>
              <a:rPr sz="1950" spc="190" dirty="0">
                <a:solidFill>
                  <a:srgbClr val="0000FF"/>
                </a:solidFill>
                <a:latin typeface="Arial"/>
                <a:cs typeface="Arial"/>
              </a:rPr>
              <a:t>Algorithm</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60" dirty="0">
                <a:solidFill>
                  <a:srgbClr val="231F20"/>
                </a:solidFill>
                <a:latin typeface="Arial"/>
                <a:cs typeface="Arial"/>
              </a:rPr>
              <a:t>Explicit, </a:t>
            </a:r>
            <a:r>
              <a:rPr sz="1950" spc="140" dirty="0">
                <a:solidFill>
                  <a:srgbClr val="231F20"/>
                </a:solidFill>
                <a:latin typeface="Arial"/>
                <a:cs typeface="Arial"/>
              </a:rPr>
              <a:t>symbolic, bounded </a:t>
            </a:r>
            <a:r>
              <a:rPr sz="1950" spc="160" dirty="0">
                <a:solidFill>
                  <a:srgbClr val="231F20"/>
                </a:solidFill>
                <a:latin typeface="Arial"/>
                <a:cs typeface="Arial"/>
              </a:rPr>
              <a:t>model</a:t>
            </a:r>
            <a:r>
              <a:rPr sz="1950" spc="710" dirty="0">
                <a:solidFill>
                  <a:srgbClr val="231F20"/>
                </a:solidFill>
                <a:latin typeface="Arial"/>
                <a:cs typeface="Arial"/>
              </a:rPr>
              <a:t> </a:t>
            </a:r>
            <a:r>
              <a:rPr sz="1950" spc="125" dirty="0">
                <a:solidFill>
                  <a:srgbClr val="231F20"/>
                </a:solidFill>
                <a:latin typeface="Arial"/>
                <a:cs typeface="Arial"/>
              </a:rPr>
              <a:t>checking</a:t>
            </a:r>
            <a:endParaRPr sz="1950">
              <a:latin typeface="Arial"/>
              <a:cs typeface="Arial"/>
            </a:endParaRPr>
          </a:p>
          <a:p>
            <a:pPr marL="300990" indent="-288290">
              <a:lnSpc>
                <a:spcPct val="100000"/>
              </a:lnSpc>
              <a:spcBef>
                <a:spcPts val="1100"/>
              </a:spcBef>
              <a:buSzPct val="105128"/>
              <a:buFont typeface="Lucida Sans Unicode"/>
              <a:buChar char="•"/>
              <a:tabLst>
                <a:tab pos="301625" algn="l"/>
              </a:tabLst>
            </a:pPr>
            <a:r>
              <a:rPr sz="1950" spc="170" dirty="0">
                <a:solidFill>
                  <a:srgbClr val="231F20"/>
                </a:solidFill>
                <a:latin typeface="Arial"/>
                <a:cs typeface="Arial"/>
              </a:rPr>
              <a:t>Deduction </a:t>
            </a:r>
            <a:r>
              <a:rPr sz="1950" spc="175" dirty="0">
                <a:solidFill>
                  <a:srgbClr val="231F20"/>
                </a:solidFill>
                <a:latin typeface="Arial"/>
                <a:cs typeface="Arial"/>
              </a:rPr>
              <a:t>(theorem</a:t>
            </a:r>
            <a:r>
              <a:rPr sz="1950" spc="375" dirty="0">
                <a:solidFill>
                  <a:srgbClr val="231F20"/>
                </a:solidFill>
                <a:latin typeface="Arial"/>
                <a:cs typeface="Arial"/>
              </a:rPr>
              <a:t> </a:t>
            </a:r>
            <a:r>
              <a:rPr sz="1950" spc="155" dirty="0">
                <a:solidFill>
                  <a:srgbClr val="231F20"/>
                </a:solidFill>
                <a:latin typeface="Arial"/>
                <a:cs typeface="Arial"/>
              </a:rPr>
              <a:t>proving)</a:t>
            </a:r>
            <a:endParaRPr sz="1950">
              <a:latin typeface="Arial"/>
              <a:cs typeface="Arial"/>
            </a:endParaRPr>
          </a:p>
          <a:p>
            <a:pPr marL="300990" indent="-288290">
              <a:lnSpc>
                <a:spcPct val="100000"/>
              </a:lnSpc>
              <a:spcBef>
                <a:spcPts val="1100"/>
              </a:spcBef>
              <a:buSzPct val="105128"/>
              <a:buFont typeface="Lucida Sans Unicode"/>
              <a:buChar char="•"/>
              <a:tabLst>
                <a:tab pos="301625" algn="l"/>
              </a:tabLst>
            </a:pPr>
            <a:r>
              <a:rPr sz="1950" spc="175" dirty="0">
                <a:solidFill>
                  <a:srgbClr val="231F20"/>
                </a:solidFill>
                <a:latin typeface="Arial"/>
                <a:cs typeface="Arial"/>
              </a:rPr>
              <a:t>Abstraction </a:t>
            </a:r>
            <a:r>
              <a:rPr sz="1950" spc="130" dirty="0">
                <a:solidFill>
                  <a:srgbClr val="231F20"/>
                </a:solidFill>
                <a:latin typeface="Arial"/>
                <a:cs typeface="Arial"/>
              </a:rPr>
              <a:t>and </a:t>
            </a:r>
            <a:r>
              <a:rPr sz="1950" spc="160" dirty="0">
                <a:solidFill>
                  <a:srgbClr val="231F20"/>
                </a:solidFill>
                <a:latin typeface="Arial"/>
                <a:cs typeface="Arial"/>
              </a:rPr>
              <a:t>model</a:t>
            </a:r>
            <a:r>
              <a:rPr sz="1950" spc="500" dirty="0">
                <a:solidFill>
                  <a:srgbClr val="231F20"/>
                </a:solidFill>
                <a:latin typeface="Arial"/>
                <a:cs typeface="Arial"/>
              </a:rPr>
              <a:t> </a:t>
            </a:r>
            <a:r>
              <a:rPr sz="1950" spc="125" dirty="0">
                <a:solidFill>
                  <a:srgbClr val="231F20"/>
                </a:solidFill>
                <a:latin typeface="Arial"/>
                <a:cs typeface="Arial"/>
              </a:rPr>
              <a:t>checking</a:t>
            </a:r>
            <a:endParaRPr sz="1950">
              <a:latin typeface="Arial"/>
              <a:cs typeface="Arial"/>
            </a:endParaRPr>
          </a:p>
          <a:p>
            <a:pPr marL="300990" indent="-288290">
              <a:lnSpc>
                <a:spcPct val="100000"/>
              </a:lnSpc>
              <a:spcBef>
                <a:spcPts val="1100"/>
              </a:spcBef>
              <a:buSzPct val="105128"/>
              <a:buFont typeface="Lucida Sans Unicode"/>
              <a:buChar char="•"/>
              <a:tabLst>
                <a:tab pos="301625" algn="l"/>
              </a:tabLst>
            </a:pPr>
            <a:r>
              <a:rPr sz="1950" spc="204" dirty="0">
                <a:solidFill>
                  <a:srgbClr val="231F20"/>
                </a:solidFill>
                <a:latin typeface="Arial"/>
                <a:cs typeface="Arial"/>
              </a:rPr>
              <a:t>Automated </a:t>
            </a:r>
            <a:r>
              <a:rPr sz="1950" spc="155" dirty="0">
                <a:solidFill>
                  <a:srgbClr val="231F20"/>
                </a:solidFill>
                <a:latin typeface="Arial"/>
                <a:cs typeface="Arial"/>
              </a:rPr>
              <a:t>abstraction </a:t>
            </a:r>
            <a:r>
              <a:rPr sz="1950" spc="145" dirty="0">
                <a:solidFill>
                  <a:srgbClr val="231F20"/>
                </a:solidFill>
                <a:latin typeface="Arial"/>
                <a:cs typeface="Arial"/>
              </a:rPr>
              <a:t>(</a:t>
            </a:r>
            <a:r>
              <a:rPr sz="1950" spc="145" dirty="0">
                <a:solidFill>
                  <a:srgbClr val="FF0000"/>
                </a:solidFill>
                <a:latin typeface="Arial"/>
                <a:cs typeface="Arial"/>
              </a:rPr>
              <a:t>failure </a:t>
            </a:r>
            <a:r>
              <a:rPr sz="1950" spc="175" dirty="0">
                <a:solidFill>
                  <a:srgbClr val="FF0000"/>
                </a:solidFill>
                <a:latin typeface="Arial"/>
                <a:cs typeface="Arial"/>
              </a:rPr>
              <a:t>tolerant </a:t>
            </a:r>
            <a:r>
              <a:rPr sz="1950" spc="155" dirty="0">
                <a:solidFill>
                  <a:srgbClr val="FF0000"/>
                </a:solidFill>
                <a:latin typeface="Arial"/>
                <a:cs typeface="Arial"/>
              </a:rPr>
              <a:t>theorem</a:t>
            </a:r>
            <a:r>
              <a:rPr sz="1950" spc="745" dirty="0">
                <a:solidFill>
                  <a:srgbClr val="FF0000"/>
                </a:solidFill>
                <a:latin typeface="Arial"/>
                <a:cs typeface="Arial"/>
              </a:rPr>
              <a:t> </a:t>
            </a:r>
            <a:r>
              <a:rPr sz="1950" spc="155" dirty="0">
                <a:solidFill>
                  <a:srgbClr val="FF0000"/>
                </a:solidFill>
                <a:latin typeface="Arial"/>
                <a:cs typeface="Arial"/>
              </a:rPr>
              <a:t>proving</a:t>
            </a:r>
            <a:r>
              <a:rPr sz="1950" spc="155" dirty="0">
                <a:solidFill>
                  <a:srgbClr val="231F20"/>
                </a:solidFill>
                <a:latin typeface="Arial"/>
                <a:cs typeface="Arial"/>
              </a:rPr>
              <a:t>)</a:t>
            </a:r>
            <a:endParaRPr sz="1950">
              <a:latin typeface="Arial"/>
              <a:cs typeface="Arial"/>
            </a:endParaRPr>
          </a:p>
          <a:p>
            <a:pPr marL="300990" indent="-288290">
              <a:lnSpc>
                <a:spcPct val="100000"/>
              </a:lnSpc>
              <a:spcBef>
                <a:spcPts val="1100"/>
              </a:spcBef>
              <a:buSzPct val="105128"/>
              <a:buFont typeface="Lucida Sans Unicode"/>
              <a:buChar char="•"/>
              <a:tabLst>
                <a:tab pos="301625" algn="l"/>
              </a:tabLst>
            </a:pPr>
            <a:r>
              <a:rPr sz="1950" spc="155" dirty="0">
                <a:solidFill>
                  <a:srgbClr val="231F20"/>
                </a:solidFill>
                <a:latin typeface="Arial"/>
                <a:cs typeface="Arial"/>
              </a:rPr>
              <a:t>Bounded </a:t>
            </a:r>
            <a:r>
              <a:rPr sz="1950" spc="160" dirty="0">
                <a:solidFill>
                  <a:srgbClr val="231F20"/>
                </a:solidFill>
                <a:latin typeface="Arial"/>
                <a:cs typeface="Arial"/>
              </a:rPr>
              <a:t>model </a:t>
            </a:r>
            <a:r>
              <a:rPr sz="1950" spc="125" dirty="0">
                <a:solidFill>
                  <a:srgbClr val="231F20"/>
                </a:solidFill>
                <a:latin typeface="Arial"/>
                <a:cs typeface="Arial"/>
              </a:rPr>
              <a:t>checking </a:t>
            </a:r>
            <a:r>
              <a:rPr sz="1950" spc="195" dirty="0">
                <a:solidFill>
                  <a:srgbClr val="231F20"/>
                </a:solidFill>
                <a:latin typeface="Arial"/>
                <a:cs typeface="Arial"/>
              </a:rPr>
              <a:t>(for </a:t>
            </a:r>
            <a:r>
              <a:rPr sz="1950" spc="155" dirty="0">
                <a:solidFill>
                  <a:srgbClr val="FF0000"/>
                </a:solidFill>
                <a:latin typeface="Arial"/>
                <a:cs typeface="Arial"/>
              </a:rPr>
              <a:t>infinite state </a:t>
            </a:r>
            <a:r>
              <a:rPr sz="1950" spc="225" dirty="0">
                <a:solidFill>
                  <a:srgbClr val="FF0000"/>
                </a:solidFill>
                <a:latin typeface="Arial"/>
                <a:cs typeface="Arial"/>
              </a:rPr>
              <a:t> </a:t>
            </a:r>
            <a:r>
              <a:rPr sz="1950" spc="125" dirty="0">
                <a:solidFill>
                  <a:srgbClr val="FF0000"/>
                </a:solidFill>
                <a:latin typeface="Arial"/>
                <a:cs typeface="Arial"/>
              </a:rPr>
              <a:t>systems</a:t>
            </a:r>
            <a:r>
              <a:rPr sz="1950" spc="125" dirty="0">
                <a:solidFill>
                  <a:srgbClr val="231F20"/>
                </a:solidFill>
                <a:latin typeface="Arial"/>
                <a:cs typeface="Arial"/>
              </a:rPr>
              <a:t>)</a:t>
            </a:r>
            <a:endParaRPr sz="1950">
              <a:latin typeface="Arial"/>
              <a:cs typeface="Arial"/>
            </a:endParaRPr>
          </a:p>
          <a:p>
            <a:pPr>
              <a:lnSpc>
                <a:spcPct val="100000"/>
              </a:lnSpc>
              <a:spcBef>
                <a:spcPts val="32"/>
              </a:spcBef>
            </a:pPr>
            <a:endParaRPr sz="1650">
              <a:latin typeface="Times New Roman"/>
              <a:cs typeface="Times New Roman"/>
            </a:endParaRPr>
          </a:p>
          <a:p>
            <a:pPr marL="17780">
              <a:lnSpc>
                <a:spcPct val="100000"/>
              </a:lnSpc>
            </a:pPr>
            <a:r>
              <a:rPr sz="1950" spc="135" dirty="0">
                <a:solidFill>
                  <a:srgbClr val="231F20"/>
                </a:solidFill>
                <a:latin typeface="Arial"/>
                <a:cs typeface="Arial"/>
              </a:rPr>
              <a:t>Focus </a:t>
            </a:r>
            <a:r>
              <a:rPr sz="1950" spc="40" dirty="0">
                <a:solidFill>
                  <a:srgbClr val="231F20"/>
                </a:solidFill>
                <a:latin typeface="Arial"/>
                <a:cs typeface="Arial"/>
              </a:rPr>
              <a:t>is </a:t>
            </a:r>
            <a:r>
              <a:rPr sz="1950" spc="155" dirty="0">
                <a:solidFill>
                  <a:srgbClr val="231F20"/>
                </a:solidFill>
                <a:latin typeface="Arial"/>
                <a:cs typeface="Arial"/>
              </a:rPr>
              <a:t>on </a:t>
            </a:r>
            <a:r>
              <a:rPr sz="1950" spc="145" dirty="0">
                <a:solidFill>
                  <a:srgbClr val="FF0000"/>
                </a:solidFill>
                <a:latin typeface="Arial"/>
                <a:cs typeface="Arial"/>
              </a:rPr>
              <a:t>pragmatics </a:t>
            </a:r>
            <a:r>
              <a:rPr sz="1950" spc="130" dirty="0">
                <a:solidFill>
                  <a:srgbClr val="FF0000"/>
                </a:solidFill>
                <a:latin typeface="Arial"/>
                <a:cs typeface="Arial"/>
              </a:rPr>
              <a:t>and </a:t>
            </a:r>
            <a:r>
              <a:rPr sz="1950" spc="160" dirty="0">
                <a:solidFill>
                  <a:srgbClr val="FF0000"/>
                </a:solidFill>
                <a:latin typeface="Arial"/>
                <a:cs typeface="Arial"/>
              </a:rPr>
              <a:t>tools </a:t>
            </a:r>
            <a:r>
              <a:rPr sz="1950" spc="195" dirty="0">
                <a:solidFill>
                  <a:srgbClr val="231F20"/>
                </a:solidFill>
                <a:latin typeface="Arial"/>
                <a:cs typeface="Arial"/>
              </a:rPr>
              <a:t>(many </a:t>
            </a:r>
            <a:r>
              <a:rPr sz="1950" spc="150" dirty="0">
                <a:solidFill>
                  <a:srgbClr val="231F20"/>
                </a:solidFill>
                <a:latin typeface="Arial"/>
                <a:cs typeface="Arial"/>
              </a:rPr>
              <a:t>demos), </a:t>
            </a:r>
            <a:r>
              <a:rPr sz="1950" spc="220" dirty="0">
                <a:solidFill>
                  <a:srgbClr val="231F20"/>
                </a:solidFill>
                <a:latin typeface="Arial"/>
                <a:cs typeface="Arial"/>
              </a:rPr>
              <a:t>not </a:t>
            </a:r>
            <a:r>
              <a:rPr sz="1950" spc="635" dirty="0">
                <a:solidFill>
                  <a:srgbClr val="231F20"/>
                </a:solidFill>
                <a:latin typeface="Arial"/>
                <a:cs typeface="Arial"/>
              </a:rPr>
              <a:t> </a:t>
            </a:r>
            <a:r>
              <a:rPr sz="1950" spc="150" dirty="0">
                <a:solidFill>
                  <a:srgbClr val="231F20"/>
                </a:solidFill>
                <a:latin typeface="Arial"/>
                <a:cs typeface="Arial"/>
              </a:rPr>
              <a:t>theory</a:t>
            </a:r>
            <a:endParaRPr sz="1950">
              <a:latin typeface="Arial"/>
              <a:cs typeface="Arial"/>
            </a:endParaRPr>
          </a:p>
          <a:p>
            <a:pPr marL="17780" marR="5080">
              <a:lnSpc>
                <a:spcPct val="125000"/>
              </a:lnSpc>
              <a:spcBef>
                <a:spcPts val="1030"/>
              </a:spcBef>
            </a:pPr>
            <a:r>
              <a:rPr sz="1950" spc="150" dirty="0">
                <a:solidFill>
                  <a:srgbClr val="231F20"/>
                </a:solidFill>
                <a:latin typeface="Arial"/>
                <a:cs typeface="Arial"/>
              </a:rPr>
              <a:t>If </a:t>
            </a:r>
            <a:r>
              <a:rPr sz="1950" spc="140" dirty="0">
                <a:solidFill>
                  <a:srgbClr val="231F20"/>
                </a:solidFill>
                <a:latin typeface="Arial"/>
                <a:cs typeface="Arial"/>
              </a:rPr>
              <a:t>there </a:t>
            </a:r>
            <a:r>
              <a:rPr sz="1950" spc="40" dirty="0">
                <a:solidFill>
                  <a:srgbClr val="231F20"/>
                </a:solidFill>
                <a:latin typeface="Arial"/>
                <a:cs typeface="Arial"/>
              </a:rPr>
              <a:t>is </a:t>
            </a:r>
            <a:r>
              <a:rPr sz="1950" spc="195" dirty="0">
                <a:solidFill>
                  <a:srgbClr val="231F20"/>
                </a:solidFill>
                <a:latin typeface="Arial"/>
                <a:cs typeface="Arial"/>
              </a:rPr>
              <a:t>time </a:t>
            </a:r>
            <a:r>
              <a:rPr sz="1950" spc="130" dirty="0">
                <a:solidFill>
                  <a:srgbClr val="231F20"/>
                </a:solidFill>
                <a:latin typeface="Arial"/>
                <a:cs typeface="Arial"/>
              </a:rPr>
              <a:t>and </a:t>
            </a:r>
            <a:r>
              <a:rPr sz="1950" spc="140" dirty="0">
                <a:solidFill>
                  <a:srgbClr val="231F20"/>
                </a:solidFill>
                <a:latin typeface="Arial"/>
                <a:cs typeface="Arial"/>
              </a:rPr>
              <a:t>interest, </a:t>
            </a:r>
            <a:r>
              <a:rPr sz="1950" spc="145" dirty="0">
                <a:solidFill>
                  <a:srgbClr val="231F20"/>
                </a:solidFill>
                <a:latin typeface="Arial"/>
                <a:cs typeface="Arial"/>
              </a:rPr>
              <a:t>will </a:t>
            </a:r>
            <a:r>
              <a:rPr sz="1950" spc="80" dirty="0">
                <a:solidFill>
                  <a:srgbClr val="231F20"/>
                </a:solidFill>
                <a:latin typeface="Arial"/>
                <a:cs typeface="Arial"/>
              </a:rPr>
              <a:t>also </a:t>
            </a:r>
            <a:r>
              <a:rPr sz="1950" spc="170" dirty="0">
                <a:solidFill>
                  <a:srgbClr val="231F20"/>
                </a:solidFill>
                <a:latin typeface="Arial"/>
                <a:cs typeface="Arial"/>
              </a:rPr>
              <a:t>look </a:t>
            </a:r>
            <a:r>
              <a:rPr sz="1950" spc="215" dirty="0">
                <a:solidFill>
                  <a:srgbClr val="231F20"/>
                </a:solidFill>
                <a:latin typeface="Arial"/>
                <a:cs typeface="Arial"/>
              </a:rPr>
              <a:t>at </a:t>
            </a:r>
            <a:r>
              <a:rPr sz="1950" spc="170" dirty="0">
                <a:solidFill>
                  <a:srgbClr val="231F20"/>
                </a:solidFill>
                <a:latin typeface="Arial"/>
                <a:cs typeface="Arial"/>
              </a:rPr>
              <a:t>test </a:t>
            </a:r>
            <a:r>
              <a:rPr sz="1950" spc="135" dirty="0">
                <a:solidFill>
                  <a:srgbClr val="231F20"/>
                </a:solidFill>
                <a:latin typeface="Arial"/>
                <a:cs typeface="Arial"/>
              </a:rPr>
              <a:t>generation, </a:t>
            </a:r>
            <a:r>
              <a:rPr sz="1950" spc="810" dirty="0">
                <a:solidFill>
                  <a:srgbClr val="231F20"/>
                </a:solidFill>
                <a:latin typeface="Arial"/>
                <a:cs typeface="Arial"/>
              </a:rPr>
              <a:t> </a:t>
            </a:r>
            <a:r>
              <a:rPr sz="1950" spc="165" dirty="0">
                <a:solidFill>
                  <a:srgbClr val="231F20"/>
                </a:solidFill>
                <a:latin typeface="Arial"/>
                <a:cs typeface="Arial"/>
              </a:rPr>
              <a:t>static </a:t>
            </a:r>
            <a:r>
              <a:rPr sz="1950" spc="85" dirty="0">
                <a:solidFill>
                  <a:srgbClr val="231F20"/>
                </a:solidFill>
                <a:latin typeface="Arial"/>
                <a:cs typeface="Arial"/>
              </a:rPr>
              <a:t>analysis, </a:t>
            </a:r>
            <a:r>
              <a:rPr sz="1950" spc="130" dirty="0">
                <a:solidFill>
                  <a:srgbClr val="231F20"/>
                </a:solidFill>
                <a:latin typeface="Arial"/>
                <a:cs typeface="Arial"/>
              </a:rPr>
              <a:t>and </a:t>
            </a:r>
            <a:r>
              <a:rPr sz="1950" spc="185" dirty="0">
                <a:solidFill>
                  <a:srgbClr val="231F20"/>
                </a:solidFill>
                <a:latin typeface="Arial"/>
                <a:cs typeface="Arial"/>
              </a:rPr>
              <a:t>timed</a:t>
            </a:r>
            <a:r>
              <a:rPr sz="1950" spc="710" dirty="0">
                <a:solidFill>
                  <a:srgbClr val="231F20"/>
                </a:solidFill>
                <a:latin typeface="Arial"/>
                <a:cs typeface="Arial"/>
              </a:rPr>
              <a:t> </a:t>
            </a:r>
            <a:r>
              <a:rPr sz="1950" spc="100" dirty="0">
                <a:solidFill>
                  <a:srgbClr val="231F20"/>
                </a:solidFill>
                <a:latin typeface="Arial"/>
                <a:cs typeface="Arial"/>
              </a:rPr>
              <a:t>systems</a:t>
            </a:r>
            <a:endParaRPr sz="195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29" y="475981"/>
            <a:ext cx="8254365" cy="6036945"/>
          </a:xfrm>
          <a:prstGeom prst="rect">
            <a:avLst/>
          </a:prstGeom>
        </p:spPr>
        <p:txBody>
          <a:bodyPr vert="horz" wrap="square" lIns="0" tIns="0" rIns="0" bIns="0" rtlCol="0">
            <a:spAutoFit/>
          </a:bodyPr>
          <a:lstStyle/>
          <a:p>
            <a:pPr marL="71755">
              <a:lnSpc>
                <a:spcPct val="100000"/>
              </a:lnSpc>
              <a:tabLst>
                <a:tab pos="2644140" algn="l"/>
              </a:tabLst>
            </a:pPr>
            <a:r>
              <a:rPr sz="1950" spc="270" dirty="0">
                <a:solidFill>
                  <a:srgbClr val="231F20"/>
                </a:solidFill>
                <a:latin typeface="Arial"/>
                <a:cs typeface="Arial"/>
              </a:rPr>
              <a:t>Formal </a:t>
            </a:r>
            <a:r>
              <a:rPr sz="1950" spc="705" dirty="0">
                <a:solidFill>
                  <a:srgbClr val="231F20"/>
                </a:solidFill>
                <a:latin typeface="Arial"/>
                <a:cs typeface="Arial"/>
              </a:rPr>
              <a:t> </a:t>
            </a:r>
            <a:r>
              <a:rPr sz="1950" spc="295" dirty="0">
                <a:solidFill>
                  <a:srgbClr val="231F20"/>
                </a:solidFill>
                <a:latin typeface="Arial"/>
                <a:cs typeface="Arial"/>
              </a:rPr>
              <a:t>Methods:	</a:t>
            </a:r>
            <a:r>
              <a:rPr sz="1950" spc="260" dirty="0">
                <a:solidFill>
                  <a:srgbClr val="231F20"/>
                </a:solidFill>
                <a:latin typeface="Arial"/>
                <a:cs typeface="Arial"/>
              </a:rPr>
              <a:t>Analogy </a:t>
            </a:r>
            <a:r>
              <a:rPr sz="1950" spc="310" dirty="0">
                <a:solidFill>
                  <a:srgbClr val="231F20"/>
                </a:solidFill>
                <a:latin typeface="Arial"/>
                <a:cs typeface="Arial"/>
              </a:rPr>
              <a:t>with </a:t>
            </a:r>
            <a:r>
              <a:rPr sz="1950" spc="235" dirty="0">
                <a:solidFill>
                  <a:srgbClr val="231F20"/>
                </a:solidFill>
                <a:latin typeface="Arial"/>
                <a:cs typeface="Arial"/>
              </a:rPr>
              <a:t>Engineering</a:t>
            </a:r>
            <a:r>
              <a:rPr sz="1950" spc="520" dirty="0">
                <a:solidFill>
                  <a:srgbClr val="231F20"/>
                </a:solidFill>
                <a:latin typeface="Arial"/>
                <a:cs typeface="Arial"/>
              </a:rPr>
              <a:t> </a:t>
            </a:r>
            <a:r>
              <a:rPr sz="1950" spc="290" dirty="0">
                <a:solidFill>
                  <a:srgbClr val="231F20"/>
                </a:solidFill>
                <a:latin typeface="Arial"/>
                <a:cs typeface="Arial"/>
              </a:rPr>
              <a:t>Mathematics</a:t>
            </a:r>
            <a:endParaRPr sz="1950">
              <a:latin typeface="Arial"/>
              <a:cs typeface="Arial"/>
            </a:endParaRPr>
          </a:p>
          <a:p>
            <a:pPr marL="300990" marR="5080" indent="-288290">
              <a:lnSpc>
                <a:spcPct val="125000"/>
              </a:lnSpc>
              <a:spcBef>
                <a:spcPts val="1030"/>
              </a:spcBef>
              <a:buSzPct val="105128"/>
              <a:buFont typeface="Lucida Sans Unicode"/>
              <a:buChar char="•"/>
              <a:tabLst>
                <a:tab pos="301625" algn="l"/>
              </a:tabLst>
            </a:pPr>
            <a:r>
              <a:rPr sz="1950" spc="110" dirty="0">
                <a:solidFill>
                  <a:srgbClr val="231F20"/>
                </a:solidFill>
                <a:latin typeface="Arial"/>
                <a:cs typeface="Arial"/>
              </a:rPr>
              <a:t>Engineers </a:t>
            </a:r>
            <a:r>
              <a:rPr sz="1950" spc="130" dirty="0">
                <a:solidFill>
                  <a:srgbClr val="231F20"/>
                </a:solidFill>
                <a:latin typeface="Arial"/>
                <a:cs typeface="Arial"/>
              </a:rPr>
              <a:t>in </a:t>
            </a:r>
            <a:r>
              <a:rPr sz="1950" spc="165" dirty="0">
                <a:solidFill>
                  <a:srgbClr val="231F20"/>
                </a:solidFill>
                <a:latin typeface="Arial"/>
                <a:cs typeface="Arial"/>
              </a:rPr>
              <a:t>traditional </a:t>
            </a:r>
            <a:r>
              <a:rPr sz="1950" spc="90" dirty="0">
                <a:solidFill>
                  <a:srgbClr val="231F20"/>
                </a:solidFill>
                <a:latin typeface="Arial"/>
                <a:cs typeface="Arial"/>
              </a:rPr>
              <a:t>disciplines </a:t>
            </a:r>
            <a:r>
              <a:rPr sz="1950" spc="135" dirty="0">
                <a:solidFill>
                  <a:srgbClr val="231F20"/>
                </a:solidFill>
                <a:latin typeface="Arial"/>
                <a:cs typeface="Arial"/>
              </a:rPr>
              <a:t>build </a:t>
            </a:r>
            <a:r>
              <a:rPr sz="1950" spc="170" dirty="0">
                <a:solidFill>
                  <a:srgbClr val="231F20"/>
                </a:solidFill>
                <a:latin typeface="Arial"/>
                <a:cs typeface="Arial"/>
              </a:rPr>
              <a:t>mathematical </a:t>
            </a:r>
            <a:r>
              <a:rPr sz="1950" spc="130" dirty="0">
                <a:solidFill>
                  <a:srgbClr val="231F20"/>
                </a:solidFill>
                <a:latin typeface="Arial"/>
                <a:cs typeface="Arial"/>
              </a:rPr>
              <a:t>models  </a:t>
            </a:r>
            <a:r>
              <a:rPr sz="1950" spc="185" dirty="0">
                <a:solidFill>
                  <a:srgbClr val="231F20"/>
                </a:solidFill>
                <a:latin typeface="Arial"/>
                <a:cs typeface="Arial"/>
              </a:rPr>
              <a:t>of </a:t>
            </a:r>
            <a:r>
              <a:rPr sz="1950" spc="160" dirty="0">
                <a:solidFill>
                  <a:srgbClr val="231F20"/>
                </a:solidFill>
                <a:latin typeface="Arial"/>
                <a:cs typeface="Arial"/>
              </a:rPr>
              <a:t>their</a:t>
            </a:r>
            <a:r>
              <a:rPr sz="1950" spc="310" dirty="0">
                <a:solidFill>
                  <a:srgbClr val="231F20"/>
                </a:solidFill>
                <a:latin typeface="Arial"/>
                <a:cs typeface="Arial"/>
              </a:rPr>
              <a:t> </a:t>
            </a:r>
            <a:r>
              <a:rPr sz="1950" spc="75" dirty="0">
                <a:solidFill>
                  <a:srgbClr val="231F20"/>
                </a:solidFill>
                <a:latin typeface="Arial"/>
                <a:cs typeface="Arial"/>
              </a:rPr>
              <a:t>designs</a:t>
            </a:r>
            <a:endParaRPr sz="1950">
              <a:latin typeface="Arial"/>
              <a:cs typeface="Arial"/>
            </a:endParaRPr>
          </a:p>
          <a:p>
            <a:pPr marL="300990" marR="141605" indent="-288290">
              <a:lnSpc>
                <a:spcPct val="125000"/>
              </a:lnSpc>
              <a:spcBef>
                <a:spcPts val="1035"/>
              </a:spcBef>
              <a:buClr>
                <a:srgbClr val="231F20"/>
              </a:buClr>
              <a:buSzPct val="105128"/>
              <a:buFont typeface="Lucida Sans Unicode"/>
              <a:buChar char="•"/>
              <a:tabLst>
                <a:tab pos="301625" algn="l"/>
              </a:tabLst>
            </a:pPr>
            <a:r>
              <a:rPr sz="1950" spc="200" dirty="0">
                <a:solidFill>
                  <a:srgbClr val="FF0000"/>
                </a:solidFill>
                <a:latin typeface="Arial"/>
                <a:cs typeface="Arial"/>
              </a:rPr>
              <a:t>And </a:t>
            </a:r>
            <a:r>
              <a:rPr sz="1950" spc="45" dirty="0">
                <a:solidFill>
                  <a:srgbClr val="FF0000"/>
                </a:solidFill>
                <a:latin typeface="Arial"/>
                <a:cs typeface="Arial"/>
              </a:rPr>
              <a:t>use </a:t>
            </a:r>
            <a:r>
              <a:rPr sz="1950" spc="140" dirty="0">
                <a:solidFill>
                  <a:srgbClr val="0000FF"/>
                </a:solidFill>
                <a:latin typeface="Arial"/>
                <a:cs typeface="Arial"/>
              </a:rPr>
              <a:t>calculation </a:t>
            </a:r>
            <a:r>
              <a:rPr sz="1950" spc="250" dirty="0">
                <a:solidFill>
                  <a:srgbClr val="FF0000"/>
                </a:solidFill>
                <a:latin typeface="Arial"/>
                <a:cs typeface="Arial"/>
              </a:rPr>
              <a:t>to </a:t>
            </a:r>
            <a:r>
              <a:rPr sz="1950" spc="100" dirty="0">
                <a:solidFill>
                  <a:srgbClr val="FF0000"/>
                </a:solidFill>
                <a:latin typeface="Arial"/>
                <a:cs typeface="Arial"/>
              </a:rPr>
              <a:t>establish </a:t>
            </a:r>
            <a:r>
              <a:rPr sz="1950" spc="235" dirty="0">
                <a:solidFill>
                  <a:srgbClr val="FF0000"/>
                </a:solidFill>
                <a:latin typeface="Arial"/>
                <a:cs typeface="Arial"/>
              </a:rPr>
              <a:t>that </a:t>
            </a:r>
            <a:r>
              <a:rPr sz="1950" spc="175" dirty="0">
                <a:solidFill>
                  <a:srgbClr val="FF0000"/>
                </a:solidFill>
                <a:latin typeface="Arial"/>
                <a:cs typeface="Arial"/>
              </a:rPr>
              <a:t>the </a:t>
            </a:r>
            <a:r>
              <a:rPr sz="1950" spc="100" dirty="0">
                <a:solidFill>
                  <a:srgbClr val="FF0000"/>
                </a:solidFill>
                <a:latin typeface="Arial"/>
                <a:cs typeface="Arial"/>
              </a:rPr>
              <a:t>design, </a:t>
            </a:r>
            <a:r>
              <a:rPr sz="1950" spc="130" dirty="0">
                <a:solidFill>
                  <a:srgbClr val="FF0000"/>
                </a:solidFill>
                <a:latin typeface="Arial"/>
                <a:cs typeface="Arial"/>
              </a:rPr>
              <a:t>in </a:t>
            </a:r>
            <a:r>
              <a:rPr sz="1950" spc="175" dirty="0">
                <a:solidFill>
                  <a:srgbClr val="FF0000"/>
                </a:solidFill>
                <a:latin typeface="Arial"/>
                <a:cs typeface="Arial"/>
              </a:rPr>
              <a:t>the  </a:t>
            </a:r>
            <a:r>
              <a:rPr sz="1950" spc="180" dirty="0">
                <a:solidFill>
                  <a:srgbClr val="FF0000"/>
                </a:solidFill>
                <a:latin typeface="Arial"/>
                <a:cs typeface="Arial"/>
              </a:rPr>
              <a:t>context </a:t>
            </a:r>
            <a:r>
              <a:rPr sz="1950" spc="185" dirty="0">
                <a:solidFill>
                  <a:srgbClr val="FF0000"/>
                </a:solidFill>
                <a:latin typeface="Arial"/>
                <a:cs typeface="Arial"/>
              </a:rPr>
              <a:t>of </a:t>
            </a:r>
            <a:r>
              <a:rPr sz="1950" spc="85" dirty="0">
                <a:solidFill>
                  <a:srgbClr val="FF0000"/>
                </a:solidFill>
                <a:latin typeface="Arial"/>
                <a:cs typeface="Arial"/>
              </a:rPr>
              <a:t>a </a:t>
            </a:r>
            <a:r>
              <a:rPr sz="1950" spc="135" dirty="0">
                <a:solidFill>
                  <a:srgbClr val="FF0000"/>
                </a:solidFill>
                <a:latin typeface="Arial"/>
                <a:cs typeface="Arial"/>
              </a:rPr>
              <a:t>modeled </a:t>
            </a:r>
            <a:r>
              <a:rPr sz="1950" spc="155" dirty="0">
                <a:solidFill>
                  <a:srgbClr val="FF0000"/>
                </a:solidFill>
                <a:latin typeface="Arial"/>
                <a:cs typeface="Arial"/>
              </a:rPr>
              <a:t>environment, </a:t>
            </a:r>
            <a:r>
              <a:rPr sz="1950" spc="90" dirty="0">
                <a:solidFill>
                  <a:srgbClr val="FF0000"/>
                </a:solidFill>
                <a:latin typeface="Arial"/>
                <a:cs typeface="Arial"/>
              </a:rPr>
              <a:t>satisfies </a:t>
            </a:r>
            <a:r>
              <a:rPr sz="1950" spc="145" dirty="0">
                <a:solidFill>
                  <a:srgbClr val="FF0000"/>
                </a:solidFill>
                <a:latin typeface="Arial"/>
                <a:cs typeface="Arial"/>
              </a:rPr>
              <a:t>its </a:t>
            </a:r>
            <a:r>
              <a:rPr sz="1950" spc="459" dirty="0">
                <a:solidFill>
                  <a:srgbClr val="FF0000"/>
                </a:solidFill>
                <a:latin typeface="Arial"/>
                <a:cs typeface="Arial"/>
              </a:rPr>
              <a:t> </a:t>
            </a:r>
            <a:r>
              <a:rPr sz="1950" spc="130" dirty="0">
                <a:solidFill>
                  <a:srgbClr val="FF0000"/>
                </a:solidFill>
                <a:latin typeface="Arial"/>
                <a:cs typeface="Arial"/>
              </a:rPr>
              <a:t>requirements</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95" dirty="0">
                <a:solidFill>
                  <a:srgbClr val="0000FF"/>
                </a:solidFill>
                <a:latin typeface="Arial"/>
                <a:cs typeface="Arial"/>
              </a:rPr>
              <a:t>Only </a:t>
            </a:r>
            <a:r>
              <a:rPr sz="1950" spc="105" dirty="0">
                <a:solidFill>
                  <a:srgbClr val="0000FF"/>
                </a:solidFill>
                <a:latin typeface="Arial"/>
                <a:cs typeface="Arial"/>
              </a:rPr>
              <a:t>useful </a:t>
            </a:r>
            <a:r>
              <a:rPr sz="1950" spc="140" dirty="0">
                <a:solidFill>
                  <a:srgbClr val="0000FF"/>
                </a:solidFill>
                <a:latin typeface="Arial"/>
                <a:cs typeface="Arial"/>
              </a:rPr>
              <a:t>when </a:t>
            </a:r>
            <a:r>
              <a:rPr sz="1950" spc="120" dirty="0">
                <a:solidFill>
                  <a:srgbClr val="0000FF"/>
                </a:solidFill>
                <a:latin typeface="Arial"/>
                <a:cs typeface="Arial"/>
              </a:rPr>
              <a:t>mechanized </a:t>
            </a:r>
            <a:r>
              <a:rPr sz="1950" spc="150" dirty="0">
                <a:solidFill>
                  <a:srgbClr val="231F20"/>
                </a:solidFill>
                <a:latin typeface="Arial"/>
                <a:cs typeface="Arial"/>
              </a:rPr>
              <a:t>(e.g.,</a:t>
            </a:r>
            <a:r>
              <a:rPr sz="1950" spc="800" dirty="0">
                <a:solidFill>
                  <a:srgbClr val="231F20"/>
                </a:solidFill>
                <a:latin typeface="Arial"/>
                <a:cs typeface="Arial"/>
              </a:rPr>
              <a:t> </a:t>
            </a:r>
            <a:r>
              <a:rPr sz="1950" spc="275" dirty="0">
                <a:solidFill>
                  <a:srgbClr val="231F20"/>
                </a:solidFill>
                <a:latin typeface="Arial"/>
                <a:cs typeface="Arial"/>
              </a:rPr>
              <a:t>CFD)</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80" dirty="0">
                <a:solidFill>
                  <a:srgbClr val="231F20"/>
                </a:solidFill>
                <a:latin typeface="Arial"/>
                <a:cs typeface="Arial"/>
              </a:rPr>
              <a:t>Used </a:t>
            </a:r>
            <a:r>
              <a:rPr sz="1950" spc="130" dirty="0">
                <a:solidFill>
                  <a:srgbClr val="231F20"/>
                </a:solidFill>
                <a:latin typeface="Arial"/>
                <a:cs typeface="Arial"/>
              </a:rPr>
              <a:t>in </a:t>
            </a:r>
            <a:r>
              <a:rPr sz="1950" spc="175" dirty="0">
                <a:solidFill>
                  <a:srgbClr val="231F20"/>
                </a:solidFill>
                <a:latin typeface="Arial"/>
                <a:cs typeface="Arial"/>
              </a:rPr>
              <a:t>the </a:t>
            </a:r>
            <a:r>
              <a:rPr sz="1950" spc="90" dirty="0">
                <a:solidFill>
                  <a:srgbClr val="231F20"/>
                </a:solidFill>
                <a:latin typeface="Arial"/>
                <a:cs typeface="Arial"/>
              </a:rPr>
              <a:t>design </a:t>
            </a:r>
            <a:r>
              <a:rPr sz="1950" spc="160" dirty="0">
                <a:solidFill>
                  <a:srgbClr val="231F20"/>
                </a:solidFill>
                <a:latin typeface="Arial"/>
                <a:cs typeface="Arial"/>
              </a:rPr>
              <a:t>loop </a:t>
            </a:r>
            <a:r>
              <a:rPr sz="1950" spc="150" dirty="0">
                <a:solidFill>
                  <a:srgbClr val="231F20"/>
                </a:solidFill>
                <a:latin typeface="Arial"/>
                <a:cs typeface="Arial"/>
              </a:rPr>
              <a:t>(exploration, </a:t>
            </a:r>
            <a:r>
              <a:rPr sz="1950" spc="380" dirty="0">
                <a:solidFill>
                  <a:srgbClr val="231F20"/>
                </a:solidFill>
                <a:latin typeface="Arial"/>
                <a:cs typeface="Arial"/>
              </a:rPr>
              <a:t> </a:t>
            </a:r>
            <a:r>
              <a:rPr sz="1950" spc="150" dirty="0">
                <a:solidFill>
                  <a:srgbClr val="231F20"/>
                </a:solidFill>
                <a:latin typeface="Arial"/>
                <a:cs typeface="Arial"/>
              </a:rPr>
              <a:t>debugging)</a:t>
            </a:r>
            <a:endParaRPr sz="1950">
              <a:latin typeface="Arial"/>
              <a:cs typeface="Arial"/>
            </a:endParaRPr>
          </a:p>
          <a:p>
            <a:pPr marL="741680" lvl="1" indent="-288290">
              <a:lnSpc>
                <a:spcPct val="100000"/>
              </a:lnSpc>
              <a:spcBef>
                <a:spcPts val="1000"/>
              </a:spcBef>
              <a:buClr>
                <a:srgbClr val="231F20"/>
              </a:buClr>
              <a:buSzPct val="105128"/>
              <a:buFont typeface="Lucida Sans Unicode"/>
              <a:buChar char="◦"/>
              <a:tabLst>
                <a:tab pos="742315" algn="l"/>
              </a:tabLst>
            </a:pPr>
            <a:r>
              <a:rPr sz="1950" spc="175" dirty="0">
                <a:solidFill>
                  <a:srgbClr val="0000FF"/>
                </a:solidFill>
                <a:latin typeface="Arial"/>
                <a:cs typeface="Arial"/>
              </a:rPr>
              <a:t>Model, </a:t>
            </a:r>
            <a:r>
              <a:rPr sz="1950" spc="130" dirty="0">
                <a:solidFill>
                  <a:srgbClr val="0000FF"/>
                </a:solidFill>
                <a:latin typeface="Arial"/>
                <a:cs typeface="Arial"/>
              </a:rPr>
              <a:t>calculate, </a:t>
            </a:r>
            <a:r>
              <a:rPr sz="1950" spc="155" dirty="0">
                <a:solidFill>
                  <a:srgbClr val="0000FF"/>
                </a:solidFill>
                <a:latin typeface="Arial"/>
                <a:cs typeface="Arial"/>
              </a:rPr>
              <a:t>interpret</a:t>
            </a:r>
            <a:r>
              <a:rPr sz="1950" spc="155" dirty="0">
                <a:solidFill>
                  <a:srgbClr val="231F20"/>
                </a:solidFill>
                <a:latin typeface="Arial"/>
                <a:cs typeface="Arial"/>
              </a:rPr>
              <a:t>,</a:t>
            </a:r>
            <a:r>
              <a:rPr sz="1950" spc="490" dirty="0">
                <a:solidFill>
                  <a:srgbClr val="231F20"/>
                </a:solidFill>
                <a:latin typeface="Arial"/>
                <a:cs typeface="Arial"/>
              </a:rPr>
              <a:t> </a:t>
            </a:r>
            <a:r>
              <a:rPr sz="1950" spc="140" dirty="0">
                <a:solidFill>
                  <a:srgbClr val="231F20"/>
                </a:solidFill>
                <a:latin typeface="Arial"/>
                <a:cs typeface="Arial"/>
              </a:rPr>
              <a:t>repeat</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30" dirty="0">
                <a:solidFill>
                  <a:srgbClr val="231F20"/>
                </a:solidFill>
                <a:latin typeface="Arial"/>
                <a:cs typeface="Arial"/>
              </a:rPr>
              <a:t>Also </a:t>
            </a:r>
            <a:r>
              <a:rPr sz="1950" spc="70" dirty="0">
                <a:solidFill>
                  <a:srgbClr val="231F20"/>
                </a:solidFill>
                <a:latin typeface="Arial"/>
                <a:cs typeface="Arial"/>
              </a:rPr>
              <a:t>used </a:t>
            </a:r>
            <a:r>
              <a:rPr sz="1950" spc="130" dirty="0">
                <a:solidFill>
                  <a:srgbClr val="231F20"/>
                </a:solidFill>
                <a:latin typeface="Arial"/>
                <a:cs typeface="Arial"/>
              </a:rPr>
              <a:t>in</a:t>
            </a:r>
            <a:r>
              <a:rPr sz="1950" spc="600" dirty="0">
                <a:solidFill>
                  <a:srgbClr val="231F20"/>
                </a:solidFill>
                <a:latin typeface="Arial"/>
                <a:cs typeface="Arial"/>
              </a:rPr>
              <a:t> </a:t>
            </a:r>
            <a:r>
              <a:rPr sz="1950" spc="160" dirty="0">
                <a:solidFill>
                  <a:srgbClr val="231F20"/>
                </a:solidFill>
                <a:latin typeface="Arial"/>
                <a:cs typeface="Arial"/>
              </a:rPr>
              <a:t>certification</a:t>
            </a:r>
            <a:endParaRPr sz="1950">
              <a:latin typeface="Arial"/>
              <a:cs typeface="Arial"/>
            </a:endParaRPr>
          </a:p>
          <a:p>
            <a:pPr marL="741680" marR="461009" lvl="1" indent="-288290">
              <a:lnSpc>
                <a:spcPct val="125000"/>
              </a:lnSpc>
              <a:spcBef>
                <a:spcPts val="409"/>
              </a:spcBef>
              <a:buClr>
                <a:srgbClr val="231F20"/>
              </a:buClr>
              <a:buSzPct val="105128"/>
              <a:buFont typeface="Lucida Sans Unicode"/>
              <a:buChar char="◦"/>
              <a:tabLst>
                <a:tab pos="742315" algn="l"/>
              </a:tabLst>
            </a:pPr>
            <a:r>
              <a:rPr sz="1950" spc="145" dirty="0">
                <a:solidFill>
                  <a:srgbClr val="FF0000"/>
                </a:solidFill>
                <a:latin typeface="Arial"/>
                <a:cs typeface="Arial"/>
              </a:rPr>
              <a:t>Verify </a:t>
            </a:r>
            <a:r>
              <a:rPr sz="1950" spc="105" dirty="0">
                <a:solidFill>
                  <a:srgbClr val="FF0000"/>
                </a:solidFill>
                <a:latin typeface="Arial"/>
                <a:cs typeface="Arial"/>
              </a:rPr>
              <a:t>by </a:t>
            </a:r>
            <a:r>
              <a:rPr sz="1950" spc="140" dirty="0">
                <a:solidFill>
                  <a:srgbClr val="FF0000"/>
                </a:solidFill>
                <a:latin typeface="Arial"/>
                <a:cs typeface="Arial"/>
              </a:rPr>
              <a:t>calculation </a:t>
            </a:r>
            <a:r>
              <a:rPr sz="1950" spc="235" dirty="0">
                <a:solidFill>
                  <a:srgbClr val="231F20"/>
                </a:solidFill>
                <a:latin typeface="Arial"/>
                <a:cs typeface="Arial"/>
              </a:rPr>
              <a:t>that </a:t>
            </a:r>
            <a:r>
              <a:rPr sz="1950" spc="175" dirty="0">
                <a:solidFill>
                  <a:srgbClr val="231F20"/>
                </a:solidFill>
                <a:latin typeface="Arial"/>
                <a:cs typeface="Arial"/>
              </a:rPr>
              <a:t>the </a:t>
            </a:r>
            <a:r>
              <a:rPr sz="1950" spc="135" dirty="0">
                <a:solidFill>
                  <a:srgbClr val="231F20"/>
                </a:solidFill>
                <a:latin typeface="Arial"/>
                <a:cs typeface="Arial"/>
              </a:rPr>
              <a:t>modeled </a:t>
            </a:r>
            <a:r>
              <a:rPr sz="1950" spc="120" dirty="0">
                <a:solidFill>
                  <a:srgbClr val="231F20"/>
                </a:solidFill>
                <a:latin typeface="Arial"/>
                <a:cs typeface="Arial"/>
              </a:rPr>
              <a:t>system </a:t>
            </a:r>
            <a:r>
              <a:rPr sz="1950" spc="90" dirty="0">
                <a:solidFill>
                  <a:srgbClr val="231F20"/>
                </a:solidFill>
                <a:latin typeface="Arial"/>
                <a:cs typeface="Arial"/>
              </a:rPr>
              <a:t>satisfies  </a:t>
            </a:r>
            <a:r>
              <a:rPr sz="1950" spc="145" dirty="0">
                <a:solidFill>
                  <a:srgbClr val="231F20"/>
                </a:solidFill>
                <a:latin typeface="Arial"/>
                <a:cs typeface="Arial"/>
              </a:rPr>
              <a:t>certain</a:t>
            </a:r>
            <a:r>
              <a:rPr sz="1950" spc="215" dirty="0">
                <a:solidFill>
                  <a:srgbClr val="231F20"/>
                </a:solidFill>
                <a:latin typeface="Arial"/>
                <a:cs typeface="Arial"/>
              </a:rPr>
              <a:t> </a:t>
            </a:r>
            <a:r>
              <a:rPr sz="1950" spc="130" dirty="0">
                <a:solidFill>
                  <a:srgbClr val="231F20"/>
                </a:solidFill>
                <a:latin typeface="Arial"/>
                <a:cs typeface="Arial"/>
              </a:rPr>
              <a:t>requirements</a:t>
            </a:r>
            <a:endParaRPr sz="1950">
              <a:latin typeface="Arial"/>
              <a:cs typeface="Arial"/>
            </a:endParaRPr>
          </a:p>
          <a:p>
            <a:pPr marL="300990" marR="232410" indent="-288290">
              <a:lnSpc>
                <a:spcPct val="125000"/>
              </a:lnSpc>
              <a:spcBef>
                <a:spcPts val="1035"/>
              </a:spcBef>
              <a:buSzPct val="105128"/>
              <a:buFont typeface="Lucida Sans Unicode"/>
              <a:buChar char="•"/>
              <a:tabLst>
                <a:tab pos="301625" algn="l"/>
              </a:tabLst>
            </a:pPr>
            <a:r>
              <a:rPr sz="1950" spc="95" dirty="0">
                <a:solidFill>
                  <a:srgbClr val="231F20"/>
                </a:solidFill>
                <a:latin typeface="Arial"/>
                <a:cs typeface="Arial"/>
              </a:rPr>
              <a:t>Need </a:t>
            </a:r>
            <a:r>
              <a:rPr sz="1950" spc="250" dirty="0">
                <a:solidFill>
                  <a:srgbClr val="231F20"/>
                </a:solidFill>
                <a:latin typeface="Arial"/>
                <a:cs typeface="Arial"/>
              </a:rPr>
              <a:t>to </a:t>
            </a:r>
            <a:r>
              <a:rPr sz="1950" spc="114" dirty="0">
                <a:solidFill>
                  <a:srgbClr val="231F20"/>
                </a:solidFill>
                <a:latin typeface="Arial"/>
                <a:cs typeface="Arial"/>
              </a:rPr>
              <a:t>be </a:t>
            </a:r>
            <a:r>
              <a:rPr sz="1950" spc="80" dirty="0">
                <a:solidFill>
                  <a:srgbClr val="231F20"/>
                </a:solidFill>
                <a:latin typeface="Arial"/>
                <a:cs typeface="Arial"/>
              </a:rPr>
              <a:t>sure </a:t>
            </a:r>
            <a:r>
              <a:rPr sz="1950" spc="235" dirty="0">
                <a:solidFill>
                  <a:srgbClr val="231F20"/>
                </a:solidFill>
                <a:latin typeface="Arial"/>
                <a:cs typeface="Arial"/>
              </a:rPr>
              <a:t>that </a:t>
            </a:r>
            <a:r>
              <a:rPr sz="1950" spc="160" dirty="0">
                <a:solidFill>
                  <a:srgbClr val="231F20"/>
                </a:solidFill>
                <a:latin typeface="Arial"/>
                <a:cs typeface="Arial"/>
              </a:rPr>
              <a:t>model faithfully </a:t>
            </a:r>
            <a:r>
              <a:rPr sz="1950" spc="90" dirty="0">
                <a:solidFill>
                  <a:srgbClr val="231F20"/>
                </a:solidFill>
                <a:latin typeface="Arial"/>
                <a:cs typeface="Arial"/>
              </a:rPr>
              <a:t>represents </a:t>
            </a:r>
            <a:r>
              <a:rPr sz="1950" spc="175" dirty="0">
                <a:solidFill>
                  <a:srgbClr val="231F20"/>
                </a:solidFill>
                <a:latin typeface="Arial"/>
                <a:cs typeface="Arial"/>
              </a:rPr>
              <a:t>the </a:t>
            </a:r>
            <a:r>
              <a:rPr sz="1950" spc="100" dirty="0">
                <a:solidFill>
                  <a:srgbClr val="231F20"/>
                </a:solidFill>
                <a:latin typeface="Arial"/>
                <a:cs typeface="Arial"/>
              </a:rPr>
              <a:t>design,  </a:t>
            </a:r>
            <a:r>
              <a:rPr sz="1950" spc="90" dirty="0">
                <a:solidFill>
                  <a:srgbClr val="231F20"/>
                </a:solidFill>
                <a:latin typeface="Arial"/>
                <a:cs typeface="Arial"/>
              </a:rPr>
              <a:t>design </a:t>
            </a:r>
            <a:r>
              <a:rPr sz="1950" spc="40" dirty="0">
                <a:solidFill>
                  <a:srgbClr val="231F20"/>
                </a:solidFill>
                <a:latin typeface="Arial"/>
                <a:cs typeface="Arial"/>
              </a:rPr>
              <a:t>is </a:t>
            </a:r>
            <a:r>
              <a:rPr sz="1950" spc="150" dirty="0">
                <a:solidFill>
                  <a:srgbClr val="231F20"/>
                </a:solidFill>
                <a:latin typeface="Arial"/>
                <a:cs typeface="Arial"/>
              </a:rPr>
              <a:t>implemented </a:t>
            </a:r>
            <a:r>
              <a:rPr sz="1950" spc="120" dirty="0">
                <a:solidFill>
                  <a:srgbClr val="231F20"/>
                </a:solidFill>
                <a:latin typeface="Arial"/>
                <a:cs typeface="Arial"/>
              </a:rPr>
              <a:t>correctly, </a:t>
            </a:r>
            <a:r>
              <a:rPr sz="1950" spc="155" dirty="0">
                <a:solidFill>
                  <a:srgbClr val="231F20"/>
                </a:solidFill>
                <a:latin typeface="Arial"/>
                <a:cs typeface="Arial"/>
              </a:rPr>
              <a:t>environment </a:t>
            </a:r>
            <a:r>
              <a:rPr sz="1950" spc="40" dirty="0">
                <a:solidFill>
                  <a:srgbClr val="231F20"/>
                </a:solidFill>
                <a:latin typeface="Arial"/>
                <a:cs typeface="Arial"/>
              </a:rPr>
              <a:t>is </a:t>
            </a:r>
            <a:r>
              <a:rPr sz="1950" spc="135" dirty="0">
                <a:solidFill>
                  <a:srgbClr val="231F20"/>
                </a:solidFill>
                <a:latin typeface="Arial"/>
                <a:cs typeface="Arial"/>
              </a:rPr>
              <a:t>modeled  </a:t>
            </a:r>
            <a:r>
              <a:rPr sz="1950" spc="140" dirty="0">
                <a:solidFill>
                  <a:srgbClr val="231F20"/>
                </a:solidFill>
                <a:latin typeface="Arial"/>
                <a:cs typeface="Arial"/>
              </a:rPr>
              <a:t>faithfully, </a:t>
            </a:r>
            <a:r>
              <a:rPr sz="1950" spc="130" dirty="0">
                <a:solidFill>
                  <a:srgbClr val="231F20"/>
                </a:solidFill>
                <a:latin typeface="Arial"/>
                <a:cs typeface="Arial"/>
              </a:rPr>
              <a:t>and </a:t>
            </a:r>
            <a:r>
              <a:rPr sz="1950" spc="125" dirty="0">
                <a:solidFill>
                  <a:srgbClr val="231F20"/>
                </a:solidFill>
                <a:latin typeface="Arial"/>
                <a:cs typeface="Arial"/>
              </a:rPr>
              <a:t>calculations </a:t>
            </a:r>
            <a:r>
              <a:rPr sz="1950" spc="65" dirty="0">
                <a:solidFill>
                  <a:srgbClr val="231F20"/>
                </a:solidFill>
                <a:latin typeface="Arial"/>
                <a:cs typeface="Arial"/>
              </a:rPr>
              <a:t>are </a:t>
            </a:r>
            <a:r>
              <a:rPr sz="1950" spc="150" dirty="0">
                <a:solidFill>
                  <a:srgbClr val="231F20"/>
                </a:solidFill>
                <a:latin typeface="Arial"/>
                <a:cs typeface="Arial"/>
              </a:rPr>
              <a:t>performed </a:t>
            </a:r>
            <a:r>
              <a:rPr sz="1950" spc="215" dirty="0">
                <a:solidFill>
                  <a:srgbClr val="231F20"/>
                </a:solidFill>
                <a:latin typeface="Arial"/>
                <a:cs typeface="Arial"/>
              </a:rPr>
              <a:t>without </a:t>
            </a:r>
            <a:r>
              <a:rPr sz="1950" spc="385" dirty="0">
                <a:solidFill>
                  <a:srgbClr val="231F20"/>
                </a:solidFill>
                <a:latin typeface="Arial"/>
                <a:cs typeface="Arial"/>
              </a:rPr>
              <a:t> </a:t>
            </a:r>
            <a:r>
              <a:rPr sz="1950" spc="120" dirty="0">
                <a:solidFill>
                  <a:srgbClr val="231F20"/>
                </a:solidFill>
                <a:latin typeface="Arial"/>
                <a:cs typeface="Arial"/>
              </a:rPr>
              <a:t>error</a:t>
            </a:r>
            <a:endParaRPr sz="1950">
              <a:latin typeface="Arial"/>
              <a:cs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28000" y="493469"/>
            <a:ext cx="8005445" cy="314960"/>
          </a:xfrm>
          <a:prstGeom prst="rect">
            <a:avLst/>
          </a:prstGeom>
        </p:spPr>
        <p:txBody>
          <a:bodyPr vert="horz" wrap="square" lIns="0" tIns="0" rIns="0" bIns="0" rtlCol="0">
            <a:spAutoFit/>
          </a:bodyPr>
          <a:lstStyle/>
          <a:p>
            <a:pPr marL="12700">
              <a:lnSpc>
                <a:spcPct val="100000"/>
              </a:lnSpc>
              <a:tabLst>
                <a:tab pos="2584450" algn="l"/>
              </a:tabLst>
            </a:pPr>
            <a:r>
              <a:rPr sz="1950" spc="270" dirty="0">
                <a:solidFill>
                  <a:srgbClr val="231F20"/>
                </a:solidFill>
                <a:latin typeface="Arial"/>
                <a:cs typeface="Arial"/>
              </a:rPr>
              <a:t>Formal </a:t>
            </a:r>
            <a:r>
              <a:rPr sz="1950" spc="705" dirty="0">
                <a:solidFill>
                  <a:srgbClr val="231F20"/>
                </a:solidFill>
                <a:latin typeface="Arial"/>
                <a:cs typeface="Arial"/>
              </a:rPr>
              <a:t> </a:t>
            </a:r>
            <a:r>
              <a:rPr sz="1950" spc="295" dirty="0">
                <a:solidFill>
                  <a:srgbClr val="231F20"/>
                </a:solidFill>
                <a:latin typeface="Arial"/>
                <a:cs typeface="Arial"/>
              </a:rPr>
              <a:t>Methods:	</a:t>
            </a:r>
            <a:r>
              <a:rPr sz="1950" spc="260" dirty="0">
                <a:solidFill>
                  <a:srgbClr val="231F20"/>
                </a:solidFill>
                <a:latin typeface="Arial"/>
                <a:cs typeface="Arial"/>
              </a:rPr>
              <a:t>Analogy </a:t>
            </a:r>
            <a:r>
              <a:rPr sz="1950" spc="310" dirty="0">
                <a:solidFill>
                  <a:srgbClr val="231F20"/>
                </a:solidFill>
                <a:latin typeface="Arial"/>
                <a:cs typeface="Arial"/>
              </a:rPr>
              <a:t>with </a:t>
            </a:r>
            <a:r>
              <a:rPr sz="1950" spc="235" dirty="0">
                <a:solidFill>
                  <a:srgbClr val="231F20"/>
                </a:solidFill>
                <a:latin typeface="Arial"/>
                <a:cs typeface="Arial"/>
              </a:rPr>
              <a:t>Engineering </a:t>
            </a:r>
            <a:r>
              <a:rPr sz="1950" spc="375" dirty="0">
                <a:solidFill>
                  <a:srgbClr val="231F20"/>
                </a:solidFill>
                <a:latin typeface="Arial"/>
                <a:cs typeface="Arial"/>
              </a:rPr>
              <a:t>Math</a:t>
            </a:r>
            <a:r>
              <a:rPr sz="1950" spc="610" dirty="0">
                <a:solidFill>
                  <a:srgbClr val="231F20"/>
                </a:solidFill>
                <a:latin typeface="Arial"/>
                <a:cs typeface="Arial"/>
              </a:rPr>
              <a:t> </a:t>
            </a:r>
            <a:r>
              <a:rPr sz="1950" spc="330" dirty="0">
                <a:solidFill>
                  <a:srgbClr val="231F20"/>
                </a:solidFill>
                <a:latin typeface="Arial"/>
                <a:cs typeface="Arial"/>
              </a:rPr>
              <a:t>(ctd.)</a:t>
            </a:r>
            <a:endParaRPr sz="1950">
              <a:latin typeface="Arial"/>
              <a:cs typeface="Arial"/>
            </a:endParaRPr>
          </a:p>
        </p:txBody>
      </p:sp>
      <p:sp>
        <p:nvSpPr>
          <p:cNvPr id="3" name="object 3"/>
          <p:cNvSpPr txBox="1"/>
          <p:nvPr/>
        </p:nvSpPr>
        <p:spPr>
          <a:xfrm>
            <a:off x="896440" y="929639"/>
            <a:ext cx="7335520" cy="1793239"/>
          </a:xfrm>
          <a:prstGeom prst="rect">
            <a:avLst/>
          </a:prstGeom>
        </p:spPr>
        <p:txBody>
          <a:bodyPr vert="horz" wrap="square" lIns="0" tIns="0" rIns="0" bIns="0" rtlCol="0">
            <a:spAutoFit/>
          </a:bodyPr>
          <a:lstStyle/>
          <a:p>
            <a:pPr marL="300990" marR="10795" indent="-288290">
              <a:lnSpc>
                <a:spcPct val="125000"/>
              </a:lnSpc>
              <a:buClr>
                <a:srgbClr val="231F20"/>
              </a:buClr>
              <a:buSzPct val="105128"/>
              <a:buFont typeface="Lucida Sans Unicode"/>
              <a:buChar char="•"/>
              <a:tabLst>
                <a:tab pos="301625" algn="l"/>
                <a:tab pos="2629535" algn="l"/>
              </a:tabLst>
            </a:pPr>
            <a:r>
              <a:rPr sz="1950" spc="160" dirty="0">
                <a:solidFill>
                  <a:srgbClr val="0000FF"/>
                </a:solidFill>
                <a:latin typeface="Arial"/>
                <a:cs typeface="Arial"/>
              </a:rPr>
              <a:t>Formal </a:t>
            </a:r>
            <a:r>
              <a:rPr sz="1950" spc="710" dirty="0">
                <a:solidFill>
                  <a:srgbClr val="0000FF"/>
                </a:solidFill>
                <a:latin typeface="Arial"/>
                <a:cs typeface="Arial"/>
              </a:rPr>
              <a:t> </a:t>
            </a:r>
            <a:r>
              <a:rPr sz="1950" spc="165" dirty="0">
                <a:solidFill>
                  <a:srgbClr val="0000FF"/>
                </a:solidFill>
                <a:latin typeface="Arial"/>
                <a:cs typeface="Arial"/>
              </a:rPr>
              <a:t>methods:	</a:t>
            </a:r>
            <a:r>
              <a:rPr sz="1950" spc="95" dirty="0">
                <a:solidFill>
                  <a:srgbClr val="0000FF"/>
                </a:solidFill>
                <a:latin typeface="Arial"/>
                <a:cs typeface="Arial"/>
              </a:rPr>
              <a:t>same </a:t>
            </a:r>
            <a:r>
              <a:rPr sz="1950" spc="100" dirty="0">
                <a:solidFill>
                  <a:srgbClr val="0000FF"/>
                </a:solidFill>
                <a:latin typeface="Arial"/>
                <a:cs typeface="Arial"/>
              </a:rPr>
              <a:t>idea, </a:t>
            </a:r>
            <a:r>
              <a:rPr sz="1950" spc="110" dirty="0">
                <a:solidFill>
                  <a:srgbClr val="0000FF"/>
                </a:solidFill>
                <a:latin typeface="Arial"/>
                <a:cs typeface="Arial"/>
              </a:rPr>
              <a:t>applied</a:t>
            </a:r>
            <a:r>
              <a:rPr sz="1950" spc="635" dirty="0">
                <a:solidFill>
                  <a:srgbClr val="0000FF"/>
                </a:solidFill>
                <a:latin typeface="Arial"/>
                <a:cs typeface="Arial"/>
              </a:rPr>
              <a:t> </a:t>
            </a:r>
            <a:r>
              <a:rPr sz="1950" spc="250" dirty="0">
                <a:solidFill>
                  <a:srgbClr val="0000FF"/>
                </a:solidFill>
                <a:latin typeface="Arial"/>
                <a:cs typeface="Arial"/>
              </a:rPr>
              <a:t>to</a:t>
            </a:r>
            <a:r>
              <a:rPr sz="1950" spc="275" dirty="0">
                <a:solidFill>
                  <a:srgbClr val="0000FF"/>
                </a:solidFill>
                <a:latin typeface="Arial"/>
                <a:cs typeface="Arial"/>
              </a:rPr>
              <a:t> </a:t>
            </a:r>
            <a:r>
              <a:rPr sz="1950" spc="175" dirty="0">
                <a:solidFill>
                  <a:srgbClr val="0000FF"/>
                </a:solidFill>
                <a:latin typeface="Arial"/>
                <a:cs typeface="Arial"/>
              </a:rPr>
              <a:t>computational </a:t>
            </a:r>
            <a:r>
              <a:rPr sz="1950" spc="70" dirty="0">
                <a:solidFill>
                  <a:srgbClr val="0000FF"/>
                </a:solidFill>
                <a:latin typeface="Arial"/>
                <a:cs typeface="Arial"/>
              </a:rPr>
              <a:t> </a:t>
            </a:r>
            <a:r>
              <a:rPr sz="1950" spc="100" dirty="0">
                <a:solidFill>
                  <a:srgbClr val="0000FF"/>
                </a:solidFill>
                <a:latin typeface="Arial"/>
                <a:cs typeface="Arial"/>
              </a:rPr>
              <a:t>systems</a:t>
            </a:r>
            <a:endParaRPr sz="1950">
              <a:latin typeface="Arial"/>
              <a:cs typeface="Arial"/>
            </a:endParaRPr>
          </a:p>
          <a:p>
            <a:pPr marL="300990" indent="-288290">
              <a:lnSpc>
                <a:spcPct val="100000"/>
              </a:lnSpc>
              <a:spcBef>
                <a:spcPts val="1680"/>
              </a:spcBef>
              <a:buClr>
                <a:srgbClr val="231F20"/>
              </a:buClr>
              <a:buSzPct val="105128"/>
              <a:buFont typeface="Lucida Sans Unicode"/>
              <a:buChar char="•"/>
              <a:tabLst>
                <a:tab pos="301625" algn="l"/>
              </a:tabLst>
            </a:pPr>
            <a:r>
              <a:rPr sz="1950" spc="250" dirty="0">
                <a:solidFill>
                  <a:srgbClr val="FF0000"/>
                </a:solidFill>
                <a:latin typeface="Arial"/>
                <a:cs typeface="Arial"/>
              </a:rPr>
              <a:t>The </a:t>
            </a:r>
            <a:r>
              <a:rPr sz="1950" spc="110" dirty="0">
                <a:solidFill>
                  <a:srgbClr val="FF0000"/>
                </a:solidFill>
                <a:latin typeface="Arial"/>
                <a:cs typeface="Arial"/>
              </a:rPr>
              <a:t>applied </a:t>
            </a:r>
            <a:r>
              <a:rPr sz="1950" spc="220" dirty="0">
                <a:solidFill>
                  <a:srgbClr val="FF0000"/>
                </a:solidFill>
                <a:latin typeface="Arial"/>
                <a:cs typeface="Arial"/>
              </a:rPr>
              <a:t>math </a:t>
            </a:r>
            <a:r>
              <a:rPr sz="1950" spc="185" dirty="0">
                <a:solidFill>
                  <a:srgbClr val="FF0000"/>
                </a:solidFill>
                <a:latin typeface="Arial"/>
                <a:cs typeface="Arial"/>
              </a:rPr>
              <a:t>of Computer </a:t>
            </a:r>
            <a:r>
              <a:rPr sz="1950" spc="85" dirty="0">
                <a:solidFill>
                  <a:srgbClr val="FF0000"/>
                </a:solidFill>
                <a:latin typeface="Arial"/>
                <a:cs typeface="Arial"/>
              </a:rPr>
              <a:t>Science </a:t>
            </a:r>
            <a:r>
              <a:rPr sz="1950" spc="40" dirty="0">
                <a:solidFill>
                  <a:srgbClr val="FF0000"/>
                </a:solidFill>
                <a:latin typeface="Arial"/>
                <a:cs typeface="Arial"/>
              </a:rPr>
              <a:t>is </a:t>
            </a:r>
            <a:r>
              <a:rPr sz="1950" spc="160" dirty="0">
                <a:solidFill>
                  <a:srgbClr val="FF0000"/>
                </a:solidFill>
                <a:latin typeface="Arial"/>
                <a:cs typeface="Arial"/>
              </a:rPr>
              <a:t>formal </a:t>
            </a:r>
            <a:r>
              <a:rPr sz="1950" spc="500" dirty="0">
                <a:solidFill>
                  <a:srgbClr val="FF0000"/>
                </a:solidFill>
                <a:latin typeface="Arial"/>
                <a:cs typeface="Arial"/>
              </a:rPr>
              <a:t> </a:t>
            </a:r>
            <a:r>
              <a:rPr sz="1950" spc="130" dirty="0">
                <a:solidFill>
                  <a:srgbClr val="FF0000"/>
                </a:solidFill>
                <a:latin typeface="Arial"/>
                <a:cs typeface="Arial"/>
              </a:rPr>
              <a:t>logic</a:t>
            </a:r>
            <a:endParaRPr sz="1950">
              <a:latin typeface="Arial"/>
              <a:cs typeface="Arial"/>
            </a:endParaRPr>
          </a:p>
          <a:p>
            <a:pPr marL="12700">
              <a:lnSpc>
                <a:spcPct val="100000"/>
              </a:lnSpc>
              <a:spcBef>
                <a:spcPts val="1580"/>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4" name="object 4"/>
          <p:cNvSpPr txBox="1"/>
          <p:nvPr/>
        </p:nvSpPr>
        <p:spPr>
          <a:xfrm>
            <a:off x="1185162" y="2396680"/>
            <a:ext cx="7905750" cy="314325"/>
          </a:xfrm>
          <a:prstGeom prst="rect">
            <a:avLst/>
          </a:prstGeom>
        </p:spPr>
        <p:txBody>
          <a:bodyPr vert="horz" wrap="square" lIns="0" tIns="0" rIns="0" bIns="0" rtlCol="0">
            <a:spAutoFit/>
          </a:bodyPr>
          <a:lstStyle/>
          <a:p>
            <a:pPr marL="12700">
              <a:lnSpc>
                <a:spcPct val="100000"/>
              </a:lnSpc>
            </a:pPr>
            <a:r>
              <a:rPr sz="1950" spc="114" dirty="0">
                <a:solidFill>
                  <a:srgbClr val="231F20"/>
                </a:solidFill>
                <a:latin typeface="Arial"/>
                <a:cs typeface="Arial"/>
              </a:rPr>
              <a:t>So </a:t>
            </a:r>
            <a:r>
              <a:rPr sz="1950" spc="175" dirty="0">
                <a:solidFill>
                  <a:srgbClr val="231F20"/>
                </a:solidFill>
                <a:latin typeface="Arial"/>
                <a:cs typeface="Arial"/>
              </a:rPr>
              <a:t>the </a:t>
            </a:r>
            <a:r>
              <a:rPr sz="1950" spc="130" dirty="0">
                <a:solidFill>
                  <a:srgbClr val="231F20"/>
                </a:solidFill>
                <a:latin typeface="Arial"/>
                <a:cs typeface="Arial"/>
              </a:rPr>
              <a:t>models </a:t>
            </a:r>
            <a:r>
              <a:rPr sz="1950" spc="65" dirty="0">
                <a:solidFill>
                  <a:srgbClr val="231F20"/>
                </a:solidFill>
                <a:latin typeface="Arial"/>
                <a:cs typeface="Arial"/>
              </a:rPr>
              <a:t>are </a:t>
            </a:r>
            <a:r>
              <a:rPr sz="1950" spc="160" dirty="0">
                <a:solidFill>
                  <a:srgbClr val="231F20"/>
                </a:solidFill>
                <a:latin typeface="Arial"/>
                <a:cs typeface="Arial"/>
              </a:rPr>
              <a:t>formal </a:t>
            </a:r>
            <a:r>
              <a:rPr sz="1950" spc="120" dirty="0">
                <a:solidFill>
                  <a:srgbClr val="231F20"/>
                </a:solidFill>
                <a:latin typeface="Arial"/>
                <a:cs typeface="Arial"/>
              </a:rPr>
              <a:t>descriptions </a:t>
            </a:r>
            <a:r>
              <a:rPr sz="1950" spc="130" dirty="0">
                <a:solidFill>
                  <a:srgbClr val="231F20"/>
                </a:solidFill>
                <a:latin typeface="Arial"/>
                <a:cs typeface="Arial"/>
              </a:rPr>
              <a:t>in </a:t>
            </a:r>
            <a:r>
              <a:rPr sz="1950" spc="110" dirty="0">
                <a:solidFill>
                  <a:srgbClr val="231F20"/>
                </a:solidFill>
                <a:latin typeface="Arial"/>
                <a:cs typeface="Arial"/>
              </a:rPr>
              <a:t>some </a:t>
            </a:r>
            <a:r>
              <a:rPr sz="1950" spc="120" dirty="0">
                <a:solidFill>
                  <a:srgbClr val="231F20"/>
                </a:solidFill>
                <a:latin typeface="Arial"/>
                <a:cs typeface="Arial"/>
              </a:rPr>
              <a:t>logical  </a:t>
            </a:r>
            <a:r>
              <a:rPr sz="1950" spc="229" dirty="0">
                <a:solidFill>
                  <a:srgbClr val="231F20"/>
                </a:solidFill>
                <a:latin typeface="Arial"/>
                <a:cs typeface="Arial"/>
              </a:rPr>
              <a:t> </a:t>
            </a:r>
            <a:r>
              <a:rPr sz="1950" spc="120" dirty="0">
                <a:solidFill>
                  <a:srgbClr val="231F20"/>
                </a:solidFill>
                <a:latin typeface="Arial"/>
                <a:cs typeface="Arial"/>
              </a:rPr>
              <a:t>system</a:t>
            </a:r>
            <a:endParaRPr sz="1950">
              <a:latin typeface="Arial"/>
              <a:cs typeface="Arial"/>
            </a:endParaRPr>
          </a:p>
        </p:txBody>
      </p:sp>
      <p:sp>
        <p:nvSpPr>
          <p:cNvPr id="5" name="object 5"/>
          <p:cNvSpPr txBox="1"/>
          <p:nvPr/>
        </p:nvSpPr>
        <p:spPr>
          <a:xfrm>
            <a:off x="1337297" y="2749067"/>
            <a:ext cx="7646670" cy="760095"/>
          </a:xfrm>
          <a:prstGeom prst="rect">
            <a:avLst/>
          </a:prstGeom>
        </p:spPr>
        <p:txBody>
          <a:bodyPr vert="horz" wrap="square" lIns="0" tIns="0" rIns="0" bIns="0" rtlCol="0">
            <a:spAutoFit/>
          </a:bodyPr>
          <a:lstStyle/>
          <a:p>
            <a:pPr marL="300990" marR="5080" indent="-288290">
              <a:lnSpc>
                <a:spcPct val="125000"/>
              </a:lnSpc>
              <a:buSzPct val="105128"/>
              <a:buFont typeface="Lucida Sans Unicode"/>
              <a:buChar char="◦"/>
              <a:tabLst>
                <a:tab pos="301625" algn="l"/>
              </a:tabLst>
            </a:pPr>
            <a:r>
              <a:rPr sz="1950" spc="160" dirty="0">
                <a:solidFill>
                  <a:srgbClr val="231F20"/>
                </a:solidFill>
                <a:latin typeface="Arial"/>
                <a:cs typeface="Arial"/>
              </a:rPr>
              <a:t>E.g., </a:t>
            </a:r>
            <a:r>
              <a:rPr sz="1950" spc="85" dirty="0">
                <a:solidFill>
                  <a:srgbClr val="231F20"/>
                </a:solidFill>
                <a:latin typeface="Arial"/>
                <a:cs typeface="Arial"/>
              </a:rPr>
              <a:t>a </a:t>
            </a:r>
            <a:r>
              <a:rPr sz="1950" spc="160" dirty="0">
                <a:solidFill>
                  <a:srgbClr val="231F20"/>
                </a:solidFill>
                <a:latin typeface="Arial"/>
                <a:cs typeface="Arial"/>
              </a:rPr>
              <a:t>program </a:t>
            </a:r>
            <a:r>
              <a:rPr sz="1950" spc="135" dirty="0">
                <a:solidFill>
                  <a:srgbClr val="231F20"/>
                </a:solidFill>
                <a:latin typeface="Arial"/>
                <a:cs typeface="Arial"/>
              </a:rPr>
              <a:t>reinterpreted </a:t>
            </a:r>
            <a:r>
              <a:rPr sz="1950" spc="30" dirty="0">
                <a:solidFill>
                  <a:srgbClr val="231F20"/>
                </a:solidFill>
                <a:latin typeface="Arial"/>
                <a:cs typeface="Arial"/>
              </a:rPr>
              <a:t>as </a:t>
            </a:r>
            <a:r>
              <a:rPr sz="1950" spc="85" dirty="0">
                <a:solidFill>
                  <a:srgbClr val="231F20"/>
                </a:solidFill>
                <a:latin typeface="Arial"/>
                <a:cs typeface="Arial"/>
              </a:rPr>
              <a:t>a </a:t>
            </a:r>
            <a:r>
              <a:rPr sz="1950" spc="170" dirty="0">
                <a:solidFill>
                  <a:srgbClr val="231F20"/>
                </a:solidFill>
                <a:latin typeface="Arial"/>
                <a:cs typeface="Arial"/>
              </a:rPr>
              <a:t>mathematical </a:t>
            </a:r>
            <a:r>
              <a:rPr sz="1950" spc="160" dirty="0">
                <a:solidFill>
                  <a:srgbClr val="231F20"/>
                </a:solidFill>
                <a:latin typeface="Arial"/>
                <a:cs typeface="Arial"/>
              </a:rPr>
              <a:t>formula  </a:t>
            </a:r>
            <a:r>
              <a:rPr sz="1950" spc="155" dirty="0">
                <a:solidFill>
                  <a:srgbClr val="231F20"/>
                </a:solidFill>
                <a:latin typeface="Arial"/>
                <a:cs typeface="Arial"/>
              </a:rPr>
              <a:t>rather </a:t>
            </a:r>
            <a:r>
              <a:rPr sz="1950" spc="185" dirty="0">
                <a:solidFill>
                  <a:srgbClr val="231F20"/>
                </a:solidFill>
                <a:latin typeface="Arial"/>
                <a:cs typeface="Arial"/>
              </a:rPr>
              <a:t>than </a:t>
            </a:r>
            <a:r>
              <a:rPr sz="1950" spc="150" dirty="0">
                <a:solidFill>
                  <a:srgbClr val="231F20"/>
                </a:solidFill>
                <a:latin typeface="Arial"/>
                <a:cs typeface="Arial"/>
              </a:rPr>
              <a:t>instructions </a:t>
            </a:r>
            <a:r>
              <a:rPr sz="1950" spc="250" dirty="0">
                <a:solidFill>
                  <a:srgbClr val="231F20"/>
                </a:solidFill>
                <a:latin typeface="Arial"/>
                <a:cs typeface="Arial"/>
              </a:rPr>
              <a:t>to </a:t>
            </a:r>
            <a:r>
              <a:rPr sz="1950" spc="85" dirty="0">
                <a:solidFill>
                  <a:srgbClr val="231F20"/>
                </a:solidFill>
                <a:latin typeface="Arial"/>
                <a:cs typeface="Arial"/>
              </a:rPr>
              <a:t>a</a:t>
            </a:r>
            <a:r>
              <a:rPr sz="1950" spc="620" dirty="0">
                <a:solidFill>
                  <a:srgbClr val="231F20"/>
                </a:solidFill>
                <a:latin typeface="Arial"/>
                <a:cs typeface="Arial"/>
              </a:rPr>
              <a:t> </a:t>
            </a:r>
            <a:r>
              <a:rPr sz="1950" spc="135" dirty="0">
                <a:solidFill>
                  <a:srgbClr val="231F20"/>
                </a:solidFill>
                <a:latin typeface="Arial"/>
                <a:cs typeface="Arial"/>
              </a:rPr>
              <a:t>machine</a:t>
            </a:r>
            <a:endParaRPr sz="1950">
              <a:latin typeface="Arial"/>
              <a:cs typeface="Arial"/>
            </a:endParaRPr>
          </a:p>
        </p:txBody>
      </p:sp>
      <p:sp>
        <p:nvSpPr>
          <p:cNvPr id="6" name="object 6"/>
          <p:cNvSpPr txBox="1"/>
          <p:nvPr/>
        </p:nvSpPr>
        <p:spPr>
          <a:xfrm>
            <a:off x="896440" y="3631120"/>
            <a:ext cx="7526655" cy="2303780"/>
          </a:xfrm>
          <a:prstGeom prst="rect">
            <a:avLst/>
          </a:prstGeom>
        </p:spPr>
        <p:txBody>
          <a:bodyPr vert="horz" wrap="square" lIns="0" tIns="0" rIns="0" bIns="0" rtlCol="0">
            <a:spAutoFit/>
          </a:bodyPr>
          <a:lstStyle/>
          <a:p>
            <a:pPr marL="300990" marR="5080" indent="-288290">
              <a:lnSpc>
                <a:spcPct val="125000"/>
              </a:lnSpc>
              <a:buSzPct val="105128"/>
              <a:buFont typeface="Lucida Sans Unicode"/>
              <a:buChar char="•"/>
              <a:tabLst>
                <a:tab pos="301625" algn="l"/>
              </a:tabLst>
            </a:pPr>
            <a:r>
              <a:rPr sz="1950" spc="200" dirty="0">
                <a:solidFill>
                  <a:srgbClr val="231F20"/>
                </a:solidFill>
                <a:latin typeface="Arial"/>
                <a:cs typeface="Arial"/>
              </a:rPr>
              <a:t>And </a:t>
            </a:r>
            <a:r>
              <a:rPr sz="1950" spc="140" dirty="0">
                <a:solidFill>
                  <a:srgbClr val="FF0000"/>
                </a:solidFill>
                <a:latin typeface="Arial"/>
                <a:cs typeface="Arial"/>
              </a:rPr>
              <a:t>calculation </a:t>
            </a:r>
            <a:r>
              <a:rPr sz="1950" spc="40" dirty="0">
                <a:solidFill>
                  <a:srgbClr val="FF0000"/>
                </a:solidFill>
                <a:latin typeface="Arial"/>
                <a:cs typeface="Arial"/>
              </a:rPr>
              <a:t>is </a:t>
            </a:r>
            <a:r>
              <a:rPr sz="1950" spc="120" dirty="0">
                <a:solidFill>
                  <a:srgbClr val="FF0000"/>
                </a:solidFill>
                <a:latin typeface="Arial"/>
                <a:cs typeface="Arial"/>
              </a:rPr>
              <a:t>mechanized </a:t>
            </a:r>
            <a:r>
              <a:rPr sz="1950" spc="105" dirty="0">
                <a:solidFill>
                  <a:srgbClr val="FF0000"/>
                </a:solidFill>
                <a:latin typeface="Arial"/>
                <a:cs typeface="Arial"/>
              </a:rPr>
              <a:t>by </a:t>
            </a:r>
            <a:r>
              <a:rPr sz="1950" spc="180" dirty="0">
                <a:solidFill>
                  <a:srgbClr val="FF0000"/>
                </a:solidFill>
                <a:latin typeface="Arial"/>
                <a:cs typeface="Arial"/>
              </a:rPr>
              <a:t>automated </a:t>
            </a:r>
            <a:r>
              <a:rPr sz="1950" spc="150" dirty="0">
                <a:solidFill>
                  <a:srgbClr val="FF0000"/>
                </a:solidFill>
                <a:latin typeface="Arial"/>
                <a:cs typeface="Arial"/>
              </a:rPr>
              <a:t>deduction</a:t>
            </a:r>
            <a:r>
              <a:rPr sz="1950" spc="150" dirty="0">
                <a:solidFill>
                  <a:srgbClr val="231F20"/>
                </a:solidFill>
                <a:latin typeface="Arial"/>
                <a:cs typeface="Arial"/>
              </a:rPr>
              <a:t>:  </a:t>
            </a:r>
            <a:r>
              <a:rPr sz="1950" spc="155" dirty="0">
                <a:solidFill>
                  <a:srgbClr val="231F20"/>
                </a:solidFill>
                <a:latin typeface="Arial"/>
                <a:cs typeface="Arial"/>
              </a:rPr>
              <a:t>theorem </a:t>
            </a:r>
            <a:r>
              <a:rPr sz="1950" spc="135" dirty="0">
                <a:solidFill>
                  <a:srgbClr val="231F20"/>
                </a:solidFill>
                <a:latin typeface="Arial"/>
                <a:cs typeface="Arial"/>
              </a:rPr>
              <a:t>proving, </a:t>
            </a:r>
            <a:r>
              <a:rPr sz="1950" spc="160" dirty="0">
                <a:solidFill>
                  <a:srgbClr val="231F20"/>
                </a:solidFill>
                <a:latin typeface="Arial"/>
                <a:cs typeface="Arial"/>
              </a:rPr>
              <a:t>model </a:t>
            </a:r>
            <a:r>
              <a:rPr sz="1950" spc="130" dirty="0">
                <a:solidFill>
                  <a:srgbClr val="231F20"/>
                </a:solidFill>
                <a:latin typeface="Arial"/>
                <a:cs typeface="Arial"/>
              </a:rPr>
              <a:t>checking, </a:t>
            </a:r>
            <a:r>
              <a:rPr sz="1950" spc="165" dirty="0">
                <a:solidFill>
                  <a:srgbClr val="231F20"/>
                </a:solidFill>
                <a:latin typeface="Arial"/>
                <a:cs typeface="Arial"/>
              </a:rPr>
              <a:t>static </a:t>
            </a:r>
            <a:r>
              <a:rPr sz="1950" spc="85" dirty="0">
                <a:solidFill>
                  <a:srgbClr val="231F20"/>
                </a:solidFill>
                <a:latin typeface="Arial"/>
                <a:cs typeface="Arial"/>
              </a:rPr>
              <a:t>analysis, </a:t>
            </a:r>
            <a:r>
              <a:rPr sz="1950" spc="320" dirty="0">
                <a:solidFill>
                  <a:srgbClr val="231F20"/>
                </a:solidFill>
                <a:latin typeface="Arial"/>
                <a:cs typeface="Arial"/>
              </a:rPr>
              <a:t> </a:t>
            </a:r>
            <a:r>
              <a:rPr sz="1950" spc="155" dirty="0">
                <a:solidFill>
                  <a:srgbClr val="231F20"/>
                </a:solidFill>
                <a:latin typeface="Arial"/>
                <a:cs typeface="Arial"/>
              </a:rPr>
              <a:t>etc.</a:t>
            </a:r>
            <a:endParaRPr sz="1950">
              <a:latin typeface="Arial"/>
              <a:cs typeface="Arial"/>
            </a:endParaRPr>
          </a:p>
          <a:p>
            <a:pPr marL="300990" indent="-288290">
              <a:lnSpc>
                <a:spcPct val="100000"/>
              </a:lnSpc>
              <a:spcBef>
                <a:spcPts val="1680"/>
              </a:spcBef>
              <a:buSzPct val="105128"/>
              <a:buFont typeface="Lucida Sans Unicode"/>
              <a:buChar char="•"/>
              <a:tabLst>
                <a:tab pos="301625" algn="l"/>
              </a:tabLst>
            </a:pPr>
            <a:r>
              <a:rPr sz="1950" spc="160" dirty="0">
                <a:solidFill>
                  <a:srgbClr val="231F20"/>
                </a:solidFill>
                <a:latin typeface="Arial"/>
                <a:cs typeface="Arial"/>
              </a:rPr>
              <a:t>Formal </a:t>
            </a:r>
            <a:r>
              <a:rPr sz="1950" spc="125" dirty="0">
                <a:solidFill>
                  <a:srgbClr val="231F20"/>
                </a:solidFill>
                <a:latin typeface="Arial"/>
                <a:cs typeface="Arial"/>
              </a:rPr>
              <a:t>calculations </a:t>
            </a:r>
            <a:r>
              <a:rPr sz="1950" spc="195" dirty="0">
                <a:solidFill>
                  <a:srgbClr val="231F20"/>
                </a:solidFill>
                <a:latin typeface="Arial"/>
                <a:cs typeface="Arial"/>
              </a:rPr>
              <a:t>(can) </a:t>
            </a:r>
            <a:r>
              <a:rPr sz="1950" spc="114" dirty="0">
                <a:solidFill>
                  <a:srgbClr val="231F20"/>
                </a:solidFill>
                <a:latin typeface="Arial"/>
                <a:cs typeface="Arial"/>
              </a:rPr>
              <a:t>cover </a:t>
            </a:r>
            <a:r>
              <a:rPr sz="1950" spc="105" dirty="0">
                <a:solidFill>
                  <a:srgbClr val="FF0000"/>
                </a:solidFill>
                <a:latin typeface="Arial"/>
                <a:cs typeface="Arial"/>
              </a:rPr>
              <a:t>all </a:t>
            </a:r>
            <a:r>
              <a:rPr sz="1950" spc="135" dirty="0">
                <a:solidFill>
                  <a:srgbClr val="231F20"/>
                </a:solidFill>
                <a:latin typeface="Arial"/>
                <a:cs typeface="Arial"/>
              </a:rPr>
              <a:t>modeled </a:t>
            </a:r>
            <a:r>
              <a:rPr sz="1950" spc="385" dirty="0">
                <a:solidFill>
                  <a:srgbClr val="231F20"/>
                </a:solidFill>
                <a:latin typeface="Arial"/>
                <a:cs typeface="Arial"/>
              </a:rPr>
              <a:t> </a:t>
            </a:r>
            <a:r>
              <a:rPr sz="1950" spc="100" dirty="0">
                <a:solidFill>
                  <a:srgbClr val="231F20"/>
                </a:solidFill>
                <a:latin typeface="Arial"/>
                <a:cs typeface="Arial"/>
              </a:rPr>
              <a:t>behaviors</a:t>
            </a:r>
            <a:endParaRPr sz="1950">
              <a:latin typeface="Arial"/>
              <a:cs typeface="Arial"/>
            </a:endParaRPr>
          </a:p>
          <a:p>
            <a:pPr marL="300990" indent="-288290">
              <a:lnSpc>
                <a:spcPct val="100000"/>
              </a:lnSpc>
              <a:spcBef>
                <a:spcPts val="1680"/>
              </a:spcBef>
              <a:buSzPct val="105128"/>
              <a:buFont typeface="Lucida Sans Unicode"/>
              <a:buChar char="•"/>
              <a:tabLst>
                <a:tab pos="301625" algn="l"/>
              </a:tabLst>
            </a:pPr>
            <a:r>
              <a:rPr sz="1950" spc="150" dirty="0">
                <a:solidFill>
                  <a:srgbClr val="231F20"/>
                </a:solidFill>
                <a:latin typeface="Arial"/>
                <a:cs typeface="Arial"/>
              </a:rPr>
              <a:t>If </a:t>
            </a:r>
            <a:r>
              <a:rPr sz="1950" spc="175" dirty="0">
                <a:solidFill>
                  <a:srgbClr val="231F20"/>
                </a:solidFill>
                <a:latin typeface="Arial"/>
                <a:cs typeface="Arial"/>
              </a:rPr>
              <a:t>the </a:t>
            </a:r>
            <a:r>
              <a:rPr sz="1950" spc="160" dirty="0">
                <a:solidFill>
                  <a:srgbClr val="231F20"/>
                </a:solidFill>
                <a:latin typeface="Arial"/>
                <a:cs typeface="Arial"/>
              </a:rPr>
              <a:t>model </a:t>
            </a:r>
            <a:r>
              <a:rPr sz="1950" spc="40" dirty="0">
                <a:solidFill>
                  <a:srgbClr val="231F20"/>
                </a:solidFill>
                <a:latin typeface="Arial"/>
                <a:cs typeface="Arial"/>
              </a:rPr>
              <a:t>is </a:t>
            </a:r>
            <a:r>
              <a:rPr sz="1950" spc="135" dirty="0">
                <a:solidFill>
                  <a:srgbClr val="0000FF"/>
                </a:solidFill>
                <a:latin typeface="Arial"/>
                <a:cs typeface="Arial"/>
              </a:rPr>
              <a:t>accurate</a:t>
            </a:r>
            <a:r>
              <a:rPr sz="1950" spc="135" dirty="0">
                <a:solidFill>
                  <a:srgbClr val="231F20"/>
                </a:solidFill>
                <a:latin typeface="Arial"/>
                <a:cs typeface="Arial"/>
              </a:rPr>
              <a:t>, </a:t>
            </a:r>
            <a:r>
              <a:rPr sz="1950" spc="145" dirty="0">
                <a:solidFill>
                  <a:srgbClr val="231F20"/>
                </a:solidFill>
                <a:latin typeface="Arial"/>
                <a:cs typeface="Arial"/>
              </a:rPr>
              <a:t>this </a:t>
            </a:r>
            <a:r>
              <a:rPr sz="1950" spc="95" dirty="0">
                <a:solidFill>
                  <a:srgbClr val="231F20"/>
                </a:solidFill>
                <a:latin typeface="Arial"/>
                <a:cs typeface="Arial"/>
              </a:rPr>
              <a:t>provides </a:t>
            </a:r>
            <a:r>
              <a:rPr sz="1950" spc="550" dirty="0">
                <a:solidFill>
                  <a:srgbClr val="231F20"/>
                </a:solidFill>
                <a:latin typeface="Arial"/>
                <a:cs typeface="Arial"/>
              </a:rPr>
              <a:t> </a:t>
            </a:r>
            <a:r>
              <a:rPr sz="1950" spc="145" dirty="0">
                <a:solidFill>
                  <a:srgbClr val="FF0000"/>
                </a:solidFill>
                <a:latin typeface="Arial"/>
                <a:cs typeface="Arial"/>
              </a:rPr>
              <a:t>verification</a:t>
            </a:r>
            <a:endParaRPr sz="1950">
              <a:latin typeface="Arial"/>
              <a:cs typeface="Arial"/>
            </a:endParaRPr>
          </a:p>
          <a:p>
            <a:pPr marL="12700">
              <a:lnSpc>
                <a:spcPct val="100000"/>
              </a:lnSpc>
              <a:spcBef>
                <a:spcPts val="1580"/>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7" name="object 7"/>
          <p:cNvSpPr txBox="1"/>
          <p:nvPr/>
        </p:nvSpPr>
        <p:spPr>
          <a:xfrm>
            <a:off x="1185162" y="5534329"/>
            <a:ext cx="7792084" cy="760730"/>
          </a:xfrm>
          <a:prstGeom prst="rect">
            <a:avLst/>
          </a:prstGeom>
        </p:spPr>
        <p:txBody>
          <a:bodyPr vert="horz" wrap="square" lIns="0" tIns="0" rIns="0" bIns="0" rtlCol="0">
            <a:spAutoFit/>
          </a:bodyPr>
          <a:lstStyle/>
          <a:p>
            <a:pPr marL="12700" marR="5080">
              <a:lnSpc>
                <a:spcPct val="125000"/>
              </a:lnSpc>
            </a:pPr>
            <a:r>
              <a:rPr sz="1950" spc="150" dirty="0">
                <a:solidFill>
                  <a:srgbClr val="231F20"/>
                </a:solidFill>
                <a:latin typeface="Arial"/>
                <a:cs typeface="Arial"/>
              </a:rPr>
              <a:t>If </a:t>
            </a:r>
            <a:r>
              <a:rPr sz="1950" spc="175" dirty="0">
                <a:solidFill>
                  <a:srgbClr val="231F20"/>
                </a:solidFill>
                <a:latin typeface="Arial"/>
                <a:cs typeface="Arial"/>
              </a:rPr>
              <a:t>the </a:t>
            </a:r>
            <a:r>
              <a:rPr sz="1950" spc="160" dirty="0">
                <a:solidFill>
                  <a:srgbClr val="231F20"/>
                </a:solidFill>
                <a:latin typeface="Arial"/>
                <a:cs typeface="Arial"/>
              </a:rPr>
              <a:t>model </a:t>
            </a:r>
            <a:r>
              <a:rPr sz="1950" spc="40" dirty="0">
                <a:solidFill>
                  <a:srgbClr val="231F20"/>
                </a:solidFill>
                <a:latin typeface="Arial"/>
                <a:cs typeface="Arial"/>
              </a:rPr>
              <a:t>is </a:t>
            </a:r>
            <a:r>
              <a:rPr sz="1950" spc="140" dirty="0">
                <a:solidFill>
                  <a:srgbClr val="0000FF"/>
                </a:solidFill>
                <a:latin typeface="Arial"/>
                <a:cs typeface="Arial"/>
              </a:rPr>
              <a:t>approximate</a:t>
            </a:r>
            <a:r>
              <a:rPr sz="1950" spc="140" dirty="0">
                <a:solidFill>
                  <a:srgbClr val="231F20"/>
                </a:solidFill>
                <a:latin typeface="Arial"/>
                <a:cs typeface="Arial"/>
              </a:rPr>
              <a:t>, </a:t>
            </a:r>
            <a:r>
              <a:rPr sz="1950" spc="120" dirty="0">
                <a:solidFill>
                  <a:srgbClr val="231F20"/>
                </a:solidFill>
                <a:latin typeface="Arial"/>
                <a:cs typeface="Arial"/>
              </a:rPr>
              <a:t>can </a:t>
            </a:r>
            <a:r>
              <a:rPr sz="1950" spc="130" dirty="0">
                <a:solidFill>
                  <a:srgbClr val="231F20"/>
                </a:solidFill>
                <a:latin typeface="Arial"/>
                <a:cs typeface="Arial"/>
              </a:rPr>
              <a:t>still </a:t>
            </a:r>
            <a:r>
              <a:rPr sz="1950" spc="114" dirty="0">
                <a:solidFill>
                  <a:srgbClr val="231F20"/>
                </a:solidFill>
                <a:latin typeface="Arial"/>
                <a:cs typeface="Arial"/>
              </a:rPr>
              <a:t>be </a:t>
            </a:r>
            <a:r>
              <a:rPr sz="1950" spc="185" dirty="0">
                <a:solidFill>
                  <a:srgbClr val="231F20"/>
                </a:solidFill>
                <a:latin typeface="Arial"/>
                <a:cs typeface="Arial"/>
              </a:rPr>
              <a:t>good </a:t>
            </a:r>
            <a:r>
              <a:rPr sz="1950" spc="155" dirty="0">
                <a:solidFill>
                  <a:srgbClr val="231F20"/>
                </a:solidFill>
                <a:latin typeface="Arial"/>
                <a:cs typeface="Arial"/>
              </a:rPr>
              <a:t>for </a:t>
            </a:r>
            <a:r>
              <a:rPr sz="1950" spc="130" dirty="0">
                <a:solidFill>
                  <a:srgbClr val="FF0000"/>
                </a:solidFill>
                <a:latin typeface="Arial"/>
                <a:cs typeface="Arial"/>
              </a:rPr>
              <a:t>debugging  </a:t>
            </a:r>
            <a:r>
              <a:rPr sz="1950" spc="150" dirty="0">
                <a:solidFill>
                  <a:srgbClr val="231F20"/>
                </a:solidFill>
                <a:latin typeface="Arial"/>
                <a:cs typeface="Arial"/>
              </a:rPr>
              <a:t>(aka.</a:t>
            </a:r>
            <a:r>
              <a:rPr sz="1950" spc="240" dirty="0">
                <a:solidFill>
                  <a:srgbClr val="231F20"/>
                </a:solidFill>
                <a:latin typeface="Arial"/>
                <a:cs typeface="Arial"/>
              </a:rPr>
              <a:t> </a:t>
            </a:r>
            <a:r>
              <a:rPr sz="1950" spc="185" dirty="0">
                <a:solidFill>
                  <a:srgbClr val="FF0000"/>
                </a:solidFill>
                <a:latin typeface="Arial"/>
                <a:cs typeface="Arial"/>
              </a:rPr>
              <a:t>refutation</a:t>
            </a:r>
            <a:r>
              <a:rPr sz="1950" spc="185" dirty="0">
                <a:solidFill>
                  <a:srgbClr val="231F20"/>
                </a:solidFill>
                <a:latin typeface="Arial"/>
                <a:cs typeface="Arial"/>
              </a:rPr>
              <a:t>)</a:t>
            </a:r>
            <a:endParaRPr sz="1950">
              <a:latin typeface="Arial"/>
              <a:cs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67558" y="475981"/>
            <a:ext cx="2443480" cy="314960"/>
          </a:xfrm>
          <a:prstGeom prst="rect">
            <a:avLst/>
          </a:prstGeom>
        </p:spPr>
        <p:txBody>
          <a:bodyPr vert="horz" wrap="square" lIns="0" tIns="0" rIns="0" bIns="0" rtlCol="0">
            <a:spAutoFit/>
          </a:bodyPr>
          <a:lstStyle/>
          <a:p>
            <a:pPr marL="12700">
              <a:lnSpc>
                <a:spcPct val="100000"/>
              </a:lnSpc>
            </a:pPr>
            <a:r>
              <a:rPr sz="1950" spc="270" dirty="0">
                <a:solidFill>
                  <a:srgbClr val="231F20"/>
                </a:solidFill>
                <a:latin typeface="Arial"/>
                <a:cs typeface="Arial"/>
              </a:rPr>
              <a:t>Formal</a:t>
            </a:r>
            <a:r>
              <a:rPr sz="1950" spc="295" dirty="0">
                <a:solidFill>
                  <a:srgbClr val="231F20"/>
                </a:solidFill>
                <a:latin typeface="Arial"/>
                <a:cs typeface="Arial"/>
              </a:rPr>
              <a:t> Methods:</a:t>
            </a:r>
            <a:endParaRPr sz="1950">
              <a:latin typeface="Arial"/>
              <a:cs typeface="Arial"/>
            </a:endParaRPr>
          </a:p>
        </p:txBody>
      </p:sp>
      <p:sp>
        <p:nvSpPr>
          <p:cNvPr id="3" name="object 3"/>
          <p:cNvSpPr txBox="1"/>
          <p:nvPr/>
        </p:nvSpPr>
        <p:spPr>
          <a:xfrm>
            <a:off x="5539456" y="475981"/>
            <a:ext cx="1553210" cy="314960"/>
          </a:xfrm>
          <a:prstGeom prst="rect">
            <a:avLst/>
          </a:prstGeom>
        </p:spPr>
        <p:txBody>
          <a:bodyPr vert="horz" wrap="square" lIns="0" tIns="0" rIns="0" bIns="0" rtlCol="0">
            <a:spAutoFit/>
          </a:bodyPr>
          <a:lstStyle/>
          <a:p>
            <a:pPr marL="12700">
              <a:lnSpc>
                <a:spcPct val="100000"/>
              </a:lnSpc>
            </a:pPr>
            <a:r>
              <a:rPr sz="1950" spc="220" dirty="0">
                <a:solidFill>
                  <a:srgbClr val="231F20"/>
                </a:solidFill>
                <a:latin typeface="Arial"/>
                <a:cs typeface="Arial"/>
              </a:rPr>
              <a:t>In</a:t>
            </a:r>
            <a:r>
              <a:rPr sz="1950" spc="295" dirty="0">
                <a:solidFill>
                  <a:srgbClr val="231F20"/>
                </a:solidFill>
                <a:latin typeface="Arial"/>
                <a:cs typeface="Arial"/>
              </a:rPr>
              <a:t> </a:t>
            </a:r>
            <a:r>
              <a:rPr sz="1950" spc="245" dirty="0">
                <a:solidFill>
                  <a:srgbClr val="231F20"/>
                </a:solidFill>
                <a:latin typeface="Arial"/>
                <a:cs typeface="Arial"/>
              </a:rPr>
              <a:t>Pictures</a:t>
            </a:r>
            <a:endParaRPr sz="1950">
              <a:latin typeface="Arial"/>
              <a:cs typeface="Arial"/>
            </a:endParaRPr>
          </a:p>
        </p:txBody>
      </p:sp>
      <p:sp>
        <p:nvSpPr>
          <p:cNvPr id="4" name="object 4"/>
          <p:cNvSpPr/>
          <p:nvPr/>
        </p:nvSpPr>
        <p:spPr>
          <a:xfrm>
            <a:off x="5498289" y="2354570"/>
            <a:ext cx="1566082" cy="1479316"/>
          </a:xfrm>
          <a:prstGeom prst="rect">
            <a:avLst/>
          </a:prstGeom>
          <a:blipFill>
            <a:blip r:embed="rId2" cstate="print"/>
            <a:stretch>
              <a:fillRect/>
            </a:stretch>
          </a:blipFill>
        </p:spPr>
        <p:txBody>
          <a:bodyPr wrap="square" lIns="0" tIns="0" rIns="0" bIns="0" rtlCol="0"/>
          <a:lstStyle/>
          <a:p>
            <a:endParaRPr/>
          </a:p>
        </p:txBody>
      </p:sp>
      <p:sp>
        <p:nvSpPr>
          <p:cNvPr id="5" name="object 5"/>
          <p:cNvSpPr/>
          <p:nvPr/>
        </p:nvSpPr>
        <p:spPr>
          <a:xfrm>
            <a:off x="1534807" y="2555722"/>
            <a:ext cx="123189" cy="123189"/>
          </a:xfrm>
          <a:custGeom>
            <a:avLst/>
            <a:gdLst/>
            <a:ahLst/>
            <a:cxnLst/>
            <a:rect l="l" t="t" r="r" b="b"/>
            <a:pathLst>
              <a:path w="123189" h="123189">
                <a:moveTo>
                  <a:pt x="122618" y="61315"/>
                </a:moveTo>
                <a:lnTo>
                  <a:pt x="109151" y="22968"/>
                </a:lnTo>
                <a:lnTo>
                  <a:pt x="75372" y="1619"/>
                </a:lnTo>
                <a:lnTo>
                  <a:pt x="61315" y="0"/>
                </a:lnTo>
                <a:lnTo>
                  <a:pt x="56522" y="184"/>
                </a:lnTo>
                <a:lnTo>
                  <a:pt x="19569" y="16404"/>
                </a:lnTo>
                <a:lnTo>
                  <a:pt x="728" y="51834"/>
                </a:lnTo>
                <a:lnTo>
                  <a:pt x="0" y="61315"/>
                </a:lnTo>
                <a:lnTo>
                  <a:pt x="184" y="66106"/>
                </a:lnTo>
                <a:lnTo>
                  <a:pt x="16400" y="103050"/>
                </a:lnTo>
                <a:lnTo>
                  <a:pt x="51831" y="121889"/>
                </a:lnTo>
                <a:lnTo>
                  <a:pt x="61315" y="122618"/>
                </a:lnTo>
                <a:lnTo>
                  <a:pt x="66106" y="122434"/>
                </a:lnTo>
                <a:lnTo>
                  <a:pt x="103050" y="106219"/>
                </a:lnTo>
                <a:lnTo>
                  <a:pt x="121889" y="70796"/>
                </a:lnTo>
                <a:lnTo>
                  <a:pt x="122618" y="61315"/>
                </a:lnTo>
                <a:close/>
              </a:path>
            </a:pathLst>
          </a:custGeom>
          <a:solidFill>
            <a:srgbClr val="86CEFF"/>
          </a:solidFill>
        </p:spPr>
        <p:txBody>
          <a:bodyPr wrap="square" lIns="0" tIns="0" rIns="0" bIns="0" rtlCol="0"/>
          <a:lstStyle/>
          <a:p>
            <a:endParaRPr/>
          </a:p>
        </p:txBody>
      </p:sp>
      <p:sp>
        <p:nvSpPr>
          <p:cNvPr id="6" name="object 6"/>
          <p:cNvSpPr/>
          <p:nvPr/>
        </p:nvSpPr>
        <p:spPr>
          <a:xfrm>
            <a:off x="1534807" y="2555722"/>
            <a:ext cx="123189" cy="123189"/>
          </a:xfrm>
          <a:custGeom>
            <a:avLst/>
            <a:gdLst/>
            <a:ahLst/>
            <a:cxnLst/>
            <a:rect l="l" t="t" r="r" b="b"/>
            <a:pathLst>
              <a:path w="123189" h="123189">
                <a:moveTo>
                  <a:pt x="122618" y="61315"/>
                </a:moveTo>
                <a:lnTo>
                  <a:pt x="109151" y="99658"/>
                </a:lnTo>
                <a:lnTo>
                  <a:pt x="75372" y="120999"/>
                </a:lnTo>
                <a:lnTo>
                  <a:pt x="61315" y="122618"/>
                </a:lnTo>
                <a:lnTo>
                  <a:pt x="56522" y="122434"/>
                </a:lnTo>
                <a:lnTo>
                  <a:pt x="19569" y="106219"/>
                </a:lnTo>
                <a:lnTo>
                  <a:pt x="728" y="70796"/>
                </a:lnTo>
                <a:lnTo>
                  <a:pt x="0" y="61315"/>
                </a:lnTo>
                <a:lnTo>
                  <a:pt x="184" y="56524"/>
                </a:lnTo>
                <a:lnTo>
                  <a:pt x="16400" y="19574"/>
                </a:lnTo>
                <a:lnTo>
                  <a:pt x="51831" y="728"/>
                </a:lnTo>
                <a:lnTo>
                  <a:pt x="61315" y="0"/>
                </a:lnTo>
                <a:lnTo>
                  <a:pt x="66106" y="184"/>
                </a:lnTo>
                <a:lnTo>
                  <a:pt x="103050" y="16404"/>
                </a:lnTo>
                <a:lnTo>
                  <a:pt x="121889" y="51834"/>
                </a:lnTo>
                <a:lnTo>
                  <a:pt x="122618" y="61315"/>
                </a:lnTo>
                <a:close/>
              </a:path>
            </a:pathLst>
          </a:custGeom>
          <a:ln w="4338">
            <a:solidFill>
              <a:srgbClr val="000000"/>
            </a:solidFill>
          </a:ln>
        </p:spPr>
        <p:txBody>
          <a:bodyPr wrap="square" lIns="0" tIns="0" rIns="0" bIns="0" rtlCol="0"/>
          <a:lstStyle/>
          <a:p>
            <a:endParaRPr/>
          </a:p>
        </p:txBody>
      </p:sp>
      <p:sp>
        <p:nvSpPr>
          <p:cNvPr id="7" name="object 7"/>
          <p:cNvSpPr/>
          <p:nvPr/>
        </p:nvSpPr>
        <p:spPr>
          <a:xfrm>
            <a:off x="2142147" y="2234107"/>
            <a:ext cx="123189" cy="123189"/>
          </a:xfrm>
          <a:custGeom>
            <a:avLst/>
            <a:gdLst/>
            <a:ahLst/>
            <a:cxnLst/>
            <a:rect l="l" t="t" r="r" b="b"/>
            <a:pathLst>
              <a:path w="123189" h="123189">
                <a:moveTo>
                  <a:pt x="122631" y="61328"/>
                </a:moveTo>
                <a:lnTo>
                  <a:pt x="109159" y="22975"/>
                </a:lnTo>
                <a:lnTo>
                  <a:pt x="75372" y="1620"/>
                </a:lnTo>
                <a:lnTo>
                  <a:pt x="61315" y="0"/>
                </a:lnTo>
                <a:lnTo>
                  <a:pt x="56524" y="184"/>
                </a:lnTo>
                <a:lnTo>
                  <a:pt x="19574" y="16410"/>
                </a:lnTo>
                <a:lnTo>
                  <a:pt x="728" y="51846"/>
                </a:lnTo>
                <a:lnTo>
                  <a:pt x="0" y="61328"/>
                </a:lnTo>
                <a:lnTo>
                  <a:pt x="184" y="66119"/>
                </a:lnTo>
                <a:lnTo>
                  <a:pt x="16404" y="103063"/>
                </a:lnTo>
                <a:lnTo>
                  <a:pt x="51834" y="121902"/>
                </a:lnTo>
                <a:lnTo>
                  <a:pt x="61315" y="122631"/>
                </a:lnTo>
                <a:lnTo>
                  <a:pt x="66106" y="122446"/>
                </a:lnTo>
                <a:lnTo>
                  <a:pt x="103056" y="106232"/>
                </a:lnTo>
                <a:lnTo>
                  <a:pt x="121902" y="70809"/>
                </a:lnTo>
                <a:lnTo>
                  <a:pt x="122631" y="61328"/>
                </a:lnTo>
                <a:close/>
              </a:path>
            </a:pathLst>
          </a:custGeom>
          <a:solidFill>
            <a:srgbClr val="86CEFF"/>
          </a:solidFill>
        </p:spPr>
        <p:txBody>
          <a:bodyPr wrap="square" lIns="0" tIns="0" rIns="0" bIns="0" rtlCol="0"/>
          <a:lstStyle/>
          <a:p>
            <a:endParaRPr/>
          </a:p>
        </p:txBody>
      </p:sp>
      <p:sp>
        <p:nvSpPr>
          <p:cNvPr id="8" name="object 8"/>
          <p:cNvSpPr/>
          <p:nvPr/>
        </p:nvSpPr>
        <p:spPr>
          <a:xfrm>
            <a:off x="2142147" y="2234107"/>
            <a:ext cx="123189" cy="123189"/>
          </a:xfrm>
          <a:custGeom>
            <a:avLst/>
            <a:gdLst/>
            <a:ahLst/>
            <a:cxnLst/>
            <a:rect l="l" t="t" r="r" b="b"/>
            <a:pathLst>
              <a:path w="123189" h="123189">
                <a:moveTo>
                  <a:pt x="122631" y="61328"/>
                </a:moveTo>
                <a:lnTo>
                  <a:pt x="109159" y="99670"/>
                </a:lnTo>
                <a:lnTo>
                  <a:pt x="75372" y="121012"/>
                </a:lnTo>
                <a:lnTo>
                  <a:pt x="61315" y="122631"/>
                </a:lnTo>
                <a:lnTo>
                  <a:pt x="56524" y="122446"/>
                </a:lnTo>
                <a:lnTo>
                  <a:pt x="19574" y="106232"/>
                </a:lnTo>
                <a:lnTo>
                  <a:pt x="728" y="70809"/>
                </a:lnTo>
                <a:lnTo>
                  <a:pt x="0" y="61328"/>
                </a:lnTo>
                <a:lnTo>
                  <a:pt x="184" y="56537"/>
                </a:lnTo>
                <a:lnTo>
                  <a:pt x="16404" y="19581"/>
                </a:lnTo>
                <a:lnTo>
                  <a:pt x="51834" y="729"/>
                </a:lnTo>
                <a:lnTo>
                  <a:pt x="61315" y="0"/>
                </a:lnTo>
                <a:lnTo>
                  <a:pt x="66106" y="184"/>
                </a:lnTo>
                <a:lnTo>
                  <a:pt x="103056" y="16410"/>
                </a:lnTo>
                <a:lnTo>
                  <a:pt x="121902" y="51846"/>
                </a:lnTo>
                <a:lnTo>
                  <a:pt x="122631" y="61328"/>
                </a:lnTo>
                <a:close/>
              </a:path>
            </a:pathLst>
          </a:custGeom>
          <a:ln w="4338">
            <a:solidFill>
              <a:srgbClr val="000000"/>
            </a:solidFill>
          </a:ln>
        </p:spPr>
        <p:txBody>
          <a:bodyPr wrap="square" lIns="0" tIns="0" rIns="0" bIns="0" rtlCol="0"/>
          <a:lstStyle/>
          <a:p>
            <a:endParaRPr/>
          </a:p>
        </p:txBody>
      </p:sp>
      <p:sp>
        <p:nvSpPr>
          <p:cNvPr id="9" name="object 9"/>
          <p:cNvSpPr/>
          <p:nvPr/>
        </p:nvSpPr>
        <p:spPr>
          <a:xfrm>
            <a:off x="2502509" y="2315667"/>
            <a:ext cx="123189" cy="123189"/>
          </a:xfrm>
          <a:custGeom>
            <a:avLst/>
            <a:gdLst/>
            <a:ahLst/>
            <a:cxnLst/>
            <a:rect l="l" t="t" r="r" b="b"/>
            <a:pathLst>
              <a:path w="123189" h="123189">
                <a:moveTo>
                  <a:pt x="122618" y="61315"/>
                </a:moveTo>
                <a:lnTo>
                  <a:pt x="109146" y="22968"/>
                </a:lnTo>
                <a:lnTo>
                  <a:pt x="75360" y="1619"/>
                </a:lnTo>
                <a:lnTo>
                  <a:pt x="61302" y="0"/>
                </a:lnTo>
                <a:lnTo>
                  <a:pt x="56511" y="184"/>
                </a:lnTo>
                <a:lnTo>
                  <a:pt x="19567" y="16404"/>
                </a:lnTo>
                <a:lnTo>
                  <a:pt x="728" y="51834"/>
                </a:lnTo>
                <a:lnTo>
                  <a:pt x="0" y="61315"/>
                </a:lnTo>
                <a:lnTo>
                  <a:pt x="184" y="66106"/>
                </a:lnTo>
                <a:lnTo>
                  <a:pt x="16398" y="103056"/>
                </a:lnTo>
                <a:lnTo>
                  <a:pt x="51821" y="121902"/>
                </a:lnTo>
                <a:lnTo>
                  <a:pt x="61302" y="122631"/>
                </a:lnTo>
                <a:lnTo>
                  <a:pt x="66093" y="122446"/>
                </a:lnTo>
                <a:lnTo>
                  <a:pt x="103043" y="106226"/>
                </a:lnTo>
                <a:lnTo>
                  <a:pt x="121889" y="70797"/>
                </a:lnTo>
                <a:lnTo>
                  <a:pt x="122618" y="61315"/>
                </a:lnTo>
                <a:close/>
              </a:path>
            </a:pathLst>
          </a:custGeom>
          <a:solidFill>
            <a:srgbClr val="86CEFF"/>
          </a:solidFill>
        </p:spPr>
        <p:txBody>
          <a:bodyPr wrap="square" lIns="0" tIns="0" rIns="0" bIns="0" rtlCol="0"/>
          <a:lstStyle/>
          <a:p>
            <a:endParaRPr/>
          </a:p>
        </p:txBody>
      </p:sp>
      <p:sp>
        <p:nvSpPr>
          <p:cNvPr id="10" name="object 10"/>
          <p:cNvSpPr/>
          <p:nvPr/>
        </p:nvSpPr>
        <p:spPr>
          <a:xfrm>
            <a:off x="2502509" y="2315667"/>
            <a:ext cx="123189" cy="123189"/>
          </a:xfrm>
          <a:custGeom>
            <a:avLst/>
            <a:gdLst/>
            <a:ahLst/>
            <a:cxnLst/>
            <a:rect l="l" t="t" r="r" b="b"/>
            <a:pathLst>
              <a:path w="123189" h="123189">
                <a:moveTo>
                  <a:pt x="122618" y="61315"/>
                </a:moveTo>
                <a:lnTo>
                  <a:pt x="109146" y="99663"/>
                </a:lnTo>
                <a:lnTo>
                  <a:pt x="75360" y="121011"/>
                </a:lnTo>
                <a:lnTo>
                  <a:pt x="61302" y="122631"/>
                </a:lnTo>
                <a:lnTo>
                  <a:pt x="56511" y="122446"/>
                </a:lnTo>
                <a:lnTo>
                  <a:pt x="19567" y="106226"/>
                </a:lnTo>
                <a:lnTo>
                  <a:pt x="728" y="70797"/>
                </a:lnTo>
                <a:lnTo>
                  <a:pt x="0" y="61315"/>
                </a:lnTo>
                <a:lnTo>
                  <a:pt x="184" y="56524"/>
                </a:lnTo>
                <a:lnTo>
                  <a:pt x="16398" y="19574"/>
                </a:lnTo>
                <a:lnTo>
                  <a:pt x="51821" y="728"/>
                </a:lnTo>
                <a:lnTo>
                  <a:pt x="61302" y="0"/>
                </a:lnTo>
                <a:lnTo>
                  <a:pt x="66093" y="184"/>
                </a:lnTo>
                <a:lnTo>
                  <a:pt x="103043" y="16404"/>
                </a:lnTo>
                <a:lnTo>
                  <a:pt x="121889" y="51834"/>
                </a:lnTo>
                <a:lnTo>
                  <a:pt x="122618" y="61315"/>
                </a:lnTo>
                <a:close/>
              </a:path>
            </a:pathLst>
          </a:custGeom>
          <a:ln w="4338">
            <a:solidFill>
              <a:srgbClr val="000000"/>
            </a:solidFill>
          </a:ln>
        </p:spPr>
        <p:txBody>
          <a:bodyPr wrap="square" lIns="0" tIns="0" rIns="0" bIns="0" rtlCol="0"/>
          <a:lstStyle/>
          <a:p>
            <a:endParaRPr/>
          </a:p>
        </p:txBody>
      </p:sp>
      <p:sp>
        <p:nvSpPr>
          <p:cNvPr id="11" name="object 11"/>
          <p:cNvSpPr/>
          <p:nvPr/>
        </p:nvSpPr>
        <p:spPr>
          <a:xfrm>
            <a:off x="2315667" y="2599105"/>
            <a:ext cx="123189" cy="123189"/>
          </a:xfrm>
          <a:custGeom>
            <a:avLst/>
            <a:gdLst/>
            <a:ahLst/>
            <a:cxnLst/>
            <a:rect l="l" t="t" r="r" b="b"/>
            <a:pathLst>
              <a:path w="123189" h="123189">
                <a:moveTo>
                  <a:pt x="122631" y="61302"/>
                </a:moveTo>
                <a:lnTo>
                  <a:pt x="109159" y="22960"/>
                </a:lnTo>
                <a:lnTo>
                  <a:pt x="75372" y="1618"/>
                </a:lnTo>
                <a:lnTo>
                  <a:pt x="61315" y="0"/>
                </a:lnTo>
                <a:lnTo>
                  <a:pt x="56524" y="184"/>
                </a:lnTo>
                <a:lnTo>
                  <a:pt x="19574" y="16398"/>
                </a:lnTo>
                <a:lnTo>
                  <a:pt x="728" y="51821"/>
                </a:lnTo>
                <a:lnTo>
                  <a:pt x="0" y="61302"/>
                </a:lnTo>
                <a:lnTo>
                  <a:pt x="184" y="66093"/>
                </a:lnTo>
                <a:lnTo>
                  <a:pt x="16404" y="103043"/>
                </a:lnTo>
                <a:lnTo>
                  <a:pt x="51834" y="121889"/>
                </a:lnTo>
                <a:lnTo>
                  <a:pt x="61315" y="122618"/>
                </a:lnTo>
                <a:lnTo>
                  <a:pt x="66106" y="122433"/>
                </a:lnTo>
                <a:lnTo>
                  <a:pt x="103056" y="106213"/>
                </a:lnTo>
                <a:lnTo>
                  <a:pt x="121902" y="70784"/>
                </a:lnTo>
                <a:lnTo>
                  <a:pt x="122631" y="61302"/>
                </a:lnTo>
                <a:close/>
              </a:path>
            </a:pathLst>
          </a:custGeom>
          <a:solidFill>
            <a:srgbClr val="86CEFF"/>
          </a:solidFill>
        </p:spPr>
        <p:txBody>
          <a:bodyPr wrap="square" lIns="0" tIns="0" rIns="0" bIns="0" rtlCol="0"/>
          <a:lstStyle/>
          <a:p>
            <a:endParaRPr/>
          </a:p>
        </p:txBody>
      </p:sp>
      <p:sp>
        <p:nvSpPr>
          <p:cNvPr id="12" name="object 12"/>
          <p:cNvSpPr/>
          <p:nvPr/>
        </p:nvSpPr>
        <p:spPr>
          <a:xfrm>
            <a:off x="2315667" y="2599105"/>
            <a:ext cx="123189" cy="123189"/>
          </a:xfrm>
          <a:custGeom>
            <a:avLst/>
            <a:gdLst/>
            <a:ahLst/>
            <a:cxnLst/>
            <a:rect l="l" t="t" r="r" b="b"/>
            <a:pathLst>
              <a:path w="123189" h="123189">
                <a:moveTo>
                  <a:pt x="122631" y="61302"/>
                </a:moveTo>
                <a:lnTo>
                  <a:pt x="109159" y="99650"/>
                </a:lnTo>
                <a:lnTo>
                  <a:pt x="75372" y="120998"/>
                </a:lnTo>
                <a:lnTo>
                  <a:pt x="61315" y="122618"/>
                </a:lnTo>
                <a:lnTo>
                  <a:pt x="56524" y="122433"/>
                </a:lnTo>
                <a:lnTo>
                  <a:pt x="19574" y="106213"/>
                </a:lnTo>
                <a:lnTo>
                  <a:pt x="728" y="70784"/>
                </a:lnTo>
                <a:lnTo>
                  <a:pt x="0" y="61302"/>
                </a:lnTo>
                <a:lnTo>
                  <a:pt x="184" y="56511"/>
                </a:lnTo>
                <a:lnTo>
                  <a:pt x="16404" y="19567"/>
                </a:lnTo>
                <a:lnTo>
                  <a:pt x="51834" y="728"/>
                </a:lnTo>
                <a:lnTo>
                  <a:pt x="61315" y="0"/>
                </a:lnTo>
                <a:lnTo>
                  <a:pt x="66106" y="184"/>
                </a:lnTo>
                <a:lnTo>
                  <a:pt x="103056" y="16398"/>
                </a:lnTo>
                <a:lnTo>
                  <a:pt x="121902" y="51821"/>
                </a:lnTo>
                <a:lnTo>
                  <a:pt x="122631" y="61302"/>
                </a:lnTo>
                <a:close/>
              </a:path>
            </a:pathLst>
          </a:custGeom>
          <a:ln w="4338">
            <a:solidFill>
              <a:srgbClr val="000000"/>
            </a:solidFill>
          </a:ln>
        </p:spPr>
        <p:txBody>
          <a:bodyPr wrap="square" lIns="0" tIns="0" rIns="0" bIns="0" rtlCol="0"/>
          <a:lstStyle/>
          <a:p>
            <a:endParaRPr/>
          </a:p>
        </p:txBody>
      </p:sp>
      <p:sp>
        <p:nvSpPr>
          <p:cNvPr id="13" name="object 13"/>
          <p:cNvSpPr/>
          <p:nvPr/>
        </p:nvSpPr>
        <p:spPr>
          <a:xfrm>
            <a:off x="1118919" y="2425573"/>
            <a:ext cx="123189" cy="123189"/>
          </a:xfrm>
          <a:custGeom>
            <a:avLst/>
            <a:gdLst/>
            <a:ahLst/>
            <a:cxnLst/>
            <a:rect l="l" t="t" r="r" b="b"/>
            <a:pathLst>
              <a:path w="123190" h="123189">
                <a:moveTo>
                  <a:pt x="122624" y="61315"/>
                </a:moveTo>
                <a:lnTo>
                  <a:pt x="109154" y="22968"/>
                </a:lnTo>
                <a:lnTo>
                  <a:pt x="75369" y="1619"/>
                </a:lnTo>
                <a:lnTo>
                  <a:pt x="61311" y="0"/>
                </a:lnTo>
                <a:lnTo>
                  <a:pt x="56520" y="184"/>
                </a:lnTo>
                <a:lnTo>
                  <a:pt x="19572" y="16404"/>
                </a:lnTo>
                <a:lnTo>
                  <a:pt x="728" y="51834"/>
                </a:lnTo>
                <a:lnTo>
                  <a:pt x="0" y="61315"/>
                </a:lnTo>
                <a:lnTo>
                  <a:pt x="184" y="66106"/>
                </a:lnTo>
                <a:lnTo>
                  <a:pt x="16403" y="103056"/>
                </a:lnTo>
                <a:lnTo>
                  <a:pt x="51830" y="121902"/>
                </a:lnTo>
                <a:lnTo>
                  <a:pt x="61311" y="122631"/>
                </a:lnTo>
                <a:lnTo>
                  <a:pt x="66103" y="122446"/>
                </a:lnTo>
                <a:lnTo>
                  <a:pt x="103051" y="106226"/>
                </a:lnTo>
                <a:lnTo>
                  <a:pt x="121895" y="70797"/>
                </a:lnTo>
                <a:lnTo>
                  <a:pt x="122624" y="61315"/>
                </a:lnTo>
                <a:close/>
              </a:path>
            </a:pathLst>
          </a:custGeom>
          <a:solidFill>
            <a:srgbClr val="86CEFF"/>
          </a:solidFill>
        </p:spPr>
        <p:txBody>
          <a:bodyPr wrap="square" lIns="0" tIns="0" rIns="0" bIns="0" rtlCol="0"/>
          <a:lstStyle/>
          <a:p>
            <a:endParaRPr/>
          </a:p>
        </p:txBody>
      </p:sp>
      <p:sp>
        <p:nvSpPr>
          <p:cNvPr id="14" name="object 14"/>
          <p:cNvSpPr/>
          <p:nvPr/>
        </p:nvSpPr>
        <p:spPr>
          <a:xfrm>
            <a:off x="1118919" y="2425573"/>
            <a:ext cx="123189" cy="123189"/>
          </a:xfrm>
          <a:custGeom>
            <a:avLst/>
            <a:gdLst/>
            <a:ahLst/>
            <a:cxnLst/>
            <a:rect l="l" t="t" r="r" b="b"/>
            <a:pathLst>
              <a:path w="123190" h="123189">
                <a:moveTo>
                  <a:pt x="122624" y="61315"/>
                </a:moveTo>
                <a:lnTo>
                  <a:pt x="109154" y="99663"/>
                </a:lnTo>
                <a:lnTo>
                  <a:pt x="75369" y="121011"/>
                </a:lnTo>
                <a:lnTo>
                  <a:pt x="61311" y="122631"/>
                </a:lnTo>
                <a:lnTo>
                  <a:pt x="56520" y="122446"/>
                </a:lnTo>
                <a:lnTo>
                  <a:pt x="19572" y="106226"/>
                </a:lnTo>
                <a:lnTo>
                  <a:pt x="728" y="70797"/>
                </a:lnTo>
                <a:lnTo>
                  <a:pt x="0" y="61315"/>
                </a:lnTo>
                <a:lnTo>
                  <a:pt x="184" y="56524"/>
                </a:lnTo>
                <a:lnTo>
                  <a:pt x="16403" y="19574"/>
                </a:lnTo>
                <a:lnTo>
                  <a:pt x="51830" y="728"/>
                </a:lnTo>
                <a:lnTo>
                  <a:pt x="61311" y="0"/>
                </a:lnTo>
                <a:lnTo>
                  <a:pt x="66103" y="184"/>
                </a:lnTo>
                <a:lnTo>
                  <a:pt x="103051" y="16404"/>
                </a:lnTo>
                <a:lnTo>
                  <a:pt x="121895" y="51834"/>
                </a:lnTo>
                <a:lnTo>
                  <a:pt x="122624" y="61315"/>
                </a:lnTo>
                <a:close/>
              </a:path>
            </a:pathLst>
          </a:custGeom>
          <a:ln w="4338">
            <a:solidFill>
              <a:srgbClr val="000000"/>
            </a:solidFill>
          </a:ln>
        </p:spPr>
        <p:txBody>
          <a:bodyPr wrap="square" lIns="0" tIns="0" rIns="0" bIns="0" rtlCol="0"/>
          <a:lstStyle/>
          <a:p>
            <a:endParaRPr/>
          </a:p>
        </p:txBody>
      </p:sp>
      <p:sp>
        <p:nvSpPr>
          <p:cNvPr id="15" name="object 15"/>
          <p:cNvSpPr/>
          <p:nvPr/>
        </p:nvSpPr>
        <p:spPr>
          <a:xfrm>
            <a:off x="1769643" y="3032912"/>
            <a:ext cx="123189" cy="123189"/>
          </a:xfrm>
          <a:custGeom>
            <a:avLst/>
            <a:gdLst/>
            <a:ahLst/>
            <a:cxnLst/>
            <a:rect l="l" t="t" r="r" b="b"/>
            <a:pathLst>
              <a:path w="123189" h="123189">
                <a:moveTo>
                  <a:pt x="122631" y="61315"/>
                </a:moveTo>
                <a:lnTo>
                  <a:pt x="109159" y="22968"/>
                </a:lnTo>
                <a:lnTo>
                  <a:pt x="75372" y="1619"/>
                </a:lnTo>
                <a:lnTo>
                  <a:pt x="61315" y="0"/>
                </a:lnTo>
                <a:lnTo>
                  <a:pt x="56524" y="184"/>
                </a:lnTo>
                <a:lnTo>
                  <a:pt x="19574" y="16404"/>
                </a:lnTo>
                <a:lnTo>
                  <a:pt x="728" y="51834"/>
                </a:lnTo>
                <a:lnTo>
                  <a:pt x="0" y="61315"/>
                </a:lnTo>
                <a:lnTo>
                  <a:pt x="184" y="66106"/>
                </a:lnTo>
                <a:lnTo>
                  <a:pt x="16404" y="103056"/>
                </a:lnTo>
                <a:lnTo>
                  <a:pt x="51834" y="121902"/>
                </a:lnTo>
                <a:lnTo>
                  <a:pt x="61315" y="122631"/>
                </a:lnTo>
                <a:lnTo>
                  <a:pt x="66106" y="122446"/>
                </a:lnTo>
                <a:lnTo>
                  <a:pt x="103056" y="106226"/>
                </a:lnTo>
                <a:lnTo>
                  <a:pt x="121902" y="70797"/>
                </a:lnTo>
                <a:lnTo>
                  <a:pt x="122631" y="61315"/>
                </a:lnTo>
                <a:close/>
              </a:path>
            </a:pathLst>
          </a:custGeom>
          <a:solidFill>
            <a:srgbClr val="86CEFF"/>
          </a:solidFill>
        </p:spPr>
        <p:txBody>
          <a:bodyPr wrap="square" lIns="0" tIns="0" rIns="0" bIns="0" rtlCol="0"/>
          <a:lstStyle/>
          <a:p>
            <a:endParaRPr/>
          </a:p>
        </p:txBody>
      </p:sp>
      <p:sp>
        <p:nvSpPr>
          <p:cNvPr id="16" name="object 16"/>
          <p:cNvSpPr/>
          <p:nvPr/>
        </p:nvSpPr>
        <p:spPr>
          <a:xfrm>
            <a:off x="1769643" y="3032912"/>
            <a:ext cx="123189" cy="123189"/>
          </a:xfrm>
          <a:custGeom>
            <a:avLst/>
            <a:gdLst/>
            <a:ahLst/>
            <a:cxnLst/>
            <a:rect l="l" t="t" r="r" b="b"/>
            <a:pathLst>
              <a:path w="123189" h="123189">
                <a:moveTo>
                  <a:pt x="122631" y="61315"/>
                </a:moveTo>
                <a:lnTo>
                  <a:pt x="109159" y="99663"/>
                </a:lnTo>
                <a:lnTo>
                  <a:pt x="75372" y="121011"/>
                </a:lnTo>
                <a:lnTo>
                  <a:pt x="61315" y="122631"/>
                </a:lnTo>
                <a:lnTo>
                  <a:pt x="56524" y="122446"/>
                </a:lnTo>
                <a:lnTo>
                  <a:pt x="19574" y="106226"/>
                </a:lnTo>
                <a:lnTo>
                  <a:pt x="728" y="70797"/>
                </a:lnTo>
                <a:lnTo>
                  <a:pt x="0" y="61315"/>
                </a:lnTo>
                <a:lnTo>
                  <a:pt x="184" y="56524"/>
                </a:lnTo>
                <a:lnTo>
                  <a:pt x="16404" y="19574"/>
                </a:lnTo>
                <a:lnTo>
                  <a:pt x="51834" y="728"/>
                </a:lnTo>
                <a:lnTo>
                  <a:pt x="61315" y="0"/>
                </a:lnTo>
                <a:lnTo>
                  <a:pt x="66106" y="184"/>
                </a:lnTo>
                <a:lnTo>
                  <a:pt x="103056" y="16404"/>
                </a:lnTo>
                <a:lnTo>
                  <a:pt x="121902" y="51834"/>
                </a:lnTo>
                <a:lnTo>
                  <a:pt x="122631" y="61315"/>
                </a:lnTo>
                <a:close/>
              </a:path>
            </a:pathLst>
          </a:custGeom>
          <a:ln w="4338">
            <a:solidFill>
              <a:srgbClr val="000000"/>
            </a:solidFill>
          </a:ln>
        </p:spPr>
        <p:txBody>
          <a:bodyPr wrap="square" lIns="0" tIns="0" rIns="0" bIns="0" rtlCol="0"/>
          <a:lstStyle/>
          <a:p>
            <a:endParaRPr/>
          </a:p>
        </p:txBody>
      </p:sp>
      <p:sp>
        <p:nvSpPr>
          <p:cNvPr id="17" name="object 17"/>
          <p:cNvSpPr/>
          <p:nvPr/>
        </p:nvSpPr>
        <p:spPr>
          <a:xfrm>
            <a:off x="1907311" y="2729242"/>
            <a:ext cx="123189" cy="123189"/>
          </a:xfrm>
          <a:custGeom>
            <a:avLst/>
            <a:gdLst/>
            <a:ahLst/>
            <a:cxnLst/>
            <a:rect l="l" t="t" r="r" b="b"/>
            <a:pathLst>
              <a:path w="123189" h="123189">
                <a:moveTo>
                  <a:pt x="122618" y="61315"/>
                </a:moveTo>
                <a:lnTo>
                  <a:pt x="109146" y="22968"/>
                </a:lnTo>
                <a:lnTo>
                  <a:pt x="75360" y="1619"/>
                </a:lnTo>
                <a:lnTo>
                  <a:pt x="61302" y="0"/>
                </a:lnTo>
                <a:lnTo>
                  <a:pt x="56511" y="184"/>
                </a:lnTo>
                <a:lnTo>
                  <a:pt x="19567" y="16404"/>
                </a:lnTo>
                <a:lnTo>
                  <a:pt x="728" y="51834"/>
                </a:lnTo>
                <a:lnTo>
                  <a:pt x="0" y="61315"/>
                </a:lnTo>
                <a:lnTo>
                  <a:pt x="184" y="66106"/>
                </a:lnTo>
                <a:lnTo>
                  <a:pt x="16398" y="103056"/>
                </a:lnTo>
                <a:lnTo>
                  <a:pt x="51821" y="121902"/>
                </a:lnTo>
                <a:lnTo>
                  <a:pt x="61302" y="122631"/>
                </a:lnTo>
                <a:lnTo>
                  <a:pt x="66093" y="122446"/>
                </a:lnTo>
                <a:lnTo>
                  <a:pt x="103043" y="106226"/>
                </a:lnTo>
                <a:lnTo>
                  <a:pt x="121889" y="70797"/>
                </a:lnTo>
                <a:lnTo>
                  <a:pt x="122618" y="61315"/>
                </a:lnTo>
                <a:close/>
              </a:path>
            </a:pathLst>
          </a:custGeom>
          <a:solidFill>
            <a:srgbClr val="86CEFF"/>
          </a:solidFill>
        </p:spPr>
        <p:txBody>
          <a:bodyPr wrap="square" lIns="0" tIns="0" rIns="0" bIns="0" rtlCol="0"/>
          <a:lstStyle/>
          <a:p>
            <a:endParaRPr/>
          </a:p>
        </p:txBody>
      </p:sp>
      <p:sp>
        <p:nvSpPr>
          <p:cNvPr id="18" name="object 18"/>
          <p:cNvSpPr/>
          <p:nvPr/>
        </p:nvSpPr>
        <p:spPr>
          <a:xfrm>
            <a:off x="1907311" y="2729242"/>
            <a:ext cx="123189" cy="123189"/>
          </a:xfrm>
          <a:custGeom>
            <a:avLst/>
            <a:gdLst/>
            <a:ahLst/>
            <a:cxnLst/>
            <a:rect l="l" t="t" r="r" b="b"/>
            <a:pathLst>
              <a:path w="123189" h="123189">
                <a:moveTo>
                  <a:pt x="122618" y="61315"/>
                </a:moveTo>
                <a:lnTo>
                  <a:pt x="109146" y="99663"/>
                </a:lnTo>
                <a:lnTo>
                  <a:pt x="75360" y="121011"/>
                </a:lnTo>
                <a:lnTo>
                  <a:pt x="61302" y="122631"/>
                </a:lnTo>
                <a:lnTo>
                  <a:pt x="56511" y="122446"/>
                </a:lnTo>
                <a:lnTo>
                  <a:pt x="19567" y="106226"/>
                </a:lnTo>
                <a:lnTo>
                  <a:pt x="728" y="70797"/>
                </a:lnTo>
                <a:lnTo>
                  <a:pt x="0" y="61315"/>
                </a:lnTo>
                <a:lnTo>
                  <a:pt x="184" y="56524"/>
                </a:lnTo>
                <a:lnTo>
                  <a:pt x="16398" y="19574"/>
                </a:lnTo>
                <a:lnTo>
                  <a:pt x="51821" y="728"/>
                </a:lnTo>
                <a:lnTo>
                  <a:pt x="61302" y="0"/>
                </a:lnTo>
                <a:lnTo>
                  <a:pt x="66093" y="184"/>
                </a:lnTo>
                <a:lnTo>
                  <a:pt x="103043" y="16404"/>
                </a:lnTo>
                <a:lnTo>
                  <a:pt x="121889" y="51834"/>
                </a:lnTo>
                <a:lnTo>
                  <a:pt x="122618" y="61315"/>
                </a:lnTo>
                <a:close/>
              </a:path>
            </a:pathLst>
          </a:custGeom>
          <a:ln w="4338">
            <a:solidFill>
              <a:srgbClr val="000000"/>
            </a:solidFill>
          </a:ln>
        </p:spPr>
        <p:txBody>
          <a:bodyPr wrap="square" lIns="0" tIns="0" rIns="0" bIns="0" rtlCol="0"/>
          <a:lstStyle/>
          <a:p>
            <a:endParaRPr/>
          </a:p>
        </p:txBody>
      </p:sp>
      <p:sp>
        <p:nvSpPr>
          <p:cNvPr id="19" name="object 19"/>
          <p:cNvSpPr/>
          <p:nvPr/>
        </p:nvSpPr>
        <p:spPr>
          <a:xfrm>
            <a:off x="2706103" y="2859392"/>
            <a:ext cx="123189" cy="123189"/>
          </a:xfrm>
          <a:custGeom>
            <a:avLst/>
            <a:gdLst/>
            <a:ahLst/>
            <a:cxnLst/>
            <a:rect l="l" t="t" r="r" b="b"/>
            <a:pathLst>
              <a:path w="123189" h="123189">
                <a:moveTo>
                  <a:pt x="122631" y="61315"/>
                </a:moveTo>
                <a:lnTo>
                  <a:pt x="109159" y="22968"/>
                </a:lnTo>
                <a:lnTo>
                  <a:pt x="75372" y="1619"/>
                </a:lnTo>
                <a:lnTo>
                  <a:pt x="61315" y="0"/>
                </a:lnTo>
                <a:lnTo>
                  <a:pt x="56524" y="184"/>
                </a:lnTo>
                <a:lnTo>
                  <a:pt x="19574" y="16404"/>
                </a:lnTo>
                <a:lnTo>
                  <a:pt x="728" y="51834"/>
                </a:lnTo>
                <a:lnTo>
                  <a:pt x="0" y="61315"/>
                </a:lnTo>
                <a:lnTo>
                  <a:pt x="184" y="66106"/>
                </a:lnTo>
                <a:lnTo>
                  <a:pt x="16404" y="103050"/>
                </a:lnTo>
                <a:lnTo>
                  <a:pt x="51834" y="121889"/>
                </a:lnTo>
                <a:lnTo>
                  <a:pt x="61315" y="122618"/>
                </a:lnTo>
                <a:lnTo>
                  <a:pt x="66106" y="122434"/>
                </a:lnTo>
                <a:lnTo>
                  <a:pt x="103056" y="106219"/>
                </a:lnTo>
                <a:lnTo>
                  <a:pt x="121902" y="70796"/>
                </a:lnTo>
                <a:lnTo>
                  <a:pt x="122631" y="61315"/>
                </a:lnTo>
                <a:close/>
              </a:path>
            </a:pathLst>
          </a:custGeom>
          <a:solidFill>
            <a:srgbClr val="86CEFF"/>
          </a:solidFill>
        </p:spPr>
        <p:txBody>
          <a:bodyPr wrap="square" lIns="0" tIns="0" rIns="0" bIns="0" rtlCol="0"/>
          <a:lstStyle/>
          <a:p>
            <a:endParaRPr/>
          </a:p>
        </p:txBody>
      </p:sp>
      <p:sp>
        <p:nvSpPr>
          <p:cNvPr id="20" name="object 20"/>
          <p:cNvSpPr/>
          <p:nvPr/>
        </p:nvSpPr>
        <p:spPr>
          <a:xfrm>
            <a:off x="2706103" y="2859392"/>
            <a:ext cx="123189" cy="123189"/>
          </a:xfrm>
          <a:custGeom>
            <a:avLst/>
            <a:gdLst/>
            <a:ahLst/>
            <a:cxnLst/>
            <a:rect l="l" t="t" r="r" b="b"/>
            <a:pathLst>
              <a:path w="123189" h="123189">
                <a:moveTo>
                  <a:pt x="122631" y="61315"/>
                </a:moveTo>
                <a:lnTo>
                  <a:pt x="109159" y="99658"/>
                </a:lnTo>
                <a:lnTo>
                  <a:pt x="75372" y="120999"/>
                </a:lnTo>
                <a:lnTo>
                  <a:pt x="61315" y="122618"/>
                </a:lnTo>
                <a:lnTo>
                  <a:pt x="56524" y="122434"/>
                </a:lnTo>
                <a:lnTo>
                  <a:pt x="19574" y="106219"/>
                </a:lnTo>
                <a:lnTo>
                  <a:pt x="728" y="70796"/>
                </a:lnTo>
                <a:lnTo>
                  <a:pt x="0" y="61315"/>
                </a:lnTo>
                <a:lnTo>
                  <a:pt x="184" y="56524"/>
                </a:lnTo>
                <a:lnTo>
                  <a:pt x="16404" y="19574"/>
                </a:lnTo>
                <a:lnTo>
                  <a:pt x="51834" y="728"/>
                </a:lnTo>
                <a:lnTo>
                  <a:pt x="61315" y="0"/>
                </a:lnTo>
                <a:lnTo>
                  <a:pt x="66106" y="184"/>
                </a:lnTo>
                <a:lnTo>
                  <a:pt x="103056" y="16404"/>
                </a:lnTo>
                <a:lnTo>
                  <a:pt x="121902" y="51834"/>
                </a:lnTo>
                <a:lnTo>
                  <a:pt x="122631" y="61315"/>
                </a:lnTo>
                <a:close/>
              </a:path>
            </a:pathLst>
          </a:custGeom>
          <a:ln w="4338">
            <a:solidFill>
              <a:srgbClr val="000000"/>
            </a:solidFill>
          </a:ln>
        </p:spPr>
        <p:txBody>
          <a:bodyPr wrap="square" lIns="0" tIns="0" rIns="0" bIns="0" rtlCol="0"/>
          <a:lstStyle/>
          <a:p>
            <a:endParaRPr/>
          </a:p>
        </p:txBody>
      </p:sp>
      <p:sp>
        <p:nvSpPr>
          <p:cNvPr id="21" name="object 21"/>
          <p:cNvSpPr/>
          <p:nvPr/>
        </p:nvSpPr>
        <p:spPr>
          <a:xfrm>
            <a:off x="2260142" y="3067050"/>
            <a:ext cx="123189" cy="123189"/>
          </a:xfrm>
          <a:custGeom>
            <a:avLst/>
            <a:gdLst/>
            <a:ahLst/>
            <a:cxnLst/>
            <a:rect l="l" t="t" r="r" b="b"/>
            <a:pathLst>
              <a:path w="123189" h="123189">
                <a:moveTo>
                  <a:pt x="122631" y="61302"/>
                </a:moveTo>
                <a:lnTo>
                  <a:pt x="109159" y="22960"/>
                </a:lnTo>
                <a:lnTo>
                  <a:pt x="75372" y="1618"/>
                </a:lnTo>
                <a:lnTo>
                  <a:pt x="61315" y="0"/>
                </a:lnTo>
                <a:lnTo>
                  <a:pt x="56524" y="184"/>
                </a:lnTo>
                <a:lnTo>
                  <a:pt x="19574" y="16398"/>
                </a:lnTo>
                <a:lnTo>
                  <a:pt x="728" y="51821"/>
                </a:lnTo>
                <a:lnTo>
                  <a:pt x="0" y="61302"/>
                </a:lnTo>
                <a:lnTo>
                  <a:pt x="184" y="66093"/>
                </a:lnTo>
                <a:lnTo>
                  <a:pt x="16404" y="103043"/>
                </a:lnTo>
                <a:lnTo>
                  <a:pt x="51834" y="121889"/>
                </a:lnTo>
                <a:lnTo>
                  <a:pt x="61315" y="122618"/>
                </a:lnTo>
                <a:lnTo>
                  <a:pt x="66106" y="122433"/>
                </a:lnTo>
                <a:lnTo>
                  <a:pt x="103056" y="106213"/>
                </a:lnTo>
                <a:lnTo>
                  <a:pt x="121902" y="70784"/>
                </a:lnTo>
                <a:lnTo>
                  <a:pt x="122631" y="61302"/>
                </a:lnTo>
                <a:close/>
              </a:path>
            </a:pathLst>
          </a:custGeom>
          <a:solidFill>
            <a:srgbClr val="86CEFF"/>
          </a:solidFill>
        </p:spPr>
        <p:txBody>
          <a:bodyPr wrap="square" lIns="0" tIns="0" rIns="0" bIns="0" rtlCol="0"/>
          <a:lstStyle/>
          <a:p>
            <a:endParaRPr/>
          </a:p>
        </p:txBody>
      </p:sp>
      <p:sp>
        <p:nvSpPr>
          <p:cNvPr id="22" name="object 22"/>
          <p:cNvSpPr/>
          <p:nvPr/>
        </p:nvSpPr>
        <p:spPr>
          <a:xfrm>
            <a:off x="2260142" y="3067050"/>
            <a:ext cx="123189" cy="123189"/>
          </a:xfrm>
          <a:custGeom>
            <a:avLst/>
            <a:gdLst/>
            <a:ahLst/>
            <a:cxnLst/>
            <a:rect l="l" t="t" r="r" b="b"/>
            <a:pathLst>
              <a:path w="123189" h="123189">
                <a:moveTo>
                  <a:pt x="122631" y="61302"/>
                </a:moveTo>
                <a:lnTo>
                  <a:pt x="109159" y="99650"/>
                </a:lnTo>
                <a:lnTo>
                  <a:pt x="75372" y="120998"/>
                </a:lnTo>
                <a:lnTo>
                  <a:pt x="61315" y="122618"/>
                </a:lnTo>
                <a:lnTo>
                  <a:pt x="56524" y="122433"/>
                </a:lnTo>
                <a:lnTo>
                  <a:pt x="19574" y="106213"/>
                </a:lnTo>
                <a:lnTo>
                  <a:pt x="728" y="70784"/>
                </a:lnTo>
                <a:lnTo>
                  <a:pt x="0" y="61302"/>
                </a:lnTo>
                <a:lnTo>
                  <a:pt x="184" y="56511"/>
                </a:lnTo>
                <a:lnTo>
                  <a:pt x="16404" y="19567"/>
                </a:lnTo>
                <a:lnTo>
                  <a:pt x="51834" y="728"/>
                </a:lnTo>
                <a:lnTo>
                  <a:pt x="61315" y="0"/>
                </a:lnTo>
                <a:lnTo>
                  <a:pt x="66106" y="184"/>
                </a:lnTo>
                <a:lnTo>
                  <a:pt x="103056" y="16398"/>
                </a:lnTo>
                <a:lnTo>
                  <a:pt x="121902" y="51821"/>
                </a:lnTo>
                <a:lnTo>
                  <a:pt x="122631" y="61302"/>
                </a:lnTo>
                <a:close/>
              </a:path>
            </a:pathLst>
          </a:custGeom>
          <a:ln w="4338">
            <a:solidFill>
              <a:srgbClr val="000000"/>
            </a:solidFill>
          </a:ln>
        </p:spPr>
        <p:txBody>
          <a:bodyPr wrap="square" lIns="0" tIns="0" rIns="0" bIns="0" rtlCol="0"/>
          <a:lstStyle/>
          <a:p>
            <a:endParaRPr/>
          </a:p>
        </p:txBody>
      </p:sp>
      <p:sp>
        <p:nvSpPr>
          <p:cNvPr id="23" name="object 23"/>
          <p:cNvSpPr/>
          <p:nvPr/>
        </p:nvSpPr>
        <p:spPr>
          <a:xfrm>
            <a:off x="1664944" y="3423348"/>
            <a:ext cx="123189" cy="123189"/>
          </a:xfrm>
          <a:custGeom>
            <a:avLst/>
            <a:gdLst/>
            <a:ahLst/>
            <a:cxnLst/>
            <a:rect l="l" t="t" r="r" b="b"/>
            <a:pathLst>
              <a:path w="123189" h="123189">
                <a:moveTo>
                  <a:pt x="122631" y="61315"/>
                </a:moveTo>
                <a:lnTo>
                  <a:pt x="109159" y="22968"/>
                </a:lnTo>
                <a:lnTo>
                  <a:pt x="75372" y="1619"/>
                </a:lnTo>
                <a:lnTo>
                  <a:pt x="61315" y="0"/>
                </a:lnTo>
                <a:lnTo>
                  <a:pt x="56524" y="184"/>
                </a:lnTo>
                <a:lnTo>
                  <a:pt x="19574" y="16404"/>
                </a:lnTo>
                <a:lnTo>
                  <a:pt x="728" y="51834"/>
                </a:lnTo>
                <a:lnTo>
                  <a:pt x="0" y="61315"/>
                </a:lnTo>
                <a:lnTo>
                  <a:pt x="184" y="66106"/>
                </a:lnTo>
                <a:lnTo>
                  <a:pt x="16404" y="103056"/>
                </a:lnTo>
                <a:lnTo>
                  <a:pt x="51834" y="121902"/>
                </a:lnTo>
                <a:lnTo>
                  <a:pt x="61315" y="122631"/>
                </a:lnTo>
                <a:lnTo>
                  <a:pt x="66106" y="122446"/>
                </a:lnTo>
                <a:lnTo>
                  <a:pt x="103056" y="106226"/>
                </a:lnTo>
                <a:lnTo>
                  <a:pt x="121902" y="70797"/>
                </a:lnTo>
                <a:lnTo>
                  <a:pt x="122631" y="61315"/>
                </a:lnTo>
                <a:close/>
              </a:path>
            </a:pathLst>
          </a:custGeom>
          <a:solidFill>
            <a:srgbClr val="86CEFF"/>
          </a:solidFill>
        </p:spPr>
        <p:txBody>
          <a:bodyPr wrap="square" lIns="0" tIns="0" rIns="0" bIns="0" rtlCol="0"/>
          <a:lstStyle/>
          <a:p>
            <a:endParaRPr/>
          </a:p>
        </p:txBody>
      </p:sp>
      <p:sp>
        <p:nvSpPr>
          <p:cNvPr id="24" name="object 24"/>
          <p:cNvSpPr/>
          <p:nvPr/>
        </p:nvSpPr>
        <p:spPr>
          <a:xfrm>
            <a:off x="1664944" y="3423348"/>
            <a:ext cx="123189" cy="123189"/>
          </a:xfrm>
          <a:custGeom>
            <a:avLst/>
            <a:gdLst/>
            <a:ahLst/>
            <a:cxnLst/>
            <a:rect l="l" t="t" r="r" b="b"/>
            <a:pathLst>
              <a:path w="123189" h="123189">
                <a:moveTo>
                  <a:pt x="122631" y="61315"/>
                </a:moveTo>
                <a:lnTo>
                  <a:pt x="109159" y="99663"/>
                </a:lnTo>
                <a:lnTo>
                  <a:pt x="75372" y="121011"/>
                </a:lnTo>
                <a:lnTo>
                  <a:pt x="61315" y="122631"/>
                </a:lnTo>
                <a:lnTo>
                  <a:pt x="56524" y="122446"/>
                </a:lnTo>
                <a:lnTo>
                  <a:pt x="19574" y="106226"/>
                </a:lnTo>
                <a:lnTo>
                  <a:pt x="728" y="70797"/>
                </a:lnTo>
                <a:lnTo>
                  <a:pt x="0" y="61315"/>
                </a:lnTo>
                <a:lnTo>
                  <a:pt x="184" y="56524"/>
                </a:lnTo>
                <a:lnTo>
                  <a:pt x="16404" y="19574"/>
                </a:lnTo>
                <a:lnTo>
                  <a:pt x="51834" y="728"/>
                </a:lnTo>
                <a:lnTo>
                  <a:pt x="61315" y="0"/>
                </a:lnTo>
                <a:lnTo>
                  <a:pt x="66106" y="184"/>
                </a:lnTo>
                <a:lnTo>
                  <a:pt x="103056" y="16404"/>
                </a:lnTo>
                <a:lnTo>
                  <a:pt x="121902" y="51834"/>
                </a:lnTo>
                <a:lnTo>
                  <a:pt x="122631" y="61315"/>
                </a:lnTo>
                <a:close/>
              </a:path>
            </a:pathLst>
          </a:custGeom>
          <a:ln w="4338">
            <a:solidFill>
              <a:srgbClr val="000000"/>
            </a:solidFill>
          </a:ln>
        </p:spPr>
        <p:txBody>
          <a:bodyPr wrap="square" lIns="0" tIns="0" rIns="0" bIns="0" rtlCol="0"/>
          <a:lstStyle/>
          <a:p>
            <a:endParaRPr/>
          </a:p>
        </p:txBody>
      </p:sp>
      <p:sp>
        <p:nvSpPr>
          <p:cNvPr id="25" name="object 25"/>
          <p:cNvSpPr/>
          <p:nvPr/>
        </p:nvSpPr>
        <p:spPr>
          <a:xfrm>
            <a:off x="1404658" y="2902775"/>
            <a:ext cx="123189" cy="123189"/>
          </a:xfrm>
          <a:custGeom>
            <a:avLst/>
            <a:gdLst/>
            <a:ahLst/>
            <a:cxnLst/>
            <a:rect l="l" t="t" r="r" b="b"/>
            <a:pathLst>
              <a:path w="123190" h="123189">
                <a:moveTo>
                  <a:pt x="122631" y="61315"/>
                </a:moveTo>
                <a:lnTo>
                  <a:pt x="109159" y="22968"/>
                </a:lnTo>
                <a:lnTo>
                  <a:pt x="75372" y="1619"/>
                </a:lnTo>
                <a:lnTo>
                  <a:pt x="61315" y="0"/>
                </a:lnTo>
                <a:lnTo>
                  <a:pt x="56524" y="184"/>
                </a:lnTo>
                <a:lnTo>
                  <a:pt x="19574" y="16404"/>
                </a:lnTo>
                <a:lnTo>
                  <a:pt x="728" y="51834"/>
                </a:lnTo>
                <a:lnTo>
                  <a:pt x="0" y="61315"/>
                </a:lnTo>
                <a:lnTo>
                  <a:pt x="184" y="66106"/>
                </a:lnTo>
                <a:lnTo>
                  <a:pt x="16404" y="103050"/>
                </a:lnTo>
                <a:lnTo>
                  <a:pt x="51834" y="121889"/>
                </a:lnTo>
                <a:lnTo>
                  <a:pt x="61315" y="122618"/>
                </a:lnTo>
                <a:lnTo>
                  <a:pt x="66106" y="122434"/>
                </a:lnTo>
                <a:lnTo>
                  <a:pt x="103056" y="106219"/>
                </a:lnTo>
                <a:lnTo>
                  <a:pt x="121902" y="70796"/>
                </a:lnTo>
                <a:lnTo>
                  <a:pt x="122631" y="61315"/>
                </a:lnTo>
                <a:close/>
              </a:path>
            </a:pathLst>
          </a:custGeom>
          <a:solidFill>
            <a:srgbClr val="86CEFF"/>
          </a:solidFill>
        </p:spPr>
        <p:txBody>
          <a:bodyPr wrap="square" lIns="0" tIns="0" rIns="0" bIns="0" rtlCol="0"/>
          <a:lstStyle/>
          <a:p>
            <a:endParaRPr/>
          </a:p>
        </p:txBody>
      </p:sp>
      <p:sp>
        <p:nvSpPr>
          <p:cNvPr id="26" name="object 26"/>
          <p:cNvSpPr/>
          <p:nvPr/>
        </p:nvSpPr>
        <p:spPr>
          <a:xfrm>
            <a:off x="1404658" y="2902775"/>
            <a:ext cx="123189" cy="123189"/>
          </a:xfrm>
          <a:custGeom>
            <a:avLst/>
            <a:gdLst/>
            <a:ahLst/>
            <a:cxnLst/>
            <a:rect l="l" t="t" r="r" b="b"/>
            <a:pathLst>
              <a:path w="123190" h="123189">
                <a:moveTo>
                  <a:pt x="122631" y="61315"/>
                </a:moveTo>
                <a:lnTo>
                  <a:pt x="109159" y="99658"/>
                </a:lnTo>
                <a:lnTo>
                  <a:pt x="75372" y="120999"/>
                </a:lnTo>
                <a:lnTo>
                  <a:pt x="61315" y="122618"/>
                </a:lnTo>
                <a:lnTo>
                  <a:pt x="56524" y="122434"/>
                </a:lnTo>
                <a:lnTo>
                  <a:pt x="19574" y="106219"/>
                </a:lnTo>
                <a:lnTo>
                  <a:pt x="728" y="70796"/>
                </a:lnTo>
                <a:lnTo>
                  <a:pt x="0" y="61315"/>
                </a:lnTo>
                <a:lnTo>
                  <a:pt x="184" y="56524"/>
                </a:lnTo>
                <a:lnTo>
                  <a:pt x="16404" y="19574"/>
                </a:lnTo>
                <a:lnTo>
                  <a:pt x="51834" y="728"/>
                </a:lnTo>
                <a:lnTo>
                  <a:pt x="61315" y="0"/>
                </a:lnTo>
                <a:lnTo>
                  <a:pt x="66106" y="184"/>
                </a:lnTo>
                <a:lnTo>
                  <a:pt x="103056" y="16404"/>
                </a:lnTo>
                <a:lnTo>
                  <a:pt x="121902" y="51834"/>
                </a:lnTo>
                <a:lnTo>
                  <a:pt x="122631" y="61315"/>
                </a:lnTo>
                <a:close/>
              </a:path>
            </a:pathLst>
          </a:custGeom>
          <a:ln w="4338">
            <a:solidFill>
              <a:srgbClr val="000000"/>
            </a:solidFill>
          </a:ln>
        </p:spPr>
        <p:txBody>
          <a:bodyPr wrap="square" lIns="0" tIns="0" rIns="0" bIns="0" rtlCol="0"/>
          <a:lstStyle/>
          <a:p>
            <a:endParaRPr/>
          </a:p>
        </p:txBody>
      </p:sp>
      <p:sp>
        <p:nvSpPr>
          <p:cNvPr id="27" name="object 27"/>
          <p:cNvSpPr/>
          <p:nvPr/>
        </p:nvSpPr>
        <p:spPr>
          <a:xfrm>
            <a:off x="970840" y="4681423"/>
            <a:ext cx="123189" cy="123189"/>
          </a:xfrm>
          <a:custGeom>
            <a:avLst/>
            <a:gdLst/>
            <a:ahLst/>
            <a:cxnLst/>
            <a:rect l="l" t="t" r="r" b="b"/>
            <a:pathLst>
              <a:path w="123190" h="123189">
                <a:moveTo>
                  <a:pt x="122624" y="61302"/>
                </a:moveTo>
                <a:lnTo>
                  <a:pt x="109154" y="22960"/>
                </a:lnTo>
                <a:lnTo>
                  <a:pt x="75370" y="1618"/>
                </a:lnTo>
                <a:lnTo>
                  <a:pt x="61313" y="0"/>
                </a:lnTo>
                <a:lnTo>
                  <a:pt x="56522" y="184"/>
                </a:lnTo>
                <a:lnTo>
                  <a:pt x="19573" y="16398"/>
                </a:lnTo>
                <a:lnTo>
                  <a:pt x="728" y="51821"/>
                </a:lnTo>
                <a:lnTo>
                  <a:pt x="0" y="61302"/>
                </a:lnTo>
                <a:lnTo>
                  <a:pt x="184" y="66093"/>
                </a:lnTo>
                <a:lnTo>
                  <a:pt x="16403" y="103043"/>
                </a:lnTo>
                <a:lnTo>
                  <a:pt x="51831" y="121889"/>
                </a:lnTo>
                <a:lnTo>
                  <a:pt x="61313" y="122618"/>
                </a:lnTo>
                <a:lnTo>
                  <a:pt x="66104" y="122433"/>
                </a:lnTo>
                <a:lnTo>
                  <a:pt x="103052" y="106213"/>
                </a:lnTo>
                <a:lnTo>
                  <a:pt x="121895" y="70784"/>
                </a:lnTo>
                <a:lnTo>
                  <a:pt x="122624" y="61302"/>
                </a:lnTo>
                <a:close/>
              </a:path>
            </a:pathLst>
          </a:custGeom>
          <a:solidFill>
            <a:srgbClr val="86CEFF"/>
          </a:solidFill>
        </p:spPr>
        <p:txBody>
          <a:bodyPr wrap="square" lIns="0" tIns="0" rIns="0" bIns="0" rtlCol="0"/>
          <a:lstStyle/>
          <a:p>
            <a:endParaRPr/>
          </a:p>
        </p:txBody>
      </p:sp>
      <p:sp>
        <p:nvSpPr>
          <p:cNvPr id="28" name="object 28"/>
          <p:cNvSpPr/>
          <p:nvPr/>
        </p:nvSpPr>
        <p:spPr>
          <a:xfrm>
            <a:off x="970840" y="4681423"/>
            <a:ext cx="123189" cy="123189"/>
          </a:xfrm>
          <a:custGeom>
            <a:avLst/>
            <a:gdLst/>
            <a:ahLst/>
            <a:cxnLst/>
            <a:rect l="l" t="t" r="r" b="b"/>
            <a:pathLst>
              <a:path w="123190" h="123189">
                <a:moveTo>
                  <a:pt x="122624" y="61302"/>
                </a:moveTo>
                <a:lnTo>
                  <a:pt x="109154" y="99650"/>
                </a:lnTo>
                <a:lnTo>
                  <a:pt x="75370" y="120998"/>
                </a:lnTo>
                <a:lnTo>
                  <a:pt x="61313" y="122618"/>
                </a:lnTo>
                <a:lnTo>
                  <a:pt x="56522" y="122433"/>
                </a:lnTo>
                <a:lnTo>
                  <a:pt x="19573" y="106213"/>
                </a:lnTo>
                <a:lnTo>
                  <a:pt x="728" y="70784"/>
                </a:lnTo>
                <a:lnTo>
                  <a:pt x="0" y="61302"/>
                </a:lnTo>
                <a:lnTo>
                  <a:pt x="184" y="56511"/>
                </a:lnTo>
                <a:lnTo>
                  <a:pt x="16403" y="19567"/>
                </a:lnTo>
                <a:lnTo>
                  <a:pt x="51831" y="728"/>
                </a:lnTo>
                <a:lnTo>
                  <a:pt x="61313" y="0"/>
                </a:lnTo>
                <a:lnTo>
                  <a:pt x="66104" y="184"/>
                </a:lnTo>
                <a:lnTo>
                  <a:pt x="103052" y="16398"/>
                </a:lnTo>
                <a:lnTo>
                  <a:pt x="121895" y="51821"/>
                </a:lnTo>
                <a:lnTo>
                  <a:pt x="122624" y="61302"/>
                </a:lnTo>
                <a:close/>
              </a:path>
            </a:pathLst>
          </a:custGeom>
          <a:ln w="4338">
            <a:solidFill>
              <a:srgbClr val="000000"/>
            </a:solidFill>
          </a:ln>
        </p:spPr>
        <p:txBody>
          <a:bodyPr wrap="square" lIns="0" tIns="0" rIns="0" bIns="0" rtlCol="0"/>
          <a:lstStyle/>
          <a:p>
            <a:endParaRPr/>
          </a:p>
        </p:txBody>
      </p:sp>
      <p:sp>
        <p:nvSpPr>
          <p:cNvPr id="29" name="object 29"/>
          <p:cNvSpPr/>
          <p:nvPr/>
        </p:nvSpPr>
        <p:spPr>
          <a:xfrm>
            <a:off x="4441368" y="4663490"/>
            <a:ext cx="123189" cy="123189"/>
          </a:xfrm>
          <a:custGeom>
            <a:avLst/>
            <a:gdLst/>
            <a:ahLst/>
            <a:cxnLst/>
            <a:rect l="l" t="t" r="r" b="b"/>
            <a:pathLst>
              <a:path w="123189" h="123189">
                <a:moveTo>
                  <a:pt x="122631" y="61315"/>
                </a:moveTo>
                <a:lnTo>
                  <a:pt x="109159" y="22968"/>
                </a:lnTo>
                <a:lnTo>
                  <a:pt x="75372" y="1619"/>
                </a:lnTo>
                <a:lnTo>
                  <a:pt x="61315" y="0"/>
                </a:lnTo>
                <a:lnTo>
                  <a:pt x="56524" y="184"/>
                </a:lnTo>
                <a:lnTo>
                  <a:pt x="19574" y="16404"/>
                </a:lnTo>
                <a:lnTo>
                  <a:pt x="728" y="51834"/>
                </a:lnTo>
                <a:lnTo>
                  <a:pt x="0" y="61315"/>
                </a:lnTo>
                <a:lnTo>
                  <a:pt x="184" y="66106"/>
                </a:lnTo>
                <a:lnTo>
                  <a:pt x="16404" y="103050"/>
                </a:lnTo>
                <a:lnTo>
                  <a:pt x="51834" y="121889"/>
                </a:lnTo>
                <a:lnTo>
                  <a:pt x="61315" y="122618"/>
                </a:lnTo>
                <a:lnTo>
                  <a:pt x="66106" y="122434"/>
                </a:lnTo>
                <a:lnTo>
                  <a:pt x="103056" y="106219"/>
                </a:lnTo>
                <a:lnTo>
                  <a:pt x="121902" y="70796"/>
                </a:lnTo>
                <a:lnTo>
                  <a:pt x="122631" y="61315"/>
                </a:lnTo>
                <a:close/>
              </a:path>
            </a:pathLst>
          </a:custGeom>
          <a:solidFill>
            <a:srgbClr val="86CEFF"/>
          </a:solidFill>
        </p:spPr>
        <p:txBody>
          <a:bodyPr wrap="square" lIns="0" tIns="0" rIns="0" bIns="0" rtlCol="0"/>
          <a:lstStyle/>
          <a:p>
            <a:endParaRPr/>
          </a:p>
        </p:txBody>
      </p:sp>
      <p:sp>
        <p:nvSpPr>
          <p:cNvPr id="30" name="object 30"/>
          <p:cNvSpPr/>
          <p:nvPr/>
        </p:nvSpPr>
        <p:spPr>
          <a:xfrm>
            <a:off x="4441368" y="4663490"/>
            <a:ext cx="123189" cy="123189"/>
          </a:xfrm>
          <a:custGeom>
            <a:avLst/>
            <a:gdLst/>
            <a:ahLst/>
            <a:cxnLst/>
            <a:rect l="l" t="t" r="r" b="b"/>
            <a:pathLst>
              <a:path w="123189" h="123189">
                <a:moveTo>
                  <a:pt x="122631" y="61315"/>
                </a:moveTo>
                <a:lnTo>
                  <a:pt x="109159" y="99658"/>
                </a:lnTo>
                <a:lnTo>
                  <a:pt x="75372" y="120999"/>
                </a:lnTo>
                <a:lnTo>
                  <a:pt x="61315" y="122618"/>
                </a:lnTo>
                <a:lnTo>
                  <a:pt x="56524" y="122434"/>
                </a:lnTo>
                <a:lnTo>
                  <a:pt x="19574" y="106219"/>
                </a:lnTo>
                <a:lnTo>
                  <a:pt x="728" y="70796"/>
                </a:lnTo>
                <a:lnTo>
                  <a:pt x="0" y="61315"/>
                </a:lnTo>
                <a:lnTo>
                  <a:pt x="184" y="56524"/>
                </a:lnTo>
                <a:lnTo>
                  <a:pt x="16404" y="19574"/>
                </a:lnTo>
                <a:lnTo>
                  <a:pt x="51834" y="728"/>
                </a:lnTo>
                <a:lnTo>
                  <a:pt x="61315" y="0"/>
                </a:lnTo>
                <a:lnTo>
                  <a:pt x="66106" y="184"/>
                </a:lnTo>
                <a:lnTo>
                  <a:pt x="103056" y="16404"/>
                </a:lnTo>
                <a:lnTo>
                  <a:pt x="121902" y="51834"/>
                </a:lnTo>
                <a:lnTo>
                  <a:pt x="122631" y="61315"/>
                </a:lnTo>
                <a:close/>
              </a:path>
            </a:pathLst>
          </a:custGeom>
          <a:ln w="4338">
            <a:solidFill>
              <a:srgbClr val="000000"/>
            </a:solidFill>
          </a:ln>
        </p:spPr>
        <p:txBody>
          <a:bodyPr wrap="square" lIns="0" tIns="0" rIns="0" bIns="0" rtlCol="0"/>
          <a:lstStyle/>
          <a:p>
            <a:endParaRPr/>
          </a:p>
        </p:txBody>
      </p:sp>
      <p:sp>
        <p:nvSpPr>
          <p:cNvPr id="31" name="object 31"/>
          <p:cNvSpPr/>
          <p:nvPr/>
        </p:nvSpPr>
        <p:spPr>
          <a:xfrm>
            <a:off x="4242396" y="1185435"/>
            <a:ext cx="0" cy="5206365"/>
          </a:xfrm>
          <a:custGeom>
            <a:avLst/>
            <a:gdLst/>
            <a:ahLst/>
            <a:cxnLst/>
            <a:rect l="l" t="t" r="r" b="b"/>
            <a:pathLst>
              <a:path h="5206365">
                <a:moveTo>
                  <a:pt x="0" y="0"/>
                </a:moveTo>
                <a:lnTo>
                  <a:pt x="0" y="5205801"/>
                </a:lnTo>
              </a:path>
            </a:pathLst>
          </a:custGeom>
          <a:ln w="17352">
            <a:solidFill>
              <a:srgbClr val="000000"/>
            </a:solidFill>
          </a:ln>
        </p:spPr>
        <p:txBody>
          <a:bodyPr wrap="square" lIns="0" tIns="0" rIns="0" bIns="0" rtlCol="0"/>
          <a:lstStyle/>
          <a:p>
            <a:endParaRPr/>
          </a:p>
        </p:txBody>
      </p:sp>
      <p:sp>
        <p:nvSpPr>
          <p:cNvPr id="32" name="object 32"/>
          <p:cNvSpPr/>
          <p:nvPr/>
        </p:nvSpPr>
        <p:spPr>
          <a:xfrm>
            <a:off x="902007" y="1922919"/>
            <a:ext cx="2516505" cy="1952625"/>
          </a:xfrm>
          <a:custGeom>
            <a:avLst/>
            <a:gdLst/>
            <a:ahLst/>
            <a:cxnLst/>
            <a:rect l="l" t="t" r="r" b="b"/>
            <a:pathLst>
              <a:path w="2516504" h="1952625">
                <a:moveTo>
                  <a:pt x="1518358" y="43383"/>
                </a:moveTo>
                <a:lnTo>
                  <a:pt x="2169081" y="563968"/>
                </a:lnTo>
                <a:lnTo>
                  <a:pt x="2038944" y="1041171"/>
                </a:lnTo>
                <a:lnTo>
                  <a:pt x="2516134" y="1605127"/>
                </a:lnTo>
                <a:lnTo>
                  <a:pt x="1952177" y="1952180"/>
                </a:lnTo>
                <a:lnTo>
                  <a:pt x="1474975" y="1474978"/>
                </a:lnTo>
                <a:lnTo>
                  <a:pt x="780869" y="1865414"/>
                </a:lnTo>
                <a:lnTo>
                  <a:pt x="0" y="520585"/>
                </a:lnTo>
                <a:lnTo>
                  <a:pt x="390433" y="0"/>
                </a:lnTo>
                <a:lnTo>
                  <a:pt x="911019" y="477202"/>
                </a:lnTo>
                <a:lnTo>
                  <a:pt x="1171305" y="43383"/>
                </a:lnTo>
                <a:lnTo>
                  <a:pt x="1518358" y="43383"/>
                </a:lnTo>
                <a:close/>
              </a:path>
            </a:pathLst>
          </a:custGeom>
          <a:ln w="4338">
            <a:solidFill>
              <a:srgbClr val="000000"/>
            </a:solidFill>
          </a:ln>
        </p:spPr>
        <p:txBody>
          <a:bodyPr wrap="square" lIns="0" tIns="0" rIns="0" bIns="0" rtlCol="0"/>
          <a:lstStyle/>
          <a:p>
            <a:endParaRPr/>
          </a:p>
        </p:txBody>
      </p:sp>
      <p:sp>
        <p:nvSpPr>
          <p:cNvPr id="33" name="object 33"/>
          <p:cNvSpPr/>
          <p:nvPr/>
        </p:nvSpPr>
        <p:spPr>
          <a:xfrm>
            <a:off x="2550515" y="1966302"/>
            <a:ext cx="3731260" cy="390525"/>
          </a:xfrm>
          <a:custGeom>
            <a:avLst/>
            <a:gdLst/>
            <a:ahLst/>
            <a:cxnLst/>
            <a:rect l="l" t="t" r="r" b="b"/>
            <a:pathLst>
              <a:path w="3731260" h="390525">
                <a:moveTo>
                  <a:pt x="3730815" y="390436"/>
                </a:moveTo>
                <a:lnTo>
                  <a:pt x="0" y="0"/>
                </a:lnTo>
              </a:path>
            </a:pathLst>
          </a:custGeom>
          <a:ln w="8676">
            <a:solidFill>
              <a:srgbClr val="000000"/>
            </a:solidFill>
            <a:prstDash val="lgDash"/>
          </a:ln>
        </p:spPr>
        <p:txBody>
          <a:bodyPr wrap="square" lIns="0" tIns="0" rIns="0" bIns="0" rtlCol="0"/>
          <a:lstStyle/>
          <a:p>
            <a:endParaRPr/>
          </a:p>
        </p:txBody>
      </p:sp>
      <p:sp>
        <p:nvSpPr>
          <p:cNvPr id="34" name="object 34"/>
          <p:cNvSpPr/>
          <p:nvPr/>
        </p:nvSpPr>
        <p:spPr>
          <a:xfrm>
            <a:off x="2854185" y="3831716"/>
            <a:ext cx="3470910" cy="86995"/>
          </a:xfrm>
          <a:custGeom>
            <a:avLst/>
            <a:gdLst/>
            <a:ahLst/>
            <a:cxnLst/>
            <a:rect l="l" t="t" r="r" b="b"/>
            <a:pathLst>
              <a:path w="3470910" h="86995">
                <a:moveTo>
                  <a:pt x="3470529" y="0"/>
                </a:moveTo>
                <a:lnTo>
                  <a:pt x="0" y="86766"/>
                </a:lnTo>
              </a:path>
            </a:pathLst>
          </a:custGeom>
          <a:ln w="8676">
            <a:solidFill>
              <a:srgbClr val="000000"/>
            </a:solidFill>
            <a:prstDash val="lgDash"/>
          </a:ln>
        </p:spPr>
        <p:txBody>
          <a:bodyPr wrap="square" lIns="0" tIns="0" rIns="0" bIns="0" rtlCol="0"/>
          <a:lstStyle/>
          <a:p>
            <a:endParaRPr/>
          </a:p>
        </p:txBody>
      </p:sp>
      <p:sp>
        <p:nvSpPr>
          <p:cNvPr id="35" name="object 35"/>
          <p:cNvSpPr txBox="1"/>
          <p:nvPr/>
        </p:nvSpPr>
        <p:spPr>
          <a:xfrm>
            <a:off x="816794" y="1016063"/>
            <a:ext cx="2686685" cy="423545"/>
          </a:xfrm>
          <a:prstGeom prst="rect">
            <a:avLst/>
          </a:prstGeom>
        </p:spPr>
        <p:txBody>
          <a:bodyPr vert="horz" wrap="square" lIns="0" tIns="0" rIns="0" bIns="0" rtlCol="0">
            <a:spAutoFit/>
          </a:bodyPr>
          <a:lstStyle/>
          <a:p>
            <a:pPr marL="12700">
              <a:lnSpc>
                <a:spcPct val="100000"/>
              </a:lnSpc>
            </a:pPr>
            <a:r>
              <a:rPr sz="2700" spc="10" dirty="0">
                <a:latin typeface="Times New Roman"/>
                <a:cs typeface="Times New Roman"/>
              </a:rPr>
              <a:t>Testing/Simulation</a:t>
            </a:r>
            <a:endParaRPr sz="2700">
              <a:latin typeface="Times New Roman"/>
              <a:cs typeface="Times New Roman"/>
            </a:endParaRPr>
          </a:p>
        </p:txBody>
      </p:sp>
      <p:sp>
        <p:nvSpPr>
          <p:cNvPr id="36" name="object 36"/>
          <p:cNvSpPr txBox="1"/>
          <p:nvPr/>
        </p:nvSpPr>
        <p:spPr>
          <a:xfrm>
            <a:off x="5159987" y="1016063"/>
            <a:ext cx="2329815" cy="423545"/>
          </a:xfrm>
          <a:prstGeom prst="rect">
            <a:avLst/>
          </a:prstGeom>
        </p:spPr>
        <p:txBody>
          <a:bodyPr vert="horz" wrap="square" lIns="0" tIns="0" rIns="0" bIns="0" rtlCol="0">
            <a:spAutoFit/>
          </a:bodyPr>
          <a:lstStyle/>
          <a:p>
            <a:pPr marL="12700">
              <a:lnSpc>
                <a:spcPct val="100000"/>
              </a:lnSpc>
            </a:pPr>
            <a:r>
              <a:rPr sz="2700" spc="15" dirty="0">
                <a:latin typeface="Times New Roman"/>
                <a:cs typeface="Times New Roman"/>
              </a:rPr>
              <a:t>Formal</a:t>
            </a:r>
            <a:r>
              <a:rPr sz="2700" spc="-60" dirty="0">
                <a:latin typeface="Times New Roman"/>
                <a:cs typeface="Times New Roman"/>
              </a:rPr>
              <a:t> </a:t>
            </a:r>
            <a:r>
              <a:rPr sz="2700" spc="10" dirty="0">
                <a:latin typeface="Times New Roman"/>
                <a:cs typeface="Times New Roman"/>
              </a:rPr>
              <a:t>Analysis</a:t>
            </a:r>
            <a:endParaRPr sz="2700">
              <a:latin typeface="Times New Roman"/>
              <a:cs typeface="Times New Roman"/>
            </a:endParaRPr>
          </a:p>
        </p:txBody>
      </p:sp>
      <p:sp>
        <p:nvSpPr>
          <p:cNvPr id="37" name="object 37"/>
          <p:cNvSpPr txBox="1"/>
          <p:nvPr/>
        </p:nvSpPr>
        <p:spPr>
          <a:xfrm>
            <a:off x="845934" y="3850657"/>
            <a:ext cx="2480310" cy="1052830"/>
          </a:xfrm>
          <a:prstGeom prst="rect">
            <a:avLst/>
          </a:prstGeom>
        </p:spPr>
        <p:txBody>
          <a:bodyPr vert="horz" wrap="square" lIns="0" tIns="0" rIns="0" bIns="0" rtlCol="0">
            <a:spAutoFit/>
          </a:bodyPr>
          <a:lstStyle/>
          <a:p>
            <a:pPr marL="446405" marR="5080" indent="-434340">
              <a:lnSpc>
                <a:spcPct val="139400"/>
              </a:lnSpc>
            </a:pPr>
            <a:r>
              <a:rPr sz="2450" dirty="0">
                <a:latin typeface="Times New Roman"/>
                <a:cs typeface="Times New Roman"/>
              </a:rPr>
              <a:t>Real System  </a:t>
            </a:r>
            <a:r>
              <a:rPr sz="2450" dirty="0">
                <a:solidFill>
                  <a:srgbClr val="FF0000"/>
                </a:solidFill>
                <a:latin typeface="Times New Roman"/>
                <a:cs typeface="Times New Roman"/>
              </a:rPr>
              <a:t>Partial</a:t>
            </a:r>
            <a:r>
              <a:rPr sz="2450" spc="-40" dirty="0">
                <a:solidFill>
                  <a:srgbClr val="FF0000"/>
                </a:solidFill>
                <a:latin typeface="Times New Roman"/>
                <a:cs typeface="Times New Roman"/>
              </a:rPr>
              <a:t> </a:t>
            </a:r>
            <a:r>
              <a:rPr sz="2450" dirty="0">
                <a:solidFill>
                  <a:srgbClr val="FF0000"/>
                </a:solidFill>
                <a:latin typeface="Times New Roman"/>
                <a:cs typeface="Times New Roman"/>
              </a:rPr>
              <a:t>coverage</a:t>
            </a:r>
            <a:endParaRPr sz="2450">
              <a:latin typeface="Times New Roman"/>
              <a:cs typeface="Times New Roman"/>
            </a:endParaRPr>
          </a:p>
        </p:txBody>
      </p:sp>
      <p:sp>
        <p:nvSpPr>
          <p:cNvPr id="38" name="object 38"/>
          <p:cNvSpPr txBox="1"/>
          <p:nvPr/>
        </p:nvSpPr>
        <p:spPr>
          <a:xfrm>
            <a:off x="4750282" y="3850657"/>
            <a:ext cx="4485005" cy="1400175"/>
          </a:xfrm>
          <a:prstGeom prst="rect">
            <a:avLst/>
          </a:prstGeom>
        </p:spPr>
        <p:txBody>
          <a:bodyPr vert="horz" wrap="square" lIns="0" tIns="0" rIns="0" bIns="0" rtlCol="0">
            <a:spAutoFit/>
          </a:bodyPr>
          <a:lstStyle/>
          <a:p>
            <a:pPr marL="12700" marR="932815" indent="1734820">
              <a:lnSpc>
                <a:spcPct val="139400"/>
              </a:lnSpc>
            </a:pPr>
            <a:r>
              <a:rPr sz="2450" dirty="0">
                <a:latin typeface="Times New Roman"/>
                <a:cs typeface="Times New Roman"/>
              </a:rPr>
              <a:t>Formal</a:t>
            </a:r>
            <a:r>
              <a:rPr sz="2450" spc="-70" dirty="0">
                <a:latin typeface="Times New Roman"/>
                <a:cs typeface="Times New Roman"/>
              </a:rPr>
              <a:t> </a:t>
            </a:r>
            <a:r>
              <a:rPr sz="2450" spc="5" dirty="0">
                <a:latin typeface="Times New Roman"/>
                <a:cs typeface="Times New Roman"/>
              </a:rPr>
              <a:t>Model  </a:t>
            </a:r>
            <a:r>
              <a:rPr sz="2450" dirty="0">
                <a:solidFill>
                  <a:srgbClr val="FF0000"/>
                </a:solidFill>
                <a:latin typeface="Times New Roman"/>
                <a:cs typeface="Times New Roman"/>
              </a:rPr>
              <a:t>Complete</a:t>
            </a:r>
            <a:r>
              <a:rPr sz="2450" spc="-30" dirty="0">
                <a:solidFill>
                  <a:srgbClr val="FF0000"/>
                </a:solidFill>
                <a:latin typeface="Times New Roman"/>
                <a:cs typeface="Times New Roman"/>
              </a:rPr>
              <a:t> </a:t>
            </a:r>
            <a:r>
              <a:rPr sz="2450" dirty="0">
                <a:solidFill>
                  <a:srgbClr val="FF0000"/>
                </a:solidFill>
                <a:latin typeface="Times New Roman"/>
                <a:cs typeface="Times New Roman"/>
              </a:rPr>
              <a:t>coverage</a:t>
            </a:r>
            <a:endParaRPr sz="2450">
              <a:latin typeface="Times New Roman"/>
              <a:cs typeface="Times New Roman"/>
            </a:endParaRPr>
          </a:p>
          <a:p>
            <a:pPr marL="1443990">
              <a:lnSpc>
                <a:spcPts val="2735"/>
              </a:lnSpc>
            </a:pPr>
            <a:r>
              <a:rPr sz="2450" dirty="0">
                <a:latin typeface="Times New Roman"/>
                <a:cs typeface="Times New Roman"/>
              </a:rPr>
              <a:t>(of the modeled</a:t>
            </a:r>
            <a:r>
              <a:rPr sz="2450" spc="-15" dirty="0">
                <a:latin typeface="Times New Roman"/>
                <a:cs typeface="Times New Roman"/>
              </a:rPr>
              <a:t> </a:t>
            </a:r>
            <a:r>
              <a:rPr sz="2450" dirty="0">
                <a:latin typeface="Times New Roman"/>
                <a:cs typeface="Times New Roman"/>
              </a:rPr>
              <a:t>system)</a:t>
            </a:r>
            <a:endParaRPr sz="2450">
              <a:latin typeface="Times New Roman"/>
              <a:cs typeface="Times New Roman"/>
            </a:endParaRPr>
          </a:p>
        </p:txBody>
      </p:sp>
      <p:sp>
        <p:nvSpPr>
          <p:cNvPr id="39" name="object 39"/>
          <p:cNvSpPr txBox="1"/>
          <p:nvPr/>
        </p:nvSpPr>
        <p:spPr>
          <a:xfrm>
            <a:off x="4706886" y="5238927"/>
            <a:ext cx="2620010" cy="1139825"/>
          </a:xfrm>
          <a:prstGeom prst="rect">
            <a:avLst/>
          </a:prstGeom>
        </p:spPr>
        <p:txBody>
          <a:bodyPr vert="horz" wrap="square" lIns="0" tIns="0" rIns="0" bIns="0" rtlCol="0">
            <a:spAutoFit/>
          </a:bodyPr>
          <a:lstStyle/>
          <a:p>
            <a:pPr marL="12700" marR="5080">
              <a:lnSpc>
                <a:spcPct val="151000"/>
              </a:lnSpc>
            </a:pPr>
            <a:r>
              <a:rPr sz="2450" dirty="0">
                <a:latin typeface="Times New Roman"/>
                <a:cs typeface="Times New Roman"/>
              </a:rPr>
              <a:t>Accurate model:  Approximate</a:t>
            </a:r>
            <a:r>
              <a:rPr sz="2450" spc="-25" dirty="0">
                <a:latin typeface="Times New Roman"/>
                <a:cs typeface="Times New Roman"/>
              </a:rPr>
              <a:t> </a:t>
            </a:r>
            <a:r>
              <a:rPr sz="2450" dirty="0">
                <a:latin typeface="Times New Roman"/>
                <a:cs typeface="Times New Roman"/>
              </a:rPr>
              <a:t>model:</a:t>
            </a:r>
            <a:endParaRPr sz="2450">
              <a:latin typeface="Times New Roman"/>
              <a:cs typeface="Times New Roman"/>
            </a:endParaRPr>
          </a:p>
        </p:txBody>
      </p:sp>
      <p:sp>
        <p:nvSpPr>
          <p:cNvPr id="40" name="object 40"/>
          <p:cNvSpPr txBox="1"/>
          <p:nvPr/>
        </p:nvSpPr>
        <p:spPr>
          <a:xfrm>
            <a:off x="7439939" y="5238940"/>
            <a:ext cx="1518285" cy="1139825"/>
          </a:xfrm>
          <a:prstGeom prst="rect">
            <a:avLst/>
          </a:prstGeom>
        </p:spPr>
        <p:txBody>
          <a:bodyPr vert="horz" wrap="square" lIns="0" tIns="0" rIns="0" bIns="0" rtlCol="0">
            <a:spAutoFit/>
          </a:bodyPr>
          <a:lstStyle/>
          <a:p>
            <a:pPr marL="186055" marR="5080" indent="-173990">
              <a:lnSpc>
                <a:spcPct val="151000"/>
              </a:lnSpc>
            </a:pPr>
            <a:r>
              <a:rPr sz="2450" dirty="0">
                <a:solidFill>
                  <a:srgbClr val="0000FF"/>
                </a:solidFill>
                <a:latin typeface="Times New Roman"/>
                <a:cs typeface="Times New Roman"/>
              </a:rPr>
              <a:t>verification  debugging</a:t>
            </a:r>
            <a:endParaRPr sz="245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39" y="475981"/>
            <a:ext cx="7945755" cy="5864225"/>
          </a:xfrm>
          <a:prstGeom prst="rect">
            <a:avLst/>
          </a:prstGeom>
        </p:spPr>
        <p:txBody>
          <a:bodyPr vert="horz" wrap="square" lIns="0" tIns="0" rIns="0" bIns="0" rtlCol="0">
            <a:spAutoFit/>
          </a:bodyPr>
          <a:lstStyle/>
          <a:p>
            <a:pPr marL="1188085">
              <a:lnSpc>
                <a:spcPct val="100000"/>
              </a:lnSpc>
            </a:pPr>
            <a:r>
              <a:rPr sz="1950" spc="245" dirty="0">
                <a:solidFill>
                  <a:srgbClr val="231F20"/>
                </a:solidFill>
                <a:latin typeface="Arial"/>
                <a:cs typeface="Arial"/>
              </a:rPr>
              <a:t>Comparison </a:t>
            </a:r>
            <a:r>
              <a:rPr sz="1950" spc="310" dirty="0">
                <a:solidFill>
                  <a:srgbClr val="231F20"/>
                </a:solidFill>
                <a:latin typeface="Arial"/>
                <a:cs typeface="Arial"/>
              </a:rPr>
              <a:t>with </a:t>
            </a:r>
            <a:r>
              <a:rPr sz="1950" spc="254" dirty="0">
                <a:solidFill>
                  <a:srgbClr val="231F20"/>
                </a:solidFill>
                <a:latin typeface="Arial"/>
                <a:cs typeface="Arial"/>
              </a:rPr>
              <a:t>Simulation, </a:t>
            </a:r>
            <a:r>
              <a:rPr sz="1950" spc="265" dirty="0">
                <a:solidFill>
                  <a:srgbClr val="231F20"/>
                </a:solidFill>
                <a:latin typeface="Arial"/>
                <a:cs typeface="Arial"/>
              </a:rPr>
              <a:t>Testing</a:t>
            </a:r>
            <a:r>
              <a:rPr sz="1950" spc="660" dirty="0">
                <a:solidFill>
                  <a:srgbClr val="231F20"/>
                </a:solidFill>
                <a:latin typeface="Arial"/>
                <a:cs typeface="Arial"/>
              </a:rPr>
              <a:t> </a:t>
            </a:r>
            <a:r>
              <a:rPr sz="1950" spc="260" dirty="0">
                <a:solidFill>
                  <a:srgbClr val="231F20"/>
                </a:solidFill>
                <a:latin typeface="Arial"/>
                <a:cs typeface="Arial"/>
              </a:rPr>
              <a:t>etc.</a:t>
            </a:r>
            <a:endParaRPr sz="1950">
              <a:latin typeface="Arial"/>
              <a:cs typeface="Arial"/>
            </a:endParaRPr>
          </a:p>
          <a:p>
            <a:pPr marL="300990" marR="1399540" indent="-288290">
              <a:lnSpc>
                <a:spcPct val="125000"/>
              </a:lnSpc>
              <a:spcBef>
                <a:spcPts val="1265"/>
              </a:spcBef>
              <a:buSzPct val="105128"/>
              <a:buFont typeface="Lucida Sans Unicode"/>
              <a:buChar char="•"/>
              <a:tabLst>
                <a:tab pos="301625" algn="l"/>
              </a:tabLst>
            </a:pPr>
            <a:r>
              <a:rPr sz="1950" spc="160" dirty="0">
                <a:solidFill>
                  <a:srgbClr val="231F20"/>
                </a:solidFill>
                <a:latin typeface="Arial"/>
                <a:cs typeface="Arial"/>
              </a:rPr>
              <a:t>Simulation </a:t>
            </a:r>
            <a:r>
              <a:rPr sz="1950" spc="80" dirty="0">
                <a:solidFill>
                  <a:srgbClr val="231F20"/>
                </a:solidFill>
                <a:latin typeface="Arial"/>
                <a:cs typeface="Arial"/>
              </a:rPr>
              <a:t>also </a:t>
            </a:r>
            <a:r>
              <a:rPr sz="1950" spc="90" dirty="0">
                <a:solidFill>
                  <a:srgbClr val="231F20"/>
                </a:solidFill>
                <a:latin typeface="Arial"/>
                <a:cs typeface="Arial"/>
              </a:rPr>
              <a:t>considers </a:t>
            </a:r>
            <a:r>
              <a:rPr sz="1950" spc="85" dirty="0">
                <a:solidFill>
                  <a:srgbClr val="231F20"/>
                </a:solidFill>
                <a:latin typeface="Arial"/>
                <a:cs typeface="Arial"/>
              </a:rPr>
              <a:t>a </a:t>
            </a:r>
            <a:r>
              <a:rPr sz="1950" spc="160" dirty="0">
                <a:solidFill>
                  <a:srgbClr val="231F20"/>
                </a:solidFill>
                <a:latin typeface="Arial"/>
                <a:cs typeface="Arial"/>
              </a:rPr>
              <a:t>model </a:t>
            </a:r>
            <a:r>
              <a:rPr sz="1950" spc="185" dirty="0">
                <a:solidFill>
                  <a:srgbClr val="231F20"/>
                </a:solidFill>
                <a:latin typeface="Arial"/>
                <a:cs typeface="Arial"/>
              </a:rPr>
              <a:t>of </a:t>
            </a:r>
            <a:r>
              <a:rPr sz="1950" spc="175" dirty="0">
                <a:solidFill>
                  <a:srgbClr val="231F20"/>
                </a:solidFill>
                <a:latin typeface="Arial"/>
                <a:cs typeface="Arial"/>
              </a:rPr>
              <a:t>the </a:t>
            </a:r>
            <a:r>
              <a:rPr sz="1950" spc="120" dirty="0">
                <a:solidFill>
                  <a:srgbClr val="231F20"/>
                </a:solidFill>
                <a:latin typeface="Arial"/>
                <a:cs typeface="Arial"/>
              </a:rPr>
              <a:t>system  </a:t>
            </a:r>
            <a:r>
              <a:rPr sz="1950" spc="114" dirty="0">
                <a:solidFill>
                  <a:srgbClr val="231F20"/>
                </a:solidFill>
                <a:latin typeface="Arial"/>
                <a:cs typeface="Arial"/>
              </a:rPr>
              <a:t>(designed </a:t>
            </a:r>
            <a:r>
              <a:rPr sz="1950" spc="155" dirty="0">
                <a:solidFill>
                  <a:srgbClr val="231F20"/>
                </a:solidFill>
                <a:latin typeface="Arial"/>
                <a:cs typeface="Arial"/>
              </a:rPr>
              <a:t>for </a:t>
            </a:r>
            <a:r>
              <a:rPr sz="1950" spc="130" dirty="0">
                <a:solidFill>
                  <a:srgbClr val="231F20"/>
                </a:solidFill>
                <a:latin typeface="Arial"/>
                <a:cs typeface="Arial"/>
              </a:rPr>
              <a:t>execution </a:t>
            </a:r>
            <a:r>
              <a:rPr sz="1950" spc="155" dirty="0">
                <a:solidFill>
                  <a:srgbClr val="231F20"/>
                </a:solidFill>
                <a:latin typeface="Arial"/>
                <a:cs typeface="Arial"/>
              </a:rPr>
              <a:t>rather </a:t>
            </a:r>
            <a:r>
              <a:rPr sz="1950" spc="185" dirty="0">
                <a:solidFill>
                  <a:srgbClr val="231F20"/>
                </a:solidFill>
                <a:latin typeface="Arial"/>
                <a:cs typeface="Arial"/>
              </a:rPr>
              <a:t>than</a:t>
            </a:r>
            <a:r>
              <a:rPr sz="1950" spc="890" dirty="0">
                <a:solidFill>
                  <a:srgbClr val="231F20"/>
                </a:solidFill>
                <a:latin typeface="Arial"/>
                <a:cs typeface="Arial"/>
              </a:rPr>
              <a:t> </a:t>
            </a:r>
            <a:r>
              <a:rPr sz="1950" spc="100" dirty="0">
                <a:solidFill>
                  <a:srgbClr val="231F20"/>
                </a:solidFill>
                <a:latin typeface="Arial"/>
                <a:cs typeface="Arial"/>
              </a:rPr>
              <a:t>analysis)</a:t>
            </a:r>
            <a:endParaRPr sz="1950">
              <a:latin typeface="Arial"/>
              <a:cs typeface="Arial"/>
            </a:endParaRPr>
          </a:p>
          <a:p>
            <a:pPr>
              <a:lnSpc>
                <a:spcPct val="100000"/>
              </a:lnSpc>
              <a:spcBef>
                <a:spcPts val="13"/>
              </a:spcBef>
              <a:buClr>
                <a:srgbClr val="231F20"/>
              </a:buClr>
              <a:buFont typeface="Lucida Sans Unicode"/>
              <a:buChar char="•"/>
            </a:pPr>
            <a:endParaRPr sz="1600">
              <a:latin typeface="Times New Roman"/>
              <a:cs typeface="Times New Roman"/>
            </a:endParaRPr>
          </a:p>
          <a:p>
            <a:pPr marL="300990" indent="-288290">
              <a:lnSpc>
                <a:spcPct val="100000"/>
              </a:lnSpc>
              <a:buSzPct val="105128"/>
              <a:buFont typeface="Lucida Sans Unicode"/>
              <a:buChar char="•"/>
              <a:tabLst>
                <a:tab pos="301625" algn="l"/>
              </a:tabLst>
            </a:pPr>
            <a:r>
              <a:rPr sz="1950" spc="160" dirty="0">
                <a:solidFill>
                  <a:srgbClr val="231F20"/>
                </a:solidFill>
                <a:latin typeface="Arial"/>
                <a:cs typeface="Arial"/>
              </a:rPr>
              <a:t>Testing </a:t>
            </a:r>
            <a:r>
              <a:rPr sz="1950" spc="90" dirty="0">
                <a:solidFill>
                  <a:srgbClr val="231F20"/>
                </a:solidFill>
                <a:latin typeface="Arial"/>
                <a:cs typeface="Arial"/>
              </a:rPr>
              <a:t>considers </a:t>
            </a:r>
            <a:r>
              <a:rPr sz="1950" spc="175" dirty="0">
                <a:solidFill>
                  <a:srgbClr val="231F20"/>
                </a:solidFill>
                <a:latin typeface="Arial"/>
                <a:cs typeface="Arial"/>
              </a:rPr>
              <a:t>the </a:t>
            </a:r>
            <a:r>
              <a:rPr sz="1950" spc="95" dirty="0">
                <a:solidFill>
                  <a:srgbClr val="231F20"/>
                </a:solidFill>
                <a:latin typeface="Arial"/>
                <a:cs typeface="Arial"/>
              </a:rPr>
              <a:t>real</a:t>
            </a:r>
            <a:r>
              <a:rPr sz="1950" spc="670" dirty="0">
                <a:solidFill>
                  <a:srgbClr val="231F20"/>
                </a:solidFill>
                <a:latin typeface="Arial"/>
                <a:cs typeface="Arial"/>
              </a:rPr>
              <a:t> </a:t>
            </a:r>
            <a:r>
              <a:rPr sz="1950" spc="185" dirty="0">
                <a:solidFill>
                  <a:srgbClr val="231F20"/>
                </a:solidFill>
                <a:latin typeface="Arial"/>
                <a:cs typeface="Arial"/>
              </a:rPr>
              <a:t>thing</a:t>
            </a:r>
            <a:endParaRPr sz="1950">
              <a:latin typeface="Arial"/>
              <a:cs typeface="Arial"/>
            </a:endParaRPr>
          </a:p>
          <a:p>
            <a:pPr marL="300990" marR="5080" indent="-288290">
              <a:lnSpc>
                <a:spcPct val="125000"/>
              </a:lnSpc>
              <a:spcBef>
                <a:spcPts val="1265"/>
              </a:spcBef>
              <a:buSzPct val="105128"/>
              <a:buFont typeface="Lucida Sans Unicode"/>
              <a:buChar char="•"/>
              <a:tabLst>
                <a:tab pos="301625" algn="l"/>
              </a:tabLst>
            </a:pPr>
            <a:r>
              <a:rPr sz="1950" spc="245" dirty="0">
                <a:solidFill>
                  <a:srgbClr val="231F20"/>
                </a:solidFill>
                <a:latin typeface="Arial"/>
                <a:cs typeface="Arial"/>
              </a:rPr>
              <a:t>Both </a:t>
            </a:r>
            <a:r>
              <a:rPr sz="1950" spc="135" dirty="0">
                <a:solidFill>
                  <a:srgbClr val="231F20"/>
                </a:solidFill>
                <a:latin typeface="Arial"/>
                <a:cs typeface="Arial"/>
              </a:rPr>
              <a:t>differ </a:t>
            </a:r>
            <a:r>
              <a:rPr sz="1950" spc="210" dirty="0">
                <a:solidFill>
                  <a:srgbClr val="231F20"/>
                </a:solidFill>
                <a:latin typeface="Arial"/>
                <a:cs typeface="Arial"/>
              </a:rPr>
              <a:t>from </a:t>
            </a:r>
            <a:r>
              <a:rPr sz="1950" spc="160" dirty="0">
                <a:solidFill>
                  <a:srgbClr val="231F20"/>
                </a:solidFill>
                <a:latin typeface="Arial"/>
                <a:cs typeface="Arial"/>
              </a:rPr>
              <a:t>formal </a:t>
            </a:r>
            <a:r>
              <a:rPr sz="1950" spc="165" dirty="0">
                <a:solidFill>
                  <a:srgbClr val="231F20"/>
                </a:solidFill>
                <a:latin typeface="Arial"/>
                <a:cs typeface="Arial"/>
              </a:rPr>
              <a:t>methods </a:t>
            </a:r>
            <a:r>
              <a:rPr sz="1950" spc="130" dirty="0">
                <a:solidFill>
                  <a:srgbClr val="231F20"/>
                </a:solidFill>
                <a:latin typeface="Arial"/>
                <a:cs typeface="Arial"/>
              </a:rPr>
              <a:t>in </a:t>
            </a:r>
            <a:r>
              <a:rPr sz="1950" spc="235" dirty="0">
                <a:solidFill>
                  <a:srgbClr val="231F20"/>
                </a:solidFill>
                <a:latin typeface="Arial"/>
                <a:cs typeface="Arial"/>
              </a:rPr>
              <a:t>that </a:t>
            </a:r>
            <a:r>
              <a:rPr sz="1950" spc="160" dirty="0">
                <a:solidFill>
                  <a:srgbClr val="231F20"/>
                </a:solidFill>
                <a:latin typeface="Arial"/>
                <a:cs typeface="Arial"/>
              </a:rPr>
              <a:t>they </a:t>
            </a:r>
            <a:r>
              <a:rPr sz="1950" spc="114" dirty="0">
                <a:solidFill>
                  <a:srgbClr val="231F20"/>
                </a:solidFill>
                <a:latin typeface="Arial"/>
                <a:cs typeface="Arial"/>
              </a:rPr>
              <a:t>examine </a:t>
            </a:r>
            <a:r>
              <a:rPr sz="1950" spc="135" dirty="0">
                <a:solidFill>
                  <a:srgbClr val="231F20"/>
                </a:solidFill>
                <a:latin typeface="Arial"/>
                <a:cs typeface="Arial"/>
              </a:rPr>
              <a:t>only  </a:t>
            </a:r>
            <a:r>
              <a:rPr sz="1950" spc="110" dirty="0">
                <a:solidFill>
                  <a:srgbClr val="FF0000"/>
                </a:solidFill>
                <a:latin typeface="Arial"/>
                <a:cs typeface="Arial"/>
              </a:rPr>
              <a:t>some </a:t>
            </a:r>
            <a:r>
              <a:rPr sz="1950" spc="185" dirty="0">
                <a:solidFill>
                  <a:srgbClr val="231F20"/>
                </a:solidFill>
                <a:latin typeface="Arial"/>
                <a:cs typeface="Arial"/>
              </a:rPr>
              <a:t>of </a:t>
            </a:r>
            <a:r>
              <a:rPr sz="1950" spc="175" dirty="0">
                <a:solidFill>
                  <a:srgbClr val="231F20"/>
                </a:solidFill>
                <a:latin typeface="Arial"/>
                <a:cs typeface="Arial"/>
              </a:rPr>
              <a:t>the </a:t>
            </a:r>
            <a:r>
              <a:rPr sz="1950" spc="90" dirty="0">
                <a:solidFill>
                  <a:srgbClr val="231F20"/>
                </a:solidFill>
                <a:latin typeface="Arial"/>
                <a:cs typeface="Arial"/>
              </a:rPr>
              <a:t>possible</a:t>
            </a:r>
            <a:r>
              <a:rPr sz="1950" spc="620" dirty="0">
                <a:solidFill>
                  <a:srgbClr val="231F20"/>
                </a:solidFill>
                <a:latin typeface="Arial"/>
                <a:cs typeface="Arial"/>
              </a:rPr>
              <a:t> </a:t>
            </a:r>
            <a:r>
              <a:rPr sz="1950" spc="100" dirty="0">
                <a:solidFill>
                  <a:srgbClr val="231F20"/>
                </a:solidFill>
                <a:latin typeface="Arial"/>
                <a:cs typeface="Arial"/>
              </a:rPr>
              <a:t>behaviors</a:t>
            </a:r>
            <a:endParaRPr sz="1950">
              <a:latin typeface="Arial"/>
              <a:cs typeface="Arial"/>
            </a:endParaRPr>
          </a:p>
          <a:p>
            <a:pPr marL="300990" marR="107950" indent="-288290">
              <a:lnSpc>
                <a:spcPct val="125000"/>
              </a:lnSpc>
              <a:spcBef>
                <a:spcPts val="1265"/>
              </a:spcBef>
              <a:buSzPct val="105128"/>
              <a:buFont typeface="Lucida Sans Unicode"/>
              <a:buChar char="•"/>
              <a:tabLst>
                <a:tab pos="301625" algn="l"/>
              </a:tabLst>
            </a:pPr>
            <a:r>
              <a:rPr sz="1950" spc="155" dirty="0">
                <a:solidFill>
                  <a:srgbClr val="231F20"/>
                </a:solidFill>
                <a:latin typeface="Arial"/>
                <a:cs typeface="Arial"/>
              </a:rPr>
              <a:t>For </a:t>
            </a:r>
            <a:r>
              <a:rPr sz="1950" spc="145" dirty="0">
                <a:solidFill>
                  <a:srgbClr val="FF0000"/>
                </a:solidFill>
                <a:latin typeface="Arial"/>
                <a:cs typeface="Arial"/>
              </a:rPr>
              <a:t>continuous </a:t>
            </a:r>
            <a:r>
              <a:rPr sz="1950" spc="105" dirty="0">
                <a:solidFill>
                  <a:srgbClr val="231F20"/>
                </a:solidFill>
                <a:latin typeface="Arial"/>
                <a:cs typeface="Arial"/>
              </a:rPr>
              <a:t>systems, </a:t>
            </a:r>
            <a:r>
              <a:rPr sz="1950" spc="145" dirty="0">
                <a:solidFill>
                  <a:srgbClr val="0000FF"/>
                </a:solidFill>
                <a:latin typeface="Arial"/>
                <a:cs typeface="Arial"/>
              </a:rPr>
              <a:t>verification </a:t>
            </a:r>
            <a:r>
              <a:rPr sz="1950" spc="105" dirty="0">
                <a:solidFill>
                  <a:srgbClr val="231F20"/>
                </a:solidFill>
                <a:latin typeface="Arial"/>
                <a:cs typeface="Arial"/>
              </a:rPr>
              <a:t>by </a:t>
            </a:r>
            <a:r>
              <a:rPr sz="1950" spc="160" dirty="0">
                <a:solidFill>
                  <a:srgbClr val="231F20"/>
                </a:solidFill>
                <a:latin typeface="Arial"/>
                <a:cs typeface="Arial"/>
              </a:rPr>
              <a:t>extrapolation </a:t>
            </a:r>
            <a:r>
              <a:rPr sz="1950" spc="210" dirty="0">
                <a:solidFill>
                  <a:srgbClr val="231F20"/>
                </a:solidFill>
                <a:latin typeface="Arial"/>
                <a:cs typeface="Arial"/>
              </a:rPr>
              <a:t>from  </a:t>
            </a:r>
            <a:r>
              <a:rPr sz="1950" spc="140" dirty="0">
                <a:solidFill>
                  <a:srgbClr val="231F20"/>
                </a:solidFill>
                <a:latin typeface="Arial"/>
                <a:cs typeface="Arial"/>
              </a:rPr>
              <a:t>partial </a:t>
            </a:r>
            <a:r>
              <a:rPr sz="1950" spc="130" dirty="0">
                <a:solidFill>
                  <a:srgbClr val="231F20"/>
                </a:solidFill>
                <a:latin typeface="Arial"/>
                <a:cs typeface="Arial"/>
              </a:rPr>
              <a:t>tests </a:t>
            </a:r>
            <a:r>
              <a:rPr sz="1950" spc="40" dirty="0">
                <a:solidFill>
                  <a:srgbClr val="231F20"/>
                </a:solidFill>
                <a:latin typeface="Arial"/>
                <a:cs typeface="Arial"/>
              </a:rPr>
              <a:t>is </a:t>
            </a:r>
            <a:r>
              <a:rPr sz="1950" spc="120" dirty="0">
                <a:solidFill>
                  <a:srgbClr val="231F20"/>
                </a:solidFill>
                <a:latin typeface="Arial"/>
                <a:cs typeface="Arial"/>
              </a:rPr>
              <a:t>valid, </a:t>
            </a:r>
            <a:r>
              <a:rPr sz="1950" spc="220" dirty="0">
                <a:solidFill>
                  <a:srgbClr val="231F20"/>
                </a:solidFill>
                <a:latin typeface="Arial"/>
                <a:cs typeface="Arial"/>
              </a:rPr>
              <a:t>but </a:t>
            </a:r>
            <a:r>
              <a:rPr sz="1950" spc="155" dirty="0">
                <a:solidFill>
                  <a:srgbClr val="231F20"/>
                </a:solidFill>
                <a:latin typeface="Arial"/>
                <a:cs typeface="Arial"/>
              </a:rPr>
              <a:t>for </a:t>
            </a:r>
            <a:r>
              <a:rPr sz="1950" spc="114" dirty="0">
                <a:solidFill>
                  <a:srgbClr val="FF0000"/>
                </a:solidFill>
                <a:latin typeface="Arial"/>
                <a:cs typeface="Arial"/>
              </a:rPr>
              <a:t>discrete </a:t>
            </a:r>
            <a:r>
              <a:rPr sz="1950" spc="105" dirty="0">
                <a:solidFill>
                  <a:srgbClr val="231F20"/>
                </a:solidFill>
                <a:latin typeface="Arial"/>
                <a:cs typeface="Arial"/>
              </a:rPr>
              <a:t>systems, </a:t>
            </a:r>
            <a:r>
              <a:rPr sz="1950" spc="229" dirty="0">
                <a:solidFill>
                  <a:srgbClr val="FF0000"/>
                </a:solidFill>
                <a:latin typeface="Arial"/>
                <a:cs typeface="Arial"/>
              </a:rPr>
              <a:t>it </a:t>
            </a:r>
            <a:r>
              <a:rPr sz="1950" spc="40" dirty="0">
                <a:solidFill>
                  <a:srgbClr val="FF0000"/>
                </a:solidFill>
                <a:latin typeface="Arial"/>
                <a:cs typeface="Arial"/>
              </a:rPr>
              <a:t>is  </a:t>
            </a:r>
            <a:r>
              <a:rPr sz="1950" spc="445" dirty="0">
                <a:solidFill>
                  <a:srgbClr val="FF0000"/>
                </a:solidFill>
                <a:latin typeface="Arial"/>
                <a:cs typeface="Arial"/>
              </a:rPr>
              <a:t> </a:t>
            </a:r>
            <a:r>
              <a:rPr sz="1950" spc="220" dirty="0">
                <a:solidFill>
                  <a:srgbClr val="FF0000"/>
                </a:solidFill>
                <a:latin typeface="Arial"/>
                <a:cs typeface="Arial"/>
              </a:rPr>
              <a:t>not</a:t>
            </a:r>
            <a:endParaRPr sz="1950">
              <a:latin typeface="Arial"/>
              <a:cs typeface="Arial"/>
            </a:endParaRPr>
          </a:p>
          <a:p>
            <a:pPr>
              <a:lnSpc>
                <a:spcPct val="100000"/>
              </a:lnSpc>
              <a:spcBef>
                <a:spcPts val="13"/>
              </a:spcBef>
              <a:buClr>
                <a:srgbClr val="231F20"/>
              </a:buClr>
              <a:buFont typeface="Lucida Sans Unicode"/>
              <a:buChar char="•"/>
            </a:pPr>
            <a:endParaRPr sz="1600">
              <a:latin typeface="Times New Roman"/>
              <a:cs typeface="Times New Roman"/>
            </a:endParaRPr>
          </a:p>
          <a:p>
            <a:pPr marL="300990" indent="-288290">
              <a:lnSpc>
                <a:spcPct val="100000"/>
              </a:lnSpc>
              <a:buSzPct val="105128"/>
              <a:buFont typeface="Lucida Sans Unicode"/>
              <a:buChar char="•"/>
              <a:tabLst>
                <a:tab pos="301625" algn="l"/>
              </a:tabLst>
            </a:pPr>
            <a:r>
              <a:rPr sz="1950" spc="135" dirty="0">
                <a:solidFill>
                  <a:srgbClr val="231F20"/>
                </a:solidFill>
                <a:latin typeface="Arial"/>
                <a:cs typeface="Arial"/>
              </a:rPr>
              <a:t>Can </a:t>
            </a:r>
            <a:r>
              <a:rPr sz="1950" spc="130" dirty="0">
                <a:solidFill>
                  <a:srgbClr val="231F20"/>
                </a:solidFill>
                <a:latin typeface="Arial"/>
                <a:cs typeface="Arial"/>
              </a:rPr>
              <a:t>make </a:t>
            </a:r>
            <a:r>
              <a:rPr sz="1950" spc="135" dirty="0">
                <a:solidFill>
                  <a:srgbClr val="231F20"/>
                </a:solidFill>
                <a:latin typeface="Arial"/>
                <a:cs typeface="Arial"/>
              </a:rPr>
              <a:t>only </a:t>
            </a:r>
            <a:r>
              <a:rPr sz="1950" spc="145" dirty="0">
                <a:solidFill>
                  <a:srgbClr val="231F20"/>
                </a:solidFill>
                <a:latin typeface="Arial"/>
                <a:cs typeface="Arial"/>
              </a:rPr>
              <a:t>statistical </a:t>
            </a:r>
            <a:r>
              <a:rPr sz="1950" spc="135" dirty="0">
                <a:solidFill>
                  <a:srgbClr val="231F20"/>
                </a:solidFill>
                <a:latin typeface="Arial"/>
                <a:cs typeface="Arial"/>
              </a:rPr>
              <a:t>projections, </a:t>
            </a:r>
            <a:r>
              <a:rPr sz="1950" spc="130" dirty="0">
                <a:solidFill>
                  <a:srgbClr val="231F20"/>
                </a:solidFill>
                <a:latin typeface="Arial"/>
                <a:cs typeface="Arial"/>
              </a:rPr>
              <a:t>and </a:t>
            </a:r>
            <a:r>
              <a:rPr sz="1950" spc="170" dirty="0">
                <a:solidFill>
                  <a:srgbClr val="231F20"/>
                </a:solidFill>
                <a:latin typeface="Arial"/>
                <a:cs typeface="Arial"/>
              </a:rPr>
              <a:t>it’s </a:t>
            </a:r>
            <a:r>
              <a:rPr sz="1950" spc="505" dirty="0">
                <a:solidFill>
                  <a:srgbClr val="231F20"/>
                </a:solidFill>
                <a:latin typeface="Arial"/>
                <a:cs typeface="Arial"/>
              </a:rPr>
              <a:t> </a:t>
            </a:r>
            <a:r>
              <a:rPr sz="1950" spc="80" dirty="0">
                <a:solidFill>
                  <a:srgbClr val="231F20"/>
                </a:solidFill>
                <a:latin typeface="Arial"/>
                <a:cs typeface="Arial"/>
              </a:rPr>
              <a:t>expensive</a:t>
            </a:r>
            <a:endParaRPr sz="1950">
              <a:latin typeface="Arial"/>
              <a:cs typeface="Arial"/>
            </a:endParaRPr>
          </a:p>
          <a:p>
            <a:pPr marL="741680" lvl="1" indent="-288290">
              <a:lnSpc>
                <a:spcPct val="100000"/>
              </a:lnSpc>
              <a:spcBef>
                <a:spcPts val="975"/>
              </a:spcBef>
              <a:buSzPct val="105128"/>
              <a:buFont typeface="Lucida Sans Unicode"/>
              <a:buChar char="◦"/>
              <a:tabLst>
                <a:tab pos="742315" algn="l"/>
              </a:tabLst>
            </a:pPr>
            <a:r>
              <a:rPr sz="1950" spc="150" dirty="0">
                <a:solidFill>
                  <a:srgbClr val="231F20"/>
                </a:solidFill>
                <a:latin typeface="Arial"/>
                <a:cs typeface="Arial"/>
              </a:rPr>
              <a:t>114,000 </a:t>
            </a:r>
            <a:r>
              <a:rPr sz="1950" spc="45" dirty="0">
                <a:solidFill>
                  <a:srgbClr val="231F20"/>
                </a:solidFill>
                <a:latin typeface="Arial"/>
                <a:cs typeface="Arial"/>
              </a:rPr>
              <a:t>years </a:t>
            </a:r>
            <a:r>
              <a:rPr sz="1950" spc="155" dirty="0">
                <a:solidFill>
                  <a:srgbClr val="231F20"/>
                </a:solidFill>
                <a:latin typeface="Arial"/>
                <a:cs typeface="Arial"/>
              </a:rPr>
              <a:t>on </a:t>
            </a:r>
            <a:r>
              <a:rPr sz="1950" spc="170" dirty="0">
                <a:solidFill>
                  <a:srgbClr val="231F20"/>
                </a:solidFill>
                <a:latin typeface="Arial"/>
                <a:cs typeface="Arial"/>
              </a:rPr>
              <a:t>test </a:t>
            </a:r>
            <a:r>
              <a:rPr sz="1950" spc="155" dirty="0">
                <a:solidFill>
                  <a:srgbClr val="231F20"/>
                </a:solidFill>
                <a:latin typeface="Arial"/>
                <a:cs typeface="Arial"/>
              </a:rPr>
              <a:t>for </a:t>
            </a:r>
            <a:r>
              <a:rPr sz="1950" spc="165" dirty="0">
                <a:solidFill>
                  <a:srgbClr val="231F20"/>
                </a:solidFill>
                <a:latin typeface="Arial"/>
                <a:cs typeface="Arial"/>
              </a:rPr>
              <a:t> </a:t>
            </a:r>
            <a:r>
              <a:rPr sz="2050" spc="100" dirty="0">
                <a:solidFill>
                  <a:srgbClr val="231F20"/>
                </a:solidFill>
                <a:latin typeface="Tahoma"/>
                <a:cs typeface="Tahoma"/>
              </a:rPr>
              <a:t>10</a:t>
            </a:r>
            <a:r>
              <a:rPr sz="2175" spc="150" baseline="28735" dirty="0">
                <a:solidFill>
                  <a:srgbClr val="231F20"/>
                </a:solidFill>
                <a:latin typeface="Arial"/>
                <a:cs typeface="Arial"/>
              </a:rPr>
              <a:t>−</a:t>
            </a:r>
            <a:r>
              <a:rPr sz="2175" spc="150" baseline="28735" dirty="0">
                <a:solidFill>
                  <a:srgbClr val="231F20"/>
                </a:solidFill>
                <a:latin typeface="PMingLiU"/>
                <a:cs typeface="PMingLiU"/>
              </a:rPr>
              <a:t>9</a:t>
            </a:r>
            <a:endParaRPr sz="2175" baseline="28735">
              <a:latin typeface="PMingLiU"/>
              <a:cs typeface="PMingLiU"/>
            </a:endParaRPr>
          </a:p>
          <a:p>
            <a:pPr marL="300990">
              <a:lnSpc>
                <a:spcPct val="100000"/>
              </a:lnSpc>
              <a:spcBef>
                <a:spcPts val="955"/>
              </a:spcBef>
            </a:pPr>
            <a:r>
              <a:rPr sz="1950" spc="235" dirty="0">
                <a:solidFill>
                  <a:srgbClr val="FF0000"/>
                </a:solidFill>
                <a:latin typeface="Arial"/>
                <a:cs typeface="Arial"/>
              </a:rPr>
              <a:t>Limit </a:t>
            </a:r>
            <a:r>
              <a:rPr sz="1950" spc="250" dirty="0">
                <a:solidFill>
                  <a:srgbClr val="FF0000"/>
                </a:solidFill>
                <a:latin typeface="Arial"/>
                <a:cs typeface="Arial"/>
              </a:rPr>
              <a:t>to </a:t>
            </a:r>
            <a:r>
              <a:rPr sz="1950" spc="85" dirty="0">
                <a:solidFill>
                  <a:srgbClr val="FF0000"/>
                </a:solidFill>
                <a:latin typeface="Arial"/>
                <a:cs typeface="Arial"/>
              </a:rPr>
              <a:t>evidence </a:t>
            </a:r>
            <a:r>
              <a:rPr sz="1950" spc="120" dirty="0">
                <a:solidFill>
                  <a:srgbClr val="FF0000"/>
                </a:solidFill>
                <a:latin typeface="Arial"/>
                <a:cs typeface="Arial"/>
              </a:rPr>
              <a:t>provided </a:t>
            </a:r>
            <a:r>
              <a:rPr sz="1950" spc="105" dirty="0">
                <a:solidFill>
                  <a:srgbClr val="FF0000"/>
                </a:solidFill>
                <a:latin typeface="Arial"/>
                <a:cs typeface="Arial"/>
              </a:rPr>
              <a:t>by </a:t>
            </a:r>
            <a:r>
              <a:rPr sz="1950" spc="155" dirty="0">
                <a:solidFill>
                  <a:srgbClr val="FF0000"/>
                </a:solidFill>
                <a:latin typeface="Arial"/>
                <a:cs typeface="Arial"/>
              </a:rPr>
              <a:t>testing </a:t>
            </a:r>
            <a:r>
              <a:rPr sz="1950" spc="40" dirty="0">
                <a:solidFill>
                  <a:srgbClr val="FF0000"/>
                </a:solidFill>
                <a:latin typeface="Arial"/>
                <a:cs typeface="Arial"/>
              </a:rPr>
              <a:t>is </a:t>
            </a:r>
            <a:r>
              <a:rPr sz="1950" spc="190" dirty="0">
                <a:solidFill>
                  <a:srgbClr val="FF0000"/>
                </a:solidFill>
                <a:latin typeface="Arial"/>
                <a:cs typeface="Arial"/>
              </a:rPr>
              <a:t>about </a:t>
            </a:r>
            <a:r>
              <a:rPr sz="1950" spc="580" dirty="0">
                <a:solidFill>
                  <a:srgbClr val="FF0000"/>
                </a:solidFill>
                <a:latin typeface="Arial"/>
                <a:cs typeface="Arial"/>
              </a:rPr>
              <a:t> </a:t>
            </a:r>
            <a:r>
              <a:rPr sz="2050" spc="100" dirty="0">
                <a:solidFill>
                  <a:srgbClr val="FF0000"/>
                </a:solidFill>
                <a:latin typeface="Tahoma"/>
                <a:cs typeface="Tahoma"/>
              </a:rPr>
              <a:t>10</a:t>
            </a:r>
            <a:r>
              <a:rPr sz="2175" spc="150" baseline="28735" dirty="0">
                <a:solidFill>
                  <a:srgbClr val="FF0000"/>
                </a:solidFill>
                <a:latin typeface="Arial"/>
                <a:cs typeface="Arial"/>
              </a:rPr>
              <a:t>−</a:t>
            </a:r>
            <a:r>
              <a:rPr sz="2175" spc="150" baseline="28735" dirty="0">
                <a:solidFill>
                  <a:srgbClr val="FF0000"/>
                </a:solidFill>
                <a:latin typeface="PMingLiU"/>
                <a:cs typeface="PMingLiU"/>
              </a:rPr>
              <a:t>4</a:t>
            </a:r>
            <a:endParaRPr sz="2175" baseline="28735">
              <a:latin typeface="PMingLiU"/>
              <a:cs typeface="PMingLiU"/>
            </a:endParaRPr>
          </a:p>
          <a:p>
            <a:pPr marL="300990" marR="252095" indent="-288290">
              <a:lnSpc>
                <a:spcPct val="125000"/>
              </a:lnSpc>
              <a:spcBef>
                <a:spcPts val="1250"/>
              </a:spcBef>
              <a:buSzPct val="105128"/>
              <a:buFont typeface="Lucida Sans Unicode"/>
              <a:buChar char="•"/>
              <a:tabLst>
                <a:tab pos="301625" algn="l"/>
              </a:tabLst>
            </a:pPr>
            <a:r>
              <a:rPr sz="1950" spc="120" dirty="0">
                <a:solidFill>
                  <a:srgbClr val="231F20"/>
                </a:solidFill>
                <a:latin typeface="Arial"/>
                <a:cs typeface="Arial"/>
              </a:rPr>
              <a:t>In </a:t>
            </a:r>
            <a:r>
              <a:rPr sz="1950" spc="195" dirty="0">
                <a:solidFill>
                  <a:srgbClr val="231F20"/>
                </a:solidFill>
                <a:latin typeface="Arial"/>
                <a:cs typeface="Arial"/>
              </a:rPr>
              <a:t>most </a:t>
            </a:r>
            <a:r>
              <a:rPr sz="1950" spc="130" dirty="0">
                <a:solidFill>
                  <a:srgbClr val="231F20"/>
                </a:solidFill>
                <a:latin typeface="Arial"/>
                <a:cs typeface="Arial"/>
              </a:rPr>
              <a:t>applications, </a:t>
            </a:r>
            <a:r>
              <a:rPr sz="1950" spc="155" dirty="0">
                <a:solidFill>
                  <a:srgbClr val="231F20"/>
                </a:solidFill>
                <a:latin typeface="Arial"/>
                <a:cs typeface="Arial"/>
              </a:rPr>
              <a:t>testing </a:t>
            </a:r>
            <a:r>
              <a:rPr sz="1950" spc="40" dirty="0">
                <a:solidFill>
                  <a:srgbClr val="231F20"/>
                </a:solidFill>
                <a:latin typeface="Arial"/>
                <a:cs typeface="Arial"/>
              </a:rPr>
              <a:t>is </a:t>
            </a:r>
            <a:r>
              <a:rPr sz="1950" spc="70" dirty="0">
                <a:solidFill>
                  <a:srgbClr val="231F20"/>
                </a:solidFill>
                <a:latin typeface="Arial"/>
                <a:cs typeface="Arial"/>
              </a:rPr>
              <a:t>used </a:t>
            </a:r>
            <a:r>
              <a:rPr sz="1950" spc="155" dirty="0">
                <a:solidFill>
                  <a:srgbClr val="231F20"/>
                </a:solidFill>
                <a:latin typeface="Arial"/>
                <a:cs typeface="Arial"/>
              </a:rPr>
              <a:t>for </a:t>
            </a:r>
            <a:r>
              <a:rPr sz="1950" spc="130" dirty="0">
                <a:solidFill>
                  <a:srgbClr val="0000FF"/>
                </a:solidFill>
                <a:latin typeface="Arial"/>
                <a:cs typeface="Arial"/>
              </a:rPr>
              <a:t>debugging </a:t>
            </a:r>
            <a:r>
              <a:rPr sz="1950" spc="155" dirty="0">
                <a:solidFill>
                  <a:srgbClr val="231F20"/>
                </a:solidFill>
                <a:latin typeface="Arial"/>
                <a:cs typeface="Arial"/>
              </a:rPr>
              <a:t>rather  </a:t>
            </a:r>
            <a:r>
              <a:rPr sz="1950" spc="185" dirty="0">
                <a:solidFill>
                  <a:srgbClr val="231F20"/>
                </a:solidFill>
                <a:latin typeface="Arial"/>
                <a:cs typeface="Arial"/>
              </a:rPr>
              <a:t>than</a:t>
            </a:r>
            <a:r>
              <a:rPr sz="1950" spc="190" dirty="0">
                <a:solidFill>
                  <a:srgbClr val="231F20"/>
                </a:solidFill>
                <a:latin typeface="Arial"/>
                <a:cs typeface="Arial"/>
              </a:rPr>
              <a:t> </a:t>
            </a:r>
            <a:r>
              <a:rPr sz="1950" spc="145" dirty="0">
                <a:solidFill>
                  <a:srgbClr val="231F20"/>
                </a:solidFill>
                <a:latin typeface="Arial"/>
                <a:cs typeface="Arial"/>
              </a:rPr>
              <a:t>verification</a:t>
            </a:r>
            <a:endParaRPr sz="1950">
              <a:latin typeface="Arial"/>
              <a:cs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93469"/>
            <a:ext cx="8260715" cy="5988685"/>
          </a:xfrm>
          <a:prstGeom prst="rect">
            <a:avLst/>
          </a:prstGeom>
        </p:spPr>
        <p:txBody>
          <a:bodyPr vert="horz" wrap="square" lIns="0" tIns="0" rIns="0" bIns="0" rtlCol="0">
            <a:spAutoFit/>
          </a:bodyPr>
          <a:lstStyle/>
          <a:p>
            <a:pPr marL="770255">
              <a:lnSpc>
                <a:spcPct val="100000"/>
              </a:lnSpc>
            </a:pPr>
            <a:r>
              <a:rPr sz="1950" spc="245" dirty="0">
                <a:solidFill>
                  <a:srgbClr val="231F20"/>
                </a:solidFill>
                <a:latin typeface="Arial"/>
                <a:cs typeface="Arial"/>
              </a:rPr>
              <a:t>Comparison </a:t>
            </a:r>
            <a:r>
              <a:rPr sz="1950" spc="310" dirty="0">
                <a:solidFill>
                  <a:srgbClr val="231F20"/>
                </a:solidFill>
                <a:latin typeface="Arial"/>
                <a:cs typeface="Arial"/>
              </a:rPr>
              <a:t>with </a:t>
            </a:r>
            <a:r>
              <a:rPr sz="1950" spc="254" dirty="0">
                <a:solidFill>
                  <a:srgbClr val="231F20"/>
                </a:solidFill>
                <a:latin typeface="Arial"/>
                <a:cs typeface="Arial"/>
              </a:rPr>
              <a:t>Simulation, </a:t>
            </a:r>
            <a:r>
              <a:rPr sz="1950" spc="265" dirty="0">
                <a:solidFill>
                  <a:srgbClr val="231F20"/>
                </a:solidFill>
                <a:latin typeface="Arial"/>
                <a:cs typeface="Arial"/>
              </a:rPr>
              <a:t>Testing </a:t>
            </a:r>
            <a:r>
              <a:rPr sz="1950" spc="260" dirty="0">
                <a:solidFill>
                  <a:srgbClr val="231F20"/>
                </a:solidFill>
                <a:latin typeface="Arial"/>
                <a:cs typeface="Arial"/>
              </a:rPr>
              <a:t>etc.</a:t>
            </a:r>
            <a:r>
              <a:rPr sz="1950" spc="775" dirty="0">
                <a:solidFill>
                  <a:srgbClr val="231F20"/>
                </a:solidFill>
                <a:latin typeface="Arial"/>
                <a:cs typeface="Arial"/>
              </a:rPr>
              <a:t> </a:t>
            </a:r>
            <a:r>
              <a:rPr sz="1950" spc="350" dirty="0">
                <a:solidFill>
                  <a:srgbClr val="231F20"/>
                </a:solidFill>
                <a:latin typeface="Arial"/>
                <a:cs typeface="Arial"/>
              </a:rPr>
              <a:t>(ctd)</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55" dirty="0">
                <a:solidFill>
                  <a:srgbClr val="0000FF"/>
                </a:solidFill>
                <a:latin typeface="Arial"/>
                <a:cs typeface="Arial"/>
              </a:rPr>
              <a:t>Debugging </a:t>
            </a:r>
            <a:r>
              <a:rPr sz="1950" spc="95" dirty="0">
                <a:solidFill>
                  <a:srgbClr val="231F20"/>
                </a:solidFill>
                <a:latin typeface="Arial"/>
                <a:cs typeface="Arial"/>
              </a:rPr>
              <a:t>depends </a:t>
            </a:r>
            <a:r>
              <a:rPr sz="1950" spc="155" dirty="0">
                <a:solidFill>
                  <a:srgbClr val="231F20"/>
                </a:solidFill>
                <a:latin typeface="Arial"/>
                <a:cs typeface="Arial"/>
              </a:rPr>
              <a:t>on </a:t>
            </a:r>
            <a:r>
              <a:rPr sz="1950" spc="130" dirty="0">
                <a:solidFill>
                  <a:srgbClr val="231F20"/>
                </a:solidFill>
                <a:latin typeface="Arial"/>
                <a:cs typeface="Arial"/>
              </a:rPr>
              <a:t>choosing </a:t>
            </a:r>
            <a:r>
              <a:rPr sz="1950" spc="185" dirty="0">
                <a:solidFill>
                  <a:srgbClr val="231F20"/>
                </a:solidFill>
                <a:latin typeface="Arial"/>
                <a:cs typeface="Arial"/>
              </a:rPr>
              <a:t>right </a:t>
            </a:r>
            <a:r>
              <a:rPr sz="1950" spc="170" dirty="0">
                <a:solidFill>
                  <a:srgbClr val="231F20"/>
                </a:solidFill>
                <a:latin typeface="Arial"/>
                <a:cs typeface="Arial"/>
              </a:rPr>
              <a:t>test </a:t>
            </a:r>
            <a:r>
              <a:rPr sz="1950" spc="260" dirty="0">
                <a:solidFill>
                  <a:srgbClr val="231F20"/>
                </a:solidFill>
                <a:latin typeface="Arial"/>
                <a:cs typeface="Arial"/>
              </a:rPr>
              <a:t> </a:t>
            </a:r>
            <a:r>
              <a:rPr sz="1950" spc="30" dirty="0">
                <a:solidFill>
                  <a:srgbClr val="231F20"/>
                </a:solidFill>
                <a:latin typeface="Arial"/>
                <a:cs typeface="Arial"/>
              </a:rPr>
              <a:t>cases</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135" dirty="0">
                <a:solidFill>
                  <a:srgbClr val="231F20"/>
                </a:solidFill>
                <a:latin typeface="Arial"/>
                <a:cs typeface="Arial"/>
              </a:rPr>
              <a:t>Can </a:t>
            </a:r>
            <a:r>
              <a:rPr sz="1950" spc="114" dirty="0">
                <a:solidFill>
                  <a:srgbClr val="231F20"/>
                </a:solidFill>
                <a:latin typeface="Arial"/>
                <a:cs typeface="Arial"/>
              </a:rPr>
              <a:t>be </a:t>
            </a:r>
            <a:r>
              <a:rPr sz="1950" spc="140" dirty="0">
                <a:solidFill>
                  <a:srgbClr val="231F20"/>
                </a:solidFill>
                <a:latin typeface="Arial"/>
                <a:cs typeface="Arial"/>
              </a:rPr>
              <a:t>improved </a:t>
            </a:r>
            <a:r>
              <a:rPr sz="1950" spc="105" dirty="0">
                <a:solidFill>
                  <a:srgbClr val="231F20"/>
                </a:solidFill>
                <a:latin typeface="Arial"/>
                <a:cs typeface="Arial"/>
              </a:rPr>
              <a:t>by </a:t>
            </a:r>
            <a:r>
              <a:rPr sz="1950" spc="135" dirty="0">
                <a:solidFill>
                  <a:srgbClr val="231F20"/>
                </a:solidFill>
                <a:latin typeface="Arial"/>
                <a:cs typeface="Arial"/>
              </a:rPr>
              <a:t>explicit </a:t>
            </a:r>
            <a:r>
              <a:rPr sz="1950" spc="105" dirty="0">
                <a:solidFill>
                  <a:srgbClr val="231F20"/>
                </a:solidFill>
                <a:latin typeface="Arial"/>
                <a:cs typeface="Arial"/>
              </a:rPr>
              <a:t>coverage </a:t>
            </a:r>
            <a:r>
              <a:rPr sz="1950" spc="380" dirty="0">
                <a:solidFill>
                  <a:srgbClr val="231F20"/>
                </a:solidFill>
                <a:latin typeface="Arial"/>
                <a:cs typeface="Arial"/>
              </a:rPr>
              <a:t> </a:t>
            </a:r>
            <a:r>
              <a:rPr sz="1950" spc="85" dirty="0">
                <a:solidFill>
                  <a:srgbClr val="231F20"/>
                </a:solidFill>
                <a:latin typeface="Arial"/>
                <a:cs typeface="Arial"/>
              </a:rPr>
              <a:t>measures</a:t>
            </a:r>
            <a:endParaRPr sz="1950">
              <a:latin typeface="Arial"/>
              <a:cs typeface="Arial"/>
            </a:endParaRPr>
          </a:p>
          <a:p>
            <a:pPr marL="741680" marR="5080" lvl="1" indent="-288290">
              <a:lnSpc>
                <a:spcPct val="125000"/>
              </a:lnSpc>
              <a:spcBef>
                <a:spcPts val="204"/>
              </a:spcBef>
              <a:buSzPct val="105128"/>
              <a:buFont typeface="Lucida Sans Unicode"/>
              <a:buChar char="◦"/>
              <a:tabLst>
                <a:tab pos="742315" algn="l"/>
              </a:tabLst>
            </a:pPr>
            <a:r>
              <a:rPr sz="1950" spc="180" dirty="0">
                <a:solidFill>
                  <a:srgbClr val="231F20"/>
                </a:solidFill>
                <a:latin typeface="Arial"/>
                <a:cs typeface="Arial"/>
              </a:rPr>
              <a:t>Good </a:t>
            </a:r>
            <a:r>
              <a:rPr sz="1950" spc="105" dirty="0">
                <a:solidFill>
                  <a:srgbClr val="231F20"/>
                </a:solidFill>
                <a:latin typeface="Arial"/>
                <a:cs typeface="Arial"/>
              </a:rPr>
              <a:t>coverage </a:t>
            </a:r>
            <a:r>
              <a:rPr sz="1950" spc="40" dirty="0">
                <a:solidFill>
                  <a:srgbClr val="231F20"/>
                </a:solidFill>
                <a:latin typeface="Arial"/>
                <a:cs typeface="Arial"/>
              </a:rPr>
              <a:t>is </a:t>
            </a:r>
            <a:r>
              <a:rPr sz="1950" spc="160" dirty="0">
                <a:solidFill>
                  <a:srgbClr val="231F20"/>
                </a:solidFill>
                <a:latin typeface="Arial"/>
                <a:cs typeface="Arial"/>
              </a:rPr>
              <a:t>almost </a:t>
            </a:r>
            <a:r>
              <a:rPr sz="1950" spc="110" dirty="0">
                <a:solidFill>
                  <a:srgbClr val="231F20"/>
                </a:solidFill>
                <a:latin typeface="Arial"/>
                <a:cs typeface="Arial"/>
              </a:rPr>
              <a:t>impossible </a:t>
            </a:r>
            <a:r>
              <a:rPr sz="1950" spc="140" dirty="0">
                <a:solidFill>
                  <a:srgbClr val="231F20"/>
                </a:solidFill>
                <a:latin typeface="Arial"/>
                <a:cs typeface="Arial"/>
              </a:rPr>
              <a:t>when </a:t>
            </a:r>
            <a:r>
              <a:rPr sz="1950" spc="175" dirty="0">
                <a:solidFill>
                  <a:srgbClr val="231F20"/>
                </a:solidFill>
                <a:latin typeface="Arial"/>
                <a:cs typeface="Arial"/>
              </a:rPr>
              <a:t>the </a:t>
            </a:r>
            <a:r>
              <a:rPr sz="1950" spc="155" dirty="0">
                <a:solidFill>
                  <a:srgbClr val="231F20"/>
                </a:solidFill>
                <a:latin typeface="Arial"/>
                <a:cs typeface="Arial"/>
              </a:rPr>
              <a:t>environment  </a:t>
            </a:r>
            <a:r>
              <a:rPr sz="1950" spc="120" dirty="0">
                <a:solidFill>
                  <a:srgbClr val="231F20"/>
                </a:solidFill>
                <a:latin typeface="Arial"/>
                <a:cs typeface="Arial"/>
              </a:rPr>
              <a:t>can </a:t>
            </a:r>
            <a:r>
              <a:rPr sz="1950" spc="160" dirty="0">
                <a:solidFill>
                  <a:srgbClr val="231F20"/>
                </a:solidFill>
                <a:latin typeface="Arial"/>
                <a:cs typeface="Arial"/>
              </a:rPr>
              <a:t>introduce </a:t>
            </a:r>
            <a:r>
              <a:rPr sz="1950" spc="120" dirty="0">
                <a:solidFill>
                  <a:srgbClr val="231F20"/>
                </a:solidFill>
                <a:latin typeface="Arial"/>
                <a:cs typeface="Arial"/>
              </a:rPr>
              <a:t>huge </a:t>
            </a:r>
            <a:r>
              <a:rPr sz="1950" spc="140" dirty="0">
                <a:solidFill>
                  <a:srgbClr val="231F20"/>
                </a:solidFill>
                <a:latin typeface="Arial"/>
                <a:cs typeface="Arial"/>
              </a:rPr>
              <a:t>numbers </a:t>
            </a:r>
            <a:r>
              <a:rPr sz="1950" spc="185" dirty="0">
                <a:solidFill>
                  <a:srgbClr val="231F20"/>
                </a:solidFill>
                <a:latin typeface="Arial"/>
                <a:cs typeface="Arial"/>
              </a:rPr>
              <a:t>of </a:t>
            </a:r>
            <a:r>
              <a:rPr sz="1950" spc="145" dirty="0">
                <a:solidFill>
                  <a:srgbClr val="231F20"/>
                </a:solidFill>
                <a:latin typeface="Arial"/>
                <a:cs typeface="Arial"/>
              </a:rPr>
              <a:t>different </a:t>
            </a:r>
            <a:r>
              <a:rPr sz="1950" spc="305" dirty="0">
                <a:solidFill>
                  <a:srgbClr val="231F20"/>
                </a:solidFill>
                <a:latin typeface="Arial"/>
                <a:cs typeface="Arial"/>
              </a:rPr>
              <a:t> </a:t>
            </a:r>
            <a:r>
              <a:rPr sz="1950" spc="100" dirty="0">
                <a:solidFill>
                  <a:srgbClr val="231F20"/>
                </a:solidFill>
                <a:latin typeface="Arial"/>
                <a:cs typeface="Arial"/>
              </a:rPr>
              <a:t>behaviors</a:t>
            </a:r>
            <a:endParaRPr sz="1950">
              <a:latin typeface="Arial"/>
              <a:cs typeface="Arial"/>
            </a:endParaRPr>
          </a:p>
          <a:p>
            <a:pPr marL="741680">
              <a:lnSpc>
                <a:spcPct val="100000"/>
              </a:lnSpc>
              <a:spcBef>
                <a:spcPts val="585"/>
              </a:spcBef>
            </a:pPr>
            <a:r>
              <a:rPr sz="1950" spc="150" dirty="0">
                <a:solidFill>
                  <a:srgbClr val="231F20"/>
                </a:solidFill>
                <a:latin typeface="Arial"/>
                <a:cs typeface="Arial"/>
              </a:rPr>
              <a:t>(e.g., </a:t>
            </a:r>
            <a:r>
              <a:rPr sz="1950" spc="180" dirty="0">
                <a:solidFill>
                  <a:srgbClr val="231F20"/>
                </a:solidFill>
                <a:latin typeface="Arial"/>
                <a:cs typeface="Arial"/>
              </a:rPr>
              <a:t>fault </a:t>
            </a:r>
            <a:r>
              <a:rPr sz="1950" spc="100" dirty="0">
                <a:solidFill>
                  <a:srgbClr val="231F20"/>
                </a:solidFill>
                <a:latin typeface="Arial"/>
                <a:cs typeface="Arial"/>
              </a:rPr>
              <a:t>arrivals, </a:t>
            </a:r>
            <a:r>
              <a:rPr sz="1950" spc="145" dirty="0">
                <a:solidFill>
                  <a:srgbClr val="231F20"/>
                </a:solidFill>
                <a:latin typeface="Arial"/>
                <a:cs typeface="Arial"/>
              </a:rPr>
              <a:t>real-time, </a:t>
            </a:r>
            <a:r>
              <a:rPr sz="1950" spc="114" dirty="0">
                <a:solidFill>
                  <a:srgbClr val="231F20"/>
                </a:solidFill>
                <a:latin typeface="Arial"/>
                <a:cs typeface="Arial"/>
              </a:rPr>
              <a:t>asynchronous </a:t>
            </a:r>
            <a:r>
              <a:rPr sz="1950" spc="175" dirty="0">
                <a:solidFill>
                  <a:srgbClr val="231F20"/>
                </a:solidFill>
                <a:latin typeface="Arial"/>
                <a:cs typeface="Arial"/>
              </a:rPr>
              <a:t> </a:t>
            </a:r>
            <a:r>
              <a:rPr sz="1950" spc="160" dirty="0">
                <a:solidFill>
                  <a:srgbClr val="231F20"/>
                </a:solidFill>
                <a:latin typeface="Arial"/>
                <a:cs typeface="Arial"/>
              </a:rPr>
              <a:t>interactions)</a:t>
            </a:r>
            <a:endParaRPr sz="1950">
              <a:latin typeface="Arial"/>
              <a:cs typeface="Arial"/>
            </a:endParaRPr>
          </a:p>
          <a:p>
            <a:pPr marL="300990">
              <a:lnSpc>
                <a:spcPct val="100000"/>
              </a:lnSpc>
              <a:spcBef>
                <a:spcPts val="1000"/>
              </a:spcBef>
            </a:pPr>
            <a:r>
              <a:rPr sz="1950" spc="114" dirty="0">
                <a:solidFill>
                  <a:srgbClr val="231F20"/>
                </a:solidFill>
                <a:latin typeface="Arial"/>
                <a:cs typeface="Arial"/>
              </a:rPr>
              <a:t>So </a:t>
            </a:r>
            <a:r>
              <a:rPr sz="1950" spc="95" dirty="0">
                <a:solidFill>
                  <a:srgbClr val="231F20"/>
                </a:solidFill>
                <a:latin typeface="Arial"/>
                <a:cs typeface="Arial"/>
              </a:rPr>
              <a:t>depends </a:t>
            </a:r>
            <a:r>
              <a:rPr sz="1950" spc="155" dirty="0">
                <a:solidFill>
                  <a:srgbClr val="231F20"/>
                </a:solidFill>
                <a:latin typeface="Arial"/>
                <a:cs typeface="Arial"/>
              </a:rPr>
              <a:t>on </a:t>
            </a:r>
            <a:r>
              <a:rPr sz="1950" spc="105" dirty="0">
                <a:solidFill>
                  <a:srgbClr val="231F20"/>
                </a:solidFill>
                <a:latin typeface="Arial"/>
                <a:cs typeface="Arial"/>
              </a:rPr>
              <a:t>skill,</a:t>
            </a:r>
            <a:r>
              <a:rPr sz="1950" spc="720" dirty="0">
                <a:solidFill>
                  <a:srgbClr val="231F20"/>
                </a:solidFill>
                <a:latin typeface="Arial"/>
                <a:cs typeface="Arial"/>
              </a:rPr>
              <a:t> </a:t>
            </a:r>
            <a:r>
              <a:rPr sz="1950" spc="145" dirty="0">
                <a:solidFill>
                  <a:srgbClr val="231F20"/>
                </a:solidFill>
                <a:latin typeface="Arial"/>
                <a:cs typeface="Arial"/>
              </a:rPr>
              <a:t>luck</a:t>
            </a:r>
            <a:endParaRPr sz="1950">
              <a:latin typeface="Arial"/>
              <a:cs typeface="Arial"/>
            </a:endParaRPr>
          </a:p>
          <a:p>
            <a:pPr marL="300990" marR="302895" indent="-288290">
              <a:lnSpc>
                <a:spcPct val="125000"/>
              </a:lnSpc>
              <a:spcBef>
                <a:spcPts val="409"/>
              </a:spcBef>
              <a:buSzPct val="105128"/>
              <a:buFont typeface="Lucida Sans Unicode"/>
              <a:buChar char="•"/>
              <a:tabLst>
                <a:tab pos="301625" algn="l"/>
              </a:tabLst>
            </a:pPr>
            <a:r>
              <a:rPr sz="1950" spc="95" dirty="0">
                <a:solidFill>
                  <a:srgbClr val="231F20"/>
                </a:solidFill>
                <a:latin typeface="Arial"/>
                <a:cs typeface="Arial"/>
              </a:rPr>
              <a:t>Since </a:t>
            </a:r>
            <a:r>
              <a:rPr sz="1950" spc="160" dirty="0">
                <a:solidFill>
                  <a:srgbClr val="231F20"/>
                </a:solidFill>
                <a:latin typeface="Arial"/>
                <a:cs typeface="Arial"/>
              </a:rPr>
              <a:t>formal </a:t>
            </a:r>
            <a:r>
              <a:rPr sz="1950" spc="165" dirty="0">
                <a:solidFill>
                  <a:srgbClr val="231F20"/>
                </a:solidFill>
                <a:latin typeface="Arial"/>
                <a:cs typeface="Arial"/>
              </a:rPr>
              <a:t>methods </a:t>
            </a:r>
            <a:r>
              <a:rPr sz="1950" spc="120" dirty="0">
                <a:solidFill>
                  <a:srgbClr val="231F20"/>
                </a:solidFill>
                <a:latin typeface="Arial"/>
                <a:cs typeface="Arial"/>
              </a:rPr>
              <a:t>can </a:t>
            </a:r>
            <a:r>
              <a:rPr sz="1950" spc="105" dirty="0">
                <a:solidFill>
                  <a:srgbClr val="231F20"/>
                </a:solidFill>
                <a:latin typeface="Arial"/>
                <a:cs typeface="Arial"/>
              </a:rPr>
              <a:t>consider </a:t>
            </a:r>
            <a:r>
              <a:rPr sz="1950" spc="105" dirty="0">
                <a:solidFill>
                  <a:srgbClr val="FF0000"/>
                </a:solidFill>
                <a:latin typeface="Arial"/>
                <a:cs typeface="Arial"/>
              </a:rPr>
              <a:t>all </a:t>
            </a:r>
            <a:r>
              <a:rPr sz="1950" spc="105" dirty="0">
                <a:solidFill>
                  <a:srgbClr val="231F20"/>
                </a:solidFill>
                <a:latin typeface="Arial"/>
                <a:cs typeface="Arial"/>
              </a:rPr>
              <a:t>behaviors, </a:t>
            </a:r>
            <a:r>
              <a:rPr sz="1950" spc="145" dirty="0">
                <a:solidFill>
                  <a:srgbClr val="FF0000"/>
                </a:solidFill>
                <a:latin typeface="Arial"/>
                <a:cs typeface="Arial"/>
              </a:rPr>
              <a:t>certain </a:t>
            </a:r>
            <a:r>
              <a:rPr sz="1950" spc="250" dirty="0">
                <a:solidFill>
                  <a:srgbClr val="231F20"/>
                </a:solidFill>
                <a:latin typeface="Arial"/>
                <a:cs typeface="Arial"/>
              </a:rPr>
              <a:t>to  </a:t>
            </a:r>
            <a:r>
              <a:rPr sz="1950" spc="160" dirty="0">
                <a:solidFill>
                  <a:srgbClr val="231F20"/>
                </a:solidFill>
                <a:latin typeface="Arial"/>
                <a:cs typeface="Arial"/>
              </a:rPr>
              <a:t>find </a:t>
            </a:r>
            <a:r>
              <a:rPr sz="1950" spc="175" dirty="0">
                <a:solidFill>
                  <a:srgbClr val="231F20"/>
                </a:solidFill>
                <a:latin typeface="Arial"/>
                <a:cs typeface="Arial"/>
              </a:rPr>
              <a:t>the</a:t>
            </a:r>
            <a:r>
              <a:rPr sz="1950" spc="310" dirty="0">
                <a:solidFill>
                  <a:srgbClr val="231F20"/>
                </a:solidFill>
                <a:latin typeface="Arial"/>
                <a:cs typeface="Arial"/>
              </a:rPr>
              <a:t> </a:t>
            </a:r>
            <a:r>
              <a:rPr sz="1950" spc="110" dirty="0">
                <a:solidFill>
                  <a:srgbClr val="231F20"/>
                </a:solidFill>
                <a:latin typeface="Arial"/>
                <a:cs typeface="Arial"/>
              </a:rPr>
              <a:t>bugs</a:t>
            </a:r>
            <a:endParaRPr sz="1950">
              <a:latin typeface="Arial"/>
              <a:cs typeface="Arial"/>
            </a:endParaRPr>
          </a:p>
          <a:p>
            <a:pPr marL="741680" marR="665480" lvl="1" indent="-288290">
              <a:lnSpc>
                <a:spcPct val="125000"/>
              </a:lnSpc>
              <a:spcBef>
                <a:spcPts val="414"/>
              </a:spcBef>
              <a:buClr>
                <a:srgbClr val="231F20"/>
              </a:buClr>
              <a:buSzPct val="105128"/>
              <a:buFont typeface="Lucida Sans Unicode"/>
              <a:buChar char="◦"/>
              <a:tabLst>
                <a:tab pos="742315" algn="l"/>
              </a:tabLst>
            </a:pPr>
            <a:r>
              <a:rPr sz="1950" spc="140" dirty="0">
                <a:solidFill>
                  <a:srgbClr val="FF0000"/>
                </a:solidFill>
                <a:latin typeface="Arial"/>
                <a:cs typeface="Arial"/>
              </a:rPr>
              <a:t>Provided </a:t>
            </a:r>
            <a:r>
              <a:rPr sz="1950" spc="175" dirty="0">
                <a:solidFill>
                  <a:srgbClr val="FF0000"/>
                </a:solidFill>
                <a:latin typeface="Arial"/>
                <a:cs typeface="Arial"/>
              </a:rPr>
              <a:t>the </a:t>
            </a:r>
            <a:r>
              <a:rPr sz="1950" spc="155" dirty="0">
                <a:solidFill>
                  <a:srgbClr val="FF0000"/>
                </a:solidFill>
                <a:latin typeface="Arial"/>
                <a:cs typeface="Arial"/>
              </a:rPr>
              <a:t>model, environment, </a:t>
            </a:r>
            <a:r>
              <a:rPr sz="1950" spc="130" dirty="0">
                <a:solidFill>
                  <a:srgbClr val="FF0000"/>
                </a:solidFill>
                <a:latin typeface="Arial"/>
                <a:cs typeface="Arial"/>
              </a:rPr>
              <a:t>and </a:t>
            </a:r>
            <a:r>
              <a:rPr sz="1950" spc="175" dirty="0">
                <a:solidFill>
                  <a:srgbClr val="FF0000"/>
                </a:solidFill>
                <a:latin typeface="Arial"/>
                <a:cs typeface="Arial"/>
              </a:rPr>
              <a:t>the </a:t>
            </a:r>
            <a:r>
              <a:rPr sz="1950" spc="125" dirty="0">
                <a:solidFill>
                  <a:srgbClr val="FF0000"/>
                </a:solidFill>
                <a:latin typeface="Arial"/>
                <a:cs typeface="Arial"/>
              </a:rPr>
              <a:t>properties  </a:t>
            </a:r>
            <a:r>
              <a:rPr sz="1950" spc="100" dirty="0">
                <a:solidFill>
                  <a:srgbClr val="FF0000"/>
                </a:solidFill>
                <a:latin typeface="Arial"/>
                <a:cs typeface="Arial"/>
              </a:rPr>
              <a:t>checked </a:t>
            </a:r>
            <a:r>
              <a:rPr sz="1950" spc="65" dirty="0">
                <a:solidFill>
                  <a:srgbClr val="FF0000"/>
                </a:solidFill>
                <a:latin typeface="Arial"/>
                <a:cs typeface="Arial"/>
              </a:rPr>
              <a:t>are </a:t>
            </a:r>
            <a:r>
              <a:rPr sz="1950" spc="130" dirty="0">
                <a:solidFill>
                  <a:srgbClr val="FF0000"/>
                </a:solidFill>
                <a:latin typeface="Arial"/>
                <a:cs typeface="Arial"/>
              </a:rPr>
              <a:t>sufficiently </a:t>
            </a:r>
            <a:r>
              <a:rPr sz="1950" spc="135" dirty="0">
                <a:solidFill>
                  <a:srgbClr val="FF0000"/>
                </a:solidFill>
                <a:latin typeface="Arial"/>
                <a:cs typeface="Arial"/>
              </a:rPr>
              <a:t>accurate </a:t>
            </a:r>
            <a:r>
              <a:rPr sz="1950" spc="250" dirty="0">
                <a:solidFill>
                  <a:srgbClr val="FF0000"/>
                </a:solidFill>
                <a:latin typeface="Arial"/>
                <a:cs typeface="Arial"/>
              </a:rPr>
              <a:t>to </a:t>
            </a:r>
            <a:r>
              <a:rPr sz="1950" spc="150" dirty="0">
                <a:solidFill>
                  <a:srgbClr val="FF0000"/>
                </a:solidFill>
                <a:latin typeface="Arial"/>
                <a:cs typeface="Arial"/>
              </a:rPr>
              <a:t>manifest </a:t>
            </a:r>
            <a:r>
              <a:rPr sz="1950" spc="350" dirty="0">
                <a:solidFill>
                  <a:srgbClr val="FF0000"/>
                </a:solidFill>
                <a:latin typeface="Arial"/>
                <a:cs typeface="Arial"/>
              </a:rPr>
              <a:t> </a:t>
            </a:r>
            <a:r>
              <a:rPr sz="1950" spc="204" dirty="0">
                <a:solidFill>
                  <a:srgbClr val="FF0000"/>
                </a:solidFill>
                <a:latin typeface="Arial"/>
                <a:cs typeface="Arial"/>
              </a:rPr>
              <a:t>them</a:t>
            </a:r>
            <a:endParaRPr sz="1950">
              <a:latin typeface="Arial"/>
              <a:cs typeface="Arial"/>
            </a:endParaRPr>
          </a:p>
          <a:p>
            <a:pPr marL="300990">
              <a:lnSpc>
                <a:spcPct val="100000"/>
              </a:lnSpc>
              <a:spcBef>
                <a:spcPts val="994"/>
              </a:spcBef>
            </a:pPr>
            <a:r>
              <a:rPr sz="1950" spc="114" dirty="0">
                <a:solidFill>
                  <a:srgbClr val="231F20"/>
                </a:solidFill>
                <a:latin typeface="Arial"/>
                <a:cs typeface="Arial"/>
              </a:rPr>
              <a:t>So </a:t>
            </a:r>
            <a:r>
              <a:rPr sz="1950" spc="95" dirty="0">
                <a:solidFill>
                  <a:srgbClr val="231F20"/>
                </a:solidFill>
                <a:latin typeface="Arial"/>
                <a:cs typeface="Arial"/>
              </a:rPr>
              <a:t>depends </a:t>
            </a:r>
            <a:r>
              <a:rPr sz="1950" spc="155" dirty="0">
                <a:solidFill>
                  <a:srgbClr val="231F20"/>
                </a:solidFill>
                <a:latin typeface="Arial"/>
                <a:cs typeface="Arial"/>
              </a:rPr>
              <a:t>on </a:t>
            </a:r>
            <a:r>
              <a:rPr sz="1950" spc="105" dirty="0">
                <a:solidFill>
                  <a:srgbClr val="231F20"/>
                </a:solidFill>
                <a:latin typeface="Arial"/>
                <a:cs typeface="Arial"/>
              </a:rPr>
              <a:t>skill,</a:t>
            </a:r>
            <a:r>
              <a:rPr sz="1950" spc="720" dirty="0">
                <a:solidFill>
                  <a:srgbClr val="231F20"/>
                </a:solidFill>
                <a:latin typeface="Arial"/>
                <a:cs typeface="Arial"/>
              </a:rPr>
              <a:t> </a:t>
            </a:r>
            <a:r>
              <a:rPr sz="1950" spc="145" dirty="0">
                <a:solidFill>
                  <a:srgbClr val="231F20"/>
                </a:solidFill>
                <a:latin typeface="Arial"/>
                <a:cs typeface="Arial"/>
              </a:rPr>
              <a:t>luck</a:t>
            </a:r>
            <a:endParaRPr sz="1950">
              <a:latin typeface="Arial"/>
              <a:cs typeface="Arial"/>
            </a:endParaRPr>
          </a:p>
          <a:p>
            <a:pPr marL="300990" marR="17780" indent="-288290">
              <a:lnSpc>
                <a:spcPct val="125000"/>
              </a:lnSpc>
              <a:spcBef>
                <a:spcPts val="409"/>
              </a:spcBef>
              <a:buClr>
                <a:srgbClr val="231F20"/>
              </a:buClr>
              <a:buSzPct val="105128"/>
              <a:buFont typeface="Lucida Sans Unicode"/>
              <a:buChar char="•"/>
              <a:tabLst>
                <a:tab pos="301625" algn="l"/>
              </a:tabLst>
            </a:pPr>
            <a:r>
              <a:rPr sz="1950" spc="114" dirty="0">
                <a:solidFill>
                  <a:srgbClr val="FF0000"/>
                </a:solidFill>
                <a:latin typeface="Arial"/>
                <a:cs typeface="Arial"/>
              </a:rPr>
              <a:t>Experience </a:t>
            </a:r>
            <a:r>
              <a:rPr sz="1950" spc="40" dirty="0">
                <a:solidFill>
                  <a:srgbClr val="FF0000"/>
                </a:solidFill>
                <a:latin typeface="Arial"/>
                <a:cs typeface="Arial"/>
              </a:rPr>
              <a:t>is </a:t>
            </a:r>
            <a:r>
              <a:rPr sz="1950" spc="120" dirty="0">
                <a:solidFill>
                  <a:srgbClr val="FF0000"/>
                </a:solidFill>
                <a:latin typeface="Arial"/>
                <a:cs typeface="Arial"/>
              </a:rPr>
              <a:t>you </a:t>
            </a:r>
            <a:r>
              <a:rPr sz="1950" spc="160" dirty="0">
                <a:solidFill>
                  <a:srgbClr val="FF0000"/>
                </a:solidFill>
                <a:latin typeface="Arial"/>
                <a:cs typeface="Arial"/>
              </a:rPr>
              <a:t>find </a:t>
            </a:r>
            <a:r>
              <a:rPr sz="1950" spc="145" dirty="0">
                <a:solidFill>
                  <a:srgbClr val="FF0000"/>
                </a:solidFill>
                <a:latin typeface="Arial"/>
                <a:cs typeface="Arial"/>
              </a:rPr>
              <a:t>more </a:t>
            </a:r>
            <a:r>
              <a:rPr sz="1950" spc="110" dirty="0">
                <a:solidFill>
                  <a:srgbClr val="FF0000"/>
                </a:solidFill>
                <a:latin typeface="Arial"/>
                <a:cs typeface="Arial"/>
              </a:rPr>
              <a:t>bugs </a:t>
            </a:r>
            <a:r>
              <a:rPr sz="1950" spc="175" dirty="0">
                <a:solidFill>
                  <a:srgbClr val="FF0000"/>
                </a:solidFill>
                <a:latin typeface="Arial"/>
                <a:cs typeface="Arial"/>
              </a:rPr>
              <a:t>(and </a:t>
            </a:r>
            <a:r>
              <a:rPr sz="1950" spc="145" dirty="0">
                <a:solidFill>
                  <a:srgbClr val="FF0000"/>
                </a:solidFill>
                <a:latin typeface="Arial"/>
                <a:cs typeface="Arial"/>
              </a:rPr>
              <a:t>more </a:t>
            </a:r>
            <a:r>
              <a:rPr sz="1950" spc="120" dirty="0">
                <a:solidFill>
                  <a:srgbClr val="FF0000"/>
                </a:solidFill>
                <a:latin typeface="Arial"/>
                <a:cs typeface="Arial"/>
              </a:rPr>
              <a:t>high-value </a:t>
            </a:r>
            <a:r>
              <a:rPr sz="1950" spc="150" dirty="0">
                <a:solidFill>
                  <a:srgbClr val="FF0000"/>
                </a:solidFill>
                <a:latin typeface="Arial"/>
                <a:cs typeface="Arial"/>
              </a:rPr>
              <a:t>bugs)  </a:t>
            </a:r>
            <a:r>
              <a:rPr sz="1950" spc="105" dirty="0">
                <a:solidFill>
                  <a:srgbClr val="FF0000"/>
                </a:solidFill>
                <a:latin typeface="Arial"/>
                <a:cs typeface="Arial"/>
              </a:rPr>
              <a:t>by </a:t>
            </a:r>
            <a:r>
              <a:rPr sz="1950" spc="120" dirty="0">
                <a:solidFill>
                  <a:srgbClr val="FF0000"/>
                </a:solidFill>
                <a:latin typeface="Arial"/>
                <a:cs typeface="Arial"/>
              </a:rPr>
              <a:t>exploring </a:t>
            </a:r>
            <a:r>
              <a:rPr sz="1950" spc="105" dirty="0">
                <a:solidFill>
                  <a:srgbClr val="0000FF"/>
                </a:solidFill>
                <a:latin typeface="Arial"/>
                <a:cs typeface="Arial"/>
              </a:rPr>
              <a:t>all </a:t>
            </a:r>
            <a:r>
              <a:rPr sz="1950" spc="100" dirty="0">
                <a:solidFill>
                  <a:srgbClr val="FF0000"/>
                </a:solidFill>
                <a:latin typeface="Arial"/>
                <a:cs typeface="Arial"/>
              </a:rPr>
              <a:t>behaviors </a:t>
            </a:r>
            <a:r>
              <a:rPr sz="1950" spc="185" dirty="0">
                <a:solidFill>
                  <a:srgbClr val="FF0000"/>
                </a:solidFill>
                <a:latin typeface="Arial"/>
                <a:cs typeface="Arial"/>
              </a:rPr>
              <a:t>of </a:t>
            </a:r>
            <a:r>
              <a:rPr sz="1950" spc="120" dirty="0">
                <a:solidFill>
                  <a:srgbClr val="FF0000"/>
                </a:solidFill>
                <a:latin typeface="Arial"/>
                <a:cs typeface="Arial"/>
              </a:rPr>
              <a:t>an </a:t>
            </a:r>
            <a:r>
              <a:rPr sz="1950" spc="140" dirty="0">
                <a:solidFill>
                  <a:srgbClr val="FF0000"/>
                </a:solidFill>
                <a:latin typeface="Arial"/>
                <a:cs typeface="Arial"/>
              </a:rPr>
              <a:t>approximate </a:t>
            </a:r>
            <a:r>
              <a:rPr sz="1950" spc="160" dirty="0">
                <a:solidFill>
                  <a:srgbClr val="FF0000"/>
                </a:solidFill>
                <a:latin typeface="Arial"/>
                <a:cs typeface="Arial"/>
              </a:rPr>
              <a:t>model </a:t>
            </a:r>
            <a:r>
              <a:rPr sz="1950" spc="185" dirty="0">
                <a:solidFill>
                  <a:srgbClr val="FF0000"/>
                </a:solidFill>
                <a:latin typeface="Arial"/>
                <a:cs typeface="Arial"/>
              </a:rPr>
              <a:t>than </a:t>
            </a:r>
            <a:r>
              <a:rPr sz="1950" spc="105" dirty="0">
                <a:solidFill>
                  <a:srgbClr val="FF0000"/>
                </a:solidFill>
                <a:latin typeface="Arial"/>
                <a:cs typeface="Arial"/>
              </a:rPr>
              <a:t>by  </a:t>
            </a:r>
            <a:r>
              <a:rPr sz="1950" spc="120" dirty="0">
                <a:solidFill>
                  <a:srgbClr val="FF0000"/>
                </a:solidFill>
                <a:latin typeface="Arial"/>
                <a:cs typeface="Arial"/>
              </a:rPr>
              <a:t>exploring </a:t>
            </a:r>
            <a:r>
              <a:rPr sz="1950" spc="110" dirty="0">
                <a:solidFill>
                  <a:srgbClr val="0000FF"/>
                </a:solidFill>
                <a:latin typeface="Arial"/>
                <a:cs typeface="Arial"/>
              </a:rPr>
              <a:t>some </a:t>
            </a:r>
            <a:r>
              <a:rPr sz="1950" spc="100" dirty="0">
                <a:solidFill>
                  <a:srgbClr val="FF0000"/>
                </a:solidFill>
                <a:latin typeface="Arial"/>
                <a:cs typeface="Arial"/>
              </a:rPr>
              <a:t>behaviors </a:t>
            </a:r>
            <a:r>
              <a:rPr sz="1950" spc="185" dirty="0">
                <a:solidFill>
                  <a:srgbClr val="FF0000"/>
                </a:solidFill>
                <a:latin typeface="Arial"/>
                <a:cs typeface="Arial"/>
              </a:rPr>
              <a:t>of </a:t>
            </a:r>
            <a:r>
              <a:rPr sz="1950" spc="85" dirty="0">
                <a:solidFill>
                  <a:srgbClr val="FF0000"/>
                </a:solidFill>
                <a:latin typeface="Arial"/>
                <a:cs typeface="Arial"/>
              </a:rPr>
              <a:t>a </a:t>
            </a:r>
            <a:r>
              <a:rPr sz="1950" spc="145" dirty="0">
                <a:solidFill>
                  <a:srgbClr val="FF0000"/>
                </a:solidFill>
                <a:latin typeface="Arial"/>
                <a:cs typeface="Arial"/>
              </a:rPr>
              <a:t>more </a:t>
            </a:r>
            <a:r>
              <a:rPr sz="1950" spc="135" dirty="0">
                <a:solidFill>
                  <a:srgbClr val="FF0000"/>
                </a:solidFill>
                <a:latin typeface="Arial"/>
                <a:cs typeface="Arial"/>
              </a:rPr>
              <a:t>accurate </a:t>
            </a:r>
            <a:r>
              <a:rPr sz="1950" spc="560" dirty="0">
                <a:solidFill>
                  <a:srgbClr val="FF0000"/>
                </a:solidFill>
                <a:latin typeface="Arial"/>
                <a:cs typeface="Arial"/>
              </a:rPr>
              <a:t> </a:t>
            </a:r>
            <a:r>
              <a:rPr sz="1950" spc="105" dirty="0">
                <a:solidFill>
                  <a:srgbClr val="FF0000"/>
                </a:solidFill>
                <a:latin typeface="Arial"/>
                <a:cs typeface="Arial"/>
              </a:rPr>
              <a:t>one</a:t>
            </a:r>
            <a:endParaRPr sz="1950">
              <a:latin typeface="Arial"/>
              <a:cs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540221"/>
            <a:ext cx="7986395" cy="2324100"/>
          </a:xfrm>
          <a:prstGeom prst="rect">
            <a:avLst/>
          </a:prstGeom>
        </p:spPr>
        <p:txBody>
          <a:bodyPr vert="horz" wrap="square" lIns="0" tIns="0" rIns="0" bIns="0" rtlCol="0">
            <a:spAutoFit/>
          </a:bodyPr>
          <a:lstStyle/>
          <a:p>
            <a:pPr marL="1147445">
              <a:lnSpc>
                <a:spcPct val="100000"/>
              </a:lnSpc>
              <a:tabLst>
                <a:tab pos="4194175" algn="l"/>
              </a:tabLst>
            </a:pPr>
            <a:r>
              <a:rPr sz="1950" spc="270" dirty="0">
                <a:solidFill>
                  <a:srgbClr val="231F20"/>
                </a:solidFill>
                <a:latin typeface="Arial"/>
                <a:cs typeface="Arial"/>
              </a:rPr>
              <a:t>Formal </a:t>
            </a:r>
            <a:r>
              <a:rPr sz="1950" spc="715" dirty="0">
                <a:solidFill>
                  <a:srgbClr val="231F20"/>
                </a:solidFill>
                <a:latin typeface="Arial"/>
                <a:cs typeface="Arial"/>
              </a:rPr>
              <a:t> </a:t>
            </a:r>
            <a:r>
              <a:rPr sz="1950" spc="225" dirty="0">
                <a:solidFill>
                  <a:srgbClr val="231F20"/>
                </a:solidFill>
                <a:latin typeface="Arial"/>
                <a:cs typeface="Arial"/>
              </a:rPr>
              <a:t>Calculations:	</a:t>
            </a:r>
            <a:r>
              <a:rPr sz="1950" spc="390" dirty="0">
                <a:solidFill>
                  <a:srgbClr val="231F20"/>
                </a:solidFill>
                <a:latin typeface="Arial"/>
                <a:cs typeface="Arial"/>
              </a:rPr>
              <a:t>The </a:t>
            </a:r>
            <a:r>
              <a:rPr sz="1950" spc="225" dirty="0">
                <a:solidFill>
                  <a:srgbClr val="231F20"/>
                </a:solidFill>
                <a:latin typeface="Arial"/>
                <a:cs typeface="Arial"/>
              </a:rPr>
              <a:t>Basic</a:t>
            </a:r>
            <a:r>
              <a:rPr sz="1950" spc="285" dirty="0">
                <a:solidFill>
                  <a:srgbClr val="231F20"/>
                </a:solidFill>
                <a:latin typeface="Arial"/>
                <a:cs typeface="Arial"/>
              </a:rPr>
              <a:t> </a:t>
            </a:r>
            <a:r>
              <a:rPr sz="1950" spc="215" dirty="0">
                <a:solidFill>
                  <a:srgbClr val="231F20"/>
                </a:solidFill>
                <a:latin typeface="Arial"/>
                <a:cs typeface="Arial"/>
              </a:rPr>
              <a:t>Challenge</a:t>
            </a:r>
            <a:endParaRPr sz="1950">
              <a:latin typeface="Arial"/>
              <a:cs typeface="Arial"/>
            </a:endParaRPr>
          </a:p>
          <a:p>
            <a:pPr marL="300990" marR="5080" indent="-288290">
              <a:lnSpc>
                <a:spcPct val="125000"/>
              </a:lnSpc>
              <a:spcBef>
                <a:spcPts val="1345"/>
              </a:spcBef>
              <a:buSzPct val="105128"/>
              <a:buFont typeface="Lucida Sans Unicode"/>
              <a:buChar char="•"/>
              <a:tabLst>
                <a:tab pos="301625" algn="l"/>
              </a:tabLst>
            </a:pPr>
            <a:r>
              <a:rPr sz="1950" spc="170" dirty="0">
                <a:solidFill>
                  <a:srgbClr val="231F20"/>
                </a:solidFill>
                <a:latin typeface="Arial"/>
                <a:cs typeface="Arial"/>
              </a:rPr>
              <a:t>Build mathematical </a:t>
            </a:r>
            <a:r>
              <a:rPr sz="1950" spc="160" dirty="0">
                <a:solidFill>
                  <a:srgbClr val="231F20"/>
                </a:solidFill>
                <a:latin typeface="Arial"/>
                <a:cs typeface="Arial"/>
              </a:rPr>
              <a:t>model </a:t>
            </a:r>
            <a:r>
              <a:rPr sz="1950" spc="185" dirty="0">
                <a:solidFill>
                  <a:srgbClr val="231F20"/>
                </a:solidFill>
                <a:latin typeface="Arial"/>
                <a:cs typeface="Arial"/>
              </a:rPr>
              <a:t>of </a:t>
            </a:r>
            <a:r>
              <a:rPr sz="1950" spc="120" dirty="0">
                <a:solidFill>
                  <a:srgbClr val="231F20"/>
                </a:solidFill>
                <a:latin typeface="Arial"/>
                <a:cs typeface="Arial"/>
              </a:rPr>
              <a:t>system </a:t>
            </a:r>
            <a:r>
              <a:rPr sz="1950" spc="130" dirty="0">
                <a:solidFill>
                  <a:srgbClr val="231F20"/>
                </a:solidFill>
                <a:latin typeface="Arial"/>
                <a:cs typeface="Arial"/>
              </a:rPr>
              <a:t>and </a:t>
            </a:r>
            <a:r>
              <a:rPr sz="1950" spc="100" dirty="0">
                <a:solidFill>
                  <a:srgbClr val="231F20"/>
                </a:solidFill>
                <a:latin typeface="Arial"/>
                <a:cs typeface="Arial"/>
              </a:rPr>
              <a:t>deduce </a:t>
            </a:r>
            <a:r>
              <a:rPr sz="1950" spc="125" dirty="0">
                <a:solidFill>
                  <a:srgbClr val="231F20"/>
                </a:solidFill>
                <a:latin typeface="Arial"/>
                <a:cs typeface="Arial"/>
              </a:rPr>
              <a:t>properties  </a:t>
            </a:r>
            <a:r>
              <a:rPr sz="1950" spc="105" dirty="0">
                <a:solidFill>
                  <a:srgbClr val="231F20"/>
                </a:solidFill>
                <a:latin typeface="Arial"/>
                <a:cs typeface="Arial"/>
              </a:rPr>
              <a:t>by</a:t>
            </a:r>
            <a:r>
              <a:rPr sz="1950" spc="220" dirty="0">
                <a:solidFill>
                  <a:srgbClr val="231F20"/>
                </a:solidFill>
                <a:latin typeface="Arial"/>
                <a:cs typeface="Arial"/>
              </a:rPr>
              <a:t> </a:t>
            </a:r>
            <a:r>
              <a:rPr sz="1950" spc="140" dirty="0">
                <a:solidFill>
                  <a:srgbClr val="0000FF"/>
                </a:solidFill>
                <a:latin typeface="Arial"/>
                <a:cs typeface="Arial"/>
              </a:rPr>
              <a:t>calculation</a:t>
            </a:r>
            <a:endParaRPr sz="1950">
              <a:latin typeface="Arial"/>
              <a:cs typeface="Arial"/>
            </a:endParaRPr>
          </a:p>
          <a:p>
            <a:pPr>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50" dirty="0">
                <a:solidFill>
                  <a:srgbClr val="231F20"/>
                </a:solidFill>
                <a:latin typeface="Arial"/>
                <a:cs typeface="Arial"/>
              </a:rPr>
              <a:t>The </a:t>
            </a:r>
            <a:r>
              <a:rPr sz="1950" spc="110" dirty="0">
                <a:solidFill>
                  <a:srgbClr val="231F20"/>
                </a:solidFill>
                <a:latin typeface="Arial"/>
                <a:cs typeface="Arial"/>
              </a:rPr>
              <a:t>applied </a:t>
            </a:r>
            <a:r>
              <a:rPr sz="1950" spc="220" dirty="0">
                <a:solidFill>
                  <a:srgbClr val="231F20"/>
                </a:solidFill>
                <a:latin typeface="Arial"/>
                <a:cs typeface="Arial"/>
              </a:rPr>
              <a:t>math </a:t>
            </a:r>
            <a:r>
              <a:rPr sz="1950" spc="185" dirty="0">
                <a:solidFill>
                  <a:srgbClr val="231F20"/>
                </a:solidFill>
                <a:latin typeface="Arial"/>
                <a:cs typeface="Arial"/>
              </a:rPr>
              <a:t>of </a:t>
            </a:r>
            <a:r>
              <a:rPr sz="1950" spc="175" dirty="0">
                <a:solidFill>
                  <a:srgbClr val="231F20"/>
                </a:solidFill>
                <a:latin typeface="Arial"/>
                <a:cs typeface="Arial"/>
              </a:rPr>
              <a:t>computer </a:t>
            </a:r>
            <a:r>
              <a:rPr sz="1950" spc="70" dirty="0">
                <a:solidFill>
                  <a:srgbClr val="231F20"/>
                </a:solidFill>
                <a:latin typeface="Arial"/>
                <a:cs typeface="Arial"/>
              </a:rPr>
              <a:t>science </a:t>
            </a:r>
            <a:r>
              <a:rPr sz="1950" spc="40" dirty="0">
                <a:solidFill>
                  <a:srgbClr val="231F20"/>
                </a:solidFill>
                <a:latin typeface="Arial"/>
                <a:cs typeface="Arial"/>
              </a:rPr>
              <a:t>is </a:t>
            </a:r>
            <a:r>
              <a:rPr sz="1950" spc="160" dirty="0">
                <a:solidFill>
                  <a:srgbClr val="0000FF"/>
                </a:solidFill>
                <a:latin typeface="Arial"/>
                <a:cs typeface="Arial"/>
              </a:rPr>
              <a:t>formal </a:t>
            </a:r>
            <a:r>
              <a:rPr sz="1950" spc="555" dirty="0">
                <a:solidFill>
                  <a:srgbClr val="0000FF"/>
                </a:solidFill>
                <a:latin typeface="Arial"/>
                <a:cs typeface="Arial"/>
              </a:rPr>
              <a:t> </a:t>
            </a:r>
            <a:r>
              <a:rPr sz="1950" spc="130" dirty="0">
                <a:solidFill>
                  <a:srgbClr val="0000FF"/>
                </a:solidFill>
                <a:latin typeface="Arial"/>
                <a:cs typeface="Arial"/>
              </a:rPr>
              <a:t>logic</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14" dirty="0">
                <a:solidFill>
                  <a:srgbClr val="231F20"/>
                </a:solidFill>
                <a:latin typeface="Arial"/>
                <a:cs typeface="Arial"/>
              </a:rPr>
              <a:t>So </a:t>
            </a:r>
            <a:r>
              <a:rPr sz="1950" spc="140" dirty="0">
                <a:solidFill>
                  <a:srgbClr val="231F20"/>
                </a:solidFill>
                <a:latin typeface="Arial"/>
                <a:cs typeface="Arial"/>
              </a:rPr>
              <a:t>calculation </a:t>
            </a:r>
            <a:r>
              <a:rPr sz="1950" spc="40" dirty="0">
                <a:solidFill>
                  <a:srgbClr val="231F20"/>
                </a:solidFill>
                <a:latin typeface="Arial"/>
                <a:cs typeface="Arial"/>
              </a:rPr>
              <a:t>is </a:t>
            </a:r>
            <a:r>
              <a:rPr sz="1950" spc="120" dirty="0">
                <a:solidFill>
                  <a:srgbClr val="231F20"/>
                </a:solidFill>
                <a:latin typeface="Arial"/>
                <a:cs typeface="Arial"/>
              </a:rPr>
              <a:t>done </a:t>
            </a:r>
            <a:r>
              <a:rPr sz="1950" spc="105" dirty="0">
                <a:solidFill>
                  <a:srgbClr val="231F20"/>
                </a:solidFill>
                <a:latin typeface="Arial"/>
                <a:cs typeface="Arial"/>
              </a:rPr>
              <a:t>by </a:t>
            </a:r>
            <a:r>
              <a:rPr sz="1950" spc="180" dirty="0">
                <a:solidFill>
                  <a:srgbClr val="231F20"/>
                </a:solidFill>
                <a:latin typeface="Arial"/>
                <a:cs typeface="Arial"/>
              </a:rPr>
              <a:t>automated </a:t>
            </a:r>
            <a:r>
              <a:rPr sz="1950" spc="470" dirty="0">
                <a:solidFill>
                  <a:srgbClr val="231F20"/>
                </a:solidFill>
                <a:latin typeface="Arial"/>
                <a:cs typeface="Arial"/>
              </a:rPr>
              <a:t> </a:t>
            </a:r>
            <a:r>
              <a:rPr sz="1950" spc="150" dirty="0">
                <a:solidFill>
                  <a:srgbClr val="231F20"/>
                </a:solidFill>
                <a:latin typeface="Arial"/>
                <a:cs typeface="Arial"/>
              </a:rPr>
              <a:t>deduction</a:t>
            </a:r>
            <a:endParaRPr sz="1950">
              <a:latin typeface="Arial"/>
              <a:cs typeface="Arial"/>
            </a:endParaRPr>
          </a:p>
        </p:txBody>
      </p:sp>
      <p:sp>
        <p:nvSpPr>
          <p:cNvPr id="3" name="object 3"/>
          <p:cNvSpPr txBox="1"/>
          <p:nvPr/>
        </p:nvSpPr>
        <p:spPr>
          <a:xfrm>
            <a:off x="896440" y="3080423"/>
            <a:ext cx="8027034" cy="326390"/>
          </a:xfrm>
          <a:prstGeom prst="rect">
            <a:avLst/>
          </a:prstGeom>
        </p:spPr>
        <p:txBody>
          <a:bodyPr vert="horz" wrap="square" lIns="0" tIns="0" rIns="0" bIns="0" rtlCol="0">
            <a:spAutoFit/>
          </a:bodyPr>
          <a:lstStyle/>
          <a:p>
            <a:pPr marL="300990" indent="-288290">
              <a:lnSpc>
                <a:spcPct val="100000"/>
              </a:lnSpc>
              <a:buClr>
                <a:srgbClr val="231F20"/>
              </a:buClr>
              <a:buSzPct val="105128"/>
              <a:buFont typeface="Lucida Sans Unicode"/>
              <a:buChar char="•"/>
              <a:tabLst>
                <a:tab pos="301625" algn="l"/>
              </a:tabLst>
            </a:pPr>
            <a:r>
              <a:rPr sz="1950" spc="160" dirty="0">
                <a:solidFill>
                  <a:srgbClr val="0000FF"/>
                </a:solidFill>
                <a:latin typeface="Arial"/>
                <a:cs typeface="Arial"/>
              </a:rPr>
              <a:t>Where </a:t>
            </a:r>
            <a:r>
              <a:rPr sz="1950" spc="105" dirty="0">
                <a:solidFill>
                  <a:srgbClr val="0000FF"/>
                </a:solidFill>
                <a:latin typeface="Arial"/>
                <a:cs typeface="Arial"/>
              </a:rPr>
              <a:t>all </a:t>
            </a:r>
            <a:r>
              <a:rPr sz="1950" spc="120" dirty="0">
                <a:solidFill>
                  <a:srgbClr val="0000FF"/>
                </a:solidFill>
                <a:latin typeface="Arial"/>
                <a:cs typeface="Arial"/>
              </a:rPr>
              <a:t>problems </a:t>
            </a:r>
            <a:r>
              <a:rPr sz="1950" spc="65" dirty="0">
                <a:solidFill>
                  <a:srgbClr val="0000FF"/>
                </a:solidFill>
                <a:latin typeface="Arial"/>
                <a:cs typeface="Arial"/>
              </a:rPr>
              <a:t>are </a:t>
            </a:r>
            <a:r>
              <a:rPr sz="1950" spc="160" dirty="0">
                <a:solidFill>
                  <a:srgbClr val="0000FF"/>
                </a:solidFill>
                <a:latin typeface="Arial"/>
                <a:cs typeface="Arial"/>
              </a:rPr>
              <a:t>NP-hard, </a:t>
            </a:r>
            <a:r>
              <a:rPr sz="1950" spc="195" dirty="0">
                <a:solidFill>
                  <a:srgbClr val="0000FF"/>
                </a:solidFill>
                <a:latin typeface="Arial"/>
                <a:cs typeface="Arial"/>
              </a:rPr>
              <a:t>most </a:t>
            </a:r>
            <a:r>
              <a:rPr sz="1950" spc="65" dirty="0">
                <a:solidFill>
                  <a:srgbClr val="0000FF"/>
                </a:solidFill>
                <a:latin typeface="Arial"/>
                <a:cs typeface="Arial"/>
              </a:rPr>
              <a:t>are </a:t>
            </a:r>
            <a:r>
              <a:rPr sz="1950" spc="555" dirty="0">
                <a:solidFill>
                  <a:srgbClr val="0000FF"/>
                </a:solidFill>
                <a:latin typeface="Arial"/>
                <a:cs typeface="Arial"/>
              </a:rPr>
              <a:t> </a:t>
            </a:r>
            <a:r>
              <a:rPr sz="1950" spc="125" dirty="0">
                <a:solidFill>
                  <a:srgbClr val="0000FF"/>
                </a:solidFill>
                <a:latin typeface="Arial"/>
                <a:cs typeface="Arial"/>
              </a:rPr>
              <a:t>superexponential</a:t>
            </a:r>
            <a:endParaRPr sz="1950">
              <a:latin typeface="Arial"/>
              <a:cs typeface="Arial"/>
            </a:endParaRPr>
          </a:p>
        </p:txBody>
      </p:sp>
      <p:sp>
        <p:nvSpPr>
          <p:cNvPr id="4" name="object 4"/>
          <p:cNvSpPr txBox="1"/>
          <p:nvPr/>
        </p:nvSpPr>
        <p:spPr>
          <a:xfrm>
            <a:off x="1543380" y="3499510"/>
            <a:ext cx="141605" cy="142875"/>
          </a:xfrm>
          <a:prstGeom prst="rect">
            <a:avLst/>
          </a:prstGeom>
        </p:spPr>
        <p:txBody>
          <a:bodyPr vert="horz" wrap="square" lIns="0" tIns="0" rIns="0" bIns="0" rtlCol="0">
            <a:spAutoFit/>
          </a:bodyPr>
          <a:lstStyle/>
          <a:p>
            <a:pPr marL="12700">
              <a:lnSpc>
                <a:spcPts val="1125"/>
              </a:lnSpc>
            </a:pPr>
            <a:r>
              <a:rPr sz="1000" i="1" spc="350" dirty="0">
                <a:solidFill>
                  <a:srgbClr val="0000FF"/>
                </a:solidFill>
                <a:latin typeface="Arial"/>
                <a:cs typeface="Arial"/>
              </a:rPr>
              <a:t>n</a:t>
            </a:r>
            <a:endParaRPr sz="1000">
              <a:latin typeface="Arial"/>
              <a:cs typeface="Arial"/>
            </a:endParaRPr>
          </a:p>
        </p:txBody>
      </p:sp>
      <p:sp>
        <p:nvSpPr>
          <p:cNvPr id="5" name="object 5"/>
          <p:cNvSpPr txBox="1"/>
          <p:nvPr/>
        </p:nvSpPr>
        <p:spPr>
          <a:xfrm>
            <a:off x="1185162" y="3540582"/>
            <a:ext cx="3166745" cy="339090"/>
          </a:xfrm>
          <a:prstGeom prst="rect">
            <a:avLst/>
          </a:prstGeom>
        </p:spPr>
        <p:txBody>
          <a:bodyPr vert="horz" wrap="square" lIns="0" tIns="0" rIns="0" bIns="0" rtlCol="0">
            <a:spAutoFit/>
          </a:bodyPr>
          <a:lstStyle/>
          <a:p>
            <a:pPr marL="12700">
              <a:lnSpc>
                <a:spcPct val="100000"/>
              </a:lnSpc>
              <a:tabLst>
                <a:tab pos="512445" algn="l"/>
              </a:tabLst>
            </a:pPr>
            <a:r>
              <a:rPr sz="1950" spc="120" dirty="0">
                <a:solidFill>
                  <a:srgbClr val="0000FF"/>
                </a:solidFill>
                <a:latin typeface="Arial"/>
                <a:cs typeface="Arial"/>
              </a:rPr>
              <a:t>(</a:t>
            </a:r>
            <a:r>
              <a:rPr sz="2050" spc="120" dirty="0">
                <a:solidFill>
                  <a:srgbClr val="0000FF"/>
                </a:solidFill>
                <a:latin typeface="Tahoma"/>
                <a:cs typeface="Tahoma"/>
              </a:rPr>
              <a:t>2</a:t>
            </a:r>
            <a:r>
              <a:rPr sz="2175" spc="179" baseline="28735" dirty="0">
                <a:solidFill>
                  <a:srgbClr val="0000FF"/>
                </a:solidFill>
                <a:latin typeface="PMingLiU"/>
                <a:cs typeface="PMingLiU"/>
              </a:rPr>
              <a:t>2	</a:t>
            </a:r>
            <a:r>
              <a:rPr sz="1950" spc="225" dirty="0">
                <a:solidFill>
                  <a:srgbClr val="0000FF"/>
                </a:solidFill>
                <a:latin typeface="Arial"/>
                <a:cs typeface="Arial"/>
              </a:rPr>
              <a:t>), </a:t>
            </a:r>
            <a:r>
              <a:rPr sz="1950" spc="130" dirty="0">
                <a:solidFill>
                  <a:srgbClr val="0000FF"/>
                </a:solidFill>
                <a:latin typeface="Arial"/>
                <a:cs typeface="Arial"/>
              </a:rPr>
              <a:t>nonelementary</a:t>
            </a:r>
            <a:r>
              <a:rPr sz="1950" spc="305" dirty="0">
                <a:solidFill>
                  <a:srgbClr val="0000FF"/>
                </a:solidFill>
                <a:latin typeface="Arial"/>
                <a:cs typeface="Arial"/>
              </a:rPr>
              <a:t> </a:t>
            </a:r>
            <a:r>
              <a:rPr sz="1950" spc="120" dirty="0">
                <a:solidFill>
                  <a:srgbClr val="0000FF"/>
                </a:solidFill>
                <a:latin typeface="Arial"/>
                <a:cs typeface="Arial"/>
              </a:rPr>
              <a:t>(</a:t>
            </a:r>
            <a:r>
              <a:rPr sz="2050" spc="120" dirty="0">
                <a:solidFill>
                  <a:srgbClr val="0000FF"/>
                </a:solidFill>
                <a:latin typeface="Tahoma"/>
                <a:cs typeface="Tahoma"/>
              </a:rPr>
              <a:t>2</a:t>
            </a:r>
            <a:r>
              <a:rPr sz="2175" spc="179" baseline="28735" dirty="0">
                <a:solidFill>
                  <a:srgbClr val="0000FF"/>
                </a:solidFill>
                <a:latin typeface="PMingLiU"/>
                <a:cs typeface="PMingLiU"/>
              </a:rPr>
              <a:t>2</a:t>
            </a:r>
            <a:endParaRPr sz="2175" baseline="28735">
              <a:latin typeface="PMingLiU"/>
              <a:cs typeface="PMingLiU"/>
            </a:endParaRPr>
          </a:p>
        </p:txBody>
      </p:sp>
      <p:sp>
        <p:nvSpPr>
          <p:cNvPr id="6" name="object 6"/>
          <p:cNvSpPr txBox="1"/>
          <p:nvPr/>
        </p:nvSpPr>
        <p:spPr>
          <a:xfrm>
            <a:off x="4358017" y="3407613"/>
            <a:ext cx="175260" cy="193040"/>
          </a:xfrm>
          <a:prstGeom prst="rect">
            <a:avLst/>
          </a:prstGeom>
        </p:spPr>
        <p:txBody>
          <a:bodyPr vert="horz" wrap="square" lIns="0" tIns="0" rIns="0" bIns="0" rtlCol="0">
            <a:spAutoFit/>
          </a:bodyPr>
          <a:lstStyle/>
          <a:p>
            <a:pPr marL="12700">
              <a:lnSpc>
                <a:spcPct val="100000"/>
              </a:lnSpc>
            </a:pPr>
            <a:r>
              <a:rPr sz="1500" spc="89" baseline="-22222" dirty="0">
                <a:solidFill>
                  <a:srgbClr val="0000FF"/>
                </a:solidFill>
                <a:latin typeface="Verdana"/>
                <a:cs typeface="Verdana"/>
              </a:rPr>
              <a:t>2</a:t>
            </a:r>
            <a:r>
              <a:rPr sz="1000" i="1" spc="195" dirty="0">
                <a:solidFill>
                  <a:srgbClr val="0000FF"/>
                </a:solidFill>
                <a:latin typeface="Arial"/>
                <a:cs typeface="Arial"/>
              </a:rPr>
              <a:t>.</a:t>
            </a:r>
            <a:endParaRPr sz="1000">
              <a:latin typeface="Arial"/>
              <a:cs typeface="Arial"/>
            </a:endParaRPr>
          </a:p>
        </p:txBody>
      </p:sp>
      <p:sp>
        <p:nvSpPr>
          <p:cNvPr id="7" name="object 7"/>
          <p:cNvSpPr txBox="1"/>
          <p:nvPr/>
        </p:nvSpPr>
        <p:spPr>
          <a:xfrm>
            <a:off x="4507407" y="3301656"/>
            <a:ext cx="146050" cy="196215"/>
          </a:xfrm>
          <a:prstGeom prst="rect">
            <a:avLst/>
          </a:prstGeom>
        </p:spPr>
        <p:txBody>
          <a:bodyPr vert="horz" wrap="square" lIns="0" tIns="0" rIns="0" bIns="0" rtlCol="0">
            <a:spAutoFit/>
          </a:bodyPr>
          <a:lstStyle/>
          <a:p>
            <a:pPr marL="12700">
              <a:lnSpc>
                <a:spcPct val="100000"/>
              </a:lnSpc>
            </a:pPr>
            <a:r>
              <a:rPr sz="1500" i="1" spc="292" baseline="-22222" dirty="0">
                <a:solidFill>
                  <a:srgbClr val="0000FF"/>
                </a:solidFill>
                <a:latin typeface="Arial"/>
                <a:cs typeface="Arial"/>
              </a:rPr>
              <a:t>.</a:t>
            </a:r>
            <a:r>
              <a:rPr sz="1000" i="1" spc="195" dirty="0">
                <a:solidFill>
                  <a:srgbClr val="0000FF"/>
                </a:solidFill>
                <a:latin typeface="Arial"/>
                <a:cs typeface="Arial"/>
              </a:rPr>
              <a:t>.</a:t>
            </a:r>
            <a:endParaRPr sz="1000">
              <a:latin typeface="Arial"/>
              <a:cs typeface="Arial"/>
            </a:endParaRPr>
          </a:p>
        </p:txBody>
      </p:sp>
      <p:sp>
        <p:nvSpPr>
          <p:cNvPr id="8" name="object 8"/>
          <p:cNvSpPr txBox="1"/>
          <p:nvPr/>
        </p:nvSpPr>
        <p:spPr>
          <a:xfrm>
            <a:off x="4667084" y="3327184"/>
            <a:ext cx="272415" cy="371475"/>
          </a:xfrm>
          <a:prstGeom prst="rect">
            <a:avLst/>
          </a:prstGeom>
        </p:spPr>
        <p:txBody>
          <a:bodyPr vert="horz" wrap="square" lIns="0" tIns="0" rIns="0" bIns="0" rtlCol="0">
            <a:spAutoFit/>
          </a:bodyPr>
          <a:lstStyle/>
          <a:p>
            <a:pPr marL="12700">
              <a:lnSpc>
                <a:spcPct val="100000"/>
              </a:lnSpc>
            </a:pPr>
            <a:r>
              <a:rPr sz="3075" spc="540" baseline="-6775" dirty="0">
                <a:solidFill>
                  <a:srgbClr val="0000FF"/>
                </a:solidFill>
                <a:latin typeface="Lucida Sans Unicode"/>
                <a:cs typeface="Lucida Sans Unicode"/>
              </a:rPr>
              <a:t>}</a:t>
            </a:r>
            <a:r>
              <a:rPr sz="1000" i="1" spc="350" dirty="0">
                <a:solidFill>
                  <a:srgbClr val="0000FF"/>
                </a:solidFill>
                <a:latin typeface="Arial"/>
                <a:cs typeface="Arial"/>
              </a:rPr>
              <a:t>n</a:t>
            </a:r>
            <a:endParaRPr sz="1000">
              <a:latin typeface="Arial"/>
              <a:cs typeface="Arial"/>
            </a:endParaRPr>
          </a:p>
        </p:txBody>
      </p:sp>
      <p:sp>
        <p:nvSpPr>
          <p:cNvPr id="9" name="object 9"/>
          <p:cNvSpPr txBox="1"/>
          <p:nvPr/>
        </p:nvSpPr>
        <p:spPr>
          <a:xfrm>
            <a:off x="4940033" y="3553282"/>
            <a:ext cx="2195830" cy="314325"/>
          </a:xfrm>
          <a:prstGeom prst="rect">
            <a:avLst/>
          </a:prstGeom>
        </p:spPr>
        <p:txBody>
          <a:bodyPr vert="horz" wrap="square" lIns="0" tIns="0" rIns="0" bIns="0" rtlCol="0">
            <a:spAutoFit/>
          </a:bodyPr>
          <a:lstStyle/>
          <a:p>
            <a:pPr marL="12700">
              <a:lnSpc>
                <a:spcPct val="100000"/>
              </a:lnSpc>
            </a:pPr>
            <a:r>
              <a:rPr sz="1950" spc="225" dirty="0">
                <a:solidFill>
                  <a:srgbClr val="0000FF"/>
                </a:solidFill>
                <a:latin typeface="Arial"/>
                <a:cs typeface="Arial"/>
              </a:rPr>
              <a:t>), </a:t>
            </a:r>
            <a:r>
              <a:rPr sz="1950" spc="130" dirty="0">
                <a:solidFill>
                  <a:srgbClr val="0000FF"/>
                </a:solidFill>
                <a:latin typeface="Arial"/>
                <a:cs typeface="Arial"/>
              </a:rPr>
              <a:t>or</a:t>
            </a:r>
            <a:r>
              <a:rPr sz="1950" spc="280" dirty="0">
                <a:solidFill>
                  <a:srgbClr val="0000FF"/>
                </a:solidFill>
                <a:latin typeface="Arial"/>
                <a:cs typeface="Arial"/>
              </a:rPr>
              <a:t> </a:t>
            </a:r>
            <a:r>
              <a:rPr sz="1950" spc="110" dirty="0">
                <a:solidFill>
                  <a:srgbClr val="0000FF"/>
                </a:solidFill>
                <a:latin typeface="Arial"/>
                <a:cs typeface="Arial"/>
              </a:rPr>
              <a:t>undecidable</a:t>
            </a:r>
            <a:endParaRPr sz="1950">
              <a:latin typeface="Arial"/>
              <a:cs typeface="Arial"/>
            </a:endParaRPr>
          </a:p>
        </p:txBody>
      </p:sp>
      <p:sp>
        <p:nvSpPr>
          <p:cNvPr id="10" name="object 10"/>
          <p:cNvSpPr txBox="1"/>
          <p:nvPr/>
        </p:nvSpPr>
        <p:spPr>
          <a:xfrm>
            <a:off x="896440" y="4095406"/>
            <a:ext cx="8261350" cy="2141855"/>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 pos="1177290" algn="l"/>
              </a:tabLst>
            </a:pPr>
            <a:r>
              <a:rPr sz="1950" spc="200" dirty="0">
                <a:solidFill>
                  <a:srgbClr val="231F20"/>
                </a:solidFill>
                <a:latin typeface="Arial"/>
                <a:cs typeface="Arial"/>
              </a:rPr>
              <a:t>Why?	</a:t>
            </a:r>
            <a:r>
              <a:rPr sz="1950" spc="105" dirty="0">
                <a:solidFill>
                  <a:srgbClr val="231F20"/>
                </a:solidFill>
                <a:latin typeface="Arial"/>
                <a:cs typeface="Arial"/>
              </a:rPr>
              <a:t>Have </a:t>
            </a:r>
            <a:r>
              <a:rPr sz="1950" spc="250" dirty="0">
                <a:solidFill>
                  <a:srgbClr val="231F20"/>
                </a:solidFill>
                <a:latin typeface="Arial"/>
                <a:cs typeface="Arial"/>
              </a:rPr>
              <a:t>to </a:t>
            </a:r>
            <a:r>
              <a:rPr sz="1950" spc="75" dirty="0">
                <a:solidFill>
                  <a:srgbClr val="231F20"/>
                </a:solidFill>
                <a:latin typeface="Arial"/>
                <a:cs typeface="Arial"/>
              </a:rPr>
              <a:t>search </a:t>
            </a:r>
            <a:r>
              <a:rPr sz="1950" spc="85" dirty="0">
                <a:solidFill>
                  <a:srgbClr val="231F20"/>
                </a:solidFill>
                <a:latin typeface="Arial"/>
                <a:cs typeface="Arial"/>
              </a:rPr>
              <a:t>a massive </a:t>
            </a:r>
            <a:r>
              <a:rPr sz="1950" spc="70" dirty="0">
                <a:solidFill>
                  <a:srgbClr val="231F20"/>
                </a:solidFill>
                <a:latin typeface="Arial"/>
                <a:cs typeface="Arial"/>
              </a:rPr>
              <a:t>space </a:t>
            </a:r>
            <a:r>
              <a:rPr sz="1950" spc="185" dirty="0">
                <a:solidFill>
                  <a:srgbClr val="231F20"/>
                </a:solidFill>
                <a:latin typeface="Arial"/>
                <a:cs typeface="Arial"/>
              </a:rPr>
              <a:t>of </a:t>
            </a:r>
            <a:r>
              <a:rPr sz="1950" spc="114" dirty="0">
                <a:solidFill>
                  <a:srgbClr val="231F20"/>
                </a:solidFill>
                <a:latin typeface="Arial"/>
                <a:cs typeface="Arial"/>
              </a:rPr>
              <a:t>discrete </a:t>
            </a:r>
            <a:r>
              <a:rPr sz="1950" spc="660" dirty="0">
                <a:solidFill>
                  <a:srgbClr val="231F20"/>
                </a:solidFill>
                <a:latin typeface="Arial"/>
                <a:cs typeface="Arial"/>
              </a:rPr>
              <a:t> </a:t>
            </a:r>
            <a:r>
              <a:rPr sz="1950" spc="105" dirty="0">
                <a:solidFill>
                  <a:srgbClr val="231F20"/>
                </a:solidFill>
                <a:latin typeface="Arial"/>
                <a:cs typeface="Arial"/>
              </a:rPr>
              <a:t>possibilities</a:t>
            </a:r>
            <a:endParaRPr sz="1950">
              <a:latin typeface="Arial"/>
              <a:cs typeface="Arial"/>
            </a:endParaRPr>
          </a:p>
          <a:p>
            <a:pPr marL="300990" marR="234315" indent="-288290">
              <a:lnSpc>
                <a:spcPct val="125000"/>
              </a:lnSpc>
              <a:spcBef>
                <a:spcPts val="1345"/>
              </a:spcBef>
              <a:buSzPct val="105128"/>
              <a:buFont typeface="Lucida Sans Unicode"/>
              <a:buChar char="•"/>
              <a:tabLst>
                <a:tab pos="301625" algn="l"/>
              </a:tabLst>
            </a:pPr>
            <a:r>
              <a:rPr sz="1950" spc="195" dirty="0">
                <a:solidFill>
                  <a:srgbClr val="231F20"/>
                </a:solidFill>
                <a:latin typeface="Arial"/>
                <a:cs typeface="Arial"/>
              </a:rPr>
              <a:t>Which </a:t>
            </a:r>
            <a:r>
              <a:rPr sz="1950" spc="130" dirty="0">
                <a:solidFill>
                  <a:srgbClr val="231F20"/>
                </a:solidFill>
                <a:latin typeface="Arial"/>
                <a:cs typeface="Arial"/>
              </a:rPr>
              <a:t>exactly </a:t>
            </a:r>
            <a:r>
              <a:rPr sz="1950" spc="140" dirty="0">
                <a:solidFill>
                  <a:srgbClr val="231F20"/>
                </a:solidFill>
                <a:latin typeface="Arial"/>
                <a:cs typeface="Arial"/>
              </a:rPr>
              <a:t>mirrors </a:t>
            </a:r>
            <a:r>
              <a:rPr sz="1950" spc="175" dirty="0">
                <a:solidFill>
                  <a:srgbClr val="231F20"/>
                </a:solidFill>
                <a:latin typeface="Arial"/>
                <a:cs typeface="Arial"/>
              </a:rPr>
              <a:t>why </a:t>
            </a:r>
            <a:r>
              <a:rPr sz="1950" spc="170" dirty="0">
                <a:solidFill>
                  <a:srgbClr val="231F20"/>
                </a:solidFill>
                <a:latin typeface="Arial"/>
                <a:cs typeface="Arial"/>
              </a:rPr>
              <a:t>it’s </a:t>
            </a:r>
            <a:r>
              <a:rPr sz="1950" spc="65" dirty="0">
                <a:solidFill>
                  <a:srgbClr val="231F20"/>
                </a:solidFill>
                <a:latin typeface="Arial"/>
                <a:cs typeface="Arial"/>
              </a:rPr>
              <a:t>so </a:t>
            </a:r>
            <a:r>
              <a:rPr sz="1950" spc="120" dirty="0">
                <a:solidFill>
                  <a:srgbClr val="231F20"/>
                </a:solidFill>
                <a:latin typeface="Arial"/>
                <a:cs typeface="Arial"/>
              </a:rPr>
              <a:t>hard </a:t>
            </a:r>
            <a:r>
              <a:rPr sz="1950" spc="250" dirty="0">
                <a:solidFill>
                  <a:srgbClr val="231F20"/>
                </a:solidFill>
                <a:latin typeface="Arial"/>
                <a:cs typeface="Arial"/>
              </a:rPr>
              <a:t>to </a:t>
            </a:r>
            <a:r>
              <a:rPr sz="1950" spc="114" dirty="0">
                <a:solidFill>
                  <a:srgbClr val="231F20"/>
                </a:solidFill>
                <a:latin typeface="Arial"/>
                <a:cs typeface="Arial"/>
              </a:rPr>
              <a:t>provide </a:t>
            </a:r>
            <a:r>
              <a:rPr sz="1950" spc="80" dirty="0">
                <a:solidFill>
                  <a:srgbClr val="231F20"/>
                </a:solidFill>
                <a:latin typeface="Arial"/>
                <a:cs typeface="Arial"/>
              </a:rPr>
              <a:t>assurance  </a:t>
            </a:r>
            <a:r>
              <a:rPr sz="1950" spc="155" dirty="0">
                <a:solidFill>
                  <a:srgbClr val="231F20"/>
                </a:solidFill>
                <a:latin typeface="Arial"/>
                <a:cs typeface="Arial"/>
              </a:rPr>
              <a:t>for </a:t>
            </a:r>
            <a:r>
              <a:rPr sz="1950" spc="175" dirty="0">
                <a:solidFill>
                  <a:srgbClr val="231F20"/>
                </a:solidFill>
                <a:latin typeface="Arial"/>
                <a:cs typeface="Arial"/>
              </a:rPr>
              <a:t>computational</a:t>
            </a:r>
            <a:r>
              <a:rPr sz="1950" spc="375" dirty="0">
                <a:solidFill>
                  <a:srgbClr val="231F20"/>
                </a:solidFill>
                <a:latin typeface="Arial"/>
                <a:cs typeface="Arial"/>
              </a:rPr>
              <a:t> </a:t>
            </a:r>
            <a:r>
              <a:rPr sz="1950" spc="100" dirty="0">
                <a:solidFill>
                  <a:srgbClr val="231F20"/>
                </a:solidFill>
                <a:latin typeface="Arial"/>
                <a:cs typeface="Arial"/>
              </a:rPr>
              <a:t>systems</a:t>
            </a:r>
            <a:endParaRPr sz="1950">
              <a:latin typeface="Arial"/>
              <a:cs typeface="Arial"/>
            </a:endParaRPr>
          </a:p>
          <a:p>
            <a:pPr marL="300990" marR="864235" indent="-288290">
              <a:lnSpc>
                <a:spcPct val="125000"/>
              </a:lnSpc>
              <a:spcBef>
                <a:spcPts val="1345"/>
              </a:spcBef>
              <a:buClr>
                <a:srgbClr val="231F20"/>
              </a:buClr>
              <a:buSzPct val="105128"/>
              <a:buFont typeface="Lucida Sans Unicode"/>
              <a:buChar char="•"/>
              <a:tabLst>
                <a:tab pos="301625" algn="l"/>
              </a:tabLst>
            </a:pPr>
            <a:r>
              <a:rPr sz="1950" spc="275" dirty="0">
                <a:solidFill>
                  <a:srgbClr val="FF0000"/>
                </a:solidFill>
                <a:latin typeface="Arial"/>
                <a:cs typeface="Arial"/>
              </a:rPr>
              <a:t>But </a:t>
            </a:r>
            <a:r>
              <a:rPr sz="1950" spc="215" dirty="0">
                <a:solidFill>
                  <a:srgbClr val="FF0000"/>
                </a:solidFill>
                <a:latin typeface="Arial"/>
                <a:cs typeface="Arial"/>
              </a:rPr>
              <a:t>at </a:t>
            </a:r>
            <a:r>
              <a:rPr sz="1950" spc="105" dirty="0">
                <a:solidFill>
                  <a:srgbClr val="FF0000"/>
                </a:solidFill>
                <a:latin typeface="Arial"/>
                <a:cs typeface="Arial"/>
              </a:rPr>
              <a:t>least </a:t>
            </a:r>
            <a:r>
              <a:rPr sz="1950" spc="114" dirty="0">
                <a:solidFill>
                  <a:srgbClr val="FF0000"/>
                </a:solidFill>
                <a:latin typeface="Arial"/>
                <a:cs typeface="Arial"/>
              </a:rPr>
              <a:t>we’ve </a:t>
            </a:r>
            <a:r>
              <a:rPr sz="1950" spc="110" dirty="0">
                <a:solidFill>
                  <a:srgbClr val="FF0000"/>
                </a:solidFill>
                <a:latin typeface="Arial"/>
                <a:cs typeface="Arial"/>
              </a:rPr>
              <a:t>reduced </a:t>
            </a:r>
            <a:r>
              <a:rPr sz="1950" spc="175" dirty="0">
                <a:solidFill>
                  <a:srgbClr val="FF0000"/>
                </a:solidFill>
                <a:latin typeface="Arial"/>
                <a:cs typeface="Arial"/>
              </a:rPr>
              <a:t>the </a:t>
            </a:r>
            <a:r>
              <a:rPr sz="1950" spc="140" dirty="0">
                <a:solidFill>
                  <a:srgbClr val="FF0000"/>
                </a:solidFill>
                <a:latin typeface="Arial"/>
                <a:cs typeface="Arial"/>
              </a:rPr>
              <a:t>problem </a:t>
            </a:r>
            <a:r>
              <a:rPr sz="1950" spc="250" dirty="0">
                <a:solidFill>
                  <a:srgbClr val="FF0000"/>
                </a:solidFill>
                <a:latin typeface="Arial"/>
                <a:cs typeface="Arial"/>
              </a:rPr>
              <a:t>to </a:t>
            </a:r>
            <a:r>
              <a:rPr sz="1950" spc="85" dirty="0">
                <a:solidFill>
                  <a:srgbClr val="FF0000"/>
                </a:solidFill>
                <a:latin typeface="Arial"/>
                <a:cs typeface="Arial"/>
              </a:rPr>
              <a:t>a </a:t>
            </a:r>
            <a:r>
              <a:rPr sz="1950" spc="100" dirty="0">
                <a:solidFill>
                  <a:srgbClr val="FF0000"/>
                </a:solidFill>
                <a:latin typeface="Arial"/>
                <a:cs typeface="Arial"/>
              </a:rPr>
              <a:t>previously  </a:t>
            </a:r>
            <a:r>
              <a:rPr sz="1950" spc="105" dirty="0">
                <a:solidFill>
                  <a:srgbClr val="FF0000"/>
                </a:solidFill>
                <a:latin typeface="Arial"/>
                <a:cs typeface="Arial"/>
              </a:rPr>
              <a:t>unsolved</a:t>
            </a:r>
            <a:r>
              <a:rPr sz="1950" spc="185" dirty="0">
                <a:solidFill>
                  <a:srgbClr val="FF0000"/>
                </a:solidFill>
                <a:latin typeface="Arial"/>
                <a:cs typeface="Arial"/>
              </a:rPr>
              <a:t> </a:t>
            </a:r>
            <a:r>
              <a:rPr sz="1950" spc="145" dirty="0">
                <a:solidFill>
                  <a:srgbClr val="FF0000"/>
                </a:solidFill>
                <a:latin typeface="Arial"/>
                <a:cs typeface="Arial"/>
              </a:rPr>
              <a:t>problem!</a:t>
            </a:r>
            <a:endParaRPr sz="1950">
              <a:latin typeface="Arial"/>
              <a:cs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7762240" cy="5996305"/>
          </a:xfrm>
          <a:prstGeom prst="rect">
            <a:avLst/>
          </a:prstGeom>
        </p:spPr>
        <p:txBody>
          <a:bodyPr vert="horz" wrap="square" lIns="0" tIns="0" rIns="0" bIns="0" rtlCol="0">
            <a:spAutoFit/>
          </a:bodyPr>
          <a:lstStyle/>
          <a:p>
            <a:pPr marL="518159">
              <a:lnSpc>
                <a:spcPct val="100000"/>
              </a:lnSpc>
              <a:tabLst>
                <a:tab pos="3564890" algn="l"/>
              </a:tabLst>
            </a:pPr>
            <a:r>
              <a:rPr sz="1950" spc="270" dirty="0">
                <a:solidFill>
                  <a:srgbClr val="231F20"/>
                </a:solidFill>
                <a:latin typeface="Arial"/>
                <a:cs typeface="Arial"/>
              </a:rPr>
              <a:t>Formal </a:t>
            </a:r>
            <a:r>
              <a:rPr sz="1950" spc="715" dirty="0">
                <a:solidFill>
                  <a:srgbClr val="231F20"/>
                </a:solidFill>
                <a:latin typeface="Arial"/>
                <a:cs typeface="Arial"/>
              </a:rPr>
              <a:t> </a:t>
            </a:r>
            <a:r>
              <a:rPr sz="1950" spc="225" dirty="0">
                <a:solidFill>
                  <a:srgbClr val="231F20"/>
                </a:solidFill>
                <a:latin typeface="Arial"/>
                <a:cs typeface="Arial"/>
              </a:rPr>
              <a:t>Calculations:	</a:t>
            </a:r>
            <a:r>
              <a:rPr sz="1950" spc="290" dirty="0">
                <a:solidFill>
                  <a:srgbClr val="231F20"/>
                </a:solidFill>
                <a:latin typeface="Arial"/>
                <a:cs typeface="Arial"/>
              </a:rPr>
              <a:t>Meeting </a:t>
            </a:r>
            <a:r>
              <a:rPr sz="1950" spc="390" dirty="0">
                <a:solidFill>
                  <a:srgbClr val="231F20"/>
                </a:solidFill>
                <a:latin typeface="Arial"/>
                <a:cs typeface="Arial"/>
              </a:rPr>
              <a:t>The </a:t>
            </a:r>
            <a:r>
              <a:rPr sz="1950" spc="225" dirty="0">
                <a:solidFill>
                  <a:srgbClr val="231F20"/>
                </a:solidFill>
                <a:latin typeface="Arial"/>
                <a:cs typeface="Arial"/>
              </a:rPr>
              <a:t>Basic</a:t>
            </a:r>
            <a:r>
              <a:rPr sz="1950" spc="375" dirty="0">
                <a:solidFill>
                  <a:srgbClr val="231F20"/>
                </a:solidFill>
                <a:latin typeface="Arial"/>
                <a:cs typeface="Arial"/>
              </a:rPr>
              <a:t> </a:t>
            </a:r>
            <a:r>
              <a:rPr sz="1950" spc="215" dirty="0">
                <a:solidFill>
                  <a:srgbClr val="231F20"/>
                </a:solidFill>
                <a:latin typeface="Arial"/>
                <a:cs typeface="Arial"/>
              </a:rPr>
              <a:t>Challenge</a:t>
            </a:r>
            <a:endParaRPr sz="1950">
              <a:latin typeface="Arial"/>
              <a:cs typeface="Arial"/>
            </a:endParaRPr>
          </a:p>
          <a:p>
            <a:pPr marL="17780">
              <a:lnSpc>
                <a:spcPct val="100000"/>
              </a:lnSpc>
              <a:spcBef>
                <a:spcPts val="1614"/>
              </a:spcBef>
            </a:pPr>
            <a:r>
              <a:rPr sz="1950" spc="120" dirty="0">
                <a:solidFill>
                  <a:srgbClr val="231F20"/>
                </a:solidFill>
                <a:latin typeface="Arial"/>
                <a:cs typeface="Arial"/>
              </a:rPr>
              <a:t>Ways </a:t>
            </a:r>
            <a:r>
              <a:rPr sz="1950" spc="250" dirty="0">
                <a:solidFill>
                  <a:srgbClr val="231F20"/>
                </a:solidFill>
                <a:latin typeface="Arial"/>
                <a:cs typeface="Arial"/>
              </a:rPr>
              <a:t>to </a:t>
            </a:r>
            <a:r>
              <a:rPr sz="1950" spc="125" dirty="0">
                <a:solidFill>
                  <a:srgbClr val="231F20"/>
                </a:solidFill>
                <a:latin typeface="Arial"/>
                <a:cs typeface="Arial"/>
              </a:rPr>
              <a:t>cope </a:t>
            </a:r>
            <a:r>
              <a:rPr sz="1950" spc="215" dirty="0">
                <a:solidFill>
                  <a:srgbClr val="231F20"/>
                </a:solidFill>
                <a:latin typeface="Arial"/>
                <a:cs typeface="Arial"/>
              </a:rPr>
              <a:t>with </a:t>
            </a:r>
            <a:r>
              <a:rPr sz="1950" spc="175" dirty="0">
                <a:solidFill>
                  <a:srgbClr val="231F20"/>
                </a:solidFill>
                <a:latin typeface="Arial"/>
                <a:cs typeface="Arial"/>
              </a:rPr>
              <a:t>the </a:t>
            </a:r>
            <a:r>
              <a:rPr sz="1950" spc="85" dirty="0">
                <a:solidFill>
                  <a:srgbClr val="231F20"/>
                </a:solidFill>
                <a:latin typeface="Arial"/>
                <a:cs typeface="Arial"/>
              </a:rPr>
              <a:t>massive </a:t>
            </a:r>
            <a:r>
              <a:rPr sz="1950" spc="175" dirty="0">
                <a:solidFill>
                  <a:srgbClr val="231F20"/>
                </a:solidFill>
                <a:latin typeface="Arial"/>
                <a:cs typeface="Arial"/>
              </a:rPr>
              <a:t>computational </a:t>
            </a:r>
            <a:r>
              <a:rPr sz="1950" spc="275" dirty="0">
                <a:solidFill>
                  <a:srgbClr val="231F20"/>
                </a:solidFill>
                <a:latin typeface="Arial"/>
                <a:cs typeface="Arial"/>
              </a:rPr>
              <a:t> </a:t>
            </a:r>
            <a:r>
              <a:rPr sz="1950" spc="150" dirty="0">
                <a:solidFill>
                  <a:srgbClr val="231F20"/>
                </a:solidFill>
                <a:latin typeface="Arial"/>
                <a:cs typeface="Arial"/>
              </a:rPr>
              <a:t>complexity</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60" dirty="0">
                <a:solidFill>
                  <a:srgbClr val="231F20"/>
                </a:solidFill>
                <a:latin typeface="Arial"/>
                <a:cs typeface="Arial"/>
              </a:rPr>
              <a:t>Use </a:t>
            </a:r>
            <a:r>
              <a:rPr sz="1950" spc="170" dirty="0">
                <a:solidFill>
                  <a:srgbClr val="231F20"/>
                </a:solidFill>
                <a:latin typeface="Arial"/>
                <a:cs typeface="Arial"/>
              </a:rPr>
              <a:t>human</a:t>
            </a:r>
            <a:r>
              <a:rPr sz="1950" spc="415" dirty="0">
                <a:solidFill>
                  <a:srgbClr val="231F20"/>
                </a:solidFill>
                <a:latin typeface="Arial"/>
                <a:cs typeface="Arial"/>
              </a:rPr>
              <a:t> </a:t>
            </a:r>
            <a:r>
              <a:rPr sz="1950" spc="120" dirty="0">
                <a:solidFill>
                  <a:srgbClr val="231F20"/>
                </a:solidFill>
                <a:latin typeface="Arial"/>
                <a:cs typeface="Arial"/>
              </a:rPr>
              <a:t>guidance</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229" dirty="0">
                <a:solidFill>
                  <a:srgbClr val="231F20"/>
                </a:solidFill>
                <a:latin typeface="Arial"/>
                <a:cs typeface="Arial"/>
              </a:rPr>
              <a:t>That’s </a:t>
            </a:r>
            <a:r>
              <a:rPr sz="1950" spc="145" dirty="0">
                <a:solidFill>
                  <a:srgbClr val="0000FF"/>
                </a:solidFill>
                <a:latin typeface="Arial"/>
                <a:cs typeface="Arial"/>
              </a:rPr>
              <a:t>interactive </a:t>
            </a:r>
            <a:r>
              <a:rPr sz="1950" spc="155" dirty="0">
                <a:solidFill>
                  <a:srgbClr val="0000FF"/>
                </a:solidFill>
                <a:latin typeface="Arial"/>
                <a:cs typeface="Arial"/>
              </a:rPr>
              <a:t>theorem proving</a:t>
            </a:r>
            <a:r>
              <a:rPr sz="1950" spc="155" dirty="0">
                <a:solidFill>
                  <a:srgbClr val="231F20"/>
                </a:solidFill>
                <a:latin typeface="Arial"/>
                <a:cs typeface="Arial"/>
              </a:rPr>
              <a:t>—e.g.,</a:t>
            </a:r>
            <a:r>
              <a:rPr sz="1950" spc="630" dirty="0">
                <a:solidFill>
                  <a:srgbClr val="231F20"/>
                </a:solidFill>
                <a:latin typeface="Arial"/>
                <a:cs typeface="Arial"/>
              </a:rPr>
              <a:t> </a:t>
            </a:r>
            <a:r>
              <a:rPr sz="1950" spc="204" dirty="0">
                <a:solidFill>
                  <a:srgbClr val="231F20"/>
                </a:solidFill>
                <a:latin typeface="Arial"/>
                <a:cs typeface="Arial"/>
              </a:rPr>
              <a:t>PVS</a:t>
            </a:r>
            <a:endParaRPr sz="1950">
              <a:latin typeface="Arial"/>
              <a:cs typeface="Arial"/>
            </a:endParaRPr>
          </a:p>
          <a:p>
            <a:pPr marL="300990" indent="-288290">
              <a:lnSpc>
                <a:spcPct val="100000"/>
              </a:lnSpc>
              <a:spcBef>
                <a:spcPts val="1000"/>
              </a:spcBef>
              <a:buSzPct val="105128"/>
              <a:buFont typeface="Lucida Sans Unicode"/>
              <a:buChar char="•"/>
              <a:tabLst>
                <a:tab pos="301625" algn="l"/>
              </a:tabLst>
            </a:pPr>
            <a:r>
              <a:rPr sz="1950" spc="160" dirty="0">
                <a:solidFill>
                  <a:srgbClr val="231F20"/>
                </a:solidFill>
                <a:latin typeface="Arial"/>
                <a:cs typeface="Arial"/>
              </a:rPr>
              <a:t>Restrict </a:t>
            </a:r>
            <a:r>
              <a:rPr sz="1950" spc="190" dirty="0">
                <a:solidFill>
                  <a:srgbClr val="231F20"/>
                </a:solidFill>
                <a:latin typeface="Arial"/>
                <a:cs typeface="Arial"/>
              </a:rPr>
              <a:t>attention </a:t>
            </a:r>
            <a:r>
              <a:rPr sz="1950" spc="250" dirty="0">
                <a:solidFill>
                  <a:srgbClr val="231F20"/>
                </a:solidFill>
                <a:latin typeface="Arial"/>
                <a:cs typeface="Arial"/>
              </a:rPr>
              <a:t>to </a:t>
            </a:r>
            <a:r>
              <a:rPr sz="1950" spc="110" dirty="0">
                <a:solidFill>
                  <a:srgbClr val="231F20"/>
                </a:solidFill>
                <a:latin typeface="Arial"/>
                <a:cs typeface="Arial"/>
              </a:rPr>
              <a:t>specific </a:t>
            </a:r>
            <a:r>
              <a:rPr sz="1950" spc="114" dirty="0">
                <a:solidFill>
                  <a:srgbClr val="231F20"/>
                </a:solidFill>
                <a:latin typeface="Arial"/>
                <a:cs typeface="Arial"/>
              </a:rPr>
              <a:t>kinds </a:t>
            </a:r>
            <a:r>
              <a:rPr sz="1950" spc="185" dirty="0">
                <a:solidFill>
                  <a:srgbClr val="231F20"/>
                </a:solidFill>
                <a:latin typeface="Arial"/>
                <a:cs typeface="Arial"/>
              </a:rPr>
              <a:t>of</a:t>
            </a:r>
            <a:r>
              <a:rPr sz="1950" spc="890" dirty="0">
                <a:solidFill>
                  <a:srgbClr val="231F20"/>
                </a:solidFill>
                <a:latin typeface="Arial"/>
                <a:cs typeface="Arial"/>
              </a:rPr>
              <a:t> </a:t>
            </a:r>
            <a:r>
              <a:rPr sz="1950" spc="120" dirty="0">
                <a:solidFill>
                  <a:srgbClr val="231F20"/>
                </a:solidFill>
                <a:latin typeface="Arial"/>
                <a:cs typeface="Arial"/>
              </a:rPr>
              <a:t>problems</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60" dirty="0">
                <a:solidFill>
                  <a:srgbClr val="231F20"/>
                </a:solidFill>
                <a:latin typeface="Arial"/>
                <a:cs typeface="Arial"/>
              </a:rPr>
              <a:t>E.g., </a:t>
            </a:r>
            <a:r>
              <a:rPr sz="1950" spc="160" dirty="0">
                <a:solidFill>
                  <a:srgbClr val="0000FF"/>
                </a:solidFill>
                <a:latin typeface="Arial"/>
                <a:cs typeface="Arial"/>
              </a:rPr>
              <a:t>model </a:t>
            </a:r>
            <a:r>
              <a:rPr sz="1950" spc="135" dirty="0">
                <a:solidFill>
                  <a:srgbClr val="0000FF"/>
                </a:solidFill>
                <a:latin typeface="Arial"/>
                <a:cs typeface="Arial"/>
              </a:rPr>
              <a:t>checking</a:t>
            </a:r>
            <a:r>
              <a:rPr sz="1950" spc="135" dirty="0">
                <a:solidFill>
                  <a:srgbClr val="231F20"/>
                </a:solidFill>
                <a:latin typeface="Arial"/>
                <a:cs typeface="Arial"/>
              </a:rPr>
              <a:t>—focuses </a:t>
            </a:r>
            <a:r>
              <a:rPr sz="1950" spc="155" dirty="0">
                <a:solidFill>
                  <a:srgbClr val="231F20"/>
                </a:solidFill>
                <a:latin typeface="Arial"/>
                <a:cs typeface="Arial"/>
              </a:rPr>
              <a:t>on state </a:t>
            </a:r>
            <a:r>
              <a:rPr sz="1950" spc="114" dirty="0">
                <a:solidFill>
                  <a:srgbClr val="231F20"/>
                </a:solidFill>
                <a:latin typeface="Arial"/>
                <a:cs typeface="Arial"/>
              </a:rPr>
              <a:t>machines </a:t>
            </a:r>
            <a:r>
              <a:rPr sz="1950" spc="305" dirty="0">
                <a:solidFill>
                  <a:srgbClr val="231F20"/>
                </a:solidFill>
                <a:latin typeface="Arial"/>
                <a:cs typeface="Arial"/>
              </a:rPr>
              <a:t> </a:t>
            </a:r>
            <a:r>
              <a:rPr sz="1950" spc="155" dirty="0">
                <a:solidFill>
                  <a:srgbClr val="231F20"/>
                </a:solidFill>
                <a:latin typeface="Arial"/>
                <a:cs typeface="Arial"/>
              </a:rPr>
              <a:t>etc.</a:t>
            </a:r>
            <a:endParaRPr sz="1950">
              <a:latin typeface="Arial"/>
              <a:cs typeface="Arial"/>
            </a:endParaRPr>
          </a:p>
          <a:p>
            <a:pPr marL="300990" indent="-288290">
              <a:lnSpc>
                <a:spcPct val="100000"/>
              </a:lnSpc>
              <a:spcBef>
                <a:spcPts val="1000"/>
              </a:spcBef>
              <a:buSzPct val="105128"/>
              <a:buFont typeface="Lucida Sans Unicode"/>
              <a:buChar char="•"/>
              <a:tabLst>
                <a:tab pos="301625" algn="l"/>
              </a:tabLst>
            </a:pPr>
            <a:r>
              <a:rPr sz="1950" spc="60" dirty="0">
                <a:solidFill>
                  <a:srgbClr val="231F20"/>
                </a:solidFill>
                <a:latin typeface="Arial"/>
                <a:cs typeface="Arial"/>
              </a:rPr>
              <a:t>Use </a:t>
            </a:r>
            <a:r>
              <a:rPr sz="1950" spc="140" dirty="0">
                <a:solidFill>
                  <a:srgbClr val="231F20"/>
                </a:solidFill>
                <a:latin typeface="Arial"/>
                <a:cs typeface="Arial"/>
              </a:rPr>
              <a:t>approximate </a:t>
            </a:r>
            <a:r>
              <a:rPr sz="1950" spc="130" dirty="0">
                <a:solidFill>
                  <a:srgbClr val="231F20"/>
                </a:solidFill>
                <a:latin typeface="Arial"/>
                <a:cs typeface="Arial"/>
              </a:rPr>
              <a:t>models, </a:t>
            </a:r>
            <a:r>
              <a:rPr sz="1950" spc="150" dirty="0">
                <a:solidFill>
                  <a:srgbClr val="231F20"/>
                </a:solidFill>
                <a:latin typeface="Arial"/>
                <a:cs typeface="Arial"/>
              </a:rPr>
              <a:t>incomplete</a:t>
            </a:r>
            <a:r>
              <a:rPr sz="1950" spc="770" dirty="0">
                <a:solidFill>
                  <a:srgbClr val="231F20"/>
                </a:solidFill>
                <a:latin typeface="Arial"/>
                <a:cs typeface="Arial"/>
              </a:rPr>
              <a:t> </a:t>
            </a:r>
            <a:r>
              <a:rPr sz="1950" spc="75" dirty="0">
                <a:solidFill>
                  <a:srgbClr val="231F20"/>
                </a:solidFill>
                <a:latin typeface="Arial"/>
                <a:cs typeface="Arial"/>
              </a:rPr>
              <a:t>search</a:t>
            </a:r>
            <a:endParaRPr sz="1950">
              <a:latin typeface="Arial"/>
              <a:cs typeface="Arial"/>
            </a:endParaRPr>
          </a:p>
          <a:p>
            <a:pPr marL="741680" lvl="1" indent="-288290">
              <a:lnSpc>
                <a:spcPct val="100000"/>
              </a:lnSpc>
              <a:spcBef>
                <a:spcPts val="1000"/>
              </a:spcBef>
              <a:buClr>
                <a:srgbClr val="231F20"/>
              </a:buClr>
              <a:buSzPct val="105128"/>
              <a:buFont typeface="Lucida Sans Unicode"/>
              <a:buChar char="◦"/>
              <a:tabLst>
                <a:tab pos="742315" algn="l"/>
              </a:tabLst>
            </a:pPr>
            <a:r>
              <a:rPr sz="1950" spc="160" dirty="0">
                <a:solidFill>
                  <a:srgbClr val="0000FF"/>
                </a:solidFill>
                <a:latin typeface="Arial"/>
                <a:cs typeface="Arial"/>
              </a:rPr>
              <a:t>model </a:t>
            </a:r>
            <a:r>
              <a:rPr sz="1950" spc="85" dirty="0">
                <a:solidFill>
                  <a:srgbClr val="0000FF"/>
                </a:solidFill>
                <a:latin typeface="Arial"/>
                <a:cs typeface="Arial"/>
              </a:rPr>
              <a:t>checkers </a:t>
            </a:r>
            <a:r>
              <a:rPr sz="1950" spc="65" dirty="0">
                <a:solidFill>
                  <a:srgbClr val="231F20"/>
                </a:solidFill>
                <a:latin typeface="Arial"/>
                <a:cs typeface="Arial"/>
              </a:rPr>
              <a:t>are </a:t>
            </a:r>
            <a:r>
              <a:rPr sz="1950" spc="175" dirty="0">
                <a:solidFill>
                  <a:srgbClr val="231F20"/>
                </a:solidFill>
                <a:latin typeface="Arial"/>
                <a:cs typeface="Arial"/>
              </a:rPr>
              <a:t>often </a:t>
            </a:r>
            <a:r>
              <a:rPr sz="1950" spc="70" dirty="0">
                <a:solidFill>
                  <a:srgbClr val="231F20"/>
                </a:solidFill>
                <a:latin typeface="Arial"/>
                <a:cs typeface="Arial"/>
              </a:rPr>
              <a:t>used </a:t>
            </a:r>
            <a:r>
              <a:rPr sz="1950" spc="145" dirty="0">
                <a:solidFill>
                  <a:srgbClr val="231F20"/>
                </a:solidFill>
                <a:latin typeface="Arial"/>
                <a:cs typeface="Arial"/>
              </a:rPr>
              <a:t>this </a:t>
            </a:r>
            <a:r>
              <a:rPr sz="1950" spc="445" dirty="0">
                <a:solidFill>
                  <a:srgbClr val="231F20"/>
                </a:solidFill>
                <a:latin typeface="Arial"/>
                <a:cs typeface="Arial"/>
              </a:rPr>
              <a:t> </a:t>
            </a:r>
            <a:r>
              <a:rPr sz="1950" spc="105" dirty="0">
                <a:solidFill>
                  <a:srgbClr val="231F20"/>
                </a:solidFill>
                <a:latin typeface="Arial"/>
                <a:cs typeface="Arial"/>
              </a:rPr>
              <a:t>way</a:t>
            </a:r>
            <a:endParaRPr sz="1950">
              <a:latin typeface="Arial"/>
              <a:cs typeface="Arial"/>
            </a:endParaRPr>
          </a:p>
          <a:p>
            <a:pPr marL="300990" indent="-288290">
              <a:lnSpc>
                <a:spcPct val="100000"/>
              </a:lnSpc>
              <a:spcBef>
                <a:spcPts val="1000"/>
              </a:spcBef>
              <a:buSzPct val="105128"/>
              <a:buFont typeface="Lucida Sans Unicode"/>
              <a:buChar char="•"/>
              <a:tabLst>
                <a:tab pos="301625" algn="l"/>
              </a:tabLst>
            </a:pPr>
            <a:r>
              <a:rPr sz="1950" spc="235" dirty="0">
                <a:solidFill>
                  <a:srgbClr val="231F20"/>
                </a:solidFill>
                <a:latin typeface="Arial"/>
                <a:cs typeface="Arial"/>
              </a:rPr>
              <a:t>Aim </a:t>
            </a:r>
            <a:r>
              <a:rPr sz="1950" spc="215" dirty="0">
                <a:solidFill>
                  <a:srgbClr val="231F20"/>
                </a:solidFill>
                <a:latin typeface="Arial"/>
                <a:cs typeface="Arial"/>
              </a:rPr>
              <a:t>at </a:t>
            </a:r>
            <a:r>
              <a:rPr sz="1950" spc="150" dirty="0">
                <a:solidFill>
                  <a:srgbClr val="231F20"/>
                </a:solidFill>
                <a:latin typeface="Arial"/>
                <a:cs typeface="Arial"/>
              </a:rPr>
              <a:t>something </a:t>
            </a:r>
            <a:r>
              <a:rPr sz="1950" spc="170" dirty="0">
                <a:solidFill>
                  <a:srgbClr val="231F20"/>
                </a:solidFill>
                <a:latin typeface="Arial"/>
                <a:cs typeface="Arial"/>
              </a:rPr>
              <a:t>other </a:t>
            </a:r>
            <a:r>
              <a:rPr sz="1950" spc="185" dirty="0">
                <a:solidFill>
                  <a:srgbClr val="231F20"/>
                </a:solidFill>
                <a:latin typeface="Arial"/>
                <a:cs typeface="Arial"/>
              </a:rPr>
              <a:t>than</a:t>
            </a:r>
            <a:r>
              <a:rPr sz="1950" spc="595" dirty="0">
                <a:solidFill>
                  <a:srgbClr val="231F20"/>
                </a:solidFill>
                <a:latin typeface="Arial"/>
                <a:cs typeface="Arial"/>
              </a:rPr>
              <a:t> </a:t>
            </a:r>
            <a:r>
              <a:rPr sz="1950" spc="145" dirty="0">
                <a:solidFill>
                  <a:srgbClr val="231F20"/>
                </a:solidFill>
                <a:latin typeface="Arial"/>
                <a:cs typeface="Arial"/>
              </a:rPr>
              <a:t>verification</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60" dirty="0">
                <a:solidFill>
                  <a:srgbClr val="231F20"/>
                </a:solidFill>
                <a:latin typeface="Arial"/>
                <a:cs typeface="Arial"/>
              </a:rPr>
              <a:t>E.g., </a:t>
            </a:r>
            <a:r>
              <a:rPr sz="1950" spc="155" dirty="0">
                <a:solidFill>
                  <a:srgbClr val="0000FF"/>
                </a:solidFill>
                <a:latin typeface="Arial"/>
                <a:cs typeface="Arial"/>
              </a:rPr>
              <a:t>bug </a:t>
            </a:r>
            <a:r>
              <a:rPr sz="1950" spc="150" dirty="0">
                <a:solidFill>
                  <a:srgbClr val="0000FF"/>
                </a:solidFill>
                <a:latin typeface="Arial"/>
                <a:cs typeface="Arial"/>
              </a:rPr>
              <a:t>finding</a:t>
            </a:r>
            <a:r>
              <a:rPr sz="1950" spc="150" dirty="0">
                <a:solidFill>
                  <a:srgbClr val="231F20"/>
                </a:solidFill>
                <a:latin typeface="Arial"/>
                <a:cs typeface="Arial"/>
              </a:rPr>
              <a:t>, </a:t>
            </a:r>
            <a:r>
              <a:rPr sz="1950" spc="170" dirty="0">
                <a:solidFill>
                  <a:srgbClr val="0000FF"/>
                </a:solidFill>
                <a:latin typeface="Arial"/>
                <a:cs typeface="Arial"/>
              </a:rPr>
              <a:t>test </a:t>
            </a:r>
            <a:r>
              <a:rPr sz="1950" spc="50" dirty="0">
                <a:solidFill>
                  <a:srgbClr val="0000FF"/>
                </a:solidFill>
                <a:latin typeface="Arial"/>
                <a:cs typeface="Arial"/>
              </a:rPr>
              <a:t>case </a:t>
            </a:r>
            <a:r>
              <a:rPr sz="1950" spc="150" dirty="0">
                <a:solidFill>
                  <a:srgbClr val="0000FF"/>
                </a:solidFill>
                <a:latin typeface="Arial"/>
                <a:cs typeface="Arial"/>
              </a:rPr>
              <a:t> </a:t>
            </a:r>
            <a:r>
              <a:rPr sz="1950" spc="135" dirty="0">
                <a:solidFill>
                  <a:srgbClr val="0000FF"/>
                </a:solidFill>
                <a:latin typeface="Arial"/>
                <a:cs typeface="Arial"/>
              </a:rPr>
              <a:t>generation</a:t>
            </a:r>
            <a:endParaRPr sz="1950">
              <a:latin typeface="Arial"/>
              <a:cs typeface="Arial"/>
            </a:endParaRPr>
          </a:p>
          <a:p>
            <a:pPr marL="300990" indent="-288290">
              <a:lnSpc>
                <a:spcPct val="100000"/>
              </a:lnSpc>
              <a:spcBef>
                <a:spcPts val="994"/>
              </a:spcBef>
              <a:buSzPct val="105128"/>
              <a:buFont typeface="Lucida Sans Unicode"/>
              <a:buChar char="•"/>
              <a:tabLst>
                <a:tab pos="301625" algn="l"/>
              </a:tabLst>
            </a:pPr>
            <a:r>
              <a:rPr sz="1950" spc="145" dirty="0">
                <a:solidFill>
                  <a:srgbClr val="231F20"/>
                </a:solidFill>
                <a:latin typeface="Arial"/>
                <a:cs typeface="Arial"/>
              </a:rPr>
              <a:t>Verify </a:t>
            </a:r>
            <a:r>
              <a:rPr sz="1950" spc="114" dirty="0">
                <a:solidFill>
                  <a:srgbClr val="231F20"/>
                </a:solidFill>
                <a:latin typeface="Arial"/>
                <a:cs typeface="Arial"/>
              </a:rPr>
              <a:t>weak</a:t>
            </a:r>
            <a:r>
              <a:rPr sz="1950" spc="350" dirty="0">
                <a:solidFill>
                  <a:srgbClr val="231F20"/>
                </a:solidFill>
                <a:latin typeface="Arial"/>
                <a:cs typeface="Arial"/>
              </a:rPr>
              <a:t> </a:t>
            </a:r>
            <a:r>
              <a:rPr sz="1950" spc="125" dirty="0">
                <a:solidFill>
                  <a:srgbClr val="231F20"/>
                </a:solidFill>
                <a:latin typeface="Arial"/>
                <a:cs typeface="Arial"/>
              </a:rPr>
              <a:t>properties</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229" dirty="0">
                <a:solidFill>
                  <a:srgbClr val="231F20"/>
                </a:solidFill>
                <a:latin typeface="Arial"/>
                <a:cs typeface="Arial"/>
              </a:rPr>
              <a:t>That’s </a:t>
            </a:r>
            <a:r>
              <a:rPr sz="1950" spc="204" dirty="0">
                <a:solidFill>
                  <a:srgbClr val="231F20"/>
                </a:solidFill>
                <a:latin typeface="Arial"/>
                <a:cs typeface="Arial"/>
              </a:rPr>
              <a:t>what </a:t>
            </a:r>
            <a:r>
              <a:rPr sz="1950" spc="165" dirty="0">
                <a:solidFill>
                  <a:srgbClr val="0000FF"/>
                </a:solidFill>
                <a:latin typeface="Arial"/>
                <a:cs typeface="Arial"/>
              </a:rPr>
              <a:t>static </a:t>
            </a:r>
            <a:r>
              <a:rPr sz="1950" spc="75" dirty="0">
                <a:solidFill>
                  <a:srgbClr val="0000FF"/>
                </a:solidFill>
                <a:latin typeface="Arial"/>
                <a:cs typeface="Arial"/>
              </a:rPr>
              <a:t>analysis </a:t>
            </a:r>
            <a:r>
              <a:rPr sz="1950" spc="135" dirty="0">
                <a:solidFill>
                  <a:srgbClr val="231F20"/>
                </a:solidFill>
                <a:latin typeface="Arial"/>
                <a:cs typeface="Arial"/>
              </a:rPr>
              <a:t>typically</a:t>
            </a:r>
            <a:r>
              <a:rPr sz="1950" spc="745" dirty="0">
                <a:solidFill>
                  <a:srgbClr val="231F20"/>
                </a:solidFill>
                <a:latin typeface="Arial"/>
                <a:cs typeface="Arial"/>
              </a:rPr>
              <a:t> </a:t>
            </a:r>
            <a:r>
              <a:rPr sz="1950" spc="90" dirty="0">
                <a:solidFill>
                  <a:srgbClr val="231F20"/>
                </a:solidFill>
                <a:latin typeface="Arial"/>
                <a:cs typeface="Arial"/>
              </a:rPr>
              <a:t>does</a:t>
            </a:r>
            <a:endParaRPr sz="1950">
              <a:latin typeface="Arial"/>
              <a:cs typeface="Arial"/>
            </a:endParaRPr>
          </a:p>
          <a:p>
            <a:pPr marL="300990" indent="-288290">
              <a:lnSpc>
                <a:spcPct val="100000"/>
              </a:lnSpc>
              <a:spcBef>
                <a:spcPts val="994"/>
              </a:spcBef>
              <a:buSzPct val="105128"/>
              <a:buFont typeface="Lucida Sans Unicode"/>
              <a:buChar char="•"/>
              <a:tabLst>
                <a:tab pos="301625" algn="l"/>
              </a:tabLst>
            </a:pPr>
            <a:r>
              <a:rPr sz="1950" spc="95" dirty="0">
                <a:solidFill>
                  <a:srgbClr val="231F20"/>
                </a:solidFill>
                <a:latin typeface="Arial"/>
                <a:cs typeface="Arial"/>
              </a:rPr>
              <a:t>Give </a:t>
            </a:r>
            <a:r>
              <a:rPr sz="1950" spc="155" dirty="0">
                <a:solidFill>
                  <a:srgbClr val="231F20"/>
                </a:solidFill>
                <a:latin typeface="Arial"/>
                <a:cs typeface="Arial"/>
              </a:rPr>
              <a:t>up </a:t>
            </a:r>
            <a:r>
              <a:rPr sz="1950" spc="75" dirty="0">
                <a:solidFill>
                  <a:srgbClr val="231F20"/>
                </a:solidFill>
                <a:latin typeface="Arial"/>
                <a:cs typeface="Arial"/>
              </a:rPr>
              <a:t>soundness </a:t>
            </a:r>
            <a:r>
              <a:rPr sz="1950" spc="225" dirty="0">
                <a:solidFill>
                  <a:srgbClr val="231F20"/>
                </a:solidFill>
                <a:latin typeface="Arial"/>
                <a:cs typeface="Arial"/>
              </a:rPr>
              <a:t>and/or</a:t>
            </a:r>
            <a:r>
              <a:rPr sz="1950" spc="785" dirty="0">
                <a:solidFill>
                  <a:srgbClr val="231F20"/>
                </a:solidFill>
                <a:latin typeface="Arial"/>
                <a:cs typeface="Arial"/>
              </a:rPr>
              <a:t> </a:t>
            </a:r>
            <a:r>
              <a:rPr sz="1950" spc="110" dirty="0">
                <a:solidFill>
                  <a:srgbClr val="231F20"/>
                </a:solidFill>
                <a:latin typeface="Arial"/>
                <a:cs typeface="Arial"/>
              </a:rPr>
              <a:t>completeness</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55" dirty="0">
                <a:solidFill>
                  <a:srgbClr val="231F20"/>
                </a:solidFill>
                <a:latin typeface="Arial"/>
                <a:cs typeface="Arial"/>
              </a:rPr>
              <a:t>Again, </a:t>
            </a:r>
            <a:r>
              <a:rPr sz="1950" spc="195" dirty="0">
                <a:solidFill>
                  <a:srgbClr val="231F20"/>
                </a:solidFill>
                <a:latin typeface="Arial"/>
                <a:cs typeface="Arial"/>
              </a:rPr>
              <a:t>that’s </a:t>
            </a:r>
            <a:r>
              <a:rPr sz="1950" spc="204" dirty="0">
                <a:solidFill>
                  <a:srgbClr val="231F20"/>
                </a:solidFill>
                <a:latin typeface="Arial"/>
                <a:cs typeface="Arial"/>
              </a:rPr>
              <a:t>what </a:t>
            </a:r>
            <a:r>
              <a:rPr sz="1950" spc="165" dirty="0">
                <a:solidFill>
                  <a:srgbClr val="0000FF"/>
                </a:solidFill>
                <a:latin typeface="Arial"/>
                <a:cs typeface="Arial"/>
              </a:rPr>
              <a:t>static </a:t>
            </a:r>
            <a:r>
              <a:rPr sz="1950" spc="75" dirty="0">
                <a:solidFill>
                  <a:srgbClr val="0000FF"/>
                </a:solidFill>
                <a:latin typeface="Arial"/>
                <a:cs typeface="Arial"/>
              </a:rPr>
              <a:t>analysis </a:t>
            </a:r>
            <a:r>
              <a:rPr sz="1950" spc="135" dirty="0">
                <a:solidFill>
                  <a:srgbClr val="231F20"/>
                </a:solidFill>
                <a:latin typeface="Arial"/>
                <a:cs typeface="Arial"/>
              </a:rPr>
              <a:t>typically </a:t>
            </a:r>
            <a:r>
              <a:rPr sz="1950" spc="229" dirty="0">
                <a:solidFill>
                  <a:srgbClr val="231F20"/>
                </a:solidFill>
                <a:latin typeface="Arial"/>
                <a:cs typeface="Arial"/>
              </a:rPr>
              <a:t> </a:t>
            </a:r>
            <a:r>
              <a:rPr sz="1950" spc="90" dirty="0">
                <a:solidFill>
                  <a:srgbClr val="231F20"/>
                </a:solidFill>
                <a:latin typeface="Arial"/>
                <a:cs typeface="Arial"/>
              </a:rPr>
              <a:t>does</a:t>
            </a:r>
            <a:endParaRPr sz="1950">
              <a:latin typeface="Arial"/>
              <a:cs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3434867"/>
            <a:ext cx="3750310" cy="314325"/>
          </a:xfrm>
          <a:prstGeom prst="rect">
            <a:avLst/>
          </a:prstGeom>
        </p:spPr>
        <p:txBody>
          <a:bodyPr vert="horz" wrap="square" lIns="0" tIns="0" rIns="0" bIns="0" rtlCol="0">
            <a:spAutoFit/>
          </a:bodyPr>
          <a:lstStyle/>
          <a:p>
            <a:pPr marL="12700">
              <a:lnSpc>
                <a:spcPct val="100000"/>
              </a:lnSpc>
              <a:tabLst>
                <a:tab pos="2856865" algn="l"/>
              </a:tabLst>
            </a:pPr>
            <a:r>
              <a:rPr sz="1950" spc="315" dirty="0">
                <a:solidFill>
                  <a:srgbClr val="231F20"/>
                </a:solidFill>
                <a:latin typeface="Arial"/>
                <a:cs typeface="Arial"/>
              </a:rPr>
              <a:t>L</a:t>
            </a:r>
            <a:r>
              <a:rPr sz="1950" spc="10" dirty="0">
                <a:solidFill>
                  <a:srgbClr val="231F20"/>
                </a:solidFill>
                <a:latin typeface="Arial"/>
                <a:cs typeface="Arial"/>
              </a:rPr>
              <a:t>e</a:t>
            </a:r>
            <a:r>
              <a:rPr sz="1950" spc="350" dirty="0">
                <a:solidFill>
                  <a:srgbClr val="231F20"/>
                </a:solidFill>
                <a:latin typeface="Arial"/>
                <a:cs typeface="Arial"/>
              </a:rPr>
              <a:t>t</a:t>
            </a:r>
            <a:r>
              <a:rPr sz="1950" spc="250" dirty="0">
                <a:solidFill>
                  <a:srgbClr val="231F20"/>
                </a:solidFill>
                <a:latin typeface="Arial"/>
                <a:cs typeface="Arial"/>
              </a:rPr>
              <a:t>’</a:t>
            </a:r>
            <a:r>
              <a:rPr sz="1950" spc="-25" dirty="0">
                <a:solidFill>
                  <a:srgbClr val="231F20"/>
                </a:solidFill>
                <a:latin typeface="Arial"/>
                <a:cs typeface="Arial"/>
              </a:rPr>
              <a:t>s</a:t>
            </a:r>
            <a:r>
              <a:rPr sz="1950" dirty="0">
                <a:solidFill>
                  <a:srgbClr val="231F20"/>
                </a:solidFill>
                <a:latin typeface="Arial"/>
                <a:cs typeface="Arial"/>
              </a:rPr>
              <a:t> </a:t>
            </a:r>
            <a:r>
              <a:rPr sz="1950" spc="-260" dirty="0">
                <a:solidFill>
                  <a:srgbClr val="231F20"/>
                </a:solidFill>
                <a:latin typeface="Arial"/>
                <a:cs typeface="Arial"/>
              </a:rPr>
              <a:t> </a:t>
            </a:r>
            <a:r>
              <a:rPr sz="1950" spc="155" dirty="0">
                <a:solidFill>
                  <a:srgbClr val="231F20"/>
                </a:solidFill>
                <a:latin typeface="Arial"/>
                <a:cs typeface="Arial"/>
              </a:rPr>
              <a:t>do</a:t>
            </a:r>
            <a:r>
              <a:rPr sz="1950" dirty="0">
                <a:solidFill>
                  <a:srgbClr val="231F20"/>
                </a:solidFill>
                <a:latin typeface="Arial"/>
                <a:cs typeface="Arial"/>
              </a:rPr>
              <a:t> </a:t>
            </a:r>
            <a:r>
              <a:rPr sz="1950" spc="-260" dirty="0">
                <a:solidFill>
                  <a:srgbClr val="231F20"/>
                </a:solidFill>
                <a:latin typeface="Arial"/>
                <a:cs typeface="Arial"/>
              </a:rPr>
              <a:t> </a:t>
            </a:r>
            <a:r>
              <a:rPr sz="1950" spc="120" dirty="0">
                <a:solidFill>
                  <a:srgbClr val="231F20"/>
                </a:solidFill>
                <a:latin typeface="Arial"/>
                <a:cs typeface="Arial"/>
              </a:rPr>
              <a:t>an</a:t>
            </a:r>
            <a:r>
              <a:rPr sz="1950" dirty="0">
                <a:solidFill>
                  <a:srgbClr val="231F20"/>
                </a:solidFill>
                <a:latin typeface="Arial"/>
                <a:cs typeface="Arial"/>
              </a:rPr>
              <a:t> </a:t>
            </a:r>
            <a:r>
              <a:rPr sz="1950" spc="-260" dirty="0">
                <a:solidFill>
                  <a:srgbClr val="231F20"/>
                </a:solidFill>
                <a:latin typeface="Arial"/>
                <a:cs typeface="Arial"/>
              </a:rPr>
              <a:t> </a:t>
            </a:r>
            <a:r>
              <a:rPr sz="1950" spc="10" dirty="0">
                <a:solidFill>
                  <a:srgbClr val="231F20"/>
                </a:solidFill>
                <a:latin typeface="Arial"/>
                <a:cs typeface="Arial"/>
              </a:rPr>
              <a:t>e</a:t>
            </a:r>
            <a:r>
              <a:rPr sz="1950" spc="120" dirty="0">
                <a:solidFill>
                  <a:srgbClr val="231F20"/>
                </a:solidFill>
                <a:latin typeface="Arial"/>
                <a:cs typeface="Arial"/>
              </a:rPr>
              <a:t>x</a:t>
            </a:r>
            <a:r>
              <a:rPr sz="1950" spc="190" dirty="0">
                <a:solidFill>
                  <a:srgbClr val="231F20"/>
                </a:solidFill>
                <a:latin typeface="Arial"/>
                <a:cs typeface="Arial"/>
              </a:rPr>
              <a:t>am</a:t>
            </a:r>
            <a:r>
              <a:rPr sz="1950" spc="155" dirty="0">
                <a:solidFill>
                  <a:srgbClr val="231F20"/>
                </a:solidFill>
                <a:latin typeface="Arial"/>
                <a:cs typeface="Arial"/>
              </a:rPr>
              <a:t>p</a:t>
            </a:r>
            <a:r>
              <a:rPr sz="1950" spc="110" dirty="0">
                <a:solidFill>
                  <a:srgbClr val="231F20"/>
                </a:solidFill>
                <a:latin typeface="Arial"/>
                <a:cs typeface="Arial"/>
              </a:rPr>
              <a:t>l</a:t>
            </a:r>
            <a:r>
              <a:rPr sz="1950" spc="10" dirty="0">
                <a:solidFill>
                  <a:srgbClr val="231F20"/>
                </a:solidFill>
                <a:latin typeface="Arial"/>
                <a:cs typeface="Arial"/>
              </a:rPr>
              <a:t>e</a:t>
            </a:r>
            <a:r>
              <a:rPr sz="1950" spc="145" dirty="0">
                <a:solidFill>
                  <a:srgbClr val="231F20"/>
                </a:solidFill>
                <a:latin typeface="Arial"/>
                <a:cs typeface="Arial"/>
              </a:rPr>
              <a:t>:</a:t>
            </a:r>
            <a:r>
              <a:rPr sz="1950" dirty="0">
                <a:solidFill>
                  <a:srgbClr val="231F20"/>
                </a:solidFill>
                <a:latin typeface="Arial"/>
                <a:cs typeface="Arial"/>
              </a:rPr>
              <a:t>	</a:t>
            </a:r>
            <a:r>
              <a:rPr sz="1950" spc="320" dirty="0">
                <a:solidFill>
                  <a:srgbClr val="231F20"/>
                </a:solidFill>
                <a:latin typeface="Arial"/>
                <a:cs typeface="Arial"/>
              </a:rPr>
              <a:t>B</a:t>
            </a:r>
            <a:r>
              <a:rPr sz="1950" spc="145" dirty="0">
                <a:solidFill>
                  <a:srgbClr val="231F20"/>
                </a:solidFill>
                <a:latin typeface="Arial"/>
                <a:cs typeface="Arial"/>
              </a:rPr>
              <a:t>a</a:t>
            </a:r>
            <a:r>
              <a:rPr sz="1950" spc="60" dirty="0">
                <a:solidFill>
                  <a:srgbClr val="231F20"/>
                </a:solidFill>
                <a:latin typeface="Arial"/>
                <a:cs typeface="Arial"/>
              </a:rPr>
              <a:t>k</a:t>
            </a:r>
            <a:r>
              <a:rPr sz="1950" spc="10" dirty="0">
                <a:solidFill>
                  <a:srgbClr val="231F20"/>
                </a:solidFill>
                <a:latin typeface="Arial"/>
                <a:cs typeface="Arial"/>
              </a:rPr>
              <a:t>e</a:t>
            </a:r>
            <a:r>
              <a:rPr sz="1950" spc="170" dirty="0">
                <a:solidFill>
                  <a:srgbClr val="231F20"/>
                </a:solidFill>
                <a:latin typeface="Arial"/>
                <a:cs typeface="Arial"/>
              </a:rPr>
              <a:t>r</a:t>
            </a:r>
            <a:r>
              <a:rPr sz="1950" spc="125" dirty="0">
                <a:solidFill>
                  <a:srgbClr val="231F20"/>
                </a:solidFill>
                <a:latin typeface="Arial"/>
                <a:cs typeface="Arial"/>
              </a:rPr>
              <a:t>y</a:t>
            </a:r>
            <a:endParaRPr sz="1950">
              <a:latin typeface="Arial"/>
              <a:cs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712241"/>
            <a:ext cx="8091805" cy="5365115"/>
          </a:xfrm>
          <a:prstGeom prst="rect">
            <a:avLst/>
          </a:prstGeom>
        </p:spPr>
        <p:txBody>
          <a:bodyPr vert="horz" wrap="square" lIns="0" tIns="0" rIns="0" bIns="0" rtlCol="0">
            <a:spAutoFit/>
          </a:bodyPr>
          <a:lstStyle/>
          <a:p>
            <a:pPr marL="189230">
              <a:lnSpc>
                <a:spcPct val="100000"/>
              </a:lnSpc>
            </a:pPr>
            <a:r>
              <a:rPr sz="1950" spc="390" dirty="0">
                <a:solidFill>
                  <a:srgbClr val="231F20"/>
                </a:solidFill>
                <a:latin typeface="Arial"/>
                <a:cs typeface="Arial"/>
              </a:rPr>
              <a:t>The </a:t>
            </a:r>
            <a:r>
              <a:rPr sz="1950" spc="254" dirty="0">
                <a:solidFill>
                  <a:srgbClr val="231F20"/>
                </a:solidFill>
                <a:latin typeface="Arial"/>
                <a:cs typeface="Arial"/>
              </a:rPr>
              <a:t>Bakery </a:t>
            </a:r>
            <a:r>
              <a:rPr sz="1950" spc="295" dirty="0">
                <a:solidFill>
                  <a:srgbClr val="231F20"/>
                </a:solidFill>
                <a:latin typeface="Arial"/>
                <a:cs typeface="Arial"/>
              </a:rPr>
              <a:t>Algorithm </a:t>
            </a:r>
            <a:r>
              <a:rPr sz="1950" spc="245" dirty="0">
                <a:solidFill>
                  <a:srgbClr val="231F20"/>
                </a:solidFill>
                <a:latin typeface="Arial"/>
                <a:cs typeface="Arial"/>
              </a:rPr>
              <a:t>for </a:t>
            </a:r>
            <a:r>
              <a:rPr sz="1950" spc="270" dirty="0">
                <a:solidFill>
                  <a:srgbClr val="231F20"/>
                </a:solidFill>
                <a:latin typeface="Arial"/>
                <a:cs typeface="Arial"/>
              </a:rPr>
              <a:t>Distributed </a:t>
            </a:r>
            <a:r>
              <a:rPr sz="1950" spc="320" dirty="0">
                <a:solidFill>
                  <a:srgbClr val="231F20"/>
                </a:solidFill>
                <a:latin typeface="Arial"/>
                <a:cs typeface="Arial"/>
              </a:rPr>
              <a:t>Mutual</a:t>
            </a:r>
            <a:r>
              <a:rPr sz="1950" spc="750" dirty="0">
                <a:solidFill>
                  <a:srgbClr val="231F20"/>
                </a:solidFill>
                <a:latin typeface="Arial"/>
                <a:cs typeface="Arial"/>
              </a:rPr>
              <a:t> </a:t>
            </a:r>
            <a:r>
              <a:rPr sz="1950" spc="225" dirty="0">
                <a:solidFill>
                  <a:srgbClr val="231F20"/>
                </a:solidFill>
                <a:latin typeface="Arial"/>
                <a:cs typeface="Arial"/>
              </a:rPr>
              <a:t>Exclusion</a:t>
            </a:r>
            <a:endParaRPr sz="1950">
              <a:latin typeface="Arial"/>
              <a:cs typeface="Arial"/>
            </a:endParaRPr>
          </a:p>
          <a:p>
            <a:pPr marL="300990" marR="319405" indent="-288290">
              <a:lnSpc>
                <a:spcPct val="125000"/>
              </a:lnSpc>
              <a:spcBef>
                <a:spcPts val="1345"/>
              </a:spcBef>
              <a:buSzPct val="105128"/>
              <a:buFont typeface="Lucida Sans Unicode"/>
              <a:buChar char="•"/>
              <a:tabLst>
                <a:tab pos="301625" algn="l"/>
              </a:tabLst>
            </a:pPr>
            <a:r>
              <a:rPr sz="1950" spc="85" dirty="0">
                <a:solidFill>
                  <a:srgbClr val="231F20"/>
                </a:solidFill>
                <a:latin typeface="Arial"/>
                <a:cs typeface="Arial"/>
              </a:rPr>
              <a:t>Idea </a:t>
            </a:r>
            <a:r>
              <a:rPr sz="1950" spc="40" dirty="0">
                <a:solidFill>
                  <a:srgbClr val="231F20"/>
                </a:solidFill>
                <a:latin typeface="Arial"/>
                <a:cs typeface="Arial"/>
              </a:rPr>
              <a:t>is </a:t>
            </a:r>
            <a:r>
              <a:rPr sz="1950" spc="75" dirty="0">
                <a:solidFill>
                  <a:srgbClr val="231F20"/>
                </a:solidFill>
                <a:latin typeface="Arial"/>
                <a:cs typeface="Arial"/>
              </a:rPr>
              <a:t>based </a:t>
            </a:r>
            <a:r>
              <a:rPr sz="1950" spc="155" dirty="0">
                <a:solidFill>
                  <a:srgbClr val="231F20"/>
                </a:solidFill>
                <a:latin typeface="Arial"/>
                <a:cs typeface="Arial"/>
              </a:rPr>
              <a:t>on </a:t>
            </a:r>
            <a:r>
              <a:rPr sz="1950" spc="175" dirty="0">
                <a:solidFill>
                  <a:srgbClr val="231F20"/>
                </a:solidFill>
                <a:latin typeface="Arial"/>
                <a:cs typeface="Arial"/>
              </a:rPr>
              <a:t>the </a:t>
            </a:r>
            <a:r>
              <a:rPr sz="1950" spc="105" dirty="0">
                <a:solidFill>
                  <a:srgbClr val="231F20"/>
                </a:solidFill>
                <a:latin typeface="Arial"/>
                <a:cs typeface="Arial"/>
              </a:rPr>
              <a:t>way </a:t>
            </a:r>
            <a:r>
              <a:rPr sz="1950" spc="110" dirty="0">
                <a:solidFill>
                  <a:srgbClr val="231F20"/>
                </a:solidFill>
                <a:latin typeface="Arial"/>
                <a:cs typeface="Arial"/>
              </a:rPr>
              <a:t>people </a:t>
            </a:r>
            <a:r>
              <a:rPr sz="1950" spc="95" dirty="0">
                <a:solidFill>
                  <a:srgbClr val="231F20"/>
                </a:solidFill>
                <a:latin typeface="Arial"/>
                <a:cs typeface="Arial"/>
              </a:rPr>
              <a:t>queue </a:t>
            </a:r>
            <a:r>
              <a:rPr sz="1950" spc="155" dirty="0">
                <a:solidFill>
                  <a:srgbClr val="231F20"/>
                </a:solidFill>
                <a:latin typeface="Arial"/>
                <a:cs typeface="Arial"/>
              </a:rPr>
              <a:t>for </a:t>
            </a:r>
            <a:r>
              <a:rPr sz="1950" spc="75" dirty="0">
                <a:solidFill>
                  <a:srgbClr val="231F20"/>
                </a:solidFill>
                <a:latin typeface="Arial"/>
                <a:cs typeface="Arial"/>
              </a:rPr>
              <a:t>service </a:t>
            </a:r>
            <a:r>
              <a:rPr sz="1950" spc="130" dirty="0">
                <a:solidFill>
                  <a:srgbClr val="231F20"/>
                </a:solidFill>
                <a:latin typeface="Arial"/>
                <a:cs typeface="Arial"/>
              </a:rPr>
              <a:t>in US  </a:t>
            </a:r>
            <a:r>
              <a:rPr sz="1950" spc="80" dirty="0">
                <a:solidFill>
                  <a:srgbClr val="231F20"/>
                </a:solidFill>
                <a:latin typeface="Arial"/>
                <a:cs typeface="Arial"/>
              </a:rPr>
              <a:t>delicatessens </a:t>
            </a:r>
            <a:r>
              <a:rPr sz="1950" spc="130" dirty="0">
                <a:solidFill>
                  <a:srgbClr val="231F20"/>
                </a:solidFill>
                <a:latin typeface="Arial"/>
                <a:cs typeface="Arial"/>
              </a:rPr>
              <a:t>and </a:t>
            </a:r>
            <a:r>
              <a:rPr sz="1950" spc="80" dirty="0">
                <a:solidFill>
                  <a:srgbClr val="231F20"/>
                </a:solidFill>
                <a:latin typeface="Arial"/>
                <a:cs typeface="Arial"/>
              </a:rPr>
              <a:t>bakeries </a:t>
            </a:r>
            <a:r>
              <a:rPr sz="1950" spc="190" dirty="0">
                <a:solidFill>
                  <a:srgbClr val="231F20"/>
                </a:solidFill>
                <a:latin typeface="Arial"/>
                <a:cs typeface="Arial"/>
              </a:rPr>
              <a:t>(or </a:t>
            </a:r>
            <a:r>
              <a:rPr sz="1950" spc="185" dirty="0">
                <a:solidFill>
                  <a:srgbClr val="0000FF"/>
                </a:solidFill>
                <a:latin typeface="Arial"/>
                <a:cs typeface="Arial"/>
              </a:rPr>
              <a:t>Vietnam </a:t>
            </a:r>
            <a:r>
              <a:rPr sz="1950" spc="114" dirty="0">
                <a:solidFill>
                  <a:srgbClr val="0000FF"/>
                </a:solidFill>
                <a:latin typeface="Arial"/>
                <a:cs typeface="Arial"/>
              </a:rPr>
              <a:t>Airlines </a:t>
            </a:r>
            <a:r>
              <a:rPr sz="1950" spc="130" dirty="0">
                <a:solidFill>
                  <a:srgbClr val="0000FF"/>
                </a:solidFill>
                <a:latin typeface="Arial"/>
                <a:cs typeface="Arial"/>
              </a:rPr>
              <a:t>in </a:t>
            </a:r>
            <a:r>
              <a:rPr sz="1950" spc="530" dirty="0">
                <a:solidFill>
                  <a:srgbClr val="0000FF"/>
                </a:solidFill>
                <a:latin typeface="Arial"/>
                <a:cs typeface="Arial"/>
              </a:rPr>
              <a:t> </a:t>
            </a:r>
            <a:r>
              <a:rPr sz="1950" spc="250" dirty="0">
                <a:solidFill>
                  <a:srgbClr val="0000FF"/>
                </a:solidFill>
                <a:latin typeface="Arial"/>
                <a:cs typeface="Arial"/>
              </a:rPr>
              <a:t>HCMC</a:t>
            </a:r>
            <a:r>
              <a:rPr sz="1950" spc="250" dirty="0">
                <a:solidFill>
                  <a:srgbClr val="231F20"/>
                </a:solidFill>
                <a:latin typeface="Arial"/>
                <a:cs typeface="Arial"/>
              </a:rPr>
              <a:t>)</a:t>
            </a:r>
            <a:endParaRPr sz="1950">
              <a:latin typeface="Arial"/>
              <a:cs typeface="Arial"/>
            </a:endParaRPr>
          </a:p>
          <a:p>
            <a:pPr marL="300990" marR="686435" indent="-288290">
              <a:lnSpc>
                <a:spcPct val="125000"/>
              </a:lnSpc>
              <a:spcBef>
                <a:spcPts val="1345"/>
              </a:spcBef>
              <a:buSzPct val="105128"/>
              <a:buFont typeface="Lucida Sans Unicode"/>
              <a:buChar char="•"/>
              <a:tabLst>
                <a:tab pos="301625" algn="l"/>
              </a:tabLst>
            </a:pPr>
            <a:r>
              <a:rPr sz="1950" spc="295" dirty="0">
                <a:solidFill>
                  <a:srgbClr val="231F20"/>
                </a:solidFill>
                <a:latin typeface="Arial"/>
                <a:cs typeface="Arial"/>
              </a:rPr>
              <a:t>A </a:t>
            </a:r>
            <a:r>
              <a:rPr sz="1950" spc="135" dirty="0">
                <a:solidFill>
                  <a:srgbClr val="231F20"/>
                </a:solidFill>
                <a:latin typeface="Arial"/>
                <a:cs typeface="Arial"/>
              </a:rPr>
              <a:t>machine </a:t>
            </a:r>
            <a:r>
              <a:rPr sz="1950" spc="65" dirty="0">
                <a:solidFill>
                  <a:srgbClr val="231F20"/>
                </a:solidFill>
                <a:latin typeface="Arial"/>
                <a:cs typeface="Arial"/>
              </a:rPr>
              <a:t>dispenses </a:t>
            </a:r>
            <a:r>
              <a:rPr sz="1950" spc="150" dirty="0">
                <a:solidFill>
                  <a:srgbClr val="231F20"/>
                </a:solidFill>
                <a:latin typeface="Arial"/>
                <a:cs typeface="Arial"/>
              </a:rPr>
              <a:t>tickets </a:t>
            </a:r>
            <a:r>
              <a:rPr sz="1950" spc="145" dirty="0">
                <a:solidFill>
                  <a:srgbClr val="231F20"/>
                </a:solidFill>
                <a:latin typeface="Arial"/>
                <a:cs typeface="Arial"/>
              </a:rPr>
              <a:t>printed </a:t>
            </a:r>
            <a:r>
              <a:rPr sz="1950" spc="215" dirty="0">
                <a:solidFill>
                  <a:srgbClr val="231F20"/>
                </a:solidFill>
                <a:latin typeface="Arial"/>
                <a:cs typeface="Arial"/>
              </a:rPr>
              <a:t>with </a:t>
            </a:r>
            <a:r>
              <a:rPr sz="1950" spc="140" dirty="0">
                <a:solidFill>
                  <a:srgbClr val="231F20"/>
                </a:solidFill>
                <a:latin typeface="Arial"/>
                <a:cs typeface="Arial"/>
              </a:rPr>
              <a:t>numbers </a:t>
            </a:r>
            <a:r>
              <a:rPr sz="1950" spc="235" dirty="0">
                <a:solidFill>
                  <a:srgbClr val="231F20"/>
                </a:solidFill>
                <a:latin typeface="Arial"/>
                <a:cs typeface="Arial"/>
              </a:rPr>
              <a:t>that  </a:t>
            </a:r>
            <a:r>
              <a:rPr sz="1950" spc="80" dirty="0">
                <a:solidFill>
                  <a:srgbClr val="231F20"/>
                </a:solidFill>
                <a:latin typeface="Arial"/>
                <a:cs typeface="Arial"/>
              </a:rPr>
              <a:t>increase</a:t>
            </a:r>
            <a:r>
              <a:rPr sz="1950" spc="225" dirty="0">
                <a:solidFill>
                  <a:srgbClr val="231F20"/>
                </a:solidFill>
                <a:latin typeface="Arial"/>
                <a:cs typeface="Arial"/>
              </a:rPr>
              <a:t> </a:t>
            </a:r>
            <a:r>
              <a:rPr sz="1950" spc="160" dirty="0">
                <a:solidFill>
                  <a:srgbClr val="231F20"/>
                </a:solidFill>
                <a:latin typeface="Arial"/>
                <a:cs typeface="Arial"/>
              </a:rPr>
              <a:t>monotonically</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05" dirty="0">
                <a:solidFill>
                  <a:srgbClr val="231F20"/>
                </a:solidFill>
                <a:latin typeface="Arial"/>
                <a:cs typeface="Arial"/>
              </a:rPr>
              <a:t>People </a:t>
            </a:r>
            <a:r>
              <a:rPr sz="1950" spc="180" dirty="0">
                <a:solidFill>
                  <a:srgbClr val="231F20"/>
                </a:solidFill>
                <a:latin typeface="Arial"/>
                <a:cs typeface="Arial"/>
              </a:rPr>
              <a:t>who </a:t>
            </a:r>
            <a:r>
              <a:rPr sz="1950" spc="190" dirty="0">
                <a:solidFill>
                  <a:srgbClr val="231F20"/>
                </a:solidFill>
                <a:latin typeface="Arial"/>
                <a:cs typeface="Arial"/>
              </a:rPr>
              <a:t>want </a:t>
            </a:r>
            <a:r>
              <a:rPr sz="1950" spc="75" dirty="0">
                <a:solidFill>
                  <a:srgbClr val="231F20"/>
                </a:solidFill>
                <a:latin typeface="Arial"/>
                <a:cs typeface="Arial"/>
              </a:rPr>
              <a:t>service </a:t>
            </a:r>
            <a:r>
              <a:rPr sz="1950" spc="145" dirty="0">
                <a:solidFill>
                  <a:srgbClr val="231F20"/>
                </a:solidFill>
                <a:latin typeface="Arial"/>
                <a:cs typeface="Arial"/>
              </a:rPr>
              <a:t>take </a:t>
            </a:r>
            <a:r>
              <a:rPr sz="1950" spc="85" dirty="0">
                <a:solidFill>
                  <a:srgbClr val="231F20"/>
                </a:solidFill>
                <a:latin typeface="Arial"/>
                <a:cs typeface="Arial"/>
              </a:rPr>
              <a:t>a </a:t>
            </a:r>
            <a:r>
              <a:rPr sz="1950" spc="325" dirty="0">
                <a:solidFill>
                  <a:srgbClr val="231F20"/>
                </a:solidFill>
                <a:latin typeface="Arial"/>
                <a:cs typeface="Arial"/>
              </a:rPr>
              <a:t> </a:t>
            </a:r>
            <a:r>
              <a:rPr sz="1950" spc="180" dirty="0">
                <a:solidFill>
                  <a:srgbClr val="231F20"/>
                </a:solidFill>
                <a:latin typeface="Arial"/>
                <a:cs typeface="Arial"/>
              </a:rPr>
              <a:t>ticket</a:t>
            </a:r>
            <a:endParaRPr sz="1950">
              <a:latin typeface="Arial"/>
              <a:cs typeface="Arial"/>
            </a:endParaRPr>
          </a:p>
          <a:p>
            <a:pPr marL="300990" marR="521334" indent="-288290">
              <a:lnSpc>
                <a:spcPct val="125000"/>
              </a:lnSpc>
              <a:spcBef>
                <a:spcPts val="1340"/>
              </a:spcBef>
              <a:buSzPct val="105128"/>
              <a:buFont typeface="Lucida Sans Unicode"/>
              <a:buChar char="•"/>
              <a:tabLst>
                <a:tab pos="301625" algn="l"/>
              </a:tabLst>
            </a:pPr>
            <a:r>
              <a:rPr sz="1950" spc="250" dirty="0">
                <a:solidFill>
                  <a:srgbClr val="231F20"/>
                </a:solidFill>
                <a:latin typeface="Arial"/>
                <a:cs typeface="Arial"/>
              </a:rPr>
              <a:t>The </a:t>
            </a:r>
            <a:r>
              <a:rPr sz="1950" spc="95" dirty="0">
                <a:solidFill>
                  <a:srgbClr val="231F20"/>
                </a:solidFill>
                <a:latin typeface="Arial"/>
                <a:cs typeface="Arial"/>
              </a:rPr>
              <a:t>unserved </a:t>
            </a:r>
            <a:r>
              <a:rPr sz="1950" spc="114" dirty="0">
                <a:solidFill>
                  <a:srgbClr val="231F20"/>
                </a:solidFill>
                <a:latin typeface="Arial"/>
                <a:cs typeface="Arial"/>
              </a:rPr>
              <a:t>person </a:t>
            </a:r>
            <a:r>
              <a:rPr sz="1950" spc="215" dirty="0">
                <a:solidFill>
                  <a:srgbClr val="231F20"/>
                </a:solidFill>
                <a:latin typeface="Arial"/>
                <a:cs typeface="Arial"/>
              </a:rPr>
              <a:t>with </a:t>
            </a:r>
            <a:r>
              <a:rPr sz="1950" spc="175" dirty="0">
                <a:solidFill>
                  <a:srgbClr val="231F20"/>
                </a:solidFill>
                <a:latin typeface="Arial"/>
                <a:cs typeface="Arial"/>
              </a:rPr>
              <a:t>the </a:t>
            </a:r>
            <a:r>
              <a:rPr sz="1950" spc="114" dirty="0">
                <a:solidFill>
                  <a:srgbClr val="231F20"/>
                </a:solidFill>
                <a:latin typeface="Arial"/>
                <a:cs typeface="Arial"/>
              </a:rPr>
              <a:t>lowest </a:t>
            </a:r>
            <a:r>
              <a:rPr sz="1950" spc="145" dirty="0">
                <a:solidFill>
                  <a:srgbClr val="231F20"/>
                </a:solidFill>
                <a:latin typeface="Arial"/>
                <a:cs typeface="Arial"/>
              </a:rPr>
              <a:t>numbered </a:t>
            </a:r>
            <a:r>
              <a:rPr sz="1950" spc="180" dirty="0">
                <a:solidFill>
                  <a:srgbClr val="231F20"/>
                </a:solidFill>
                <a:latin typeface="Arial"/>
                <a:cs typeface="Arial"/>
              </a:rPr>
              <a:t>ticket </a:t>
            </a:r>
            <a:r>
              <a:rPr sz="1950" spc="40" dirty="0">
                <a:solidFill>
                  <a:srgbClr val="231F20"/>
                </a:solidFill>
                <a:latin typeface="Arial"/>
                <a:cs typeface="Arial"/>
              </a:rPr>
              <a:t>is  </a:t>
            </a:r>
            <a:r>
              <a:rPr sz="1950" spc="75" dirty="0">
                <a:solidFill>
                  <a:srgbClr val="231F20"/>
                </a:solidFill>
                <a:latin typeface="Arial"/>
                <a:cs typeface="Arial"/>
              </a:rPr>
              <a:t>served</a:t>
            </a:r>
            <a:r>
              <a:rPr sz="1950" spc="185" dirty="0">
                <a:solidFill>
                  <a:srgbClr val="231F20"/>
                </a:solidFill>
                <a:latin typeface="Arial"/>
                <a:cs typeface="Arial"/>
              </a:rPr>
              <a:t> </a:t>
            </a:r>
            <a:r>
              <a:rPr sz="1950" spc="160" dirty="0">
                <a:solidFill>
                  <a:srgbClr val="231F20"/>
                </a:solidFill>
                <a:latin typeface="Arial"/>
                <a:cs typeface="Arial"/>
              </a:rPr>
              <a:t>next</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 pos="1529080" algn="l"/>
              </a:tabLst>
            </a:pPr>
            <a:r>
              <a:rPr sz="1950" spc="105" dirty="0">
                <a:solidFill>
                  <a:srgbClr val="231F20"/>
                </a:solidFill>
                <a:latin typeface="Arial"/>
                <a:cs typeface="Arial"/>
              </a:rPr>
              <a:t>Safe:	</a:t>
            </a:r>
            <a:r>
              <a:rPr sz="1950" spc="215" dirty="0">
                <a:solidFill>
                  <a:srgbClr val="231F20"/>
                </a:solidFill>
                <a:latin typeface="Arial"/>
                <a:cs typeface="Arial"/>
              </a:rPr>
              <a:t>at </a:t>
            </a:r>
            <a:r>
              <a:rPr sz="1950" spc="195" dirty="0">
                <a:solidFill>
                  <a:srgbClr val="231F20"/>
                </a:solidFill>
                <a:latin typeface="Arial"/>
                <a:cs typeface="Arial"/>
              </a:rPr>
              <a:t>most </a:t>
            </a:r>
            <a:r>
              <a:rPr sz="1950" spc="105" dirty="0">
                <a:solidFill>
                  <a:srgbClr val="231F20"/>
                </a:solidFill>
                <a:latin typeface="Arial"/>
                <a:cs typeface="Arial"/>
              </a:rPr>
              <a:t>one </a:t>
            </a:r>
            <a:r>
              <a:rPr sz="1950" spc="114" dirty="0">
                <a:solidFill>
                  <a:srgbClr val="231F20"/>
                </a:solidFill>
                <a:latin typeface="Arial"/>
                <a:cs typeface="Arial"/>
              </a:rPr>
              <a:t>person </a:t>
            </a:r>
            <a:r>
              <a:rPr sz="1950" spc="40" dirty="0">
                <a:solidFill>
                  <a:srgbClr val="231F20"/>
                </a:solidFill>
                <a:latin typeface="Arial"/>
                <a:cs typeface="Arial"/>
              </a:rPr>
              <a:t>is </a:t>
            </a:r>
            <a:r>
              <a:rPr sz="1950" spc="140" dirty="0">
                <a:solidFill>
                  <a:srgbClr val="231F20"/>
                </a:solidFill>
                <a:latin typeface="Arial"/>
                <a:cs typeface="Arial"/>
              </a:rPr>
              <a:t> </a:t>
            </a:r>
            <a:r>
              <a:rPr sz="1950" spc="75" dirty="0">
                <a:solidFill>
                  <a:srgbClr val="231F20"/>
                </a:solidFill>
                <a:latin typeface="Arial"/>
                <a:cs typeface="Arial"/>
              </a:rPr>
              <a:t>served</a:t>
            </a:r>
            <a:endParaRPr sz="1950">
              <a:latin typeface="Arial"/>
              <a:cs typeface="Arial"/>
            </a:endParaRPr>
          </a:p>
          <a:p>
            <a:pPr marL="741680">
              <a:lnSpc>
                <a:spcPct val="100000"/>
              </a:lnSpc>
              <a:spcBef>
                <a:spcPts val="585"/>
              </a:spcBef>
            </a:pPr>
            <a:r>
              <a:rPr sz="1950" spc="140" dirty="0">
                <a:solidFill>
                  <a:srgbClr val="231F20"/>
                </a:solidFill>
                <a:latin typeface="Arial"/>
                <a:cs typeface="Arial"/>
              </a:rPr>
              <a:t>(i.e., </a:t>
            </a:r>
            <a:r>
              <a:rPr sz="1950" spc="40" dirty="0">
                <a:solidFill>
                  <a:srgbClr val="231F20"/>
                </a:solidFill>
                <a:latin typeface="Arial"/>
                <a:cs typeface="Arial"/>
              </a:rPr>
              <a:t>is </a:t>
            </a:r>
            <a:r>
              <a:rPr sz="1950" spc="130" dirty="0">
                <a:solidFill>
                  <a:srgbClr val="231F20"/>
                </a:solidFill>
                <a:latin typeface="Arial"/>
                <a:cs typeface="Arial"/>
              </a:rPr>
              <a:t>in </a:t>
            </a:r>
            <a:r>
              <a:rPr sz="1950" spc="175" dirty="0">
                <a:solidFill>
                  <a:srgbClr val="231F20"/>
                </a:solidFill>
                <a:latin typeface="Arial"/>
                <a:cs typeface="Arial"/>
              </a:rPr>
              <a:t>the </a:t>
            </a:r>
            <a:r>
              <a:rPr sz="1950" spc="195" dirty="0">
                <a:solidFill>
                  <a:srgbClr val="231F20"/>
                </a:solidFill>
                <a:latin typeface="Arial"/>
                <a:cs typeface="Arial"/>
              </a:rPr>
              <a:t>“</a:t>
            </a:r>
            <a:r>
              <a:rPr sz="1950" spc="195" dirty="0">
                <a:solidFill>
                  <a:srgbClr val="FF0000"/>
                </a:solidFill>
                <a:latin typeface="Arial"/>
                <a:cs typeface="Arial"/>
              </a:rPr>
              <a:t>critical section</a:t>
            </a:r>
            <a:r>
              <a:rPr sz="1950" spc="195" dirty="0">
                <a:solidFill>
                  <a:srgbClr val="231F20"/>
                </a:solidFill>
                <a:latin typeface="Arial"/>
                <a:cs typeface="Arial"/>
              </a:rPr>
              <a:t>”) </a:t>
            </a:r>
            <a:r>
              <a:rPr sz="1950" spc="215" dirty="0">
                <a:solidFill>
                  <a:srgbClr val="231F20"/>
                </a:solidFill>
                <a:latin typeface="Arial"/>
                <a:cs typeface="Arial"/>
              </a:rPr>
              <a:t>at </a:t>
            </a:r>
            <a:r>
              <a:rPr sz="1950" spc="85" dirty="0">
                <a:solidFill>
                  <a:srgbClr val="231F20"/>
                </a:solidFill>
                <a:latin typeface="Arial"/>
                <a:cs typeface="Arial"/>
              </a:rPr>
              <a:t>a </a:t>
            </a:r>
            <a:r>
              <a:rPr sz="1950" spc="570" dirty="0">
                <a:solidFill>
                  <a:srgbClr val="231F20"/>
                </a:solidFill>
                <a:latin typeface="Arial"/>
                <a:cs typeface="Arial"/>
              </a:rPr>
              <a:t> </a:t>
            </a:r>
            <a:r>
              <a:rPr sz="1950" spc="195" dirty="0">
                <a:solidFill>
                  <a:srgbClr val="231F20"/>
                </a:solidFill>
                <a:latin typeface="Arial"/>
                <a:cs typeface="Arial"/>
              </a:rPr>
              <a:t>time</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 pos="1497965" algn="l"/>
              </a:tabLst>
            </a:pPr>
            <a:r>
              <a:rPr sz="1950" spc="140" dirty="0">
                <a:solidFill>
                  <a:srgbClr val="231F20"/>
                </a:solidFill>
                <a:latin typeface="Arial"/>
                <a:cs typeface="Arial"/>
              </a:rPr>
              <a:t>Live:	</a:t>
            </a:r>
            <a:r>
              <a:rPr sz="1950" spc="90" dirty="0">
                <a:solidFill>
                  <a:srgbClr val="231F20"/>
                </a:solidFill>
                <a:latin typeface="Arial"/>
                <a:cs typeface="Arial"/>
              </a:rPr>
              <a:t>each </a:t>
            </a:r>
            <a:r>
              <a:rPr sz="1950" spc="114" dirty="0">
                <a:solidFill>
                  <a:srgbClr val="231F20"/>
                </a:solidFill>
                <a:latin typeface="Arial"/>
                <a:cs typeface="Arial"/>
              </a:rPr>
              <a:t>person </a:t>
            </a:r>
            <a:r>
              <a:rPr sz="1950" spc="40" dirty="0">
                <a:solidFill>
                  <a:srgbClr val="231F20"/>
                </a:solidFill>
                <a:latin typeface="Arial"/>
                <a:cs typeface="Arial"/>
              </a:rPr>
              <a:t>is </a:t>
            </a:r>
            <a:r>
              <a:rPr sz="1950" spc="125" dirty="0">
                <a:solidFill>
                  <a:srgbClr val="231F20"/>
                </a:solidFill>
                <a:latin typeface="Arial"/>
                <a:cs typeface="Arial"/>
              </a:rPr>
              <a:t>eventually </a:t>
            </a:r>
            <a:r>
              <a:rPr sz="1950" spc="145" dirty="0">
                <a:solidFill>
                  <a:srgbClr val="231F20"/>
                </a:solidFill>
                <a:latin typeface="Arial"/>
                <a:cs typeface="Arial"/>
              </a:rPr>
              <a:t> </a:t>
            </a:r>
            <a:r>
              <a:rPr sz="1950" spc="75" dirty="0">
                <a:solidFill>
                  <a:srgbClr val="231F20"/>
                </a:solidFill>
                <a:latin typeface="Arial"/>
                <a:cs typeface="Arial"/>
              </a:rPr>
              <a:t>served</a:t>
            </a:r>
            <a:endParaRPr sz="1950">
              <a:latin typeface="Arial"/>
              <a:cs typeface="Arial"/>
            </a:endParaRPr>
          </a:p>
          <a:p>
            <a:pPr lvl="1">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90" dirty="0">
                <a:solidFill>
                  <a:srgbClr val="231F20"/>
                </a:solidFill>
                <a:latin typeface="Arial"/>
                <a:cs typeface="Arial"/>
              </a:rPr>
              <a:t>Preserve </a:t>
            </a:r>
            <a:r>
              <a:rPr sz="1950" spc="175" dirty="0">
                <a:solidFill>
                  <a:srgbClr val="231F20"/>
                </a:solidFill>
                <a:latin typeface="Arial"/>
                <a:cs typeface="Arial"/>
              </a:rPr>
              <a:t>the </a:t>
            </a:r>
            <a:r>
              <a:rPr sz="1950" spc="90" dirty="0">
                <a:solidFill>
                  <a:srgbClr val="231F20"/>
                </a:solidFill>
                <a:latin typeface="Arial"/>
                <a:cs typeface="Arial"/>
              </a:rPr>
              <a:t>idea </a:t>
            </a:r>
            <a:r>
              <a:rPr sz="1950" spc="215" dirty="0">
                <a:solidFill>
                  <a:srgbClr val="231F20"/>
                </a:solidFill>
                <a:latin typeface="Arial"/>
                <a:cs typeface="Arial"/>
              </a:rPr>
              <a:t>without </a:t>
            </a:r>
            <a:r>
              <a:rPr sz="1950" spc="125" dirty="0">
                <a:solidFill>
                  <a:srgbClr val="231F20"/>
                </a:solidFill>
                <a:latin typeface="Arial"/>
                <a:cs typeface="Arial"/>
              </a:rPr>
              <a:t>centralized </a:t>
            </a:r>
            <a:r>
              <a:rPr sz="1950" spc="180" dirty="0">
                <a:solidFill>
                  <a:srgbClr val="231F20"/>
                </a:solidFill>
                <a:latin typeface="Arial"/>
                <a:cs typeface="Arial"/>
              </a:rPr>
              <a:t>ticket </a:t>
            </a:r>
            <a:r>
              <a:rPr sz="1950" spc="280" dirty="0">
                <a:solidFill>
                  <a:srgbClr val="231F20"/>
                </a:solidFill>
                <a:latin typeface="Arial"/>
                <a:cs typeface="Arial"/>
              </a:rPr>
              <a:t> </a:t>
            </a:r>
            <a:r>
              <a:rPr sz="1950" spc="85" dirty="0">
                <a:solidFill>
                  <a:srgbClr val="231F20"/>
                </a:solidFill>
                <a:latin typeface="Arial"/>
                <a:cs typeface="Arial"/>
              </a:rPr>
              <a:t>dispenser</a:t>
            </a:r>
            <a:endParaRPr sz="1950">
              <a:latin typeface="Arial"/>
              <a:cs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18180" y="767902"/>
            <a:ext cx="4224020" cy="314960"/>
          </a:xfrm>
          <a:prstGeom prst="rect">
            <a:avLst/>
          </a:prstGeom>
        </p:spPr>
        <p:txBody>
          <a:bodyPr vert="horz" wrap="square" lIns="0" tIns="0" rIns="0" bIns="0" rtlCol="0">
            <a:spAutoFit/>
          </a:bodyPr>
          <a:lstStyle/>
          <a:p>
            <a:pPr marL="12700">
              <a:lnSpc>
                <a:spcPct val="100000"/>
              </a:lnSpc>
            </a:pPr>
            <a:r>
              <a:rPr sz="1950" spc="250" dirty="0">
                <a:solidFill>
                  <a:srgbClr val="231F20"/>
                </a:solidFill>
                <a:latin typeface="Arial"/>
                <a:cs typeface="Arial"/>
              </a:rPr>
              <a:t>Informal </a:t>
            </a:r>
            <a:r>
              <a:rPr sz="1950" spc="300" dirty="0">
                <a:solidFill>
                  <a:srgbClr val="231F20"/>
                </a:solidFill>
                <a:latin typeface="Arial"/>
                <a:cs typeface="Arial"/>
              </a:rPr>
              <a:t>Protocol</a:t>
            </a:r>
            <a:r>
              <a:rPr sz="1950" spc="415" dirty="0">
                <a:solidFill>
                  <a:srgbClr val="231F20"/>
                </a:solidFill>
                <a:latin typeface="Arial"/>
                <a:cs typeface="Arial"/>
              </a:rPr>
              <a:t> </a:t>
            </a:r>
            <a:r>
              <a:rPr sz="1950" spc="254" dirty="0">
                <a:solidFill>
                  <a:srgbClr val="231F20"/>
                </a:solidFill>
                <a:latin typeface="Arial"/>
                <a:cs typeface="Arial"/>
              </a:rPr>
              <a:t>Description</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375965" rIns="0" bIns="0" rtlCol="0">
            <a:spAutoFit/>
          </a:bodyPr>
          <a:lstStyle/>
          <a:p>
            <a:pPr marL="300990" indent="-288290">
              <a:lnSpc>
                <a:spcPct val="100000"/>
              </a:lnSpc>
              <a:buSzPct val="105128"/>
              <a:buFont typeface="Lucida Sans Unicode"/>
              <a:buChar char="•"/>
              <a:tabLst>
                <a:tab pos="301625" algn="l"/>
              </a:tabLst>
            </a:pPr>
            <a:r>
              <a:rPr sz="1950" spc="160" dirty="0">
                <a:solidFill>
                  <a:srgbClr val="231F20"/>
                </a:solidFill>
                <a:latin typeface="Arial"/>
                <a:cs typeface="Arial"/>
              </a:rPr>
              <a:t>Works </a:t>
            </a:r>
            <a:r>
              <a:rPr sz="1950" spc="155" dirty="0">
                <a:solidFill>
                  <a:srgbClr val="231F20"/>
                </a:solidFill>
                <a:latin typeface="Arial"/>
                <a:cs typeface="Arial"/>
              </a:rPr>
              <a:t>for </a:t>
            </a:r>
            <a:r>
              <a:rPr i="1" spc="-30" dirty="0">
                <a:solidFill>
                  <a:srgbClr val="231F20"/>
                </a:solidFill>
                <a:latin typeface="Meiryo"/>
                <a:cs typeface="Meiryo"/>
              </a:rPr>
              <a:t>n </a:t>
            </a:r>
            <a:r>
              <a:rPr spc="-25" dirty="0">
                <a:solidFill>
                  <a:srgbClr val="231F20"/>
                </a:solidFill>
                <a:latin typeface="Lucida Sans Unicode"/>
                <a:cs typeface="Lucida Sans Unicode"/>
              </a:rPr>
              <a:t>≥ </a:t>
            </a:r>
            <a:r>
              <a:rPr spc="-90" dirty="0">
                <a:solidFill>
                  <a:srgbClr val="231F20"/>
                </a:solidFill>
                <a:latin typeface="Tahoma"/>
                <a:cs typeface="Tahoma"/>
              </a:rPr>
              <a:t>1</a:t>
            </a:r>
            <a:r>
              <a:rPr spc="225" dirty="0">
                <a:solidFill>
                  <a:srgbClr val="231F20"/>
                </a:solidFill>
                <a:latin typeface="Tahoma"/>
                <a:cs typeface="Tahoma"/>
              </a:rPr>
              <a:t> </a:t>
            </a:r>
            <a:r>
              <a:rPr sz="1950" spc="60" dirty="0">
                <a:solidFill>
                  <a:srgbClr val="231F20"/>
                </a:solidFill>
                <a:latin typeface="Arial"/>
                <a:cs typeface="Arial"/>
              </a:rPr>
              <a:t>processes</a:t>
            </a:r>
            <a:endParaRPr sz="1950">
              <a:latin typeface="Arial"/>
              <a:cs typeface="Arial"/>
            </a:endParaRPr>
          </a:p>
        </p:txBody>
      </p:sp>
      <p:sp>
        <p:nvSpPr>
          <p:cNvPr id="4" name="object 4"/>
          <p:cNvSpPr txBox="1"/>
          <p:nvPr/>
        </p:nvSpPr>
        <p:spPr>
          <a:xfrm>
            <a:off x="896444" y="1852269"/>
            <a:ext cx="8260080" cy="4140200"/>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50" dirty="0">
                <a:solidFill>
                  <a:srgbClr val="231F20"/>
                </a:solidFill>
                <a:latin typeface="Arial"/>
                <a:cs typeface="Arial"/>
              </a:rPr>
              <a:t>Each </a:t>
            </a:r>
            <a:r>
              <a:rPr sz="1950" spc="80" dirty="0">
                <a:solidFill>
                  <a:srgbClr val="231F20"/>
                </a:solidFill>
                <a:latin typeface="Arial"/>
                <a:cs typeface="Arial"/>
              </a:rPr>
              <a:t>process </a:t>
            </a:r>
            <a:r>
              <a:rPr sz="1950" spc="70" dirty="0">
                <a:solidFill>
                  <a:srgbClr val="231F20"/>
                </a:solidFill>
                <a:latin typeface="Arial"/>
                <a:cs typeface="Arial"/>
              </a:rPr>
              <a:t>has </a:t>
            </a:r>
            <a:r>
              <a:rPr sz="1950" spc="85" dirty="0">
                <a:solidFill>
                  <a:srgbClr val="231F20"/>
                </a:solidFill>
                <a:latin typeface="Arial"/>
                <a:cs typeface="Arial"/>
              </a:rPr>
              <a:t>a </a:t>
            </a:r>
            <a:r>
              <a:rPr sz="1950" spc="180" dirty="0">
                <a:solidFill>
                  <a:srgbClr val="231F20"/>
                </a:solidFill>
                <a:latin typeface="Arial"/>
                <a:cs typeface="Arial"/>
              </a:rPr>
              <a:t>ticket </a:t>
            </a:r>
            <a:r>
              <a:rPr sz="1950" spc="120" dirty="0">
                <a:solidFill>
                  <a:srgbClr val="231F20"/>
                </a:solidFill>
                <a:latin typeface="Arial"/>
                <a:cs typeface="Arial"/>
              </a:rPr>
              <a:t>register, </a:t>
            </a:r>
            <a:r>
              <a:rPr sz="1950" spc="140" dirty="0">
                <a:solidFill>
                  <a:srgbClr val="231F20"/>
                </a:solidFill>
                <a:latin typeface="Arial"/>
                <a:cs typeface="Arial"/>
              </a:rPr>
              <a:t>initially </a:t>
            </a:r>
            <a:r>
              <a:rPr sz="1950" spc="590" dirty="0">
                <a:solidFill>
                  <a:srgbClr val="231F20"/>
                </a:solidFill>
                <a:latin typeface="Arial"/>
                <a:cs typeface="Arial"/>
              </a:rPr>
              <a:t> </a:t>
            </a:r>
            <a:r>
              <a:rPr sz="1950" spc="105" dirty="0">
                <a:solidFill>
                  <a:srgbClr val="231F20"/>
                </a:solidFill>
                <a:latin typeface="Arial"/>
                <a:cs typeface="Arial"/>
              </a:rPr>
              <a:t>zero</a:t>
            </a:r>
            <a:endParaRPr sz="1950">
              <a:latin typeface="Arial"/>
              <a:cs typeface="Arial"/>
            </a:endParaRPr>
          </a:p>
          <a:p>
            <a:pPr marL="300990" marR="160020" indent="-288290">
              <a:lnSpc>
                <a:spcPct val="125000"/>
              </a:lnSpc>
              <a:spcBef>
                <a:spcPts val="1340"/>
              </a:spcBef>
              <a:buSzPct val="105128"/>
              <a:buFont typeface="Lucida Sans Unicode"/>
              <a:buChar char="•"/>
              <a:tabLst>
                <a:tab pos="301625" algn="l"/>
              </a:tabLst>
            </a:pPr>
            <a:r>
              <a:rPr sz="1950" spc="190" dirty="0">
                <a:solidFill>
                  <a:srgbClr val="231F20"/>
                </a:solidFill>
                <a:latin typeface="Arial"/>
                <a:cs typeface="Arial"/>
              </a:rPr>
              <a:t>When </a:t>
            </a:r>
            <a:r>
              <a:rPr sz="1950" spc="229" dirty="0">
                <a:solidFill>
                  <a:srgbClr val="231F20"/>
                </a:solidFill>
                <a:latin typeface="Arial"/>
                <a:cs typeface="Arial"/>
              </a:rPr>
              <a:t>it </a:t>
            </a:r>
            <a:r>
              <a:rPr sz="1950" spc="145" dirty="0">
                <a:solidFill>
                  <a:srgbClr val="231F20"/>
                </a:solidFill>
                <a:latin typeface="Arial"/>
                <a:cs typeface="Arial"/>
              </a:rPr>
              <a:t>wants </a:t>
            </a:r>
            <a:r>
              <a:rPr sz="1950" spc="250" dirty="0">
                <a:solidFill>
                  <a:srgbClr val="231F20"/>
                </a:solidFill>
                <a:latin typeface="Arial"/>
                <a:cs typeface="Arial"/>
              </a:rPr>
              <a:t>to </a:t>
            </a:r>
            <a:r>
              <a:rPr sz="1950" spc="140" dirty="0">
                <a:solidFill>
                  <a:srgbClr val="231F20"/>
                </a:solidFill>
                <a:latin typeface="Arial"/>
                <a:cs typeface="Arial"/>
              </a:rPr>
              <a:t>enter </a:t>
            </a:r>
            <a:r>
              <a:rPr sz="1950" spc="145" dirty="0">
                <a:solidFill>
                  <a:srgbClr val="231F20"/>
                </a:solidFill>
                <a:latin typeface="Arial"/>
                <a:cs typeface="Arial"/>
              </a:rPr>
              <a:t>its </a:t>
            </a:r>
            <a:r>
              <a:rPr sz="1950" spc="150" dirty="0">
                <a:solidFill>
                  <a:srgbClr val="231F20"/>
                </a:solidFill>
                <a:latin typeface="Arial"/>
                <a:cs typeface="Arial"/>
              </a:rPr>
              <a:t>critical </a:t>
            </a:r>
            <a:r>
              <a:rPr sz="1950" spc="125" dirty="0">
                <a:solidFill>
                  <a:srgbClr val="231F20"/>
                </a:solidFill>
                <a:latin typeface="Arial"/>
                <a:cs typeface="Arial"/>
              </a:rPr>
              <a:t>section, </a:t>
            </a:r>
            <a:r>
              <a:rPr sz="1950" spc="85" dirty="0">
                <a:solidFill>
                  <a:srgbClr val="231F20"/>
                </a:solidFill>
                <a:latin typeface="Arial"/>
                <a:cs typeface="Arial"/>
              </a:rPr>
              <a:t>a </a:t>
            </a:r>
            <a:r>
              <a:rPr sz="1950" spc="80" dirty="0">
                <a:solidFill>
                  <a:srgbClr val="231F20"/>
                </a:solidFill>
                <a:latin typeface="Arial"/>
                <a:cs typeface="Arial"/>
              </a:rPr>
              <a:t>process </a:t>
            </a:r>
            <a:r>
              <a:rPr sz="1950" spc="75" dirty="0">
                <a:solidFill>
                  <a:srgbClr val="231F20"/>
                </a:solidFill>
                <a:latin typeface="Arial"/>
                <a:cs typeface="Arial"/>
              </a:rPr>
              <a:t>sets </a:t>
            </a:r>
            <a:r>
              <a:rPr sz="1950" spc="145" dirty="0">
                <a:solidFill>
                  <a:srgbClr val="231F20"/>
                </a:solidFill>
                <a:latin typeface="Arial"/>
                <a:cs typeface="Arial"/>
              </a:rPr>
              <a:t>its  </a:t>
            </a:r>
            <a:r>
              <a:rPr sz="1950" spc="180" dirty="0">
                <a:solidFill>
                  <a:srgbClr val="231F20"/>
                </a:solidFill>
                <a:latin typeface="Arial"/>
                <a:cs typeface="Arial"/>
              </a:rPr>
              <a:t>ticket </a:t>
            </a:r>
            <a:r>
              <a:rPr sz="1950" spc="135" dirty="0">
                <a:solidFill>
                  <a:srgbClr val="231F20"/>
                </a:solidFill>
                <a:latin typeface="Arial"/>
                <a:cs typeface="Arial"/>
              </a:rPr>
              <a:t>greater </a:t>
            </a:r>
            <a:r>
              <a:rPr sz="1950" spc="185" dirty="0">
                <a:solidFill>
                  <a:srgbClr val="231F20"/>
                </a:solidFill>
                <a:latin typeface="Arial"/>
                <a:cs typeface="Arial"/>
              </a:rPr>
              <a:t>than </a:t>
            </a:r>
            <a:r>
              <a:rPr sz="1950" spc="235" dirty="0">
                <a:solidFill>
                  <a:srgbClr val="231F20"/>
                </a:solidFill>
                <a:latin typeface="Arial"/>
                <a:cs typeface="Arial"/>
              </a:rPr>
              <a:t>that </a:t>
            </a:r>
            <a:r>
              <a:rPr sz="1950" spc="185" dirty="0">
                <a:solidFill>
                  <a:srgbClr val="231F20"/>
                </a:solidFill>
                <a:latin typeface="Arial"/>
                <a:cs typeface="Arial"/>
              </a:rPr>
              <a:t>of </a:t>
            </a:r>
            <a:r>
              <a:rPr sz="1950" spc="120" dirty="0">
                <a:solidFill>
                  <a:srgbClr val="231F20"/>
                </a:solidFill>
                <a:latin typeface="Arial"/>
                <a:cs typeface="Arial"/>
              </a:rPr>
              <a:t>any </a:t>
            </a:r>
            <a:r>
              <a:rPr sz="1950" spc="170" dirty="0">
                <a:solidFill>
                  <a:srgbClr val="231F20"/>
                </a:solidFill>
                <a:latin typeface="Arial"/>
                <a:cs typeface="Arial"/>
              </a:rPr>
              <a:t>other </a:t>
            </a:r>
            <a:r>
              <a:rPr sz="1950" spc="180" dirty="0">
                <a:solidFill>
                  <a:srgbClr val="231F20"/>
                </a:solidFill>
                <a:latin typeface="Arial"/>
                <a:cs typeface="Arial"/>
              </a:rPr>
              <a:t> </a:t>
            </a:r>
            <a:r>
              <a:rPr sz="1950" spc="80" dirty="0">
                <a:solidFill>
                  <a:srgbClr val="231F20"/>
                </a:solidFill>
                <a:latin typeface="Arial"/>
                <a:cs typeface="Arial"/>
              </a:rPr>
              <a:t>process</a:t>
            </a:r>
            <a:endParaRPr sz="1950">
              <a:latin typeface="Arial"/>
              <a:cs typeface="Arial"/>
            </a:endParaRPr>
          </a:p>
          <a:p>
            <a:pPr marL="300990" marR="8255" indent="-288290">
              <a:lnSpc>
                <a:spcPct val="125000"/>
              </a:lnSpc>
              <a:spcBef>
                <a:spcPts val="1340"/>
              </a:spcBef>
              <a:buSzPct val="105128"/>
              <a:buFont typeface="Lucida Sans Unicode"/>
              <a:buChar char="•"/>
              <a:tabLst>
                <a:tab pos="301625" algn="l"/>
              </a:tabLst>
            </a:pPr>
            <a:r>
              <a:rPr sz="1950" spc="225" dirty="0">
                <a:solidFill>
                  <a:srgbClr val="231F20"/>
                </a:solidFill>
                <a:latin typeface="Arial"/>
                <a:cs typeface="Arial"/>
              </a:rPr>
              <a:t>Then </a:t>
            </a:r>
            <a:r>
              <a:rPr sz="1950" spc="229" dirty="0">
                <a:solidFill>
                  <a:srgbClr val="231F20"/>
                </a:solidFill>
                <a:latin typeface="Arial"/>
                <a:cs typeface="Arial"/>
              </a:rPr>
              <a:t>it </a:t>
            </a:r>
            <a:r>
              <a:rPr sz="1950" spc="140" dirty="0">
                <a:solidFill>
                  <a:srgbClr val="231F20"/>
                </a:solidFill>
                <a:latin typeface="Arial"/>
                <a:cs typeface="Arial"/>
              </a:rPr>
              <a:t>waits </a:t>
            </a:r>
            <a:r>
              <a:rPr sz="1950" spc="175" dirty="0">
                <a:solidFill>
                  <a:srgbClr val="231F20"/>
                </a:solidFill>
                <a:latin typeface="Arial"/>
                <a:cs typeface="Arial"/>
              </a:rPr>
              <a:t>until </a:t>
            </a:r>
            <a:r>
              <a:rPr sz="1950" spc="145" dirty="0">
                <a:solidFill>
                  <a:srgbClr val="231F20"/>
                </a:solidFill>
                <a:latin typeface="Arial"/>
                <a:cs typeface="Arial"/>
              </a:rPr>
              <a:t>its </a:t>
            </a:r>
            <a:r>
              <a:rPr sz="1950" spc="180" dirty="0">
                <a:solidFill>
                  <a:srgbClr val="231F20"/>
                </a:solidFill>
                <a:latin typeface="Arial"/>
                <a:cs typeface="Arial"/>
              </a:rPr>
              <a:t>ticket </a:t>
            </a:r>
            <a:r>
              <a:rPr sz="1950" spc="40" dirty="0">
                <a:solidFill>
                  <a:srgbClr val="231F20"/>
                </a:solidFill>
                <a:latin typeface="Arial"/>
                <a:cs typeface="Arial"/>
              </a:rPr>
              <a:t>is </a:t>
            </a:r>
            <a:r>
              <a:rPr sz="1950" spc="110" dirty="0">
                <a:solidFill>
                  <a:srgbClr val="231F20"/>
                </a:solidFill>
                <a:latin typeface="Arial"/>
                <a:cs typeface="Arial"/>
              </a:rPr>
              <a:t>smaller </a:t>
            </a:r>
            <a:r>
              <a:rPr sz="1950" spc="185" dirty="0">
                <a:solidFill>
                  <a:srgbClr val="231F20"/>
                </a:solidFill>
                <a:latin typeface="Arial"/>
                <a:cs typeface="Arial"/>
              </a:rPr>
              <a:t>than </a:t>
            </a:r>
            <a:r>
              <a:rPr sz="1950" spc="235" dirty="0">
                <a:solidFill>
                  <a:srgbClr val="231F20"/>
                </a:solidFill>
                <a:latin typeface="Arial"/>
                <a:cs typeface="Arial"/>
              </a:rPr>
              <a:t>that </a:t>
            </a:r>
            <a:r>
              <a:rPr sz="1950" spc="185" dirty="0">
                <a:solidFill>
                  <a:srgbClr val="231F20"/>
                </a:solidFill>
                <a:latin typeface="Arial"/>
                <a:cs typeface="Arial"/>
              </a:rPr>
              <a:t>of </a:t>
            </a:r>
            <a:r>
              <a:rPr sz="1950" spc="120" dirty="0">
                <a:solidFill>
                  <a:srgbClr val="231F20"/>
                </a:solidFill>
                <a:latin typeface="Arial"/>
                <a:cs typeface="Arial"/>
              </a:rPr>
              <a:t>any </a:t>
            </a:r>
            <a:r>
              <a:rPr sz="1950" spc="170" dirty="0">
                <a:solidFill>
                  <a:srgbClr val="231F20"/>
                </a:solidFill>
                <a:latin typeface="Arial"/>
                <a:cs typeface="Arial"/>
              </a:rPr>
              <a:t>other  </a:t>
            </a:r>
            <a:r>
              <a:rPr sz="1950" spc="80" dirty="0">
                <a:solidFill>
                  <a:srgbClr val="231F20"/>
                </a:solidFill>
                <a:latin typeface="Arial"/>
                <a:cs typeface="Arial"/>
              </a:rPr>
              <a:t>process </a:t>
            </a:r>
            <a:r>
              <a:rPr sz="1950" spc="215" dirty="0">
                <a:solidFill>
                  <a:srgbClr val="231F20"/>
                </a:solidFill>
                <a:latin typeface="Arial"/>
                <a:cs typeface="Arial"/>
              </a:rPr>
              <a:t>with </a:t>
            </a:r>
            <a:r>
              <a:rPr sz="1950" spc="85" dirty="0">
                <a:solidFill>
                  <a:srgbClr val="231F20"/>
                </a:solidFill>
                <a:latin typeface="Arial"/>
                <a:cs typeface="Arial"/>
              </a:rPr>
              <a:t>a </a:t>
            </a:r>
            <a:r>
              <a:rPr sz="1950" spc="125" dirty="0">
                <a:solidFill>
                  <a:srgbClr val="231F20"/>
                </a:solidFill>
                <a:latin typeface="Arial"/>
                <a:cs typeface="Arial"/>
              </a:rPr>
              <a:t>nonzero</a:t>
            </a:r>
            <a:r>
              <a:rPr sz="1950" spc="675" dirty="0">
                <a:solidFill>
                  <a:srgbClr val="231F20"/>
                </a:solidFill>
                <a:latin typeface="Arial"/>
                <a:cs typeface="Arial"/>
              </a:rPr>
              <a:t> </a:t>
            </a:r>
            <a:r>
              <a:rPr sz="1950" spc="180" dirty="0">
                <a:solidFill>
                  <a:srgbClr val="231F20"/>
                </a:solidFill>
                <a:latin typeface="Arial"/>
                <a:cs typeface="Arial"/>
              </a:rPr>
              <a:t>ticket</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90" dirty="0">
                <a:solidFill>
                  <a:srgbClr val="231F20"/>
                </a:solidFill>
                <a:latin typeface="Arial"/>
                <a:cs typeface="Arial"/>
              </a:rPr>
              <a:t>At </a:t>
            </a:r>
            <a:r>
              <a:rPr sz="1950" spc="155" dirty="0">
                <a:solidFill>
                  <a:srgbClr val="231F20"/>
                </a:solidFill>
                <a:latin typeface="Arial"/>
                <a:cs typeface="Arial"/>
              </a:rPr>
              <a:t>which </a:t>
            </a:r>
            <a:r>
              <a:rPr sz="1950" spc="195" dirty="0">
                <a:solidFill>
                  <a:srgbClr val="231F20"/>
                </a:solidFill>
                <a:latin typeface="Arial"/>
                <a:cs typeface="Arial"/>
              </a:rPr>
              <a:t>point </a:t>
            </a:r>
            <a:r>
              <a:rPr sz="1950" spc="229" dirty="0">
                <a:solidFill>
                  <a:srgbClr val="231F20"/>
                </a:solidFill>
                <a:latin typeface="Arial"/>
                <a:cs typeface="Arial"/>
              </a:rPr>
              <a:t>it </a:t>
            </a:r>
            <a:r>
              <a:rPr sz="1950" spc="110" dirty="0">
                <a:solidFill>
                  <a:srgbClr val="231F20"/>
                </a:solidFill>
                <a:latin typeface="Arial"/>
                <a:cs typeface="Arial"/>
              </a:rPr>
              <a:t>enters </a:t>
            </a:r>
            <a:r>
              <a:rPr sz="1950" spc="145" dirty="0">
                <a:solidFill>
                  <a:srgbClr val="231F20"/>
                </a:solidFill>
                <a:latin typeface="Arial"/>
                <a:cs typeface="Arial"/>
              </a:rPr>
              <a:t>its </a:t>
            </a:r>
            <a:r>
              <a:rPr sz="1950" spc="150" dirty="0">
                <a:solidFill>
                  <a:srgbClr val="231F20"/>
                </a:solidFill>
                <a:latin typeface="Arial"/>
                <a:cs typeface="Arial"/>
              </a:rPr>
              <a:t>critical</a:t>
            </a:r>
            <a:r>
              <a:rPr sz="1950" spc="835" dirty="0">
                <a:solidFill>
                  <a:srgbClr val="231F20"/>
                </a:solidFill>
                <a:latin typeface="Arial"/>
                <a:cs typeface="Arial"/>
              </a:rPr>
              <a:t> </a:t>
            </a:r>
            <a:r>
              <a:rPr sz="1950" spc="125" dirty="0">
                <a:solidFill>
                  <a:srgbClr val="231F20"/>
                </a:solidFill>
                <a:latin typeface="Arial"/>
                <a:cs typeface="Arial"/>
              </a:rPr>
              <a:t>section</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85" dirty="0">
                <a:solidFill>
                  <a:srgbClr val="231F20"/>
                </a:solidFill>
                <a:latin typeface="Arial"/>
                <a:cs typeface="Arial"/>
              </a:rPr>
              <a:t>Resets </a:t>
            </a:r>
            <a:r>
              <a:rPr sz="1950" spc="145" dirty="0">
                <a:solidFill>
                  <a:srgbClr val="231F20"/>
                </a:solidFill>
                <a:latin typeface="Arial"/>
                <a:cs typeface="Arial"/>
              </a:rPr>
              <a:t>its </a:t>
            </a:r>
            <a:r>
              <a:rPr sz="1950" spc="180" dirty="0">
                <a:solidFill>
                  <a:srgbClr val="231F20"/>
                </a:solidFill>
                <a:latin typeface="Arial"/>
                <a:cs typeface="Arial"/>
              </a:rPr>
              <a:t>ticket </a:t>
            </a:r>
            <a:r>
              <a:rPr sz="1950" spc="250" dirty="0">
                <a:solidFill>
                  <a:srgbClr val="231F20"/>
                </a:solidFill>
                <a:latin typeface="Arial"/>
                <a:cs typeface="Arial"/>
              </a:rPr>
              <a:t>to </a:t>
            </a:r>
            <a:r>
              <a:rPr sz="1950" spc="105" dirty="0">
                <a:solidFill>
                  <a:srgbClr val="231F20"/>
                </a:solidFill>
                <a:latin typeface="Arial"/>
                <a:cs typeface="Arial"/>
              </a:rPr>
              <a:t>zero </a:t>
            </a:r>
            <a:r>
              <a:rPr sz="1950" spc="140" dirty="0">
                <a:solidFill>
                  <a:srgbClr val="231F20"/>
                </a:solidFill>
                <a:latin typeface="Arial"/>
                <a:cs typeface="Arial"/>
              </a:rPr>
              <a:t>when </a:t>
            </a:r>
            <a:r>
              <a:rPr sz="1950" spc="229" dirty="0">
                <a:solidFill>
                  <a:srgbClr val="231F20"/>
                </a:solidFill>
                <a:latin typeface="Arial"/>
                <a:cs typeface="Arial"/>
              </a:rPr>
              <a:t>it </a:t>
            </a:r>
            <a:r>
              <a:rPr sz="1950" spc="114" dirty="0">
                <a:solidFill>
                  <a:srgbClr val="231F20"/>
                </a:solidFill>
                <a:latin typeface="Arial"/>
                <a:cs typeface="Arial"/>
              </a:rPr>
              <a:t>exits </a:t>
            </a:r>
            <a:r>
              <a:rPr sz="1950" spc="145" dirty="0">
                <a:solidFill>
                  <a:srgbClr val="231F20"/>
                </a:solidFill>
                <a:latin typeface="Arial"/>
                <a:cs typeface="Arial"/>
              </a:rPr>
              <a:t>its </a:t>
            </a:r>
            <a:r>
              <a:rPr sz="1950" spc="150" dirty="0">
                <a:solidFill>
                  <a:srgbClr val="231F20"/>
                </a:solidFill>
                <a:latin typeface="Arial"/>
                <a:cs typeface="Arial"/>
              </a:rPr>
              <a:t>critical </a:t>
            </a:r>
            <a:r>
              <a:rPr sz="1950" spc="715" dirty="0">
                <a:solidFill>
                  <a:srgbClr val="231F20"/>
                </a:solidFill>
                <a:latin typeface="Arial"/>
                <a:cs typeface="Arial"/>
              </a:rPr>
              <a:t> </a:t>
            </a:r>
            <a:r>
              <a:rPr sz="1950" spc="125" dirty="0">
                <a:solidFill>
                  <a:srgbClr val="231F20"/>
                </a:solidFill>
                <a:latin typeface="Arial"/>
                <a:cs typeface="Arial"/>
              </a:rPr>
              <a:t>section</a:t>
            </a:r>
            <a:endParaRPr sz="1950">
              <a:latin typeface="Arial"/>
              <a:cs typeface="Arial"/>
            </a:endParaRPr>
          </a:p>
          <a:p>
            <a:pPr marL="300990" marR="5080" indent="-288290">
              <a:lnSpc>
                <a:spcPct val="125000"/>
              </a:lnSpc>
              <a:spcBef>
                <a:spcPts val="1345"/>
              </a:spcBef>
              <a:buClr>
                <a:srgbClr val="231F20"/>
              </a:buClr>
              <a:buSzPct val="105128"/>
              <a:buFont typeface="Lucida Sans Unicode"/>
              <a:buChar char="•"/>
              <a:tabLst>
                <a:tab pos="301625" algn="l"/>
              </a:tabLst>
            </a:pPr>
            <a:r>
              <a:rPr sz="1950" spc="140" dirty="0">
                <a:solidFill>
                  <a:srgbClr val="0000FF"/>
                </a:solidFill>
                <a:latin typeface="Arial"/>
                <a:cs typeface="Arial"/>
              </a:rPr>
              <a:t>Show </a:t>
            </a:r>
            <a:r>
              <a:rPr sz="1950" spc="235" dirty="0">
                <a:solidFill>
                  <a:srgbClr val="0000FF"/>
                </a:solidFill>
                <a:latin typeface="Arial"/>
                <a:cs typeface="Arial"/>
              </a:rPr>
              <a:t>that </a:t>
            </a:r>
            <a:r>
              <a:rPr sz="1950" spc="215" dirty="0">
                <a:solidFill>
                  <a:srgbClr val="0000FF"/>
                </a:solidFill>
                <a:latin typeface="Arial"/>
                <a:cs typeface="Arial"/>
              </a:rPr>
              <a:t>at </a:t>
            </a:r>
            <a:r>
              <a:rPr sz="1950" spc="195" dirty="0">
                <a:solidFill>
                  <a:srgbClr val="0000FF"/>
                </a:solidFill>
                <a:latin typeface="Arial"/>
                <a:cs typeface="Arial"/>
              </a:rPr>
              <a:t>most </a:t>
            </a:r>
            <a:r>
              <a:rPr sz="1950" spc="105" dirty="0">
                <a:solidFill>
                  <a:srgbClr val="0000FF"/>
                </a:solidFill>
                <a:latin typeface="Arial"/>
                <a:cs typeface="Arial"/>
              </a:rPr>
              <a:t>one </a:t>
            </a:r>
            <a:r>
              <a:rPr sz="1950" spc="80" dirty="0">
                <a:solidFill>
                  <a:srgbClr val="0000FF"/>
                </a:solidFill>
                <a:latin typeface="Arial"/>
                <a:cs typeface="Arial"/>
              </a:rPr>
              <a:t>process </a:t>
            </a:r>
            <a:r>
              <a:rPr sz="1950" spc="40" dirty="0">
                <a:solidFill>
                  <a:srgbClr val="0000FF"/>
                </a:solidFill>
                <a:latin typeface="Arial"/>
                <a:cs typeface="Arial"/>
              </a:rPr>
              <a:t>is </a:t>
            </a:r>
            <a:r>
              <a:rPr sz="1950" spc="130" dirty="0">
                <a:solidFill>
                  <a:srgbClr val="0000FF"/>
                </a:solidFill>
                <a:latin typeface="Arial"/>
                <a:cs typeface="Arial"/>
              </a:rPr>
              <a:t>in </a:t>
            </a:r>
            <a:r>
              <a:rPr sz="1950" spc="145" dirty="0">
                <a:solidFill>
                  <a:srgbClr val="0000FF"/>
                </a:solidFill>
                <a:latin typeface="Arial"/>
                <a:cs typeface="Arial"/>
              </a:rPr>
              <a:t>its </a:t>
            </a:r>
            <a:r>
              <a:rPr sz="1950" spc="150" dirty="0">
                <a:solidFill>
                  <a:srgbClr val="0000FF"/>
                </a:solidFill>
                <a:latin typeface="Arial"/>
                <a:cs typeface="Arial"/>
              </a:rPr>
              <a:t>critical </a:t>
            </a:r>
            <a:r>
              <a:rPr sz="1950" spc="125" dirty="0">
                <a:solidFill>
                  <a:srgbClr val="0000FF"/>
                </a:solidFill>
                <a:latin typeface="Arial"/>
                <a:cs typeface="Arial"/>
              </a:rPr>
              <a:t>section </a:t>
            </a:r>
            <a:r>
              <a:rPr sz="1950" spc="215" dirty="0">
                <a:solidFill>
                  <a:srgbClr val="0000FF"/>
                </a:solidFill>
                <a:latin typeface="Arial"/>
                <a:cs typeface="Arial"/>
              </a:rPr>
              <a:t>at </a:t>
            </a:r>
            <a:r>
              <a:rPr sz="1950" spc="120" dirty="0">
                <a:solidFill>
                  <a:srgbClr val="0000FF"/>
                </a:solidFill>
                <a:latin typeface="Arial"/>
                <a:cs typeface="Arial"/>
              </a:rPr>
              <a:t>any  </a:t>
            </a:r>
            <a:r>
              <a:rPr sz="1950" spc="195" dirty="0">
                <a:solidFill>
                  <a:srgbClr val="0000FF"/>
                </a:solidFill>
                <a:latin typeface="Arial"/>
                <a:cs typeface="Arial"/>
              </a:rPr>
              <a:t>time </a:t>
            </a:r>
            <a:r>
              <a:rPr sz="1950" spc="140" dirty="0">
                <a:solidFill>
                  <a:srgbClr val="0000FF"/>
                </a:solidFill>
                <a:latin typeface="Arial"/>
                <a:cs typeface="Arial"/>
              </a:rPr>
              <a:t>(i.e., </a:t>
            </a:r>
            <a:r>
              <a:rPr sz="1950" spc="195" dirty="0">
                <a:solidFill>
                  <a:srgbClr val="0000FF"/>
                </a:solidFill>
                <a:latin typeface="Arial"/>
                <a:cs typeface="Arial"/>
              </a:rPr>
              <a:t>mutual</a:t>
            </a:r>
            <a:r>
              <a:rPr sz="1950" spc="484" dirty="0">
                <a:solidFill>
                  <a:srgbClr val="0000FF"/>
                </a:solidFill>
                <a:latin typeface="Arial"/>
                <a:cs typeface="Arial"/>
              </a:rPr>
              <a:t> </a:t>
            </a:r>
            <a:r>
              <a:rPr sz="1950" spc="120" dirty="0">
                <a:solidFill>
                  <a:srgbClr val="0000FF"/>
                </a:solidFill>
                <a:latin typeface="Arial"/>
                <a:cs typeface="Arial"/>
              </a:rPr>
              <a:t>exclusion)</a:t>
            </a:r>
            <a:endParaRPr sz="1950">
              <a:latin typeface="Arial"/>
              <a:cs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1143952"/>
            <a:ext cx="8227059" cy="4483735"/>
          </a:xfrm>
          <a:prstGeom prst="rect">
            <a:avLst/>
          </a:prstGeom>
        </p:spPr>
        <p:txBody>
          <a:bodyPr vert="horz" wrap="square" lIns="0" tIns="0" rIns="0" bIns="0" rtlCol="0">
            <a:spAutoFit/>
          </a:bodyPr>
          <a:lstStyle/>
          <a:p>
            <a:pPr marL="2008505">
              <a:lnSpc>
                <a:spcPct val="100000"/>
              </a:lnSpc>
            </a:pPr>
            <a:r>
              <a:rPr sz="1950" spc="270" dirty="0">
                <a:solidFill>
                  <a:srgbClr val="231F20"/>
                </a:solidFill>
                <a:latin typeface="Arial"/>
                <a:cs typeface="Arial"/>
              </a:rPr>
              <a:t>Formal </a:t>
            </a:r>
            <a:r>
              <a:rPr sz="1950" spc="275" dirty="0">
                <a:solidFill>
                  <a:srgbClr val="231F20"/>
                </a:solidFill>
                <a:latin typeface="Arial"/>
                <a:cs typeface="Arial"/>
              </a:rPr>
              <a:t>Modeling </a:t>
            </a:r>
            <a:r>
              <a:rPr sz="1950" spc="240" dirty="0">
                <a:solidFill>
                  <a:srgbClr val="231F20"/>
                </a:solidFill>
                <a:latin typeface="Arial"/>
                <a:cs typeface="Arial"/>
              </a:rPr>
              <a:t>and</a:t>
            </a:r>
            <a:r>
              <a:rPr sz="1950" spc="530" dirty="0">
                <a:solidFill>
                  <a:srgbClr val="231F20"/>
                </a:solidFill>
                <a:latin typeface="Arial"/>
                <a:cs typeface="Arial"/>
              </a:rPr>
              <a:t> </a:t>
            </a:r>
            <a:r>
              <a:rPr sz="1950" spc="195" dirty="0">
                <a:solidFill>
                  <a:srgbClr val="231F20"/>
                </a:solidFill>
                <a:latin typeface="Arial"/>
                <a:cs typeface="Arial"/>
              </a:rPr>
              <a:t>Analysis</a:t>
            </a:r>
            <a:endParaRPr sz="1950">
              <a:latin typeface="Arial"/>
              <a:cs typeface="Arial"/>
            </a:endParaRPr>
          </a:p>
          <a:p>
            <a:pPr>
              <a:lnSpc>
                <a:spcPct val="100000"/>
              </a:lnSpc>
              <a:spcBef>
                <a:spcPts val="32"/>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70" dirty="0">
                <a:solidFill>
                  <a:srgbClr val="231F20"/>
                </a:solidFill>
                <a:latin typeface="Arial"/>
                <a:cs typeface="Arial"/>
              </a:rPr>
              <a:t>Build </a:t>
            </a:r>
            <a:r>
              <a:rPr sz="1950" spc="85" dirty="0">
                <a:solidFill>
                  <a:srgbClr val="231F20"/>
                </a:solidFill>
                <a:latin typeface="Arial"/>
                <a:cs typeface="Arial"/>
              </a:rPr>
              <a:t>a </a:t>
            </a:r>
            <a:r>
              <a:rPr sz="1950" spc="170" dirty="0">
                <a:solidFill>
                  <a:srgbClr val="231F20"/>
                </a:solidFill>
                <a:latin typeface="Arial"/>
                <a:cs typeface="Arial"/>
              </a:rPr>
              <a:t>mathematical </a:t>
            </a:r>
            <a:r>
              <a:rPr sz="1950" spc="160" dirty="0">
                <a:solidFill>
                  <a:srgbClr val="231F20"/>
                </a:solidFill>
                <a:latin typeface="Arial"/>
                <a:cs typeface="Arial"/>
              </a:rPr>
              <a:t>model </a:t>
            </a:r>
            <a:r>
              <a:rPr sz="1950" spc="185" dirty="0">
                <a:solidFill>
                  <a:srgbClr val="231F20"/>
                </a:solidFill>
                <a:latin typeface="Arial"/>
                <a:cs typeface="Arial"/>
              </a:rPr>
              <a:t>of </a:t>
            </a:r>
            <a:r>
              <a:rPr sz="1950" spc="175" dirty="0">
                <a:solidFill>
                  <a:srgbClr val="231F20"/>
                </a:solidFill>
                <a:latin typeface="Arial"/>
                <a:cs typeface="Arial"/>
              </a:rPr>
              <a:t>the </a:t>
            </a:r>
            <a:r>
              <a:rPr sz="1950" spc="204" dirty="0">
                <a:solidFill>
                  <a:srgbClr val="231F20"/>
                </a:solidFill>
                <a:latin typeface="Arial"/>
                <a:cs typeface="Arial"/>
              </a:rPr>
              <a:t> </a:t>
            </a:r>
            <a:r>
              <a:rPr sz="1950" spc="170" dirty="0">
                <a:solidFill>
                  <a:srgbClr val="231F20"/>
                </a:solidFill>
                <a:latin typeface="Arial"/>
                <a:cs typeface="Arial"/>
              </a:rPr>
              <a:t>protocol</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25" dirty="0">
                <a:solidFill>
                  <a:srgbClr val="231F20"/>
                </a:solidFill>
                <a:latin typeface="Arial"/>
                <a:cs typeface="Arial"/>
              </a:rPr>
              <a:t>Analyze </a:t>
            </a:r>
            <a:r>
              <a:rPr sz="1950" spc="229" dirty="0">
                <a:solidFill>
                  <a:srgbClr val="231F20"/>
                </a:solidFill>
                <a:latin typeface="Arial"/>
                <a:cs typeface="Arial"/>
              </a:rPr>
              <a:t>it </a:t>
            </a:r>
            <a:r>
              <a:rPr sz="1950" spc="155" dirty="0">
                <a:solidFill>
                  <a:srgbClr val="231F20"/>
                </a:solidFill>
                <a:latin typeface="Arial"/>
                <a:cs typeface="Arial"/>
              </a:rPr>
              <a:t>for </a:t>
            </a:r>
            <a:r>
              <a:rPr sz="1950" spc="85" dirty="0">
                <a:solidFill>
                  <a:srgbClr val="231F20"/>
                </a:solidFill>
                <a:latin typeface="Arial"/>
                <a:cs typeface="Arial"/>
              </a:rPr>
              <a:t>a desired </a:t>
            </a:r>
            <a:r>
              <a:rPr sz="1950" spc="140" dirty="0">
                <a:solidFill>
                  <a:srgbClr val="231F20"/>
                </a:solidFill>
                <a:latin typeface="Arial"/>
                <a:cs typeface="Arial"/>
              </a:rPr>
              <a:t> </a:t>
            </a:r>
            <a:r>
              <a:rPr sz="1950" spc="150" dirty="0">
                <a:solidFill>
                  <a:srgbClr val="231F20"/>
                </a:solidFill>
                <a:latin typeface="Arial"/>
                <a:cs typeface="Arial"/>
              </a:rPr>
              <a:t>property</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220" dirty="0">
                <a:solidFill>
                  <a:srgbClr val="0000FF"/>
                </a:solidFill>
                <a:latin typeface="Arial"/>
                <a:cs typeface="Arial"/>
              </a:rPr>
              <a:t>Must </a:t>
            </a:r>
            <a:r>
              <a:rPr sz="1950" spc="105" dirty="0">
                <a:solidFill>
                  <a:srgbClr val="0000FF"/>
                </a:solidFill>
                <a:latin typeface="Arial"/>
                <a:cs typeface="Arial"/>
              </a:rPr>
              <a:t>choose </a:t>
            </a:r>
            <a:r>
              <a:rPr sz="1950" spc="160" dirty="0">
                <a:solidFill>
                  <a:srgbClr val="0000FF"/>
                </a:solidFill>
                <a:latin typeface="Arial"/>
                <a:cs typeface="Arial"/>
              </a:rPr>
              <a:t>how </a:t>
            </a:r>
            <a:r>
              <a:rPr sz="1950" spc="180" dirty="0">
                <a:solidFill>
                  <a:srgbClr val="0000FF"/>
                </a:solidFill>
                <a:latin typeface="Arial"/>
                <a:cs typeface="Arial"/>
              </a:rPr>
              <a:t>much </a:t>
            </a:r>
            <a:r>
              <a:rPr sz="1950" spc="135" dirty="0">
                <a:solidFill>
                  <a:srgbClr val="0000FF"/>
                </a:solidFill>
                <a:latin typeface="Arial"/>
                <a:cs typeface="Arial"/>
              </a:rPr>
              <a:t>detail </a:t>
            </a:r>
            <a:r>
              <a:rPr sz="1950" spc="250" dirty="0">
                <a:solidFill>
                  <a:srgbClr val="0000FF"/>
                </a:solidFill>
                <a:latin typeface="Arial"/>
                <a:cs typeface="Arial"/>
              </a:rPr>
              <a:t>to </a:t>
            </a:r>
            <a:r>
              <a:rPr sz="1950" spc="114" dirty="0">
                <a:solidFill>
                  <a:srgbClr val="0000FF"/>
                </a:solidFill>
                <a:latin typeface="Arial"/>
                <a:cs typeface="Arial"/>
              </a:rPr>
              <a:t>include </a:t>
            </a:r>
            <a:r>
              <a:rPr sz="1950" spc="130" dirty="0">
                <a:solidFill>
                  <a:srgbClr val="0000FF"/>
                </a:solidFill>
                <a:latin typeface="Arial"/>
                <a:cs typeface="Arial"/>
              </a:rPr>
              <a:t>in </a:t>
            </a:r>
            <a:r>
              <a:rPr sz="1950" spc="175" dirty="0">
                <a:solidFill>
                  <a:srgbClr val="0000FF"/>
                </a:solidFill>
                <a:latin typeface="Arial"/>
                <a:cs typeface="Arial"/>
              </a:rPr>
              <a:t>the </a:t>
            </a:r>
            <a:r>
              <a:rPr sz="1950" spc="550" dirty="0">
                <a:solidFill>
                  <a:srgbClr val="0000FF"/>
                </a:solidFill>
                <a:latin typeface="Arial"/>
                <a:cs typeface="Arial"/>
              </a:rPr>
              <a:t> </a:t>
            </a:r>
            <a:r>
              <a:rPr sz="1950" spc="160" dirty="0">
                <a:solidFill>
                  <a:srgbClr val="0000FF"/>
                </a:solidFill>
                <a:latin typeface="Arial"/>
                <a:cs typeface="Arial"/>
              </a:rPr>
              <a:t>model</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 pos="3101975" algn="l"/>
              </a:tabLst>
            </a:pPr>
            <a:r>
              <a:rPr sz="1950" spc="250" dirty="0">
                <a:solidFill>
                  <a:srgbClr val="231F20"/>
                </a:solidFill>
                <a:latin typeface="Arial"/>
                <a:cs typeface="Arial"/>
              </a:rPr>
              <a:t>Too</a:t>
            </a:r>
            <a:r>
              <a:rPr sz="1950" spc="850" dirty="0">
                <a:solidFill>
                  <a:srgbClr val="231F20"/>
                </a:solidFill>
                <a:latin typeface="Arial"/>
                <a:cs typeface="Arial"/>
              </a:rPr>
              <a:t> </a:t>
            </a:r>
            <a:r>
              <a:rPr sz="1950" spc="180" dirty="0">
                <a:solidFill>
                  <a:srgbClr val="231F20"/>
                </a:solidFill>
                <a:latin typeface="Arial"/>
                <a:cs typeface="Arial"/>
              </a:rPr>
              <a:t>much</a:t>
            </a:r>
            <a:r>
              <a:rPr sz="1950" spc="850" dirty="0">
                <a:solidFill>
                  <a:srgbClr val="231F20"/>
                </a:solidFill>
                <a:latin typeface="Arial"/>
                <a:cs typeface="Arial"/>
              </a:rPr>
              <a:t> </a:t>
            </a:r>
            <a:r>
              <a:rPr sz="1950" spc="140" dirty="0">
                <a:solidFill>
                  <a:srgbClr val="231F20"/>
                </a:solidFill>
                <a:latin typeface="Arial"/>
                <a:cs typeface="Arial"/>
              </a:rPr>
              <a:t>detail:	</a:t>
            </a:r>
            <a:r>
              <a:rPr sz="1950" spc="75" dirty="0">
                <a:solidFill>
                  <a:srgbClr val="231F20"/>
                </a:solidFill>
                <a:latin typeface="Arial"/>
                <a:cs typeface="Arial"/>
              </a:rPr>
              <a:t>analysis </a:t>
            </a:r>
            <a:r>
              <a:rPr sz="1950" spc="145" dirty="0">
                <a:solidFill>
                  <a:srgbClr val="231F20"/>
                </a:solidFill>
                <a:latin typeface="Arial"/>
                <a:cs typeface="Arial"/>
              </a:rPr>
              <a:t>may </a:t>
            </a:r>
            <a:r>
              <a:rPr sz="1950" spc="114" dirty="0">
                <a:solidFill>
                  <a:srgbClr val="231F20"/>
                </a:solidFill>
                <a:latin typeface="Arial"/>
                <a:cs typeface="Arial"/>
              </a:rPr>
              <a:t>be</a:t>
            </a:r>
            <a:r>
              <a:rPr sz="1950" spc="580" dirty="0">
                <a:solidFill>
                  <a:srgbClr val="231F20"/>
                </a:solidFill>
                <a:latin typeface="Arial"/>
                <a:cs typeface="Arial"/>
              </a:rPr>
              <a:t> </a:t>
            </a:r>
            <a:r>
              <a:rPr sz="1950" spc="95" dirty="0">
                <a:solidFill>
                  <a:srgbClr val="231F20"/>
                </a:solidFill>
                <a:latin typeface="Arial"/>
                <a:cs typeface="Arial"/>
              </a:rPr>
              <a:t>infeasible</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 pos="2979420" algn="l"/>
              </a:tabLst>
            </a:pPr>
            <a:r>
              <a:rPr sz="1950" spc="250" dirty="0">
                <a:solidFill>
                  <a:srgbClr val="231F20"/>
                </a:solidFill>
                <a:latin typeface="Arial"/>
                <a:cs typeface="Arial"/>
              </a:rPr>
              <a:t>Too</a:t>
            </a:r>
            <a:r>
              <a:rPr sz="1950" spc="850" dirty="0">
                <a:solidFill>
                  <a:srgbClr val="231F20"/>
                </a:solidFill>
                <a:latin typeface="Arial"/>
                <a:cs typeface="Arial"/>
              </a:rPr>
              <a:t> </a:t>
            </a:r>
            <a:r>
              <a:rPr sz="1950" spc="175" dirty="0">
                <a:solidFill>
                  <a:srgbClr val="231F20"/>
                </a:solidFill>
                <a:latin typeface="Arial"/>
                <a:cs typeface="Arial"/>
              </a:rPr>
              <a:t>little</a:t>
            </a:r>
            <a:r>
              <a:rPr sz="1950" spc="850" dirty="0">
                <a:solidFill>
                  <a:srgbClr val="231F20"/>
                </a:solidFill>
                <a:latin typeface="Arial"/>
                <a:cs typeface="Arial"/>
              </a:rPr>
              <a:t> </a:t>
            </a:r>
            <a:r>
              <a:rPr sz="1950" spc="140" dirty="0">
                <a:solidFill>
                  <a:srgbClr val="231F20"/>
                </a:solidFill>
                <a:latin typeface="Arial"/>
                <a:cs typeface="Arial"/>
              </a:rPr>
              <a:t>detail:	</a:t>
            </a:r>
            <a:r>
              <a:rPr sz="1950" spc="75" dirty="0">
                <a:solidFill>
                  <a:srgbClr val="231F20"/>
                </a:solidFill>
                <a:latin typeface="Arial"/>
                <a:cs typeface="Arial"/>
              </a:rPr>
              <a:t>analysis </a:t>
            </a:r>
            <a:r>
              <a:rPr sz="1950" spc="145" dirty="0">
                <a:solidFill>
                  <a:srgbClr val="231F20"/>
                </a:solidFill>
                <a:latin typeface="Arial"/>
                <a:cs typeface="Arial"/>
              </a:rPr>
              <a:t>may </a:t>
            </a:r>
            <a:r>
              <a:rPr sz="1950" spc="114" dirty="0">
                <a:solidFill>
                  <a:srgbClr val="231F20"/>
                </a:solidFill>
                <a:latin typeface="Arial"/>
                <a:cs typeface="Arial"/>
              </a:rPr>
              <a:t>be</a:t>
            </a:r>
            <a:r>
              <a:rPr sz="1950" spc="605" dirty="0">
                <a:solidFill>
                  <a:srgbClr val="231F20"/>
                </a:solidFill>
                <a:latin typeface="Arial"/>
                <a:cs typeface="Arial"/>
              </a:rPr>
              <a:t> </a:t>
            </a:r>
            <a:r>
              <a:rPr sz="1950" spc="135" dirty="0">
                <a:solidFill>
                  <a:srgbClr val="231F20"/>
                </a:solidFill>
                <a:latin typeface="Arial"/>
                <a:cs typeface="Arial"/>
              </a:rPr>
              <a:t>inaccurate</a:t>
            </a:r>
            <a:endParaRPr sz="1950">
              <a:latin typeface="Arial"/>
              <a:cs typeface="Arial"/>
            </a:endParaRPr>
          </a:p>
          <a:p>
            <a:pPr marL="741680">
              <a:lnSpc>
                <a:spcPct val="100000"/>
              </a:lnSpc>
              <a:spcBef>
                <a:spcPts val="585"/>
              </a:spcBef>
            </a:pPr>
            <a:r>
              <a:rPr sz="1950" spc="140" dirty="0">
                <a:solidFill>
                  <a:srgbClr val="231F20"/>
                </a:solidFill>
                <a:latin typeface="Arial"/>
                <a:cs typeface="Arial"/>
              </a:rPr>
              <a:t>(i.e., </a:t>
            </a:r>
            <a:r>
              <a:rPr sz="1950" spc="130" dirty="0">
                <a:solidFill>
                  <a:srgbClr val="231F20"/>
                </a:solidFill>
                <a:latin typeface="Arial"/>
                <a:cs typeface="Arial"/>
              </a:rPr>
              <a:t>fail </a:t>
            </a:r>
            <a:r>
              <a:rPr sz="1950" spc="250" dirty="0">
                <a:solidFill>
                  <a:srgbClr val="231F20"/>
                </a:solidFill>
                <a:latin typeface="Arial"/>
                <a:cs typeface="Arial"/>
              </a:rPr>
              <a:t>to </a:t>
            </a:r>
            <a:r>
              <a:rPr sz="1950" spc="165" dirty="0">
                <a:solidFill>
                  <a:srgbClr val="231F20"/>
                </a:solidFill>
                <a:latin typeface="Arial"/>
                <a:cs typeface="Arial"/>
              </a:rPr>
              <a:t>detect </a:t>
            </a:r>
            <a:r>
              <a:rPr sz="1950" spc="114" dirty="0">
                <a:solidFill>
                  <a:srgbClr val="231F20"/>
                </a:solidFill>
                <a:latin typeface="Arial"/>
                <a:cs typeface="Arial"/>
              </a:rPr>
              <a:t>bugs, </a:t>
            </a:r>
            <a:r>
              <a:rPr sz="1950" spc="130" dirty="0">
                <a:solidFill>
                  <a:srgbClr val="231F20"/>
                </a:solidFill>
                <a:latin typeface="Arial"/>
                <a:cs typeface="Arial"/>
              </a:rPr>
              <a:t>or </a:t>
            </a:r>
            <a:r>
              <a:rPr sz="1950" spc="165" dirty="0">
                <a:solidFill>
                  <a:srgbClr val="231F20"/>
                </a:solidFill>
                <a:latin typeface="Arial"/>
                <a:cs typeface="Arial"/>
              </a:rPr>
              <a:t>report </a:t>
            </a:r>
            <a:r>
              <a:rPr sz="1950" spc="105" dirty="0">
                <a:solidFill>
                  <a:srgbClr val="231F20"/>
                </a:solidFill>
                <a:latin typeface="Arial"/>
                <a:cs typeface="Arial"/>
              </a:rPr>
              <a:t>spurious </a:t>
            </a:r>
            <a:r>
              <a:rPr sz="1950" spc="550" dirty="0">
                <a:solidFill>
                  <a:srgbClr val="231F20"/>
                </a:solidFill>
                <a:latin typeface="Arial"/>
                <a:cs typeface="Arial"/>
              </a:rPr>
              <a:t> </a:t>
            </a:r>
            <a:r>
              <a:rPr sz="1950" spc="120" dirty="0">
                <a:solidFill>
                  <a:srgbClr val="231F20"/>
                </a:solidFill>
                <a:latin typeface="Arial"/>
                <a:cs typeface="Arial"/>
              </a:rPr>
              <a:t>ones)</a:t>
            </a:r>
            <a:endParaRPr sz="1950">
              <a:latin typeface="Arial"/>
              <a:cs typeface="Arial"/>
            </a:endParaRPr>
          </a:p>
          <a:p>
            <a:pPr marL="741680" marR="5080" lvl="1" indent="-288290">
              <a:lnSpc>
                <a:spcPct val="125000"/>
              </a:lnSpc>
              <a:spcBef>
                <a:spcPts val="254"/>
              </a:spcBef>
              <a:buSzPct val="105128"/>
              <a:buFont typeface="Lucida Sans Unicode"/>
              <a:buChar char="◦"/>
              <a:tabLst>
                <a:tab pos="742315" algn="l"/>
              </a:tabLst>
            </a:pPr>
            <a:r>
              <a:rPr sz="1950" spc="220" dirty="0">
                <a:solidFill>
                  <a:srgbClr val="231F20"/>
                </a:solidFill>
                <a:latin typeface="Arial"/>
                <a:cs typeface="Arial"/>
              </a:rPr>
              <a:t>Must </a:t>
            </a:r>
            <a:r>
              <a:rPr sz="1950" spc="80" dirty="0">
                <a:solidFill>
                  <a:srgbClr val="231F20"/>
                </a:solidFill>
                <a:latin typeface="Arial"/>
                <a:cs typeface="Arial"/>
              </a:rPr>
              <a:t>also </a:t>
            </a:r>
            <a:r>
              <a:rPr sz="1950" spc="105" dirty="0">
                <a:solidFill>
                  <a:srgbClr val="231F20"/>
                </a:solidFill>
                <a:latin typeface="Arial"/>
                <a:cs typeface="Arial"/>
              </a:rPr>
              <a:t>choose </a:t>
            </a:r>
            <a:r>
              <a:rPr sz="1950" spc="85" dirty="0">
                <a:solidFill>
                  <a:srgbClr val="231F20"/>
                </a:solidFill>
                <a:latin typeface="Arial"/>
                <a:cs typeface="Arial"/>
              </a:rPr>
              <a:t>a </a:t>
            </a:r>
            <a:r>
              <a:rPr sz="1950" spc="150" dirty="0">
                <a:solidFill>
                  <a:srgbClr val="231F20"/>
                </a:solidFill>
                <a:latin typeface="Arial"/>
                <a:cs typeface="Arial"/>
              </a:rPr>
              <a:t>modeling </a:t>
            </a:r>
            <a:r>
              <a:rPr sz="1950" spc="100" dirty="0">
                <a:solidFill>
                  <a:srgbClr val="231F20"/>
                </a:solidFill>
                <a:latin typeface="Arial"/>
                <a:cs typeface="Arial"/>
              </a:rPr>
              <a:t>style </a:t>
            </a:r>
            <a:r>
              <a:rPr sz="1950" spc="235" dirty="0">
                <a:solidFill>
                  <a:srgbClr val="231F20"/>
                </a:solidFill>
                <a:latin typeface="Arial"/>
                <a:cs typeface="Arial"/>
              </a:rPr>
              <a:t>that </a:t>
            </a:r>
            <a:r>
              <a:rPr sz="1950" spc="135" dirty="0">
                <a:solidFill>
                  <a:srgbClr val="231F20"/>
                </a:solidFill>
                <a:latin typeface="Arial"/>
                <a:cs typeface="Arial"/>
              </a:rPr>
              <a:t>supports intended  </a:t>
            </a:r>
            <a:r>
              <a:rPr sz="1950" spc="190" dirty="0">
                <a:solidFill>
                  <a:srgbClr val="231F20"/>
                </a:solidFill>
                <a:latin typeface="Arial"/>
                <a:cs typeface="Arial"/>
              </a:rPr>
              <a:t>form </a:t>
            </a:r>
            <a:r>
              <a:rPr sz="1950" spc="185" dirty="0">
                <a:solidFill>
                  <a:srgbClr val="231F20"/>
                </a:solidFill>
                <a:latin typeface="Arial"/>
                <a:cs typeface="Arial"/>
              </a:rPr>
              <a:t>of</a:t>
            </a:r>
            <a:r>
              <a:rPr sz="1950" spc="315" dirty="0">
                <a:solidFill>
                  <a:srgbClr val="231F20"/>
                </a:solidFill>
                <a:latin typeface="Arial"/>
                <a:cs typeface="Arial"/>
              </a:rPr>
              <a:t> </a:t>
            </a:r>
            <a:r>
              <a:rPr sz="1950" spc="75" dirty="0">
                <a:solidFill>
                  <a:srgbClr val="231F20"/>
                </a:solidFill>
                <a:latin typeface="Arial"/>
                <a:cs typeface="Arial"/>
              </a:rPr>
              <a:t>analysis</a:t>
            </a:r>
            <a:endParaRPr sz="1950">
              <a:latin typeface="Arial"/>
              <a:cs typeface="Arial"/>
            </a:endParaRPr>
          </a:p>
          <a:p>
            <a:pPr lvl="1">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00" dirty="0">
                <a:solidFill>
                  <a:srgbClr val="231F20"/>
                </a:solidFill>
                <a:latin typeface="Arial"/>
                <a:cs typeface="Arial"/>
              </a:rPr>
              <a:t>Requires </a:t>
            </a:r>
            <a:r>
              <a:rPr sz="1950" spc="180" dirty="0">
                <a:solidFill>
                  <a:srgbClr val="231F20"/>
                </a:solidFill>
                <a:latin typeface="Arial"/>
                <a:cs typeface="Arial"/>
              </a:rPr>
              <a:t>judgment </a:t>
            </a:r>
            <a:r>
              <a:rPr sz="1950" spc="135" dirty="0">
                <a:solidFill>
                  <a:srgbClr val="231F20"/>
                </a:solidFill>
                <a:latin typeface="Arial"/>
                <a:cs typeface="Arial"/>
              </a:rPr>
              <a:t>(skill, </a:t>
            </a:r>
            <a:r>
              <a:rPr sz="1950" spc="180" dirty="0">
                <a:solidFill>
                  <a:srgbClr val="231F20"/>
                </a:solidFill>
                <a:latin typeface="Arial"/>
                <a:cs typeface="Arial"/>
              </a:rPr>
              <a:t>luck) </a:t>
            </a:r>
            <a:r>
              <a:rPr sz="1950" spc="250" dirty="0">
                <a:solidFill>
                  <a:srgbClr val="231F20"/>
                </a:solidFill>
                <a:latin typeface="Arial"/>
                <a:cs typeface="Arial"/>
              </a:rPr>
              <a:t>to </a:t>
            </a:r>
            <a:r>
              <a:rPr sz="1950" spc="155" dirty="0">
                <a:solidFill>
                  <a:srgbClr val="231F20"/>
                </a:solidFill>
                <a:latin typeface="Arial"/>
                <a:cs typeface="Arial"/>
              </a:rPr>
              <a:t>do</a:t>
            </a:r>
            <a:r>
              <a:rPr sz="1950" spc="835" dirty="0">
                <a:solidFill>
                  <a:srgbClr val="231F20"/>
                </a:solidFill>
                <a:latin typeface="Arial"/>
                <a:cs typeface="Arial"/>
              </a:rPr>
              <a:t> </a:t>
            </a:r>
            <a:r>
              <a:rPr sz="1950" spc="145" dirty="0">
                <a:solidFill>
                  <a:srgbClr val="231F20"/>
                </a:solidFill>
                <a:latin typeface="Arial"/>
                <a:cs typeface="Arial"/>
              </a:rPr>
              <a:t>this</a:t>
            </a:r>
            <a:endParaRPr sz="1950">
              <a:latin typeface="Arial"/>
              <a:cs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01686"/>
            <a:ext cx="8017509" cy="5932170"/>
          </a:xfrm>
          <a:prstGeom prst="rect">
            <a:avLst/>
          </a:prstGeom>
        </p:spPr>
        <p:txBody>
          <a:bodyPr vert="horz" wrap="square" lIns="0" tIns="0" rIns="0" bIns="0" rtlCol="0">
            <a:spAutoFit/>
          </a:bodyPr>
          <a:lstStyle/>
          <a:p>
            <a:pPr marL="2074545" marR="347345" indent="-1468755">
              <a:lnSpc>
                <a:spcPct val="125000"/>
              </a:lnSpc>
            </a:pPr>
            <a:r>
              <a:rPr sz="1950" spc="275" dirty="0">
                <a:solidFill>
                  <a:srgbClr val="231F20"/>
                </a:solidFill>
                <a:latin typeface="Arial"/>
                <a:cs typeface="Arial"/>
              </a:rPr>
              <a:t>Modeling </a:t>
            </a:r>
            <a:r>
              <a:rPr sz="1950" spc="285" dirty="0">
                <a:solidFill>
                  <a:srgbClr val="231F20"/>
                </a:solidFill>
                <a:latin typeface="Arial"/>
                <a:cs typeface="Arial"/>
              </a:rPr>
              <a:t>the </a:t>
            </a:r>
            <a:r>
              <a:rPr sz="1950" spc="265" dirty="0">
                <a:solidFill>
                  <a:srgbClr val="231F20"/>
                </a:solidFill>
                <a:latin typeface="Arial"/>
                <a:cs typeface="Arial"/>
              </a:rPr>
              <a:t>Example </a:t>
            </a:r>
            <a:r>
              <a:rPr sz="1950" spc="260" dirty="0">
                <a:solidFill>
                  <a:srgbClr val="231F20"/>
                </a:solidFill>
                <a:latin typeface="Arial"/>
                <a:cs typeface="Arial"/>
              </a:rPr>
              <a:t>System </a:t>
            </a:r>
            <a:r>
              <a:rPr sz="1950" spc="240" dirty="0">
                <a:solidFill>
                  <a:srgbClr val="231F20"/>
                </a:solidFill>
                <a:latin typeface="Arial"/>
                <a:cs typeface="Arial"/>
              </a:rPr>
              <a:t>and </a:t>
            </a:r>
            <a:r>
              <a:rPr sz="1950" spc="220" dirty="0">
                <a:solidFill>
                  <a:srgbClr val="231F20"/>
                </a:solidFill>
                <a:latin typeface="Arial"/>
                <a:cs typeface="Arial"/>
              </a:rPr>
              <a:t>its </a:t>
            </a:r>
            <a:r>
              <a:rPr sz="1950" spc="245" dirty="0">
                <a:solidFill>
                  <a:srgbClr val="231F20"/>
                </a:solidFill>
                <a:latin typeface="Arial"/>
                <a:cs typeface="Arial"/>
              </a:rPr>
              <a:t>Properties:  </a:t>
            </a:r>
            <a:r>
              <a:rPr sz="1950" spc="260" dirty="0">
                <a:solidFill>
                  <a:srgbClr val="231F20"/>
                </a:solidFill>
                <a:latin typeface="Arial"/>
                <a:cs typeface="Arial"/>
              </a:rPr>
              <a:t>Accuracy </a:t>
            </a:r>
            <a:r>
              <a:rPr sz="1950" spc="240" dirty="0">
                <a:solidFill>
                  <a:srgbClr val="231F20"/>
                </a:solidFill>
                <a:latin typeface="Arial"/>
                <a:cs typeface="Arial"/>
              </a:rPr>
              <a:t>and </a:t>
            </a:r>
            <a:r>
              <a:rPr sz="1950" spc="225" dirty="0">
                <a:solidFill>
                  <a:srgbClr val="231F20"/>
                </a:solidFill>
                <a:latin typeface="Arial"/>
                <a:cs typeface="Arial"/>
              </a:rPr>
              <a:t>Level </a:t>
            </a:r>
            <a:r>
              <a:rPr sz="1950" spc="280" dirty="0">
                <a:solidFill>
                  <a:srgbClr val="231F20"/>
                </a:solidFill>
                <a:latin typeface="Arial"/>
                <a:cs typeface="Arial"/>
              </a:rPr>
              <a:t>of</a:t>
            </a:r>
            <a:r>
              <a:rPr sz="1950" spc="710" dirty="0">
                <a:solidFill>
                  <a:srgbClr val="231F20"/>
                </a:solidFill>
                <a:latin typeface="Arial"/>
                <a:cs typeface="Arial"/>
              </a:rPr>
              <a:t> </a:t>
            </a:r>
            <a:r>
              <a:rPr sz="1950" spc="270" dirty="0">
                <a:solidFill>
                  <a:srgbClr val="231F20"/>
                </a:solidFill>
                <a:latin typeface="Arial"/>
                <a:cs typeface="Arial"/>
              </a:rPr>
              <a:t>Detail</a:t>
            </a:r>
            <a:endParaRPr sz="1950">
              <a:latin typeface="Arial"/>
              <a:cs typeface="Arial"/>
            </a:endParaRPr>
          </a:p>
          <a:p>
            <a:pPr marL="300990" marR="389890" indent="-288290">
              <a:lnSpc>
                <a:spcPct val="125000"/>
              </a:lnSpc>
              <a:spcBef>
                <a:spcPts val="1030"/>
              </a:spcBef>
              <a:buSzPct val="105128"/>
              <a:buFont typeface="Lucida Sans Unicode"/>
              <a:buChar char="•"/>
              <a:tabLst>
                <a:tab pos="301625" algn="l"/>
              </a:tabLst>
            </a:pPr>
            <a:r>
              <a:rPr sz="1950" spc="250" dirty="0">
                <a:solidFill>
                  <a:srgbClr val="231F20"/>
                </a:solidFill>
                <a:latin typeface="Arial"/>
                <a:cs typeface="Arial"/>
              </a:rPr>
              <a:t>The </a:t>
            </a:r>
            <a:r>
              <a:rPr sz="1950" spc="170" dirty="0">
                <a:solidFill>
                  <a:srgbClr val="231F20"/>
                </a:solidFill>
                <a:latin typeface="Arial"/>
                <a:cs typeface="Arial"/>
              </a:rPr>
              <a:t>protocol </a:t>
            </a:r>
            <a:r>
              <a:rPr sz="1950" spc="25" dirty="0">
                <a:solidFill>
                  <a:srgbClr val="231F20"/>
                </a:solidFill>
                <a:latin typeface="Arial"/>
                <a:cs typeface="Arial"/>
              </a:rPr>
              <a:t>uses </a:t>
            </a:r>
            <a:r>
              <a:rPr sz="1950" spc="80" dirty="0">
                <a:solidFill>
                  <a:srgbClr val="0000FF"/>
                </a:solidFill>
                <a:latin typeface="Arial"/>
                <a:cs typeface="Arial"/>
              </a:rPr>
              <a:t>shared </a:t>
            </a:r>
            <a:r>
              <a:rPr sz="1950" spc="165" dirty="0">
                <a:solidFill>
                  <a:srgbClr val="0000FF"/>
                </a:solidFill>
                <a:latin typeface="Arial"/>
                <a:cs typeface="Arial"/>
              </a:rPr>
              <a:t>memory </a:t>
            </a:r>
            <a:r>
              <a:rPr sz="1950" spc="130" dirty="0">
                <a:solidFill>
                  <a:srgbClr val="231F20"/>
                </a:solidFill>
                <a:latin typeface="Arial"/>
                <a:cs typeface="Arial"/>
              </a:rPr>
              <a:t>and </a:t>
            </a:r>
            <a:r>
              <a:rPr sz="1950" spc="40" dirty="0">
                <a:solidFill>
                  <a:srgbClr val="231F20"/>
                </a:solidFill>
                <a:latin typeface="Arial"/>
                <a:cs typeface="Arial"/>
              </a:rPr>
              <a:t>is </a:t>
            </a:r>
            <a:r>
              <a:rPr sz="1950" spc="90" dirty="0">
                <a:solidFill>
                  <a:srgbClr val="231F20"/>
                </a:solidFill>
                <a:latin typeface="Arial"/>
                <a:cs typeface="Arial"/>
              </a:rPr>
              <a:t>sensitive </a:t>
            </a:r>
            <a:r>
              <a:rPr sz="1950" spc="250" dirty="0">
                <a:solidFill>
                  <a:srgbClr val="231F20"/>
                </a:solidFill>
                <a:latin typeface="Arial"/>
                <a:cs typeface="Arial"/>
              </a:rPr>
              <a:t>to </a:t>
            </a:r>
            <a:r>
              <a:rPr sz="1950" spc="175" dirty="0">
                <a:solidFill>
                  <a:srgbClr val="231F20"/>
                </a:solidFill>
                <a:latin typeface="Arial"/>
                <a:cs typeface="Arial"/>
              </a:rPr>
              <a:t>the  </a:t>
            </a:r>
            <a:r>
              <a:rPr sz="1950" spc="180" dirty="0">
                <a:solidFill>
                  <a:srgbClr val="FF0000"/>
                </a:solidFill>
                <a:latin typeface="Arial"/>
                <a:cs typeface="Arial"/>
              </a:rPr>
              <a:t>atomicity </a:t>
            </a:r>
            <a:r>
              <a:rPr sz="1950" spc="185" dirty="0">
                <a:solidFill>
                  <a:srgbClr val="231F20"/>
                </a:solidFill>
                <a:latin typeface="Arial"/>
                <a:cs typeface="Arial"/>
              </a:rPr>
              <a:t>of </a:t>
            </a:r>
            <a:r>
              <a:rPr sz="1950" spc="155" dirty="0">
                <a:solidFill>
                  <a:srgbClr val="231F20"/>
                </a:solidFill>
                <a:latin typeface="Arial"/>
                <a:cs typeface="Arial"/>
              </a:rPr>
              <a:t>concurrent </a:t>
            </a:r>
            <a:r>
              <a:rPr sz="1950" spc="80" dirty="0">
                <a:solidFill>
                  <a:srgbClr val="231F20"/>
                </a:solidFill>
                <a:latin typeface="Arial"/>
                <a:cs typeface="Arial"/>
              </a:rPr>
              <a:t>reads </a:t>
            </a:r>
            <a:r>
              <a:rPr sz="1950" spc="130" dirty="0">
                <a:solidFill>
                  <a:srgbClr val="231F20"/>
                </a:solidFill>
                <a:latin typeface="Arial"/>
                <a:cs typeface="Arial"/>
              </a:rPr>
              <a:t>and</a:t>
            </a:r>
            <a:r>
              <a:rPr sz="1950" spc="785" dirty="0">
                <a:solidFill>
                  <a:srgbClr val="231F20"/>
                </a:solidFill>
                <a:latin typeface="Arial"/>
                <a:cs typeface="Arial"/>
              </a:rPr>
              <a:t> </a:t>
            </a:r>
            <a:r>
              <a:rPr sz="1950" spc="145" dirty="0">
                <a:solidFill>
                  <a:srgbClr val="231F20"/>
                </a:solidFill>
                <a:latin typeface="Arial"/>
                <a:cs typeface="Arial"/>
              </a:rPr>
              <a:t>writes</a:t>
            </a:r>
            <a:endParaRPr sz="1950">
              <a:latin typeface="Arial"/>
              <a:cs typeface="Arial"/>
            </a:endParaRPr>
          </a:p>
          <a:p>
            <a:pPr marL="300990" marR="5080" indent="-288290">
              <a:lnSpc>
                <a:spcPct val="125000"/>
              </a:lnSpc>
              <a:spcBef>
                <a:spcPts val="409"/>
              </a:spcBef>
              <a:buSzPct val="105128"/>
              <a:buFont typeface="Lucida Sans Unicode"/>
              <a:buChar char="•"/>
              <a:tabLst>
                <a:tab pos="301625" algn="l"/>
              </a:tabLst>
            </a:pPr>
            <a:r>
              <a:rPr sz="1950" spc="200" dirty="0">
                <a:solidFill>
                  <a:srgbClr val="231F20"/>
                </a:solidFill>
                <a:latin typeface="Arial"/>
                <a:cs typeface="Arial"/>
              </a:rPr>
              <a:t>And </a:t>
            </a:r>
            <a:r>
              <a:rPr sz="1950" spc="250" dirty="0">
                <a:solidFill>
                  <a:srgbClr val="231F20"/>
                </a:solidFill>
                <a:latin typeface="Arial"/>
                <a:cs typeface="Arial"/>
              </a:rPr>
              <a:t>to </a:t>
            </a:r>
            <a:r>
              <a:rPr sz="1950" spc="175" dirty="0">
                <a:solidFill>
                  <a:srgbClr val="231F20"/>
                </a:solidFill>
                <a:latin typeface="Arial"/>
                <a:cs typeface="Arial"/>
              </a:rPr>
              <a:t>the </a:t>
            </a:r>
            <a:r>
              <a:rPr sz="1950" spc="165" dirty="0">
                <a:solidFill>
                  <a:srgbClr val="FF0000"/>
                </a:solidFill>
                <a:latin typeface="Arial"/>
                <a:cs typeface="Arial"/>
              </a:rPr>
              <a:t>memory </a:t>
            </a:r>
            <a:r>
              <a:rPr sz="1950" spc="160" dirty="0">
                <a:solidFill>
                  <a:srgbClr val="FF0000"/>
                </a:solidFill>
                <a:latin typeface="Arial"/>
                <a:cs typeface="Arial"/>
              </a:rPr>
              <a:t>model </a:t>
            </a:r>
            <a:r>
              <a:rPr sz="1950" spc="204" dirty="0">
                <a:solidFill>
                  <a:srgbClr val="231F20"/>
                </a:solidFill>
                <a:latin typeface="Arial"/>
                <a:cs typeface="Arial"/>
              </a:rPr>
              <a:t>(on </a:t>
            </a:r>
            <a:r>
              <a:rPr sz="1950" spc="120" dirty="0">
                <a:solidFill>
                  <a:srgbClr val="231F20"/>
                </a:solidFill>
                <a:latin typeface="Arial"/>
                <a:cs typeface="Arial"/>
              </a:rPr>
              <a:t>multiprocessors </a:t>
            </a:r>
            <a:r>
              <a:rPr sz="1950" spc="215" dirty="0">
                <a:solidFill>
                  <a:srgbClr val="231F20"/>
                </a:solidFill>
                <a:latin typeface="Arial"/>
                <a:cs typeface="Arial"/>
              </a:rPr>
              <a:t>with </a:t>
            </a:r>
            <a:r>
              <a:rPr sz="1950" spc="95" dirty="0">
                <a:solidFill>
                  <a:srgbClr val="231F20"/>
                </a:solidFill>
                <a:latin typeface="Arial"/>
                <a:cs typeface="Arial"/>
              </a:rPr>
              <a:t>relaxed  </a:t>
            </a:r>
            <a:r>
              <a:rPr sz="1950" spc="165" dirty="0">
                <a:solidFill>
                  <a:srgbClr val="231F20"/>
                </a:solidFill>
                <a:latin typeface="Arial"/>
                <a:cs typeface="Arial"/>
              </a:rPr>
              <a:t>memory </a:t>
            </a:r>
            <a:r>
              <a:rPr sz="1950" spc="130" dirty="0">
                <a:solidFill>
                  <a:srgbClr val="231F20"/>
                </a:solidFill>
                <a:latin typeface="Arial"/>
                <a:cs typeface="Arial"/>
              </a:rPr>
              <a:t>models, </a:t>
            </a:r>
            <a:r>
              <a:rPr sz="1950" spc="80" dirty="0">
                <a:solidFill>
                  <a:srgbClr val="231F20"/>
                </a:solidFill>
                <a:latin typeface="Arial"/>
                <a:cs typeface="Arial"/>
              </a:rPr>
              <a:t>reads </a:t>
            </a:r>
            <a:r>
              <a:rPr sz="1950" spc="130" dirty="0">
                <a:solidFill>
                  <a:srgbClr val="231F20"/>
                </a:solidFill>
                <a:latin typeface="Arial"/>
                <a:cs typeface="Arial"/>
              </a:rPr>
              <a:t>and </a:t>
            </a:r>
            <a:r>
              <a:rPr sz="1950" spc="145" dirty="0">
                <a:solidFill>
                  <a:srgbClr val="231F20"/>
                </a:solidFill>
                <a:latin typeface="Arial"/>
                <a:cs typeface="Arial"/>
              </a:rPr>
              <a:t>writes </a:t>
            </a:r>
            <a:r>
              <a:rPr sz="1950" spc="210" dirty="0">
                <a:solidFill>
                  <a:srgbClr val="231F20"/>
                </a:solidFill>
                <a:latin typeface="Arial"/>
                <a:cs typeface="Arial"/>
              </a:rPr>
              <a:t>from </a:t>
            </a:r>
            <a:r>
              <a:rPr sz="1950" spc="145" dirty="0">
                <a:solidFill>
                  <a:srgbClr val="231F20"/>
                </a:solidFill>
                <a:latin typeface="Arial"/>
                <a:cs typeface="Arial"/>
              </a:rPr>
              <a:t>different </a:t>
            </a:r>
            <a:r>
              <a:rPr sz="1950" spc="75" dirty="0">
                <a:solidFill>
                  <a:srgbClr val="231F20"/>
                </a:solidFill>
                <a:latin typeface="Arial"/>
                <a:cs typeface="Arial"/>
              </a:rPr>
              <a:t>processors  </a:t>
            </a:r>
            <a:r>
              <a:rPr sz="1950" spc="145" dirty="0">
                <a:solidFill>
                  <a:srgbClr val="231F20"/>
                </a:solidFill>
                <a:latin typeface="Arial"/>
                <a:cs typeface="Arial"/>
              </a:rPr>
              <a:t>may </a:t>
            </a:r>
            <a:r>
              <a:rPr sz="1950" spc="114" dirty="0">
                <a:solidFill>
                  <a:srgbClr val="231F20"/>
                </a:solidFill>
                <a:latin typeface="Arial"/>
                <a:cs typeface="Arial"/>
              </a:rPr>
              <a:t>be</a:t>
            </a:r>
            <a:r>
              <a:rPr sz="1950" spc="355" dirty="0">
                <a:solidFill>
                  <a:srgbClr val="231F20"/>
                </a:solidFill>
                <a:latin typeface="Arial"/>
                <a:cs typeface="Arial"/>
              </a:rPr>
              <a:t> </a:t>
            </a:r>
            <a:r>
              <a:rPr sz="1950" spc="125" dirty="0">
                <a:solidFill>
                  <a:srgbClr val="231F20"/>
                </a:solidFill>
                <a:latin typeface="Arial"/>
                <a:cs typeface="Arial"/>
              </a:rPr>
              <a:t>reordered)</a:t>
            </a:r>
            <a:endParaRPr sz="1950">
              <a:latin typeface="Arial"/>
              <a:cs typeface="Arial"/>
            </a:endParaRPr>
          </a:p>
          <a:p>
            <a:pPr marL="300990" indent="-288290">
              <a:lnSpc>
                <a:spcPct val="100000"/>
              </a:lnSpc>
              <a:spcBef>
                <a:spcPts val="1000"/>
              </a:spcBef>
              <a:buSzPct val="105128"/>
              <a:buFont typeface="Lucida Sans Unicode"/>
              <a:buChar char="•"/>
              <a:tabLst>
                <a:tab pos="301625" algn="l"/>
              </a:tabLst>
            </a:pPr>
            <a:r>
              <a:rPr sz="1950" spc="200" dirty="0">
                <a:solidFill>
                  <a:srgbClr val="231F20"/>
                </a:solidFill>
                <a:latin typeface="Arial"/>
                <a:cs typeface="Arial"/>
              </a:rPr>
              <a:t>And </a:t>
            </a:r>
            <a:r>
              <a:rPr sz="1950" spc="250" dirty="0">
                <a:solidFill>
                  <a:srgbClr val="231F20"/>
                </a:solidFill>
                <a:latin typeface="Arial"/>
                <a:cs typeface="Arial"/>
              </a:rPr>
              <a:t>to </a:t>
            </a:r>
            <a:r>
              <a:rPr sz="1950" spc="120" dirty="0">
                <a:solidFill>
                  <a:srgbClr val="231F20"/>
                </a:solidFill>
                <a:latin typeface="Arial"/>
                <a:cs typeface="Arial"/>
              </a:rPr>
              <a:t>any </a:t>
            </a:r>
            <a:r>
              <a:rPr sz="1950" spc="145" dirty="0">
                <a:solidFill>
                  <a:srgbClr val="0000FF"/>
                </a:solidFill>
                <a:latin typeface="Arial"/>
                <a:cs typeface="Arial"/>
              </a:rPr>
              <a:t>faults </a:t>
            </a:r>
            <a:r>
              <a:rPr sz="1950" spc="175" dirty="0">
                <a:solidFill>
                  <a:srgbClr val="231F20"/>
                </a:solidFill>
                <a:latin typeface="Arial"/>
                <a:cs typeface="Arial"/>
              </a:rPr>
              <a:t>the </a:t>
            </a:r>
            <a:r>
              <a:rPr sz="1950" spc="165" dirty="0">
                <a:solidFill>
                  <a:srgbClr val="231F20"/>
                </a:solidFill>
                <a:latin typeface="Arial"/>
                <a:cs typeface="Arial"/>
              </a:rPr>
              <a:t>memory </a:t>
            </a:r>
            <a:r>
              <a:rPr sz="1950" spc="145" dirty="0">
                <a:solidFill>
                  <a:srgbClr val="231F20"/>
                </a:solidFill>
                <a:latin typeface="Arial"/>
                <a:cs typeface="Arial"/>
              </a:rPr>
              <a:t>may </a:t>
            </a:r>
            <a:r>
              <a:rPr sz="1950" spc="220" dirty="0">
                <a:solidFill>
                  <a:srgbClr val="231F20"/>
                </a:solidFill>
                <a:latin typeface="Arial"/>
                <a:cs typeface="Arial"/>
              </a:rPr>
              <a:t> </a:t>
            </a:r>
            <a:r>
              <a:rPr sz="1950" spc="145" dirty="0">
                <a:solidFill>
                  <a:srgbClr val="231F20"/>
                </a:solidFill>
                <a:latin typeface="Arial"/>
                <a:cs typeface="Arial"/>
              </a:rPr>
              <a:t>exhibit</a:t>
            </a:r>
            <a:endParaRPr sz="1950">
              <a:latin typeface="Arial"/>
              <a:cs typeface="Arial"/>
            </a:endParaRPr>
          </a:p>
          <a:p>
            <a:pPr marL="300990" marR="245745" indent="-288290">
              <a:lnSpc>
                <a:spcPct val="125000"/>
              </a:lnSpc>
              <a:spcBef>
                <a:spcPts val="409"/>
              </a:spcBef>
              <a:buSzPct val="105128"/>
              <a:buFont typeface="Lucida Sans Unicode"/>
              <a:buChar char="•"/>
              <a:tabLst>
                <a:tab pos="301625" algn="l"/>
              </a:tabLst>
            </a:pPr>
            <a:r>
              <a:rPr sz="1950" spc="150" dirty="0">
                <a:solidFill>
                  <a:srgbClr val="231F20"/>
                </a:solidFill>
                <a:latin typeface="Arial"/>
                <a:cs typeface="Arial"/>
              </a:rPr>
              <a:t>If </a:t>
            </a:r>
            <a:r>
              <a:rPr sz="1950" spc="95" dirty="0">
                <a:solidFill>
                  <a:srgbClr val="231F20"/>
                </a:solidFill>
                <a:latin typeface="Arial"/>
                <a:cs typeface="Arial"/>
              </a:rPr>
              <a:t>we </a:t>
            </a:r>
            <a:r>
              <a:rPr sz="1950" spc="120" dirty="0">
                <a:solidFill>
                  <a:srgbClr val="231F20"/>
                </a:solidFill>
                <a:latin typeface="Arial"/>
                <a:cs typeface="Arial"/>
              </a:rPr>
              <a:t>wish </a:t>
            </a:r>
            <a:r>
              <a:rPr sz="1950" spc="250" dirty="0">
                <a:solidFill>
                  <a:srgbClr val="231F20"/>
                </a:solidFill>
                <a:latin typeface="Arial"/>
                <a:cs typeface="Arial"/>
              </a:rPr>
              <a:t>to </a:t>
            </a:r>
            <a:r>
              <a:rPr sz="1950" spc="114" dirty="0">
                <a:solidFill>
                  <a:srgbClr val="231F20"/>
                </a:solidFill>
                <a:latin typeface="Arial"/>
                <a:cs typeface="Arial"/>
              </a:rPr>
              <a:t>examine </a:t>
            </a:r>
            <a:r>
              <a:rPr sz="1950" spc="175" dirty="0">
                <a:solidFill>
                  <a:srgbClr val="231F20"/>
                </a:solidFill>
                <a:latin typeface="Arial"/>
                <a:cs typeface="Arial"/>
              </a:rPr>
              <a:t>the </a:t>
            </a:r>
            <a:r>
              <a:rPr sz="1950" spc="195" dirty="0">
                <a:solidFill>
                  <a:srgbClr val="231F20"/>
                </a:solidFill>
                <a:latin typeface="Arial"/>
                <a:cs typeface="Arial"/>
              </a:rPr>
              <a:t>mutual </a:t>
            </a:r>
            <a:r>
              <a:rPr sz="1950" spc="100" dirty="0">
                <a:solidFill>
                  <a:srgbClr val="231F20"/>
                </a:solidFill>
                <a:latin typeface="Arial"/>
                <a:cs typeface="Arial"/>
              </a:rPr>
              <a:t>exclusion </a:t>
            </a:r>
            <a:r>
              <a:rPr sz="1950" spc="150" dirty="0">
                <a:solidFill>
                  <a:srgbClr val="231F20"/>
                </a:solidFill>
                <a:latin typeface="Arial"/>
                <a:cs typeface="Arial"/>
              </a:rPr>
              <a:t>property </a:t>
            </a:r>
            <a:r>
              <a:rPr sz="1950" spc="185" dirty="0">
                <a:solidFill>
                  <a:srgbClr val="231F20"/>
                </a:solidFill>
                <a:latin typeface="Arial"/>
                <a:cs typeface="Arial"/>
              </a:rPr>
              <a:t>of </a:t>
            </a:r>
            <a:r>
              <a:rPr sz="1950" spc="85" dirty="0">
                <a:solidFill>
                  <a:srgbClr val="231F20"/>
                </a:solidFill>
                <a:latin typeface="Arial"/>
                <a:cs typeface="Arial"/>
              </a:rPr>
              <a:t>a </a:t>
            </a:r>
            <a:r>
              <a:rPr sz="1950" spc="710" dirty="0">
                <a:solidFill>
                  <a:srgbClr val="231F20"/>
                </a:solidFill>
                <a:latin typeface="Arial"/>
                <a:cs typeface="Arial"/>
              </a:rPr>
              <a:t> </a:t>
            </a:r>
            <a:r>
              <a:rPr sz="1950" spc="135" dirty="0">
                <a:solidFill>
                  <a:srgbClr val="231F20"/>
                </a:solidFill>
                <a:latin typeface="Arial"/>
                <a:cs typeface="Arial"/>
              </a:rPr>
              <a:t>particular </a:t>
            </a:r>
            <a:r>
              <a:rPr sz="1950" spc="170" dirty="0">
                <a:solidFill>
                  <a:srgbClr val="231F20"/>
                </a:solidFill>
                <a:latin typeface="Arial"/>
                <a:cs typeface="Arial"/>
              </a:rPr>
              <a:t>implementation </a:t>
            </a:r>
            <a:r>
              <a:rPr sz="1950" spc="185" dirty="0">
                <a:solidFill>
                  <a:srgbClr val="231F20"/>
                </a:solidFill>
                <a:latin typeface="Arial"/>
                <a:cs typeface="Arial"/>
              </a:rPr>
              <a:t>of </a:t>
            </a:r>
            <a:r>
              <a:rPr sz="1950" spc="175" dirty="0">
                <a:solidFill>
                  <a:srgbClr val="231F20"/>
                </a:solidFill>
                <a:latin typeface="Arial"/>
                <a:cs typeface="Arial"/>
              </a:rPr>
              <a:t>the </a:t>
            </a:r>
            <a:r>
              <a:rPr sz="1950" spc="165" dirty="0">
                <a:solidFill>
                  <a:srgbClr val="231F20"/>
                </a:solidFill>
                <a:latin typeface="Arial"/>
                <a:cs typeface="Arial"/>
              </a:rPr>
              <a:t>protocol, </a:t>
            </a:r>
            <a:r>
              <a:rPr sz="1950" spc="95" dirty="0">
                <a:solidFill>
                  <a:srgbClr val="231F20"/>
                </a:solidFill>
                <a:latin typeface="Arial"/>
                <a:cs typeface="Arial"/>
              </a:rPr>
              <a:t>we </a:t>
            </a:r>
            <a:r>
              <a:rPr sz="1950" spc="145" dirty="0">
                <a:solidFill>
                  <a:srgbClr val="231F20"/>
                </a:solidFill>
                <a:latin typeface="Arial"/>
                <a:cs typeface="Arial"/>
              </a:rPr>
              <a:t>will </a:t>
            </a:r>
            <a:r>
              <a:rPr sz="1950" spc="80" dirty="0">
                <a:solidFill>
                  <a:srgbClr val="231F20"/>
                </a:solidFill>
                <a:latin typeface="Arial"/>
                <a:cs typeface="Arial"/>
              </a:rPr>
              <a:t>need </a:t>
            </a:r>
            <a:r>
              <a:rPr sz="1950" spc="250" dirty="0">
                <a:solidFill>
                  <a:srgbClr val="231F20"/>
                </a:solidFill>
                <a:latin typeface="Arial"/>
                <a:cs typeface="Arial"/>
              </a:rPr>
              <a:t>to  </a:t>
            </a:r>
            <a:r>
              <a:rPr sz="1950" spc="105" dirty="0">
                <a:solidFill>
                  <a:srgbClr val="231F20"/>
                </a:solidFill>
                <a:latin typeface="Arial"/>
                <a:cs typeface="Arial"/>
              </a:rPr>
              <a:t>represent </a:t>
            </a:r>
            <a:r>
              <a:rPr sz="1950" spc="175" dirty="0">
                <a:solidFill>
                  <a:srgbClr val="231F20"/>
                </a:solidFill>
                <a:latin typeface="Arial"/>
                <a:cs typeface="Arial"/>
              </a:rPr>
              <a:t>the </a:t>
            </a:r>
            <a:r>
              <a:rPr sz="1950" spc="165" dirty="0">
                <a:solidFill>
                  <a:srgbClr val="231F20"/>
                </a:solidFill>
                <a:latin typeface="Arial"/>
                <a:cs typeface="Arial"/>
              </a:rPr>
              <a:t>memory </a:t>
            </a:r>
            <a:r>
              <a:rPr sz="1950" spc="155" dirty="0">
                <a:solidFill>
                  <a:srgbClr val="231F20"/>
                </a:solidFill>
                <a:latin typeface="Arial"/>
                <a:cs typeface="Arial"/>
              </a:rPr>
              <a:t>model, </a:t>
            </a:r>
            <a:r>
              <a:rPr sz="1950" spc="180" dirty="0">
                <a:solidFill>
                  <a:srgbClr val="231F20"/>
                </a:solidFill>
                <a:latin typeface="Arial"/>
                <a:cs typeface="Arial"/>
              </a:rPr>
              <a:t>fault </a:t>
            </a:r>
            <a:r>
              <a:rPr sz="1950" spc="155" dirty="0">
                <a:solidFill>
                  <a:srgbClr val="231F20"/>
                </a:solidFill>
                <a:latin typeface="Arial"/>
                <a:cs typeface="Arial"/>
              </a:rPr>
              <a:t>model, </a:t>
            </a:r>
            <a:r>
              <a:rPr sz="1950" spc="130" dirty="0">
                <a:solidFill>
                  <a:srgbClr val="231F20"/>
                </a:solidFill>
                <a:latin typeface="Arial"/>
                <a:cs typeface="Arial"/>
              </a:rPr>
              <a:t>and </a:t>
            </a:r>
            <a:r>
              <a:rPr sz="1950" spc="180" dirty="0">
                <a:solidFill>
                  <a:srgbClr val="231F20"/>
                </a:solidFill>
                <a:latin typeface="Arial"/>
                <a:cs typeface="Arial"/>
              </a:rPr>
              <a:t>atomicity  </a:t>
            </a:r>
            <a:r>
              <a:rPr sz="1950" spc="155" dirty="0">
                <a:solidFill>
                  <a:srgbClr val="231F20"/>
                </a:solidFill>
                <a:latin typeface="Arial"/>
                <a:cs typeface="Arial"/>
              </a:rPr>
              <a:t>employed—which </a:t>
            </a:r>
            <a:r>
              <a:rPr sz="1950" spc="145" dirty="0">
                <a:solidFill>
                  <a:srgbClr val="231F20"/>
                </a:solidFill>
                <a:latin typeface="Arial"/>
                <a:cs typeface="Arial"/>
              </a:rPr>
              <a:t>will </a:t>
            </a:r>
            <a:r>
              <a:rPr sz="1950" spc="114" dirty="0">
                <a:solidFill>
                  <a:srgbClr val="231F20"/>
                </a:solidFill>
                <a:latin typeface="Arial"/>
                <a:cs typeface="Arial"/>
              </a:rPr>
              <a:t>be </a:t>
            </a:r>
            <a:r>
              <a:rPr sz="1950" spc="155" dirty="0">
                <a:solidFill>
                  <a:srgbClr val="231F20"/>
                </a:solidFill>
                <a:latin typeface="Arial"/>
                <a:cs typeface="Arial"/>
              </a:rPr>
              <a:t>quite</a:t>
            </a:r>
            <a:r>
              <a:rPr sz="1950" spc="715" dirty="0">
                <a:solidFill>
                  <a:srgbClr val="231F20"/>
                </a:solidFill>
                <a:latin typeface="Arial"/>
                <a:cs typeface="Arial"/>
              </a:rPr>
              <a:t> </a:t>
            </a:r>
            <a:r>
              <a:rPr sz="1950" spc="120" dirty="0">
                <a:solidFill>
                  <a:srgbClr val="231F20"/>
                </a:solidFill>
                <a:latin typeface="Arial"/>
                <a:cs typeface="Arial"/>
              </a:rPr>
              <a:t>challenging</a:t>
            </a:r>
            <a:endParaRPr sz="1950">
              <a:latin typeface="Arial"/>
              <a:cs typeface="Arial"/>
            </a:endParaRPr>
          </a:p>
          <a:p>
            <a:pPr marL="300990" marR="713105" indent="-288290">
              <a:lnSpc>
                <a:spcPct val="125000"/>
              </a:lnSpc>
              <a:spcBef>
                <a:spcPts val="409"/>
              </a:spcBef>
              <a:buSzPct val="105128"/>
              <a:buFont typeface="Lucida Sans Unicode"/>
              <a:buChar char="•"/>
              <a:tabLst>
                <a:tab pos="301625" algn="l"/>
              </a:tabLst>
            </a:pPr>
            <a:r>
              <a:rPr sz="1950" spc="175" dirty="0">
                <a:solidFill>
                  <a:srgbClr val="231F20"/>
                </a:solidFill>
                <a:latin typeface="Arial"/>
                <a:cs typeface="Arial"/>
              </a:rPr>
              <a:t>Abstractly </a:t>
            </a:r>
            <a:r>
              <a:rPr sz="1950" spc="190" dirty="0">
                <a:solidFill>
                  <a:srgbClr val="231F20"/>
                </a:solidFill>
                <a:latin typeface="Arial"/>
                <a:cs typeface="Arial"/>
              </a:rPr>
              <a:t>(or </a:t>
            </a:r>
            <a:r>
              <a:rPr sz="1950" spc="215" dirty="0">
                <a:solidFill>
                  <a:srgbClr val="231F20"/>
                </a:solidFill>
                <a:latin typeface="Arial"/>
                <a:cs typeface="Arial"/>
              </a:rPr>
              <a:t>at </a:t>
            </a:r>
            <a:r>
              <a:rPr sz="1950" spc="180" dirty="0">
                <a:solidFill>
                  <a:srgbClr val="231F20"/>
                </a:solidFill>
                <a:latin typeface="Arial"/>
                <a:cs typeface="Arial"/>
              </a:rPr>
              <a:t>first), </a:t>
            </a:r>
            <a:r>
              <a:rPr sz="1950" spc="95" dirty="0">
                <a:solidFill>
                  <a:srgbClr val="231F20"/>
                </a:solidFill>
                <a:latin typeface="Arial"/>
                <a:cs typeface="Arial"/>
              </a:rPr>
              <a:t>we </a:t>
            </a:r>
            <a:r>
              <a:rPr sz="1950" spc="145" dirty="0">
                <a:solidFill>
                  <a:srgbClr val="231F20"/>
                </a:solidFill>
                <a:latin typeface="Arial"/>
                <a:cs typeface="Arial"/>
              </a:rPr>
              <a:t>may </a:t>
            </a:r>
            <a:r>
              <a:rPr sz="1950" spc="110" dirty="0">
                <a:solidFill>
                  <a:srgbClr val="231F20"/>
                </a:solidFill>
                <a:latin typeface="Arial"/>
                <a:cs typeface="Arial"/>
              </a:rPr>
              <a:t>prefer </a:t>
            </a:r>
            <a:r>
              <a:rPr sz="1950" spc="250" dirty="0">
                <a:solidFill>
                  <a:srgbClr val="231F20"/>
                </a:solidFill>
                <a:latin typeface="Arial"/>
                <a:cs typeface="Arial"/>
              </a:rPr>
              <a:t>to </a:t>
            </a:r>
            <a:r>
              <a:rPr sz="1950" spc="135" dirty="0">
                <a:solidFill>
                  <a:srgbClr val="231F20"/>
                </a:solidFill>
                <a:latin typeface="Arial"/>
                <a:cs typeface="Arial"/>
              </a:rPr>
              <a:t>focus </a:t>
            </a:r>
            <a:r>
              <a:rPr sz="1950" spc="155" dirty="0">
                <a:solidFill>
                  <a:srgbClr val="231F20"/>
                </a:solidFill>
                <a:latin typeface="Arial"/>
                <a:cs typeface="Arial"/>
              </a:rPr>
              <a:t>on </a:t>
            </a:r>
            <a:r>
              <a:rPr sz="1950" spc="175" dirty="0">
                <a:solidFill>
                  <a:srgbClr val="231F20"/>
                </a:solidFill>
                <a:latin typeface="Arial"/>
                <a:cs typeface="Arial"/>
              </a:rPr>
              <a:t>the  </a:t>
            </a:r>
            <a:r>
              <a:rPr sz="1950" spc="120" dirty="0">
                <a:solidFill>
                  <a:srgbClr val="231F20"/>
                </a:solidFill>
                <a:latin typeface="Arial"/>
                <a:cs typeface="Arial"/>
              </a:rPr>
              <a:t>behavior </a:t>
            </a:r>
            <a:r>
              <a:rPr sz="1950" spc="185" dirty="0">
                <a:solidFill>
                  <a:srgbClr val="231F20"/>
                </a:solidFill>
                <a:latin typeface="Arial"/>
                <a:cs typeface="Arial"/>
              </a:rPr>
              <a:t>of </a:t>
            </a:r>
            <a:r>
              <a:rPr sz="1950" spc="175" dirty="0">
                <a:solidFill>
                  <a:srgbClr val="231F20"/>
                </a:solidFill>
                <a:latin typeface="Arial"/>
                <a:cs typeface="Arial"/>
              </a:rPr>
              <a:t>the </a:t>
            </a:r>
            <a:r>
              <a:rPr sz="1950" spc="170" dirty="0">
                <a:solidFill>
                  <a:srgbClr val="231F20"/>
                </a:solidFill>
                <a:latin typeface="Arial"/>
                <a:cs typeface="Arial"/>
              </a:rPr>
              <a:t>protocol </a:t>
            </a:r>
            <a:r>
              <a:rPr sz="1950" spc="130" dirty="0">
                <a:solidFill>
                  <a:srgbClr val="231F20"/>
                </a:solidFill>
                <a:latin typeface="Arial"/>
                <a:cs typeface="Arial"/>
              </a:rPr>
              <a:t>in </a:t>
            </a:r>
            <a:r>
              <a:rPr sz="1950" spc="120" dirty="0">
                <a:solidFill>
                  <a:srgbClr val="231F20"/>
                </a:solidFill>
                <a:latin typeface="Arial"/>
                <a:cs typeface="Arial"/>
              </a:rPr>
              <a:t>an </a:t>
            </a:r>
            <a:r>
              <a:rPr sz="1950" spc="95" dirty="0">
                <a:solidFill>
                  <a:srgbClr val="0000FF"/>
                </a:solidFill>
                <a:latin typeface="Arial"/>
                <a:cs typeface="Arial"/>
              </a:rPr>
              <a:t>ideal </a:t>
            </a:r>
            <a:r>
              <a:rPr sz="1950" spc="155" dirty="0">
                <a:solidFill>
                  <a:srgbClr val="231F20"/>
                </a:solidFill>
                <a:latin typeface="Arial"/>
                <a:cs typeface="Arial"/>
              </a:rPr>
              <a:t>environment </a:t>
            </a:r>
            <a:r>
              <a:rPr sz="1950" spc="215" dirty="0">
                <a:solidFill>
                  <a:srgbClr val="231F20"/>
                </a:solidFill>
                <a:latin typeface="Arial"/>
                <a:cs typeface="Arial"/>
              </a:rPr>
              <a:t>with  </a:t>
            </a:r>
            <a:r>
              <a:rPr sz="1950" spc="150" dirty="0">
                <a:solidFill>
                  <a:srgbClr val="FF0000"/>
                </a:solidFill>
                <a:latin typeface="Arial"/>
                <a:cs typeface="Arial"/>
              </a:rPr>
              <a:t>fault-free </a:t>
            </a:r>
            <a:r>
              <a:rPr sz="1950" spc="110" dirty="0">
                <a:solidFill>
                  <a:srgbClr val="FF0000"/>
                </a:solidFill>
                <a:latin typeface="Arial"/>
                <a:cs typeface="Arial"/>
              </a:rPr>
              <a:t>sequentially </a:t>
            </a:r>
            <a:r>
              <a:rPr sz="1950" spc="135" dirty="0">
                <a:solidFill>
                  <a:srgbClr val="FF0000"/>
                </a:solidFill>
                <a:latin typeface="Arial"/>
                <a:cs typeface="Arial"/>
              </a:rPr>
              <a:t>consistent </a:t>
            </a:r>
            <a:r>
              <a:rPr sz="1950" spc="185" dirty="0">
                <a:solidFill>
                  <a:srgbClr val="FF0000"/>
                </a:solidFill>
                <a:latin typeface="Arial"/>
                <a:cs typeface="Arial"/>
              </a:rPr>
              <a:t>atomic</a:t>
            </a:r>
            <a:r>
              <a:rPr sz="1950" spc="765" dirty="0">
                <a:solidFill>
                  <a:srgbClr val="FF0000"/>
                </a:solidFill>
                <a:latin typeface="Arial"/>
                <a:cs typeface="Arial"/>
              </a:rPr>
              <a:t> </a:t>
            </a:r>
            <a:r>
              <a:rPr sz="1950" spc="165" dirty="0">
                <a:solidFill>
                  <a:srgbClr val="FF0000"/>
                </a:solidFill>
                <a:latin typeface="Arial"/>
                <a:cs typeface="Arial"/>
              </a:rPr>
              <a:t>memory</a:t>
            </a:r>
            <a:endParaRPr sz="1950">
              <a:latin typeface="Arial"/>
              <a:cs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72465" y="1517827"/>
            <a:ext cx="7916545" cy="314960"/>
          </a:xfrm>
          <a:prstGeom prst="rect">
            <a:avLst/>
          </a:prstGeom>
        </p:spPr>
        <p:txBody>
          <a:bodyPr vert="horz" wrap="square" lIns="0" tIns="0" rIns="0" bIns="0" rtlCol="0">
            <a:spAutoFit/>
          </a:bodyPr>
          <a:lstStyle/>
          <a:p>
            <a:pPr marL="12700">
              <a:lnSpc>
                <a:spcPct val="100000"/>
              </a:lnSpc>
            </a:pPr>
            <a:r>
              <a:rPr sz="1950" spc="275" dirty="0">
                <a:solidFill>
                  <a:srgbClr val="231F20"/>
                </a:solidFill>
                <a:latin typeface="Arial"/>
                <a:cs typeface="Arial"/>
              </a:rPr>
              <a:t>Modeling </a:t>
            </a:r>
            <a:r>
              <a:rPr sz="1950" spc="285" dirty="0">
                <a:solidFill>
                  <a:srgbClr val="231F20"/>
                </a:solidFill>
                <a:latin typeface="Arial"/>
                <a:cs typeface="Arial"/>
              </a:rPr>
              <a:t>the </a:t>
            </a:r>
            <a:r>
              <a:rPr sz="1950" spc="265" dirty="0">
                <a:solidFill>
                  <a:srgbClr val="231F20"/>
                </a:solidFill>
                <a:latin typeface="Arial"/>
                <a:cs typeface="Arial"/>
              </a:rPr>
              <a:t>Example </a:t>
            </a:r>
            <a:r>
              <a:rPr sz="1950" spc="260" dirty="0">
                <a:solidFill>
                  <a:srgbClr val="231F20"/>
                </a:solidFill>
                <a:latin typeface="Arial"/>
                <a:cs typeface="Arial"/>
              </a:rPr>
              <a:t>System </a:t>
            </a:r>
            <a:r>
              <a:rPr sz="1950" spc="240" dirty="0">
                <a:solidFill>
                  <a:srgbClr val="231F20"/>
                </a:solidFill>
                <a:latin typeface="Arial"/>
                <a:cs typeface="Arial"/>
              </a:rPr>
              <a:t>and </a:t>
            </a:r>
            <a:r>
              <a:rPr sz="1950" spc="220" dirty="0">
                <a:solidFill>
                  <a:srgbClr val="231F20"/>
                </a:solidFill>
                <a:latin typeface="Arial"/>
                <a:cs typeface="Arial"/>
              </a:rPr>
              <a:t>its </a:t>
            </a:r>
            <a:r>
              <a:rPr sz="1950" spc="250" dirty="0">
                <a:solidFill>
                  <a:srgbClr val="231F20"/>
                </a:solidFill>
                <a:latin typeface="Arial"/>
                <a:cs typeface="Arial"/>
              </a:rPr>
              <a:t>Properties</a:t>
            </a:r>
            <a:r>
              <a:rPr sz="1950" spc="1015" dirty="0">
                <a:solidFill>
                  <a:srgbClr val="231F20"/>
                </a:solidFill>
                <a:latin typeface="Arial"/>
                <a:cs typeface="Arial"/>
              </a:rPr>
              <a:t> </a:t>
            </a:r>
            <a:r>
              <a:rPr sz="1950" spc="330" dirty="0">
                <a:solidFill>
                  <a:srgbClr val="231F20"/>
                </a:solidFill>
                <a:latin typeface="Arial"/>
                <a:cs typeface="Arial"/>
              </a:rPr>
              <a:t>(ctd.)</a:t>
            </a:r>
            <a:endParaRPr sz="1950">
              <a:latin typeface="Arial"/>
              <a:cs typeface="Arial"/>
            </a:endParaRPr>
          </a:p>
        </p:txBody>
      </p:sp>
      <p:sp>
        <p:nvSpPr>
          <p:cNvPr id="3" name="object 3"/>
          <p:cNvSpPr txBox="1">
            <a:spLocks noGrp="1"/>
          </p:cNvSpPr>
          <p:nvPr>
            <p:ph type="title"/>
          </p:nvPr>
        </p:nvSpPr>
        <p:spPr>
          <a:xfrm>
            <a:off x="896440" y="1988205"/>
            <a:ext cx="7793355" cy="769620"/>
          </a:xfrm>
          <a:prstGeom prst="rect">
            <a:avLst/>
          </a:prstGeom>
        </p:spPr>
        <p:txBody>
          <a:bodyPr vert="horz" wrap="square" lIns="0" tIns="0" rIns="0" bIns="0" rtlCol="0">
            <a:spAutoFit/>
          </a:bodyPr>
          <a:lstStyle/>
          <a:p>
            <a:pPr marL="300990" marR="5080" indent="-288290">
              <a:lnSpc>
                <a:spcPct val="118900"/>
              </a:lnSpc>
              <a:buSzPct val="105128"/>
              <a:buFont typeface="Lucida Sans Unicode"/>
              <a:buChar char="•"/>
              <a:tabLst>
                <a:tab pos="301625" algn="l"/>
              </a:tabLst>
            </a:pPr>
            <a:r>
              <a:rPr sz="1950" spc="135" dirty="0">
                <a:solidFill>
                  <a:srgbClr val="231F20"/>
                </a:solidFill>
                <a:latin typeface="Arial"/>
                <a:cs typeface="Arial"/>
              </a:rPr>
              <a:t>Also, </a:t>
            </a:r>
            <a:r>
              <a:rPr sz="1950" spc="165" dirty="0">
                <a:solidFill>
                  <a:srgbClr val="231F20"/>
                </a:solidFill>
                <a:latin typeface="Arial"/>
                <a:cs typeface="Arial"/>
              </a:rPr>
              <a:t>although </a:t>
            </a:r>
            <a:r>
              <a:rPr sz="1950" spc="175" dirty="0">
                <a:solidFill>
                  <a:srgbClr val="231F20"/>
                </a:solidFill>
                <a:latin typeface="Arial"/>
                <a:cs typeface="Arial"/>
              </a:rPr>
              <a:t>the </a:t>
            </a:r>
            <a:r>
              <a:rPr sz="1950" spc="170" dirty="0">
                <a:solidFill>
                  <a:srgbClr val="231F20"/>
                </a:solidFill>
                <a:latin typeface="Arial"/>
                <a:cs typeface="Arial"/>
              </a:rPr>
              <a:t>protocol </a:t>
            </a:r>
            <a:r>
              <a:rPr sz="1950" spc="40" dirty="0">
                <a:solidFill>
                  <a:srgbClr val="231F20"/>
                </a:solidFill>
                <a:latin typeface="Arial"/>
                <a:cs typeface="Arial"/>
              </a:rPr>
              <a:t>is </a:t>
            </a:r>
            <a:r>
              <a:rPr sz="1950" spc="120" dirty="0">
                <a:solidFill>
                  <a:srgbClr val="231F20"/>
                </a:solidFill>
                <a:latin typeface="Arial"/>
                <a:cs typeface="Arial"/>
              </a:rPr>
              <a:t>suitable </a:t>
            </a:r>
            <a:r>
              <a:rPr sz="1950" spc="155" dirty="0">
                <a:solidFill>
                  <a:srgbClr val="231F20"/>
                </a:solidFill>
                <a:latin typeface="Arial"/>
                <a:cs typeface="Arial"/>
              </a:rPr>
              <a:t>for </a:t>
            </a:r>
            <a:r>
              <a:rPr i="1" spc="-30" dirty="0">
                <a:solidFill>
                  <a:srgbClr val="231F20"/>
                </a:solidFill>
                <a:latin typeface="Meiryo"/>
                <a:cs typeface="Meiryo"/>
              </a:rPr>
              <a:t>n </a:t>
            </a:r>
            <a:r>
              <a:rPr sz="1950" spc="70" dirty="0">
                <a:solidFill>
                  <a:srgbClr val="231F20"/>
                </a:solidFill>
                <a:latin typeface="Arial"/>
                <a:cs typeface="Arial"/>
              </a:rPr>
              <a:t>processes, </a:t>
            </a:r>
            <a:r>
              <a:rPr sz="1950" spc="95" dirty="0">
                <a:solidFill>
                  <a:srgbClr val="231F20"/>
                </a:solidFill>
                <a:latin typeface="Arial"/>
                <a:cs typeface="Arial"/>
              </a:rPr>
              <a:t>we  </a:t>
            </a:r>
            <a:r>
              <a:rPr sz="1950" spc="145" dirty="0">
                <a:solidFill>
                  <a:srgbClr val="231F20"/>
                </a:solidFill>
                <a:latin typeface="Arial"/>
                <a:cs typeface="Arial"/>
              </a:rPr>
              <a:t>may </a:t>
            </a:r>
            <a:r>
              <a:rPr sz="1950" spc="110" dirty="0">
                <a:solidFill>
                  <a:srgbClr val="231F20"/>
                </a:solidFill>
                <a:latin typeface="Arial"/>
                <a:cs typeface="Arial"/>
              </a:rPr>
              <a:t>prefer </a:t>
            </a:r>
            <a:r>
              <a:rPr sz="1950" spc="250" dirty="0">
                <a:solidFill>
                  <a:srgbClr val="231F20"/>
                </a:solidFill>
                <a:latin typeface="Arial"/>
                <a:cs typeface="Arial"/>
              </a:rPr>
              <a:t>to </a:t>
            </a:r>
            <a:r>
              <a:rPr sz="1950" spc="135" dirty="0">
                <a:solidFill>
                  <a:srgbClr val="231F20"/>
                </a:solidFill>
                <a:latin typeface="Arial"/>
                <a:cs typeface="Arial"/>
              </a:rPr>
              <a:t>focus </a:t>
            </a:r>
            <a:r>
              <a:rPr sz="1950" spc="155" dirty="0">
                <a:solidFill>
                  <a:srgbClr val="231F20"/>
                </a:solidFill>
                <a:latin typeface="Arial"/>
                <a:cs typeface="Arial"/>
              </a:rPr>
              <a:t>on </a:t>
            </a:r>
            <a:r>
              <a:rPr sz="1950" spc="175" dirty="0">
                <a:solidFill>
                  <a:srgbClr val="231F20"/>
                </a:solidFill>
                <a:latin typeface="Arial"/>
                <a:cs typeface="Arial"/>
              </a:rPr>
              <a:t>the </a:t>
            </a:r>
            <a:r>
              <a:rPr sz="1950" spc="200" dirty="0">
                <a:solidFill>
                  <a:srgbClr val="231F20"/>
                </a:solidFill>
                <a:latin typeface="Arial"/>
                <a:cs typeface="Arial"/>
              </a:rPr>
              <a:t>important </a:t>
            </a:r>
            <a:r>
              <a:rPr sz="1950" spc="90" dirty="0">
                <a:solidFill>
                  <a:srgbClr val="231F20"/>
                </a:solidFill>
                <a:latin typeface="Arial"/>
                <a:cs typeface="Arial"/>
              </a:rPr>
              <a:t>special </a:t>
            </a:r>
            <a:r>
              <a:rPr sz="1950" spc="50" dirty="0">
                <a:solidFill>
                  <a:srgbClr val="231F20"/>
                </a:solidFill>
                <a:latin typeface="Arial"/>
                <a:cs typeface="Arial"/>
              </a:rPr>
              <a:t>case </a:t>
            </a:r>
            <a:r>
              <a:rPr i="1" spc="-30" dirty="0">
                <a:latin typeface="Meiryo"/>
                <a:cs typeface="Meiryo"/>
              </a:rPr>
              <a:t>n </a:t>
            </a:r>
            <a:r>
              <a:rPr spc="114" dirty="0">
                <a:latin typeface="Tahoma"/>
                <a:cs typeface="Tahoma"/>
              </a:rPr>
              <a:t>= </a:t>
            </a:r>
            <a:r>
              <a:rPr spc="325" dirty="0">
                <a:latin typeface="Tahoma"/>
                <a:cs typeface="Tahoma"/>
              </a:rPr>
              <a:t> </a:t>
            </a:r>
            <a:r>
              <a:rPr spc="-90" dirty="0">
                <a:latin typeface="Tahoma"/>
                <a:cs typeface="Tahoma"/>
              </a:rPr>
              <a:t>2</a:t>
            </a:r>
            <a:endParaRPr sz="1950">
              <a:latin typeface="Tahoma"/>
              <a:cs typeface="Tahoma"/>
            </a:endParaRPr>
          </a:p>
        </p:txBody>
      </p:sp>
      <p:sp>
        <p:nvSpPr>
          <p:cNvPr id="4" name="object 4"/>
          <p:cNvSpPr txBox="1"/>
          <p:nvPr/>
        </p:nvSpPr>
        <p:spPr>
          <a:xfrm>
            <a:off x="896440" y="2899371"/>
            <a:ext cx="8122920" cy="1569720"/>
          </a:xfrm>
          <a:prstGeom prst="rect">
            <a:avLst/>
          </a:prstGeom>
        </p:spPr>
        <p:txBody>
          <a:bodyPr vert="horz" wrap="square" lIns="0" tIns="0" rIns="0" bIns="0" rtlCol="0">
            <a:spAutoFit/>
          </a:bodyPr>
          <a:lstStyle/>
          <a:p>
            <a:pPr marL="300990" marR="5080" indent="-288290">
              <a:lnSpc>
                <a:spcPct val="125000"/>
              </a:lnSpc>
              <a:buSzPct val="105128"/>
              <a:buFont typeface="Lucida Sans Unicode"/>
              <a:buChar char="•"/>
              <a:tabLst>
                <a:tab pos="301625" algn="l"/>
              </a:tabLst>
            </a:pPr>
            <a:r>
              <a:rPr sz="1950" spc="200" dirty="0">
                <a:solidFill>
                  <a:srgbClr val="231F20"/>
                </a:solidFill>
                <a:latin typeface="Arial"/>
                <a:cs typeface="Arial"/>
              </a:rPr>
              <a:t>And </a:t>
            </a:r>
            <a:r>
              <a:rPr sz="1950" spc="165" dirty="0">
                <a:solidFill>
                  <a:srgbClr val="231F20"/>
                </a:solidFill>
                <a:latin typeface="Arial"/>
                <a:cs typeface="Arial"/>
              </a:rPr>
              <a:t>although </a:t>
            </a:r>
            <a:r>
              <a:rPr sz="1950" spc="90" dirty="0">
                <a:solidFill>
                  <a:srgbClr val="231F20"/>
                </a:solidFill>
                <a:latin typeface="Arial"/>
                <a:cs typeface="Arial"/>
              </a:rPr>
              <a:t>each </a:t>
            </a:r>
            <a:r>
              <a:rPr sz="1950" spc="80" dirty="0">
                <a:solidFill>
                  <a:srgbClr val="231F20"/>
                </a:solidFill>
                <a:latin typeface="Arial"/>
                <a:cs typeface="Arial"/>
              </a:rPr>
              <a:t>process </a:t>
            </a:r>
            <a:r>
              <a:rPr sz="1950" spc="145" dirty="0">
                <a:solidFill>
                  <a:srgbClr val="231F20"/>
                </a:solidFill>
                <a:latin typeface="Arial"/>
                <a:cs typeface="Arial"/>
              </a:rPr>
              <a:t>will </a:t>
            </a:r>
            <a:r>
              <a:rPr sz="1950" spc="165" dirty="0">
                <a:solidFill>
                  <a:srgbClr val="231F20"/>
                </a:solidFill>
                <a:latin typeface="Arial"/>
                <a:cs typeface="Arial"/>
              </a:rPr>
              <a:t>perform </a:t>
            </a:r>
            <a:r>
              <a:rPr sz="1950" spc="135" dirty="0">
                <a:solidFill>
                  <a:srgbClr val="231F20"/>
                </a:solidFill>
                <a:latin typeface="Arial"/>
                <a:cs typeface="Arial"/>
              </a:rPr>
              <a:t>activities </a:t>
            </a:r>
            <a:r>
              <a:rPr sz="1950" spc="170" dirty="0">
                <a:solidFill>
                  <a:srgbClr val="231F20"/>
                </a:solidFill>
                <a:latin typeface="Arial"/>
                <a:cs typeface="Arial"/>
              </a:rPr>
              <a:t>other </a:t>
            </a:r>
            <a:r>
              <a:rPr sz="1950" spc="185" dirty="0">
                <a:solidFill>
                  <a:srgbClr val="231F20"/>
                </a:solidFill>
                <a:latin typeface="Arial"/>
                <a:cs typeface="Arial"/>
              </a:rPr>
              <a:t>than  </a:t>
            </a:r>
            <a:r>
              <a:rPr sz="1950" spc="175" dirty="0">
                <a:solidFill>
                  <a:srgbClr val="231F20"/>
                </a:solidFill>
                <a:latin typeface="Arial"/>
                <a:cs typeface="Arial"/>
              </a:rPr>
              <a:t>the </a:t>
            </a:r>
            <a:r>
              <a:rPr sz="1950" spc="110" dirty="0">
                <a:solidFill>
                  <a:srgbClr val="231F20"/>
                </a:solidFill>
                <a:latin typeface="Arial"/>
                <a:cs typeface="Arial"/>
              </a:rPr>
              <a:t>given </a:t>
            </a:r>
            <a:r>
              <a:rPr sz="1950" spc="165" dirty="0">
                <a:solidFill>
                  <a:srgbClr val="231F20"/>
                </a:solidFill>
                <a:latin typeface="Arial"/>
                <a:cs typeface="Arial"/>
              </a:rPr>
              <a:t>protocol, </a:t>
            </a:r>
            <a:r>
              <a:rPr sz="1950" spc="95" dirty="0">
                <a:solidFill>
                  <a:srgbClr val="231F20"/>
                </a:solidFill>
                <a:latin typeface="Arial"/>
                <a:cs typeface="Arial"/>
              </a:rPr>
              <a:t>we </a:t>
            </a:r>
            <a:r>
              <a:rPr sz="1950" spc="145" dirty="0">
                <a:solidFill>
                  <a:srgbClr val="231F20"/>
                </a:solidFill>
                <a:latin typeface="Arial"/>
                <a:cs typeface="Arial"/>
              </a:rPr>
              <a:t>will </a:t>
            </a:r>
            <a:r>
              <a:rPr sz="1950" spc="160" dirty="0">
                <a:solidFill>
                  <a:srgbClr val="231F20"/>
                </a:solidFill>
                <a:latin typeface="Arial"/>
                <a:cs typeface="Arial"/>
              </a:rPr>
              <a:t>abstract </a:t>
            </a:r>
            <a:r>
              <a:rPr sz="1950" spc="100" dirty="0">
                <a:solidFill>
                  <a:srgbClr val="231F20"/>
                </a:solidFill>
                <a:latin typeface="Arial"/>
                <a:cs typeface="Arial"/>
              </a:rPr>
              <a:t>these </a:t>
            </a:r>
            <a:r>
              <a:rPr sz="1950" spc="114" dirty="0">
                <a:solidFill>
                  <a:srgbClr val="231F20"/>
                </a:solidFill>
                <a:latin typeface="Arial"/>
                <a:cs typeface="Arial"/>
              </a:rPr>
              <a:t>details </a:t>
            </a:r>
            <a:r>
              <a:rPr sz="1950" spc="80" dirty="0">
                <a:solidFill>
                  <a:srgbClr val="231F20"/>
                </a:solidFill>
                <a:latin typeface="Arial"/>
                <a:cs typeface="Arial"/>
              </a:rPr>
              <a:t>away </a:t>
            </a:r>
            <a:r>
              <a:rPr sz="1950" spc="130" dirty="0">
                <a:solidFill>
                  <a:srgbClr val="231F20"/>
                </a:solidFill>
                <a:latin typeface="Arial"/>
                <a:cs typeface="Arial"/>
              </a:rPr>
              <a:t>and  </a:t>
            </a:r>
            <a:r>
              <a:rPr sz="1950" spc="85" dirty="0">
                <a:solidFill>
                  <a:srgbClr val="231F20"/>
                </a:solidFill>
                <a:latin typeface="Arial"/>
                <a:cs typeface="Arial"/>
              </a:rPr>
              <a:t>assume </a:t>
            </a:r>
            <a:r>
              <a:rPr sz="1950" spc="90" dirty="0">
                <a:solidFill>
                  <a:srgbClr val="231F20"/>
                </a:solidFill>
                <a:latin typeface="Arial"/>
                <a:cs typeface="Arial"/>
              </a:rPr>
              <a:t>each </a:t>
            </a:r>
            <a:r>
              <a:rPr sz="1950" spc="80" dirty="0">
                <a:solidFill>
                  <a:srgbClr val="231F20"/>
                </a:solidFill>
                <a:latin typeface="Arial"/>
                <a:cs typeface="Arial"/>
              </a:rPr>
              <a:t>process </a:t>
            </a:r>
            <a:r>
              <a:rPr sz="1950" spc="40" dirty="0">
                <a:solidFill>
                  <a:srgbClr val="231F20"/>
                </a:solidFill>
                <a:latin typeface="Arial"/>
                <a:cs typeface="Arial"/>
              </a:rPr>
              <a:t>is </a:t>
            </a:r>
            <a:r>
              <a:rPr sz="1950" spc="130" dirty="0">
                <a:solidFill>
                  <a:srgbClr val="231F20"/>
                </a:solidFill>
                <a:latin typeface="Arial"/>
                <a:cs typeface="Arial"/>
              </a:rPr>
              <a:t>in </a:t>
            </a:r>
            <a:r>
              <a:rPr sz="1950" spc="105" dirty="0">
                <a:solidFill>
                  <a:srgbClr val="231F20"/>
                </a:solidFill>
                <a:latin typeface="Arial"/>
                <a:cs typeface="Arial"/>
              </a:rPr>
              <a:t>one </a:t>
            </a:r>
            <a:r>
              <a:rPr sz="1950" spc="185" dirty="0">
                <a:solidFill>
                  <a:srgbClr val="231F20"/>
                </a:solidFill>
                <a:latin typeface="Arial"/>
                <a:cs typeface="Arial"/>
              </a:rPr>
              <a:t>of </a:t>
            </a:r>
            <a:r>
              <a:rPr sz="1950" spc="140" dirty="0">
                <a:solidFill>
                  <a:srgbClr val="231F20"/>
                </a:solidFill>
                <a:latin typeface="Arial"/>
                <a:cs typeface="Arial"/>
              </a:rPr>
              <a:t>three   </a:t>
            </a:r>
            <a:r>
              <a:rPr sz="1950" spc="60" dirty="0">
                <a:solidFill>
                  <a:srgbClr val="0000FF"/>
                </a:solidFill>
                <a:latin typeface="Arial"/>
                <a:cs typeface="Arial"/>
              </a:rPr>
              <a:t>phases</a:t>
            </a:r>
            <a:endParaRPr sz="1950">
              <a:latin typeface="Arial"/>
              <a:cs typeface="Arial"/>
            </a:endParaRPr>
          </a:p>
          <a:p>
            <a:pPr marL="300990">
              <a:lnSpc>
                <a:spcPct val="100000"/>
              </a:lnSpc>
              <a:spcBef>
                <a:spcPts val="1100"/>
              </a:spcBef>
              <a:tabLst>
                <a:tab pos="1034415" algn="l"/>
              </a:tabLst>
            </a:pPr>
            <a:r>
              <a:rPr sz="1950" spc="185" dirty="0">
                <a:solidFill>
                  <a:srgbClr val="0000FF"/>
                </a:solidFill>
                <a:latin typeface="Arial"/>
                <a:cs typeface="Arial"/>
              </a:rPr>
              <a:t>idle</a:t>
            </a:r>
            <a:r>
              <a:rPr sz="1950" spc="185" dirty="0">
                <a:solidFill>
                  <a:srgbClr val="231F20"/>
                </a:solidFill>
                <a:latin typeface="Arial"/>
                <a:cs typeface="Arial"/>
              </a:rPr>
              <a:t>:	</a:t>
            </a:r>
            <a:r>
              <a:rPr sz="1950" spc="160" dirty="0">
                <a:solidFill>
                  <a:srgbClr val="231F20"/>
                </a:solidFill>
                <a:latin typeface="Arial"/>
                <a:cs typeface="Arial"/>
              </a:rPr>
              <a:t>performing </a:t>
            </a:r>
            <a:r>
              <a:rPr sz="1950" spc="155" dirty="0">
                <a:solidFill>
                  <a:srgbClr val="231F20"/>
                </a:solidFill>
                <a:latin typeface="Arial"/>
                <a:cs typeface="Arial"/>
              </a:rPr>
              <a:t>work </a:t>
            </a:r>
            <a:r>
              <a:rPr sz="1950" spc="130" dirty="0">
                <a:solidFill>
                  <a:srgbClr val="231F20"/>
                </a:solidFill>
                <a:latin typeface="Arial"/>
                <a:cs typeface="Arial"/>
              </a:rPr>
              <a:t>outside </a:t>
            </a:r>
            <a:r>
              <a:rPr sz="1950" spc="145" dirty="0">
                <a:solidFill>
                  <a:srgbClr val="231F20"/>
                </a:solidFill>
                <a:latin typeface="Arial"/>
                <a:cs typeface="Arial"/>
              </a:rPr>
              <a:t>its </a:t>
            </a:r>
            <a:r>
              <a:rPr sz="1950" spc="150" dirty="0">
                <a:solidFill>
                  <a:srgbClr val="231F20"/>
                </a:solidFill>
                <a:latin typeface="Arial"/>
                <a:cs typeface="Arial"/>
              </a:rPr>
              <a:t>critical</a:t>
            </a:r>
            <a:r>
              <a:rPr sz="1950" spc="770" dirty="0">
                <a:solidFill>
                  <a:srgbClr val="231F20"/>
                </a:solidFill>
                <a:latin typeface="Arial"/>
                <a:cs typeface="Arial"/>
              </a:rPr>
              <a:t> </a:t>
            </a:r>
            <a:r>
              <a:rPr sz="1950" spc="125" dirty="0">
                <a:solidFill>
                  <a:srgbClr val="231F20"/>
                </a:solidFill>
                <a:latin typeface="Arial"/>
                <a:cs typeface="Arial"/>
              </a:rPr>
              <a:t>section</a:t>
            </a:r>
            <a:endParaRPr sz="1950">
              <a:latin typeface="Arial"/>
              <a:cs typeface="Arial"/>
            </a:endParaRPr>
          </a:p>
        </p:txBody>
      </p:sp>
      <p:sp>
        <p:nvSpPr>
          <p:cNvPr id="5" name="object 5"/>
          <p:cNvSpPr txBox="1"/>
          <p:nvPr/>
        </p:nvSpPr>
        <p:spPr>
          <a:xfrm>
            <a:off x="1185162" y="4451154"/>
            <a:ext cx="1057910" cy="826135"/>
          </a:xfrm>
          <a:prstGeom prst="rect">
            <a:avLst/>
          </a:prstGeom>
        </p:spPr>
        <p:txBody>
          <a:bodyPr vert="horz" wrap="square" lIns="0" tIns="0" rIns="0" bIns="0" rtlCol="0">
            <a:spAutoFit/>
          </a:bodyPr>
          <a:lstStyle/>
          <a:p>
            <a:pPr marL="12700" marR="5080">
              <a:lnSpc>
                <a:spcPct val="136100"/>
              </a:lnSpc>
            </a:pPr>
            <a:r>
              <a:rPr sz="1950" spc="254" dirty="0">
                <a:solidFill>
                  <a:srgbClr val="0000FF"/>
                </a:solidFill>
                <a:latin typeface="Arial"/>
                <a:cs typeface="Arial"/>
              </a:rPr>
              <a:t>trying</a:t>
            </a:r>
            <a:r>
              <a:rPr sz="1950" spc="254" dirty="0">
                <a:solidFill>
                  <a:srgbClr val="231F20"/>
                </a:solidFill>
                <a:latin typeface="Arial"/>
                <a:cs typeface="Arial"/>
              </a:rPr>
              <a:t>:  </a:t>
            </a:r>
            <a:r>
              <a:rPr sz="1950" spc="235" dirty="0">
                <a:solidFill>
                  <a:srgbClr val="0000FF"/>
                </a:solidFill>
                <a:latin typeface="Arial"/>
                <a:cs typeface="Arial"/>
              </a:rPr>
              <a:t>c</a:t>
            </a:r>
            <a:r>
              <a:rPr sz="1950" spc="250" dirty="0">
                <a:solidFill>
                  <a:srgbClr val="0000FF"/>
                </a:solidFill>
                <a:latin typeface="Arial"/>
                <a:cs typeface="Arial"/>
              </a:rPr>
              <a:t>r</a:t>
            </a:r>
            <a:r>
              <a:rPr sz="1950" spc="150" dirty="0">
                <a:solidFill>
                  <a:srgbClr val="0000FF"/>
                </a:solidFill>
                <a:latin typeface="Arial"/>
                <a:cs typeface="Arial"/>
              </a:rPr>
              <a:t>i</a:t>
            </a:r>
            <a:r>
              <a:rPr sz="1950" spc="434" dirty="0">
                <a:solidFill>
                  <a:srgbClr val="0000FF"/>
                </a:solidFill>
                <a:latin typeface="Arial"/>
                <a:cs typeface="Arial"/>
              </a:rPr>
              <a:t>t</a:t>
            </a:r>
            <a:r>
              <a:rPr sz="1950" spc="150" dirty="0">
                <a:solidFill>
                  <a:srgbClr val="0000FF"/>
                </a:solidFill>
                <a:latin typeface="Arial"/>
                <a:cs typeface="Arial"/>
              </a:rPr>
              <a:t>i</a:t>
            </a:r>
            <a:r>
              <a:rPr sz="1950" spc="235" dirty="0">
                <a:solidFill>
                  <a:srgbClr val="0000FF"/>
                </a:solidFill>
                <a:latin typeface="Arial"/>
                <a:cs typeface="Arial"/>
              </a:rPr>
              <a:t>c</a:t>
            </a:r>
            <a:r>
              <a:rPr sz="1950" spc="190" dirty="0">
                <a:solidFill>
                  <a:srgbClr val="0000FF"/>
                </a:solidFill>
                <a:latin typeface="Arial"/>
                <a:cs typeface="Arial"/>
              </a:rPr>
              <a:t>a</a:t>
            </a:r>
            <a:r>
              <a:rPr sz="1950" spc="150" dirty="0">
                <a:solidFill>
                  <a:srgbClr val="0000FF"/>
                </a:solidFill>
                <a:latin typeface="Arial"/>
                <a:cs typeface="Arial"/>
              </a:rPr>
              <a:t>l</a:t>
            </a:r>
            <a:r>
              <a:rPr sz="1950" spc="215" dirty="0">
                <a:solidFill>
                  <a:srgbClr val="231F20"/>
                </a:solidFill>
                <a:latin typeface="Arial"/>
                <a:cs typeface="Arial"/>
              </a:rPr>
              <a:t>:</a:t>
            </a:r>
            <a:endParaRPr sz="1950">
              <a:latin typeface="Arial"/>
              <a:cs typeface="Arial"/>
            </a:endParaRPr>
          </a:p>
        </p:txBody>
      </p:sp>
      <p:sp>
        <p:nvSpPr>
          <p:cNvPr id="6" name="object 6"/>
          <p:cNvSpPr txBox="1"/>
          <p:nvPr/>
        </p:nvSpPr>
        <p:spPr>
          <a:xfrm>
            <a:off x="2248725" y="4558436"/>
            <a:ext cx="5448300" cy="718820"/>
          </a:xfrm>
          <a:prstGeom prst="rect">
            <a:avLst/>
          </a:prstGeom>
        </p:spPr>
        <p:txBody>
          <a:bodyPr vert="horz" wrap="square" lIns="0" tIns="0" rIns="0" bIns="0" rtlCol="0">
            <a:spAutoFit/>
          </a:bodyPr>
          <a:lstStyle/>
          <a:p>
            <a:pPr marL="12700">
              <a:lnSpc>
                <a:spcPct val="100000"/>
              </a:lnSpc>
            </a:pPr>
            <a:r>
              <a:rPr sz="1950" spc="250" dirty="0">
                <a:solidFill>
                  <a:srgbClr val="231F20"/>
                </a:solidFill>
                <a:latin typeface="Arial"/>
                <a:cs typeface="Arial"/>
              </a:rPr>
              <a:t>to </a:t>
            </a:r>
            <a:r>
              <a:rPr sz="1950" spc="140" dirty="0">
                <a:solidFill>
                  <a:srgbClr val="231F20"/>
                </a:solidFill>
                <a:latin typeface="Arial"/>
                <a:cs typeface="Arial"/>
              </a:rPr>
              <a:t>enter </a:t>
            </a:r>
            <a:r>
              <a:rPr sz="1950" spc="145" dirty="0">
                <a:solidFill>
                  <a:srgbClr val="231F20"/>
                </a:solidFill>
                <a:latin typeface="Arial"/>
                <a:cs typeface="Arial"/>
              </a:rPr>
              <a:t>its </a:t>
            </a:r>
            <a:r>
              <a:rPr sz="1950" spc="150" dirty="0">
                <a:solidFill>
                  <a:srgbClr val="231F20"/>
                </a:solidFill>
                <a:latin typeface="Arial"/>
                <a:cs typeface="Arial"/>
              </a:rPr>
              <a:t>critical</a:t>
            </a:r>
            <a:r>
              <a:rPr sz="1950" spc="530" dirty="0">
                <a:solidFill>
                  <a:srgbClr val="231F20"/>
                </a:solidFill>
                <a:latin typeface="Arial"/>
                <a:cs typeface="Arial"/>
              </a:rPr>
              <a:t> </a:t>
            </a:r>
            <a:r>
              <a:rPr sz="1950" spc="125" dirty="0">
                <a:solidFill>
                  <a:srgbClr val="231F20"/>
                </a:solidFill>
                <a:latin typeface="Arial"/>
                <a:cs typeface="Arial"/>
              </a:rPr>
              <a:t>section</a:t>
            </a:r>
            <a:endParaRPr sz="1950">
              <a:latin typeface="Arial"/>
              <a:cs typeface="Arial"/>
            </a:endParaRPr>
          </a:p>
          <a:p>
            <a:pPr marL="138430">
              <a:lnSpc>
                <a:spcPct val="100000"/>
              </a:lnSpc>
              <a:spcBef>
                <a:spcPts val="845"/>
              </a:spcBef>
            </a:pPr>
            <a:r>
              <a:rPr sz="1950" spc="160" dirty="0">
                <a:solidFill>
                  <a:srgbClr val="231F20"/>
                </a:solidFill>
                <a:latin typeface="Arial"/>
                <a:cs typeface="Arial"/>
              </a:rPr>
              <a:t>performing </a:t>
            </a:r>
            <a:r>
              <a:rPr sz="1950" spc="155" dirty="0">
                <a:solidFill>
                  <a:srgbClr val="231F20"/>
                </a:solidFill>
                <a:latin typeface="Arial"/>
                <a:cs typeface="Arial"/>
              </a:rPr>
              <a:t>work </a:t>
            </a:r>
            <a:r>
              <a:rPr sz="1950" spc="85" dirty="0">
                <a:solidFill>
                  <a:srgbClr val="231F20"/>
                </a:solidFill>
                <a:latin typeface="Arial"/>
                <a:cs typeface="Arial"/>
              </a:rPr>
              <a:t>inside </a:t>
            </a:r>
            <a:r>
              <a:rPr sz="1950" spc="145" dirty="0">
                <a:solidFill>
                  <a:srgbClr val="231F20"/>
                </a:solidFill>
                <a:latin typeface="Arial"/>
                <a:cs typeface="Arial"/>
              </a:rPr>
              <a:t>its </a:t>
            </a:r>
            <a:r>
              <a:rPr sz="1950" spc="150" dirty="0">
                <a:solidFill>
                  <a:srgbClr val="231F20"/>
                </a:solidFill>
                <a:latin typeface="Arial"/>
                <a:cs typeface="Arial"/>
              </a:rPr>
              <a:t>critical</a:t>
            </a:r>
            <a:r>
              <a:rPr sz="1950" spc="819" dirty="0">
                <a:solidFill>
                  <a:srgbClr val="231F20"/>
                </a:solidFill>
                <a:latin typeface="Arial"/>
                <a:cs typeface="Arial"/>
              </a:rPr>
              <a:t> </a:t>
            </a:r>
            <a:r>
              <a:rPr sz="1950" spc="125" dirty="0">
                <a:solidFill>
                  <a:srgbClr val="231F20"/>
                </a:solidFill>
                <a:latin typeface="Arial"/>
                <a:cs typeface="Arial"/>
              </a:rPr>
              <a:t>section</a:t>
            </a:r>
            <a:endParaRPr sz="1950">
              <a:latin typeface="Arial"/>
              <a:cs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1449019"/>
            <a:ext cx="8185150" cy="3909060"/>
          </a:xfrm>
          <a:prstGeom prst="rect">
            <a:avLst/>
          </a:prstGeom>
        </p:spPr>
        <p:txBody>
          <a:bodyPr vert="horz" wrap="square" lIns="0" tIns="0" rIns="0" bIns="0" rtlCol="0">
            <a:spAutoFit/>
          </a:bodyPr>
          <a:lstStyle/>
          <a:p>
            <a:pPr marL="1664970">
              <a:lnSpc>
                <a:spcPct val="100000"/>
              </a:lnSpc>
            </a:pPr>
            <a:r>
              <a:rPr sz="1950" spc="240" dirty="0">
                <a:solidFill>
                  <a:srgbClr val="231F20"/>
                </a:solidFill>
                <a:latin typeface="Arial"/>
                <a:cs typeface="Arial"/>
              </a:rPr>
              <a:t>Formalizing </a:t>
            </a:r>
            <a:r>
              <a:rPr sz="1950" spc="285" dirty="0">
                <a:solidFill>
                  <a:srgbClr val="231F20"/>
                </a:solidFill>
                <a:latin typeface="Arial"/>
                <a:cs typeface="Arial"/>
              </a:rPr>
              <a:t>the </a:t>
            </a:r>
            <a:r>
              <a:rPr sz="1950" spc="305" dirty="0">
                <a:solidFill>
                  <a:srgbClr val="231F20"/>
                </a:solidFill>
                <a:latin typeface="Arial"/>
                <a:cs typeface="Arial"/>
              </a:rPr>
              <a:t>Model</a:t>
            </a:r>
            <a:r>
              <a:rPr sz="1950" spc="545" dirty="0">
                <a:solidFill>
                  <a:srgbClr val="231F20"/>
                </a:solidFill>
                <a:latin typeface="Arial"/>
                <a:cs typeface="Arial"/>
              </a:rPr>
              <a:t> </a:t>
            </a:r>
            <a:r>
              <a:rPr sz="1950" spc="285" dirty="0">
                <a:solidFill>
                  <a:srgbClr val="231F20"/>
                </a:solidFill>
                <a:latin typeface="Arial"/>
                <a:cs typeface="Arial"/>
              </a:rPr>
              <a:t>(continued)</a:t>
            </a:r>
            <a:endParaRPr sz="1950">
              <a:latin typeface="Arial"/>
              <a:cs typeface="Arial"/>
            </a:endParaRPr>
          </a:p>
          <a:p>
            <a:pPr marL="300990" marR="1512570" indent="-288290">
              <a:lnSpc>
                <a:spcPct val="125000"/>
              </a:lnSpc>
              <a:spcBef>
                <a:spcPts val="1340"/>
              </a:spcBef>
              <a:buSzPct val="105128"/>
              <a:buFont typeface="Lucida Sans Unicode"/>
              <a:buChar char="•"/>
              <a:tabLst>
                <a:tab pos="301625" algn="l"/>
              </a:tabLst>
            </a:pPr>
            <a:r>
              <a:rPr sz="1950" spc="195" dirty="0">
                <a:solidFill>
                  <a:srgbClr val="231F20"/>
                </a:solidFill>
                <a:latin typeface="Arial"/>
                <a:cs typeface="Arial"/>
              </a:rPr>
              <a:t>We </a:t>
            </a:r>
            <a:r>
              <a:rPr sz="1950" spc="145" dirty="0">
                <a:solidFill>
                  <a:srgbClr val="231F20"/>
                </a:solidFill>
                <a:latin typeface="Arial"/>
                <a:cs typeface="Arial"/>
              </a:rPr>
              <a:t>will </a:t>
            </a:r>
            <a:r>
              <a:rPr sz="1950" spc="80" dirty="0">
                <a:solidFill>
                  <a:srgbClr val="231F20"/>
                </a:solidFill>
                <a:latin typeface="Arial"/>
                <a:cs typeface="Arial"/>
              </a:rPr>
              <a:t>need </a:t>
            </a:r>
            <a:r>
              <a:rPr sz="1950" spc="250" dirty="0">
                <a:solidFill>
                  <a:srgbClr val="231F20"/>
                </a:solidFill>
                <a:latin typeface="Arial"/>
                <a:cs typeface="Arial"/>
              </a:rPr>
              <a:t>to </a:t>
            </a:r>
            <a:r>
              <a:rPr sz="1950" spc="160" dirty="0">
                <a:solidFill>
                  <a:srgbClr val="231F20"/>
                </a:solidFill>
                <a:latin typeface="Arial"/>
                <a:cs typeface="Arial"/>
              </a:rPr>
              <a:t>model </a:t>
            </a:r>
            <a:r>
              <a:rPr sz="1950" spc="85" dirty="0">
                <a:solidFill>
                  <a:srgbClr val="231F20"/>
                </a:solidFill>
                <a:latin typeface="Arial"/>
                <a:cs typeface="Arial"/>
              </a:rPr>
              <a:t>a </a:t>
            </a:r>
            <a:r>
              <a:rPr sz="1950" spc="120" dirty="0">
                <a:solidFill>
                  <a:srgbClr val="231F20"/>
                </a:solidFill>
                <a:latin typeface="Arial"/>
                <a:cs typeface="Arial"/>
              </a:rPr>
              <a:t>system </a:t>
            </a:r>
            <a:r>
              <a:rPr sz="1950" spc="155" dirty="0">
                <a:solidFill>
                  <a:srgbClr val="231F20"/>
                </a:solidFill>
                <a:latin typeface="Arial"/>
                <a:cs typeface="Arial"/>
              </a:rPr>
              <a:t>state </a:t>
            </a:r>
            <a:r>
              <a:rPr sz="1950" spc="135" dirty="0">
                <a:solidFill>
                  <a:srgbClr val="231F20"/>
                </a:solidFill>
                <a:latin typeface="Arial"/>
                <a:cs typeface="Arial"/>
              </a:rPr>
              <a:t>comprising  </a:t>
            </a:r>
            <a:r>
              <a:rPr sz="1950" spc="155" dirty="0">
                <a:solidFill>
                  <a:srgbClr val="231F20"/>
                </a:solidFill>
                <a:latin typeface="Arial"/>
                <a:cs typeface="Arial"/>
              </a:rPr>
              <a:t>For </a:t>
            </a:r>
            <a:r>
              <a:rPr sz="1950" spc="90" dirty="0">
                <a:solidFill>
                  <a:srgbClr val="231F20"/>
                </a:solidFill>
                <a:latin typeface="Arial"/>
                <a:cs typeface="Arial"/>
              </a:rPr>
              <a:t>each</a:t>
            </a:r>
            <a:r>
              <a:rPr sz="1950" spc="365" dirty="0">
                <a:solidFill>
                  <a:srgbClr val="231F20"/>
                </a:solidFill>
                <a:latin typeface="Arial"/>
                <a:cs typeface="Arial"/>
              </a:rPr>
              <a:t> </a:t>
            </a:r>
            <a:r>
              <a:rPr sz="1950" spc="85" dirty="0">
                <a:solidFill>
                  <a:srgbClr val="231F20"/>
                </a:solidFill>
                <a:latin typeface="Arial"/>
                <a:cs typeface="Arial"/>
              </a:rPr>
              <a:t>process:</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250" dirty="0">
                <a:solidFill>
                  <a:srgbClr val="231F20"/>
                </a:solidFill>
                <a:latin typeface="Arial"/>
                <a:cs typeface="Arial"/>
              </a:rPr>
              <a:t>The </a:t>
            </a:r>
            <a:r>
              <a:rPr sz="1950" spc="95" dirty="0">
                <a:solidFill>
                  <a:srgbClr val="231F20"/>
                </a:solidFill>
                <a:latin typeface="Arial"/>
                <a:cs typeface="Arial"/>
              </a:rPr>
              <a:t>value </a:t>
            </a:r>
            <a:r>
              <a:rPr sz="1950" spc="185" dirty="0">
                <a:solidFill>
                  <a:srgbClr val="231F20"/>
                </a:solidFill>
                <a:latin typeface="Arial"/>
                <a:cs typeface="Arial"/>
              </a:rPr>
              <a:t>of </a:t>
            </a:r>
            <a:r>
              <a:rPr sz="1950" spc="145" dirty="0">
                <a:solidFill>
                  <a:srgbClr val="231F20"/>
                </a:solidFill>
                <a:latin typeface="Arial"/>
                <a:cs typeface="Arial"/>
              </a:rPr>
              <a:t>its </a:t>
            </a:r>
            <a:r>
              <a:rPr sz="1950" spc="175" dirty="0">
                <a:solidFill>
                  <a:srgbClr val="0000FF"/>
                </a:solidFill>
                <a:latin typeface="Arial"/>
                <a:cs typeface="Arial"/>
              </a:rPr>
              <a:t>ticket</a:t>
            </a:r>
            <a:r>
              <a:rPr sz="1950" spc="175" dirty="0">
                <a:solidFill>
                  <a:srgbClr val="231F20"/>
                </a:solidFill>
                <a:latin typeface="Arial"/>
                <a:cs typeface="Arial"/>
              </a:rPr>
              <a:t>, </a:t>
            </a:r>
            <a:r>
              <a:rPr sz="1950" spc="155" dirty="0">
                <a:solidFill>
                  <a:srgbClr val="231F20"/>
                </a:solidFill>
                <a:latin typeface="Arial"/>
                <a:cs typeface="Arial"/>
              </a:rPr>
              <a:t>which </a:t>
            </a:r>
            <a:r>
              <a:rPr sz="1950" spc="40" dirty="0">
                <a:solidFill>
                  <a:srgbClr val="231F20"/>
                </a:solidFill>
                <a:latin typeface="Arial"/>
                <a:cs typeface="Arial"/>
              </a:rPr>
              <a:t>is </a:t>
            </a:r>
            <a:r>
              <a:rPr sz="1950" spc="85" dirty="0">
                <a:solidFill>
                  <a:srgbClr val="231F20"/>
                </a:solidFill>
                <a:latin typeface="Arial"/>
                <a:cs typeface="Arial"/>
              </a:rPr>
              <a:t>a </a:t>
            </a:r>
            <a:r>
              <a:rPr sz="1950" spc="160" dirty="0">
                <a:solidFill>
                  <a:srgbClr val="231F20"/>
                </a:solidFill>
                <a:latin typeface="Arial"/>
                <a:cs typeface="Arial"/>
              </a:rPr>
              <a:t>natural </a:t>
            </a:r>
            <a:r>
              <a:rPr sz="1950" spc="675" dirty="0">
                <a:solidFill>
                  <a:srgbClr val="231F20"/>
                </a:solidFill>
                <a:latin typeface="Arial"/>
                <a:cs typeface="Arial"/>
              </a:rPr>
              <a:t> </a:t>
            </a:r>
            <a:r>
              <a:rPr sz="1950" spc="170" dirty="0">
                <a:solidFill>
                  <a:srgbClr val="231F20"/>
                </a:solidFill>
                <a:latin typeface="Arial"/>
                <a:cs typeface="Arial"/>
              </a:rPr>
              <a:t>number</a:t>
            </a:r>
            <a:endParaRPr sz="1950">
              <a:latin typeface="Arial"/>
              <a:cs typeface="Arial"/>
            </a:endParaRPr>
          </a:p>
          <a:p>
            <a:pPr marL="741680" marR="451484" lvl="1" indent="-288290">
              <a:lnSpc>
                <a:spcPct val="120800"/>
              </a:lnSpc>
              <a:spcBef>
                <a:spcPts val="355"/>
              </a:spcBef>
              <a:buSzPct val="105128"/>
              <a:buFont typeface="Lucida Sans Unicode"/>
              <a:buChar char="◦"/>
              <a:tabLst>
                <a:tab pos="742315" algn="l"/>
              </a:tabLst>
            </a:pPr>
            <a:r>
              <a:rPr sz="1950" spc="250" dirty="0">
                <a:solidFill>
                  <a:srgbClr val="231F20"/>
                </a:solidFill>
                <a:latin typeface="Arial"/>
                <a:cs typeface="Arial"/>
              </a:rPr>
              <a:t>The </a:t>
            </a:r>
            <a:r>
              <a:rPr sz="1950" spc="75" dirty="0">
                <a:solidFill>
                  <a:srgbClr val="231F20"/>
                </a:solidFill>
                <a:latin typeface="Arial"/>
                <a:cs typeface="Arial"/>
              </a:rPr>
              <a:t>phase </a:t>
            </a:r>
            <a:r>
              <a:rPr sz="1950" spc="229" dirty="0">
                <a:solidFill>
                  <a:srgbClr val="231F20"/>
                </a:solidFill>
                <a:latin typeface="Arial"/>
                <a:cs typeface="Arial"/>
              </a:rPr>
              <a:t>it </a:t>
            </a:r>
            <a:r>
              <a:rPr sz="1950" spc="40" dirty="0">
                <a:solidFill>
                  <a:srgbClr val="231F20"/>
                </a:solidFill>
                <a:latin typeface="Arial"/>
                <a:cs typeface="Arial"/>
              </a:rPr>
              <a:t>is </a:t>
            </a:r>
            <a:r>
              <a:rPr sz="1950" spc="150" dirty="0">
                <a:solidFill>
                  <a:srgbClr val="231F20"/>
                </a:solidFill>
                <a:latin typeface="Arial"/>
                <a:cs typeface="Arial"/>
              </a:rPr>
              <a:t>in—recorded </a:t>
            </a:r>
            <a:r>
              <a:rPr sz="1950" spc="130" dirty="0">
                <a:solidFill>
                  <a:srgbClr val="231F20"/>
                </a:solidFill>
                <a:latin typeface="Arial"/>
                <a:cs typeface="Arial"/>
              </a:rPr>
              <a:t>in </a:t>
            </a:r>
            <a:r>
              <a:rPr sz="1950" spc="145" dirty="0">
                <a:solidFill>
                  <a:srgbClr val="231F20"/>
                </a:solidFill>
                <a:latin typeface="Arial"/>
                <a:cs typeface="Arial"/>
              </a:rPr>
              <a:t>its </a:t>
            </a:r>
            <a:r>
              <a:rPr sz="1950" spc="215" dirty="0">
                <a:solidFill>
                  <a:srgbClr val="231F20"/>
                </a:solidFill>
                <a:latin typeface="Arial"/>
                <a:cs typeface="Arial"/>
              </a:rPr>
              <a:t>“program </a:t>
            </a:r>
            <a:r>
              <a:rPr sz="1950" spc="210" dirty="0">
                <a:solidFill>
                  <a:srgbClr val="231F20"/>
                </a:solidFill>
                <a:latin typeface="Arial"/>
                <a:cs typeface="Arial"/>
              </a:rPr>
              <a:t>counter”  </a:t>
            </a:r>
            <a:r>
              <a:rPr sz="1950" spc="155" dirty="0">
                <a:solidFill>
                  <a:srgbClr val="231F20"/>
                </a:solidFill>
                <a:latin typeface="Arial"/>
                <a:cs typeface="Arial"/>
              </a:rPr>
              <a:t>which </a:t>
            </a:r>
            <a:r>
              <a:rPr sz="1950" spc="110" dirty="0">
                <a:solidFill>
                  <a:srgbClr val="231F20"/>
                </a:solidFill>
                <a:latin typeface="Arial"/>
                <a:cs typeface="Arial"/>
              </a:rPr>
              <a:t>takes </a:t>
            </a:r>
            <a:r>
              <a:rPr sz="1950" spc="75" dirty="0">
                <a:solidFill>
                  <a:srgbClr val="231F20"/>
                </a:solidFill>
                <a:latin typeface="Arial"/>
                <a:cs typeface="Arial"/>
              </a:rPr>
              <a:t>values </a:t>
            </a:r>
            <a:r>
              <a:rPr sz="2050" spc="70" dirty="0">
                <a:solidFill>
                  <a:srgbClr val="0000FF"/>
                </a:solidFill>
                <a:latin typeface="SimSun"/>
                <a:cs typeface="SimSun"/>
              </a:rPr>
              <a:t>idle</a:t>
            </a:r>
            <a:r>
              <a:rPr sz="1950" spc="70" dirty="0">
                <a:solidFill>
                  <a:srgbClr val="231F20"/>
                </a:solidFill>
                <a:latin typeface="Arial"/>
                <a:cs typeface="Arial"/>
              </a:rPr>
              <a:t>, </a:t>
            </a:r>
            <a:r>
              <a:rPr sz="2050" spc="65" dirty="0">
                <a:solidFill>
                  <a:srgbClr val="0000FF"/>
                </a:solidFill>
                <a:latin typeface="SimSun"/>
                <a:cs typeface="SimSun"/>
              </a:rPr>
              <a:t>trying</a:t>
            </a:r>
            <a:r>
              <a:rPr sz="1950" spc="65" dirty="0">
                <a:solidFill>
                  <a:srgbClr val="231F20"/>
                </a:solidFill>
                <a:latin typeface="Arial"/>
                <a:cs typeface="Arial"/>
              </a:rPr>
              <a:t>, </a:t>
            </a:r>
            <a:r>
              <a:rPr sz="1950" spc="370" dirty="0">
                <a:solidFill>
                  <a:srgbClr val="231F20"/>
                </a:solidFill>
                <a:latin typeface="Arial"/>
                <a:cs typeface="Arial"/>
              </a:rPr>
              <a:t> </a:t>
            </a:r>
            <a:r>
              <a:rPr sz="2050" spc="55" dirty="0">
                <a:solidFill>
                  <a:srgbClr val="0000FF"/>
                </a:solidFill>
                <a:latin typeface="SimSun"/>
                <a:cs typeface="SimSun"/>
              </a:rPr>
              <a:t>critical</a:t>
            </a:r>
            <a:endParaRPr sz="2050">
              <a:latin typeface="SimSun"/>
              <a:cs typeface="SimSun"/>
            </a:endParaRPr>
          </a:p>
          <a:p>
            <a:pPr marL="300990" marR="5080" indent="-288290">
              <a:lnSpc>
                <a:spcPct val="125000"/>
              </a:lnSpc>
              <a:spcBef>
                <a:spcPts val="1320"/>
              </a:spcBef>
              <a:buSzPct val="105128"/>
              <a:buFont typeface="Lucida Sans Unicode"/>
              <a:buChar char="•"/>
              <a:tabLst>
                <a:tab pos="301625" algn="l"/>
              </a:tabLst>
            </a:pPr>
            <a:r>
              <a:rPr sz="1950" spc="225" dirty="0">
                <a:solidFill>
                  <a:srgbClr val="231F20"/>
                </a:solidFill>
                <a:latin typeface="Arial"/>
                <a:cs typeface="Arial"/>
              </a:rPr>
              <a:t>Then </a:t>
            </a:r>
            <a:r>
              <a:rPr sz="1950" spc="95" dirty="0">
                <a:solidFill>
                  <a:srgbClr val="231F20"/>
                </a:solidFill>
                <a:latin typeface="Arial"/>
                <a:cs typeface="Arial"/>
              </a:rPr>
              <a:t>we </a:t>
            </a:r>
            <a:r>
              <a:rPr sz="1950" spc="160" dirty="0">
                <a:solidFill>
                  <a:srgbClr val="231F20"/>
                </a:solidFill>
                <a:latin typeface="Arial"/>
                <a:cs typeface="Arial"/>
              </a:rPr>
              <a:t>model </a:t>
            </a:r>
            <a:r>
              <a:rPr sz="1950" spc="175" dirty="0">
                <a:solidFill>
                  <a:srgbClr val="231F20"/>
                </a:solidFill>
                <a:latin typeface="Arial"/>
                <a:cs typeface="Arial"/>
              </a:rPr>
              <a:t>the </a:t>
            </a:r>
            <a:r>
              <a:rPr sz="1950" spc="125" dirty="0">
                <a:solidFill>
                  <a:srgbClr val="231F20"/>
                </a:solidFill>
                <a:latin typeface="Arial"/>
                <a:cs typeface="Arial"/>
              </a:rPr>
              <a:t>(possibly </a:t>
            </a:r>
            <a:r>
              <a:rPr sz="1950" spc="160" dirty="0">
                <a:solidFill>
                  <a:srgbClr val="231F20"/>
                </a:solidFill>
                <a:latin typeface="Arial"/>
                <a:cs typeface="Arial"/>
              </a:rPr>
              <a:t>nondeterministic) </a:t>
            </a:r>
            <a:r>
              <a:rPr sz="1950" spc="145" dirty="0">
                <a:solidFill>
                  <a:srgbClr val="231F20"/>
                </a:solidFill>
                <a:latin typeface="Arial"/>
                <a:cs typeface="Arial"/>
              </a:rPr>
              <a:t>transitions </a:t>
            </a:r>
            <a:r>
              <a:rPr sz="1950" spc="130" dirty="0">
                <a:solidFill>
                  <a:srgbClr val="231F20"/>
                </a:solidFill>
                <a:latin typeface="Arial"/>
                <a:cs typeface="Arial"/>
              </a:rPr>
              <a:t>in  </a:t>
            </a:r>
            <a:r>
              <a:rPr sz="1950" spc="175" dirty="0">
                <a:solidFill>
                  <a:srgbClr val="231F20"/>
                </a:solidFill>
                <a:latin typeface="Arial"/>
                <a:cs typeface="Arial"/>
              </a:rPr>
              <a:t>the </a:t>
            </a:r>
            <a:r>
              <a:rPr sz="1950" spc="120" dirty="0">
                <a:solidFill>
                  <a:srgbClr val="231F20"/>
                </a:solidFill>
                <a:latin typeface="Arial"/>
                <a:cs typeface="Arial"/>
              </a:rPr>
              <a:t>system </a:t>
            </a:r>
            <a:r>
              <a:rPr sz="1950" spc="155" dirty="0">
                <a:solidFill>
                  <a:srgbClr val="231F20"/>
                </a:solidFill>
                <a:latin typeface="Arial"/>
                <a:cs typeface="Arial"/>
              </a:rPr>
              <a:t>state </a:t>
            </a:r>
            <a:r>
              <a:rPr sz="1950" spc="135" dirty="0">
                <a:solidFill>
                  <a:srgbClr val="231F20"/>
                </a:solidFill>
                <a:latin typeface="Arial"/>
                <a:cs typeface="Arial"/>
              </a:rPr>
              <a:t>produced </a:t>
            </a:r>
            <a:r>
              <a:rPr sz="1950" spc="105" dirty="0">
                <a:solidFill>
                  <a:srgbClr val="231F20"/>
                </a:solidFill>
                <a:latin typeface="Arial"/>
                <a:cs typeface="Arial"/>
              </a:rPr>
              <a:t>by </a:t>
            </a:r>
            <a:r>
              <a:rPr sz="1950" spc="90" dirty="0">
                <a:solidFill>
                  <a:srgbClr val="231F20"/>
                </a:solidFill>
                <a:latin typeface="Arial"/>
                <a:cs typeface="Arial"/>
              </a:rPr>
              <a:t>each </a:t>
            </a:r>
            <a:r>
              <a:rPr sz="1950" spc="170" dirty="0">
                <a:solidFill>
                  <a:srgbClr val="231F20"/>
                </a:solidFill>
                <a:latin typeface="Arial"/>
                <a:cs typeface="Arial"/>
              </a:rPr>
              <a:t>protocol </a:t>
            </a:r>
            <a:r>
              <a:rPr sz="1950" spc="475" dirty="0">
                <a:solidFill>
                  <a:srgbClr val="231F20"/>
                </a:solidFill>
                <a:latin typeface="Arial"/>
                <a:cs typeface="Arial"/>
              </a:rPr>
              <a:t> </a:t>
            </a:r>
            <a:r>
              <a:rPr sz="1950" spc="120" dirty="0">
                <a:solidFill>
                  <a:srgbClr val="231F20"/>
                </a:solidFill>
                <a:latin typeface="Arial"/>
                <a:cs typeface="Arial"/>
              </a:rPr>
              <a:t>step</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00" dirty="0">
                <a:solidFill>
                  <a:srgbClr val="231F20"/>
                </a:solidFill>
                <a:latin typeface="Arial"/>
                <a:cs typeface="Arial"/>
              </a:rPr>
              <a:t>And </a:t>
            </a:r>
            <a:r>
              <a:rPr sz="1950" spc="120" dirty="0">
                <a:solidFill>
                  <a:srgbClr val="231F20"/>
                </a:solidFill>
                <a:latin typeface="Arial"/>
                <a:cs typeface="Arial"/>
              </a:rPr>
              <a:t>check </a:t>
            </a:r>
            <a:r>
              <a:rPr sz="1950" spc="235" dirty="0">
                <a:solidFill>
                  <a:srgbClr val="231F20"/>
                </a:solidFill>
                <a:latin typeface="Arial"/>
                <a:cs typeface="Arial"/>
              </a:rPr>
              <a:t>that </a:t>
            </a:r>
            <a:r>
              <a:rPr sz="1950" spc="175" dirty="0">
                <a:solidFill>
                  <a:srgbClr val="231F20"/>
                </a:solidFill>
                <a:latin typeface="Arial"/>
                <a:cs typeface="Arial"/>
              </a:rPr>
              <a:t>the </a:t>
            </a:r>
            <a:r>
              <a:rPr sz="1950" spc="85" dirty="0">
                <a:solidFill>
                  <a:srgbClr val="231F20"/>
                </a:solidFill>
                <a:latin typeface="Arial"/>
                <a:cs typeface="Arial"/>
              </a:rPr>
              <a:t>desired </a:t>
            </a:r>
            <a:r>
              <a:rPr sz="1950" spc="150" dirty="0">
                <a:solidFill>
                  <a:srgbClr val="231F20"/>
                </a:solidFill>
                <a:latin typeface="Arial"/>
                <a:cs typeface="Arial"/>
              </a:rPr>
              <a:t>property </a:t>
            </a:r>
            <a:r>
              <a:rPr sz="1950" spc="40" dirty="0">
                <a:solidFill>
                  <a:srgbClr val="231F20"/>
                </a:solidFill>
                <a:latin typeface="Arial"/>
                <a:cs typeface="Arial"/>
              </a:rPr>
              <a:t>is </a:t>
            </a:r>
            <a:r>
              <a:rPr sz="1950" spc="80" dirty="0">
                <a:solidFill>
                  <a:srgbClr val="231F20"/>
                </a:solidFill>
                <a:latin typeface="Arial"/>
                <a:cs typeface="Arial"/>
              </a:rPr>
              <a:t>always </a:t>
            </a:r>
            <a:r>
              <a:rPr sz="1950" spc="600" dirty="0">
                <a:solidFill>
                  <a:srgbClr val="231F20"/>
                </a:solidFill>
                <a:latin typeface="Arial"/>
                <a:cs typeface="Arial"/>
              </a:rPr>
              <a:t> </a:t>
            </a:r>
            <a:r>
              <a:rPr sz="1950" spc="80" dirty="0">
                <a:solidFill>
                  <a:srgbClr val="231F20"/>
                </a:solidFill>
                <a:latin typeface="Arial"/>
                <a:cs typeface="Arial"/>
              </a:rPr>
              <a:t>preserved</a:t>
            </a:r>
            <a:endParaRPr sz="1950">
              <a:latin typeface="Arial"/>
              <a:cs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72882" y="493469"/>
            <a:ext cx="6715759" cy="314960"/>
          </a:xfrm>
          <a:prstGeom prst="rect">
            <a:avLst/>
          </a:prstGeom>
        </p:spPr>
        <p:txBody>
          <a:bodyPr vert="horz" wrap="square" lIns="0" tIns="0" rIns="0" bIns="0" rtlCol="0">
            <a:spAutoFit/>
          </a:bodyPr>
          <a:lstStyle/>
          <a:p>
            <a:pPr marL="12700">
              <a:lnSpc>
                <a:spcPct val="100000"/>
              </a:lnSpc>
            </a:pPr>
            <a:r>
              <a:rPr sz="1950" spc="459" dirty="0">
                <a:solidFill>
                  <a:srgbClr val="231F20"/>
                </a:solidFill>
                <a:latin typeface="Arial"/>
                <a:cs typeface="Arial"/>
              </a:rPr>
              <a:t>A </a:t>
            </a:r>
            <a:r>
              <a:rPr sz="1950" spc="270" dirty="0">
                <a:solidFill>
                  <a:srgbClr val="231F20"/>
                </a:solidFill>
                <a:latin typeface="Arial"/>
                <a:cs typeface="Arial"/>
              </a:rPr>
              <a:t>Formal </a:t>
            </a:r>
            <a:r>
              <a:rPr sz="1950" spc="254" dirty="0">
                <a:solidFill>
                  <a:srgbClr val="231F20"/>
                </a:solidFill>
                <a:latin typeface="Arial"/>
                <a:cs typeface="Arial"/>
              </a:rPr>
              <a:t>Description </a:t>
            </a:r>
            <a:r>
              <a:rPr sz="1950" spc="280" dirty="0">
                <a:solidFill>
                  <a:srgbClr val="231F20"/>
                </a:solidFill>
                <a:latin typeface="Arial"/>
                <a:cs typeface="Arial"/>
              </a:rPr>
              <a:t>of </a:t>
            </a:r>
            <a:r>
              <a:rPr sz="1950" spc="285" dirty="0">
                <a:solidFill>
                  <a:srgbClr val="231F20"/>
                </a:solidFill>
                <a:latin typeface="Arial"/>
                <a:cs typeface="Arial"/>
              </a:rPr>
              <a:t>the </a:t>
            </a:r>
            <a:r>
              <a:rPr sz="1950" spc="300" dirty="0">
                <a:solidFill>
                  <a:srgbClr val="231F20"/>
                </a:solidFill>
                <a:latin typeface="Arial"/>
                <a:cs typeface="Arial"/>
              </a:rPr>
              <a:t>Protocol </a:t>
            </a:r>
            <a:r>
              <a:rPr sz="1950" spc="275" dirty="0">
                <a:solidFill>
                  <a:srgbClr val="231F20"/>
                </a:solidFill>
                <a:latin typeface="Arial"/>
                <a:cs typeface="Arial"/>
              </a:rPr>
              <a:t>(in</a:t>
            </a:r>
            <a:r>
              <a:rPr sz="1950" spc="690" dirty="0">
                <a:solidFill>
                  <a:srgbClr val="231F20"/>
                </a:solidFill>
                <a:latin typeface="Arial"/>
                <a:cs typeface="Arial"/>
              </a:rPr>
              <a:t> </a:t>
            </a:r>
            <a:r>
              <a:rPr sz="1950" spc="380" dirty="0">
                <a:solidFill>
                  <a:srgbClr val="231F20"/>
                </a:solidFill>
                <a:latin typeface="Arial"/>
                <a:cs typeface="Arial"/>
              </a:rPr>
              <a:t>SAL)</a:t>
            </a:r>
            <a:endParaRPr sz="1950">
              <a:latin typeface="Arial"/>
              <a:cs typeface="Arial"/>
            </a:endParaRPr>
          </a:p>
        </p:txBody>
      </p:sp>
      <p:sp>
        <p:nvSpPr>
          <p:cNvPr id="3" name="object 3"/>
          <p:cNvSpPr txBox="1">
            <a:spLocks noGrp="1"/>
          </p:cNvSpPr>
          <p:nvPr>
            <p:ph type="title"/>
          </p:nvPr>
        </p:nvSpPr>
        <p:spPr>
          <a:xfrm>
            <a:off x="901700" y="1019284"/>
            <a:ext cx="5936615" cy="1512570"/>
          </a:xfrm>
          <a:prstGeom prst="rect">
            <a:avLst/>
          </a:prstGeom>
        </p:spPr>
        <p:txBody>
          <a:bodyPr vert="horz" wrap="square" lIns="0" tIns="0" rIns="0" bIns="0" rtlCol="0">
            <a:spAutoFit/>
          </a:bodyPr>
          <a:lstStyle/>
          <a:p>
            <a:pPr marL="12700" marR="3435350">
              <a:lnSpc>
                <a:spcPct val="118900"/>
              </a:lnSpc>
            </a:pPr>
            <a:r>
              <a:rPr spc="55" dirty="0"/>
              <a:t>bakery : CONTEXT</a:t>
            </a:r>
            <a:r>
              <a:rPr spc="-15" dirty="0"/>
              <a:t> </a:t>
            </a:r>
            <a:r>
              <a:rPr spc="55" dirty="0"/>
              <a:t>=  BEGIN</a:t>
            </a:r>
          </a:p>
          <a:p>
            <a:pPr marL="425450" marR="5080">
              <a:lnSpc>
                <a:spcPct val="118900"/>
              </a:lnSpc>
            </a:pPr>
            <a:r>
              <a:rPr spc="55" dirty="0"/>
              <a:t>phase : TYPE = </a:t>
            </a:r>
            <a:r>
              <a:rPr spc="105" dirty="0">
                <a:latin typeface="Lucida Sans Unicode"/>
                <a:cs typeface="Lucida Sans Unicode"/>
              </a:rPr>
              <a:t>{</a:t>
            </a:r>
            <a:r>
              <a:rPr spc="105" dirty="0"/>
              <a:t>idle, </a:t>
            </a:r>
            <a:r>
              <a:rPr spc="55" dirty="0"/>
              <a:t>trying, </a:t>
            </a:r>
            <a:r>
              <a:rPr spc="85" dirty="0"/>
              <a:t>critical</a:t>
            </a:r>
            <a:r>
              <a:rPr spc="85" dirty="0">
                <a:latin typeface="Lucida Sans Unicode"/>
                <a:cs typeface="Lucida Sans Unicode"/>
              </a:rPr>
              <a:t>}</a:t>
            </a:r>
            <a:r>
              <a:rPr spc="85" dirty="0"/>
              <a:t>;  </a:t>
            </a:r>
            <a:r>
              <a:rPr spc="55" dirty="0"/>
              <a:t>ticket: TYPE =</a:t>
            </a:r>
            <a:r>
              <a:rPr spc="-20" dirty="0"/>
              <a:t> </a:t>
            </a:r>
            <a:r>
              <a:rPr spc="55" dirty="0"/>
              <a:t>NATURAL;</a:t>
            </a:r>
          </a:p>
        </p:txBody>
      </p:sp>
      <p:sp>
        <p:nvSpPr>
          <p:cNvPr id="4" name="object 4"/>
          <p:cNvSpPr txBox="1"/>
          <p:nvPr/>
        </p:nvSpPr>
        <p:spPr>
          <a:xfrm>
            <a:off x="901700" y="2877230"/>
            <a:ext cx="3056255" cy="3369945"/>
          </a:xfrm>
          <a:prstGeom prst="rect">
            <a:avLst/>
          </a:prstGeom>
        </p:spPr>
        <p:txBody>
          <a:bodyPr vert="horz" wrap="square" lIns="0" tIns="0" rIns="0" bIns="0" rtlCol="0">
            <a:spAutoFit/>
          </a:bodyPr>
          <a:lstStyle/>
          <a:p>
            <a:pPr marL="12700" marR="555625">
              <a:lnSpc>
                <a:spcPct val="118900"/>
              </a:lnSpc>
            </a:pPr>
            <a:r>
              <a:rPr sz="2050" spc="55" dirty="0">
                <a:solidFill>
                  <a:srgbClr val="0000FF"/>
                </a:solidFill>
                <a:latin typeface="SimSun"/>
                <a:cs typeface="SimSun"/>
              </a:rPr>
              <a:t>process : MODULE</a:t>
            </a:r>
            <a:r>
              <a:rPr sz="2050" spc="-15" dirty="0">
                <a:solidFill>
                  <a:srgbClr val="0000FF"/>
                </a:solidFill>
                <a:latin typeface="SimSun"/>
                <a:cs typeface="SimSun"/>
              </a:rPr>
              <a:t> </a:t>
            </a:r>
            <a:r>
              <a:rPr sz="2050" spc="55" dirty="0">
                <a:solidFill>
                  <a:srgbClr val="0000FF"/>
                </a:solidFill>
                <a:latin typeface="SimSun"/>
                <a:cs typeface="SimSun"/>
              </a:rPr>
              <a:t>=  BEGIN</a:t>
            </a:r>
            <a:endParaRPr sz="2050">
              <a:latin typeface="SimSun"/>
              <a:cs typeface="SimSun"/>
            </a:endParaRPr>
          </a:p>
          <a:p>
            <a:pPr marL="12700" marR="5080" indent="137160">
              <a:lnSpc>
                <a:spcPct val="118900"/>
              </a:lnSpc>
            </a:pPr>
            <a:r>
              <a:rPr sz="2050" spc="55" dirty="0">
                <a:solidFill>
                  <a:srgbClr val="0000FF"/>
                </a:solidFill>
                <a:latin typeface="SimSun"/>
                <a:cs typeface="SimSun"/>
              </a:rPr>
              <a:t>INPUT other_t: ticket  OUTPUT my_t: ticket  OUTPUT pc:</a:t>
            </a:r>
            <a:r>
              <a:rPr sz="2050" spc="-25" dirty="0">
                <a:solidFill>
                  <a:srgbClr val="0000FF"/>
                </a:solidFill>
                <a:latin typeface="SimSun"/>
                <a:cs typeface="SimSun"/>
              </a:rPr>
              <a:t> </a:t>
            </a:r>
            <a:r>
              <a:rPr sz="2050" spc="55" dirty="0">
                <a:solidFill>
                  <a:srgbClr val="0000FF"/>
                </a:solidFill>
                <a:latin typeface="SimSun"/>
                <a:cs typeface="SimSun"/>
              </a:rPr>
              <a:t>phase</a:t>
            </a:r>
            <a:endParaRPr sz="2050">
              <a:latin typeface="SimSun"/>
              <a:cs typeface="SimSun"/>
            </a:endParaRPr>
          </a:p>
          <a:p>
            <a:pPr>
              <a:lnSpc>
                <a:spcPct val="100000"/>
              </a:lnSpc>
              <a:spcBef>
                <a:spcPts val="57"/>
              </a:spcBef>
            </a:pPr>
            <a:endParaRPr sz="2900">
              <a:latin typeface="Times New Roman"/>
              <a:cs typeface="Times New Roman"/>
            </a:endParaRPr>
          </a:p>
          <a:p>
            <a:pPr marL="12700">
              <a:lnSpc>
                <a:spcPct val="100000"/>
              </a:lnSpc>
            </a:pPr>
            <a:r>
              <a:rPr sz="2050" spc="55" dirty="0">
                <a:solidFill>
                  <a:srgbClr val="0000FF"/>
                </a:solidFill>
                <a:latin typeface="SimSun"/>
                <a:cs typeface="SimSun"/>
              </a:rPr>
              <a:t>INITIALIZATION</a:t>
            </a:r>
            <a:endParaRPr sz="2050">
              <a:latin typeface="SimSun"/>
              <a:cs typeface="SimSun"/>
            </a:endParaRPr>
          </a:p>
          <a:p>
            <a:pPr marL="287655" marR="1382395">
              <a:lnSpc>
                <a:spcPct val="118900"/>
              </a:lnSpc>
            </a:pPr>
            <a:r>
              <a:rPr sz="2050" spc="55" dirty="0">
                <a:solidFill>
                  <a:srgbClr val="0000FF"/>
                </a:solidFill>
                <a:latin typeface="SimSun"/>
                <a:cs typeface="SimSun"/>
              </a:rPr>
              <a:t>pc =</a:t>
            </a:r>
            <a:r>
              <a:rPr sz="2050" spc="-25" dirty="0">
                <a:solidFill>
                  <a:srgbClr val="0000FF"/>
                </a:solidFill>
                <a:latin typeface="SimSun"/>
                <a:cs typeface="SimSun"/>
              </a:rPr>
              <a:t> </a:t>
            </a:r>
            <a:r>
              <a:rPr sz="2050" spc="55" dirty="0">
                <a:solidFill>
                  <a:srgbClr val="0000FF"/>
                </a:solidFill>
                <a:latin typeface="SimSun"/>
                <a:cs typeface="SimSun"/>
              </a:rPr>
              <a:t>idle;  my_t =</a:t>
            </a:r>
            <a:r>
              <a:rPr sz="2050" spc="-25" dirty="0">
                <a:solidFill>
                  <a:srgbClr val="0000FF"/>
                </a:solidFill>
                <a:latin typeface="SimSun"/>
                <a:cs typeface="SimSun"/>
              </a:rPr>
              <a:t> </a:t>
            </a:r>
            <a:r>
              <a:rPr sz="2050" spc="55" dirty="0">
                <a:solidFill>
                  <a:srgbClr val="0000FF"/>
                </a:solidFill>
                <a:latin typeface="SimSun"/>
                <a:cs typeface="SimSun"/>
              </a:rPr>
              <a:t>0</a:t>
            </a:r>
            <a:endParaRPr sz="2050">
              <a:latin typeface="SimSun"/>
              <a:cs typeface="SimSun"/>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08543" y="493469"/>
            <a:ext cx="6644640" cy="314960"/>
          </a:xfrm>
          <a:prstGeom prst="rect">
            <a:avLst/>
          </a:prstGeom>
        </p:spPr>
        <p:txBody>
          <a:bodyPr vert="horz" wrap="square" lIns="0" tIns="0" rIns="0" bIns="0" rtlCol="0">
            <a:spAutoFit/>
          </a:bodyPr>
          <a:lstStyle/>
          <a:p>
            <a:pPr marL="12700">
              <a:lnSpc>
                <a:spcPct val="100000"/>
              </a:lnSpc>
            </a:pPr>
            <a:r>
              <a:rPr sz="1950" spc="305" dirty="0">
                <a:solidFill>
                  <a:srgbClr val="231F20"/>
                </a:solidFill>
                <a:latin typeface="Arial"/>
                <a:cs typeface="Arial"/>
              </a:rPr>
              <a:t>More </a:t>
            </a:r>
            <a:r>
              <a:rPr sz="1950" spc="270" dirty="0">
                <a:solidFill>
                  <a:srgbClr val="231F20"/>
                </a:solidFill>
                <a:latin typeface="Arial"/>
                <a:cs typeface="Arial"/>
              </a:rPr>
              <a:t>Formal </a:t>
            </a:r>
            <a:r>
              <a:rPr sz="1950" spc="300" dirty="0">
                <a:solidFill>
                  <a:srgbClr val="231F20"/>
                </a:solidFill>
                <a:latin typeface="Arial"/>
                <a:cs typeface="Arial"/>
              </a:rPr>
              <a:t>Protocol </a:t>
            </a:r>
            <a:r>
              <a:rPr sz="1950" spc="254" dirty="0">
                <a:solidFill>
                  <a:srgbClr val="231F20"/>
                </a:solidFill>
                <a:latin typeface="Arial"/>
                <a:cs typeface="Arial"/>
              </a:rPr>
              <a:t>Description</a:t>
            </a:r>
            <a:r>
              <a:rPr sz="1950" spc="530" dirty="0">
                <a:solidFill>
                  <a:srgbClr val="231F20"/>
                </a:solidFill>
                <a:latin typeface="Arial"/>
                <a:cs typeface="Arial"/>
              </a:rPr>
              <a:t> </a:t>
            </a:r>
            <a:r>
              <a:rPr sz="1950" spc="285" dirty="0">
                <a:solidFill>
                  <a:srgbClr val="231F20"/>
                </a:solidFill>
                <a:latin typeface="Arial"/>
                <a:cs typeface="Arial"/>
              </a:rPr>
              <a:t>(continued)</a:t>
            </a:r>
            <a:endParaRPr sz="1950">
              <a:latin typeface="Arial"/>
              <a:cs typeface="Arial"/>
            </a:endParaRPr>
          </a:p>
        </p:txBody>
      </p:sp>
      <p:sp>
        <p:nvSpPr>
          <p:cNvPr id="3" name="object 3"/>
          <p:cNvSpPr txBox="1">
            <a:spLocks noGrp="1"/>
          </p:cNvSpPr>
          <p:nvPr>
            <p:ph type="title"/>
          </p:nvPr>
        </p:nvSpPr>
        <p:spPr>
          <a:xfrm>
            <a:off x="901700" y="1030257"/>
            <a:ext cx="3194050" cy="1140460"/>
          </a:xfrm>
          <a:prstGeom prst="rect">
            <a:avLst/>
          </a:prstGeom>
        </p:spPr>
        <p:txBody>
          <a:bodyPr vert="horz" wrap="square" lIns="0" tIns="0" rIns="0" bIns="0" rtlCol="0">
            <a:spAutoFit/>
          </a:bodyPr>
          <a:lstStyle/>
          <a:p>
            <a:pPr marL="12700" marR="1795780">
              <a:lnSpc>
                <a:spcPct val="118900"/>
              </a:lnSpc>
            </a:pPr>
            <a:r>
              <a:rPr spc="50" dirty="0"/>
              <a:t>TRANSITIO</a:t>
            </a:r>
            <a:r>
              <a:rPr spc="55" dirty="0"/>
              <a:t>N  [</a:t>
            </a:r>
          </a:p>
          <a:p>
            <a:pPr marL="701040">
              <a:lnSpc>
                <a:spcPct val="100000"/>
              </a:lnSpc>
              <a:spcBef>
                <a:spcPts val="465"/>
              </a:spcBef>
            </a:pPr>
            <a:r>
              <a:rPr spc="55" dirty="0"/>
              <a:t>try: pc = idle</a:t>
            </a:r>
            <a:r>
              <a:rPr spc="-5" dirty="0"/>
              <a:t> </a:t>
            </a:r>
            <a:r>
              <a:rPr spc="55" dirty="0"/>
              <a:t>--&gt;</a:t>
            </a:r>
          </a:p>
        </p:txBody>
      </p:sp>
      <p:sp>
        <p:nvSpPr>
          <p:cNvPr id="4" name="object 4"/>
          <p:cNvSpPr txBox="1"/>
          <p:nvPr/>
        </p:nvSpPr>
        <p:spPr>
          <a:xfrm>
            <a:off x="2279357" y="2204072"/>
            <a:ext cx="714375" cy="338455"/>
          </a:xfrm>
          <a:prstGeom prst="rect">
            <a:avLst/>
          </a:prstGeom>
        </p:spPr>
        <p:txBody>
          <a:bodyPr vert="horz" wrap="square" lIns="0" tIns="0" rIns="0" bIns="0" rtlCol="0">
            <a:spAutoFit/>
          </a:bodyPr>
          <a:lstStyle/>
          <a:p>
            <a:pPr marL="12700">
              <a:lnSpc>
                <a:spcPct val="100000"/>
              </a:lnSpc>
            </a:pPr>
            <a:r>
              <a:rPr sz="2050" spc="50" dirty="0">
                <a:solidFill>
                  <a:srgbClr val="0000FF"/>
                </a:solidFill>
                <a:latin typeface="SimSun"/>
                <a:cs typeface="SimSun"/>
              </a:rPr>
              <a:t>my_t</a:t>
            </a:r>
            <a:r>
              <a:rPr sz="2050" spc="-969" dirty="0">
                <a:solidFill>
                  <a:srgbClr val="0000FF"/>
                </a:solidFill>
                <a:latin typeface="SimSun"/>
                <a:cs typeface="SimSun"/>
              </a:rPr>
              <a:t>’</a:t>
            </a:r>
            <a:endParaRPr sz="2050">
              <a:latin typeface="SimSun"/>
              <a:cs typeface="SimSun"/>
            </a:endParaRPr>
          </a:p>
        </p:txBody>
      </p:sp>
      <p:sp>
        <p:nvSpPr>
          <p:cNvPr id="5" name="object 5"/>
          <p:cNvSpPr txBox="1"/>
          <p:nvPr/>
        </p:nvSpPr>
        <p:spPr>
          <a:xfrm>
            <a:off x="3243706" y="2204072"/>
            <a:ext cx="1954530" cy="338455"/>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 other_t +</a:t>
            </a:r>
            <a:r>
              <a:rPr sz="2050" spc="-1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p:txBody>
      </p:sp>
      <p:sp>
        <p:nvSpPr>
          <p:cNvPr id="6" name="object 6"/>
          <p:cNvSpPr txBox="1">
            <a:spLocks noGrp="1"/>
          </p:cNvSpPr>
          <p:nvPr>
            <p:ph type="body" idx="1"/>
          </p:nvPr>
        </p:nvSpPr>
        <p:spPr>
          <a:prstGeom prst="rect">
            <a:avLst/>
          </a:prstGeom>
        </p:spPr>
        <p:txBody>
          <a:bodyPr vert="horz" wrap="square" lIns="0" tIns="1167562" rIns="0" bIns="0" rtlCol="0">
            <a:spAutoFit/>
          </a:bodyPr>
          <a:lstStyle/>
          <a:p>
            <a:pPr marL="1584960">
              <a:lnSpc>
                <a:spcPct val="100000"/>
              </a:lnSpc>
            </a:pPr>
            <a:r>
              <a:rPr sz="2050" spc="-290" dirty="0">
                <a:solidFill>
                  <a:srgbClr val="0000FF"/>
                </a:solidFill>
                <a:latin typeface="SimSun"/>
                <a:cs typeface="SimSun"/>
              </a:rPr>
              <a:t>pc’ </a:t>
            </a:r>
            <a:r>
              <a:rPr sz="2050" spc="55" dirty="0">
                <a:solidFill>
                  <a:srgbClr val="0000FF"/>
                </a:solidFill>
                <a:latin typeface="SimSun"/>
                <a:cs typeface="SimSun"/>
              </a:rPr>
              <a:t>=</a:t>
            </a:r>
            <a:r>
              <a:rPr sz="2050" spc="330" dirty="0">
                <a:solidFill>
                  <a:srgbClr val="0000FF"/>
                </a:solidFill>
                <a:latin typeface="SimSun"/>
                <a:cs typeface="SimSun"/>
              </a:rPr>
              <a:t> </a:t>
            </a:r>
            <a:r>
              <a:rPr sz="2050" spc="55" dirty="0">
                <a:solidFill>
                  <a:srgbClr val="0000FF"/>
                </a:solidFill>
                <a:latin typeface="SimSun"/>
                <a:cs typeface="SimSun"/>
              </a:rPr>
              <a:t>trying</a:t>
            </a:r>
            <a:endParaRPr sz="2050">
              <a:latin typeface="SimSun"/>
              <a:cs typeface="SimSun"/>
            </a:endParaRPr>
          </a:p>
          <a:p>
            <a:pPr marL="207645">
              <a:lnSpc>
                <a:spcPct val="100000"/>
              </a:lnSpc>
              <a:spcBef>
                <a:spcPts val="465"/>
              </a:spcBef>
            </a:pPr>
            <a:r>
              <a:rPr sz="2050" spc="55" dirty="0">
                <a:solidFill>
                  <a:srgbClr val="0000FF"/>
                </a:solidFill>
                <a:latin typeface="SimSun"/>
                <a:cs typeface="SimSun"/>
              </a:rPr>
              <a:t>[]</a:t>
            </a:r>
            <a:endParaRPr sz="2050">
              <a:latin typeface="SimSun"/>
              <a:cs typeface="SimSun"/>
            </a:endParaRPr>
          </a:p>
          <a:p>
            <a:pPr marL="1584960" marR="5080" indent="-964565">
              <a:lnSpc>
                <a:spcPct val="118900"/>
              </a:lnSpc>
            </a:pPr>
            <a:r>
              <a:rPr sz="2050" spc="55" dirty="0">
                <a:solidFill>
                  <a:srgbClr val="0000FF"/>
                </a:solidFill>
                <a:latin typeface="SimSun"/>
                <a:cs typeface="SimSun"/>
              </a:rPr>
              <a:t>enter: pc = trying AND (other_t = 0 OR my_t &lt; other_t) --&gt;  </a:t>
            </a:r>
            <a:r>
              <a:rPr sz="2050" spc="-290" dirty="0">
                <a:solidFill>
                  <a:srgbClr val="0000FF"/>
                </a:solidFill>
                <a:latin typeface="SimSun"/>
                <a:cs typeface="SimSun"/>
              </a:rPr>
              <a:t>pc’ </a:t>
            </a:r>
            <a:r>
              <a:rPr sz="2050" spc="55" dirty="0">
                <a:solidFill>
                  <a:srgbClr val="0000FF"/>
                </a:solidFill>
                <a:latin typeface="SimSun"/>
                <a:cs typeface="SimSun"/>
              </a:rPr>
              <a:t>=</a:t>
            </a:r>
            <a:r>
              <a:rPr sz="2050" spc="330"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marL="207645">
              <a:lnSpc>
                <a:spcPct val="100000"/>
              </a:lnSpc>
              <a:spcBef>
                <a:spcPts val="465"/>
              </a:spcBef>
            </a:pPr>
            <a:r>
              <a:rPr sz="2050" spc="55" dirty="0">
                <a:solidFill>
                  <a:srgbClr val="0000FF"/>
                </a:solidFill>
                <a:latin typeface="SimSun"/>
                <a:cs typeface="SimSun"/>
              </a:rPr>
              <a:t>[]</a:t>
            </a:r>
            <a:endParaRPr sz="2050">
              <a:latin typeface="SimSun"/>
              <a:cs typeface="SimSun"/>
            </a:endParaRPr>
          </a:p>
        </p:txBody>
      </p:sp>
      <p:sp>
        <p:nvSpPr>
          <p:cNvPr id="7" name="object 7"/>
          <p:cNvSpPr txBox="1"/>
          <p:nvPr/>
        </p:nvSpPr>
        <p:spPr>
          <a:xfrm>
            <a:off x="1177273" y="4433493"/>
            <a:ext cx="852169" cy="338455"/>
          </a:xfrm>
          <a:prstGeom prst="rect">
            <a:avLst/>
          </a:prstGeom>
        </p:spPr>
        <p:txBody>
          <a:bodyPr vert="horz" wrap="square" lIns="0" tIns="0" rIns="0" bIns="0" rtlCol="0">
            <a:spAutoFit/>
          </a:bodyPr>
          <a:lstStyle/>
          <a:p>
            <a:pPr marL="12700">
              <a:lnSpc>
                <a:spcPct val="100000"/>
              </a:lnSpc>
            </a:pPr>
            <a:r>
              <a:rPr sz="2050" spc="50" dirty="0">
                <a:solidFill>
                  <a:srgbClr val="0000FF"/>
                </a:solidFill>
                <a:latin typeface="SimSun"/>
                <a:cs typeface="SimSun"/>
              </a:rPr>
              <a:t>leave</a:t>
            </a:r>
            <a:r>
              <a:rPr sz="2050" spc="55" dirty="0">
                <a:solidFill>
                  <a:srgbClr val="0000FF"/>
                </a:solidFill>
                <a:latin typeface="SimSun"/>
                <a:cs typeface="SimSun"/>
              </a:rPr>
              <a:t>:</a:t>
            </a:r>
            <a:endParaRPr sz="2050">
              <a:latin typeface="SimSun"/>
              <a:cs typeface="SimSun"/>
            </a:endParaRPr>
          </a:p>
        </p:txBody>
      </p:sp>
      <p:sp>
        <p:nvSpPr>
          <p:cNvPr id="8" name="object 8"/>
          <p:cNvSpPr txBox="1"/>
          <p:nvPr/>
        </p:nvSpPr>
        <p:spPr>
          <a:xfrm>
            <a:off x="2279356" y="4374446"/>
            <a:ext cx="2367915" cy="1140460"/>
          </a:xfrm>
          <a:prstGeom prst="rect">
            <a:avLst/>
          </a:prstGeom>
        </p:spPr>
        <p:txBody>
          <a:bodyPr vert="horz" wrap="square" lIns="0" tIns="0" rIns="0" bIns="0" rtlCol="0">
            <a:spAutoFit/>
          </a:bodyPr>
          <a:lstStyle/>
          <a:p>
            <a:pPr marL="12700" marR="5080">
              <a:lnSpc>
                <a:spcPct val="118900"/>
              </a:lnSpc>
            </a:pPr>
            <a:r>
              <a:rPr sz="2050" spc="55" dirty="0">
                <a:solidFill>
                  <a:srgbClr val="0000FF"/>
                </a:solidFill>
                <a:latin typeface="SimSun"/>
                <a:cs typeface="SimSun"/>
              </a:rPr>
              <a:t>pc = critical</a:t>
            </a:r>
            <a:r>
              <a:rPr sz="2050" spc="-15" dirty="0">
                <a:solidFill>
                  <a:srgbClr val="0000FF"/>
                </a:solidFill>
                <a:latin typeface="SimSun"/>
                <a:cs typeface="SimSun"/>
              </a:rPr>
              <a:t> </a:t>
            </a:r>
            <a:r>
              <a:rPr sz="2050" spc="55" dirty="0">
                <a:solidFill>
                  <a:srgbClr val="0000FF"/>
                </a:solidFill>
                <a:latin typeface="SimSun"/>
                <a:cs typeface="SimSun"/>
              </a:rPr>
              <a:t>--&gt;  </a:t>
            </a:r>
            <a:r>
              <a:rPr sz="2050" spc="-150" dirty="0">
                <a:solidFill>
                  <a:srgbClr val="0000FF"/>
                </a:solidFill>
                <a:latin typeface="SimSun"/>
                <a:cs typeface="SimSun"/>
              </a:rPr>
              <a:t>my_t’ </a:t>
            </a:r>
            <a:r>
              <a:rPr sz="2050" spc="55" dirty="0">
                <a:solidFill>
                  <a:srgbClr val="0000FF"/>
                </a:solidFill>
                <a:latin typeface="SimSun"/>
                <a:cs typeface="SimSun"/>
              </a:rPr>
              <a:t>=</a:t>
            </a:r>
            <a:r>
              <a:rPr sz="2050" spc="175" dirty="0">
                <a:solidFill>
                  <a:srgbClr val="0000FF"/>
                </a:solidFill>
                <a:latin typeface="SimSun"/>
                <a:cs typeface="SimSun"/>
              </a:rPr>
              <a:t> </a:t>
            </a:r>
            <a:r>
              <a:rPr sz="2050" spc="55" dirty="0">
                <a:solidFill>
                  <a:srgbClr val="0000FF"/>
                </a:solidFill>
                <a:latin typeface="SimSun"/>
                <a:cs typeface="SimSun"/>
              </a:rPr>
              <a:t>0;</a:t>
            </a:r>
            <a:endParaRPr sz="2050">
              <a:latin typeface="SimSun"/>
              <a:cs typeface="SimSun"/>
            </a:endParaRPr>
          </a:p>
          <a:p>
            <a:pPr marL="12700">
              <a:lnSpc>
                <a:spcPct val="100000"/>
              </a:lnSpc>
              <a:spcBef>
                <a:spcPts val="465"/>
              </a:spcBef>
            </a:pPr>
            <a:r>
              <a:rPr sz="2050" spc="-290" dirty="0">
                <a:solidFill>
                  <a:srgbClr val="0000FF"/>
                </a:solidFill>
                <a:latin typeface="SimSun"/>
                <a:cs typeface="SimSun"/>
              </a:rPr>
              <a:t>pc’ </a:t>
            </a:r>
            <a:r>
              <a:rPr sz="2050" spc="55" dirty="0">
                <a:solidFill>
                  <a:srgbClr val="0000FF"/>
                </a:solidFill>
                <a:latin typeface="SimSun"/>
                <a:cs typeface="SimSun"/>
              </a:rPr>
              <a:t>=</a:t>
            </a:r>
            <a:r>
              <a:rPr sz="2050" spc="330" dirty="0">
                <a:solidFill>
                  <a:srgbClr val="0000FF"/>
                </a:solidFill>
                <a:latin typeface="SimSun"/>
                <a:cs typeface="SimSun"/>
              </a:rPr>
              <a:t> </a:t>
            </a:r>
            <a:r>
              <a:rPr sz="2050" spc="55" dirty="0">
                <a:solidFill>
                  <a:srgbClr val="0000FF"/>
                </a:solidFill>
                <a:latin typeface="SimSun"/>
                <a:cs typeface="SimSun"/>
              </a:rPr>
              <a:t>idle</a:t>
            </a:r>
            <a:endParaRPr sz="2050">
              <a:latin typeface="SimSun"/>
              <a:cs typeface="SimSun"/>
            </a:endParaRPr>
          </a:p>
        </p:txBody>
      </p:sp>
      <p:sp>
        <p:nvSpPr>
          <p:cNvPr id="9" name="object 9"/>
          <p:cNvSpPr txBox="1"/>
          <p:nvPr/>
        </p:nvSpPr>
        <p:spPr>
          <a:xfrm>
            <a:off x="901697" y="5489099"/>
            <a:ext cx="576580" cy="768985"/>
          </a:xfrm>
          <a:prstGeom prst="rect">
            <a:avLst/>
          </a:prstGeom>
        </p:spPr>
        <p:txBody>
          <a:bodyPr vert="horz" wrap="square" lIns="0" tIns="0" rIns="0" bIns="0" rtlCol="0">
            <a:spAutoFit/>
          </a:bodyPr>
          <a:lstStyle/>
          <a:p>
            <a:pPr marL="12700" marR="5080">
              <a:lnSpc>
                <a:spcPct val="118900"/>
              </a:lnSpc>
            </a:pPr>
            <a:r>
              <a:rPr sz="2050" spc="55" dirty="0">
                <a:solidFill>
                  <a:srgbClr val="0000FF"/>
                </a:solidFill>
                <a:latin typeface="SimSun"/>
                <a:cs typeface="SimSun"/>
              </a:rPr>
              <a:t>]  </a:t>
            </a:r>
            <a:r>
              <a:rPr sz="2050" spc="50" dirty="0">
                <a:solidFill>
                  <a:srgbClr val="0000FF"/>
                </a:solidFill>
                <a:latin typeface="SimSun"/>
                <a:cs typeface="SimSun"/>
              </a:rPr>
              <a:t>END</a:t>
            </a:r>
            <a:r>
              <a:rPr sz="2050" spc="55" dirty="0">
                <a:solidFill>
                  <a:srgbClr val="0000FF"/>
                </a:solidFill>
                <a:latin typeface="SimSun"/>
                <a:cs typeface="SimSun"/>
              </a:rPr>
              <a:t>;</a:t>
            </a:r>
            <a:endParaRPr sz="2050">
              <a:latin typeface="SimSun"/>
              <a:cs typeface="SimSun"/>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79004" y="493469"/>
            <a:ext cx="7503795" cy="314960"/>
          </a:xfrm>
          <a:prstGeom prst="rect">
            <a:avLst/>
          </a:prstGeom>
        </p:spPr>
        <p:txBody>
          <a:bodyPr vert="horz" wrap="square" lIns="0" tIns="0" rIns="0" bIns="0" rtlCol="0">
            <a:spAutoFit/>
          </a:bodyPr>
          <a:lstStyle/>
          <a:p>
            <a:pPr marL="12700">
              <a:lnSpc>
                <a:spcPct val="100000"/>
              </a:lnSpc>
            </a:pPr>
            <a:r>
              <a:rPr sz="1950" spc="305" dirty="0">
                <a:solidFill>
                  <a:srgbClr val="231F20"/>
                </a:solidFill>
                <a:latin typeface="Arial"/>
                <a:cs typeface="Arial"/>
              </a:rPr>
              <a:t>More </a:t>
            </a:r>
            <a:r>
              <a:rPr sz="1950" spc="270" dirty="0">
                <a:solidFill>
                  <a:srgbClr val="231F20"/>
                </a:solidFill>
                <a:latin typeface="Arial"/>
                <a:cs typeface="Arial"/>
              </a:rPr>
              <a:t>Formal </a:t>
            </a:r>
            <a:r>
              <a:rPr sz="1950" spc="300" dirty="0">
                <a:solidFill>
                  <a:srgbClr val="231F20"/>
                </a:solidFill>
                <a:latin typeface="Arial"/>
                <a:cs typeface="Arial"/>
              </a:rPr>
              <a:t>Protocol </a:t>
            </a:r>
            <a:r>
              <a:rPr sz="1950" spc="254" dirty="0">
                <a:solidFill>
                  <a:srgbClr val="231F20"/>
                </a:solidFill>
                <a:latin typeface="Arial"/>
                <a:cs typeface="Arial"/>
              </a:rPr>
              <a:t>Description </a:t>
            </a:r>
            <a:r>
              <a:rPr sz="1950" spc="270" dirty="0">
                <a:solidFill>
                  <a:srgbClr val="231F20"/>
                </a:solidFill>
                <a:latin typeface="Arial"/>
                <a:cs typeface="Arial"/>
              </a:rPr>
              <a:t>(continued</a:t>
            </a:r>
            <a:r>
              <a:rPr sz="1950" spc="680" dirty="0">
                <a:solidFill>
                  <a:srgbClr val="231F20"/>
                </a:solidFill>
                <a:latin typeface="Arial"/>
                <a:cs typeface="Arial"/>
              </a:rPr>
              <a:t> </a:t>
            </a:r>
            <a:r>
              <a:rPr sz="1950" spc="245" dirty="0">
                <a:solidFill>
                  <a:srgbClr val="231F20"/>
                </a:solidFill>
                <a:latin typeface="Arial"/>
                <a:cs typeface="Arial"/>
              </a:rPr>
              <a:t>again)</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557588" rIns="0" bIns="0" rtlCol="0">
            <a:spAutoFit/>
          </a:bodyPr>
          <a:lstStyle/>
          <a:p>
            <a:pPr marL="17780">
              <a:lnSpc>
                <a:spcPct val="100000"/>
              </a:lnSpc>
            </a:pPr>
            <a:r>
              <a:rPr spc="55" dirty="0"/>
              <a:t>P1 : MODULE = RENAME pc TO pc1 IN</a:t>
            </a:r>
            <a:r>
              <a:rPr spc="35" dirty="0"/>
              <a:t> </a:t>
            </a:r>
            <a:r>
              <a:rPr spc="55" dirty="0"/>
              <a:t>process;</a:t>
            </a:r>
          </a:p>
        </p:txBody>
      </p:sp>
      <p:sp>
        <p:nvSpPr>
          <p:cNvPr id="4" name="object 4"/>
          <p:cNvSpPr txBox="1"/>
          <p:nvPr/>
        </p:nvSpPr>
        <p:spPr>
          <a:xfrm>
            <a:off x="901700" y="2222246"/>
            <a:ext cx="7877809" cy="3682365"/>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P2 : MODULE = RENAME other_t TO</a:t>
            </a:r>
            <a:r>
              <a:rPr sz="2050" spc="15" dirty="0">
                <a:solidFill>
                  <a:srgbClr val="0000FF"/>
                </a:solidFill>
                <a:latin typeface="SimSun"/>
                <a:cs typeface="SimSun"/>
              </a:rPr>
              <a:t> </a:t>
            </a:r>
            <a:r>
              <a:rPr sz="2050" spc="55" dirty="0">
                <a:solidFill>
                  <a:srgbClr val="0000FF"/>
                </a:solidFill>
                <a:latin typeface="SimSun"/>
                <a:cs typeface="SimSun"/>
              </a:rPr>
              <a:t>my_t,</a:t>
            </a:r>
            <a:endParaRPr sz="2050">
              <a:latin typeface="SimSun"/>
              <a:cs typeface="SimSun"/>
            </a:endParaRPr>
          </a:p>
          <a:p>
            <a:pPr marL="137795" algn="ctr">
              <a:lnSpc>
                <a:spcPct val="100000"/>
              </a:lnSpc>
              <a:spcBef>
                <a:spcPts val="465"/>
              </a:spcBef>
            </a:pPr>
            <a:r>
              <a:rPr sz="2050" spc="55" dirty="0">
                <a:solidFill>
                  <a:srgbClr val="0000FF"/>
                </a:solidFill>
                <a:latin typeface="SimSun"/>
                <a:cs typeface="SimSun"/>
              </a:rPr>
              <a:t>my_t TO</a:t>
            </a:r>
            <a:r>
              <a:rPr sz="2050" spc="-25" dirty="0">
                <a:solidFill>
                  <a:srgbClr val="0000FF"/>
                </a:solidFill>
                <a:latin typeface="SimSun"/>
                <a:cs typeface="SimSun"/>
              </a:rPr>
              <a:t> </a:t>
            </a:r>
            <a:r>
              <a:rPr sz="2050" spc="55" dirty="0">
                <a:solidFill>
                  <a:srgbClr val="0000FF"/>
                </a:solidFill>
                <a:latin typeface="SimSun"/>
                <a:cs typeface="SimSun"/>
              </a:rPr>
              <a:t>other_t,</a:t>
            </a:r>
            <a:endParaRPr sz="2050">
              <a:latin typeface="SimSun"/>
              <a:cs typeface="SimSun"/>
            </a:endParaRPr>
          </a:p>
          <a:p>
            <a:pPr marL="2905125">
              <a:lnSpc>
                <a:spcPct val="100000"/>
              </a:lnSpc>
              <a:spcBef>
                <a:spcPts val="465"/>
              </a:spcBef>
            </a:pPr>
            <a:r>
              <a:rPr sz="2050" spc="55" dirty="0">
                <a:solidFill>
                  <a:srgbClr val="0000FF"/>
                </a:solidFill>
                <a:latin typeface="SimSun"/>
                <a:cs typeface="SimSun"/>
              </a:rPr>
              <a:t>pc TO pc2 IN</a:t>
            </a:r>
            <a:r>
              <a:rPr sz="2050" spc="-5" dirty="0">
                <a:solidFill>
                  <a:srgbClr val="0000FF"/>
                </a:solidFill>
                <a:latin typeface="SimSun"/>
                <a:cs typeface="SimSun"/>
              </a:rPr>
              <a:t> </a:t>
            </a:r>
            <a:r>
              <a:rPr sz="2050" spc="55" dirty="0">
                <a:solidFill>
                  <a:srgbClr val="0000FF"/>
                </a:solidFill>
                <a:latin typeface="SimSun"/>
                <a:cs typeface="SimSun"/>
              </a:rPr>
              <a:t>process;</a:t>
            </a:r>
            <a:endParaRPr sz="2050">
              <a:latin typeface="SimSun"/>
              <a:cs typeface="SimSun"/>
            </a:endParaRPr>
          </a:p>
          <a:p>
            <a:pPr>
              <a:lnSpc>
                <a:spcPct val="100000"/>
              </a:lnSpc>
              <a:spcBef>
                <a:spcPts val="56"/>
              </a:spcBef>
            </a:pPr>
            <a:endParaRPr sz="2900">
              <a:latin typeface="Times New Roman"/>
              <a:cs typeface="Times New Roman"/>
            </a:endParaRPr>
          </a:p>
          <a:p>
            <a:pPr marL="12700">
              <a:lnSpc>
                <a:spcPct val="100000"/>
              </a:lnSpc>
            </a:pPr>
            <a:r>
              <a:rPr sz="2050" spc="55" dirty="0">
                <a:solidFill>
                  <a:srgbClr val="0000FF"/>
                </a:solidFill>
                <a:latin typeface="SimSun"/>
                <a:cs typeface="SimSun"/>
              </a:rPr>
              <a:t>system : MODULE = P1 []</a:t>
            </a:r>
            <a:r>
              <a:rPr sz="2050" spc="10" dirty="0">
                <a:solidFill>
                  <a:srgbClr val="0000FF"/>
                </a:solidFill>
                <a:latin typeface="SimSun"/>
                <a:cs typeface="SimSun"/>
              </a:rPr>
              <a:t> </a:t>
            </a:r>
            <a:r>
              <a:rPr sz="2050" spc="55" dirty="0">
                <a:solidFill>
                  <a:srgbClr val="0000FF"/>
                </a:solidFill>
                <a:latin typeface="SimSun"/>
                <a:cs typeface="SimSun"/>
              </a:rPr>
              <a:t>P2;</a:t>
            </a:r>
            <a:endParaRPr sz="2050">
              <a:latin typeface="SimSun"/>
              <a:cs typeface="SimSun"/>
            </a:endParaRPr>
          </a:p>
          <a:p>
            <a:pPr>
              <a:lnSpc>
                <a:spcPct val="100000"/>
              </a:lnSpc>
              <a:spcBef>
                <a:spcPts val="57"/>
              </a:spcBef>
            </a:pPr>
            <a:endParaRPr sz="2900">
              <a:latin typeface="Times New Roman"/>
              <a:cs typeface="Times New Roman"/>
            </a:endParaRPr>
          </a:p>
          <a:p>
            <a:pPr marL="12700">
              <a:lnSpc>
                <a:spcPct val="100000"/>
              </a:lnSpc>
            </a:pPr>
            <a:r>
              <a:rPr sz="2050" spc="55" dirty="0">
                <a:solidFill>
                  <a:srgbClr val="0000FF"/>
                </a:solidFill>
                <a:latin typeface="SimSun"/>
                <a:cs typeface="SimSun"/>
              </a:rPr>
              <a:t>safety:</a:t>
            </a:r>
            <a:r>
              <a:rPr sz="2050" spc="-35" dirty="0">
                <a:solidFill>
                  <a:srgbClr val="0000FF"/>
                </a:solidFill>
                <a:latin typeface="SimSun"/>
                <a:cs typeface="SimSun"/>
              </a:rPr>
              <a:t> </a:t>
            </a:r>
            <a:r>
              <a:rPr sz="2050" spc="55" dirty="0">
                <a:solidFill>
                  <a:srgbClr val="0000FF"/>
                </a:solidFill>
                <a:latin typeface="SimSun"/>
                <a:cs typeface="SimSun"/>
              </a:rPr>
              <a:t>THEOREM</a:t>
            </a:r>
            <a:endParaRPr sz="2050">
              <a:latin typeface="SimSun"/>
              <a:cs typeface="SimSun"/>
            </a:endParaRPr>
          </a:p>
          <a:p>
            <a:pPr marL="563245">
              <a:lnSpc>
                <a:spcPct val="100000"/>
              </a:lnSpc>
              <a:spcBef>
                <a:spcPts val="465"/>
              </a:spcBef>
            </a:pPr>
            <a:r>
              <a:rPr sz="2050" spc="55" dirty="0">
                <a:solidFill>
                  <a:srgbClr val="0000FF"/>
                </a:solidFill>
                <a:latin typeface="SimSun"/>
                <a:cs typeface="SimSun"/>
              </a:rPr>
              <a:t>system |- G(NOT (pc1 = critical AND pc2 =</a:t>
            </a:r>
            <a:r>
              <a:rPr sz="2050" spc="35"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a:lnSpc>
                <a:spcPct val="100000"/>
              </a:lnSpc>
              <a:spcBef>
                <a:spcPts val="57"/>
              </a:spcBef>
            </a:pPr>
            <a:endParaRPr sz="2900">
              <a:latin typeface="Times New Roman"/>
              <a:cs typeface="Times New Roman"/>
            </a:endParaRPr>
          </a:p>
          <a:p>
            <a:pPr marL="12700">
              <a:lnSpc>
                <a:spcPct val="100000"/>
              </a:lnSpc>
            </a:pPr>
            <a:r>
              <a:rPr sz="2050" spc="55" dirty="0">
                <a:solidFill>
                  <a:srgbClr val="0000FF"/>
                </a:solidFill>
                <a:latin typeface="SimSun"/>
                <a:cs typeface="SimSun"/>
              </a:rPr>
              <a:t>END</a:t>
            </a:r>
            <a:endParaRPr sz="2050">
              <a:latin typeface="SimSun"/>
              <a:cs typeface="SimSu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156575" cy="6079490"/>
          </a:xfrm>
          <a:prstGeom prst="rect">
            <a:avLst/>
          </a:prstGeom>
        </p:spPr>
        <p:txBody>
          <a:bodyPr vert="horz" wrap="square" lIns="0" tIns="0" rIns="0" bIns="0" rtlCol="0">
            <a:spAutoFit/>
          </a:bodyPr>
          <a:lstStyle/>
          <a:p>
            <a:pPr marL="572135">
              <a:lnSpc>
                <a:spcPct val="100000"/>
              </a:lnSpc>
            </a:pPr>
            <a:r>
              <a:rPr sz="1950" spc="240" dirty="0">
                <a:solidFill>
                  <a:srgbClr val="231F20"/>
                </a:solidFill>
                <a:latin typeface="Arial"/>
                <a:cs typeface="Arial"/>
              </a:rPr>
              <a:t>Analyzing </a:t>
            </a:r>
            <a:r>
              <a:rPr sz="1950" spc="285" dirty="0">
                <a:solidFill>
                  <a:srgbClr val="231F20"/>
                </a:solidFill>
                <a:latin typeface="Arial"/>
                <a:cs typeface="Arial"/>
              </a:rPr>
              <a:t>the </a:t>
            </a:r>
            <a:r>
              <a:rPr sz="1950" spc="240" dirty="0">
                <a:solidFill>
                  <a:srgbClr val="231F20"/>
                </a:solidFill>
                <a:latin typeface="Arial"/>
                <a:cs typeface="Arial"/>
              </a:rPr>
              <a:t>Specification </a:t>
            </a:r>
            <a:r>
              <a:rPr sz="1950" spc="220" dirty="0">
                <a:solidFill>
                  <a:srgbClr val="231F20"/>
                </a:solidFill>
                <a:latin typeface="Arial"/>
                <a:cs typeface="Arial"/>
              </a:rPr>
              <a:t>Using </a:t>
            </a:r>
            <a:r>
              <a:rPr sz="1950" spc="305" dirty="0">
                <a:solidFill>
                  <a:srgbClr val="231F20"/>
                </a:solidFill>
                <a:latin typeface="Arial"/>
                <a:cs typeface="Arial"/>
              </a:rPr>
              <a:t>Model</a:t>
            </a:r>
            <a:r>
              <a:rPr sz="1950" spc="830"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a:p>
            <a:pPr marL="300990" marR="58419" indent="-288290">
              <a:lnSpc>
                <a:spcPct val="125000"/>
              </a:lnSpc>
              <a:spcBef>
                <a:spcPts val="1030"/>
              </a:spcBef>
              <a:buSzPct val="105128"/>
              <a:buFont typeface="Lucida Sans Unicode"/>
              <a:buChar char="•"/>
              <a:tabLst>
                <a:tab pos="301625" algn="l"/>
              </a:tabLst>
            </a:pPr>
            <a:r>
              <a:rPr sz="1950" spc="215" dirty="0">
                <a:solidFill>
                  <a:srgbClr val="231F20"/>
                </a:solidFill>
                <a:latin typeface="Arial"/>
                <a:cs typeface="Arial"/>
              </a:rPr>
              <a:t>They </a:t>
            </a:r>
            <a:r>
              <a:rPr sz="1950" spc="65" dirty="0">
                <a:solidFill>
                  <a:srgbClr val="231F20"/>
                </a:solidFill>
                <a:latin typeface="Arial"/>
                <a:cs typeface="Arial"/>
              </a:rPr>
              <a:t>are </a:t>
            </a:r>
            <a:r>
              <a:rPr sz="1950" spc="100" dirty="0">
                <a:solidFill>
                  <a:srgbClr val="231F20"/>
                </a:solidFill>
                <a:latin typeface="Arial"/>
                <a:cs typeface="Arial"/>
              </a:rPr>
              <a:t>called </a:t>
            </a:r>
            <a:r>
              <a:rPr sz="1950" spc="160" dirty="0">
                <a:solidFill>
                  <a:srgbClr val="0000FF"/>
                </a:solidFill>
                <a:latin typeface="Arial"/>
                <a:cs typeface="Arial"/>
              </a:rPr>
              <a:t>model </a:t>
            </a:r>
            <a:r>
              <a:rPr sz="1950" spc="85" dirty="0">
                <a:solidFill>
                  <a:srgbClr val="0000FF"/>
                </a:solidFill>
                <a:latin typeface="Arial"/>
                <a:cs typeface="Arial"/>
              </a:rPr>
              <a:t>checkers </a:t>
            </a:r>
            <a:r>
              <a:rPr sz="1950" spc="80" dirty="0">
                <a:solidFill>
                  <a:srgbClr val="231F20"/>
                </a:solidFill>
                <a:latin typeface="Arial"/>
                <a:cs typeface="Arial"/>
              </a:rPr>
              <a:t>because </a:t>
            </a:r>
            <a:r>
              <a:rPr sz="1950" spc="160" dirty="0">
                <a:solidFill>
                  <a:srgbClr val="231F20"/>
                </a:solidFill>
                <a:latin typeface="Arial"/>
                <a:cs typeface="Arial"/>
              </a:rPr>
              <a:t>they </a:t>
            </a:r>
            <a:r>
              <a:rPr sz="1950" spc="120" dirty="0">
                <a:solidFill>
                  <a:srgbClr val="0000FF"/>
                </a:solidFill>
                <a:latin typeface="Arial"/>
                <a:cs typeface="Arial"/>
              </a:rPr>
              <a:t>check </a:t>
            </a:r>
            <a:r>
              <a:rPr sz="1950" spc="155" dirty="0">
                <a:solidFill>
                  <a:srgbClr val="231F20"/>
                </a:solidFill>
                <a:latin typeface="Arial"/>
                <a:cs typeface="Arial"/>
              </a:rPr>
              <a:t>whether  </a:t>
            </a:r>
            <a:r>
              <a:rPr sz="1950" spc="85" dirty="0">
                <a:solidFill>
                  <a:srgbClr val="231F20"/>
                </a:solidFill>
                <a:latin typeface="Arial"/>
                <a:cs typeface="Arial"/>
              </a:rPr>
              <a:t>a </a:t>
            </a:r>
            <a:r>
              <a:rPr sz="1950" spc="125" dirty="0">
                <a:solidFill>
                  <a:srgbClr val="FF0000"/>
                </a:solidFill>
                <a:latin typeface="Arial"/>
                <a:cs typeface="Arial"/>
              </a:rPr>
              <a:t>system</a:t>
            </a:r>
            <a:r>
              <a:rPr sz="1950" spc="125" dirty="0">
                <a:solidFill>
                  <a:srgbClr val="231F20"/>
                </a:solidFill>
                <a:latin typeface="Arial"/>
                <a:cs typeface="Arial"/>
              </a:rPr>
              <a:t>, </a:t>
            </a:r>
            <a:r>
              <a:rPr sz="1950" spc="145" dirty="0">
                <a:solidFill>
                  <a:srgbClr val="231F20"/>
                </a:solidFill>
                <a:latin typeface="Arial"/>
                <a:cs typeface="Arial"/>
              </a:rPr>
              <a:t>interpreted </a:t>
            </a:r>
            <a:r>
              <a:rPr sz="1950" spc="30" dirty="0">
                <a:solidFill>
                  <a:srgbClr val="231F20"/>
                </a:solidFill>
                <a:latin typeface="Arial"/>
                <a:cs typeface="Arial"/>
              </a:rPr>
              <a:t>as </a:t>
            </a:r>
            <a:r>
              <a:rPr sz="1950" spc="120" dirty="0">
                <a:solidFill>
                  <a:srgbClr val="231F20"/>
                </a:solidFill>
                <a:latin typeface="Arial"/>
                <a:cs typeface="Arial"/>
              </a:rPr>
              <a:t>an </a:t>
            </a:r>
            <a:r>
              <a:rPr sz="1950" spc="190" dirty="0">
                <a:solidFill>
                  <a:srgbClr val="FF0000"/>
                </a:solidFill>
                <a:latin typeface="Arial"/>
                <a:cs typeface="Arial"/>
              </a:rPr>
              <a:t>automaton</a:t>
            </a:r>
            <a:r>
              <a:rPr sz="1950" spc="190" dirty="0">
                <a:solidFill>
                  <a:srgbClr val="231F20"/>
                </a:solidFill>
                <a:latin typeface="Arial"/>
                <a:cs typeface="Arial"/>
              </a:rPr>
              <a:t>, </a:t>
            </a:r>
            <a:r>
              <a:rPr sz="1950" spc="40" dirty="0">
                <a:solidFill>
                  <a:srgbClr val="231F20"/>
                </a:solidFill>
                <a:latin typeface="Arial"/>
                <a:cs typeface="Arial"/>
              </a:rPr>
              <a:t>is </a:t>
            </a:r>
            <a:r>
              <a:rPr sz="1950" spc="85" dirty="0">
                <a:solidFill>
                  <a:srgbClr val="231F20"/>
                </a:solidFill>
                <a:latin typeface="Arial"/>
                <a:cs typeface="Arial"/>
              </a:rPr>
              <a:t>a </a:t>
            </a:r>
            <a:r>
              <a:rPr sz="1950" spc="195" dirty="0">
                <a:solidFill>
                  <a:srgbClr val="231F20"/>
                </a:solidFill>
                <a:latin typeface="Arial"/>
                <a:cs typeface="Arial"/>
              </a:rPr>
              <a:t>(Kripke) </a:t>
            </a:r>
            <a:r>
              <a:rPr sz="1950" spc="160" dirty="0">
                <a:solidFill>
                  <a:srgbClr val="0000FF"/>
                </a:solidFill>
                <a:latin typeface="Arial"/>
                <a:cs typeface="Arial"/>
              </a:rPr>
              <a:t>model </a:t>
            </a:r>
            <a:r>
              <a:rPr sz="1950" spc="860" dirty="0">
                <a:solidFill>
                  <a:srgbClr val="0000FF"/>
                </a:solidFill>
                <a:latin typeface="Arial"/>
                <a:cs typeface="Arial"/>
              </a:rPr>
              <a:t> </a:t>
            </a:r>
            <a:r>
              <a:rPr sz="1950" spc="185" dirty="0">
                <a:solidFill>
                  <a:srgbClr val="231F20"/>
                </a:solidFill>
                <a:latin typeface="Arial"/>
                <a:cs typeface="Arial"/>
              </a:rPr>
              <a:t>of </a:t>
            </a:r>
            <a:r>
              <a:rPr sz="1950" spc="85" dirty="0">
                <a:solidFill>
                  <a:srgbClr val="231F20"/>
                </a:solidFill>
                <a:latin typeface="Arial"/>
                <a:cs typeface="Arial"/>
              </a:rPr>
              <a:t>a </a:t>
            </a:r>
            <a:r>
              <a:rPr sz="1950" spc="150" dirty="0">
                <a:solidFill>
                  <a:srgbClr val="FF0000"/>
                </a:solidFill>
                <a:latin typeface="Arial"/>
                <a:cs typeface="Arial"/>
              </a:rPr>
              <a:t>property </a:t>
            </a:r>
            <a:r>
              <a:rPr sz="1950" spc="55" dirty="0">
                <a:solidFill>
                  <a:srgbClr val="231F20"/>
                </a:solidFill>
                <a:latin typeface="Arial"/>
                <a:cs typeface="Arial"/>
              </a:rPr>
              <a:t>expressed </a:t>
            </a:r>
            <a:r>
              <a:rPr sz="1950" spc="30" dirty="0">
                <a:solidFill>
                  <a:srgbClr val="231F20"/>
                </a:solidFill>
                <a:latin typeface="Arial"/>
                <a:cs typeface="Arial"/>
              </a:rPr>
              <a:t>as </a:t>
            </a:r>
            <a:r>
              <a:rPr sz="1950" spc="85" dirty="0">
                <a:solidFill>
                  <a:srgbClr val="231F20"/>
                </a:solidFill>
                <a:latin typeface="Arial"/>
                <a:cs typeface="Arial"/>
              </a:rPr>
              <a:t>a </a:t>
            </a:r>
            <a:r>
              <a:rPr sz="1950" spc="165" dirty="0">
                <a:solidFill>
                  <a:srgbClr val="FF0000"/>
                </a:solidFill>
                <a:latin typeface="Arial"/>
                <a:cs typeface="Arial"/>
              </a:rPr>
              <a:t>temporal </a:t>
            </a:r>
            <a:r>
              <a:rPr sz="1950" spc="130" dirty="0">
                <a:solidFill>
                  <a:srgbClr val="FF0000"/>
                </a:solidFill>
                <a:latin typeface="Arial"/>
                <a:cs typeface="Arial"/>
              </a:rPr>
              <a:t>logic  </a:t>
            </a:r>
            <a:r>
              <a:rPr sz="1950" spc="185" dirty="0">
                <a:solidFill>
                  <a:srgbClr val="FF0000"/>
                </a:solidFill>
                <a:latin typeface="Arial"/>
                <a:cs typeface="Arial"/>
              </a:rPr>
              <a:t> </a:t>
            </a:r>
            <a:r>
              <a:rPr sz="1950" spc="160" dirty="0">
                <a:solidFill>
                  <a:srgbClr val="231F20"/>
                </a:solidFill>
                <a:latin typeface="Arial"/>
                <a:cs typeface="Arial"/>
              </a:rPr>
              <a:t>formula</a:t>
            </a:r>
            <a:endParaRPr sz="1950">
              <a:latin typeface="Arial"/>
              <a:cs typeface="Arial"/>
            </a:endParaRPr>
          </a:p>
          <a:p>
            <a:pPr marL="300990" marR="26670" indent="-288290">
              <a:lnSpc>
                <a:spcPct val="125000"/>
              </a:lnSpc>
              <a:spcBef>
                <a:spcPts val="1035"/>
              </a:spcBef>
              <a:buSzPct val="105128"/>
              <a:buFont typeface="Lucida Sans Unicode"/>
              <a:buChar char="•"/>
              <a:tabLst>
                <a:tab pos="301625" algn="l"/>
              </a:tabLst>
            </a:pPr>
            <a:r>
              <a:rPr sz="1950" spc="250" dirty="0">
                <a:solidFill>
                  <a:srgbClr val="231F20"/>
                </a:solidFill>
                <a:latin typeface="Arial"/>
                <a:cs typeface="Arial"/>
              </a:rPr>
              <a:t>The </a:t>
            </a:r>
            <a:r>
              <a:rPr sz="1950" spc="125" dirty="0">
                <a:solidFill>
                  <a:srgbClr val="231F20"/>
                </a:solidFill>
                <a:latin typeface="Arial"/>
                <a:cs typeface="Arial"/>
              </a:rPr>
              <a:t>simplest </a:t>
            </a:r>
            <a:r>
              <a:rPr sz="1950" spc="160" dirty="0">
                <a:solidFill>
                  <a:srgbClr val="231F20"/>
                </a:solidFill>
                <a:latin typeface="Arial"/>
                <a:cs typeface="Arial"/>
              </a:rPr>
              <a:t>type </a:t>
            </a:r>
            <a:r>
              <a:rPr sz="1950" spc="185" dirty="0">
                <a:solidFill>
                  <a:srgbClr val="231F20"/>
                </a:solidFill>
                <a:latin typeface="Arial"/>
                <a:cs typeface="Arial"/>
              </a:rPr>
              <a:t>of </a:t>
            </a:r>
            <a:r>
              <a:rPr sz="1950" spc="160" dirty="0">
                <a:solidFill>
                  <a:srgbClr val="231F20"/>
                </a:solidFill>
                <a:latin typeface="Arial"/>
                <a:cs typeface="Arial"/>
              </a:rPr>
              <a:t>model </a:t>
            </a:r>
            <a:r>
              <a:rPr sz="1950" spc="100" dirty="0">
                <a:solidFill>
                  <a:srgbClr val="231F20"/>
                </a:solidFill>
                <a:latin typeface="Arial"/>
                <a:cs typeface="Arial"/>
              </a:rPr>
              <a:t>checker </a:t>
            </a:r>
            <a:r>
              <a:rPr sz="1950" spc="40" dirty="0">
                <a:solidFill>
                  <a:srgbClr val="231F20"/>
                </a:solidFill>
                <a:latin typeface="Arial"/>
                <a:cs typeface="Arial"/>
              </a:rPr>
              <a:t>is </a:t>
            </a:r>
            <a:r>
              <a:rPr sz="1950" spc="105" dirty="0">
                <a:solidFill>
                  <a:srgbClr val="231F20"/>
                </a:solidFill>
                <a:latin typeface="Arial"/>
                <a:cs typeface="Arial"/>
              </a:rPr>
              <a:t>one </a:t>
            </a:r>
            <a:r>
              <a:rPr sz="1950" spc="235" dirty="0">
                <a:solidFill>
                  <a:srgbClr val="231F20"/>
                </a:solidFill>
                <a:latin typeface="Arial"/>
                <a:cs typeface="Arial"/>
              </a:rPr>
              <a:t>that </a:t>
            </a:r>
            <a:r>
              <a:rPr sz="1950" spc="90" dirty="0">
                <a:solidFill>
                  <a:srgbClr val="231F20"/>
                </a:solidFill>
                <a:latin typeface="Arial"/>
                <a:cs typeface="Arial"/>
              </a:rPr>
              <a:t>does </a:t>
            </a:r>
            <a:r>
              <a:rPr sz="1950" spc="135" dirty="0">
                <a:solidFill>
                  <a:srgbClr val="0000FF"/>
                </a:solidFill>
                <a:latin typeface="Arial"/>
                <a:cs typeface="Arial"/>
              </a:rPr>
              <a:t>explicit </a:t>
            </a:r>
            <a:r>
              <a:rPr sz="1950" spc="810" dirty="0">
                <a:solidFill>
                  <a:srgbClr val="0000FF"/>
                </a:solidFill>
                <a:latin typeface="Arial"/>
                <a:cs typeface="Arial"/>
              </a:rPr>
              <a:t> </a:t>
            </a:r>
            <a:r>
              <a:rPr sz="1950" spc="155" dirty="0">
                <a:solidFill>
                  <a:srgbClr val="0000FF"/>
                </a:solidFill>
                <a:latin typeface="Arial"/>
                <a:cs typeface="Arial"/>
              </a:rPr>
              <a:t>state</a:t>
            </a:r>
            <a:r>
              <a:rPr sz="1950" spc="229" dirty="0">
                <a:solidFill>
                  <a:srgbClr val="0000FF"/>
                </a:solidFill>
                <a:latin typeface="Arial"/>
                <a:cs typeface="Arial"/>
              </a:rPr>
              <a:t> </a:t>
            </a:r>
            <a:r>
              <a:rPr sz="1950" spc="135" dirty="0">
                <a:solidFill>
                  <a:srgbClr val="231F20"/>
                </a:solidFill>
                <a:latin typeface="Arial"/>
                <a:cs typeface="Arial"/>
              </a:rPr>
              <a:t>exploration</a:t>
            </a:r>
            <a:endParaRPr sz="1950">
              <a:latin typeface="Arial"/>
              <a:cs typeface="Arial"/>
            </a:endParaRPr>
          </a:p>
          <a:p>
            <a:pPr marL="741680" marR="5080" lvl="1" indent="-288290">
              <a:lnSpc>
                <a:spcPct val="125000"/>
              </a:lnSpc>
              <a:spcBef>
                <a:spcPts val="414"/>
              </a:spcBef>
              <a:buSzPct val="105128"/>
              <a:buFont typeface="Lucida Sans Unicode"/>
              <a:buChar char="◦"/>
              <a:tabLst>
                <a:tab pos="742315" algn="l"/>
              </a:tabLst>
            </a:pPr>
            <a:r>
              <a:rPr sz="1950" spc="95" dirty="0">
                <a:solidFill>
                  <a:srgbClr val="231F20"/>
                </a:solidFill>
                <a:latin typeface="Arial"/>
                <a:cs typeface="Arial"/>
              </a:rPr>
              <a:t>Basically, </a:t>
            </a:r>
            <a:r>
              <a:rPr sz="1950" spc="85" dirty="0">
                <a:solidFill>
                  <a:srgbClr val="231F20"/>
                </a:solidFill>
                <a:latin typeface="Arial"/>
                <a:cs typeface="Arial"/>
              </a:rPr>
              <a:t>a </a:t>
            </a:r>
            <a:r>
              <a:rPr sz="1950" spc="150" dirty="0">
                <a:solidFill>
                  <a:srgbClr val="231F20"/>
                </a:solidFill>
                <a:latin typeface="Arial"/>
                <a:cs typeface="Arial"/>
              </a:rPr>
              <a:t>simulator </a:t>
            </a:r>
            <a:r>
              <a:rPr sz="1950" spc="235" dirty="0">
                <a:solidFill>
                  <a:srgbClr val="231F20"/>
                </a:solidFill>
                <a:latin typeface="Arial"/>
                <a:cs typeface="Arial"/>
              </a:rPr>
              <a:t>that </a:t>
            </a:r>
            <a:r>
              <a:rPr sz="1950" spc="130" dirty="0">
                <a:solidFill>
                  <a:srgbClr val="231F20"/>
                </a:solidFill>
                <a:latin typeface="Arial"/>
                <a:cs typeface="Arial"/>
              </a:rPr>
              <a:t>remembers </a:t>
            </a:r>
            <a:r>
              <a:rPr sz="1950" spc="175" dirty="0">
                <a:solidFill>
                  <a:srgbClr val="231F20"/>
                </a:solidFill>
                <a:latin typeface="Arial"/>
                <a:cs typeface="Arial"/>
              </a:rPr>
              <a:t>the </a:t>
            </a:r>
            <a:r>
              <a:rPr sz="1950" spc="125" dirty="0">
                <a:solidFill>
                  <a:srgbClr val="231F20"/>
                </a:solidFill>
                <a:latin typeface="Arial"/>
                <a:cs typeface="Arial"/>
              </a:rPr>
              <a:t>states </a:t>
            </a:r>
            <a:r>
              <a:rPr sz="1950" spc="170" dirty="0">
                <a:solidFill>
                  <a:srgbClr val="231F20"/>
                </a:solidFill>
                <a:latin typeface="Arial"/>
                <a:cs typeface="Arial"/>
              </a:rPr>
              <a:t>it’s </a:t>
            </a:r>
            <a:r>
              <a:rPr sz="1950" spc="35" dirty="0">
                <a:solidFill>
                  <a:srgbClr val="231F20"/>
                </a:solidFill>
                <a:latin typeface="Arial"/>
                <a:cs typeface="Arial"/>
              </a:rPr>
              <a:t>seen  </a:t>
            </a:r>
            <a:r>
              <a:rPr sz="1950" spc="120" dirty="0">
                <a:solidFill>
                  <a:srgbClr val="231F20"/>
                </a:solidFill>
                <a:latin typeface="Arial"/>
                <a:cs typeface="Arial"/>
              </a:rPr>
              <a:t>before </a:t>
            </a:r>
            <a:r>
              <a:rPr sz="1950" spc="130" dirty="0">
                <a:solidFill>
                  <a:srgbClr val="231F20"/>
                </a:solidFill>
                <a:latin typeface="Arial"/>
                <a:cs typeface="Arial"/>
              </a:rPr>
              <a:t>and </a:t>
            </a:r>
            <a:r>
              <a:rPr sz="1950" spc="145" dirty="0">
                <a:solidFill>
                  <a:srgbClr val="231F20"/>
                </a:solidFill>
                <a:latin typeface="Arial"/>
                <a:cs typeface="Arial"/>
              </a:rPr>
              <a:t>backtracks </a:t>
            </a:r>
            <a:r>
              <a:rPr sz="1950" spc="250" dirty="0">
                <a:solidFill>
                  <a:srgbClr val="231F20"/>
                </a:solidFill>
                <a:latin typeface="Arial"/>
                <a:cs typeface="Arial"/>
              </a:rPr>
              <a:t>to </a:t>
            </a:r>
            <a:r>
              <a:rPr sz="1950" spc="95" dirty="0">
                <a:solidFill>
                  <a:srgbClr val="231F20"/>
                </a:solidFill>
                <a:latin typeface="Arial"/>
                <a:cs typeface="Arial"/>
              </a:rPr>
              <a:t>explore </a:t>
            </a:r>
            <a:r>
              <a:rPr sz="1950" spc="105" dirty="0">
                <a:solidFill>
                  <a:srgbClr val="231F20"/>
                </a:solidFill>
                <a:latin typeface="Arial"/>
                <a:cs typeface="Arial"/>
              </a:rPr>
              <a:t>all </a:t>
            </a:r>
            <a:r>
              <a:rPr sz="1950" spc="185" dirty="0">
                <a:solidFill>
                  <a:srgbClr val="231F20"/>
                </a:solidFill>
                <a:latin typeface="Arial"/>
                <a:cs typeface="Arial"/>
              </a:rPr>
              <a:t>of </a:t>
            </a:r>
            <a:r>
              <a:rPr sz="1950" spc="204" dirty="0">
                <a:solidFill>
                  <a:srgbClr val="231F20"/>
                </a:solidFill>
                <a:latin typeface="Arial"/>
                <a:cs typeface="Arial"/>
              </a:rPr>
              <a:t>them </a:t>
            </a:r>
            <a:r>
              <a:rPr sz="1950" spc="160" dirty="0">
                <a:solidFill>
                  <a:srgbClr val="231F20"/>
                </a:solidFill>
                <a:latin typeface="Arial"/>
                <a:cs typeface="Arial"/>
              </a:rPr>
              <a:t>(either  </a:t>
            </a:r>
            <a:r>
              <a:rPr sz="1950" spc="165" dirty="0">
                <a:solidFill>
                  <a:srgbClr val="231F20"/>
                </a:solidFill>
                <a:latin typeface="Arial"/>
                <a:cs typeface="Arial"/>
              </a:rPr>
              <a:t>depth-first, </a:t>
            </a:r>
            <a:r>
              <a:rPr sz="1950" spc="155" dirty="0">
                <a:solidFill>
                  <a:srgbClr val="231F20"/>
                </a:solidFill>
                <a:latin typeface="Arial"/>
                <a:cs typeface="Arial"/>
              </a:rPr>
              <a:t>breadth-first, </a:t>
            </a:r>
            <a:r>
              <a:rPr sz="1950" spc="130" dirty="0">
                <a:solidFill>
                  <a:srgbClr val="231F20"/>
                </a:solidFill>
                <a:latin typeface="Arial"/>
                <a:cs typeface="Arial"/>
              </a:rPr>
              <a:t>or </a:t>
            </a:r>
            <a:r>
              <a:rPr sz="1950" spc="85" dirty="0">
                <a:solidFill>
                  <a:srgbClr val="231F20"/>
                </a:solidFill>
                <a:latin typeface="Arial"/>
                <a:cs typeface="Arial"/>
              </a:rPr>
              <a:t>a</a:t>
            </a:r>
            <a:r>
              <a:rPr sz="1950" spc="615" dirty="0">
                <a:solidFill>
                  <a:srgbClr val="231F20"/>
                </a:solidFill>
                <a:latin typeface="Arial"/>
                <a:cs typeface="Arial"/>
              </a:rPr>
              <a:t> </a:t>
            </a:r>
            <a:r>
              <a:rPr sz="1950" spc="180" dirty="0">
                <a:solidFill>
                  <a:srgbClr val="231F20"/>
                </a:solidFill>
                <a:latin typeface="Arial"/>
                <a:cs typeface="Arial"/>
              </a:rPr>
              <a:t>combination)</a:t>
            </a:r>
            <a:endParaRPr sz="1950">
              <a:latin typeface="Arial"/>
              <a:cs typeface="Arial"/>
            </a:endParaRPr>
          </a:p>
          <a:p>
            <a:pPr marL="741680" marR="39370" lvl="1" indent="-288290">
              <a:lnSpc>
                <a:spcPct val="125000"/>
              </a:lnSpc>
              <a:spcBef>
                <a:spcPts val="204"/>
              </a:spcBef>
              <a:buSzPct val="105128"/>
              <a:buFont typeface="Lucida Sans Unicode"/>
              <a:buChar char="◦"/>
              <a:tabLst>
                <a:tab pos="742315" algn="l"/>
              </a:tabLst>
            </a:pPr>
            <a:r>
              <a:rPr sz="1950" spc="150" dirty="0">
                <a:solidFill>
                  <a:srgbClr val="231F20"/>
                </a:solidFill>
                <a:latin typeface="Arial"/>
                <a:cs typeface="Arial"/>
              </a:rPr>
              <a:t>Defeated </a:t>
            </a:r>
            <a:r>
              <a:rPr sz="1950" spc="105" dirty="0">
                <a:solidFill>
                  <a:srgbClr val="231F20"/>
                </a:solidFill>
                <a:latin typeface="Arial"/>
                <a:cs typeface="Arial"/>
              </a:rPr>
              <a:t>by </a:t>
            </a:r>
            <a:r>
              <a:rPr sz="1950" spc="175" dirty="0">
                <a:solidFill>
                  <a:srgbClr val="231F20"/>
                </a:solidFill>
                <a:latin typeface="Arial"/>
                <a:cs typeface="Arial"/>
              </a:rPr>
              <a:t>the </a:t>
            </a:r>
            <a:r>
              <a:rPr sz="1950" spc="155" dirty="0">
                <a:solidFill>
                  <a:srgbClr val="FF0000"/>
                </a:solidFill>
                <a:latin typeface="Arial"/>
                <a:cs typeface="Arial"/>
              </a:rPr>
              <a:t>state </a:t>
            </a:r>
            <a:r>
              <a:rPr sz="1950" spc="105" dirty="0">
                <a:solidFill>
                  <a:srgbClr val="FF0000"/>
                </a:solidFill>
                <a:latin typeface="Arial"/>
                <a:cs typeface="Arial"/>
              </a:rPr>
              <a:t>explosion </a:t>
            </a:r>
            <a:r>
              <a:rPr sz="1950" spc="140" dirty="0">
                <a:solidFill>
                  <a:srgbClr val="FF0000"/>
                </a:solidFill>
                <a:latin typeface="Arial"/>
                <a:cs typeface="Arial"/>
              </a:rPr>
              <a:t>problem </a:t>
            </a:r>
            <a:r>
              <a:rPr sz="1950" spc="215" dirty="0">
                <a:solidFill>
                  <a:srgbClr val="231F20"/>
                </a:solidFill>
                <a:latin typeface="Arial"/>
                <a:cs typeface="Arial"/>
              </a:rPr>
              <a:t>at </a:t>
            </a:r>
            <a:r>
              <a:rPr sz="1950" spc="135" dirty="0">
                <a:solidFill>
                  <a:srgbClr val="231F20"/>
                </a:solidFill>
                <a:latin typeface="Arial"/>
                <a:cs typeface="Arial"/>
              </a:rPr>
              <a:t>around </a:t>
            </a:r>
            <a:r>
              <a:rPr sz="1950" spc="85" dirty="0">
                <a:solidFill>
                  <a:srgbClr val="231F20"/>
                </a:solidFill>
                <a:latin typeface="Arial"/>
                <a:cs typeface="Arial"/>
              </a:rPr>
              <a:t>a </a:t>
            </a:r>
            <a:r>
              <a:rPr sz="1950" spc="155" dirty="0">
                <a:solidFill>
                  <a:srgbClr val="231F20"/>
                </a:solidFill>
                <a:latin typeface="Arial"/>
                <a:cs typeface="Arial"/>
              </a:rPr>
              <a:t>few  </a:t>
            </a:r>
            <a:r>
              <a:rPr sz="1950" spc="120" dirty="0">
                <a:solidFill>
                  <a:srgbClr val="0000FF"/>
                </a:solidFill>
                <a:latin typeface="Arial"/>
                <a:cs typeface="Arial"/>
              </a:rPr>
              <a:t>tens </a:t>
            </a:r>
            <a:r>
              <a:rPr sz="1950" spc="185" dirty="0">
                <a:solidFill>
                  <a:srgbClr val="0000FF"/>
                </a:solidFill>
                <a:latin typeface="Arial"/>
                <a:cs typeface="Arial"/>
              </a:rPr>
              <a:t>of </a:t>
            </a:r>
            <a:r>
              <a:rPr sz="1950" spc="130" dirty="0">
                <a:solidFill>
                  <a:srgbClr val="0000FF"/>
                </a:solidFill>
                <a:latin typeface="Arial"/>
                <a:cs typeface="Arial"/>
              </a:rPr>
              <a:t>millions </a:t>
            </a:r>
            <a:r>
              <a:rPr sz="1950" spc="185" dirty="0">
                <a:solidFill>
                  <a:srgbClr val="231F20"/>
                </a:solidFill>
                <a:latin typeface="Arial"/>
                <a:cs typeface="Arial"/>
              </a:rPr>
              <a:t>of</a:t>
            </a:r>
            <a:r>
              <a:rPr sz="1950" spc="615" dirty="0">
                <a:solidFill>
                  <a:srgbClr val="231F20"/>
                </a:solidFill>
                <a:latin typeface="Arial"/>
                <a:cs typeface="Arial"/>
              </a:rPr>
              <a:t> </a:t>
            </a:r>
            <a:r>
              <a:rPr sz="1950" spc="125" dirty="0">
                <a:solidFill>
                  <a:srgbClr val="231F20"/>
                </a:solidFill>
                <a:latin typeface="Arial"/>
                <a:cs typeface="Arial"/>
              </a:rPr>
              <a:t>states</a:t>
            </a:r>
            <a:endParaRPr sz="1950">
              <a:latin typeface="Arial"/>
              <a:cs typeface="Arial"/>
            </a:endParaRPr>
          </a:p>
          <a:p>
            <a:pPr marL="300990" marR="822960" indent="-288290">
              <a:lnSpc>
                <a:spcPct val="125000"/>
              </a:lnSpc>
              <a:spcBef>
                <a:spcPts val="1035"/>
              </a:spcBef>
              <a:buSzPct val="105128"/>
              <a:buFont typeface="Lucida Sans Unicode"/>
              <a:buChar char="•"/>
              <a:tabLst>
                <a:tab pos="301625" algn="l"/>
              </a:tabLst>
            </a:pPr>
            <a:r>
              <a:rPr sz="1950" spc="265" dirty="0">
                <a:solidFill>
                  <a:srgbClr val="231F20"/>
                </a:solidFill>
                <a:latin typeface="Arial"/>
                <a:cs typeface="Arial"/>
              </a:rPr>
              <a:t>To </a:t>
            </a:r>
            <a:r>
              <a:rPr sz="1950" spc="170" dirty="0">
                <a:solidFill>
                  <a:srgbClr val="231F20"/>
                </a:solidFill>
                <a:latin typeface="Arial"/>
                <a:cs typeface="Arial"/>
              </a:rPr>
              <a:t>get further, </a:t>
            </a:r>
            <a:r>
              <a:rPr sz="1950" spc="80" dirty="0">
                <a:solidFill>
                  <a:srgbClr val="231F20"/>
                </a:solidFill>
                <a:latin typeface="Arial"/>
                <a:cs typeface="Arial"/>
              </a:rPr>
              <a:t>need </a:t>
            </a:r>
            <a:r>
              <a:rPr sz="1950" spc="140" dirty="0">
                <a:solidFill>
                  <a:srgbClr val="FF0000"/>
                </a:solidFill>
                <a:latin typeface="Arial"/>
                <a:cs typeface="Arial"/>
              </a:rPr>
              <a:t>symbolic </a:t>
            </a:r>
            <a:r>
              <a:rPr sz="1950" spc="114" dirty="0">
                <a:solidFill>
                  <a:srgbClr val="231F20"/>
                </a:solidFill>
                <a:latin typeface="Arial"/>
                <a:cs typeface="Arial"/>
              </a:rPr>
              <a:t>representations </a:t>
            </a:r>
            <a:r>
              <a:rPr sz="1950" spc="195" dirty="0">
                <a:solidFill>
                  <a:srgbClr val="231F20"/>
                </a:solidFill>
                <a:latin typeface="Arial"/>
                <a:cs typeface="Arial"/>
              </a:rPr>
              <a:t>(a </a:t>
            </a:r>
            <a:r>
              <a:rPr sz="1950" spc="145" dirty="0">
                <a:solidFill>
                  <a:srgbClr val="231F20"/>
                </a:solidFill>
                <a:latin typeface="Arial"/>
                <a:cs typeface="Arial"/>
              </a:rPr>
              <a:t>short  </a:t>
            </a:r>
            <a:r>
              <a:rPr sz="1950" spc="160" dirty="0">
                <a:solidFill>
                  <a:srgbClr val="231F20"/>
                </a:solidFill>
                <a:latin typeface="Arial"/>
                <a:cs typeface="Arial"/>
              </a:rPr>
              <a:t>formula </a:t>
            </a:r>
            <a:r>
              <a:rPr sz="1950" spc="120" dirty="0">
                <a:solidFill>
                  <a:srgbClr val="231F20"/>
                </a:solidFill>
                <a:latin typeface="Arial"/>
                <a:cs typeface="Arial"/>
              </a:rPr>
              <a:t>can </a:t>
            </a:r>
            <a:r>
              <a:rPr sz="1950" spc="105" dirty="0">
                <a:solidFill>
                  <a:srgbClr val="231F20"/>
                </a:solidFill>
                <a:latin typeface="Arial"/>
                <a:cs typeface="Arial"/>
              </a:rPr>
              <a:t>represent </a:t>
            </a:r>
            <a:r>
              <a:rPr sz="1950" spc="165" dirty="0">
                <a:solidFill>
                  <a:srgbClr val="231F20"/>
                </a:solidFill>
                <a:latin typeface="Arial"/>
                <a:cs typeface="Arial"/>
              </a:rPr>
              <a:t>many </a:t>
            </a:r>
            <a:r>
              <a:rPr sz="1950" spc="135" dirty="0">
                <a:solidFill>
                  <a:srgbClr val="231F20"/>
                </a:solidFill>
                <a:latin typeface="Arial"/>
                <a:cs typeface="Arial"/>
              </a:rPr>
              <a:t>explicit </a:t>
            </a:r>
            <a:r>
              <a:rPr sz="1950" spc="165" dirty="0">
                <a:solidFill>
                  <a:srgbClr val="231F20"/>
                </a:solidFill>
                <a:latin typeface="Arial"/>
                <a:cs typeface="Arial"/>
              </a:rPr>
              <a:t> </a:t>
            </a:r>
            <a:r>
              <a:rPr sz="1950" spc="150" dirty="0">
                <a:solidFill>
                  <a:srgbClr val="231F20"/>
                </a:solidFill>
                <a:latin typeface="Arial"/>
                <a:cs typeface="Arial"/>
              </a:rPr>
              <a:t>states)</a:t>
            </a:r>
            <a:endParaRPr sz="1950">
              <a:latin typeface="Arial"/>
              <a:cs typeface="Arial"/>
            </a:endParaRPr>
          </a:p>
          <a:p>
            <a:pPr marL="741680" lvl="1" indent="-288290">
              <a:lnSpc>
                <a:spcPct val="100000"/>
              </a:lnSpc>
              <a:spcBef>
                <a:spcPts val="994"/>
              </a:spcBef>
              <a:buClr>
                <a:srgbClr val="231F20"/>
              </a:buClr>
              <a:buSzPct val="105128"/>
              <a:buFont typeface="Lucida Sans Unicode"/>
              <a:buChar char="◦"/>
              <a:tabLst>
                <a:tab pos="742315" algn="l"/>
              </a:tabLst>
            </a:pPr>
            <a:r>
              <a:rPr sz="1950" spc="150" dirty="0">
                <a:solidFill>
                  <a:srgbClr val="0000FF"/>
                </a:solidFill>
                <a:latin typeface="Arial"/>
                <a:cs typeface="Arial"/>
              </a:rPr>
              <a:t>Symbolic </a:t>
            </a:r>
            <a:r>
              <a:rPr sz="1950" spc="160" dirty="0">
                <a:solidFill>
                  <a:srgbClr val="0000FF"/>
                </a:solidFill>
                <a:latin typeface="Arial"/>
                <a:cs typeface="Arial"/>
              </a:rPr>
              <a:t>model </a:t>
            </a:r>
            <a:r>
              <a:rPr sz="1950" spc="85" dirty="0">
                <a:solidFill>
                  <a:srgbClr val="0000FF"/>
                </a:solidFill>
                <a:latin typeface="Arial"/>
                <a:cs typeface="Arial"/>
              </a:rPr>
              <a:t>checkers </a:t>
            </a:r>
            <a:r>
              <a:rPr sz="1950" spc="45" dirty="0">
                <a:solidFill>
                  <a:srgbClr val="231F20"/>
                </a:solidFill>
                <a:latin typeface="Arial"/>
                <a:cs typeface="Arial"/>
              </a:rPr>
              <a:t>use </a:t>
            </a:r>
            <a:r>
              <a:rPr sz="1950" spc="135" dirty="0">
                <a:solidFill>
                  <a:srgbClr val="231F20"/>
                </a:solidFill>
                <a:latin typeface="Arial"/>
                <a:cs typeface="Arial"/>
              </a:rPr>
              <a:t> </a:t>
            </a:r>
            <a:r>
              <a:rPr sz="1950" spc="245" dirty="0">
                <a:solidFill>
                  <a:srgbClr val="FF0000"/>
                </a:solidFill>
                <a:latin typeface="Arial"/>
                <a:cs typeface="Arial"/>
              </a:rPr>
              <a:t>BDDs</a:t>
            </a:r>
            <a:endParaRPr sz="1950">
              <a:latin typeface="Arial"/>
              <a:cs typeface="Arial"/>
            </a:endParaRPr>
          </a:p>
          <a:p>
            <a:pPr marL="741680" lvl="1" indent="-288290">
              <a:lnSpc>
                <a:spcPct val="100000"/>
              </a:lnSpc>
              <a:spcBef>
                <a:spcPts val="790"/>
              </a:spcBef>
              <a:buClr>
                <a:srgbClr val="231F20"/>
              </a:buClr>
              <a:buSzPct val="105128"/>
              <a:buFont typeface="Lucida Sans Unicode"/>
              <a:buChar char="◦"/>
              <a:tabLst>
                <a:tab pos="742315" algn="l"/>
              </a:tabLst>
            </a:pPr>
            <a:r>
              <a:rPr sz="1950" spc="155" dirty="0">
                <a:solidFill>
                  <a:srgbClr val="0000FF"/>
                </a:solidFill>
                <a:latin typeface="Arial"/>
                <a:cs typeface="Arial"/>
              </a:rPr>
              <a:t>Bounded </a:t>
            </a:r>
            <a:r>
              <a:rPr sz="1950" spc="160" dirty="0">
                <a:solidFill>
                  <a:srgbClr val="0000FF"/>
                </a:solidFill>
                <a:latin typeface="Arial"/>
                <a:cs typeface="Arial"/>
              </a:rPr>
              <a:t>model </a:t>
            </a:r>
            <a:r>
              <a:rPr sz="1950" spc="85" dirty="0">
                <a:solidFill>
                  <a:srgbClr val="0000FF"/>
                </a:solidFill>
                <a:latin typeface="Arial"/>
                <a:cs typeface="Arial"/>
              </a:rPr>
              <a:t>checkers </a:t>
            </a:r>
            <a:r>
              <a:rPr sz="1950" spc="45" dirty="0">
                <a:solidFill>
                  <a:srgbClr val="231F20"/>
                </a:solidFill>
                <a:latin typeface="Arial"/>
                <a:cs typeface="Arial"/>
              </a:rPr>
              <a:t>use </a:t>
            </a:r>
            <a:r>
              <a:rPr sz="1950" spc="250" dirty="0">
                <a:solidFill>
                  <a:srgbClr val="FF0000"/>
                </a:solidFill>
                <a:latin typeface="Arial"/>
                <a:cs typeface="Arial"/>
              </a:rPr>
              <a:t>SAT </a:t>
            </a:r>
            <a:r>
              <a:rPr sz="1950" spc="130" dirty="0">
                <a:solidFill>
                  <a:srgbClr val="231F20"/>
                </a:solidFill>
                <a:latin typeface="Arial"/>
                <a:cs typeface="Arial"/>
              </a:rPr>
              <a:t>and </a:t>
            </a:r>
            <a:r>
              <a:rPr sz="1950" spc="350" dirty="0">
                <a:solidFill>
                  <a:srgbClr val="FF0000"/>
                </a:solidFill>
                <a:latin typeface="Arial"/>
                <a:cs typeface="Arial"/>
              </a:rPr>
              <a:t>SMT</a:t>
            </a:r>
            <a:r>
              <a:rPr sz="1950" spc="1145" dirty="0">
                <a:solidFill>
                  <a:srgbClr val="FF0000"/>
                </a:solidFill>
                <a:latin typeface="Arial"/>
                <a:cs typeface="Arial"/>
              </a:rPr>
              <a:t> </a:t>
            </a:r>
            <a:r>
              <a:rPr sz="1950" spc="75" dirty="0">
                <a:solidFill>
                  <a:srgbClr val="FF0000"/>
                </a:solidFill>
                <a:latin typeface="Arial"/>
                <a:cs typeface="Arial"/>
              </a:rPr>
              <a:t>solvers</a:t>
            </a:r>
            <a:endParaRPr sz="1950">
              <a:latin typeface="Arial"/>
              <a:cs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8134984" cy="5835015"/>
          </a:xfrm>
          <a:prstGeom prst="rect">
            <a:avLst/>
          </a:prstGeom>
        </p:spPr>
        <p:txBody>
          <a:bodyPr vert="horz" wrap="square" lIns="0" tIns="0" rIns="0" bIns="0" rtlCol="0">
            <a:spAutoFit/>
          </a:bodyPr>
          <a:lstStyle/>
          <a:p>
            <a:pPr marL="1642745">
              <a:lnSpc>
                <a:spcPct val="100000"/>
              </a:lnSpc>
            </a:pPr>
            <a:r>
              <a:rPr sz="1950" spc="250" dirty="0">
                <a:solidFill>
                  <a:srgbClr val="231F20"/>
                </a:solidFill>
                <a:latin typeface="Arial"/>
                <a:cs typeface="Arial"/>
              </a:rPr>
              <a:t>Explicit </a:t>
            </a:r>
            <a:r>
              <a:rPr sz="1950" spc="285" dirty="0">
                <a:solidFill>
                  <a:srgbClr val="231F20"/>
                </a:solidFill>
                <a:latin typeface="Arial"/>
                <a:cs typeface="Arial"/>
              </a:rPr>
              <a:t>State </a:t>
            </a:r>
            <a:r>
              <a:rPr sz="1950" spc="225" dirty="0">
                <a:solidFill>
                  <a:srgbClr val="231F20"/>
                </a:solidFill>
                <a:latin typeface="Arial"/>
                <a:cs typeface="Arial"/>
              </a:rPr>
              <a:t>Reachability</a:t>
            </a:r>
            <a:r>
              <a:rPr sz="1950" spc="570" dirty="0">
                <a:solidFill>
                  <a:srgbClr val="231F20"/>
                </a:solidFill>
                <a:latin typeface="Arial"/>
                <a:cs typeface="Arial"/>
              </a:rPr>
              <a:t> </a:t>
            </a:r>
            <a:r>
              <a:rPr sz="1950" spc="195" dirty="0">
                <a:solidFill>
                  <a:srgbClr val="231F20"/>
                </a:solidFill>
                <a:latin typeface="Arial"/>
                <a:cs typeface="Arial"/>
              </a:rPr>
              <a:t>Analysis</a:t>
            </a:r>
            <a:endParaRPr sz="1950">
              <a:latin typeface="Arial"/>
              <a:cs typeface="Arial"/>
            </a:endParaRPr>
          </a:p>
          <a:p>
            <a:pPr marL="300990" marR="79375" indent="-288290">
              <a:lnSpc>
                <a:spcPct val="125000"/>
              </a:lnSpc>
              <a:spcBef>
                <a:spcPts val="1030"/>
              </a:spcBef>
              <a:buClr>
                <a:srgbClr val="231F20"/>
              </a:buClr>
              <a:buSzPct val="105128"/>
              <a:buFont typeface="Lucida Sans Unicode"/>
              <a:buChar char="•"/>
              <a:tabLst>
                <a:tab pos="301625" algn="l"/>
              </a:tabLst>
            </a:pPr>
            <a:r>
              <a:rPr sz="1950" spc="135" dirty="0">
                <a:solidFill>
                  <a:srgbClr val="0000FF"/>
                </a:solidFill>
                <a:latin typeface="Arial"/>
                <a:cs typeface="Arial"/>
              </a:rPr>
              <a:t>Keep </a:t>
            </a:r>
            <a:r>
              <a:rPr sz="1950" spc="85" dirty="0">
                <a:solidFill>
                  <a:srgbClr val="0000FF"/>
                </a:solidFill>
                <a:latin typeface="Arial"/>
                <a:cs typeface="Arial"/>
              </a:rPr>
              <a:t>a </a:t>
            </a:r>
            <a:r>
              <a:rPr sz="1950" spc="110" dirty="0">
                <a:solidFill>
                  <a:srgbClr val="0000FF"/>
                </a:solidFill>
                <a:latin typeface="Arial"/>
                <a:cs typeface="Arial"/>
              </a:rPr>
              <a:t>set </a:t>
            </a:r>
            <a:r>
              <a:rPr sz="1950" spc="185" dirty="0">
                <a:solidFill>
                  <a:srgbClr val="0000FF"/>
                </a:solidFill>
                <a:latin typeface="Arial"/>
                <a:cs typeface="Arial"/>
              </a:rPr>
              <a:t>of </a:t>
            </a:r>
            <a:r>
              <a:rPr sz="1950" spc="105" dirty="0">
                <a:solidFill>
                  <a:srgbClr val="0000FF"/>
                </a:solidFill>
                <a:latin typeface="Arial"/>
                <a:cs typeface="Arial"/>
              </a:rPr>
              <a:t>all </a:t>
            </a:r>
            <a:r>
              <a:rPr sz="1950" spc="125" dirty="0">
                <a:solidFill>
                  <a:srgbClr val="0000FF"/>
                </a:solidFill>
                <a:latin typeface="Arial"/>
                <a:cs typeface="Arial"/>
              </a:rPr>
              <a:t>states </a:t>
            </a:r>
            <a:r>
              <a:rPr sz="1950" spc="120" dirty="0">
                <a:solidFill>
                  <a:srgbClr val="0000FF"/>
                </a:solidFill>
                <a:latin typeface="Arial"/>
                <a:cs typeface="Arial"/>
              </a:rPr>
              <a:t>visited </a:t>
            </a:r>
            <a:r>
              <a:rPr sz="1950" spc="65" dirty="0">
                <a:solidFill>
                  <a:srgbClr val="0000FF"/>
                </a:solidFill>
                <a:latin typeface="Arial"/>
                <a:cs typeface="Arial"/>
              </a:rPr>
              <a:t>so </a:t>
            </a:r>
            <a:r>
              <a:rPr sz="1950" spc="135" dirty="0">
                <a:solidFill>
                  <a:srgbClr val="0000FF"/>
                </a:solidFill>
                <a:latin typeface="Arial"/>
                <a:cs typeface="Arial"/>
              </a:rPr>
              <a:t>far, </a:t>
            </a:r>
            <a:r>
              <a:rPr sz="1950" spc="130" dirty="0">
                <a:solidFill>
                  <a:srgbClr val="0000FF"/>
                </a:solidFill>
                <a:latin typeface="Arial"/>
                <a:cs typeface="Arial"/>
              </a:rPr>
              <a:t>and </a:t>
            </a:r>
            <a:r>
              <a:rPr sz="1950" spc="85" dirty="0">
                <a:solidFill>
                  <a:srgbClr val="0000FF"/>
                </a:solidFill>
                <a:latin typeface="Arial"/>
                <a:cs typeface="Arial"/>
              </a:rPr>
              <a:t>a </a:t>
            </a:r>
            <a:r>
              <a:rPr sz="1950" spc="135" dirty="0">
                <a:solidFill>
                  <a:srgbClr val="0000FF"/>
                </a:solidFill>
                <a:latin typeface="Arial"/>
                <a:cs typeface="Arial"/>
              </a:rPr>
              <a:t>list </a:t>
            </a:r>
            <a:r>
              <a:rPr sz="1950" spc="185" dirty="0">
                <a:solidFill>
                  <a:srgbClr val="0000FF"/>
                </a:solidFill>
                <a:latin typeface="Arial"/>
                <a:cs typeface="Arial"/>
              </a:rPr>
              <a:t>of </a:t>
            </a:r>
            <a:r>
              <a:rPr sz="1950" spc="105" dirty="0">
                <a:solidFill>
                  <a:srgbClr val="0000FF"/>
                </a:solidFill>
                <a:latin typeface="Arial"/>
                <a:cs typeface="Arial"/>
              </a:rPr>
              <a:t>all </a:t>
            </a:r>
            <a:r>
              <a:rPr sz="1950" spc="125" dirty="0">
                <a:solidFill>
                  <a:srgbClr val="0000FF"/>
                </a:solidFill>
                <a:latin typeface="Arial"/>
                <a:cs typeface="Arial"/>
              </a:rPr>
              <a:t>states  </a:t>
            </a:r>
            <a:r>
              <a:rPr sz="1950" spc="105" dirty="0">
                <a:solidFill>
                  <a:srgbClr val="0000FF"/>
                </a:solidFill>
                <a:latin typeface="Arial"/>
                <a:cs typeface="Arial"/>
              </a:rPr>
              <a:t>whose </a:t>
            </a:r>
            <a:r>
              <a:rPr sz="1950" spc="55" dirty="0">
                <a:solidFill>
                  <a:srgbClr val="0000FF"/>
                </a:solidFill>
                <a:latin typeface="Arial"/>
                <a:cs typeface="Arial"/>
              </a:rPr>
              <a:t>successors </a:t>
            </a:r>
            <a:r>
              <a:rPr sz="1950" spc="95" dirty="0">
                <a:solidFill>
                  <a:srgbClr val="0000FF"/>
                </a:solidFill>
                <a:latin typeface="Arial"/>
                <a:cs typeface="Arial"/>
              </a:rPr>
              <a:t>have </a:t>
            </a:r>
            <a:r>
              <a:rPr sz="1950" spc="220" dirty="0">
                <a:solidFill>
                  <a:srgbClr val="0000FF"/>
                </a:solidFill>
                <a:latin typeface="Arial"/>
                <a:cs typeface="Arial"/>
              </a:rPr>
              <a:t>not </a:t>
            </a:r>
            <a:r>
              <a:rPr sz="1950" spc="140" dirty="0">
                <a:solidFill>
                  <a:srgbClr val="0000FF"/>
                </a:solidFill>
                <a:latin typeface="Arial"/>
                <a:cs typeface="Arial"/>
              </a:rPr>
              <a:t>yet </a:t>
            </a:r>
            <a:r>
              <a:rPr sz="1950" spc="100" dirty="0">
                <a:solidFill>
                  <a:srgbClr val="0000FF"/>
                </a:solidFill>
                <a:latin typeface="Arial"/>
                <a:cs typeface="Arial"/>
              </a:rPr>
              <a:t>been </a:t>
            </a:r>
            <a:r>
              <a:rPr sz="1950" spc="409" dirty="0">
                <a:solidFill>
                  <a:srgbClr val="0000FF"/>
                </a:solidFill>
                <a:latin typeface="Arial"/>
                <a:cs typeface="Arial"/>
              </a:rPr>
              <a:t> </a:t>
            </a:r>
            <a:r>
              <a:rPr sz="1950" spc="130" dirty="0">
                <a:solidFill>
                  <a:srgbClr val="0000FF"/>
                </a:solidFill>
                <a:latin typeface="Arial"/>
                <a:cs typeface="Arial"/>
              </a:rPr>
              <a:t>calculated</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20" dirty="0">
                <a:solidFill>
                  <a:srgbClr val="231F20"/>
                </a:solidFill>
                <a:latin typeface="Arial"/>
                <a:cs typeface="Arial"/>
              </a:rPr>
              <a:t>Initialize </a:t>
            </a:r>
            <a:r>
              <a:rPr sz="1950" spc="220" dirty="0">
                <a:solidFill>
                  <a:srgbClr val="231F20"/>
                </a:solidFill>
                <a:latin typeface="Arial"/>
                <a:cs typeface="Arial"/>
              </a:rPr>
              <a:t>both </a:t>
            </a:r>
            <a:r>
              <a:rPr sz="1950" spc="215" dirty="0">
                <a:solidFill>
                  <a:srgbClr val="231F20"/>
                </a:solidFill>
                <a:latin typeface="Arial"/>
                <a:cs typeface="Arial"/>
              </a:rPr>
              <a:t>with </a:t>
            </a:r>
            <a:r>
              <a:rPr sz="1950" spc="175" dirty="0">
                <a:solidFill>
                  <a:srgbClr val="231F20"/>
                </a:solidFill>
                <a:latin typeface="Arial"/>
                <a:cs typeface="Arial"/>
              </a:rPr>
              <a:t>the </a:t>
            </a:r>
            <a:r>
              <a:rPr sz="1950" spc="150" dirty="0">
                <a:solidFill>
                  <a:srgbClr val="231F20"/>
                </a:solidFill>
                <a:latin typeface="Arial"/>
                <a:cs typeface="Arial"/>
              </a:rPr>
              <a:t>initial</a:t>
            </a:r>
            <a:r>
              <a:rPr sz="1950" spc="640" dirty="0">
                <a:solidFill>
                  <a:srgbClr val="231F20"/>
                </a:solidFill>
                <a:latin typeface="Arial"/>
                <a:cs typeface="Arial"/>
              </a:rPr>
              <a:t> </a:t>
            </a:r>
            <a:r>
              <a:rPr sz="1950" spc="125" dirty="0">
                <a:solidFill>
                  <a:srgbClr val="231F20"/>
                </a:solidFill>
                <a:latin typeface="Arial"/>
                <a:cs typeface="Arial"/>
              </a:rPr>
              <a:t>states</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70" dirty="0">
                <a:solidFill>
                  <a:srgbClr val="0000FF"/>
                </a:solidFill>
                <a:latin typeface="Arial"/>
                <a:cs typeface="Arial"/>
              </a:rPr>
              <a:t>Pick </a:t>
            </a:r>
            <a:r>
              <a:rPr sz="1950" spc="85" dirty="0">
                <a:solidFill>
                  <a:srgbClr val="0000FF"/>
                </a:solidFill>
                <a:latin typeface="Arial"/>
                <a:cs typeface="Arial"/>
              </a:rPr>
              <a:t>a </a:t>
            </a:r>
            <a:r>
              <a:rPr sz="1950" spc="155" dirty="0">
                <a:solidFill>
                  <a:srgbClr val="0000FF"/>
                </a:solidFill>
                <a:latin typeface="Arial"/>
                <a:cs typeface="Arial"/>
              </a:rPr>
              <a:t>state </a:t>
            </a:r>
            <a:r>
              <a:rPr sz="1950" spc="170" dirty="0">
                <a:solidFill>
                  <a:srgbClr val="0000FF"/>
                </a:solidFill>
                <a:latin typeface="Arial"/>
                <a:cs typeface="Arial"/>
              </a:rPr>
              <a:t>off </a:t>
            </a:r>
            <a:r>
              <a:rPr sz="1950" spc="175" dirty="0">
                <a:solidFill>
                  <a:srgbClr val="0000FF"/>
                </a:solidFill>
                <a:latin typeface="Arial"/>
                <a:cs typeface="Arial"/>
              </a:rPr>
              <a:t>the </a:t>
            </a:r>
            <a:r>
              <a:rPr sz="1950" spc="135" dirty="0">
                <a:solidFill>
                  <a:srgbClr val="0000FF"/>
                </a:solidFill>
                <a:latin typeface="Arial"/>
                <a:cs typeface="Arial"/>
              </a:rPr>
              <a:t>list </a:t>
            </a:r>
            <a:r>
              <a:rPr sz="1950" spc="130" dirty="0">
                <a:solidFill>
                  <a:srgbClr val="0000FF"/>
                </a:solidFill>
                <a:latin typeface="Arial"/>
                <a:cs typeface="Arial"/>
              </a:rPr>
              <a:t>and calculate </a:t>
            </a:r>
            <a:r>
              <a:rPr sz="1950" spc="105" dirty="0">
                <a:solidFill>
                  <a:srgbClr val="0000FF"/>
                </a:solidFill>
                <a:latin typeface="Arial"/>
                <a:cs typeface="Arial"/>
              </a:rPr>
              <a:t>all </a:t>
            </a:r>
            <a:r>
              <a:rPr sz="1950" spc="145" dirty="0">
                <a:solidFill>
                  <a:srgbClr val="0000FF"/>
                </a:solidFill>
                <a:latin typeface="Arial"/>
                <a:cs typeface="Arial"/>
              </a:rPr>
              <a:t>its  </a:t>
            </a:r>
            <a:r>
              <a:rPr sz="1950" spc="170" dirty="0">
                <a:solidFill>
                  <a:srgbClr val="0000FF"/>
                </a:solidFill>
                <a:latin typeface="Arial"/>
                <a:cs typeface="Arial"/>
              </a:rPr>
              <a:t> </a:t>
            </a:r>
            <a:r>
              <a:rPr sz="1950" spc="55" dirty="0">
                <a:solidFill>
                  <a:srgbClr val="0000FF"/>
                </a:solidFill>
                <a:latin typeface="Arial"/>
                <a:cs typeface="Arial"/>
              </a:rPr>
              <a:t>successors</a:t>
            </a:r>
            <a:endParaRPr sz="1950">
              <a:latin typeface="Arial"/>
              <a:cs typeface="Arial"/>
            </a:endParaRPr>
          </a:p>
          <a:p>
            <a:pPr marL="300990" marR="65405" lvl="1" indent="152400">
              <a:lnSpc>
                <a:spcPct val="142700"/>
              </a:lnSpc>
              <a:buSzPct val="105128"/>
              <a:buFont typeface="Lucida Sans Unicode"/>
              <a:buChar char="◦"/>
              <a:tabLst>
                <a:tab pos="742315" algn="l"/>
              </a:tabLst>
            </a:pPr>
            <a:r>
              <a:rPr sz="1950" spc="110" dirty="0">
                <a:solidFill>
                  <a:srgbClr val="231F20"/>
                </a:solidFill>
                <a:latin typeface="Arial"/>
                <a:cs typeface="Arial"/>
              </a:rPr>
              <a:t>i.e., </a:t>
            </a:r>
            <a:r>
              <a:rPr sz="1950" spc="160" dirty="0">
                <a:solidFill>
                  <a:srgbClr val="231F20"/>
                </a:solidFill>
                <a:latin typeface="Arial"/>
                <a:cs typeface="Arial"/>
              </a:rPr>
              <a:t>run </a:t>
            </a:r>
            <a:r>
              <a:rPr sz="1950" spc="105" dirty="0">
                <a:solidFill>
                  <a:srgbClr val="231F20"/>
                </a:solidFill>
                <a:latin typeface="Arial"/>
                <a:cs typeface="Arial"/>
              </a:rPr>
              <a:t>all </a:t>
            </a:r>
            <a:r>
              <a:rPr sz="1950" spc="90" dirty="0">
                <a:solidFill>
                  <a:srgbClr val="231F20"/>
                </a:solidFill>
                <a:latin typeface="Arial"/>
                <a:cs typeface="Arial"/>
              </a:rPr>
              <a:t>possible </a:t>
            </a:r>
            <a:r>
              <a:rPr sz="1950" spc="120" dirty="0">
                <a:solidFill>
                  <a:srgbClr val="231F20"/>
                </a:solidFill>
                <a:latin typeface="Arial"/>
                <a:cs typeface="Arial"/>
              </a:rPr>
              <a:t>one-step </a:t>
            </a:r>
            <a:r>
              <a:rPr sz="1950" spc="135" dirty="0">
                <a:solidFill>
                  <a:srgbClr val="231F20"/>
                </a:solidFill>
                <a:latin typeface="Arial"/>
                <a:cs typeface="Arial"/>
              </a:rPr>
              <a:t>simulations </a:t>
            </a:r>
            <a:r>
              <a:rPr sz="1950" spc="210" dirty="0">
                <a:solidFill>
                  <a:srgbClr val="231F20"/>
                </a:solidFill>
                <a:latin typeface="Arial"/>
                <a:cs typeface="Arial"/>
              </a:rPr>
              <a:t>from </a:t>
            </a:r>
            <a:r>
              <a:rPr sz="1950" spc="235" dirty="0">
                <a:solidFill>
                  <a:srgbClr val="231F20"/>
                </a:solidFill>
                <a:latin typeface="Arial"/>
                <a:cs typeface="Arial"/>
              </a:rPr>
              <a:t>that </a:t>
            </a:r>
            <a:r>
              <a:rPr sz="1950" spc="155" dirty="0">
                <a:solidFill>
                  <a:srgbClr val="231F20"/>
                </a:solidFill>
                <a:latin typeface="Arial"/>
                <a:cs typeface="Arial"/>
              </a:rPr>
              <a:t>state  </a:t>
            </a:r>
            <a:r>
              <a:rPr sz="1950" spc="245" dirty="0">
                <a:solidFill>
                  <a:srgbClr val="0000FF"/>
                </a:solidFill>
                <a:latin typeface="Arial"/>
                <a:cs typeface="Arial"/>
              </a:rPr>
              <a:t>Throw </a:t>
            </a:r>
            <a:r>
              <a:rPr sz="1950" spc="80" dirty="0">
                <a:solidFill>
                  <a:srgbClr val="0000FF"/>
                </a:solidFill>
                <a:latin typeface="Arial"/>
                <a:cs typeface="Arial"/>
              </a:rPr>
              <a:t>away </a:t>
            </a:r>
            <a:r>
              <a:rPr sz="1950" spc="130" dirty="0">
                <a:solidFill>
                  <a:srgbClr val="0000FF"/>
                </a:solidFill>
                <a:latin typeface="Arial"/>
                <a:cs typeface="Arial"/>
              </a:rPr>
              <a:t>those </a:t>
            </a:r>
            <a:r>
              <a:rPr sz="1950" spc="35" dirty="0">
                <a:solidFill>
                  <a:srgbClr val="0000FF"/>
                </a:solidFill>
                <a:latin typeface="Arial"/>
                <a:cs typeface="Arial"/>
              </a:rPr>
              <a:t>seen </a:t>
            </a:r>
            <a:r>
              <a:rPr sz="1950" spc="50" dirty="0">
                <a:solidFill>
                  <a:srgbClr val="0000FF"/>
                </a:solidFill>
                <a:latin typeface="Arial"/>
                <a:cs typeface="Arial"/>
              </a:rPr>
              <a:t> </a:t>
            </a:r>
            <a:r>
              <a:rPr sz="1950" spc="120" dirty="0">
                <a:solidFill>
                  <a:srgbClr val="0000FF"/>
                </a:solidFill>
                <a:latin typeface="Arial"/>
                <a:cs typeface="Arial"/>
              </a:rPr>
              <a:t>before</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200" dirty="0">
                <a:solidFill>
                  <a:srgbClr val="0000FF"/>
                </a:solidFill>
                <a:latin typeface="Arial"/>
                <a:cs typeface="Arial"/>
              </a:rPr>
              <a:t>Add </a:t>
            </a:r>
            <a:r>
              <a:rPr sz="1950" spc="135" dirty="0">
                <a:solidFill>
                  <a:srgbClr val="0000FF"/>
                </a:solidFill>
                <a:latin typeface="Arial"/>
                <a:cs typeface="Arial"/>
              </a:rPr>
              <a:t>new </a:t>
            </a:r>
            <a:r>
              <a:rPr sz="1950" spc="70" dirty="0">
                <a:solidFill>
                  <a:srgbClr val="0000FF"/>
                </a:solidFill>
                <a:latin typeface="Arial"/>
                <a:cs typeface="Arial"/>
              </a:rPr>
              <a:t>ones </a:t>
            </a:r>
            <a:r>
              <a:rPr sz="1950" spc="250" dirty="0">
                <a:solidFill>
                  <a:srgbClr val="0000FF"/>
                </a:solidFill>
                <a:latin typeface="Arial"/>
                <a:cs typeface="Arial"/>
              </a:rPr>
              <a:t>to </a:t>
            </a:r>
            <a:r>
              <a:rPr sz="1950" spc="175" dirty="0">
                <a:solidFill>
                  <a:srgbClr val="0000FF"/>
                </a:solidFill>
                <a:latin typeface="Arial"/>
                <a:cs typeface="Arial"/>
              </a:rPr>
              <a:t>the </a:t>
            </a:r>
            <a:r>
              <a:rPr sz="1950" spc="110" dirty="0">
                <a:solidFill>
                  <a:srgbClr val="0000FF"/>
                </a:solidFill>
                <a:latin typeface="Arial"/>
                <a:cs typeface="Arial"/>
              </a:rPr>
              <a:t>set </a:t>
            </a:r>
            <a:r>
              <a:rPr sz="1950" spc="130" dirty="0">
                <a:solidFill>
                  <a:srgbClr val="0000FF"/>
                </a:solidFill>
                <a:latin typeface="Arial"/>
                <a:cs typeface="Arial"/>
              </a:rPr>
              <a:t>and </a:t>
            </a:r>
            <a:r>
              <a:rPr sz="1950" spc="175" dirty="0">
                <a:solidFill>
                  <a:srgbClr val="0000FF"/>
                </a:solidFill>
                <a:latin typeface="Arial"/>
                <a:cs typeface="Arial"/>
              </a:rPr>
              <a:t>the </a:t>
            </a:r>
            <a:r>
              <a:rPr sz="1950" spc="440" dirty="0">
                <a:solidFill>
                  <a:srgbClr val="0000FF"/>
                </a:solidFill>
                <a:latin typeface="Arial"/>
                <a:cs typeface="Arial"/>
              </a:rPr>
              <a:t> </a:t>
            </a:r>
            <a:r>
              <a:rPr sz="1950" spc="135" dirty="0">
                <a:solidFill>
                  <a:srgbClr val="0000FF"/>
                </a:solidFill>
                <a:latin typeface="Arial"/>
                <a:cs typeface="Arial"/>
              </a:rPr>
              <a:t>list</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30" dirty="0">
                <a:solidFill>
                  <a:srgbClr val="FF0000"/>
                </a:solidFill>
                <a:latin typeface="Arial"/>
                <a:cs typeface="Arial"/>
              </a:rPr>
              <a:t>Check </a:t>
            </a:r>
            <a:r>
              <a:rPr sz="1950" spc="90" dirty="0">
                <a:solidFill>
                  <a:srgbClr val="FF0000"/>
                </a:solidFill>
                <a:latin typeface="Arial"/>
                <a:cs typeface="Arial"/>
              </a:rPr>
              <a:t>each </a:t>
            </a:r>
            <a:r>
              <a:rPr sz="1950" spc="135" dirty="0">
                <a:solidFill>
                  <a:srgbClr val="FF0000"/>
                </a:solidFill>
                <a:latin typeface="Arial"/>
                <a:cs typeface="Arial"/>
              </a:rPr>
              <a:t>new </a:t>
            </a:r>
            <a:r>
              <a:rPr sz="1950" spc="155" dirty="0">
                <a:solidFill>
                  <a:srgbClr val="FF0000"/>
                </a:solidFill>
                <a:latin typeface="Arial"/>
                <a:cs typeface="Arial"/>
              </a:rPr>
              <a:t>state for </a:t>
            </a:r>
            <a:r>
              <a:rPr sz="1950" spc="175" dirty="0">
                <a:solidFill>
                  <a:srgbClr val="FF0000"/>
                </a:solidFill>
                <a:latin typeface="Arial"/>
                <a:cs typeface="Arial"/>
              </a:rPr>
              <a:t>the </a:t>
            </a:r>
            <a:r>
              <a:rPr sz="1950" spc="85" dirty="0">
                <a:solidFill>
                  <a:srgbClr val="FF0000"/>
                </a:solidFill>
                <a:latin typeface="Arial"/>
                <a:cs typeface="Arial"/>
              </a:rPr>
              <a:t>desired </a:t>
            </a:r>
            <a:r>
              <a:rPr sz="1950" spc="170" dirty="0">
                <a:solidFill>
                  <a:srgbClr val="FF0000"/>
                </a:solidFill>
                <a:latin typeface="Arial"/>
                <a:cs typeface="Arial"/>
              </a:rPr>
              <a:t>(invariant) </a:t>
            </a:r>
            <a:r>
              <a:rPr sz="1950" spc="645" dirty="0">
                <a:solidFill>
                  <a:srgbClr val="FF0000"/>
                </a:solidFill>
                <a:latin typeface="Arial"/>
                <a:cs typeface="Arial"/>
              </a:rPr>
              <a:t> </a:t>
            </a:r>
            <a:r>
              <a:rPr sz="1950" spc="125" dirty="0">
                <a:solidFill>
                  <a:srgbClr val="FF0000"/>
                </a:solidFill>
                <a:latin typeface="Arial"/>
                <a:cs typeface="Arial"/>
              </a:rPr>
              <a:t>properties</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65" dirty="0">
                <a:solidFill>
                  <a:srgbClr val="231F20"/>
                </a:solidFill>
                <a:latin typeface="Arial"/>
                <a:cs typeface="Arial"/>
              </a:rPr>
              <a:t>More </a:t>
            </a:r>
            <a:r>
              <a:rPr sz="1950" spc="140" dirty="0">
                <a:solidFill>
                  <a:srgbClr val="231F20"/>
                </a:solidFill>
                <a:latin typeface="Arial"/>
                <a:cs typeface="Arial"/>
              </a:rPr>
              <a:t>complex </a:t>
            </a:r>
            <a:r>
              <a:rPr sz="1950" spc="125" dirty="0">
                <a:solidFill>
                  <a:srgbClr val="231F20"/>
                </a:solidFill>
                <a:latin typeface="Arial"/>
                <a:cs typeface="Arial"/>
              </a:rPr>
              <a:t>properties </a:t>
            </a:r>
            <a:r>
              <a:rPr sz="1950" spc="45" dirty="0">
                <a:solidFill>
                  <a:srgbClr val="231F20"/>
                </a:solidFill>
                <a:latin typeface="Arial"/>
                <a:cs typeface="Arial"/>
              </a:rPr>
              <a:t>use </a:t>
            </a:r>
            <a:r>
              <a:rPr sz="1950" spc="35" dirty="0">
                <a:solidFill>
                  <a:srgbClr val="231F20"/>
                </a:solidFill>
                <a:latin typeface="Arial"/>
                <a:cs typeface="Arial"/>
              </a:rPr>
              <a:t>Bu¨chi </a:t>
            </a:r>
            <a:r>
              <a:rPr sz="1950" spc="200" dirty="0">
                <a:solidFill>
                  <a:srgbClr val="231F20"/>
                </a:solidFill>
                <a:latin typeface="Arial"/>
                <a:cs typeface="Arial"/>
              </a:rPr>
              <a:t>automaton </a:t>
            </a:r>
            <a:r>
              <a:rPr sz="1950" spc="130" dirty="0">
                <a:solidFill>
                  <a:srgbClr val="231F20"/>
                </a:solidFill>
                <a:latin typeface="Arial"/>
                <a:cs typeface="Arial"/>
              </a:rPr>
              <a:t>in </a:t>
            </a:r>
            <a:r>
              <a:rPr sz="1950" spc="610" dirty="0">
                <a:solidFill>
                  <a:srgbClr val="231F20"/>
                </a:solidFill>
                <a:latin typeface="Arial"/>
                <a:cs typeface="Arial"/>
              </a:rPr>
              <a:t> </a:t>
            </a:r>
            <a:r>
              <a:rPr sz="1950" spc="95" dirty="0">
                <a:solidFill>
                  <a:srgbClr val="231F20"/>
                </a:solidFill>
                <a:latin typeface="Arial"/>
                <a:cs typeface="Arial"/>
              </a:rPr>
              <a:t>parallel</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55" dirty="0">
                <a:solidFill>
                  <a:srgbClr val="0000FF"/>
                </a:solidFill>
                <a:latin typeface="Arial"/>
                <a:cs typeface="Arial"/>
              </a:rPr>
              <a:t>Iterate </a:t>
            </a:r>
            <a:r>
              <a:rPr sz="1950" spc="250" dirty="0">
                <a:solidFill>
                  <a:srgbClr val="0000FF"/>
                </a:solidFill>
                <a:latin typeface="Arial"/>
                <a:cs typeface="Arial"/>
              </a:rPr>
              <a:t>to </a:t>
            </a:r>
            <a:r>
              <a:rPr sz="1950" spc="175" dirty="0">
                <a:solidFill>
                  <a:srgbClr val="0000FF"/>
                </a:solidFill>
                <a:latin typeface="Arial"/>
                <a:cs typeface="Arial"/>
              </a:rPr>
              <a:t>termination, </a:t>
            </a:r>
            <a:r>
              <a:rPr sz="1950" spc="130" dirty="0">
                <a:solidFill>
                  <a:srgbClr val="0000FF"/>
                </a:solidFill>
                <a:latin typeface="Arial"/>
                <a:cs typeface="Arial"/>
              </a:rPr>
              <a:t>or </a:t>
            </a:r>
            <a:r>
              <a:rPr sz="1950" spc="110" dirty="0">
                <a:solidFill>
                  <a:srgbClr val="0000FF"/>
                </a:solidFill>
                <a:latin typeface="Arial"/>
                <a:cs typeface="Arial"/>
              </a:rPr>
              <a:t>some </a:t>
            </a:r>
            <a:r>
              <a:rPr sz="1950" spc="155" dirty="0">
                <a:solidFill>
                  <a:srgbClr val="0000FF"/>
                </a:solidFill>
                <a:latin typeface="Arial"/>
                <a:cs typeface="Arial"/>
              </a:rPr>
              <a:t>state </a:t>
            </a:r>
            <a:r>
              <a:rPr sz="1950" spc="100" dirty="0">
                <a:solidFill>
                  <a:srgbClr val="0000FF"/>
                </a:solidFill>
                <a:latin typeface="Arial"/>
                <a:cs typeface="Arial"/>
              </a:rPr>
              <a:t>fails </a:t>
            </a:r>
            <a:r>
              <a:rPr sz="1950" spc="85" dirty="0">
                <a:solidFill>
                  <a:srgbClr val="0000FF"/>
                </a:solidFill>
                <a:latin typeface="Arial"/>
                <a:cs typeface="Arial"/>
              </a:rPr>
              <a:t>a </a:t>
            </a:r>
            <a:r>
              <a:rPr sz="1950" spc="540" dirty="0">
                <a:solidFill>
                  <a:srgbClr val="0000FF"/>
                </a:solidFill>
                <a:latin typeface="Arial"/>
                <a:cs typeface="Arial"/>
              </a:rPr>
              <a:t> </a:t>
            </a:r>
            <a:r>
              <a:rPr sz="1950" spc="150" dirty="0">
                <a:solidFill>
                  <a:srgbClr val="0000FF"/>
                </a:solidFill>
                <a:latin typeface="Arial"/>
                <a:cs typeface="Arial"/>
              </a:rPr>
              <a:t>property</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285" dirty="0">
                <a:solidFill>
                  <a:srgbClr val="231F20"/>
                </a:solidFill>
                <a:latin typeface="Arial"/>
                <a:cs typeface="Arial"/>
              </a:rPr>
              <a:t>Or </a:t>
            </a:r>
            <a:r>
              <a:rPr sz="1950" spc="160" dirty="0">
                <a:solidFill>
                  <a:srgbClr val="231F20"/>
                </a:solidFill>
                <a:latin typeface="Arial"/>
                <a:cs typeface="Arial"/>
              </a:rPr>
              <a:t>run </a:t>
            </a:r>
            <a:r>
              <a:rPr sz="1950" spc="220" dirty="0">
                <a:solidFill>
                  <a:srgbClr val="231F20"/>
                </a:solidFill>
                <a:latin typeface="Arial"/>
                <a:cs typeface="Arial"/>
              </a:rPr>
              <a:t>out </a:t>
            </a:r>
            <a:r>
              <a:rPr sz="1950" spc="185" dirty="0">
                <a:solidFill>
                  <a:srgbClr val="231F20"/>
                </a:solidFill>
                <a:latin typeface="Arial"/>
                <a:cs typeface="Arial"/>
              </a:rPr>
              <a:t>of </a:t>
            </a:r>
            <a:r>
              <a:rPr sz="1950" spc="130" dirty="0">
                <a:solidFill>
                  <a:srgbClr val="231F20"/>
                </a:solidFill>
                <a:latin typeface="Arial"/>
                <a:cs typeface="Arial"/>
              </a:rPr>
              <a:t>memory, </a:t>
            </a:r>
            <a:r>
              <a:rPr sz="1950" spc="185" dirty="0">
                <a:solidFill>
                  <a:srgbClr val="231F20"/>
                </a:solidFill>
                <a:latin typeface="Arial"/>
                <a:cs typeface="Arial"/>
              </a:rPr>
              <a:t>time,</a:t>
            </a:r>
            <a:r>
              <a:rPr sz="1950" spc="670" dirty="0">
                <a:solidFill>
                  <a:srgbClr val="231F20"/>
                </a:solidFill>
                <a:latin typeface="Arial"/>
                <a:cs typeface="Arial"/>
              </a:rPr>
              <a:t> </a:t>
            </a:r>
            <a:r>
              <a:rPr sz="1950" spc="125" dirty="0">
                <a:solidFill>
                  <a:srgbClr val="231F20"/>
                </a:solidFill>
                <a:latin typeface="Arial"/>
                <a:cs typeface="Arial"/>
              </a:rPr>
              <a:t>patience</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270" dirty="0">
                <a:solidFill>
                  <a:srgbClr val="231F20"/>
                </a:solidFill>
                <a:latin typeface="Arial"/>
                <a:cs typeface="Arial"/>
              </a:rPr>
              <a:t>On </a:t>
            </a:r>
            <a:r>
              <a:rPr sz="1950" spc="125" dirty="0">
                <a:solidFill>
                  <a:srgbClr val="231F20"/>
                </a:solidFill>
                <a:latin typeface="Arial"/>
                <a:cs typeface="Arial"/>
              </a:rPr>
              <a:t>failure, </a:t>
            </a:r>
            <a:r>
              <a:rPr sz="1950" spc="135" dirty="0">
                <a:solidFill>
                  <a:srgbClr val="FF0000"/>
                </a:solidFill>
                <a:latin typeface="Arial"/>
                <a:cs typeface="Arial"/>
              </a:rPr>
              <a:t>counterexample </a:t>
            </a:r>
            <a:r>
              <a:rPr sz="1950" spc="175" dirty="0">
                <a:solidFill>
                  <a:srgbClr val="231F20"/>
                </a:solidFill>
                <a:latin typeface="Arial"/>
                <a:cs typeface="Arial"/>
              </a:rPr>
              <a:t>(backtrace) </a:t>
            </a:r>
            <a:r>
              <a:rPr sz="1950" spc="130" dirty="0">
                <a:solidFill>
                  <a:srgbClr val="231F20"/>
                </a:solidFill>
                <a:latin typeface="Arial"/>
                <a:cs typeface="Arial"/>
              </a:rPr>
              <a:t>manifests</a:t>
            </a:r>
            <a:r>
              <a:rPr sz="1950" spc="715" dirty="0">
                <a:solidFill>
                  <a:srgbClr val="231F20"/>
                </a:solidFill>
                <a:latin typeface="Arial"/>
                <a:cs typeface="Arial"/>
              </a:rPr>
              <a:t> </a:t>
            </a:r>
            <a:r>
              <a:rPr sz="1950" spc="140" dirty="0">
                <a:solidFill>
                  <a:srgbClr val="231F20"/>
                </a:solidFill>
                <a:latin typeface="Arial"/>
                <a:cs typeface="Arial"/>
              </a:rPr>
              <a:t>problem</a:t>
            </a:r>
            <a:endParaRPr sz="1950">
              <a:latin typeface="Arial"/>
              <a:cs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75981"/>
            <a:ext cx="8257540" cy="297180"/>
          </a:xfrm>
          <a:prstGeom prst="rect">
            <a:avLst/>
          </a:prstGeom>
        </p:spPr>
        <p:txBody>
          <a:bodyPr vert="horz" wrap="square" lIns="0" tIns="0" rIns="0" bIns="0" rtlCol="0">
            <a:spAutoFit/>
          </a:bodyPr>
          <a:lstStyle/>
          <a:p>
            <a:pPr marL="12700">
              <a:lnSpc>
                <a:spcPct val="100000"/>
              </a:lnSpc>
            </a:pPr>
            <a:r>
              <a:rPr sz="1950" spc="240" dirty="0">
                <a:solidFill>
                  <a:srgbClr val="231F20"/>
                </a:solidFill>
                <a:latin typeface="Arial"/>
                <a:cs typeface="Arial"/>
              </a:rPr>
              <a:t>Analyzing </a:t>
            </a:r>
            <a:r>
              <a:rPr sz="1950" spc="285" dirty="0">
                <a:solidFill>
                  <a:srgbClr val="231F20"/>
                </a:solidFill>
                <a:latin typeface="Arial"/>
                <a:cs typeface="Arial"/>
              </a:rPr>
              <a:t>the </a:t>
            </a:r>
            <a:r>
              <a:rPr sz="1950" spc="254" dirty="0">
                <a:solidFill>
                  <a:srgbClr val="231F20"/>
                </a:solidFill>
                <a:latin typeface="Arial"/>
                <a:cs typeface="Arial"/>
              </a:rPr>
              <a:t>Spec’n </a:t>
            </a:r>
            <a:r>
              <a:rPr sz="1950" spc="220" dirty="0">
                <a:solidFill>
                  <a:srgbClr val="231F20"/>
                </a:solidFill>
                <a:latin typeface="Arial"/>
                <a:cs typeface="Arial"/>
              </a:rPr>
              <a:t>Using </a:t>
            </a:r>
            <a:r>
              <a:rPr sz="1950" spc="250" dirty="0">
                <a:solidFill>
                  <a:srgbClr val="231F20"/>
                </a:solidFill>
                <a:latin typeface="Arial"/>
                <a:cs typeface="Arial"/>
              </a:rPr>
              <a:t>Explicit </a:t>
            </a:r>
            <a:r>
              <a:rPr sz="1950" spc="285" dirty="0">
                <a:solidFill>
                  <a:srgbClr val="231F20"/>
                </a:solidFill>
                <a:latin typeface="Arial"/>
                <a:cs typeface="Arial"/>
              </a:rPr>
              <a:t>State </a:t>
            </a:r>
            <a:r>
              <a:rPr sz="1950" spc="305" dirty="0">
                <a:solidFill>
                  <a:srgbClr val="231F20"/>
                </a:solidFill>
                <a:latin typeface="Arial"/>
                <a:cs typeface="Arial"/>
              </a:rPr>
              <a:t>Model</a:t>
            </a:r>
            <a:r>
              <a:rPr sz="1950" spc="434"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48498" rIns="0" bIns="0" rtlCol="0">
            <a:spAutoFit/>
          </a:bodyPr>
          <a:lstStyle/>
          <a:p>
            <a:pPr marL="300990" indent="-288290">
              <a:lnSpc>
                <a:spcPct val="100000"/>
              </a:lnSpc>
              <a:buSzPct val="105128"/>
              <a:buFont typeface="Lucida Sans Unicode"/>
              <a:buChar char="•"/>
              <a:tabLst>
                <a:tab pos="301625" algn="l"/>
              </a:tabLst>
            </a:pPr>
            <a:r>
              <a:rPr sz="1950" spc="170" dirty="0">
                <a:solidFill>
                  <a:srgbClr val="231F20"/>
                </a:solidFill>
                <a:latin typeface="Arial"/>
                <a:cs typeface="Arial"/>
              </a:rPr>
              <a:t>We’ll </a:t>
            </a:r>
            <a:r>
              <a:rPr sz="1950" spc="45" dirty="0">
                <a:solidFill>
                  <a:srgbClr val="231F20"/>
                </a:solidFill>
                <a:latin typeface="Arial"/>
                <a:cs typeface="Arial"/>
              </a:rPr>
              <a:t>use</a:t>
            </a:r>
            <a:r>
              <a:rPr sz="1950" spc="330" dirty="0">
                <a:solidFill>
                  <a:srgbClr val="231F20"/>
                </a:solidFill>
                <a:latin typeface="Arial"/>
                <a:cs typeface="Arial"/>
              </a:rPr>
              <a:t> </a:t>
            </a:r>
            <a:r>
              <a:rPr spc="55" dirty="0"/>
              <a:t>sal-esmc</a:t>
            </a:r>
            <a:endParaRPr sz="1950">
              <a:latin typeface="Arial"/>
              <a:cs typeface="Arial"/>
            </a:endParaRPr>
          </a:p>
        </p:txBody>
      </p:sp>
      <p:sp>
        <p:nvSpPr>
          <p:cNvPr id="4" name="object 4"/>
          <p:cNvSpPr txBox="1">
            <a:spLocks noGrp="1"/>
          </p:cNvSpPr>
          <p:nvPr>
            <p:ph type="body" idx="1"/>
          </p:nvPr>
        </p:nvSpPr>
        <p:spPr>
          <a:prstGeom prst="rect">
            <a:avLst/>
          </a:prstGeom>
        </p:spPr>
        <p:txBody>
          <a:bodyPr vert="horz" wrap="square" lIns="0" tIns="0" rIns="0" bIns="0" rtlCol="0">
            <a:spAutoFit/>
          </a:bodyPr>
          <a:lstStyle/>
          <a:p>
            <a:pPr marL="490855" indent="152400">
              <a:lnSpc>
                <a:spcPct val="100000"/>
              </a:lnSpc>
              <a:buSzPct val="105128"/>
              <a:buFont typeface="Lucida Sans Unicode"/>
              <a:buChar char="◦"/>
              <a:tabLst>
                <a:tab pos="932180" algn="l"/>
              </a:tabLst>
            </a:pPr>
            <a:r>
              <a:rPr spc="220" dirty="0"/>
              <a:t>An </a:t>
            </a:r>
            <a:r>
              <a:rPr spc="145" dirty="0">
                <a:solidFill>
                  <a:srgbClr val="FF0000"/>
                </a:solidFill>
              </a:rPr>
              <a:t>explicit-state </a:t>
            </a:r>
            <a:r>
              <a:rPr spc="335" dirty="0"/>
              <a:t>LTL </a:t>
            </a:r>
            <a:r>
              <a:rPr spc="160" dirty="0"/>
              <a:t>model </a:t>
            </a:r>
            <a:r>
              <a:rPr spc="100" dirty="0"/>
              <a:t>checker </a:t>
            </a:r>
            <a:r>
              <a:rPr spc="155" dirty="0"/>
              <a:t>for</a:t>
            </a:r>
            <a:r>
              <a:rPr spc="755" dirty="0"/>
              <a:t> </a:t>
            </a:r>
            <a:r>
              <a:rPr spc="225" dirty="0"/>
              <a:t>SAL</a:t>
            </a:r>
          </a:p>
          <a:p>
            <a:pPr marL="490855" marR="603885" indent="152400">
              <a:lnSpc>
                <a:spcPts val="3350"/>
              </a:lnSpc>
              <a:spcBef>
                <a:spcPts val="65"/>
              </a:spcBef>
              <a:buSzPct val="105128"/>
              <a:buFont typeface="Lucida Sans Unicode"/>
              <a:buChar char="◦"/>
              <a:tabLst>
                <a:tab pos="932180" algn="l"/>
              </a:tabLst>
            </a:pPr>
            <a:r>
              <a:rPr spc="235" dirty="0"/>
              <a:t>Not </a:t>
            </a:r>
            <a:r>
              <a:rPr spc="170" dirty="0"/>
              <a:t>part </a:t>
            </a:r>
            <a:r>
              <a:rPr spc="185" dirty="0"/>
              <a:t>of </a:t>
            </a:r>
            <a:r>
              <a:rPr spc="175" dirty="0"/>
              <a:t>the </a:t>
            </a:r>
            <a:r>
              <a:rPr spc="225" dirty="0"/>
              <a:t>SAL </a:t>
            </a:r>
            <a:r>
              <a:rPr spc="160" dirty="0"/>
              <a:t>distribution, </a:t>
            </a:r>
            <a:r>
              <a:rPr spc="165" dirty="0"/>
              <a:t>just </a:t>
            </a:r>
            <a:r>
              <a:rPr spc="70" dirty="0"/>
              <a:t>used </a:t>
            </a:r>
            <a:r>
              <a:rPr spc="155" dirty="0"/>
              <a:t>for </a:t>
            </a:r>
            <a:r>
              <a:rPr spc="120" dirty="0"/>
              <a:t>demos  </a:t>
            </a:r>
            <a:r>
              <a:rPr spc="180" dirty="0"/>
              <a:t>Later, </a:t>
            </a:r>
            <a:r>
              <a:rPr spc="130" dirty="0"/>
              <a:t>we’ll </a:t>
            </a:r>
            <a:r>
              <a:rPr spc="170" dirty="0"/>
              <a:t>look </a:t>
            </a:r>
            <a:r>
              <a:rPr spc="215" dirty="0"/>
              <a:t>at </a:t>
            </a:r>
            <a:r>
              <a:rPr spc="140" dirty="0">
                <a:solidFill>
                  <a:srgbClr val="FF0000"/>
                </a:solidFill>
              </a:rPr>
              <a:t>symbolic </a:t>
            </a:r>
            <a:r>
              <a:rPr spc="130" dirty="0"/>
              <a:t>and </a:t>
            </a:r>
            <a:r>
              <a:rPr spc="140" dirty="0">
                <a:solidFill>
                  <a:srgbClr val="FF0000"/>
                </a:solidFill>
              </a:rPr>
              <a:t>bounded </a:t>
            </a:r>
            <a:r>
              <a:rPr spc="160" dirty="0"/>
              <a:t>model </a:t>
            </a:r>
            <a:r>
              <a:rPr spc="470" dirty="0"/>
              <a:t> </a:t>
            </a:r>
            <a:r>
              <a:rPr spc="125" dirty="0"/>
              <a:t>checking</a:t>
            </a:r>
          </a:p>
          <a:p>
            <a:pPr marL="490855" marR="546100" indent="-288290">
              <a:lnSpc>
                <a:spcPct val="120800"/>
              </a:lnSpc>
              <a:spcBef>
                <a:spcPts val="240"/>
              </a:spcBef>
              <a:buSzPct val="105128"/>
              <a:buFont typeface="Lucida Sans Unicode"/>
              <a:buChar char="•"/>
              <a:tabLst>
                <a:tab pos="491490" algn="l"/>
              </a:tabLst>
            </a:pPr>
            <a:r>
              <a:rPr spc="204" dirty="0"/>
              <a:t>This </a:t>
            </a:r>
            <a:r>
              <a:rPr spc="40" dirty="0"/>
              <a:t>is </a:t>
            </a:r>
            <a:r>
              <a:rPr spc="120" dirty="0"/>
              <a:t>an </a:t>
            </a:r>
            <a:r>
              <a:rPr spc="155" dirty="0">
                <a:solidFill>
                  <a:srgbClr val="FF0000"/>
                </a:solidFill>
              </a:rPr>
              <a:t>infinite-state </a:t>
            </a:r>
            <a:r>
              <a:rPr spc="135" dirty="0"/>
              <a:t>specification, </a:t>
            </a:r>
            <a:r>
              <a:rPr spc="65" dirty="0"/>
              <a:t>so </a:t>
            </a:r>
            <a:r>
              <a:rPr spc="170" dirty="0"/>
              <a:t>cannot </a:t>
            </a:r>
            <a:r>
              <a:rPr spc="140" dirty="0"/>
              <a:t>enumerate  </a:t>
            </a:r>
            <a:r>
              <a:rPr spc="175" dirty="0"/>
              <a:t>the </a:t>
            </a:r>
            <a:r>
              <a:rPr spc="135" dirty="0"/>
              <a:t>whole </a:t>
            </a:r>
            <a:r>
              <a:rPr spc="155" dirty="0"/>
              <a:t>state </a:t>
            </a:r>
            <a:r>
              <a:rPr spc="80" dirty="0"/>
              <a:t>space, </a:t>
            </a:r>
            <a:r>
              <a:rPr spc="220" dirty="0"/>
              <a:t>but </a:t>
            </a:r>
            <a:r>
              <a:rPr sz="2050" spc="55" dirty="0">
                <a:solidFill>
                  <a:srgbClr val="0000FF"/>
                </a:solidFill>
                <a:latin typeface="SimSun"/>
                <a:cs typeface="SimSun"/>
              </a:rPr>
              <a:t>sal-esmc </a:t>
            </a:r>
            <a:r>
              <a:rPr spc="145" dirty="0"/>
              <a:t>will </a:t>
            </a:r>
            <a:r>
              <a:rPr spc="155" dirty="0"/>
              <a:t>do </a:t>
            </a:r>
            <a:r>
              <a:rPr spc="145" dirty="0"/>
              <a:t>its </a:t>
            </a:r>
            <a:r>
              <a:rPr spc="140" dirty="0"/>
              <a:t>best. </a:t>
            </a:r>
            <a:r>
              <a:rPr spc="145" dirty="0"/>
              <a:t>.</a:t>
            </a:r>
            <a:r>
              <a:rPr spc="360" dirty="0"/>
              <a:t> </a:t>
            </a:r>
            <a:r>
              <a:rPr spc="145" dirty="0"/>
              <a:t>.</a:t>
            </a:r>
            <a:endParaRPr sz="2050">
              <a:latin typeface="SimSun"/>
              <a:cs typeface="SimSun"/>
            </a:endParaRPr>
          </a:p>
          <a:p>
            <a:pPr marL="189865">
              <a:lnSpc>
                <a:spcPct val="100000"/>
              </a:lnSpc>
              <a:spcBef>
                <a:spcPts val="27"/>
              </a:spcBef>
            </a:pPr>
            <a:endParaRPr sz="1750">
              <a:latin typeface="Times New Roman"/>
              <a:cs typeface="Times New Roman"/>
            </a:endParaRPr>
          </a:p>
          <a:p>
            <a:pPr marL="490855" marR="5024120">
              <a:lnSpc>
                <a:spcPct val="113999"/>
              </a:lnSpc>
            </a:pPr>
            <a:r>
              <a:rPr sz="1650" spc="50" dirty="0">
                <a:solidFill>
                  <a:srgbClr val="0000FF"/>
                </a:solidFill>
                <a:latin typeface="Arial"/>
                <a:cs typeface="Arial"/>
              </a:rPr>
              <a:t>sal-esmc </a:t>
            </a:r>
            <a:r>
              <a:rPr sz="1650" spc="190" dirty="0">
                <a:solidFill>
                  <a:srgbClr val="0000FF"/>
                </a:solidFill>
                <a:latin typeface="Arial"/>
                <a:cs typeface="Arial"/>
              </a:rPr>
              <a:t>-v </a:t>
            </a:r>
            <a:r>
              <a:rPr sz="1650" spc="-40" dirty="0">
                <a:solidFill>
                  <a:srgbClr val="0000FF"/>
                </a:solidFill>
                <a:latin typeface="Arial"/>
                <a:cs typeface="Arial"/>
              </a:rPr>
              <a:t>3 </a:t>
            </a:r>
            <a:r>
              <a:rPr sz="1650" spc="50" dirty="0">
                <a:solidFill>
                  <a:srgbClr val="0000FF"/>
                </a:solidFill>
                <a:latin typeface="Arial"/>
                <a:cs typeface="Arial"/>
              </a:rPr>
              <a:t>bakery </a:t>
            </a:r>
            <a:r>
              <a:rPr sz="1650" spc="140" dirty="0">
                <a:solidFill>
                  <a:srgbClr val="0000FF"/>
                </a:solidFill>
                <a:latin typeface="Arial"/>
                <a:cs typeface="Arial"/>
              </a:rPr>
              <a:t>safety  </a:t>
            </a:r>
            <a:r>
              <a:rPr sz="1650" spc="165" dirty="0">
                <a:solidFill>
                  <a:srgbClr val="0000FF"/>
                </a:solidFill>
                <a:latin typeface="Arial"/>
                <a:cs typeface="Arial"/>
              </a:rPr>
              <a:t>building </a:t>
            </a:r>
            <a:r>
              <a:rPr sz="1650" spc="90" dirty="0">
                <a:solidFill>
                  <a:srgbClr val="0000FF"/>
                </a:solidFill>
                <a:latin typeface="Arial"/>
                <a:cs typeface="Arial"/>
              </a:rPr>
              <a:t>execution </a:t>
            </a:r>
            <a:r>
              <a:rPr sz="1650" spc="95" dirty="0">
                <a:solidFill>
                  <a:srgbClr val="0000FF"/>
                </a:solidFill>
                <a:latin typeface="Arial"/>
                <a:cs typeface="Arial"/>
              </a:rPr>
              <a:t> </a:t>
            </a:r>
            <a:r>
              <a:rPr sz="1650" spc="170" dirty="0">
                <a:solidFill>
                  <a:srgbClr val="0000FF"/>
                </a:solidFill>
                <a:latin typeface="Arial"/>
                <a:cs typeface="Arial"/>
              </a:rPr>
              <a:t>engine...</a:t>
            </a:r>
            <a:endParaRPr sz="1650">
              <a:latin typeface="Arial"/>
              <a:cs typeface="Arial"/>
            </a:endParaRPr>
          </a:p>
          <a:p>
            <a:pPr marL="490855" marR="3017520" indent="222885">
              <a:lnSpc>
                <a:spcPct val="113999"/>
              </a:lnSpc>
            </a:pPr>
            <a:r>
              <a:rPr sz="1650" spc="-40" dirty="0">
                <a:solidFill>
                  <a:srgbClr val="0000FF"/>
                </a:solidFill>
                <a:latin typeface="Arial"/>
                <a:cs typeface="Arial"/>
              </a:rPr>
              <a:t>num. </a:t>
            </a:r>
            <a:r>
              <a:rPr sz="1650" spc="235" dirty="0">
                <a:solidFill>
                  <a:srgbClr val="0000FF"/>
                </a:solidFill>
                <a:latin typeface="Arial"/>
                <a:cs typeface="Arial"/>
              </a:rPr>
              <a:t>bits </a:t>
            </a:r>
            <a:r>
              <a:rPr sz="1650" spc="-20" dirty="0">
                <a:solidFill>
                  <a:srgbClr val="0000FF"/>
                </a:solidFill>
                <a:latin typeface="Arial"/>
                <a:cs typeface="Arial"/>
              </a:rPr>
              <a:t>used </a:t>
            </a:r>
            <a:r>
              <a:rPr sz="1650" spc="185" dirty="0">
                <a:solidFill>
                  <a:srgbClr val="0000FF"/>
                </a:solidFill>
                <a:latin typeface="Arial"/>
                <a:cs typeface="Arial"/>
              </a:rPr>
              <a:t>to </a:t>
            </a:r>
            <a:r>
              <a:rPr sz="1650" spc="-25" dirty="0">
                <a:solidFill>
                  <a:srgbClr val="0000FF"/>
                </a:solidFill>
                <a:latin typeface="Arial"/>
                <a:cs typeface="Arial"/>
              </a:rPr>
              <a:t>encode </a:t>
            </a:r>
            <a:r>
              <a:rPr sz="1650" spc="-40" dirty="0">
                <a:solidFill>
                  <a:srgbClr val="0000FF"/>
                </a:solidFill>
                <a:latin typeface="Arial"/>
                <a:cs typeface="Arial"/>
              </a:rPr>
              <a:t>a </a:t>
            </a:r>
            <a:r>
              <a:rPr sz="1650" spc="204" dirty="0">
                <a:solidFill>
                  <a:srgbClr val="0000FF"/>
                </a:solidFill>
                <a:latin typeface="Arial"/>
                <a:cs typeface="Arial"/>
              </a:rPr>
              <a:t>state: </a:t>
            </a:r>
            <a:r>
              <a:rPr sz="1650" spc="-40" dirty="0">
                <a:solidFill>
                  <a:srgbClr val="0000FF"/>
                </a:solidFill>
                <a:latin typeface="Arial"/>
                <a:cs typeface="Arial"/>
              </a:rPr>
              <a:t>44  </a:t>
            </a:r>
            <a:r>
              <a:rPr sz="1650" spc="195" dirty="0">
                <a:solidFill>
                  <a:srgbClr val="0000FF"/>
                </a:solidFill>
                <a:latin typeface="Arial"/>
                <a:cs typeface="Arial"/>
              </a:rPr>
              <a:t>verifying </a:t>
            </a:r>
            <a:r>
              <a:rPr sz="1650" spc="120" dirty="0">
                <a:solidFill>
                  <a:srgbClr val="0000FF"/>
                </a:solidFill>
                <a:latin typeface="Arial"/>
                <a:cs typeface="Arial"/>
              </a:rPr>
              <a:t>property  </a:t>
            </a:r>
            <a:r>
              <a:rPr sz="1650" spc="85" dirty="0">
                <a:solidFill>
                  <a:srgbClr val="0000FF"/>
                </a:solidFill>
                <a:latin typeface="Arial"/>
                <a:cs typeface="Arial"/>
              </a:rPr>
              <a:t>using  </a:t>
            </a:r>
            <a:r>
              <a:rPr sz="1650" spc="210" dirty="0">
                <a:solidFill>
                  <a:srgbClr val="0000FF"/>
                </a:solidFill>
                <a:latin typeface="Arial"/>
                <a:cs typeface="Arial"/>
              </a:rPr>
              <a:t>depth-first</a:t>
            </a:r>
            <a:r>
              <a:rPr sz="1650" spc="120" dirty="0">
                <a:solidFill>
                  <a:srgbClr val="0000FF"/>
                </a:solidFill>
                <a:latin typeface="Arial"/>
                <a:cs typeface="Arial"/>
              </a:rPr>
              <a:t> </a:t>
            </a:r>
            <a:r>
              <a:rPr sz="1650" spc="170" dirty="0">
                <a:solidFill>
                  <a:srgbClr val="0000FF"/>
                </a:solidFill>
                <a:latin typeface="Arial"/>
                <a:cs typeface="Arial"/>
              </a:rPr>
              <a:t>search...</a:t>
            </a:r>
            <a:endParaRPr sz="1650">
              <a:latin typeface="Arial"/>
              <a:cs typeface="Arial"/>
            </a:endParaRPr>
          </a:p>
          <a:p>
            <a:pPr marL="713740" marR="4131945">
              <a:lnSpc>
                <a:spcPct val="113999"/>
              </a:lnSpc>
            </a:pPr>
            <a:r>
              <a:rPr sz="1650" spc="30" dirty="0">
                <a:solidFill>
                  <a:srgbClr val="0000FF"/>
                </a:solidFill>
                <a:latin typeface="Arial"/>
                <a:cs typeface="Arial"/>
              </a:rPr>
              <a:t>computing </a:t>
            </a:r>
            <a:r>
              <a:rPr sz="1650" spc="140" dirty="0">
                <a:solidFill>
                  <a:srgbClr val="0000FF"/>
                </a:solidFill>
                <a:latin typeface="Arial"/>
                <a:cs typeface="Arial"/>
              </a:rPr>
              <a:t>set </a:t>
            </a:r>
            <a:r>
              <a:rPr sz="1650" spc="185" dirty="0">
                <a:solidFill>
                  <a:srgbClr val="0000FF"/>
                </a:solidFill>
                <a:latin typeface="Arial"/>
                <a:cs typeface="Arial"/>
              </a:rPr>
              <a:t>of </a:t>
            </a:r>
            <a:r>
              <a:rPr sz="1650" spc="340" dirty="0">
                <a:solidFill>
                  <a:srgbClr val="0000FF"/>
                </a:solidFill>
                <a:latin typeface="Arial"/>
                <a:cs typeface="Arial"/>
              </a:rPr>
              <a:t>initial </a:t>
            </a:r>
            <a:r>
              <a:rPr sz="1650" spc="235" dirty="0">
                <a:solidFill>
                  <a:srgbClr val="0000FF"/>
                </a:solidFill>
                <a:latin typeface="Arial"/>
                <a:cs typeface="Arial"/>
              </a:rPr>
              <a:t>states...  </a:t>
            </a:r>
            <a:r>
              <a:rPr sz="1650" spc="-55" dirty="0">
                <a:solidFill>
                  <a:srgbClr val="0000FF"/>
                </a:solidFill>
                <a:latin typeface="Arial"/>
                <a:cs typeface="Arial"/>
              </a:rPr>
              <a:t>number  </a:t>
            </a:r>
            <a:r>
              <a:rPr sz="1650" spc="185" dirty="0">
                <a:solidFill>
                  <a:srgbClr val="0000FF"/>
                </a:solidFill>
                <a:latin typeface="Arial"/>
                <a:cs typeface="Arial"/>
              </a:rPr>
              <a:t>of </a:t>
            </a:r>
            <a:r>
              <a:rPr sz="1650" spc="340" dirty="0">
                <a:solidFill>
                  <a:srgbClr val="0000FF"/>
                </a:solidFill>
                <a:latin typeface="Arial"/>
                <a:cs typeface="Arial"/>
              </a:rPr>
              <a:t>initial </a:t>
            </a:r>
            <a:r>
              <a:rPr sz="1650" spc="180" dirty="0">
                <a:solidFill>
                  <a:srgbClr val="0000FF"/>
                </a:solidFill>
                <a:latin typeface="Arial"/>
                <a:cs typeface="Arial"/>
              </a:rPr>
              <a:t>states:</a:t>
            </a:r>
            <a:r>
              <a:rPr sz="1650" spc="735" dirty="0">
                <a:solidFill>
                  <a:srgbClr val="0000FF"/>
                </a:solidFill>
                <a:latin typeface="Arial"/>
                <a:cs typeface="Arial"/>
              </a:rPr>
              <a:t> </a:t>
            </a:r>
            <a:r>
              <a:rPr sz="1650" spc="-40" dirty="0">
                <a:solidFill>
                  <a:srgbClr val="0000FF"/>
                </a:solidFill>
                <a:latin typeface="Arial"/>
                <a:cs typeface="Arial"/>
              </a:rPr>
              <a:t>1</a:t>
            </a:r>
            <a:endParaRPr sz="1650">
              <a:latin typeface="Arial"/>
              <a:cs typeface="Arial"/>
            </a:endParaRPr>
          </a:p>
          <a:p>
            <a:pPr marL="713740" marR="5080">
              <a:lnSpc>
                <a:spcPct val="113999"/>
              </a:lnSpc>
            </a:pPr>
            <a:r>
              <a:rPr sz="1650" spc="-55" dirty="0">
                <a:solidFill>
                  <a:srgbClr val="0000FF"/>
                </a:solidFill>
                <a:latin typeface="Arial"/>
                <a:cs typeface="Arial"/>
              </a:rPr>
              <a:t>number </a:t>
            </a:r>
            <a:r>
              <a:rPr sz="1650" spc="185" dirty="0">
                <a:solidFill>
                  <a:srgbClr val="0000FF"/>
                </a:solidFill>
                <a:latin typeface="Arial"/>
                <a:cs typeface="Arial"/>
              </a:rPr>
              <a:t>of </a:t>
            </a:r>
            <a:r>
              <a:rPr sz="1650" spc="204" dirty="0">
                <a:solidFill>
                  <a:srgbClr val="0000FF"/>
                </a:solidFill>
                <a:latin typeface="Arial"/>
                <a:cs typeface="Arial"/>
              </a:rPr>
              <a:t>visited </a:t>
            </a:r>
            <a:r>
              <a:rPr sz="1650" spc="180" dirty="0">
                <a:solidFill>
                  <a:srgbClr val="0000FF"/>
                </a:solidFill>
                <a:latin typeface="Arial"/>
                <a:cs typeface="Arial"/>
              </a:rPr>
              <a:t>states: </a:t>
            </a:r>
            <a:r>
              <a:rPr sz="1650" spc="50" dirty="0">
                <a:solidFill>
                  <a:srgbClr val="0000FF"/>
                </a:solidFill>
                <a:latin typeface="Arial"/>
                <a:cs typeface="Arial"/>
              </a:rPr>
              <a:t>1001, </a:t>
            </a:r>
            <a:r>
              <a:rPr sz="1650" spc="140" dirty="0">
                <a:solidFill>
                  <a:srgbClr val="0000FF"/>
                </a:solidFill>
                <a:latin typeface="Arial"/>
                <a:cs typeface="Arial"/>
              </a:rPr>
              <a:t>states </a:t>
            </a:r>
            <a:r>
              <a:rPr sz="1650" spc="185" dirty="0">
                <a:solidFill>
                  <a:srgbClr val="0000FF"/>
                </a:solidFill>
                <a:latin typeface="Arial"/>
                <a:cs typeface="Arial"/>
              </a:rPr>
              <a:t>to </a:t>
            </a:r>
            <a:r>
              <a:rPr sz="1650" spc="95" dirty="0">
                <a:solidFill>
                  <a:srgbClr val="0000FF"/>
                </a:solidFill>
                <a:latin typeface="Arial"/>
                <a:cs typeface="Arial"/>
              </a:rPr>
              <a:t>process: </a:t>
            </a:r>
            <a:r>
              <a:rPr sz="1650" spc="50" dirty="0">
                <a:solidFill>
                  <a:srgbClr val="0000FF"/>
                </a:solidFill>
                <a:latin typeface="Arial"/>
                <a:cs typeface="Arial"/>
              </a:rPr>
              <a:t>1001, </a:t>
            </a:r>
            <a:r>
              <a:rPr sz="1650" spc="114" dirty="0">
                <a:solidFill>
                  <a:srgbClr val="0000FF"/>
                </a:solidFill>
                <a:latin typeface="Arial"/>
                <a:cs typeface="Arial"/>
              </a:rPr>
              <a:t>depth: </a:t>
            </a:r>
            <a:r>
              <a:rPr sz="1650" spc="-40" dirty="0">
                <a:solidFill>
                  <a:srgbClr val="0000FF"/>
                </a:solidFill>
                <a:latin typeface="Arial"/>
                <a:cs typeface="Arial"/>
              </a:rPr>
              <a:t>749  </a:t>
            </a:r>
            <a:r>
              <a:rPr sz="1650" spc="-55" dirty="0">
                <a:solidFill>
                  <a:srgbClr val="0000FF"/>
                </a:solidFill>
                <a:latin typeface="Arial"/>
                <a:cs typeface="Arial"/>
              </a:rPr>
              <a:t>number </a:t>
            </a:r>
            <a:r>
              <a:rPr sz="1650" spc="185" dirty="0">
                <a:solidFill>
                  <a:srgbClr val="0000FF"/>
                </a:solidFill>
                <a:latin typeface="Arial"/>
                <a:cs typeface="Arial"/>
              </a:rPr>
              <a:t>of </a:t>
            </a:r>
            <a:r>
              <a:rPr sz="1650" spc="204" dirty="0">
                <a:solidFill>
                  <a:srgbClr val="0000FF"/>
                </a:solidFill>
                <a:latin typeface="Arial"/>
                <a:cs typeface="Arial"/>
              </a:rPr>
              <a:t>visited </a:t>
            </a:r>
            <a:r>
              <a:rPr sz="1650" spc="180" dirty="0">
                <a:solidFill>
                  <a:srgbClr val="0000FF"/>
                </a:solidFill>
                <a:latin typeface="Arial"/>
                <a:cs typeface="Arial"/>
              </a:rPr>
              <a:t>states: </a:t>
            </a:r>
            <a:r>
              <a:rPr sz="1650" spc="35" dirty="0">
                <a:solidFill>
                  <a:srgbClr val="0000FF"/>
                </a:solidFill>
                <a:latin typeface="Arial"/>
                <a:cs typeface="Arial"/>
              </a:rPr>
              <a:t>10001, </a:t>
            </a:r>
            <a:r>
              <a:rPr sz="1650" spc="140" dirty="0">
                <a:solidFill>
                  <a:srgbClr val="0000FF"/>
                </a:solidFill>
                <a:latin typeface="Arial"/>
                <a:cs typeface="Arial"/>
              </a:rPr>
              <a:t>states </a:t>
            </a:r>
            <a:r>
              <a:rPr sz="1650" spc="185" dirty="0">
                <a:solidFill>
                  <a:srgbClr val="0000FF"/>
                </a:solidFill>
                <a:latin typeface="Arial"/>
                <a:cs typeface="Arial"/>
              </a:rPr>
              <a:t>to </a:t>
            </a:r>
            <a:r>
              <a:rPr sz="1650" spc="95" dirty="0">
                <a:solidFill>
                  <a:srgbClr val="0000FF"/>
                </a:solidFill>
                <a:latin typeface="Arial"/>
                <a:cs typeface="Arial"/>
              </a:rPr>
              <a:t>process: </a:t>
            </a:r>
            <a:r>
              <a:rPr sz="1650" spc="35" dirty="0">
                <a:solidFill>
                  <a:srgbClr val="0000FF"/>
                </a:solidFill>
                <a:latin typeface="Arial"/>
                <a:cs typeface="Arial"/>
              </a:rPr>
              <a:t>10001, </a:t>
            </a:r>
            <a:r>
              <a:rPr sz="1650" spc="114" dirty="0">
                <a:solidFill>
                  <a:srgbClr val="0000FF"/>
                </a:solidFill>
                <a:latin typeface="Arial"/>
                <a:cs typeface="Arial"/>
              </a:rPr>
              <a:t>depth: </a:t>
            </a:r>
            <a:r>
              <a:rPr sz="1650" spc="-40" dirty="0">
                <a:solidFill>
                  <a:srgbClr val="0000FF"/>
                </a:solidFill>
                <a:latin typeface="Arial"/>
                <a:cs typeface="Arial"/>
              </a:rPr>
              <a:t>7499  </a:t>
            </a:r>
            <a:r>
              <a:rPr sz="1650" spc="-55" dirty="0">
                <a:solidFill>
                  <a:srgbClr val="0000FF"/>
                </a:solidFill>
                <a:latin typeface="Arial"/>
                <a:cs typeface="Arial"/>
              </a:rPr>
              <a:t>number  </a:t>
            </a:r>
            <a:r>
              <a:rPr sz="1650" spc="185" dirty="0">
                <a:solidFill>
                  <a:srgbClr val="0000FF"/>
                </a:solidFill>
                <a:latin typeface="Arial"/>
                <a:cs typeface="Arial"/>
              </a:rPr>
              <a:t>of </a:t>
            </a:r>
            <a:r>
              <a:rPr sz="1650" spc="204" dirty="0">
                <a:solidFill>
                  <a:srgbClr val="0000FF"/>
                </a:solidFill>
                <a:latin typeface="Arial"/>
                <a:cs typeface="Arial"/>
              </a:rPr>
              <a:t>visited </a:t>
            </a:r>
            <a:r>
              <a:rPr sz="1650" spc="180" dirty="0">
                <a:solidFill>
                  <a:srgbClr val="0000FF"/>
                </a:solidFill>
                <a:latin typeface="Arial"/>
                <a:cs typeface="Arial"/>
              </a:rPr>
              <a:t>states: </a:t>
            </a:r>
            <a:r>
              <a:rPr sz="1650" spc="35" dirty="0">
                <a:solidFill>
                  <a:srgbClr val="0000FF"/>
                </a:solidFill>
                <a:latin typeface="Arial"/>
                <a:cs typeface="Arial"/>
              </a:rPr>
              <a:t>20001,  </a:t>
            </a:r>
            <a:r>
              <a:rPr sz="1650" spc="140" dirty="0">
                <a:solidFill>
                  <a:srgbClr val="0000FF"/>
                </a:solidFill>
                <a:latin typeface="Arial"/>
                <a:cs typeface="Arial"/>
              </a:rPr>
              <a:t>states </a:t>
            </a:r>
            <a:r>
              <a:rPr sz="1650" spc="185" dirty="0">
                <a:solidFill>
                  <a:srgbClr val="0000FF"/>
                </a:solidFill>
                <a:latin typeface="Arial"/>
                <a:cs typeface="Arial"/>
              </a:rPr>
              <a:t>to </a:t>
            </a:r>
            <a:r>
              <a:rPr sz="1650" spc="95" dirty="0">
                <a:solidFill>
                  <a:srgbClr val="0000FF"/>
                </a:solidFill>
                <a:latin typeface="Arial"/>
                <a:cs typeface="Arial"/>
              </a:rPr>
              <a:t>process:  </a:t>
            </a:r>
            <a:r>
              <a:rPr sz="1650" spc="35" dirty="0">
                <a:solidFill>
                  <a:srgbClr val="0000FF"/>
                </a:solidFill>
                <a:latin typeface="Arial"/>
                <a:cs typeface="Arial"/>
              </a:rPr>
              <a:t>20001,  </a:t>
            </a:r>
            <a:r>
              <a:rPr sz="1650" spc="114" dirty="0">
                <a:solidFill>
                  <a:srgbClr val="0000FF"/>
                </a:solidFill>
                <a:latin typeface="Arial"/>
                <a:cs typeface="Arial"/>
              </a:rPr>
              <a:t>depth:  </a:t>
            </a:r>
            <a:r>
              <a:rPr sz="1650" spc="145" dirty="0">
                <a:solidFill>
                  <a:srgbClr val="0000FF"/>
                </a:solidFill>
                <a:latin typeface="Arial"/>
                <a:cs typeface="Arial"/>
              </a:rPr>
              <a:t> </a:t>
            </a:r>
            <a:r>
              <a:rPr sz="1650" spc="-40" dirty="0">
                <a:solidFill>
                  <a:srgbClr val="0000FF"/>
                </a:solidFill>
                <a:latin typeface="Arial"/>
                <a:cs typeface="Arial"/>
              </a:rPr>
              <a:t>14999</a:t>
            </a:r>
            <a:endParaRPr sz="1650">
              <a:latin typeface="Arial"/>
              <a:cs typeface="Arial"/>
            </a:endParaRPr>
          </a:p>
          <a:p>
            <a:pPr marL="490855">
              <a:lnSpc>
                <a:spcPct val="100000"/>
              </a:lnSpc>
              <a:spcBef>
                <a:spcPts val="275"/>
              </a:spcBef>
            </a:pPr>
            <a:r>
              <a:rPr sz="1650" spc="415" dirty="0">
                <a:solidFill>
                  <a:srgbClr val="0000FF"/>
                </a:solidFill>
                <a:latin typeface="Arial"/>
                <a:cs typeface="Arial"/>
              </a:rPr>
              <a:t>...</a:t>
            </a:r>
            <a:endParaRPr sz="1650">
              <a:latin typeface="Arial"/>
              <a:cs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94345" y="475981"/>
            <a:ext cx="7071995" cy="314960"/>
          </a:xfrm>
          <a:prstGeom prst="rect">
            <a:avLst/>
          </a:prstGeom>
        </p:spPr>
        <p:txBody>
          <a:bodyPr vert="horz" wrap="square" lIns="0" tIns="0" rIns="0" bIns="0" rtlCol="0">
            <a:spAutoFit/>
          </a:bodyPr>
          <a:lstStyle/>
          <a:p>
            <a:pPr marL="12700">
              <a:lnSpc>
                <a:spcPct val="100000"/>
              </a:lnSpc>
            </a:pPr>
            <a:r>
              <a:rPr sz="1950" spc="340" dirty="0">
                <a:solidFill>
                  <a:srgbClr val="231F20"/>
                </a:solidFill>
                <a:latin typeface="Arial"/>
                <a:cs typeface="Arial"/>
              </a:rPr>
              <a:t>Bug </a:t>
            </a:r>
            <a:r>
              <a:rPr sz="1950" spc="254" dirty="0">
                <a:solidFill>
                  <a:srgbClr val="231F20"/>
                </a:solidFill>
                <a:latin typeface="Arial"/>
                <a:cs typeface="Arial"/>
              </a:rPr>
              <a:t>Finding </a:t>
            </a:r>
            <a:r>
              <a:rPr sz="1950" spc="220" dirty="0">
                <a:solidFill>
                  <a:srgbClr val="231F20"/>
                </a:solidFill>
                <a:latin typeface="Arial"/>
                <a:cs typeface="Arial"/>
              </a:rPr>
              <a:t>Using </a:t>
            </a:r>
            <a:r>
              <a:rPr sz="1950" spc="250" dirty="0">
                <a:solidFill>
                  <a:srgbClr val="231F20"/>
                </a:solidFill>
                <a:latin typeface="Arial"/>
                <a:cs typeface="Arial"/>
              </a:rPr>
              <a:t>Explicit </a:t>
            </a:r>
            <a:r>
              <a:rPr sz="1950" spc="285" dirty="0">
                <a:solidFill>
                  <a:srgbClr val="231F20"/>
                </a:solidFill>
                <a:latin typeface="Arial"/>
                <a:cs typeface="Arial"/>
              </a:rPr>
              <a:t>State </a:t>
            </a:r>
            <a:r>
              <a:rPr sz="1950" spc="305" dirty="0">
                <a:solidFill>
                  <a:srgbClr val="231F20"/>
                </a:solidFill>
                <a:latin typeface="Arial"/>
                <a:cs typeface="Arial"/>
              </a:rPr>
              <a:t>Model</a:t>
            </a:r>
            <a:r>
              <a:rPr sz="1950" spc="865"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p:txBody>
      </p:sp>
      <p:sp>
        <p:nvSpPr>
          <p:cNvPr id="3" name="object 3"/>
          <p:cNvSpPr txBox="1"/>
          <p:nvPr/>
        </p:nvSpPr>
        <p:spPr>
          <a:xfrm>
            <a:off x="896440" y="989077"/>
            <a:ext cx="4312285" cy="839469"/>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14" dirty="0">
                <a:solidFill>
                  <a:srgbClr val="231F20"/>
                </a:solidFill>
                <a:latin typeface="Arial"/>
                <a:cs typeface="Arial"/>
              </a:rPr>
              <a:t>So </a:t>
            </a:r>
            <a:r>
              <a:rPr sz="1950" spc="145" dirty="0">
                <a:solidFill>
                  <a:srgbClr val="0000FF"/>
                </a:solidFill>
                <a:latin typeface="Arial"/>
                <a:cs typeface="Arial"/>
              </a:rPr>
              <a:t>verification </a:t>
            </a:r>
            <a:r>
              <a:rPr sz="1950" spc="145" dirty="0">
                <a:solidFill>
                  <a:srgbClr val="231F20"/>
                </a:solidFill>
                <a:latin typeface="Arial"/>
                <a:cs typeface="Arial"/>
              </a:rPr>
              <a:t>will take</a:t>
            </a:r>
            <a:r>
              <a:rPr sz="1950" spc="665" dirty="0">
                <a:solidFill>
                  <a:srgbClr val="231F20"/>
                </a:solidFill>
                <a:latin typeface="Arial"/>
                <a:cs typeface="Arial"/>
              </a:rPr>
              <a:t> </a:t>
            </a:r>
            <a:r>
              <a:rPr sz="1950" spc="110" dirty="0">
                <a:solidFill>
                  <a:srgbClr val="FF0000"/>
                </a:solidFill>
                <a:latin typeface="Arial"/>
                <a:cs typeface="Arial"/>
              </a:rPr>
              <a:t>forever</a:t>
            </a:r>
            <a:endParaRPr sz="1950">
              <a:latin typeface="Arial"/>
              <a:cs typeface="Arial"/>
            </a:endParaRPr>
          </a:p>
          <a:p>
            <a:pPr marL="12700">
              <a:lnSpc>
                <a:spcPct val="100000"/>
              </a:lnSpc>
              <a:spcBef>
                <a:spcPts val="1600"/>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4" name="object 4"/>
          <p:cNvSpPr txBox="1"/>
          <p:nvPr/>
        </p:nvSpPr>
        <p:spPr>
          <a:xfrm>
            <a:off x="1185162" y="1489468"/>
            <a:ext cx="7204709" cy="699135"/>
          </a:xfrm>
          <a:prstGeom prst="rect">
            <a:avLst/>
          </a:prstGeom>
        </p:spPr>
        <p:txBody>
          <a:bodyPr vert="horz" wrap="square" lIns="0" tIns="0" rIns="0" bIns="0" rtlCol="0">
            <a:spAutoFit/>
          </a:bodyPr>
          <a:lstStyle/>
          <a:p>
            <a:pPr marL="12700">
              <a:lnSpc>
                <a:spcPct val="100000"/>
              </a:lnSpc>
              <a:tabLst>
                <a:tab pos="4650105" algn="l"/>
              </a:tabLst>
            </a:pPr>
            <a:r>
              <a:rPr sz="1950" spc="275" dirty="0">
                <a:solidFill>
                  <a:srgbClr val="231F20"/>
                </a:solidFill>
                <a:latin typeface="Arial"/>
                <a:cs typeface="Arial"/>
              </a:rPr>
              <a:t>But </a:t>
            </a:r>
            <a:r>
              <a:rPr sz="1950" spc="120" dirty="0">
                <a:solidFill>
                  <a:srgbClr val="231F20"/>
                </a:solidFill>
                <a:latin typeface="Arial"/>
                <a:cs typeface="Arial"/>
              </a:rPr>
              <a:t>can  </a:t>
            </a:r>
            <a:r>
              <a:rPr sz="1950" spc="114" dirty="0">
                <a:solidFill>
                  <a:srgbClr val="231F20"/>
                </a:solidFill>
                <a:latin typeface="Arial"/>
                <a:cs typeface="Arial"/>
              </a:rPr>
              <a:t>be  </a:t>
            </a:r>
            <a:r>
              <a:rPr sz="1950" spc="105" dirty="0">
                <a:solidFill>
                  <a:srgbClr val="231F20"/>
                </a:solidFill>
                <a:latin typeface="Arial"/>
                <a:cs typeface="Arial"/>
              </a:rPr>
              <a:t>useful  </a:t>
            </a:r>
            <a:r>
              <a:rPr sz="1950" spc="155" dirty="0">
                <a:solidFill>
                  <a:srgbClr val="231F20"/>
                </a:solidFill>
                <a:latin typeface="Arial"/>
                <a:cs typeface="Arial"/>
              </a:rPr>
              <a:t>for</a:t>
            </a:r>
            <a:r>
              <a:rPr sz="1950" spc="-180" dirty="0">
                <a:solidFill>
                  <a:srgbClr val="231F20"/>
                </a:solidFill>
                <a:latin typeface="Arial"/>
                <a:cs typeface="Arial"/>
              </a:rPr>
              <a:t> </a:t>
            </a:r>
            <a:r>
              <a:rPr sz="1950" spc="150" dirty="0">
                <a:solidFill>
                  <a:srgbClr val="0000FF"/>
                </a:solidFill>
                <a:latin typeface="Arial"/>
                <a:cs typeface="Arial"/>
              </a:rPr>
              <a:t>finding</a:t>
            </a:r>
            <a:r>
              <a:rPr sz="1950" spc="480" dirty="0">
                <a:solidFill>
                  <a:srgbClr val="0000FF"/>
                </a:solidFill>
                <a:latin typeface="Arial"/>
                <a:cs typeface="Arial"/>
              </a:rPr>
              <a:t> </a:t>
            </a:r>
            <a:r>
              <a:rPr sz="1950" spc="114" dirty="0">
                <a:solidFill>
                  <a:srgbClr val="0000FF"/>
                </a:solidFill>
                <a:latin typeface="Arial"/>
                <a:cs typeface="Arial"/>
              </a:rPr>
              <a:t>bugs</a:t>
            </a:r>
            <a:r>
              <a:rPr sz="1950" spc="114" dirty="0">
                <a:solidFill>
                  <a:srgbClr val="231F20"/>
                </a:solidFill>
                <a:latin typeface="Arial"/>
                <a:cs typeface="Arial"/>
              </a:rPr>
              <a:t>:	</a:t>
            </a:r>
            <a:r>
              <a:rPr sz="1950" spc="160" dirty="0">
                <a:solidFill>
                  <a:srgbClr val="231F20"/>
                </a:solidFill>
                <a:latin typeface="Arial"/>
                <a:cs typeface="Arial"/>
              </a:rPr>
              <a:t>if </a:t>
            </a:r>
            <a:r>
              <a:rPr sz="1950" spc="95" dirty="0">
                <a:solidFill>
                  <a:srgbClr val="231F20"/>
                </a:solidFill>
                <a:latin typeface="Arial"/>
                <a:cs typeface="Arial"/>
              </a:rPr>
              <a:t>we </a:t>
            </a:r>
            <a:r>
              <a:rPr sz="1950" spc="130" dirty="0">
                <a:solidFill>
                  <a:srgbClr val="231F20"/>
                </a:solidFill>
                <a:latin typeface="Arial"/>
                <a:cs typeface="Arial"/>
              </a:rPr>
              <a:t>remove </a:t>
            </a:r>
            <a:r>
              <a:rPr sz="1950" spc="175" dirty="0">
                <a:solidFill>
                  <a:srgbClr val="231F20"/>
                </a:solidFill>
                <a:latin typeface="Arial"/>
                <a:cs typeface="Arial"/>
              </a:rPr>
              <a:t>the</a:t>
            </a:r>
            <a:r>
              <a:rPr sz="1950" spc="660" dirty="0">
                <a:solidFill>
                  <a:srgbClr val="231F20"/>
                </a:solidFill>
                <a:latin typeface="Arial"/>
                <a:cs typeface="Arial"/>
              </a:rPr>
              <a:t> </a:t>
            </a:r>
            <a:r>
              <a:rPr sz="2050" spc="55" dirty="0">
                <a:solidFill>
                  <a:srgbClr val="231F20"/>
                </a:solidFill>
                <a:latin typeface="SimSun"/>
                <a:cs typeface="SimSun"/>
              </a:rPr>
              <a:t>+1</a:t>
            </a:r>
            <a:endParaRPr sz="2050">
              <a:latin typeface="SimSun"/>
              <a:cs typeface="SimSun"/>
            </a:endParaRPr>
          </a:p>
          <a:p>
            <a:pPr marL="12700">
              <a:lnSpc>
                <a:spcPct val="100000"/>
              </a:lnSpc>
              <a:spcBef>
                <a:spcPts val="565"/>
              </a:spcBef>
            </a:pPr>
            <a:r>
              <a:rPr sz="1950" spc="170" dirty="0">
                <a:solidFill>
                  <a:srgbClr val="231F20"/>
                </a:solidFill>
                <a:latin typeface="Arial"/>
                <a:cs typeface="Arial"/>
              </a:rPr>
              <a:t>adjustment </a:t>
            </a:r>
            <a:r>
              <a:rPr sz="1950" spc="250" dirty="0">
                <a:solidFill>
                  <a:srgbClr val="231F20"/>
                </a:solidFill>
                <a:latin typeface="Arial"/>
                <a:cs typeface="Arial"/>
              </a:rPr>
              <a:t>to </a:t>
            </a:r>
            <a:r>
              <a:rPr sz="1950" spc="175" dirty="0">
                <a:solidFill>
                  <a:srgbClr val="231F20"/>
                </a:solidFill>
                <a:latin typeface="Arial"/>
                <a:cs typeface="Arial"/>
              </a:rPr>
              <a:t>the </a:t>
            </a:r>
            <a:r>
              <a:rPr sz="1950" spc="150" dirty="0">
                <a:solidFill>
                  <a:srgbClr val="231F20"/>
                </a:solidFill>
                <a:latin typeface="Arial"/>
                <a:cs typeface="Arial"/>
              </a:rPr>
              <a:t>tickets, </a:t>
            </a:r>
            <a:r>
              <a:rPr sz="1950" spc="95" dirty="0">
                <a:solidFill>
                  <a:srgbClr val="231F20"/>
                </a:solidFill>
                <a:latin typeface="Arial"/>
                <a:cs typeface="Arial"/>
              </a:rPr>
              <a:t>we </a:t>
            </a:r>
            <a:r>
              <a:rPr sz="1950" spc="170" dirty="0">
                <a:solidFill>
                  <a:srgbClr val="231F20"/>
                </a:solidFill>
                <a:latin typeface="Arial"/>
                <a:cs typeface="Arial"/>
              </a:rPr>
              <a:t>get </a:t>
            </a:r>
            <a:r>
              <a:rPr sz="1950" spc="85" dirty="0">
                <a:solidFill>
                  <a:srgbClr val="231F20"/>
                </a:solidFill>
                <a:latin typeface="Arial"/>
                <a:cs typeface="Arial"/>
              </a:rPr>
              <a:t>a </a:t>
            </a:r>
            <a:r>
              <a:rPr sz="1950" spc="355" dirty="0">
                <a:solidFill>
                  <a:srgbClr val="231F20"/>
                </a:solidFill>
                <a:latin typeface="Arial"/>
                <a:cs typeface="Arial"/>
              </a:rPr>
              <a:t> </a:t>
            </a:r>
            <a:r>
              <a:rPr sz="1950" spc="135" dirty="0">
                <a:solidFill>
                  <a:srgbClr val="FF0000"/>
                </a:solidFill>
                <a:latin typeface="Arial"/>
                <a:cs typeface="Arial"/>
              </a:rPr>
              <a:t>counterexample</a:t>
            </a:r>
            <a:endParaRPr sz="1950">
              <a:latin typeface="Arial"/>
              <a:cs typeface="Arial"/>
            </a:endParaRPr>
          </a:p>
        </p:txBody>
      </p:sp>
      <p:sp>
        <p:nvSpPr>
          <p:cNvPr id="5" name="object 5"/>
          <p:cNvSpPr txBox="1"/>
          <p:nvPr/>
        </p:nvSpPr>
        <p:spPr>
          <a:xfrm>
            <a:off x="1185162" y="2407691"/>
            <a:ext cx="6491605" cy="4017645"/>
          </a:xfrm>
          <a:prstGeom prst="rect">
            <a:avLst/>
          </a:prstGeom>
        </p:spPr>
        <p:txBody>
          <a:bodyPr vert="horz" wrap="square" lIns="0" tIns="0" rIns="0" bIns="0" rtlCol="0">
            <a:spAutoFit/>
          </a:bodyPr>
          <a:lstStyle/>
          <a:p>
            <a:pPr marL="12700">
              <a:lnSpc>
                <a:spcPct val="100000"/>
              </a:lnSpc>
            </a:pPr>
            <a:r>
              <a:rPr sz="1650" spc="15" dirty="0">
                <a:solidFill>
                  <a:srgbClr val="0000FF"/>
                </a:solidFill>
                <a:latin typeface="Arial"/>
                <a:cs typeface="Arial"/>
              </a:rPr>
              <a:t>INVALID,  </a:t>
            </a:r>
            <a:r>
              <a:rPr sz="1650" spc="95" dirty="0">
                <a:solidFill>
                  <a:srgbClr val="0000FF"/>
                </a:solidFill>
                <a:latin typeface="Arial"/>
                <a:cs typeface="Arial"/>
              </a:rPr>
              <a:t>generating</a:t>
            </a:r>
            <a:r>
              <a:rPr sz="1650" spc="310" dirty="0">
                <a:solidFill>
                  <a:srgbClr val="0000FF"/>
                </a:solidFill>
                <a:latin typeface="Arial"/>
                <a:cs typeface="Arial"/>
              </a:rPr>
              <a:t> </a:t>
            </a:r>
            <a:r>
              <a:rPr sz="1650" spc="105" dirty="0">
                <a:solidFill>
                  <a:srgbClr val="0000FF"/>
                </a:solidFill>
                <a:latin typeface="Arial"/>
                <a:cs typeface="Arial"/>
              </a:rPr>
              <a:t>counterexample...</a:t>
            </a:r>
            <a:endParaRPr sz="1650">
              <a:latin typeface="Arial"/>
              <a:cs typeface="Arial"/>
            </a:endParaRPr>
          </a:p>
          <a:p>
            <a:pPr marL="12700">
              <a:lnSpc>
                <a:spcPct val="100000"/>
              </a:lnSpc>
              <a:spcBef>
                <a:spcPts val="285"/>
              </a:spcBef>
              <a:tabLst>
                <a:tab pos="3356610" algn="l"/>
              </a:tabLst>
            </a:pPr>
            <a:r>
              <a:rPr sz="1650" spc="-55" dirty="0">
                <a:solidFill>
                  <a:srgbClr val="0000FF"/>
                </a:solidFill>
                <a:latin typeface="Arial"/>
                <a:cs typeface="Arial"/>
              </a:rPr>
              <a:t>number   </a:t>
            </a:r>
            <a:r>
              <a:rPr sz="1650" spc="185" dirty="0">
                <a:solidFill>
                  <a:srgbClr val="0000FF"/>
                </a:solidFill>
                <a:latin typeface="Arial"/>
                <a:cs typeface="Arial"/>
              </a:rPr>
              <a:t>of  </a:t>
            </a:r>
            <a:r>
              <a:rPr sz="1650" spc="204" dirty="0">
                <a:solidFill>
                  <a:srgbClr val="0000FF"/>
                </a:solidFill>
                <a:latin typeface="Arial"/>
                <a:cs typeface="Arial"/>
              </a:rPr>
              <a:t>visited</a:t>
            </a:r>
            <a:r>
              <a:rPr sz="1650" spc="440" dirty="0">
                <a:solidFill>
                  <a:srgbClr val="0000FF"/>
                </a:solidFill>
                <a:latin typeface="Arial"/>
                <a:cs typeface="Arial"/>
              </a:rPr>
              <a:t> </a:t>
            </a:r>
            <a:r>
              <a:rPr sz="1650" spc="180" dirty="0">
                <a:solidFill>
                  <a:srgbClr val="0000FF"/>
                </a:solidFill>
                <a:latin typeface="Arial"/>
                <a:cs typeface="Arial"/>
              </a:rPr>
              <a:t>states:</a:t>
            </a:r>
            <a:r>
              <a:rPr sz="1650" spc="670" dirty="0">
                <a:solidFill>
                  <a:srgbClr val="0000FF"/>
                </a:solidFill>
                <a:latin typeface="Arial"/>
                <a:cs typeface="Arial"/>
              </a:rPr>
              <a:t> </a:t>
            </a:r>
            <a:r>
              <a:rPr sz="1650" spc="185" dirty="0">
                <a:solidFill>
                  <a:srgbClr val="0000FF"/>
                </a:solidFill>
                <a:latin typeface="Arial"/>
                <a:cs typeface="Arial"/>
              </a:rPr>
              <a:t>7,	</a:t>
            </a:r>
            <a:r>
              <a:rPr sz="1650" spc="220" dirty="0">
                <a:solidFill>
                  <a:srgbClr val="0000FF"/>
                </a:solidFill>
                <a:latin typeface="Arial"/>
                <a:cs typeface="Arial"/>
              </a:rPr>
              <a:t>verification </a:t>
            </a:r>
            <a:r>
              <a:rPr sz="1650" spc="160" dirty="0">
                <a:solidFill>
                  <a:srgbClr val="0000FF"/>
                </a:solidFill>
                <a:latin typeface="Arial"/>
                <a:cs typeface="Arial"/>
              </a:rPr>
              <a:t>time: </a:t>
            </a:r>
            <a:r>
              <a:rPr sz="1650" spc="70" dirty="0">
                <a:solidFill>
                  <a:srgbClr val="0000FF"/>
                </a:solidFill>
                <a:latin typeface="Arial"/>
                <a:cs typeface="Arial"/>
              </a:rPr>
              <a:t>0.02 </a:t>
            </a:r>
            <a:r>
              <a:rPr sz="1650" spc="295" dirty="0">
                <a:solidFill>
                  <a:srgbClr val="0000FF"/>
                </a:solidFill>
                <a:latin typeface="Arial"/>
                <a:cs typeface="Arial"/>
              </a:rPr>
              <a:t> </a:t>
            </a:r>
            <a:r>
              <a:rPr sz="1650" spc="25" dirty="0">
                <a:solidFill>
                  <a:srgbClr val="0000FF"/>
                </a:solidFill>
                <a:latin typeface="Arial"/>
                <a:cs typeface="Arial"/>
              </a:rPr>
              <a:t>secs</a:t>
            </a:r>
            <a:endParaRPr sz="1650">
              <a:latin typeface="Arial"/>
              <a:cs typeface="Arial"/>
            </a:endParaRPr>
          </a:p>
          <a:p>
            <a:pPr marL="12700">
              <a:lnSpc>
                <a:spcPct val="100000"/>
              </a:lnSpc>
              <a:spcBef>
                <a:spcPts val="285"/>
              </a:spcBef>
            </a:pPr>
            <a:r>
              <a:rPr sz="1650" spc="325" dirty="0">
                <a:solidFill>
                  <a:srgbClr val="0000FF"/>
                </a:solidFill>
                <a:latin typeface="Arial"/>
                <a:cs typeface="Arial"/>
              </a:rPr>
              <a:t>------------------------</a:t>
            </a:r>
            <a:endParaRPr sz="1650">
              <a:latin typeface="Arial"/>
              <a:cs typeface="Arial"/>
            </a:endParaRPr>
          </a:p>
          <a:p>
            <a:pPr marL="12700" marR="4018279">
              <a:lnSpc>
                <a:spcPct val="114500"/>
              </a:lnSpc>
              <a:tabLst>
                <a:tab pos="1238885" algn="l"/>
              </a:tabLst>
            </a:pPr>
            <a:r>
              <a:rPr sz="1650" spc="-20" dirty="0">
                <a:solidFill>
                  <a:srgbClr val="0000FF"/>
                </a:solidFill>
                <a:latin typeface="Arial"/>
                <a:cs typeface="Arial"/>
              </a:rPr>
              <a:t>my_t  </a:t>
            </a:r>
            <a:r>
              <a:rPr sz="1650" spc="25" dirty="0">
                <a:solidFill>
                  <a:srgbClr val="0000FF"/>
                </a:solidFill>
                <a:latin typeface="Arial"/>
                <a:cs typeface="Arial"/>
              </a:rPr>
              <a:t> </a:t>
            </a:r>
            <a:r>
              <a:rPr sz="1650" spc="-90" dirty="0">
                <a:solidFill>
                  <a:srgbClr val="0000FF"/>
                </a:solidFill>
                <a:latin typeface="Arial"/>
                <a:cs typeface="Arial"/>
              </a:rPr>
              <a:t>=  </a:t>
            </a:r>
            <a:r>
              <a:rPr sz="1650" spc="165" dirty="0">
                <a:solidFill>
                  <a:srgbClr val="0000FF"/>
                </a:solidFill>
                <a:latin typeface="Arial"/>
                <a:cs typeface="Arial"/>
              </a:rPr>
              <a:t> </a:t>
            </a:r>
            <a:r>
              <a:rPr sz="1650" spc="-40" dirty="0">
                <a:solidFill>
                  <a:srgbClr val="0000FF"/>
                </a:solidFill>
                <a:latin typeface="Arial"/>
                <a:cs typeface="Arial"/>
              </a:rPr>
              <a:t>0	</a:t>
            </a:r>
            <a:r>
              <a:rPr sz="1650" spc="140" dirty="0">
                <a:solidFill>
                  <a:srgbClr val="0000FF"/>
                </a:solidFill>
                <a:latin typeface="Arial"/>
                <a:cs typeface="Arial"/>
              </a:rPr>
              <a:t>other_t</a:t>
            </a:r>
            <a:r>
              <a:rPr sz="1650" spc="380" dirty="0">
                <a:solidFill>
                  <a:srgbClr val="0000FF"/>
                </a:solidFill>
                <a:latin typeface="Arial"/>
                <a:cs typeface="Arial"/>
              </a:rPr>
              <a:t> </a:t>
            </a:r>
            <a:r>
              <a:rPr sz="1650" spc="-90" dirty="0">
                <a:solidFill>
                  <a:srgbClr val="0000FF"/>
                </a:solidFill>
                <a:latin typeface="Arial"/>
                <a:cs typeface="Arial"/>
              </a:rPr>
              <a:t>= </a:t>
            </a:r>
            <a:r>
              <a:rPr sz="1650" spc="15" dirty="0">
                <a:solidFill>
                  <a:srgbClr val="0000FF"/>
                </a:solidFill>
                <a:latin typeface="Arial"/>
                <a:cs typeface="Arial"/>
              </a:rPr>
              <a:t> </a:t>
            </a:r>
            <a:r>
              <a:rPr sz="1650" spc="-40" dirty="0">
                <a:solidFill>
                  <a:srgbClr val="0000FF"/>
                </a:solidFill>
                <a:latin typeface="Arial"/>
                <a:cs typeface="Arial"/>
              </a:rPr>
              <a:t>0 </a:t>
            </a:r>
            <a:r>
              <a:rPr sz="1650" spc="-20" dirty="0">
                <a:solidFill>
                  <a:srgbClr val="0000FF"/>
                </a:solidFill>
                <a:latin typeface="Arial"/>
                <a:cs typeface="Arial"/>
              </a:rPr>
              <a:t> </a:t>
            </a:r>
            <a:r>
              <a:rPr sz="1650" spc="-10" dirty="0">
                <a:solidFill>
                  <a:srgbClr val="0000FF"/>
                </a:solidFill>
                <a:latin typeface="Arial"/>
                <a:cs typeface="Arial"/>
              </a:rPr>
              <a:t>pc1  </a:t>
            </a:r>
            <a:r>
              <a:rPr sz="1650" spc="-90" dirty="0">
                <a:solidFill>
                  <a:srgbClr val="0000FF"/>
                </a:solidFill>
                <a:latin typeface="Arial"/>
                <a:cs typeface="Arial"/>
              </a:rPr>
              <a:t>=  </a:t>
            </a:r>
            <a:r>
              <a:rPr sz="1650" spc="235" dirty="0">
                <a:solidFill>
                  <a:srgbClr val="0000FF"/>
                </a:solidFill>
                <a:latin typeface="Arial"/>
                <a:cs typeface="Arial"/>
              </a:rPr>
              <a:t>idle </a:t>
            </a:r>
            <a:r>
              <a:rPr sz="1650" spc="-10" dirty="0">
                <a:solidFill>
                  <a:srgbClr val="0000FF"/>
                </a:solidFill>
                <a:latin typeface="Arial"/>
                <a:cs typeface="Arial"/>
              </a:rPr>
              <a:t>pc2  </a:t>
            </a:r>
            <a:r>
              <a:rPr sz="1650" spc="-90" dirty="0">
                <a:solidFill>
                  <a:srgbClr val="0000FF"/>
                </a:solidFill>
                <a:latin typeface="Arial"/>
                <a:cs typeface="Arial"/>
              </a:rPr>
              <a:t>= </a:t>
            </a:r>
            <a:r>
              <a:rPr sz="1650" spc="250" dirty="0">
                <a:solidFill>
                  <a:srgbClr val="0000FF"/>
                </a:solidFill>
                <a:latin typeface="Arial"/>
                <a:cs typeface="Arial"/>
              </a:rPr>
              <a:t> </a:t>
            </a:r>
            <a:r>
              <a:rPr sz="1650" spc="235" dirty="0">
                <a:solidFill>
                  <a:srgbClr val="0000FF"/>
                </a:solidFill>
                <a:latin typeface="Arial"/>
                <a:cs typeface="Arial"/>
              </a:rPr>
              <a:t>idle</a:t>
            </a:r>
            <a:endParaRPr sz="1650">
              <a:latin typeface="Arial"/>
              <a:cs typeface="Arial"/>
            </a:endParaRPr>
          </a:p>
          <a:p>
            <a:pPr marL="12700">
              <a:lnSpc>
                <a:spcPct val="100000"/>
              </a:lnSpc>
              <a:spcBef>
                <a:spcPts val="285"/>
              </a:spcBef>
            </a:pPr>
            <a:r>
              <a:rPr sz="1650" spc="325" dirty="0">
                <a:solidFill>
                  <a:srgbClr val="0000FF"/>
                </a:solidFill>
                <a:latin typeface="Arial"/>
                <a:cs typeface="Arial"/>
              </a:rPr>
              <a:t>------------------------</a:t>
            </a:r>
            <a:endParaRPr sz="1650">
              <a:latin typeface="Arial"/>
              <a:cs typeface="Arial"/>
            </a:endParaRPr>
          </a:p>
          <a:p>
            <a:pPr marL="12700">
              <a:lnSpc>
                <a:spcPct val="100000"/>
              </a:lnSpc>
              <a:spcBef>
                <a:spcPts val="285"/>
              </a:spcBef>
            </a:pPr>
            <a:r>
              <a:rPr sz="1650" spc="-10" dirty="0">
                <a:solidFill>
                  <a:srgbClr val="0000FF"/>
                </a:solidFill>
                <a:latin typeface="Arial"/>
                <a:cs typeface="Arial"/>
              </a:rPr>
              <a:t>pc2  </a:t>
            </a:r>
            <a:r>
              <a:rPr sz="1650" spc="-90" dirty="0">
                <a:solidFill>
                  <a:srgbClr val="0000FF"/>
                </a:solidFill>
                <a:latin typeface="Arial"/>
                <a:cs typeface="Arial"/>
              </a:rPr>
              <a:t>= </a:t>
            </a:r>
            <a:r>
              <a:rPr sz="1650" spc="-65" dirty="0">
                <a:solidFill>
                  <a:srgbClr val="0000FF"/>
                </a:solidFill>
                <a:latin typeface="Arial"/>
                <a:cs typeface="Arial"/>
              </a:rPr>
              <a:t> </a:t>
            </a:r>
            <a:r>
              <a:rPr sz="1650" spc="204" dirty="0">
                <a:solidFill>
                  <a:srgbClr val="0000FF"/>
                </a:solidFill>
                <a:latin typeface="Arial"/>
                <a:cs typeface="Arial"/>
              </a:rPr>
              <a:t>trying</a:t>
            </a:r>
            <a:endParaRPr sz="1650">
              <a:latin typeface="Arial"/>
              <a:cs typeface="Arial"/>
            </a:endParaRPr>
          </a:p>
          <a:p>
            <a:pPr marL="12700">
              <a:lnSpc>
                <a:spcPct val="100000"/>
              </a:lnSpc>
              <a:spcBef>
                <a:spcPts val="285"/>
              </a:spcBef>
            </a:pPr>
            <a:r>
              <a:rPr sz="1650" spc="325" dirty="0">
                <a:solidFill>
                  <a:srgbClr val="0000FF"/>
                </a:solidFill>
                <a:latin typeface="Arial"/>
                <a:cs typeface="Arial"/>
              </a:rPr>
              <a:t>------------------------</a:t>
            </a:r>
            <a:endParaRPr sz="1650">
              <a:latin typeface="Arial"/>
              <a:cs typeface="Arial"/>
            </a:endParaRPr>
          </a:p>
          <a:p>
            <a:pPr marL="12700">
              <a:lnSpc>
                <a:spcPct val="100000"/>
              </a:lnSpc>
              <a:spcBef>
                <a:spcPts val="285"/>
              </a:spcBef>
            </a:pPr>
            <a:r>
              <a:rPr sz="1650" spc="-10" dirty="0">
                <a:solidFill>
                  <a:srgbClr val="0000FF"/>
                </a:solidFill>
                <a:latin typeface="Arial"/>
                <a:cs typeface="Arial"/>
              </a:rPr>
              <a:t>pc2  </a:t>
            </a:r>
            <a:r>
              <a:rPr sz="1650" spc="-90" dirty="0">
                <a:solidFill>
                  <a:srgbClr val="0000FF"/>
                </a:solidFill>
                <a:latin typeface="Arial"/>
                <a:cs typeface="Arial"/>
              </a:rPr>
              <a:t>= </a:t>
            </a:r>
            <a:r>
              <a:rPr sz="1650" spc="-40" dirty="0">
                <a:solidFill>
                  <a:srgbClr val="0000FF"/>
                </a:solidFill>
                <a:latin typeface="Arial"/>
                <a:cs typeface="Arial"/>
              </a:rPr>
              <a:t> </a:t>
            </a:r>
            <a:r>
              <a:rPr sz="1650" spc="290" dirty="0">
                <a:solidFill>
                  <a:srgbClr val="0000FF"/>
                </a:solidFill>
                <a:latin typeface="Arial"/>
                <a:cs typeface="Arial"/>
              </a:rPr>
              <a:t>critical</a:t>
            </a:r>
            <a:endParaRPr sz="1650">
              <a:latin typeface="Arial"/>
              <a:cs typeface="Arial"/>
            </a:endParaRPr>
          </a:p>
          <a:p>
            <a:pPr marL="12700">
              <a:lnSpc>
                <a:spcPct val="100000"/>
              </a:lnSpc>
              <a:spcBef>
                <a:spcPts val="285"/>
              </a:spcBef>
            </a:pPr>
            <a:r>
              <a:rPr sz="1650" spc="325" dirty="0">
                <a:solidFill>
                  <a:srgbClr val="0000FF"/>
                </a:solidFill>
                <a:latin typeface="Arial"/>
                <a:cs typeface="Arial"/>
              </a:rPr>
              <a:t>------------------------</a:t>
            </a:r>
            <a:endParaRPr sz="1650">
              <a:latin typeface="Arial"/>
              <a:cs typeface="Arial"/>
            </a:endParaRPr>
          </a:p>
          <a:p>
            <a:pPr marL="12700">
              <a:lnSpc>
                <a:spcPct val="100000"/>
              </a:lnSpc>
              <a:spcBef>
                <a:spcPts val="285"/>
              </a:spcBef>
            </a:pPr>
            <a:r>
              <a:rPr sz="1650" spc="-10" dirty="0">
                <a:solidFill>
                  <a:srgbClr val="0000FF"/>
                </a:solidFill>
                <a:latin typeface="Arial"/>
                <a:cs typeface="Arial"/>
              </a:rPr>
              <a:t>pc1  </a:t>
            </a:r>
            <a:r>
              <a:rPr sz="1650" spc="-90" dirty="0">
                <a:solidFill>
                  <a:srgbClr val="0000FF"/>
                </a:solidFill>
                <a:latin typeface="Arial"/>
                <a:cs typeface="Arial"/>
              </a:rPr>
              <a:t>= </a:t>
            </a:r>
            <a:r>
              <a:rPr sz="1650" spc="-65" dirty="0">
                <a:solidFill>
                  <a:srgbClr val="0000FF"/>
                </a:solidFill>
                <a:latin typeface="Arial"/>
                <a:cs typeface="Arial"/>
              </a:rPr>
              <a:t> </a:t>
            </a:r>
            <a:r>
              <a:rPr sz="1650" spc="204" dirty="0">
                <a:solidFill>
                  <a:srgbClr val="0000FF"/>
                </a:solidFill>
                <a:latin typeface="Arial"/>
                <a:cs typeface="Arial"/>
              </a:rPr>
              <a:t>trying</a:t>
            </a:r>
            <a:endParaRPr sz="1650">
              <a:latin typeface="Arial"/>
              <a:cs typeface="Arial"/>
            </a:endParaRPr>
          </a:p>
          <a:p>
            <a:pPr marL="12700">
              <a:lnSpc>
                <a:spcPct val="100000"/>
              </a:lnSpc>
              <a:spcBef>
                <a:spcPts val="285"/>
              </a:spcBef>
            </a:pPr>
            <a:r>
              <a:rPr sz="1650" spc="325" dirty="0">
                <a:solidFill>
                  <a:srgbClr val="0000FF"/>
                </a:solidFill>
                <a:latin typeface="Arial"/>
                <a:cs typeface="Arial"/>
              </a:rPr>
              <a:t>------------------------</a:t>
            </a:r>
            <a:endParaRPr sz="1650">
              <a:latin typeface="Arial"/>
              <a:cs typeface="Arial"/>
            </a:endParaRPr>
          </a:p>
          <a:p>
            <a:pPr marL="12700" marR="3237865">
              <a:lnSpc>
                <a:spcPts val="2270"/>
              </a:lnSpc>
              <a:spcBef>
                <a:spcPts val="120"/>
              </a:spcBef>
              <a:tabLst>
                <a:tab pos="1684655" algn="l"/>
              </a:tabLst>
            </a:pPr>
            <a:r>
              <a:rPr sz="1650" spc="-20" dirty="0">
                <a:solidFill>
                  <a:srgbClr val="0000FF"/>
                </a:solidFill>
                <a:latin typeface="Arial"/>
                <a:cs typeface="Arial"/>
              </a:rPr>
              <a:t>my_t  </a:t>
            </a:r>
            <a:r>
              <a:rPr sz="1650" spc="25" dirty="0">
                <a:solidFill>
                  <a:srgbClr val="0000FF"/>
                </a:solidFill>
                <a:latin typeface="Arial"/>
                <a:cs typeface="Arial"/>
              </a:rPr>
              <a:t> </a:t>
            </a:r>
            <a:r>
              <a:rPr sz="1650" spc="-90" dirty="0">
                <a:solidFill>
                  <a:srgbClr val="0000FF"/>
                </a:solidFill>
                <a:latin typeface="Arial"/>
                <a:cs typeface="Arial"/>
              </a:rPr>
              <a:t>=  </a:t>
            </a:r>
            <a:r>
              <a:rPr sz="1650" spc="165" dirty="0">
                <a:solidFill>
                  <a:srgbClr val="0000FF"/>
                </a:solidFill>
                <a:latin typeface="Arial"/>
                <a:cs typeface="Arial"/>
              </a:rPr>
              <a:t> </a:t>
            </a:r>
            <a:r>
              <a:rPr sz="1650" spc="-40" dirty="0">
                <a:solidFill>
                  <a:srgbClr val="0000FF"/>
                </a:solidFill>
                <a:latin typeface="Arial"/>
                <a:cs typeface="Arial"/>
              </a:rPr>
              <a:t>0	</a:t>
            </a:r>
            <a:r>
              <a:rPr sz="1650" spc="140" dirty="0">
                <a:solidFill>
                  <a:srgbClr val="0000FF"/>
                </a:solidFill>
                <a:latin typeface="Arial"/>
                <a:cs typeface="Arial"/>
              </a:rPr>
              <a:t>other_t</a:t>
            </a:r>
            <a:r>
              <a:rPr sz="1650" spc="380" dirty="0">
                <a:solidFill>
                  <a:srgbClr val="0000FF"/>
                </a:solidFill>
                <a:latin typeface="Arial"/>
                <a:cs typeface="Arial"/>
              </a:rPr>
              <a:t> </a:t>
            </a:r>
            <a:r>
              <a:rPr sz="1650" spc="-90" dirty="0">
                <a:solidFill>
                  <a:srgbClr val="0000FF"/>
                </a:solidFill>
                <a:latin typeface="Arial"/>
                <a:cs typeface="Arial"/>
              </a:rPr>
              <a:t>= </a:t>
            </a:r>
            <a:r>
              <a:rPr sz="1650" spc="15" dirty="0">
                <a:solidFill>
                  <a:srgbClr val="0000FF"/>
                </a:solidFill>
                <a:latin typeface="Arial"/>
                <a:cs typeface="Arial"/>
              </a:rPr>
              <a:t> </a:t>
            </a:r>
            <a:r>
              <a:rPr sz="1650" spc="-40" dirty="0">
                <a:solidFill>
                  <a:srgbClr val="0000FF"/>
                </a:solidFill>
                <a:latin typeface="Arial"/>
                <a:cs typeface="Arial"/>
              </a:rPr>
              <a:t>0 </a:t>
            </a:r>
            <a:r>
              <a:rPr sz="1650" spc="-20" dirty="0">
                <a:solidFill>
                  <a:srgbClr val="0000FF"/>
                </a:solidFill>
                <a:latin typeface="Arial"/>
                <a:cs typeface="Arial"/>
              </a:rPr>
              <a:t> </a:t>
            </a:r>
            <a:r>
              <a:rPr sz="1650" spc="-10" dirty="0">
                <a:solidFill>
                  <a:srgbClr val="0000FF"/>
                </a:solidFill>
                <a:latin typeface="Arial"/>
                <a:cs typeface="Arial"/>
              </a:rPr>
              <a:t>pc1  </a:t>
            </a:r>
            <a:r>
              <a:rPr sz="1650" spc="-90" dirty="0">
                <a:solidFill>
                  <a:srgbClr val="0000FF"/>
                </a:solidFill>
                <a:latin typeface="Arial"/>
                <a:cs typeface="Arial"/>
              </a:rPr>
              <a:t>=  </a:t>
            </a:r>
            <a:r>
              <a:rPr sz="1650" spc="290" dirty="0">
                <a:solidFill>
                  <a:srgbClr val="0000FF"/>
                </a:solidFill>
                <a:latin typeface="Arial"/>
                <a:cs typeface="Arial"/>
              </a:rPr>
              <a:t>critical </a:t>
            </a:r>
            <a:r>
              <a:rPr sz="1650" spc="-10" dirty="0">
                <a:solidFill>
                  <a:srgbClr val="0000FF"/>
                </a:solidFill>
                <a:latin typeface="Arial"/>
                <a:cs typeface="Arial"/>
              </a:rPr>
              <a:t>pc2  </a:t>
            </a:r>
            <a:r>
              <a:rPr sz="1650" spc="-90" dirty="0">
                <a:solidFill>
                  <a:srgbClr val="0000FF"/>
                </a:solidFill>
                <a:latin typeface="Arial"/>
                <a:cs typeface="Arial"/>
              </a:rPr>
              <a:t>= </a:t>
            </a:r>
            <a:r>
              <a:rPr sz="1650" spc="245" dirty="0">
                <a:solidFill>
                  <a:srgbClr val="0000FF"/>
                </a:solidFill>
                <a:latin typeface="Arial"/>
                <a:cs typeface="Arial"/>
              </a:rPr>
              <a:t> </a:t>
            </a:r>
            <a:r>
              <a:rPr sz="1650" spc="290" dirty="0">
                <a:solidFill>
                  <a:srgbClr val="0000FF"/>
                </a:solidFill>
                <a:latin typeface="Arial"/>
                <a:cs typeface="Arial"/>
              </a:rPr>
              <a:t>critical</a:t>
            </a:r>
            <a:endParaRPr sz="1650">
              <a:latin typeface="Arial"/>
              <a:cs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8214995" cy="5996305"/>
          </a:xfrm>
          <a:prstGeom prst="rect">
            <a:avLst/>
          </a:prstGeom>
        </p:spPr>
        <p:txBody>
          <a:bodyPr vert="horz" wrap="square" lIns="0" tIns="0" rIns="0" bIns="0" rtlCol="0">
            <a:spAutoFit/>
          </a:bodyPr>
          <a:lstStyle/>
          <a:p>
            <a:pPr marL="1019175">
              <a:lnSpc>
                <a:spcPct val="100000"/>
              </a:lnSpc>
            </a:pPr>
            <a:r>
              <a:rPr sz="1950" spc="245" dirty="0">
                <a:solidFill>
                  <a:srgbClr val="231F20"/>
                </a:solidFill>
                <a:latin typeface="Arial"/>
                <a:cs typeface="Arial"/>
              </a:rPr>
              <a:t>Verification </a:t>
            </a:r>
            <a:r>
              <a:rPr sz="1950" spc="200" dirty="0">
                <a:solidFill>
                  <a:srgbClr val="231F20"/>
                </a:solidFill>
                <a:latin typeface="Arial"/>
                <a:cs typeface="Arial"/>
              </a:rPr>
              <a:t>by </a:t>
            </a:r>
            <a:r>
              <a:rPr sz="1950" spc="265" dirty="0">
                <a:solidFill>
                  <a:srgbClr val="0000FF"/>
                </a:solidFill>
                <a:latin typeface="Arial"/>
                <a:cs typeface="Arial"/>
              </a:rPr>
              <a:t>Finite </a:t>
            </a:r>
            <a:r>
              <a:rPr sz="1950" spc="285" dirty="0">
                <a:solidFill>
                  <a:srgbClr val="0000FF"/>
                </a:solidFill>
                <a:latin typeface="Arial"/>
                <a:cs typeface="Arial"/>
              </a:rPr>
              <a:t>State </a:t>
            </a:r>
            <a:r>
              <a:rPr sz="1950" spc="305" dirty="0">
                <a:solidFill>
                  <a:srgbClr val="231F20"/>
                </a:solidFill>
                <a:latin typeface="Arial"/>
                <a:cs typeface="Arial"/>
              </a:rPr>
              <a:t>Model</a:t>
            </a:r>
            <a:r>
              <a:rPr sz="1950" spc="810"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a:p>
            <a:pPr marL="300990" marR="5080" indent="-288290">
              <a:lnSpc>
                <a:spcPct val="125000"/>
              </a:lnSpc>
              <a:spcBef>
                <a:spcPts val="1030"/>
              </a:spcBef>
              <a:buSzPct val="105128"/>
              <a:buFont typeface="Lucida Sans Unicode"/>
              <a:buChar char="•"/>
              <a:tabLst>
                <a:tab pos="301625" algn="l"/>
              </a:tabLst>
            </a:pPr>
            <a:r>
              <a:rPr sz="1950" spc="155" dirty="0">
                <a:solidFill>
                  <a:srgbClr val="231F20"/>
                </a:solidFill>
                <a:latin typeface="Arial"/>
                <a:cs typeface="Arial"/>
              </a:rPr>
              <a:t>For </a:t>
            </a:r>
            <a:r>
              <a:rPr sz="1950" spc="165" dirty="0">
                <a:solidFill>
                  <a:srgbClr val="231F20"/>
                </a:solidFill>
                <a:latin typeface="Arial"/>
                <a:cs typeface="Arial"/>
              </a:rPr>
              <a:t>traditional methods </a:t>
            </a:r>
            <a:r>
              <a:rPr sz="1950" spc="185" dirty="0">
                <a:solidFill>
                  <a:srgbClr val="231F20"/>
                </a:solidFill>
                <a:latin typeface="Arial"/>
                <a:cs typeface="Arial"/>
              </a:rPr>
              <a:t>of </a:t>
            </a:r>
            <a:r>
              <a:rPr sz="1950" spc="160" dirty="0">
                <a:solidFill>
                  <a:srgbClr val="231F20"/>
                </a:solidFill>
                <a:latin typeface="Arial"/>
                <a:cs typeface="Arial"/>
              </a:rPr>
              <a:t>model </a:t>
            </a:r>
            <a:r>
              <a:rPr sz="1950" spc="130" dirty="0">
                <a:solidFill>
                  <a:srgbClr val="231F20"/>
                </a:solidFill>
                <a:latin typeface="Arial"/>
                <a:cs typeface="Arial"/>
              </a:rPr>
              <a:t>checking, </a:t>
            </a:r>
            <a:r>
              <a:rPr sz="1950" spc="95" dirty="0">
                <a:solidFill>
                  <a:srgbClr val="231F20"/>
                </a:solidFill>
                <a:latin typeface="Arial"/>
                <a:cs typeface="Arial"/>
              </a:rPr>
              <a:t>we </a:t>
            </a:r>
            <a:r>
              <a:rPr sz="1950" spc="80" dirty="0">
                <a:solidFill>
                  <a:srgbClr val="231F20"/>
                </a:solidFill>
                <a:latin typeface="Arial"/>
                <a:cs typeface="Arial"/>
              </a:rPr>
              <a:t>need </a:t>
            </a:r>
            <a:r>
              <a:rPr sz="1950" spc="250" dirty="0">
                <a:solidFill>
                  <a:srgbClr val="231F20"/>
                </a:solidFill>
                <a:latin typeface="Arial"/>
                <a:cs typeface="Arial"/>
              </a:rPr>
              <a:t>to </a:t>
            </a:r>
            <a:r>
              <a:rPr sz="1950" spc="130" dirty="0">
                <a:solidFill>
                  <a:srgbClr val="231F20"/>
                </a:solidFill>
                <a:latin typeface="Arial"/>
                <a:cs typeface="Arial"/>
              </a:rPr>
              <a:t>make  </a:t>
            </a:r>
            <a:r>
              <a:rPr sz="1950" spc="175" dirty="0">
                <a:solidFill>
                  <a:srgbClr val="231F20"/>
                </a:solidFill>
                <a:latin typeface="Arial"/>
                <a:cs typeface="Arial"/>
              </a:rPr>
              <a:t>the </a:t>
            </a:r>
            <a:r>
              <a:rPr sz="1950" spc="155" dirty="0">
                <a:solidFill>
                  <a:srgbClr val="231F20"/>
                </a:solidFill>
                <a:latin typeface="Arial"/>
                <a:cs typeface="Arial"/>
              </a:rPr>
              <a:t>state </a:t>
            </a:r>
            <a:r>
              <a:rPr sz="1950" spc="70" dirty="0">
                <a:solidFill>
                  <a:srgbClr val="231F20"/>
                </a:solidFill>
                <a:latin typeface="Arial"/>
                <a:cs typeface="Arial"/>
              </a:rPr>
              <a:t>space</a:t>
            </a:r>
            <a:r>
              <a:rPr sz="1950" spc="445" dirty="0">
                <a:solidFill>
                  <a:srgbClr val="231F20"/>
                </a:solidFill>
                <a:latin typeface="Arial"/>
                <a:cs typeface="Arial"/>
              </a:rPr>
              <a:t> </a:t>
            </a:r>
            <a:r>
              <a:rPr sz="1950" spc="160" dirty="0">
                <a:solidFill>
                  <a:srgbClr val="FF0000"/>
                </a:solidFill>
                <a:latin typeface="Arial"/>
                <a:cs typeface="Arial"/>
              </a:rPr>
              <a:t>finite</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60" dirty="0">
                <a:solidFill>
                  <a:srgbClr val="231F20"/>
                </a:solidFill>
                <a:latin typeface="Arial"/>
                <a:cs typeface="Arial"/>
              </a:rPr>
              <a:t>Use </a:t>
            </a:r>
            <a:r>
              <a:rPr sz="1950" spc="150" dirty="0">
                <a:solidFill>
                  <a:srgbClr val="231F20"/>
                </a:solidFill>
                <a:latin typeface="Arial"/>
                <a:cs typeface="Arial"/>
              </a:rPr>
              <a:t>property </a:t>
            </a:r>
            <a:r>
              <a:rPr sz="1950" spc="95" dirty="0">
                <a:solidFill>
                  <a:srgbClr val="231F20"/>
                </a:solidFill>
                <a:latin typeface="Arial"/>
                <a:cs typeface="Arial"/>
              </a:rPr>
              <a:t>preserving </a:t>
            </a:r>
            <a:r>
              <a:rPr sz="1950" spc="140" dirty="0">
                <a:solidFill>
                  <a:srgbClr val="FF0000"/>
                </a:solidFill>
                <a:latin typeface="Arial"/>
                <a:cs typeface="Arial"/>
              </a:rPr>
              <a:t>abstractions </a:t>
            </a:r>
            <a:r>
              <a:rPr sz="1950" spc="155" dirty="0">
                <a:solidFill>
                  <a:srgbClr val="FF0000"/>
                </a:solidFill>
                <a:latin typeface="Arial"/>
                <a:cs typeface="Arial"/>
              </a:rPr>
              <a:t> </a:t>
            </a:r>
            <a:r>
              <a:rPr sz="1950" spc="190" dirty="0">
                <a:solidFill>
                  <a:srgbClr val="231F20"/>
                </a:solidFill>
                <a:latin typeface="Arial"/>
                <a:cs typeface="Arial"/>
              </a:rPr>
              <a:t>(later)</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285" dirty="0">
                <a:solidFill>
                  <a:srgbClr val="231F20"/>
                </a:solidFill>
                <a:latin typeface="Arial"/>
                <a:cs typeface="Arial"/>
              </a:rPr>
              <a:t>Or </a:t>
            </a:r>
            <a:r>
              <a:rPr sz="1950" spc="140" dirty="0">
                <a:solidFill>
                  <a:srgbClr val="231F20"/>
                </a:solidFill>
                <a:latin typeface="Arial"/>
                <a:cs typeface="Arial"/>
              </a:rPr>
              <a:t>drastic </a:t>
            </a:r>
            <a:r>
              <a:rPr sz="1950" spc="145" dirty="0">
                <a:solidFill>
                  <a:srgbClr val="231F20"/>
                </a:solidFill>
                <a:latin typeface="Arial"/>
                <a:cs typeface="Arial"/>
              </a:rPr>
              <a:t>simplification</a:t>
            </a:r>
            <a:r>
              <a:rPr sz="1950" spc="395" dirty="0">
                <a:solidFill>
                  <a:srgbClr val="231F20"/>
                </a:solidFill>
                <a:latin typeface="Arial"/>
                <a:cs typeface="Arial"/>
              </a:rPr>
              <a:t> </a:t>
            </a:r>
            <a:r>
              <a:rPr sz="1950" spc="210" dirty="0">
                <a:solidFill>
                  <a:srgbClr val="231F20"/>
                </a:solidFill>
                <a:latin typeface="Arial"/>
                <a:cs typeface="Arial"/>
              </a:rPr>
              <a:t>(“</a:t>
            </a:r>
            <a:r>
              <a:rPr sz="1950" spc="210" dirty="0">
                <a:solidFill>
                  <a:srgbClr val="FF0000"/>
                </a:solidFill>
                <a:latin typeface="Arial"/>
                <a:cs typeface="Arial"/>
              </a:rPr>
              <a:t>downscaling</a:t>
            </a:r>
            <a:r>
              <a:rPr sz="1950" spc="210" dirty="0">
                <a:solidFill>
                  <a:srgbClr val="231F20"/>
                </a:solidFill>
                <a:latin typeface="Arial"/>
                <a:cs typeface="Arial"/>
              </a:rPr>
              <a:t>”)</a:t>
            </a:r>
            <a:endParaRPr sz="1950">
              <a:latin typeface="Arial"/>
              <a:cs typeface="Arial"/>
            </a:endParaRPr>
          </a:p>
          <a:p>
            <a:pPr marL="741680" marR="528955" lvl="1" indent="-288290">
              <a:lnSpc>
                <a:spcPct val="120800"/>
              </a:lnSpc>
              <a:spcBef>
                <a:spcPts val="509"/>
              </a:spcBef>
              <a:buSzPct val="105128"/>
              <a:buFont typeface="Lucida Sans Unicode"/>
              <a:buChar char="◦"/>
              <a:tabLst>
                <a:tab pos="742315" algn="l"/>
              </a:tabLst>
            </a:pPr>
            <a:r>
              <a:rPr sz="1950" spc="155" dirty="0">
                <a:solidFill>
                  <a:srgbClr val="231F20"/>
                </a:solidFill>
                <a:latin typeface="Arial"/>
                <a:cs typeface="Arial"/>
              </a:rPr>
              <a:t>We’ve </a:t>
            </a:r>
            <a:r>
              <a:rPr sz="1950" spc="105" dirty="0">
                <a:solidFill>
                  <a:srgbClr val="231F20"/>
                </a:solidFill>
                <a:latin typeface="Arial"/>
                <a:cs typeface="Arial"/>
              </a:rPr>
              <a:t>already </a:t>
            </a:r>
            <a:r>
              <a:rPr sz="1950" spc="120" dirty="0">
                <a:solidFill>
                  <a:srgbClr val="231F20"/>
                </a:solidFill>
                <a:latin typeface="Arial"/>
                <a:cs typeface="Arial"/>
              </a:rPr>
              <a:t>done </a:t>
            </a:r>
            <a:r>
              <a:rPr sz="1950" spc="145" dirty="0">
                <a:solidFill>
                  <a:srgbClr val="231F20"/>
                </a:solidFill>
                <a:latin typeface="Arial"/>
                <a:cs typeface="Arial"/>
              </a:rPr>
              <a:t>this </a:t>
            </a:r>
            <a:r>
              <a:rPr sz="1950" spc="250" dirty="0">
                <a:solidFill>
                  <a:srgbClr val="231F20"/>
                </a:solidFill>
                <a:latin typeface="Arial"/>
                <a:cs typeface="Arial"/>
              </a:rPr>
              <a:t>to </a:t>
            </a:r>
            <a:r>
              <a:rPr sz="1950" spc="110" dirty="0">
                <a:solidFill>
                  <a:srgbClr val="231F20"/>
                </a:solidFill>
                <a:latin typeface="Arial"/>
                <a:cs typeface="Arial"/>
              </a:rPr>
              <a:t>some </a:t>
            </a:r>
            <a:r>
              <a:rPr sz="1950" spc="165" dirty="0">
                <a:solidFill>
                  <a:srgbClr val="231F20"/>
                </a:solidFill>
                <a:latin typeface="Arial"/>
                <a:cs typeface="Arial"/>
              </a:rPr>
              <a:t>extent, </a:t>
            </a:r>
            <a:r>
              <a:rPr sz="1950" spc="105" dirty="0">
                <a:solidFill>
                  <a:srgbClr val="231F20"/>
                </a:solidFill>
                <a:latin typeface="Arial"/>
                <a:cs typeface="Arial"/>
              </a:rPr>
              <a:t>by </a:t>
            </a:r>
            <a:r>
              <a:rPr sz="1950" spc="145" dirty="0">
                <a:solidFill>
                  <a:srgbClr val="231F20"/>
                </a:solidFill>
                <a:latin typeface="Arial"/>
                <a:cs typeface="Arial"/>
              </a:rPr>
              <a:t>fixing </a:t>
            </a:r>
            <a:r>
              <a:rPr sz="1950" spc="175" dirty="0">
                <a:solidFill>
                  <a:srgbClr val="231F20"/>
                </a:solidFill>
                <a:latin typeface="Arial"/>
                <a:cs typeface="Arial"/>
              </a:rPr>
              <a:t>the  </a:t>
            </a:r>
            <a:r>
              <a:rPr sz="1950" spc="170" dirty="0">
                <a:solidFill>
                  <a:srgbClr val="231F20"/>
                </a:solidFill>
                <a:latin typeface="Arial"/>
                <a:cs typeface="Arial"/>
              </a:rPr>
              <a:t>number </a:t>
            </a:r>
            <a:r>
              <a:rPr sz="1950" spc="185" dirty="0">
                <a:solidFill>
                  <a:srgbClr val="231F20"/>
                </a:solidFill>
                <a:latin typeface="Arial"/>
                <a:cs typeface="Arial"/>
              </a:rPr>
              <a:t>of </a:t>
            </a:r>
            <a:r>
              <a:rPr sz="1950" spc="85" dirty="0">
                <a:solidFill>
                  <a:srgbClr val="231F20"/>
                </a:solidFill>
                <a:latin typeface="Arial"/>
                <a:cs typeface="Arial"/>
              </a:rPr>
              <a:t>processors, </a:t>
            </a:r>
            <a:r>
              <a:rPr sz="2050" i="1" spc="60" dirty="0">
                <a:solidFill>
                  <a:srgbClr val="0000FF"/>
                </a:solidFill>
                <a:latin typeface="Meiryo"/>
                <a:cs typeface="Meiryo"/>
              </a:rPr>
              <a:t>n</a:t>
            </a:r>
            <a:r>
              <a:rPr sz="1950" spc="60" dirty="0">
                <a:solidFill>
                  <a:srgbClr val="231F20"/>
                </a:solidFill>
                <a:latin typeface="Arial"/>
                <a:cs typeface="Arial"/>
              </a:rPr>
              <a:t>, </a:t>
            </a:r>
            <a:r>
              <a:rPr sz="1950" spc="30" dirty="0">
                <a:solidFill>
                  <a:srgbClr val="231F20"/>
                </a:solidFill>
                <a:latin typeface="Arial"/>
                <a:cs typeface="Arial"/>
              </a:rPr>
              <a:t>as </a:t>
            </a:r>
            <a:r>
              <a:rPr sz="1950" spc="254" dirty="0">
                <a:solidFill>
                  <a:srgbClr val="231F20"/>
                </a:solidFill>
                <a:latin typeface="Arial"/>
                <a:cs typeface="Arial"/>
              </a:rPr>
              <a:t> </a:t>
            </a:r>
            <a:r>
              <a:rPr sz="1950" spc="155" dirty="0">
                <a:solidFill>
                  <a:srgbClr val="0000FF"/>
                </a:solidFill>
                <a:latin typeface="Arial"/>
                <a:cs typeface="Arial"/>
              </a:rPr>
              <a:t>2</a:t>
            </a:r>
            <a:endParaRPr sz="1950">
              <a:latin typeface="Arial"/>
              <a:cs typeface="Arial"/>
            </a:endParaRPr>
          </a:p>
          <a:p>
            <a:pPr marL="741680" lvl="1" indent="-288290">
              <a:lnSpc>
                <a:spcPct val="100000"/>
              </a:lnSpc>
              <a:spcBef>
                <a:spcPts val="770"/>
              </a:spcBef>
              <a:buSzPct val="105128"/>
              <a:buFont typeface="Lucida Sans Unicode"/>
              <a:buChar char="◦"/>
              <a:tabLst>
                <a:tab pos="742315" algn="l"/>
              </a:tabLst>
            </a:pPr>
            <a:r>
              <a:rPr sz="1950" spc="195" dirty="0">
                <a:solidFill>
                  <a:srgbClr val="231F20"/>
                </a:solidFill>
                <a:latin typeface="Arial"/>
                <a:cs typeface="Arial"/>
              </a:rPr>
              <a:t>We </a:t>
            </a:r>
            <a:r>
              <a:rPr sz="1950" spc="80" dirty="0">
                <a:solidFill>
                  <a:srgbClr val="231F20"/>
                </a:solidFill>
                <a:latin typeface="Arial"/>
                <a:cs typeface="Arial"/>
              </a:rPr>
              <a:t>also need </a:t>
            </a:r>
            <a:r>
              <a:rPr sz="1950" spc="250" dirty="0">
                <a:solidFill>
                  <a:srgbClr val="231F20"/>
                </a:solidFill>
                <a:latin typeface="Arial"/>
                <a:cs typeface="Arial"/>
              </a:rPr>
              <a:t>to </a:t>
            </a:r>
            <a:r>
              <a:rPr sz="1950" spc="110" dirty="0">
                <a:solidFill>
                  <a:srgbClr val="231F20"/>
                </a:solidFill>
                <a:latin typeface="Arial"/>
                <a:cs typeface="Arial"/>
              </a:rPr>
              <a:t>set </a:t>
            </a:r>
            <a:r>
              <a:rPr sz="1950" spc="120" dirty="0">
                <a:solidFill>
                  <a:srgbClr val="231F20"/>
                </a:solidFill>
                <a:latin typeface="Arial"/>
                <a:cs typeface="Arial"/>
              </a:rPr>
              <a:t>an </a:t>
            </a:r>
            <a:r>
              <a:rPr sz="1950" spc="140" dirty="0">
                <a:solidFill>
                  <a:srgbClr val="231F20"/>
                </a:solidFill>
                <a:latin typeface="Arial"/>
                <a:cs typeface="Arial"/>
              </a:rPr>
              <a:t>upper </a:t>
            </a:r>
            <a:r>
              <a:rPr sz="1950" spc="165" dirty="0">
                <a:solidFill>
                  <a:srgbClr val="231F20"/>
                </a:solidFill>
                <a:latin typeface="Arial"/>
                <a:cs typeface="Arial"/>
              </a:rPr>
              <a:t>bound </a:t>
            </a:r>
            <a:r>
              <a:rPr sz="1950" spc="155" dirty="0">
                <a:solidFill>
                  <a:srgbClr val="231F20"/>
                </a:solidFill>
                <a:latin typeface="Arial"/>
                <a:cs typeface="Arial"/>
              </a:rPr>
              <a:t>on </a:t>
            </a:r>
            <a:r>
              <a:rPr sz="1950" spc="175" dirty="0">
                <a:solidFill>
                  <a:srgbClr val="231F20"/>
                </a:solidFill>
                <a:latin typeface="Arial"/>
                <a:cs typeface="Arial"/>
              </a:rPr>
              <a:t>the </a:t>
            </a:r>
            <a:r>
              <a:rPr sz="1950" spc="800" dirty="0">
                <a:solidFill>
                  <a:srgbClr val="231F20"/>
                </a:solidFill>
                <a:latin typeface="Arial"/>
                <a:cs typeface="Arial"/>
              </a:rPr>
              <a:t> </a:t>
            </a:r>
            <a:r>
              <a:rPr sz="1950" spc="150" dirty="0">
                <a:solidFill>
                  <a:srgbClr val="0000FF"/>
                </a:solidFill>
                <a:latin typeface="Arial"/>
                <a:cs typeface="Arial"/>
              </a:rPr>
              <a:t>tickets</a:t>
            </a:r>
            <a:endParaRPr sz="1950">
              <a:latin typeface="Arial"/>
              <a:cs typeface="Arial"/>
            </a:endParaRPr>
          </a:p>
          <a:p>
            <a:pPr marL="300990" marR="131445" indent="-288290">
              <a:lnSpc>
                <a:spcPct val="125000"/>
              </a:lnSpc>
              <a:spcBef>
                <a:spcPts val="1035"/>
              </a:spcBef>
              <a:buSzPct val="105128"/>
              <a:buFont typeface="Lucida Sans Unicode"/>
              <a:buChar char="•"/>
              <a:tabLst>
                <a:tab pos="301625" algn="l"/>
              </a:tabLst>
            </a:pPr>
            <a:r>
              <a:rPr sz="1950" spc="170" dirty="0">
                <a:solidFill>
                  <a:srgbClr val="231F20"/>
                </a:solidFill>
                <a:latin typeface="Arial"/>
                <a:cs typeface="Arial"/>
              </a:rPr>
              <a:t>We’ll start </a:t>
            </a:r>
            <a:r>
              <a:rPr sz="1950" spc="215" dirty="0">
                <a:solidFill>
                  <a:srgbClr val="231F20"/>
                </a:solidFill>
                <a:latin typeface="Arial"/>
                <a:cs typeface="Arial"/>
              </a:rPr>
              <a:t>at </a:t>
            </a:r>
            <a:r>
              <a:rPr sz="1950" spc="150" dirty="0">
                <a:solidFill>
                  <a:srgbClr val="0000FF"/>
                </a:solidFill>
                <a:latin typeface="Arial"/>
                <a:cs typeface="Arial"/>
              </a:rPr>
              <a:t>8</a:t>
            </a:r>
            <a:r>
              <a:rPr sz="1950" spc="150" dirty="0">
                <a:solidFill>
                  <a:srgbClr val="231F20"/>
                </a:solidFill>
                <a:latin typeface="Arial"/>
                <a:cs typeface="Arial"/>
              </a:rPr>
              <a:t>, </a:t>
            </a:r>
            <a:r>
              <a:rPr sz="1950" spc="165" dirty="0">
                <a:solidFill>
                  <a:srgbClr val="231F20"/>
                </a:solidFill>
                <a:latin typeface="Arial"/>
                <a:cs typeface="Arial"/>
              </a:rPr>
              <a:t>then </a:t>
            </a:r>
            <a:r>
              <a:rPr sz="1950" spc="70" dirty="0">
                <a:solidFill>
                  <a:srgbClr val="231F20"/>
                </a:solidFill>
                <a:latin typeface="Arial"/>
                <a:cs typeface="Arial"/>
              </a:rPr>
              <a:t>raise </a:t>
            </a:r>
            <a:r>
              <a:rPr sz="1950" spc="175" dirty="0">
                <a:solidFill>
                  <a:srgbClr val="231F20"/>
                </a:solidFill>
                <a:latin typeface="Arial"/>
                <a:cs typeface="Arial"/>
              </a:rPr>
              <a:t>the </a:t>
            </a:r>
            <a:r>
              <a:rPr sz="1950" spc="195" dirty="0">
                <a:solidFill>
                  <a:srgbClr val="231F20"/>
                </a:solidFill>
                <a:latin typeface="Arial"/>
                <a:cs typeface="Arial"/>
              </a:rPr>
              <a:t>limit </a:t>
            </a:r>
            <a:r>
              <a:rPr sz="1950" spc="250" dirty="0">
                <a:solidFill>
                  <a:srgbClr val="231F20"/>
                </a:solidFill>
                <a:latin typeface="Arial"/>
                <a:cs typeface="Arial"/>
              </a:rPr>
              <a:t>to </a:t>
            </a:r>
            <a:r>
              <a:rPr sz="1950" spc="150" dirty="0">
                <a:solidFill>
                  <a:srgbClr val="231F20"/>
                </a:solidFill>
                <a:latin typeface="Arial"/>
                <a:cs typeface="Arial"/>
              </a:rPr>
              <a:t>80, 800, </a:t>
            </a:r>
            <a:r>
              <a:rPr sz="1950" spc="145" dirty="0">
                <a:solidFill>
                  <a:srgbClr val="231F20"/>
                </a:solidFill>
                <a:latin typeface="Arial"/>
                <a:cs typeface="Arial"/>
              </a:rPr>
              <a:t>. . . </a:t>
            </a:r>
            <a:r>
              <a:rPr sz="1950" spc="175" dirty="0">
                <a:solidFill>
                  <a:srgbClr val="231F20"/>
                </a:solidFill>
                <a:latin typeface="Arial"/>
                <a:cs typeface="Arial"/>
              </a:rPr>
              <a:t>until the  </a:t>
            </a:r>
            <a:r>
              <a:rPr sz="1950" spc="75" dirty="0">
                <a:solidFill>
                  <a:srgbClr val="231F20"/>
                </a:solidFill>
                <a:latin typeface="Arial"/>
                <a:cs typeface="Arial"/>
              </a:rPr>
              <a:t>search </a:t>
            </a:r>
            <a:r>
              <a:rPr sz="1950" spc="110" dirty="0">
                <a:solidFill>
                  <a:srgbClr val="231F20"/>
                </a:solidFill>
                <a:latin typeface="Arial"/>
                <a:cs typeface="Arial"/>
              </a:rPr>
              <a:t>becomes </a:t>
            </a:r>
            <a:r>
              <a:rPr sz="1950" spc="240" dirty="0">
                <a:solidFill>
                  <a:srgbClr val="231F20"/>
                </a:solidFill>
                <a:latin typeface="Arial"/>
                <a:cs typeface="Arial"/>
              </a:rPr>
              <a:t>too</a:t>
            </a:r>
            <a:r>
              <a:rPr sz="1950" spc="625" dirty="0">
                <a:solidFill>
                  <a:srgbClr val="231F20"/>
                </a:solidFill>
                <a:latin typeface="Arial"/>
                <a:cs typeface="Arial"/>
              </a:rPr>
              <a:t> </a:t>
            </a:r>
            <a:r>
              <a:rPr sz="1950" spc="100" dirty="0">
                <a:solidFill>
                  <a:srgbClr val="231F20"/>
                </a:solidFill>
                <a:latin typeface="Arial"/>
                <a:cs typeface="Arial"/>
              </a:rPr>
              <a:t>slow</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95" dirty="0">
                <a:solidFill>
                  <a:srgbClr val="FF0000"/>
                </a:solidFill>
                <a:latin typeface="Arial"/>
                <a:cs typeface="Arial"/>
              </a:rPr>
              <a:t>We </a:t>
            </a:r>
            <a:r>
              <a:rPr sz="1950" spc="95" dirty="0">
                <a:solidFill>
                  <a:srgbClr val="FF0000"/>
                </a:solidFill>
                <a:latin typeface="Arial"/>
                <a:cs typeface="Arial"/>
              </a:rPr>
              <a:t>have </a:t>
            </a:r>
            <a:r>
              <a:rPr sz="1950" spc="250" dirty="0">
                <a:solidFill>
                  <a:srgbClr val="FF0000"/>
                </a:solidFill>
                <a:latin typeface="Arial"/>
                <a:cs typeface="Arial"/>
              </a:rPr>
              <a:t>to </a:t>
            </a:r>
            <a:r>
              <a:rPr sz="1950" spc="185" dirty="0">
                <a:solidFill>
                  <a:srgbClr val="FF0000"/>
                </a:solidFill>
                <a:latin typeface="Arial"/>
                <a:cs typeface="Arial"/>
              </a:rPr>
              <a:t>modify </a:t>
            </a:r>
            <a:r>
              <a:rPr sz="1950" spc="175" dirty="0">
                <a:solidFill>
                  <a:srgbClr val="FF0000"/>
                </a:solidFill>
                <a:latin typeface="Arial"/>
                <a:cs typeface="Arial"/>
              </a:rPr>
              <a:t>the </a:t>
            </a:r>
            <a:r>
              <a:rPr sz="1950" spc="170" dirty="0">
                <a:solidFill>
                  <a:srgbClr val="FF0000"/>
                </a:solidFill>
                <a:latin typeface="Arial"/>
                <a:cs typeface="Arial"/>
              </a:rPr>
              <a:t>protocol </a:t>
            </a:r>
            <a:r>
              <a:rPr sz="1950" spc="250" dirty="0">
                <a:solidFill>
                  <a:srgbClr val="FF0000"/>
                </a:solidFill>
                <a:latin typeface="Arial"/>
                <a:cs typeface="Arial"/>
              </a:rPr>
              <a:t>to </a:t>
            </a:r>
            <a:r>
              <a:rPr sz="1950" spc="165" dirty="0">
                <a:solidFill>
                  <a:srgbClr val="FF0000"/>
                </a:solidFill>
                <a:latin typeface="Arial"/>
                <a:cs typeface="Arial"/>
              </a:rPr>
              <a:t>bound </a:t>
            </a:r>
            <a:r>
              <a:rPr sz="1950" spc="175" dirty="0">
                <a:solidFill>
                  <a:srgbClr val="FF0000"/>
                </a:solidFill>
                <a:latin typeface="Arial"/>
                <a:cs typeface="Arial"/>
              </a:rPr>
              <a:t>the </a:t>
            </a:r>
            <a:r>
              <a:rPr sz="1950" spc="330" dirty="0">
                <a:solidFill>
                  <a:srgbClr val="FF0000"/>
                </a:solidFill>
                <a:latin typeface="Arial"/>
                <a:cs typeface="Arial"/>
              </a:rPr>
              <a:t> </a:t>
            </a:r>
            <a:r>
              <a:rPr sz="1950" spc="150" dirty="0">
                <a:solidFill>
                  <a:srgbClr val="FF0000"/>
                </a:solidFill>
                <a:latin typeface="Arial"/>
                <a:cs typeface="Arial"/>
              </a:rPr>
              <a:t>tickets</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14" dirty="0">
                <a:solidFill>
                  <a:srgbClr val="231F20"/>
                </a:solidFill>
                <a:latin typeface="Arial"/>
                <a:cs typeface="Arial"/>
              </a:rPr>
              <a:t>So </a:t>
            </a:r>
            <a:r>
              <a:rPr sz="1950" spc="170" dirty="0">
                <a:solidFill>
                  <a:srgbClr val="231F20"/>
                </a:solidFill>
                <a:latin typeface="Arial"/>
                <a:cs typeface="Arial"/>
              </a:rPr>
              <a:t>it’s </a:t>
            </a:r>
            <a:r>
              <a:rPr sz="1950" spc="220" dirty="0">
                <a:solidFill>
                  <a:srgbClr val="231F20"/>
                </a:solidFill>
                <a:latin typeface="Arial"/>
                <a:cs typeface="Arial"/>
              </a:rPr>
              <a:t>not </a:t>
            </a:r>
            <a:r>
              <a:rPr sz="1950" spc="175" dirty="0">
                <a:solidFill>
                  <a:srgbClr val="231F20"/>
                </a:solidFill>
                <a:latin typeface="Arial"/>
                <a:cs typeface="Arial"/>
              </a:rPr>
              <a:t>the </a:t>
            </a:r>
            <a:r>
              <a:rPr sz="1950" spc="95" dirty="0">
                <a:solidFill>
                  <a:srgbClr val="231F20"/>
                </a:solidFill>
                <a:latin typeface="Arial"/>
                <a:cs typeface="Arial"/>
              </a:rPr>
              <a:t>same</a:t>
            </a:r>
            <a:r>
              <a:rPr sz="1950" spc="670" dirty="0">
                <a:solidFill>
                  <a:srgbClr val="231F20"/>
                </a:solidFill>
                <a:latin typeface="Arial"/>
                <a:cs typeface="Arial"/>
              </a:rPr>
              <a:t> </a:t>
            </a:r>
            <a:r>
              <a:rPr sz="1950" spc="170" dirty="0">
                <a:solidFill>
                  <a:srgbClr val="231F20"/>
                </a:solidFill>
                <a:latin typeface="Arial"/>
                <a:cs typeface="Arial"/>
              </a:rPr>
              <a:t>protocol</a:t>
            </a:r>
            <a:endParaRPr sz="1950">
              <a:latin typeface="Arial"/>
              <a:cs typeface="Arial"/>
            </a:endParaRPr>
          </a:p>
          <a:p>
            <a:pPr marL="741680" lvl="1" indent="-288290">
              <a:lnSpc>
                <a:spcPct val="100000"/>
              </a:lnSpc>
              <a:spcBef>
                <a:spcPts val="790"/>
              </a:spcBef>
              <a:buClr>
                <a:srgbClr val="231F20"/>
              </a:buClr>
              <a:buSzPct val="105128"/>
              <a:buFont typeface="Lucida Sans Unicode"/>
              <a:buChar char="◦"/>
              <a:tabLst>
                <a:tab pos="742315" algn="l"/>
              </a:tabLst>
            </a:pPr>
            <a:r>
              <a:rPr sz="1950" spc="180" dirty="0">
                <a:solidFill>
                  <a:srgbClr val="0000FF"/>
                </a:solidFill>
                <a:latin typeface="Arial"/>
                <a:cs typeface="Arial"/>
              </a:rPr>
              <a:t>May </a:t>
            </a:r>
            <a:r>
              <a:rPr sz="1950" spc="90" dirty="0">
                <a:solidFill>
                  <a:srgbClr val="0000FF"/>
                </a:solidFill>
                <a:latin typeface="Arial"/>
                <a:cs typeface="Arial"/>
              </a:rPr>
              <a:t>miss </a:t>
            </a:r>
            <a:r>
              <a:rPr sz="1950" spc="110" dirty="0">
                <a:solidFill>
                  <a:srgbClr val="0000FF"/>
                </a:solidFill>
                <a:latin typeface="Arial"/>
                <a:cs typeface="Arial"/>
              </a:rPr>
              <a:t>some </a:t>
            </a:r>
            <a:r>
              <a:rPr sz="1950" spc="114" dirty="0">
                <a:solidFill>
                  <a:srgbClr val="0000FF"/>
                </a:solidFill>
                <a:latin typeface="Arial"/>
                <a:cs typeface="Arial"/>
              </a:rPr>
              <a:t>bugs, </a:t>
            </a:r>
            <a:r>
              <a:rPr sz="1950" spc="130" dirty="0">
                <a:solidFill>
                  <a:srgbClr val="0000FF"/>
                </a:solidFill>
                <a:latin typeface="Arial"/>
                <a:cs typeface="Arial"/>
              </a:rPr>
              <a:t>or </a:t>
            </a:r>
            <a:r>
              <a:rPr sz="1950" spc="170" dirty="0">
                <a:solidFill>
                  <a:srgbClr val="0000FF"/>
                </a:solidFill>
                <a:latin typeface="Arial"/>
                <a:cs typeface="Arial"/>
              </a:rPr>
              <a:t>get </a:t>
            </a:r>
            <a:r>
              <a:rPr sz="1950" spc="105" dirty="0">
                <a:solidFill>
                  <a:srgbClr val="0000FF"/>
                </a:solidFill>
                <a:latin typeface="Arial"/>
                <a:cs typeface="Arial"/>
              </a:rPr>
              <a:t>spurious </a:t>
            </a:r>
            <a:r>
              <a:rPr sz="1950" spc="515" dirty="0">
                <a:solidFill>
                  <a:srgbClr val="0000FF"/>
                </a:solidFill>
                <a:latin typeface="Arial"/>
                <a:cs typeface="Arial"/>
              </a:rPr>
              <a:t> </a:t>
            </a:r>
            <a:r>
              <a:rPr sz="1950" spc="70" dirty="0">
                <a:solidFill>
                  <a:srgbClr val="0000FF"/>
                </a:solidFill>
                <a:latin typeface="Arial"/>
                <a:cs typeface="Arial"/>
              </a:rPr>
              <a:t>ones</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275" dirty="0">
                <a:solidFill>
                  <a:srgbClr val="231F20"/>
                </a:solidFill>
                <a:latin typeface="Arial"/>
                <a:cs typeface="Arial"/>
              </a:rPr>
              <a:t>But </a:t>
            </a:r>
            <a:r>
              <a:rPr sz="1950" spc="170" dirty="0">
                <a:solidFill>
                  <a:srgbClr val="231F20"/>
                </a:solidFill>
                <a:latin typeface="Arial"/>
                <a:cs typeface="Arial"/>
              </a:rPr>
              <a:t>it’s </a:t>
            </a:r>
            <a:r>
              <a:rPr sz="1950" spc="85" dirty="0">
                <a:solidFill>
                  <a:srgbClr val="231F20"/>
                </a:solidFill>
                <a:latin typeface="Arial"/>
                <a:cs typeface="Arial"/>
              </a:rPr>
              <a:t>a </a:t>
            </a:r>
            <a:r>
              <a:rPr sz="1950" spc="105" dirty="0">
                <a:solidFill>
                  <a:srgbClr val="231F20"/>
                </a:solidFill>
                <a:latin typeface="Arial"/>
                <a:cs typeface="Arial"/>
              </a:rPr>
              <a:t>useful</a:t>
            </a:r>
            <a:r>
              <a:rPr sz="1950" spc="525" dirty="0">
                <a:solidFill>
                  <a:srgbClr val="231F20"/>
                </a:solidFill>
                <a:latin typeface="Arial"/>
                <a:cs typeface="Arial"/>
              </a:rPr>
              <a:t> </a:t>
            </a:r>
            <a:r>
              <a:rPr sz="1950" spc="120" dirty="0">
                <a:solidFill>
                  <a:srgbClr val="231F20"/>
                </a:solidFill>
                <a:latin typeface="Arial"/>
                <a:cs typeface="Arial"/>
              </a:rPr>
              <a:t>check</a:t>
            </a:r>
            <a:endParaRPr sz="1950">
              <a:latin typeface="Arial"/>
              <a:cs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43276" y="475981"/>
            <a:ext cx="4973955" cy="29718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80" dirty="0">
                <a:solidFill>
                  <a:srgbClr val="231F20"/>
                </a:solidFill>
                <a:latin typeface="Arial"/>
                <a:cs typeface="Arial"/>
              </a:rPr>
              <a:t>Bounded </a:t>
            </a:r>
            <a:r>
              <a:rPr sz="1950" spc="240" dirty="0">
                <a:solidFill>
                  <a:srgbClr val="231F20"/>
                </a:solidFill>
                <a:latin typeface="Arial"/>
                <a:cs typeface="Arial"/>
              </a:rPr>
              <a:t>Specification </a:t>
            </a:r>
            <a:r>
              <a:rPr sz="1950" spc="210" dirty="0">
                <a:solidFill>
                  <a:srgbClr val="231F20"/>
                </a:solidFill>
                <a:latin typeface="Arial"/>
                <a:cs typeface="Arial"/>
              </a:rPr>
              <a:t>in</a:t>
            </a:r>
            <a:r>
              <a:rPr sz="1950" spc="505" dirty="0">
                <a:solidFill>
                  <a:srgbClr val="231F20"/>
                </a:solidFill>
                <a:latin typeface="Arial"/>
                <a:cs typeface="Arial"/>
              </a:rPr>
              <a:t> </a:t>
            </a:r>
            <a:r>
              <a:rPr sz="1950" spc="375" dirty="0">
                <a:solidFill>
                  <a:srgbClr val="231F20"/>
                </a:solidFill>
                <a:latin typeface="Arial"/>
                <a:cs typeface="Arial"/>
              </a:rPr>
              <a:t>SAL</a:t>
            </a:r>
            <a:endParaRPr sz="1950">
              <a:latin typeface="Arial"/>
              <a:cs typeface="Arial"/>
            </a:endParaRPr>
          </a:p>
        </p:txBody>
      </p:sp>
      <p:sp>
        <p:nvSpPr>
          <p:cNvPr id="3" name="object 3"/>
          <p:cNvSpPr txBox="1">
            <a:spLocks noGrp="1"/>
          </p:cNvSpPr>
          <p:nvPr>
            <p:ph type="title"/>
          </p:nvPr>
        </p:nvSpPr>
        <p:spPr>
          <a:xfrm>
            <a:off x="901700" y="824742"/>
            <a:ext cx="2505710" cy="743585"/>
          </a:xfrm>
          <a:prstGeom prst="rect">
            <a:avLst/>
          </a:prstGeom>
        </p:spPr>
        <p:txBody>
          <a:bodyPr vert="horz" wrap="square" lIns="0" tIns="0" rIns="0" bIns="0" rtlCol="0">
            <a:spAutoFit/>
          </a:bodyPr>
          <a:lstStyle/>
          <a:p>
            <a:pPr marL="12700" marR="5080">
              <a:lnSpc>
                <a:spcPct val="118900"/>
              </a:lnSpc>
            </a:pPr>
            <a:r>
              <a:rPr spc="55" dirty="0"/>
              <a:t>bakery : CONTEXT</a:t>
            </a:r>
            <a:r>
              <a:rPr spc="-15" dirty="0"/>
              <a:t> </a:t>
            </a:r>
            <a:r>
              <a:rPr spc="55" dirty="0"/>
              <a:t>=  BEGIN</a:t>
            </a:r>
          </a:p>
        </p:txBody>
      </p:sp>
      <p:graphicFrame>
        <p:nvGraphicFramePr>
          <p:cNvPr id="4" name="object 4"/>
          <p:cNvGraphicFramePr>
            <a:graphicFrameLocks noGrp="1"/>
          </p:cNvGraphicFramePr>
          <p:nvPr/>
        </p:nvGraphicFramePr>
        <p:xfrm>
          <a:off x="1305483" y="1626512"/>
          <a:ext cx="5541743" cy="1132592"/>
        </p:xfrm>
        <a:graphic>
          <a:graphicData uri="http://schemas.openxmlformats.org/drawingml/2006/table">
            <a:tbl>
              <a:tblPr firstRow="1" bandRow="1">
                <a:tableStyleId>{2D5ABB26-0587-4C30-8999-92F81FD0307C}</a:tableStyleId>
              </a:tblPr>
              <a:tblGrid>
                <a:gridCol w="1744232"/>
                <a:gridCol w="275577"/>
                <a:gridCol w="2059856"/>
                <a:gridCol w="1462078"/>
              </a:tblGrid>
              <a:tr h="380750">
                <a:tc>
                  <a:txBody>
                    <a:bodyPr/>
                    <a:lstStyle/>
                    <a:p>
                      <a:pPr marL="22225">
                        <a:lnSpc>
                          <a:spcPct val="100000"/>
                        </a:lnSpc>
                      </a:pPr>
                      <a:r>
                        <a:rPr sz="2050" spc="55" dirty="0">
                          <a:solidFill>
                            <a:srgbClr val="0000FF"/>
                          </a:solidFill>
                          <a:latin typeface="SimSun"/>
                          <a:cs typeface="SimSun"/>
                        </a:rPr>
                        <a:t>phase :</a:t>
                      </a:r>
                      <a:r>
                        <a:rPr sz="2050" spc="-30" dirty="0">
                          <a:solidFill>
                            <a:srgbClr val="0000FF"/>
                          </a:solidFill>
                          <a:latin typeface="SimSun"/>
                          <a:cs typeface="SimSun"/>
                        </a:rPr>
                        <a:t> </a:t>
                      </a:r>
                      <a:r>
                        <a:rPr sz="2050" spc="55" dirty="0">
                          <a:solidFill>
                            <a:srgbClr val="0000FF"/>
                          </a:solidFill>
                          <a:latin typeface="SimSun"/>
                          <a:cs typeface="SimSun"/>
                        </a:rPr>
                        <a:t>TYPE</a:t>
                      </a:r>
                      <a:endParaRPr sz="2050">
                        <a:latin typeface="SimSun"/>
                        <a:cs typeface="SimSun"/>
                      </a:endParaRPr>
                    </a:p>
                  </a:txBody>
                  <a:tcPr marL="0" marR="0" marT="0" marB="0"/>
                </a:tc>
                <a:tc>
                  <a:txBody>
                    <a:bodyPr/>
                    <a:lstStyle/>
                    <a:p>
                      <a:pPr algn="ctr">
                        <a:lnSpc>
                          <a:spcPct val="100000"/>
                        </a:lnSpc>
                      </a:pPr>
                      <a:r>
                        <a:rPr sz="2050" dirty="0">
                          <a:solidFill>
                            <a:srgbClr val="0000FF"/>
                          </a:solidFill>
                          <a:latin typeface="SimSun"/>
                          <a:cs typeface="SimSun"/>
                        </a:rPr>
                        <a:t>=</a:t>
                      </a:r>
                      <a:endParaRPr sz="2050">
                        <a:latin typeface="SimSun"/>
                        <a:cs typeface="SimSun"/>
                      </a:endParaRPr>
                    </a:p>
                  </a:txBody>
                  <a:tcPr marL="0" marR="0" marT="0" marB="0"/>
                </a:tc>
                <a:tc>
                  <a:txBody>
                    <a:bodyPr/>
                    <a:lstStyle/>
                    <a:p>
                      <a:pPr marL="68580">
                        <a:lnSpc>
                          <a:spcPct val="100000"/>
                        </a:lnSpc>
                      </a:pPr>
                      <a:r>
                        <a:rPr sz="2050" spc="105" dirty="0">
                          <a:solidFill>
                            <a:srgbClr val="0000FF"/>
                          </a:solidFill>
                          <a:latin typeface="Lucida Sans Unicode"/>
                          <a:cs typeface="Lucida Sans Unicode"/>
                        </a:rPr>
                        <a:t>{</a:t>
                      </a:r>
                      <a:r>
                        <a:rPr sz="2050" spc="105" dirty="0">
                          <a:solidFill>
                            <a:srgbClr val="0000FF"/>
                          </a:solidFill>
                          <a:latin typeface="SimSun"/>
                          <a:cs typeface="SimSun"/>
                        </a:rPr>
                        <a:t>idle,</a:t>
                      </a:r>
                      <a:r>
                        <a:rPr sz="2050" spc="-25" dirty="0">
                          <a:solidFill>
                            <a:srgbClr val="0000FF"/>
                          </a:solidFill>
                          <a:latin typeface="SimSun"/>
                          <a:cs typeface="SimSun"/>
                        </a:rPr>
                        <a:t> </a:t>
                      </a:r>
                      <a:r>
                        <a:rPr sz="2050" spc="55" dirty="0">
                          <a:solidFill>
                            <a:srgbClr val="0000FF"/>
                          </a:solidFill>
                          <a:latin typeface="SimSun"/>
                          <a:cs typeface="SimSun"/>
                        </a:rPr>
                        <a:t>trying,</a:t>
                      </a:r>
                      <a:endParaRPr sz="2050">
                        <a:latin typeface="SimSun"/>
                        <a:cs typeface="SimSun"/>
                      </a:endParaRPr>
                    </a:p>
                  </a:txBody>
                  <a:tcPr marL="0" marR="0" marT="0" marB="0"/>
                </a:tc>
                <a:tc>
                  <a:txBody>
                    <a:bodyPr/>
                    <a:lstStyle/>
                    <a:p>
                      <a:pPr marL="68580">
                        <a:lnSpc>
                          <a:spcPct val="100000"/>
                        </a:lnSpc>
                      </a:pPr>
                      <a:r>
                        <a:rPr sz="2050" spc="85" dirty="0">
                          <a:solidFill>
                            <a:srgbClr val="0000FF"/>
                          </a:solidFill>
                          <a:latin typeface="SimSun"/>
                          <a:cs typeface="SimSun"/>
                        </a:rPr>
                        <a:t>critical</a:t>
                      </a:r>
                      <a:r>
                        <a:rPr sz="2050" spc="85" dirty="0">
                          <a:solidFill>
                            <a:srgbClr val="0000FF"/>
                          </a:solidFill>
                          <a:latin typeface="Lucida Sans Unicode"/>
                          <a:cs typeface="Lucida Sans Unicode"/>
                        </a:rPr>
                        <a:t>}</a:t>
                      </a:r>
                      <a:r>
                        <a:rPr sz="2050" spc="85" dirty="0">
                          <a:solidFill>
                            <a:srgbClr val="0000FF"/>
                          </a:solidFill>
                          <a:latin typeface="SimSun"/>
                          <a:cs typeface="SimSun"/>
                        </a:rPr>
                        <a:t>;</a:t>
                      </a:r>
                      <a:endParaRPr sz="2050">
                        <a:latin typeface="SimSun"/>
                        <a:cs typeface="SimSun"/>
                      </a:endParaRPr>
                    </a:p>
                  </a:txBody>
                  <a:tcPr marL="0" marR="0" marT="0" marB="0"/>
                </a:tc>
              </a:tr>
              <a:tr h="371340">
                <a:tc>
                  <a:txBody>
                    <a:bodyPr/>
                    <a:lstStyle/>
                    <a:p>
                      <a:pPr marL="22225">
                        <a:lnSpc>
                          <a:spcPts val="2390"/>
                        </a:lnSpc>
                      </a:pPr>
                      <a:r>
                        <a:rPr sz="2050" spc="55" dirty="0">
                          <a:solidFill>
                            <a:srgbClr val="FF0000"/>
                          </a:solidFill>
                          <a:latin typeface="SimSun"/>
                          <a:cs typeface="SimSun"/>
                        </a:rPr>
                        <a:t>max:</a:t>
                      </a:r>
                      <a:r>
                        <a:rPr sz="2050" spc="-35" dirty="0">
                          <a:solidFill>
                            <a:srgbClr val="FF0000"/>
                          </a:solidFill>
                          <a:latin typeface="SimSun"/>
                          <a:cs typeface="SimSun"/>
                        </a:rPr>
                        <a:t> </a:t>
                      </a:r>
                      <a:r>
                        <a:rPr sz="2050" spc="55" dirty="0">
                          <a:solidFill>
                            <a:srgbClr val="FF0000"/>
                          </a:solidFill>
                          <a:latin typeface="SimSun"/>
                          <a:cs typeface="SimSun"/>
                        </a:rPr>
                        <a:t>NATURAL</a:t>
                      </a:r>
                      <a:endParaRPr sz="2050">
                        <a:latin typeface="SimSun"/>
                        <a:cs typeface="SimSun"/>
                      </a:endParaRPr>
                    </a:p>
                  </a:txBody>
                  <a:tcPr marL="0" marR="0" marT="0" marB="0"/>
                </a:tc>
                <a:tc>
                  <a:txBody>
                    <a:bodyPr/>
                    <a:lstStyle/>
                    <a:p>
                      <a:pPr algn="ctr">
                        <a:lnSpc>
                          <a:spcPts val="2390"/>
                        </a:lnSpc>
                      </a:pPr>
                      <a:r>
                        <a:rPr sz="2050" dirty="0">
                          <a:solidFill>
                            <a:srgbClr val="FF0000"/>
                          </a:solidFill>
                          <a:latin typeface="SimSun"/>
                          <a:cs typeface="SimSun"/>
                        </a:rPr>
                        <a:t>=</a:t>
                      </a:r>
                      <a:endParaRPr sz="2050">
                        <a:latin typeface="SimSun"/>
                        <a:cs typeface="SimSun"/>
                      </a:endParaRPr>
                    </a:p>
                  </a:txBody>
                  <a:tcPr marL="0" marR="0" marT="0" marB="0"/>
                </a:tc>
                <a:tc>
                  <a:txBody>
                    <a:bodyPr/>
                    <a:lstStyle/>
                    <a:p>
                      <a:pPr marL="68580">
                        <a:lnSpc>
                          <a:spcPts val="2390"/>
                        </a:lnSpc>
                      </a:pPr>
                      <a:r>
                        <a:rPr sz="2050" spc="55" dirty="0">
                          <a:solidFill>
                            <a:srgbClr val="FF0000"/>
                          </a:solidFill>
                          <a:latin typeface="SimSun"/>
                          <a:cs typeface="SimSun"/>
                        </a:rPr>
                        <a:t>8;</a:t>
                      </a:r>
                      <a:endParaRPr sz="2050">
                        <a:latin typeface="SimSun"/>
                        <a:cs typeface="SimSun"/>
                      </a:endParaRPr>
                    </a:p>
                  </a:txBody>
                  <a:tcPr marL="0" marR="0" marT="0" marB="0"/>
                </a:tc>
                <a:tc>
                  <a:txBody>
                    <a:bodyPr/>
                    <a:lstStyle/>
                    <a:p>
                      <a:endParaRPr sz="2050">
                        <a:latin typeface="SimSun"/>
                        <a:cs typeface="SimSun"/>
                      </a:endParaRPr>
                    </a:p>
                  </a:txBody>
                  <a:tcPr marL="0" marR="0" marT="0" marB="0"/>
                </a:tc>
              </a:tr>
              <a:tr h="380502">
                <a:tc>
                  <a:txBody>
                    <a:bodyPr/>
                    <a:lstStyle/>
                    <a:p>
                      <a:pPr marL="22225">
                        <a:lnSpc>
                          <a:spcPts val="2395"/>
                        </a:lnSpc>
                      </a:pPr>
                      <a:r>
                        <a:rPr sz="2050" spc="55" dirty="0">
                          <a:solidFill>
                            <a:srgbClr val="FF0000"/>
                          </a:solidFill>
                          <a:latin typeface="SimSun"/>
                          <a:cs typeface="SimSun"/>
                        </a:rPr>
                        <a:t>ticket:</a:t>
                      </a:r>
                      <a:r>
                        <a:rPr sz="2050" spc="-35" dirty="0">
                          <a:solidFill>
                            <a:srgbClr val="FF0000"/>
                          </a:solidFill>
                          <a:latin typeface="SimSun"/>
                          <a:cs typeface="SimSun"/>
                        </a:rPr>
                        <a:t> </a:t>
                      </a:r>
                      <a:r>
                        <a:rPr sz="2050" spc="55" dirty="0">
                          <a:solidFill>
                            <a:srgbClr val="FF0000"/>
                          </a:solidFill>
                          <a:latin typeface="SimSun"/>
                          <a:cs typeface="SimSun"/>
                        </a:rPr>
                        <a:t>TYPE</a:t>
                      </a:r>
                      <a:endParaRPr sz="2050">
                        <a:latin typeface="SimSun"/>
                        <a:cs typeface="SimSun"/>
                      </a:endParaRPr>
                    </a:p>
                  </a:txBody>
                  <a:tcPr marL="0" marR="0" marT="0" marB="0"/>
                </a:tc>
                <a:tc>
                  <a:txBody>
                    <a:bodyPr/>
                    <a:lstStyle/>
                    <a:p>
                      <a:pPr algn="ctr">
                        <a:lnSpc>
                          <a:spcPts val="2395"/>
                        </a:lnSpc>
                      </a:pPr>
                      <a:r>
                        <a:rPr sz="2050" dirty="0">
                          <a:solidFill>
                            <a:srgbClr val="FF0000"/>
                          </a:solidFill>
                          <a:latin typeface="SimSun"/>
                          <a:cs typeface="SimSun"/>
                        </a:rPr>
                        <a:t>=</a:t>
                      </a:r>
                      <a:endParaRPr sz="2050">
                        <a:latin typeface="SimSun"/>
                        <a:cs typeface="SimSun"/>
                      </a:endParaRPr>
                    </a:p>
                  </a:txBody>
                  <a:tcPr marL="0" marR="0" marT="0" marB="0"/>
                </a:tc>
                <a:tc>
                  <a:txBody>
                    <a:bodyPr/>
                    <a:lstStyle/>
                    <a:p>
                      <a:pPr marL="68580">
                        <a:lnSpc>
                          <a:spcPts val="2395"/>
                        </a:lnSpc>
                      </a:pPr>
                      <a:r>
                        <a:rPr sz="2050" spc="55" dirty="0">
                          <a:solidFill>
                            <a:srgbClr val="FF0000"/>
                          </a:solidFill>
                          <a:latin typeface="SimSun"/>
                          <a:cs typeface="SimSun"/>
                        </a:rPr>
                        <a:t>[0..max];</a:t>
                      </a:r>
                      <a:endParaRPr sz="2050">
                        <a:latin typeface="SimSun"/>
                        <a:cs typeface="SimSun"/>
                      </a:endParaRPr>
                    </a:p>
                  </a:txBody>
                  <a:tcPr marL="0" marR="0" marT="0" marB="0"/>
                </a:tc>
                <a:tc>
                  <a:txBody>
                    <a:bodyPr/>
                    <a:lstStyle/>
                    <a:p>
                      <a:endParaRPr sz="2050">
                        <a:latin typeface="SimSun"/>
                        <a:cs typeface="SimSun"/>
                      </a:endParaRPr>
                    </a:p>
                  </a:txBody>
                  <a:tcPr marL="0" marR="0" marT="0" marB="0"/>
                </a:tc>
              </a:tr>
            </a:tbl>
          </a:graphicData>
        </a:graphic>
      </p:graphicFrame>
      <p:sp>
        <p:nvSpPr>
          <p:cNvPr id="5" name="object 5"/>
          <p:cNvSpPr txBox="1"/>
          <p:nvPr/>
        </p:nvSpPr>
        <p:spPr>
          <a:xfrm>
            <a:off x="901700" y="3054281"/>
            <a:ext cx="3056255" cy="3369945"/>
          </a:xfrm>
          <a:prstGeom prst="rect">
            <a:avLst/>
          </a:prstGeom>
        </p:spPr>
        <p:txBody>
          <a:bodyPr vert="horz" wrap="square" lIns="0" tIns="0" rIns="0" bIns="0" rtlCol="0">
            <a:spAutoFit/>
          </a:bodyPr>
          <a:lstStyle/>
          <a:p>
            <a:pPr marL="12700" marR="555625">
              <a:lnSpc>
                <a:spcPct val="118900"/>
              </a:lnSpc>
            </a:pPr>
            <a:r>
              <a:rPr sz="2050" spc="55" dirty="0">
                <a:solidFill>
                  <a:srgbClr val="0000FF"/>
                </a:solidFill>
                <a:latin typeface="SimSun"/>
                <a:cs typeface="SimSun"/>
              </a:rPr>
              <a:t>process : MODULE</a:t>
            </a:r>
            <a:r>
              <a:rPr sz="2050" spc="-15" dirty="0">
                <a:solidFill>
                  <a:srgbClr val="0000FF"/>
                </a:solidFill>
                <a:latin typeface="SimSun"/>
                <a:cs typeface="SimSun"/>
              </a:rPr>
              <a:t> </a:t>
            </a:r>
            <a:r>
              <a:rPr sz="2050" spc="55" dirty="0">
                <a:solidFill>
                  <a:srgbClr val="0000FF"/>
                </a:solidFill>
                <a:latin typeface="SimSun"/>
                <a:cs typeface="SimSun"/>
              </a:rPr>
              <a:t>=  BEGIN</a:t>
            </a:r>
            <a:endParaRPr sz="2050">
              <a:latin typeface="SimSun"/>
              <a:cs typeface="SimSun"/>
            </a:endParaRPr>
          </a:p>
          <a:p>
            <a:pPr marL="12700" marR="5080" indent="137160">
              <a:lnSpc>
                <a:spcPct val="118900"/>
              </a:lnSpc>
            </a:pPr>
            <a:r>
              <a:rPr sz="2050" spc="55" dirty="0">
                <a:solidFill>
                  <a:srgbClr val="0000FF"/>
                </a:solidFill>
                <a:latin typeface="SimSun"/>
                <a:cs typeface="SimSun"/>
              </a:rPr>
              <a:t>INPUT other_t: ticket  OUTPUT my_t: ticket  OUTPUT pc:</a:t>
            </a:r>
            <a:r>
              <a:rPr sz="2050" spc="-25" dirty="0">
                <a:solidFill>
                  <a:srgbClr val="0000FF"/>
                </a:solidFill>
                <a:latin typeface="SimSun"/>
                <a:cs typeface="SimSun"/>
              </a:rPr>
              <a:t> </a:t>
            </a:r>
            <a:r>
              <a:rPr sz="2050" spc="55" dirty="0">
                <a:solidFill>
                  <a:srgbClr val="0000FF"/>
                </a:solidFill>
                <a:latin typeface="SimSun"/>
                <a:cs typeface="SimSun"/>
              </a:rPr>
              <a:t>phase</a:t>
            </a:r>
            <a:endParaRPr sz="2050">
              <a:latin typeface="SimSun"/>
              <a:cs typeface="SimSun"/>
            </a:endParaRPr>
          </a:p>
          <a:p>
            <a:pPr>
              <a:lnSpc>
                <a:spcPct val="100000"/>
              </a:lnSpc>
              <a:spcBef>
                <a:spcPts val="57"/>
              </a:spcBef>
            </a:pPr>
            <a:endParaRPr sz="2900">
              <a:latin typeface="Times New Roman"/>
              <a:cs typeface="Times New Roman"/>
            </a:endParaRPr>
          </a:p>
          <a:p>
            <a:pPr marL="12700">
              <a:lnSpc>
                <a:spcPct val="100000"/>
              </a:lnSpc>
            </a:pPr>
            <a:r>
              <a:rPr sz="2050" spc="55" dirty="0">
                <a:solidFill>
                  <a:srgbClr val="0000FF"/>
                </a:solidFill>
                <a:latin typeface="SimSun"/>
                <a:cs typeface="SimSun"/>
              </a:rPr>
              <a:t>INITIALIZATION</a:t>
            </a:r>
            <a:endParaRPr sz="2050">
              <a:latin typeface="SimSun"/>
              <a:cs typeface="SimSun"/>
            </a:endParaRPr>
          </a:p>
          <a:p>
            <a:pPr marL="287655" marR="1382395">
              <a:lnSpc>
                <a:spcPct val="118900"/>
              </a:lnSpc>
            </a:pPr>
            <a:r>
              <a:rPr sz="2050" spc="55" dirty="0">
                <a:solidFill>
                  <a:srgbClr val="0000FF"/>
                </a:solidFill>
                <a:latin typeface="SimSun"/>
                <a:cs typeface="SimSun"/>
              </a:rPr>
              <a:t>pc =</a:t>
            </a:r>
            <a:r>
              <a:rPr sz="2050" spc="-25" dirty="0">
                <a:solidFill>
                  <a:srgbClr val="0000FF"/>
                </a:solidFill>
                <a:latin typeface="SimSun"/>
                <a:cs typeface="SimSun"/>
              </a:rPr>
              <a:t> </a:t>
            </a:r>
            <a:r>
              <a:rPr sz="2050" spc="55" dirty="0">
                <a:solidFill>
                  <a:srgbClr val="0000FF"/>
                </a:solidFill>
                <a:latin typeface="SimSun"/>
                <a:cs typeface="SimSun"/>
              </a:rPr>
              <a:t>idle;  my_t =</a:t>
            </a:r>
            <a:r>
              <a:rPr sz="2050" spc="-25" dirty="0">
                <a:solidFill>
                  <a:srgbClr val="0000FF"/>
                </a:solidFill>
                <a:latin typeface="SimSun"/>
                <a:cs typeface="SimSun"/>
              </a:rPr>
              <a:t> </a:t>
            </a:r>
            <a:r>
              <a:rPr sz="2050" spc="55" dirty="0">
                <a:solidFill>
                  <a:srgbClr val="0000FF"/>
                </a:solidFill>
                <a:latin typeface="SimSun"/>
                <a:cs typeface="SimSun"/>
              </a:rPr>
              <a:t>0</a:t>
            </a:r>
            <a:endParaRPr sz="2050">
              <a:latin typeface="SimSun"/>
              <a:cs typeface="SimSun"/>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65338" y="493469"/>
            <a:ext cx="6730365" cy="31496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80" dirty="0">
                <a:solidFill>
                  <a:srgbClr val="231F20"/>
                </a:solidFill>
                <a:latin typeface="Arial"/>
                <a:cs typeface="Arial"/>
              </a:rPr>
              <a:t>Bounded </a:t>
            </a:r>
            <a:r>
              <a:rPr sz="1950" spc="240" dirty="0">
                <a:solidFill>
                  <a:srgbClr val="231F20"/>
                </a:solidFill>
                <a:latin typeface="Arial"/>
                <a:cs typeface="Arial"/>
              </a:rPr>
              <a:t>Specification </a:t>
            </a:r>
            <a:r>
              <a:rPr sz="1950" spc="210" dirty="0">
                <a:solidFill>
                  <a:srgbClr val="231F20"/>
                </a:solidFill>
                <a:latin typeface="Arial"/>
                <a:cs typeface="Arial"/>
              </a:rPr>
              <a:t>in </a:t>
            </a:r>
            <a:r>
              <a:rPr sz="1950" spc="375" dirty="0">
                <a:solidFill>
                  <a:srgbClr val="231F20"/>
                </a:solidFill>
                <a:latin typeface="Arial"/>
                <a:cs typeface="Arial"/>
              </a:rPr>
              <a:t>SAL</a:t>
            </a:r>
            <a:r>
              <a:rPr sz="1950" spc="675" dirty="0">
                <a:solidFill>
                  <a:srgbClr val="231F20"/>
                </a:solidFill>
                <a:latin typeface="Arial"/>
                <a:cs typeface="Arial"/>
              </a:rPr>
              <a:t> </a:t>
            </a:r>
            <a:r>
              <a:rPr sz="1950" spc="285" dirty="0">
                <a:solidFill>
                  <a:srgbClr val="231F20"/>
                </a:solidFill>
                <a:latin typeface="Arial"/>
                <a:cs typeface="Arial"/>
              </a:rPr>
              <a:t>(continued)</a:t>
            </a:r>
            <a:endParaRPr sz="1950">
              <a:latin typeface="Arial"/>
              <a:cs typeface="Arial"/>
            </a:endParaRPr>
          </a:p>
        </p:txBody>
      </p:sp>
      <p:sp>
        <p:nvSpPr>
          <p:cNvPr id="3" name="object 3"/>
          <p:cNvSpPr txBox="1">
            <a:spLocks noGrp="1"/>
          </p:cNvSpPr>
          <p:nvPr>
            <p:ph type="title"/>
          </p:nvPr>
        </p:nvSpPr>
        <p:spPr>
          <a:xfrm>
            <a:off x="901700" y="1030257"/>
            <a:ext cx="5674360" cy="1486535"/>
          </a:xfrm>
          <a:prstGeom prst="rect">
            <a:avLst/>
          </a:prstGeom>
        </p:spPr>
        <p:txBody>
          <a:bodyPr vert="horz" wrap="square" lIns="0" tIns="0" rIns="0" bIns="0" rtlCol="0">
            <a:spAutoFit/>
          </a:bodyPr>
          <a:lstStyle/>
          <a:p>
            <a:pPr marL="12700" marR="4276090">
              <a:lnSpc>
                <a:spcPct val="118900"/>
              </a:lnSpc>
            </a:pPr>
            <a:r>
              <a:rPr spc="50" dirty="0"/>
              <a:t>TRANSITIO</a:t>
            </a:r>
            <a:r>
              <a:rPr spc="55" dirty="0"/>
              <a:t>N  [</a:t>
            </a:r>
          </a:p>
          <a:p>
            <a:pPr marL="1390015" marR="5080" indent="-688975">
              <a:lnSpc>
                <a:spcPct val="118900"/>
              </a:lnSpc>
              <a:tabLst>
                <a:tab pos="2354580" algn="l"/>
              </a:tabLst>
            </a:pPr>
            <a:r>
              <a:rPr spc="55" dirty="0"/>
              <a:t>try: pc = idle </a:t>
            </a:r>
            <a:r>
              <a:rPr spc="55" dirty="0">
                <a:solidFill>
                  <a:srgbClr val="FF0000"/>
                </a:solidFill>
              </a:rPr>
              <a:t>AND other_t &lt; max </a:t>
            </a:r>
            <a:r>
              <a:rPr spc="55" dirty="0"/>
              <a:t>--&gt;  </a:t>
            </a:r>
            <a:r>
              <a:rPr spc="-150" dirty="0"/>
              <a:t>my_t’	</a:t>
            </a:r>
            <a:r>
              <a:rPr spc="55" dirty="0"/>
              <a:t>= other_t +</a:t>
            </a:r>
            <a:r>
              <a:rPr spc="-15" dirty="0"/>
              <a:t> </a:t>
            </a:r>
            <a:r>
              <a:rPr spc="55" dirty="0"/>
              <a:t>1;</a:t>
            </a:r>
          </a:p>
        </p:txBody>
      </p:sp>
      <p:sp>
        <p:nvSpPr>
          <p:cNvPr id="4" name="object 4"/>
          <p:cNvSpPr txBox="1"/>
          <p:nvPr/>
        </p:nvSpPr>
        <p:spPr>
          <a:xfrm>
            <a:off x="901697" y="2575547"/>
            <a:ext cx="8429625" cy="3682365"/>
          </a:xfrm>
          <a:prstGeom prst="rect">
            <a:avLst/>
          </a:prstGeom>
        </p:spPr>
        <p:txBody>
          <a:bodyPr vert="horz" wrap="square" lIns="0" tIns="0" rIns="0" bIns="0" rtlCol="0">
            <a:spAutoFit/>
          </a:bodyPr>
          <a:lstStyle/>
          <a:p>
            <a:pPr marL="1390015">
              <a:lnSpc>
                <a:spcPct val="100000"/>
              </a:lnSpc>
            </a:pPr>
            <a:r>
              <a:rPr sz="2050" spc="-290" dirty="0">
                <a:solidFill>
                  <a:srgbClr val="0000FF"/>
                </a:solidFill>
                <a:latin typeface="SimSun"/>
                <a:cs typeface="SimSun"/>
              </a:rPr>
              <a:t>pc’ </a:t>
            </a:r>
            <a:r>
              <a:rPr sz="2050" spc="55" dirty="0">
                <a:solidFill>
                  <a:srgbClr val="0000FF"/>
                </a:solidFill>
                <a:latin typeface="SimSun"/>
                <a:cs typeface="SimSun"/>
              </a:rPr>
              <a:t>=</a:t>
            </a:r>
            <a:r>
              <a:rPr sz="2050" spc="330" dirty="0">
                <a:solidFill>
                  <a:srgbClr val="0000FF"/>
                </a:solidFill>
                <a:latin typeface="SimSun"/>
                <a:cs typeface="SimSun"/>
              </a:rPr>
              <a:t> </a:t>
            </a:r>
            <a:r>
              <a:rPr sz="2050" spc="55" dirty="0">
                <a:solidFill>
                  <a:srgbClr val="0000FF"/>
                </a:solidFill>
                <a:latin typeface="SimSun"/>
                <a:cs typeface="SimSun"/>
              </a:rPr>
              <a:t>trying</a:t>
            </a:r>
            <a:endParaRPr sz="2050">
              <a:latin typeface="SimSun"/>
              <a:cs typeface="SimSun"/>
            </a:endParaRPr>
          </a:p>
          <a:p>
            <a:pPr marL="12700">
              <a:lnSpc>
                <a:spcPct val="100000"/>
              </a:lnSpc>
              <a:spcBef>
                <a:spcPts val="465"/>
              </a:spcBef>
            </a:pPr>
            <a:r>
              <a:rPr sz="2050" spc="55" dirty="0">
                <a:solidFill>
                  <a:srgbClr val="0000FF"/>
                </a:solidFill>
                <a:latin typeface="SimSun"/>
                <a:cs typeface="SimSun"/>
              </a:rPr>
              <a:t>[]</a:t>
            </a:r>
            <a:endParaRPr sz="2050">
              <a:latin typeface="SimSun"/>
              <a:cs typeface="SimSun"/>
            </a:endParaRPr>
          </a:p>
          <a:p>
            <a:pPr marL="1390015" marR="5080" indent="-964565">
              <a:lnSpc>
                <a:spcPct val="118900"/>
              </a:lnSpc>
            </a:pPr>
            <a:r>
              <a:rPr sz="2050" spc="55" dirty="0">
                <a:solidFill>
                  <a:srgbClr val="0000FF"/>
                </a:solidFill>
                <a:latin typeface="SimSun"/>
                <a:cs typeface="SimSun"/>
              </a:rPr>
              <a:t>enter: pc = trying AND (other_t = 0 OR my_t &lt; other_t) --&gt;  </a:t>
            </a:r>
            <a:r>
              <a:rPr sz="2050" spc="-290" dirty="0">
                <a:solidFill>
                  <a:srgbClr val="0000FF"/>
                </a:solidFill>
                <a:latin typeface="SimSun"/>
                <a:cs typeface="SimSun"/>
              </a:rPr>
              <a:t>pc’ </a:t>
            </a:r>
            <a:r>
              <a:rPr sz="2050" spc="55" dirty="0">
                <a:solidFill>
                  <a:srgbClr val="0000FF"/>
                </a:solidFill>
                <a:latin typeface="SimSun"/>
                <a:cs typeface="SimSun"/>
              </a:rPr>
              <a:t>=</a:t>
            </a:r>
            <a:r>
              <a:rPr sz="2050" spc="330"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marL="12700">
              <a:lnSpc>
                <a:spcPct val="100000"/>
              </a:lnSpc>
              <a:spcBef>
                <a:spcPts val="465"/>
              </a:spcBef>
            </a:pPr>
            <a:r>
              <a:rPr sz="2050" spc="55" dirty="0">
                <a:solidFill>
                  <a:srgbClr val="0000FF"/>
                </a:solidFill>
                <a:latin typeface="SimSun"/>
                <a:cs typeface="SimSun"/>
              </a:rPr>
              <a:t>[]</a:t>
            </a:r>
            <a:endParaRPr sz="2050">
              <a:latin typeface="SimSun"/>
              <a:cs typeface="SimSun"/>
            </a:endParaRPr>
          </a:p>
          <a:p>
            <a:pPr marL="287655">
              <a:lnSpc>
                <a:spcPct val="100000"/>
              </a:lnSpc>
              <a:spcBef>
                <a:spcPts val="465"/>
              </a:spcBef>
            </a:pPr>
            <a:r>
              <a:rPr sz="2050" spc="55" dirty="0">
                <a:solidFill>
                  <a:srgbClr val="0000FF"/>
                </a:solidFill>
                <a:latin typeface="SimSun"/>
                <a:cs typeface="SimSun"/>
              </a:rPr>
              <a:t>leave: pc = critical</a:t>
            </a:r>
            <a:r>
              <a:rPr sz="2050" spc="-10" dirty="0">
                <a:solidFill>
                  <a:srgbClr val="0000FF"/>
                </a:solidFill>
                <a:latin typeface="SimSun"/>
                <a:cs typeface="SimSun"/>
              </a:rPr>
              <a:t> </a:t>
            </a:r>
            <a:r>
              <a:rPr sz="2050" spc="55" dirty="0">
                <a:solidFill>
                  <a:srgbClr val="0000FF"/>
                </a:solidFill>
                <a:latin typeface="SimSun"/>
                <a:cs typeface="SimSun"/>
              </a:rPr>
              <a:t>--&gt;</a:t>
            </a:r>
            <a:endParaRPr sz="2050">
              <a:latin typeface="SimSun"/>
              <a:cs typeface="SimSun"/>
            </a:endParaRPr>
          </a:p>
          <a:p>
            <a:pPr marL="1390015" marR="5653405">
              <a:lnSpc>
                <a:spcPct val="118900"/>
              </a:lnSpc>
            </a:pPr>
            <a:r>
              <a:rPr sz="2050" spc="-150" dirty="0">
                <a:solidFill>
                  <a:srgbClr val="0000FF"/>
                </a:solidFill>
                <a:latin typeface="SimSun"/>
                <a:cs typeface="SimSun"/>
              </a:rPr>
              <a:t>my_t’ </a:t>
            </a:r>
            <a:r>
              <a:rPr sz="2050" spc="55" dirty="0">
                <a:solidFill>
                  <a:srgbClr val="0000FF"/>
                </a:solidFill>
                <a:latin typeface="SimSun"/>
                <a:cs typeface="SimSun"/>
              </a:rPr>
              <a:t>= 0;  </a:t>
            </a:r>
            <a:r>
              <a:rPr sz="2050" spc="-290" dirty="0">
                <a:solidFill>
                  <a:srgbClr val="0000FF"/>
                </a:solidFill>
                <a:latin typeface="SimSun"/>
                <a:cs typeface="SimSun"/>
              </a:rPr>
              <a:t>pc’ </a:t>
            </a:r>
            <a:r>
              <a:rPr sz="2050" spc="55" dirty="0">
                <a:solidFill>
                  <a:srgbClr val="0000FF"/>
                </a:solidFill>
                <a:latin typeface="SimSun"/>
                <a:cs typeface="SimSun"/>
              </a:rPr>
              <a:t>=</a:t>
            </a:r>
            <a:r>
              <a:rPr sz="2050" spc="330" dirty="0">
                <a:solidFill>
                  <a:srgbClr val="0000FF"/>
                </a:solidFill>
                <a:latin typeface="SimSun"/>
                <a:cs typeface="SimSun"/>
              </a:rPr>
              <a:t> </a:t>
            </a:r>
            <a:r>
              <a:rPr sz="2050" spc="55" dirty="0">
                <a:solidFill>
                  <a:srgbClr val="0000FF"/>
                </a:solidFill>
                <a:latin typeface="SimSun"/>
                <a:cs typeface="SimSun"/>
              </a:rPr>
              <a:t>idle</a:t>
            </a:r>
            <a:endParaRPr sz="2050">
              <a:latin typeface="SimSun"/>
              <a:cs typeface="SimSun"/>
            </a:endParaRPr>
          </a:p>
          <a:p>
            <a:pPr marL="12700" marR="7857490">
              <a:lnSpc>
                <a:spcPct val="118900"/>
              </a:lnSpc>
            </a:pPr>
            <a:r>
              <a:rPr sz="2050" spc="55" dirty="0">
                <a:solidFill>
                  <a:srgbClr val="0000FF"/>
                </a:solidFill>
                <a:latin typeface="SimSun"/>
                <a:cs typeface="SimSun"/>
              </a:rPr>
              <a:t>]  </a:t>
            </a:r>
            <a:r>
              <a:rPr sz="2050" spc="50" dirty="0">
                <a:solidFill>
                  <a:srgbClr val="0000FF"/>
                </a:solidFill>
                <a:latin typeface="SimSun"/>
                <a:cs typeface="SimSun"/>
              </a:rPr>
              <a:t>END</a:t>
            </a:r>
            <a:r>
              <a:rPr sz="2050" spc="55" dirty="0">
                <a:solidFill>
                  <a:srgbClr val="0000FF"/>
                </a:solidFill>
                <a:latin typeface="SimSun"/>
                <a:cs typeface="SimSun"/>
              </a:rPr>
              <a:t>;</a:t>
            </a:r>
            <a:endParaRPr sz="2050">
              <a:latin typeface="SimSun"/>
              <a:cs typeface="SimSun"/>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35798" y="493469"/>
            <a:ext cx="7590155" cy="31496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80" dirty="0">
                <a:solidFill>
                  <a:srgbClr val="231F20"/>
                </a:solidFill>
                <a:latin typeface="Arial"/>
                <a:cs typeface="Arial"/>
              </a:rPr>
              <a:t>Bounded </a:t>
            </a:r>
            <a:r>
              <a:rPr sz="1950" spc="240" dirty="0">
                <a:solidFill>
                  <a:srgbClr val="231F20"/>
                </a:solidFill>
                <a:latin typeface="Arial"/>
                <a:cs typeface="Arial"/>
              </a:rPr>
              <a:t>Specification </a:t>
            </a:r>
            <a:r>
              <a:rPr sz="1950" spc="210" dirty="0">
                <a:solidFill>
                  <a:srgbClr val="231F20"/>
                </a:solidFill>
                <a:latin typeface="Arial"/>
                <a:cs typeface="Arial"/>
              </a:rPr>
              <a:t>in </a:t>
            </a:r>
            <a:r>
              <a:rPr sz="1950" spc="375" dirty="0">
                <a:solidFill>
                  <a:srgbClr val="231F20"/>
                </a:solidFill>
                <a:latin typeface="Arial"/>
                <a:cs typeface="Arial"/>
              </a:rPr>
              <a:t>SAL </a:t>
            </a:r>
            <a:r>
              <a:rPr sz="1950" spc="270" dirty="0">
                <a:solidFill>
                  <a:srgbClr val="231F20"/>
                </a:solidFill>
                <a:latin typeface="Arial"/>
                <a:cs typeface="Arial"/>
              </a:rPr>
              <a:t>(continued</a:t>
            </a:r>
            <a:r>
              <a:rPr sz="1950" spc="705" dirty="0">
                <a:solidFill>
                  <a:srgbClr val="231F20"/>
                </a:solidFill>
                <a:latin typeface="Arial"/>
                <a:cs typeface="Arial"/>
              </a:rPr>
              <a:t> </a:t>
            </a:r>
            <a:r>
              <a:rPr sz="1950" spc="245" dirty="0">
                <a:solidFill>
                  <a:srgbClr val="231F20"/>
                </a:solidFill>
                <a:latin typeface="Arial"/>
                <a:cs typeface="Arial"/>
              </a:rPr>
              <a:t>again)</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557588" rIns="0" bIns="0" rtlCol="0">
            <a:spAutoFit/>
          </a:bodyPr>
          <a:lstStyle/>
          <a:p>
            <a:pPr marL="17780">
              <a:lnSpc>
                <a:spcPct val="100000"/>
              </a:lnSpc>
            </a:pPr>
            <a:r>
              <a:rPr spc="55" dirty="0"/>
              <a:t>P1 : MODULE = RENAME pc TO pc1 IN</a:t>
            </a:r>
            <a:r>
              <a:rPr spc="35" dirty="0"/>
              <a:t> </a:t>
            </a:r>
            <a:r>
              <a:rPr spc="55" dirty="0"/>
              <a:t>process;</a:t>
            </a:r>
          </a:p>
        </p:txBody>
      </p:sp>
      <p:sp>
        <p:nvSpPr>
          <p:cNvPr id="4" name="object 4"/>
          <p:cNvSpPr txBox="1"/>
          <p:nvPr/>
        </p:nvSpPr>
        <p:spPr>
          <a:xfrm>
            <a:off x="901700" y="2222246"/>
            <a:ext cx="7877809" cy="3682365"/>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P2 : MODULE = RENAME other_t TO</a:t>
            </a:r>
            <a:r>
              <a:rPr sz="2050" spc="15" dirty="0">
                <a:solidFill>
                  <a:srgbClr val="0000FF"/>
                </a:solidFill>
                <a:latin typeface="SimSun"/>
                <a:cs typeface="SimSun"/>
              </a:rPr>
              <a:t> </a:t>
            </a:r>
            <a:r>
              <a:rPr sz="2050" spc="55" dirty="0">
                <a:solidFill>
                  <a:srgbClr val="0000FF"/>
                </a:solidFill>
                <a:latin typeface="SimSun"/>
                <a:cs typeface="SimSun"/>
              </a:rPr>
              <a:t>my_t,</a:t>
            </a:r>
            <a:endParaRPr sz="2050">
              <a:latin typeface="SimSun"/>
              <a:cs typeface="SimSun"/>
            </a:endParaRPr>
          </a:p>
          <a:p>
            <a:pPr marL="137795" algn="ctr">
              <a:lnSpc>
                <a:spcPct val="100000"/>
              </a:lnSpc>
              <a:spcBef>
                <a:spcPts val="465"/>
              </a:spcBef>
            </a:pPr>
            <a:r>
              <a:rPr sz="2050" spc="55" dirty="0">
                <a:solidFill>
                  <a:srgbClr val="0000FF"/>
                </a:solidFill>
                <a:latin typeface="SimSun"/>
                <a:cs typeface="SimSun"/>
              </a:rPr>
              <a:t>my_t TO</a:t>
            </a:r>
            <a:r>
              <a:rPr sz="2050" spc="-25" dirty="0">
                <a:solidFill>
                  <a:srgbClr val="0000FF"/>
                </a:solidFill>
                <a:latin typeface="SimSun"/>
                <a:cs typeface="SimSun"/>
              </a:rPr>
              <a:t> </a:t>
            </a:r>
            <a:r>
              <a:rPr sz="2050" spc="55" dirty="0">
                <a:solidFill>
                  <a:srgbClr val="0000FF"/>
                </a:solidFill>
                <a:latin typeface="SimSun"/>
                <a:cs typeface="SimSun"/>
              </a:rPr>
              <a:t>other_t,</a:t>
            </a:r>
            <a:endParaRPr sz="2050">
              <a:latin typeface="SimSun"/>
              <a:cs typeface="SimSun"/>
            </a:endParaRPr>
          </a:p>
          <a:p>
            <a:pPr marL="2905125">
              <a:lnSpc>
                <a:spcPct val="100000"/>
              </a:lnSpc>
              <a:spcBef>
                <a:spcPts val="465"/>
              </a:spcBef>
            </a:pPr>
            <a:r>
              <a:rPr sz="2050" spc="55" dirty="0">
                <a:solidFill>
                  <a:srgbClr val="0000FF"/>
                </a:solidFill>
                <a:latin typeface="SimSun"/>
                <a:cs typeface="SimSun"/>
              </a:rPr>
              <a:t>pc TO pc2 IN</a:t>
            </a:r>
            <a:r>
              <a:rPr sz="2050" spc="-5" dirty="0">
                <a:solidFill>
                  <a:srgbClr val="0000FF"/>
                </a:solidFill>
                <a:latin typeface="SimSun"/>
                <a:cs typeface="SimSun"/>
              </a:rPr>
              <a:t> </a:t>
            </a:r>
            <a:r>
              <a:rPr sz="2050" spc="55" dirty="0">
                <a:solidFill>
                  <a:srgbClr val="0000FF"/>
                </a:solidFill>
                <a:latin typeface="SimSun"/>
                <a:cs typeface="SimSun"/>
              </a:rPr>
              <a:t>process;</a:t>
            </a:r>
            <a:endParaRPr sz="2050">
              <a:latin typeface="SimSun"/>
              <a:cs typeface="SimSun"/>
            </a:endParaRPr>
          </a:p>
          <a:p>
            <a:pPr>
              <a:lnSpc>
                <a:spcPct val="100000"/>
              </a:lnSpc>
              <a:spcBef>
                <a:spcPts val="56"/>
              </a:spcBef>
            </a:pPr>
            <a:endParaRPr sz="2900">
              <a:latin typeface="Times New Roman"/>
              <a:cs typeface="Times New Roman"/>
            </a:endParaRPr>
          </a:p>
          <a:p>
            <a:pPr marL="12700">
              <a:lnSpc>
                <a:spcPct val="100000"/>
              </a:lnSpc>
            </a:pPr>
            <a:r>
              <a:rPr sz="2050" spc="55" dirty="0">
                <a:solidFill>
                  <a:srgbClr val="0000FF"/>
                </a:solidFill>
                <a:latin typeface="SimSun"/>
                <a:cs typeface="SimSun"/>
              </a:rPr>
              <a:t>system : MODULE = P1 []</a:t>
            </a:r>
            <a:r>
              <a:rPr sz="2050" spc="10" dirty="0">
                <a:solidFill>
                  <a:srgbClr val="0000FF"/>
                </a:solidFill>
                <a:latin typeface="SimSun"/>
                <a:cs typeface="SimSun"/>
              </a:rPr>
              <a:t> </a:t>
            </a:r>
            <a:r>
              <a:rPr sz="2050" spc="55" dirty="0">
                <a:solidFill>
                  <a:srgbClr val="0000FF"/>
                </a:solidFill>
                <a:latin typeface="SimSun"/>
                <a:cs typeface="SimSun"/>
              </a:rPr>
              <a:t>P2;</a:t>
            </a:r>
            <a:endParaRPr sz="2050">
              <a:latin typeface="SimSun"/>
              <a:cs typeface="SimSun"/>
            </a:endParaRPr>
          </a:p>
          <a:p>
            <a:pPr>
              <a:lnSpc>
                <a:spcPct val="100000"/>
              </a:lnSpc>
              <a:spcBef>
                <a:spcPts val="57"/>
              </a:spcBef>
            </a:pPr>
            <a:endParaRPr sz="2900">
              <a:latin typeface="Times New Roman"/>
              <a:cs typeface="Times New Roman"/>
            </a:endParaRPr>
          </a:p>
          <a:p>
            <a:pPr marL="12700">
              <a:lnSpc>
                <a:spcPct val="100000"/>
              </a:lnSpc>
            </a:pPr>
            <a:r>
              <a:rPr sz="2050" spc="55" dirty="0">
                <a:solidFill>
                  <a:srgbClr val="0000FF"/>
                </a:solidFill>
                <a:latin typeface="SimSun"/>
                <a:cs typeface="SimSun"/>
              </a:rPr>
              <a:t>safety:</a:t>
            </a:r>
            <a:r>
              <a:rPr sz="2050" spc="-35" dirty="0">
                <a:solidFill>
                  <a:srgbClr val="0000FF"/>
                </a:solidFill>
                <a:latin typeface="SimSun"/>
                <a:cs typeface="SimSun"/>
              </a:rPr>
              <a:t> </a:t>
            </a:r>
            <a:r>
              <a:rPr sz="2050" spc="55" dirty="0">
                <a:solidFill>
                  <a:srgbClr val="0000FF"/>
                </a:solidFill>
                <a:latin typeface="SimSun"/>
                <a:cs typeface="SimSun"/>
              </a:rPr>
              <a:t>THEOREM</a:t>
            </a:r>
            <a:endParaRPr sz="2050">
              <a:latin typeface="SimSun"/>
              <a:cs typeface="SimSun"/>
            </a:endParaRPr>
          </a:p>
          <a:p>
            <a:pPr marL="563245">
              <a:lnSpc>
                <a:spcPct val="100000"/>
              </a:lnSpc>
              <a:spcBef>
                <a:spcPts val="465"/>
              </a:spcBef>
            </a:pPr>
            <a:r>
              <a:rPr sz="2050" spc="55" dirty="0">
                <a:solidFill>
                  <a:srgbClr val="0000FF"/>
                </a:solidFill>
                <a:latin typeface="SimSun"/>
                <a:cs typeface="SimSun"/>
              </a:rPr>
              <a:t>system |- G(NOT (pc1 = critical AND pc2 =</a:t>
            </a:r>
            <a:r>
              <a:rPr sz="2050" spc="35"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a:lnSpc>
                <a:spcPct val="100000"/>
              </a:lnSpc>
              <a:spcBef>
                <a:spcPts val="57"/>
              </a:spcBef>
            </a:pPr>
            <a:endParaRPr sz="2900">
              <a:latin typeface="Times New Roman"/>
              <a:cs typeface="Times New Roman"/>
            </a:endParaRPr>
          </a:p>
          <a:p>
            <a:pPr marL="12700">
              <a:lnSpc>
                <a:spcPct val="100000"/>
              </a:lnSpc>
            </a:pPr>
            <a:r>
              <a:rPr sz="2050" spc="55" dirty="0">
                <a:solidFill>
                  <a:srgbClr val="0000FF"/>
                </a:solidFill>
                <a:latin typeface="SimSun"/>
                <a:cs typeface="SimSun"/>
              </a:rPr>
              <a:t>END</a:t>
            </a:r>
            <a:endParaRPr sz="2050">
              <a:latin typeface="SimSun"/>
              <a:cs typeface="SimSun"/>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114890" y="475981"/>
            <a:ext cx="3829685" cy="314960"/>
          </a:xfrm>
          <a:prstGeom prst="rect">
            <a:avLst/>
          </a:prstGeom>
        </p:spPr>
        <p:txBody>
          <a:bodyPr vert="horz" wrap="square" lIns="0" tIns="0" rIns="0" bIns="0" rtlCol="0">
            <a:spAutoFit/>
          </a:bodyPr>
          <a:lstStyle/>
          <a:p>
            <a:pPr marL="12700">
              <a:lnSpc>
                <a:spcPct val="100000"/>
              </a:lnSpc>
            </a:pPr>
            <a:r>
              <a:rPr sz="1950" spc="215" dirty="0">
                <a:solidFill>
                  <a:srgbClr val="231F20"/>
                </a:solidFill>
                <a:latin typeface="Arial"/>
                <a:cs typeface="Arial"/>
              </a:rPr>
              <a:t>Results </a:t>
            </a:r>
            <a:r>
              <a:rPr sz="1950" spc="280" dirty="0">
                <a:solidFill>
                  <a:srgbClr val="231F20"/>
                </a:solidFill>
                <a:latin typeface="Arial"/>
                <a:cs typeface="Arial"/>
              </a:rPr>
              <a:t>of </a:t>
            </a:r>
            <a:r>
              <a:rPr sz="1950" spc="305" dirty="0">
                <a:solidFill>
                  <a:srgbClr val="231F20"/>
                </a:solidFill>
                <a:latin typeface="Arial"/>
                <a:cs typeface="Arial"/>
              </a:rPr>
              <a:t>Model</a:t>
            </a:r>
            <a:r>
              <a:rPr sz="1950" spc="560"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51926" rIns="0" bIns="0" rtlCol="0">
            <a:spAutoFit/>
          </a:bodyPr>
          <a:lstStyle/>
          <a:p>
            <a:pPr marL="300990" indent="-288290">
              <a:lnSpc>
                <a:spcPct val="100000"/>
              </a:lnSpc>
              <a:buSzPct val="105128"/>
              <a:buFont typeface="Lucida Sans Unicode"/>
              <a:buChar char="•"/>
              <a:tabLst>
                <a:tab pos="301625" algn="l"/>
              </a:tabLst>
            </a:pPr>
            <a:r>
              <a:rPr sz="1950" spc="155" dirty="0">
                <a:solidFill>
                  <a:srgbClr val="231F20"/>
                </a:solidFill>
                <a:latin typeface="Arial"/>
                <a:cs typeface="Arial"/>
              </a:rPr>
              <a:t>For </a:t>
            </a:r>
            <a:r>
              <a:rPr spc="55" dirty="0">
                <a:solidFill>
                  <a:srgbClr val="FF0000"/>
                </a:solidFill>
              </a:rPr>
              <a:t>max = </a:t>
            </a:r>
            <a:r>
              <a:rPr spc="75" dirty="0">
                <a:solidFill>
                  <a:srgbClr val="FF0000"/>
                </a:solidFill>
              </a:rPr>
              <a:t>800</a:t>
            </a:r>
            <a:r>
              <a:rPr sz="1950" spc="75" dirty="0">
                <a:solidFill>
                  <a:srgbClr val="231F20"/>
                </a:solidFill>
                <a:latin typeface="Arial"/>
                <a:cs typeface="Arial"/>
              </a:rPr>
              <a:t>, </a:t>
            </a:r>
            <a:r>
              <a:rPr spc="55" dirty="0"/>
              <a:t>sal-esmc</a:t>
            </a:r>
            <a:r>
              <a:rPr spc="85" dirty="0"/>
              <a:t> </a:t>
            </a:r>
            <a:r>
              <a:rPr sz="1950" spc="140" dirty="0">
                <a:solidFill>
                  <a:srgbClr val="231F20"/>
                </a:solidFill>
                <a:latin typeface="Arial"/>
                <a:cs typeface="Arial"/>
              </a:rPr>
              <a:t>reports</a:t>
            </a:r>
            <a:endParaRPr sz="1950">
              <a:latin typeface="Arial"/>
              <a:cs typeface="Arial"/>
            </a:endParaRPr>
          </a:p>
        </p:txBody>
      </p:sp>
      <p:sp>
        <p:nvSpPr>
          <p:cNvPr id="4" name="object 4"/>
          <p:cNvSpPr txBox="1"/>
          <p:nvPr/>
        </p:nvSpPr>
        <p:spPr>
          <a:xfrm>
            <a:off x="1185162" y="1582902"/>
            <a:ext cx="5153660" cy="1136650"/>
          </a:xfrm>
          <a:prstGeom prst="rect">
            <a:avLst/>
          </a:prstGeom>
        </p:spPr>
        <p:txBody>
          <a:bodyPr vert="horz" wrap="square" lIns="0" tIns="0" rIns="0" bIns="0" rtlCol="0">
            <a:spAutoFit/>
          </a:bodyPr>
          <a:lstStyle/>
          <a:p>
            <a:pPr marL="12700">
              <a:lnSpc>
                <a:spcPct val="100000"/>
              </a:lnSpc>
            </a:pPr>
            <a:r>
              <a:rPr sz="1650" spc="50" dirty="0">
                <a:solidFill>
                  <a:srgbClr val="0000FF"/>
                </a:solidFill>
                <a:latin typeface="Arial"/>
                <a:cs typeface="Arial"/>
              </a:rPr>
              <a:t>sal-esmc  </a:t>
            </a:r>
            <a:r>
              <a:rPr sz="1650" spc="190" dirty="0">
                <a:solidFill>
                  <a:srgbClr val="0000FF"/>
                </a:solidFill>
                <a:latin typeface="Arial"/>
                <a:cs typeface="Arial"/>
              </a:rPr>
              <a:t>-v </a:t>
            </a:r>
            <a:r>
              <a:rPr sz="1650" spc="-40" dirty="0">
                <a:solidFill>
                  <a:srgbClr val="0000FF"/>
                </a:solidFill>
                <a:latin typeface="Arial"/>
                <a:cs typeface="Arial"/>
              </a:rPr>
              <a:t>3  </a:t>
            </a:r>
            <a:r>
              <a:rPr sz="1650" spc="75" dirty="0">
                <a:solidFill>
                  <a:srgbClr val="0000FF"/>
                </a:solidFill>
                <a:latin typeface="Arial"/>
                <a:cs typeface="Arial"/>
              </a:rPr>
              <a:t>smallbakery</a:t>
            </a:r>
            <a:r>
              <a:rPr sz="1650" spc="509" dirty="0">
                <a:solidFill>
                  <a:srgbClr val="0000FF"/>
                </a:solidFill>
                <a:latin typeface="Arial"/>
                <a:cs typeface="Arial"/>
              </a:rPr>
              <a:t> </a:t>
            </a:r>
            <a:r>
              <a:rPr sz="1650" spc="140" dirty="0">
                <a:solidFill>
                  <a:srgbClr val="0000FF"/>
                </a:solidFill>
                <a:latin typeface="Arial"/>
                <a:cs typeface="Arial"/>
              </a:rPr>
              <a:t>safety</a:t>
            </a:r>
            <a:endParaRPr sz="1650">
              <a:latin typeface="Arial"/>
              <a:cs typeface="Arial"/>
            </a:endParaRPr>
          </a:p>
          <a:p>
            <a:pPr marL="12700" marR="5080" indent="222885">
              <a:lnSpc>
                <a:spcPct val="114300"/>
              </a:lnSpc>
            </a:pPr>
            <a:r>
              <a:rPr sz="1650" spc="-40" dirty="0">
                <a:solidFill>
                  <a:srgbClr val="0000FF"/>
                </a:solidFill>
                <a:latin typeface="Arial"/>
                <a:cs typeface="Arial"/>
              </a:rPr>
              <a:t>num. </a:t>
            </a:r>
            <a:r>
              <a:rPr sz="1650" spc="235" dirty="0">
                <a:solidFill>
                  <a:srgbClr val="0000FF"/>
                </a:solidFill>
                <a:latin typeface="Arial"/>
                <a:cs typeface="Arial"/>
              </a:rPr>
              <a:t>bits </a:t>
            </a:r>
            <a:r>
              <a:rPr sz="1650" spc="-20" dirty="0">
                <a:solidFill>
                  <a:srgbClr val="0000FF"/>
                </a:solidFill>
                <a:latin typeface="Arial"/>
                <a:cs typeface="Arial"/>
              </a:rPr>
              <a:t>used </a:t>
            </a:r>
            <a:r>
              <a:rPr sz="1650" spc="185" dirty="0">
                <a:solidFill>
                  <a:srgbClr val="0000FF"/>
                </a:solidFill>
                <a:latin typeface="Arial"/>
                <a:cs typeface="Arial"/>
              </a:rPr>
              <a:t>to </a:t>
            </a:r>
            <a:r>
              <a:rPr sz="1650" spc="-25" dirty="0">
                <a:solidFill>
                  <a:srgbClr val="0000FF"/>
                </a:solidFill>
                <a:latin typeface="Arial"/>
                <a:cs typeface="Arial"/>
              </a:rPr>
              <a:t>encode </a:t>
            </a:r>
            <a:r>
              <a:rPr sz="1650" spc="-40" dirty="0">
                <a:solidFill>
                  <a:srgbClr val="0000FF"/>
                </a:solidFill>
                <a:latin typeface="Arial"/>
                <a:cs typeface="Arial"/>
              </a:rPr>
              <a:t>a </a:t>
            </a:r>
            <a:r>
              <a:rPr sz="1650" spc="204" dirty="0">
                <a:solidFill>
                  <a:srgbClr val="0000FF"/>
                </a:solidFill>
                <a:latin typeface="Arial"/>
                <a:cs typeface="Arial"/>
              </a:rPr>
              <a:t>state: </a:t>
            </a:r>
            <a:r>
              <a:rPr sz="1650" spc="-40" dirty="0">
                <a:solidFill>
                  <a:srgbClr val="0000FF"/>
                </a:solidFill>
                <a:latin typeface="Arial"/>
                <a:cs typeface="Arial"/>
              </a:rPr>
              <a:t>24  </a:t>
            </a:r>
            <a:r>
              <a:rPr sz="1650" spc="195" dirty="0">
                <a:solidFill>
                  <a:srgbClr val="0000FF"/>
                </a:solidFill>
                <a:latin typeface="Arial"/>
                <a:cs typeface="Arial"/>
              </a:rPr>
              <a:t>verifying </a:t>
            </a:r>
            <a:r>
              <a:rPr sz="1650" spc="120" dirty="0">
                <a:solidFill>
                  <a:srgbClr val="0000FF"/>
                </a:solidFill>
                <a:latin typeface="Arial"/>
                <a:cs typeface="Arial"/>
              </a:rPr>
              <a:t>property  </a:t>
            </a:r>
            <a:r>
              <a:rPr sz="1650" spc="85" dirty="0">
                <a:solidFill>
                  <a:srgbClr val="0000FF"/>
                </a:solidFill>
                <a:latin typeface="Arial"/>
                <a:cs typeface="Arial"/>
              </a:rPr>
              <a:t>using  </a:t>
            </a:r>
            <a:r>
              <a:rPr sz="1650" spc="210" dirty="0">
                <a:solidFill>
                  <a:srgbClr val="0000FF"/>
                </a:solidFill>
                <a:latin typeface="Arial"/>
                <a:cs typeface="Arial"/>
              </a:rPr>
              <a:t>depth-first</a:t>
            </a:r>
            <a:r>
              <a:rPr sz="1650" spc="120" dirty="0">
                <a:solidFill>
                  <a:srgbClr val="0000FF"/>
                </a:solidFill>
                <a:latin typeface="Arial"/>
                <a:cs typeface="Arial"/>
              </a:rPr>
              <a:t> </a:t>
            </a:r>
            <a:r>
              <a:rPr sz="1650" spc="170" dirty="0">
                <a:solidFill>
                  <a:srgbClr val="0000FF"/>
                </a:solidFill>
                <a:latin typeface="Arial"/>
                <a:cs typeface="Arial"/>
              </a:rPr>
              <a:t>search...</a:t>
            </a:r>
            <a:endParaRPr sz="1650">
              <a:latin typeface="Arial"/>
              <a:cs typeface="Arial"/>
            </a:endParaRPr>
          </a:p>
          <a:p>
            <a:pPr marL="235585">
              <a:lnSpc>
                <a:spcPct val="100000"/>
              </a:lnSpc>
              <a:spcBef>
                <a:spcPts val="280"/>
              </a:spcBef>
            </a:pPr>
            <a:r>
              <a:rPr sz="1650" spc="30" dirty="0">
                <a:solidFill>
                  <a:srgbClr val="0000FF"/>
                </a:solidFill>
                <a:latin typeface="Arial"/>
                <a:cs typeface="Arial"/>
              </a:rPr>
              <a:t>computing  </a:t>
            </a:r>
            <a:r>
              <a:rPr sz="1650" spc="140" dirty="0">
                <a:solidFill>
                  <a:srgbClr val="0000FF"/>
                </a:solidFill>
                <a:latin typeface="Arial"/>
                <a:cs typeface="Arial"/>
              </a:rPr>
              <a:t>set </a:t>
            </a:r>
            <a:r>
              <a:rPr sz="1650" spc="185" dirty="0">
                <a:solidFill>
                  <a:srgbClr val="0000FF"/>
                </a:solidFill>
                <a:latin typeface="Arial"/>
                <a:cs typeface="Arial"/>
              </a:rPr>
              <a:t>of </a:t>
            </a:r>
            <a:r>
              <a:rPr sz="1650" spc="340" dirty="0">
                <a:solidFill>
                  <a:srgbClr val="0000FF"/>
                </a:solidFill>
                <a:latin typeface="Arial"/>
                <a:cs typeface="Arial"/>
              </a:rPr>
              <a:t>initial</a:t>
            </a:r>
            <a:r>
              <a:rPr sz="1650" spc="775" dirty="0">
                <a:solidFill>
                  <a:srgbClr val="0000FF"/>
                </a:solidFill>
                <a:latin typeface="Arial"/>
                <a:cs typeface="Arial"/>
              </a:rPr>
              <a:t> </a:t>
            </a:r>
            <a:r>
              <a:rPr sz="1650" spc="235" dirty="0">
                <a:solidFill>
                  <a:srgbClr val="0000FF"/>
                </a:solidFill>
                <a:latin typeface="Arial"/>
                <a:cs typeface="Arial"/>
              </a:rPr>
              <a:t>states...</a:t>
            </a:r>
            <a:endParaRPr sz="1650">
              <a:latin typeface="Arial"/>
              <a:cs typeface="Arial"/>
            </a:endParaRPr>
          </a:p>
        </p:txBody>
      </p:sp>
      <p:graphicFrame>
        <p:nvGraphicFramePr>
          <p:cNvPr id="5" name="object 5"/>
          <p:cNvGraphicFramePr>
            <a:graphicFrameLocks noGrp="1"/>
          </p:cNvGraphicFramePr>
          <p:nvPr/>
        </p:nvGraphicFramePr>
        <p:xfrm>
          <a:off x="1398638" y="2731816"/>
          <a:ext cx="7628063" cy="2325076"/>
        </p:xfrm>
        <a:graphic>
          <a:graphicData uri="http://schemas.openxmlformats.org/drawingml/2006/table">
            <a:tbl>
              <a:tblPr firstRow="1" bandRow="1">
                <a:tableStyleId>{2D5ABB26-0587-4C30-8999-92F81FD0307C}</a:tableStyleId>
              </a:tblPr>
              <a:tblGrid>
                <a:gridCol w="746897"/>
                <a:gridCol w="334392"/>
                <a:gridCol w="891913"/>
                <a:gridCol w="891856"/>
                <a:gridCol w="668905"/>
                <a:gridCol w="780408"/>
                <a:gridCol w="334392"/>
                <a:gridCol w="1003415"/>
                <a:gridCol w="1975885"/>
              </a:tblGrid>
              <a:tr h="300545">
                <a:tc>
                  <a:txBody>
                    <a:bodyPr/>
                    <a:lstStyle/>
                    <a:p>
                      <a:pPr marL="22225">
                        <a:lnSpc>
                          <a:spcPct val="100000"/>
                        </a:lnSpc>
                      </a:pPr>
                      <a:r>
                        <a:rPr sz="1650" spc="-55" dirty="0">
                          <a:solidFill>
                            <a:srgbClr val="0000FF"/>
                          </a:solidFill>
                          <a:latin typeface="Arial"/>
                          <a:cs typeface="Arial"/>
                        </a:rPr>
                        <a:t>number</a:t>
                      </a:r>
                      <a:endParaRPr sz="1650">
                        <a:latin typeface="Arial"/>
                        <a:cs typeface="Arial"/>
                      </a:endParaRPr>
                    </a:p>
                  </a:txBody>
                  <a:tcPr marL="0" marR="0" marT="0" marB="0"/>
                </a:tc>
                <a:tc>
                  <a:txBody>
                    <a:bodyPr/>
                    <a:lstStyle/>
                    <a:p>
                      <a:pPr algn="ctr">
                        <a:lnSpc>
                          <a:spcPct val="100000"/>
                        </a:lnSpc>
                      </a:pPr>
                      <a:r>
                        <a:rPr sz="1650" spc="185" dirty="0">
                          <a:solidFill>
                            <a:srgbClr val="0000FF"/>
                          </a:solidFill>
                          <a:latin typeface="Arial"/>
                          <a:cs typeface="Arial"/>
                        </a:rPr>
                        <a:t>of</a:t>
                      </a:r>
                      <a:endParaRPr sz="1650">
                        <a:latin typeface="Arial"/>
                        <a:cs typeface="Arial"/>
                      </a:endParaRPr>
                    </a:p>
                  </a:txBody>
                  <a:tcPr marL="0" marR="0" marT="0" marB="0"/>
                </a:tc>
                <a:tc>
                  <a:txBody>
                    <a:bodyPr/>
                    <a:lstStyle/>
                    <a:p>
                      <a:pPr algn="ctr">
                        <a:lnSpc>
                          <a:spcPct val="100000"/>
                        </a:lnSpc>
                      </a:pPr>
                      <a:r>
                        <a:rPr sz="1650" spc="340" dirty="0">
                          <a:solidFill>
                            <a:srgbClr val="0000FF"/>
                          </a:solidFill>
                          <a:latin typeface="Arial"/>
                          <a:cs typeface="Arial"/>
                        </a:rPr>
                        <a:t>initial</a:t>
                      </a:r>
                      <a:endParaRPr sz="1650">
                        <a:latin typeface="Arial"/>
                        <a:cs typeface="Arial"/>
                      </a:endParaRPr>
                    </a:p>
                  </a:txBody>
                  <a:tcPr marL="0" marR="0" marT="0" marB="0"/>
                </a:tc>
                <a:tc>
                  <a:txBody>
                    <a:bodyPr/>
                    <a:lstStyle/>
                    <a:p>
                      <a:pPr algn="ctr">
                        <a:lnSpc>
                          <a:spcPct val="100000"/>
                        </a:lnSpc>
                      </a:pPr>
                      <a:r>
                        <a:rPr sz="1650" spc="180" dirty="0">
                          <a:solidFill>
                            <a:srgbClr val="0000FF"/>
                          </a:solidFill>
                          <a:latin typeface="Arial"/>
                          <a:cs typeface="Arial"/>
                        </a:rPr>
                        <a:t>states:</a:t>
                      </a:r>
                      <a:endParaRPr sz="1650">
                        <a:latin typeface="Arial"/>
                        <a:cs typeface="Arial"/>
                      </a:endParaRPr>
                    </a:p>
                  </a:txBody>
                  <a:tcPr marL="0" marR="0" marT="0" marB="0"/>
                </a:tc>
                <a:tc>
                  <a:txBody>
                    <a:bodyPr/>
                    <a:lstStyle/>
                    <a:p>
                      <a:pPr marL="55244">
                        <a:lnSpc>
                          <a:spcPct val="100000"/>
                        </a:lnSpc>
                      </a:pPr>
                      <a:r>
                        <a:rPr sz="1650" dirty="0">
                          <a:solidFill>
                            <a:srgbClr val="0000FF"/>
                          </a:solidFill>
                          <a:latin typeface="Arial"/>
                          <a:cs typeface="Arial"/>
                        </a:rPr>
                        <a:t>1</a:t>
                      </a:r>
                      <a:endParaRPr sz="1650">
                        <a:latin typeface="Arial"/>
                        <a:cs typeface="Arial"/>
                      </a:endParaRPr>
                    </a:p>
                  </a:txBody>
                  <a:tcPr marL="0" marR="0" marT="0" marB="0"/>
                </a:tc>
                <a:tc gridSpan="4">
                  <a:txBody>
                    <a:bodyPr/>
                    <a:lstStyle/>
                    <a:p>
                      <a:endParaRPr sz="1650">
                        <a:latin typeface="Arial"/>
                        <a:cs typeface="Arial"/>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r>
              <a:tr h="287350">
                <a:tc>
                  <a:txBody>
                    <a:bodyPr/>
                    <a:lstStyle/>
                    <a:p>
                      <a:pPr marL="22225">
                        <a:lnSpc>
                          <a:spcPts val="1880"/>
                        </a:lnSpc>
                      </a:pPr>
                      <a:r>
                        <a:rPr sz="1650" spc="-55" dirty="0">
                          <a:solidFill>
                            <a:srgbClr val="0000FF"/>
                          </a:solidFill>
                          <a:latin typeface="Arial"/>
                          <a:cs typeface="Arial"/>
                        </a:rPr>
                        <a:t>number</a:t>
                      </a:r>
                      <a:endParaRPr sz="1650">
                        <a:latin typeface="Arial"/>
                        <a:cs typeface="Arial"/>
                      </a:endParaRPr>
                    </a:p>
                  </a:txBody>
                  <a:tcPr marL="0" marR="0" marT="0" marB="0"/>
                </a:tc>
                <a:tc>
                  <a:txBody>
                    <a:bodyPr/>
                    <a:lstStyle/>
                    <a:p>
                      <a:pPr algn="ctr">
                        <a:lnSpc>
                          <a:spcPts val="1880"/>
                        </a:lnSpc>
                      </a:pPr>
                      <a:r>
                        <a:rPr sz="1650" spc="185" dirty="0">
                          <a:solidFill>
                            <a:srgbClr val="0000FF"/>
                          </a:solidFill>
                          <a:latin typeface="Arial"/>
                          <a:cs typeface="Arial"/>
                        </a:rPr>
                        <a:t>of</a:t>
                      </a:r>
                      <a:endParaRPr sz="1650">
                        <a:latin typeface="Arial"/>
                        <a:cs typeface="Arial"/>
                      </a:endParaRPr>
                    </a:p>
                  </a:txBody>
                  <a:tcPr marL="0" marR="0" marT="0" marB="0"/>
                </a:tc>
                <a:tc>
                  <a:txBody>
                    <a:bodyPr/>
                    <a:lstStyle/>
                    <a:p>
                      <a:pPr algn="ctr">
                        <a:lnSpc>
                          <a:spcPts val="1880"/>
                        </a:lnSpc>
                      </a:pPr>
                      <a:r>
                        <a:rPr sz="1650" spc="204" dirty="0">
                          <a:solidFill>
                            <a:srgbClr val="0000FF"/>
                          </a:solidFill>
                          <a:latin typeface="Arial"/>
                          <a:cs typeface="Arial"/>
                        </a:rPr>
                        <a:t>visited</a:t>
                      </a:r>
                      <a:endParaRPr sz="1650">
                        <a:latin typeface="Arial"/>
                        <a:cs typeface="Arial"/>
                      </a:endParaRPr>
                    </a:p>
                  </a:txBody>
                  <a:tcPr marL="0" marR="0" marT="0" marB="0"/>
                </a:tc>
                <a:tc>
                  <a:txBody>
                    <a:bodyPr/>
                    <a:lstStyle/>
                    <a:p>
                      <a:pPr algn="ctr">
                        <a:lnSpc>
                          <a:spcPts val="1880"/>
                        </a:lnSpc>
                      </a:pPr>
                      <a:r>
                        <a:rPr sz="1650" spc="180" dirty="0">
                          <a:solidFill>
                            <a:srgbClr val="0000FF"/>
                          </a:solidFill>
                          <a:latin typeface="Arial"/>
                          <a:cs typeface="Arial"/>
                        </a:rPr>
                        <a:t>states: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1001,</a:t>
                      </a:r>
                      <a:endParaRPr sz="1650">
                        <a:latin typeface="Arial"/>
                        <a:cs typeface="Arial"/>
                      </a:endParaRPr>
                    </a:p>
                  </a:txBody>
                  <a:tcPr marL="0" marR="0" marT="0" marB="0"/>
                </a:tc>
                <a:tc>
                  <a:txBody>
                    <a:bodyPr/>
                    <a:lstStyle/>
                    <a:p>
                      <a:pPr algn="ctr">
                        <a:lnSpc>
                          <a:spcPts val="1880"/>
                        </a:lnSpc>
                      </a:pPr>
                      <a:r>
                        <a:rPr sz="1650" spc="140" dirty="0">
                          <a:solidFill>
                            <a:srgbClr val="0000FF"/>
                          </a:solidFill>
                          <a:latin typeface="Arial"/>
                          <a:cs typeface="Arial"/>
                        </a:rPr>
                        <a:t>states</a:t>
                      </a:r>
                      <a:endParaRPr sz="1650">
                        <a:latin typeface="Arial"/>
                        <a:cs typeface="Arial"/>
                      </a:endParaRPr>
                    </a:p>
                  </a:txBody>
                  <a:tcPr marL="0" marR="0" marT="0" marB="0"/>
                </a:tc>
                <a:tc>
                  <a:txBody>
                    <a:bodyPr/>
                    <a:lstStyle/>
                    <a:p>
                      <a:pPr marR="47625" algn="r">
                        <a:lnSpc>
                          <a:spcPts val="1880"/>
                        </a:lnSpc>
                      </a:pPr>
                      <a:r>
                        <a:rPr sz="1650" dirty="0">
                          <a:solidFill>
                            <a:srgbClr val="0000FF"/>
                          </a:solidFill>
                          <a:latin typeface="Arial"/>
                          <a:cs typeface="Arial"/>
                        </a:rPr>
                        <a:t>to</a:t>
                      </a:r>
                      <a:endParaRPr sz="1650">
                        <a:latin typeface="Arial"/>
                        <a:cs typeface="Arial"/>
                      </a:endParaRPr>
                    </a:p>
                  </a:txBody>
                  <a:tcPr marL="0" marR="0" marT="0" marB="0"/>
                </a:tc>
                <a:tc>
                  <a:txBody>
                    <a:bodyPr/>
                    <a:lstStyle/>
                    <a:p>
                      <a:pPr algn="ctr">
                        <a:lnSpc>
                          <a:spcPts val="1880"/>
                        </a:lnSpc>
                      </a:pPr>
                      <a:r>
                        <a:rPr sz="1650" spc="95" dirty="0">
                          <a:solidFill>
                            <a:srgbClr val="0000FF"/>
                          </a:solidFill>
                          <a:latin typeface="Arial"/>
                          <a:cs typeface="Arial"/>
                        </a:rPr>
                        <a:t>process: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1001,  </a:t>
                      </a:r>
                      <a:r>
                        <a:rPr sz="1650" spc="114" dirty="0">
                          <a:solidFill>
                            <a:srgbClr val="0000FF"/>
                          </a:solidFill>
                          <a:latin typeface="Arial"/>
                          <a:cs typeface="Arial"/>
                        </a:rPr>
                        <a:t>depth:</a:t>
                      </a:r>
                      <a:r>
                        <a:rPr sz="1650" spc="195" dirty="0">
                          <a:solidFill>
                            <a:srgbClr val="0000FF"/>
                          </a:solidFill>
                          <a:latin typeface="Arial"/>
                          <a:cs typeface="Arial"/>
                        </a:rPr>
                        <a:t> </a:t>
                      </a:r>
                      <a:r>
                        <a:rPr sz="1650" spc="-40" dirty="0">
                          <a:solidFill>
                            <a:srgbClr val="0000FF"/>
                          </a:solidFill>
                          <a:latin typeface="Arial"/>
                          <a:cs typeface="Arial"/>
                        </a:rPr>
                        <a:t>749</a:t>
                      </a:r>
                      <a:endParaRPr sz="1650">
                        <a:latin typeface="Arial"/>
                        <a:cs typeface="Arial"/>
                      </a:endParaRPr>
                    </a:p>
                  </a:txBody>
                  <a:tcPr marL="0" marR="0" marT="0" marB="0"/>
                </a:tc>
              </a:tr>
              <a:tr h="287293">
                <a:tc>
                  <a:txBody>
                    <a:bodyPr/>
                    <a:lstStyle/>
                    <a:p>
                      <a:pPr marL="22225">
                        <a:lnSpc>
                          <a:spcPts val="1880"/>
                        </a:lnSpc>
                      </a:pPr>
                      <a:r>
                        <a:rPr sz="1650" spc="-55" dirty="0">
                          <a:solidFill>
                            <a:srgbClr val="0000FF"/>
                          </a:solidFill>
                          <a:latin typeface="Arial"/>
                          <a:cs typeface="Arial"/>
                        </a:rPr>
                        <a:t>number</a:t>
                      </a:r>
                      <a:endParaRPr sz="1650">
                        <a:latin typeface="Arial"/>
                        <a:cs typeface="Arial"/>
                      </a:endParaRPr>
                    </a:p>
                  </a:txBody>
                  <a:tcPr marL="0" marR="0" marT="0" marB="0"/>
                </a:tc>
                <a:tc>
                  <a:txBody>
                    <a:bodyPr/>
                    <a:lstStyle/>
                    <a:p>
                      <a:pPr algn="ctr">
                        <a:lnSpc>
                          <a:spcPts val="1880"/>
                        </a:lnSpc>
                      </a:pPr>
                      <a:r>
                        <a:rPr sz="1650" spc="185" dirty="0">
                          <a:solidFill>
                            <a:srgbClr val="0000FF"/>
                          </a:solidFill>
                          <a:latin typeface="Arial"/>
                          <a:cs typeface="Arial"/>
                        </a:rPr>
                        <a:t>of</a:t>
                      </a:r>
                      <a:endParaRPr sz="1650">
                        <a:latin typeface="Arial"/>
                        <a:cs typeface="Arial"/>
                      </a:endParaRPr>
                    </a:p>
                  </a:txBody>
                  <a:tcPr marL="0" marR="0" marT="0" marB="0"/>
                </a:tc>
                <a:tc>
                  <a:txBody>
                    <a:bodyPr/>
                    <a:lstStyle/>
                    <a:p>
                      <a:pPr algn="ctr">
                        <a:lnSpc>
                          <a:spcPts val="1880"/>
                        </a:lnSpc>
                      </a:pPr>
                      <a:r>
                        <a:rPr sz="1650" spc="204" dirty="0">
                          <a:solidFill>
                            <a:srgbClr val="0000FF"/>
                          </a:solidFill>
                          <a:latin typeface="Arial"/>
                          <a:cs typeface="Arial"/>
                        </a:rPr>
                        <a:t>visited</a:t>
                      </a:r>
                      <a:endParaRPr sz="1650">
                        <a:latin typeface="Arial"/>
                        <a:cs typeface="Arial"/>
                      </a:endParaRPr>
                    </a:p>
                  </a:txBody>
                  <a:tcPr marL="0" marR="0" marT="0" marB="0"/>
                </a:tc>
                <a:tc>
                  <a:txBody>
                    <a:bodyPr/>
                    <a:lstStyle/>
                    <a:p>
                      <a:pPr algn="ctr">
                        <a:lnSpc>
                          <a:spcPts val="1880"/>
                        </a:lnSpc>
                      </a:pPr>
                      <a:r>
                        <a:rPr sz="1650" spc="180" dirty="0">
                          <a:solidFill>
                            <a:srgbClr val="0000FF"/>
                          </a:solidFill>
                          <a:latin typeface="Arial"/>
                          <a:cs typeface="Arial"/>
                        </a:rPr>
                        <a:t>states: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2001,</a:t>
                      </a:r>
                      <a:endParaRPr sz="1650">
                        <a:latin typeface="Arial"/>
                        <a:cs typeface="Arial"/>
                      </a:endParaRPr>
                    </a:p>
                  </a:txBody>
                  <a:tcPr marL="0" marR="0" marT="0" marB="0"/>
                </a:tc>
                <a:tc>
                  <a:txBody>
                    <a:bodyPr/>
                    <a:lstStyle/>
                    <a:p>
                      <a:pPr algn="ctr">
                        <a:lnSpc>
                          <a:spcPts val="1880"/>
                        </a:lnSpc>
                      </a:pPr>
                      <a:r>
                        <a:rPr sz="1650" spc="140" dirty="0">
                          <a:solidFill>
                            <a:srgbClr val="0000FF"/>
                          </a:solidFill>
                          <a:latin typeface="Arial"/>
                          <a:cs typeface="Arial"/>
                        </a:rPr>
                        <a:t>states</a:t>
                      </a:r>
                      <a:endParaRPr sz="1650">
                        <a:latin typeface="Arial"/>
                        <a:cs typeface="Arial"/>
                      </a:endParaRPr>
                    </a:p>
                  </a:txBody>
                  <a:tcPr marL="0" marR="0" marT="0" marB="0"/>
                </a:tc>
                <a:tc>
                  <a:txBody>
                    <a:bodyPr/>
                    <a:lstStyle/>
                    <a:p>
                      <a:pPr marR="47625" algn="r">
                        <a:lnSpc>
                          <a:spcPts val="1880"/>
                        </a:lnSpc>
                      </a:pPr>
                      <a:r>
                        <a:rPr sz="1650" dirty="0">
                          <a:solidFill>
                            <a:srgbClr val="0000FF"/>
                          </a:solidFill>
                          <a:latin typeface="Arial"/>
                          <a:cs typeface="Arial"/>
                        </a:rPr>
                        <a:t>to</a:t>
                      </a:r>
                      <a:endParaRPr sz="1650">
                        <a:latin typeface="Arial"/>
                        <a:cs typeface="Arial"/>
                      </a:endParaRPr>
                    </a:p>
                  </a:txBody>
                  <a:tcPr marL="0" marR="0" marT="0" marB="0"/>
                </a:tc>
                <a:tc>
                  <a:txBody>
                    <a:bodyPr/>
                    <a:lstStyle/>
                    <a:p>
                      <a:pPr algn="ctr">
                        <a:lnSpc>
                          <a:spcPts val="1880"/>
                        </a:lnSpc>
                      </a:pPr>
                      <a:r>
                        <a:rPr sz="1650" spc="95" dirty="0">
                          <a:solidFill>
                            <a:srgbClr val="0000FF"/>
                          </a:solidFill>
                          <a:latin typeface="Arial"/>
                          <a:cs typeface="Arial"/>
                        </a:rPr>
                        <a:t>process: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2001,  </a:t>
                      </a:r>
                      <a:r>
                        <a:rPr sz="1650" spc="114" dirty="0">
                          <a:solidFill>
                            <a:srgbClr val="0000FF"/>
                          </a:solidFill>
                          <a:latin typeface="Arial"/>
                          <a:cs typeface="Arial"/>
                        </a:rPr>
                        <a:t>depth:</a:t>
                      </a:r>
                      <a:r>
                        <a:rPr sz="1650" spc="195" dirty="0">
                          <a:solidFill>
                            <a:srgbClr val="0000FF"/>
                          </a:solidFill>
                          <a:latin typeface="Arial"/>
                          <a:cs typeface="Arial"/>
                        </a:rPr>
                        <a:t> </a:t>
                      </a:r>
                      <a:r>
                        <a:rPr sz="1650" spc="-40" dirty="0">
                          <a:solidFill>
                            <a:srgbClr val="0000FF"/>
                          </a:solidFill>
                          <a:latin typeface="Arial"/>
                          <a:cs typeface="Arial"/>
                        </a:rPr>
                        <a:t>1499</a:t>
                      </a:r>
                      <a:endParaRPr sz="1650">
                        <a:latin typeface="Arial"/>
                        <a:cs typeface="Arial"/>
                      </a:endParaRPr>
                    </a:p>
                  </a:txBody>
                  <a:tcPr marL="0" marR="0" marT="0" marB="0"/>
                </a:tc>
              </a:tr>
              <a:tr h="287293">
                <a:tc>
                  <a:txBody>
                    <a:bodyPr/>
                    <a:lstStyle/>
                    <a:p>
                      <a:pPr marL="22225">
                        <a:lnSpc>
                          <a:spcPts val="1880"/>
                        </a:lnSpc>
                      </a:pPr>
                      <a:r>
                        <a:rPr sz="1650" spc="-55" dirty="0">
                          <a:solidFill>
                            <a:srgbClr val="0000FF"/>
                          </a:solidFill>
                          <a:latin typeface="Arial"/>
                          <a:cs typeface="Arial"/>
                        </a:rPr>
                        <a:t>number</a:t>
                      </a:r>
                      <a:endParaRPr sz="1650">
                        <a:latin typeface="Arial"/>
                        <a:cs typeface="Arial"/>
                      </a:endParaRPr>
                    </a:p>
                  </a:txBody>
                  <a:tcPr marL="0" marR="0" marT="0" marB="0"/>
                </a:tc>
                <a:tc>
                  <a:txBody>
                    <a:bodyPr/>
                    <a:lstStyle/>
                    <a:p>
                      <a:pPr algn="ctr">
                        <a:lnSpc>
                          <a:spcPts val="1880"/>
                        </a:lnSpc>
                      </a:pPr>
                      <a:r>
                        <a:rPr sz="1650" spc="185" dirty="0">
                          <a:solidFill>
                            <a:srgbClr val="0000FF"/>
                          </a:solidFill>
                          <a:latin typeface="Arial"/>
                          <a:cs typeface="Arial"/>
                        </a:rPr>
                        <a:t>of</a:t>
                      </a:r>
                      <a:endParaRPr sz="1650">
                        <a:latin typeface="Arial"/>
                        <a:cs typeface="Arial"/>
                      </a:endParaRPr>
                    </a:p>
                  </a:txBody>
                  <a:tcPr marL="0" marR="0" marT="0" marB="0"/>
                </a:tc>
                <a:tc>
                  <a:txBody>
                    <a:bodyPr/>
                    <a:lstStyle/>
                    <a:p>
                      <a:pPr algn="ctr">
                        <a:lnSpc>
                          <a:spcPts val="1880"/>
                        </a:lnSpc>
                      </a:pPr>
                      <a:r>
                        <a:rPr sz="1650" spc="204" dirty="0">
                          <a:solidFill>
                            <a:srgbClr val="0000FF"/>
                          </a:solidFill>
                          <a:latin typeface="Arial"/>
                          <a:cs typeface="Arial"/>
                        </a:rPr>
                        <a:t>visited</a:t>
                      </a:r>
                      <a:endParaRPr sz="1650">
                        <a:latin typeface="Arial"/>
                        <a:cs typeface="Arial"/>
                      </a:endParaRPr>
                    </a:p>
                  </a:txBody>
                  <a:tcPr marL="0" marR="0" marT="0" marB="0"/>
                </a:tc>
                <a:tc>
                  <a:txBody>
                    <a:bodyPr/>
                    <a:lstStyle/>
                    <a:p>
                      <a:pPr algn="ctr">
                        <a:lnSpc>
                          <a:spcPts val="1880"/>
                        </a:lnSpc>
                      </a:pPr>
                      <a:r>
                        <a:rPr sz="1650" spc="180" dirty="0">
                          <a:solidFill>
                            <a:srgbClr val="0000FF"/>
                          </a:solidFill>
                          <a:latin typeface="Arial"/>
                          <a:cs typeface="Arial"/>
                        </a:rPr>
                        <a:t>states: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3001,</a:t>
                      </a:r>
                      <a:endParaRPr sz="1650">
                        <a:latin typeface="Arial"/>
                        <a:cs typeface="Arial"/>
                      </a:endParaRPr>
                    </a:p>
                  </a:txBody>
                  <a:tcPr marL="0" marR="0" marT="0" marB="0"/>
                </a:tc>
                <a:tc>
                  <a:txBody>
                    <a:bodyPr/>
                    <a:lstStyle/>
                    <a:p>
                      <a:pPr algn="ctr">
                        <a:lnSpc>
                          <a:spcPts val="1880"/>
                        </a:lnSpc>
                      </a:pPr>
                      <a:r>
                        <a:rPr sz="1650" spc="140" dirty="0">
                          <a:solidFill>
                            <a:srgbClr val="0000FF"/>
                          </a:solidFill>
                          <a:latin typeface="Arial"/>
                          <a:cs typeface="Arial"/>
                        </a:rPr>
                        <a:t>states</a:t>
                      </a:r>
                      <a:endParaRPr sz="1650">
                        <a:latin typeface="Arial"/>
                        <a:cs typeface="Arial"/>
                      </a:endParaRPr>
                    </a:p>
                  </a:txBody>
                  <a:tcPr marL="0" marR="0" marT="0" marB="0"/>
                </a:tc>
                <a:tc>
                  <a:txBody>
                    <a:bodyPr/>
                    <a:lstStyle/>
                    <a:p>
                      <a:pPr marR="47625" algn="r">
                        <a:lnSpc>
                          <a:spcPts val="1880"/>
                        </a:lnSpc>
                      </a:pPr>
                      <a:r>
                        <a:rPr sz="1650" dirty="0">
                          <a:solidFill>
                            <a:srgbClr val="0000FF"/>
                          </a:solidFill>
                          <a:latin typeface="Arial"/>
                          <a:cs typeface="Arial"/>
                        </a:rPr>
                        <a:t>to</a:t>
                      </a:r>
                      <a:endParaRPr sz="1650">
                        <a:latin typeface="Arial"/>
                        <a:cs typeface="Arial"/>
                      </a:endParaRPr>
                    </a:p>
                  </a:txBody>
                  <a:tcPr marL="0" marR="0" marT="0" marB="0"/>
                </a:tc>
                <a:tc>
                  <a:txBody>
                    <a:bodyPr/>
                    <a:lstStyle/>
                    <a:p>
                      <a:pPr algn="ctr">
                        <a:lnSpc>
                          <a:spcPts val="1880"/>
                        </a:lnSpc>
                      </a:pPr>
                      <a:r>
                        <a:rPr sz="1650" spc="95" dirty="0">
                          <a:solidFill>
                            <a:srgbClr val="0000FF"/>
                          </a:solidFill>
                          <a:latin typeface="Arial"/>
                          <a:cs typeface="Arial"/>
                        </a:rPr>
                        <a:t>process: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3001,  </a:t>
                      </a:r>
                      <a:r>
                        <a:rPr sz="1650" spc="114" dirty="0">
                          <a:solidFill>
                            <a:srgbClr val="0000FF"/>
                          </a:solidFill>
                          <a:latin typeface="Arial"/>
                          <a:cs typeface="Arial"/>
                        </a:rPr>
                        <a:t>depth:</a:t>
                      </a:r>
                      <a:r>
                        <a:rPr sz="1650" spc="195" dirty="0">
                          <a:solidFill>
                            <a:srgbClr val="0000FF"/>
                          </a:solidFill>
                          <a:latin typeface="Arial"/>
                          <a:cs typeface="Arial"/>
                        </a:rPr>
                        <a:t> </a:t>
                      </a:r>
                      <a:r>
                        <a:rPr sz="1650" spc="-40" dirty="0">
                          <a:solidFill>
                            <a:srgbClr val="0000FF"/>
                          </a:solidFill>
                          <a:latin typeface="Arial"/>
                          <a:cs typeface="Arial"/>
                        </a:rPr>
                        <a:t>2249</a:t>
                      </a:r>
                      <a:endParaRPr sz="1650">
                        <a:latin typeface="Arial"/>
                        <a:cs typeface="Arial"/>
                      </a:endParaRPr>
                    </a:p>
                  </a:txBody>
                  <a:tcPr marL="0" marR="0" marT="0" marB="0"/>
                </a:tc>
              </a:tr>
              <a:tr h="287350">
                <a:tc>
                  <a:txBody>
                    <a:bodyPr/>
                    <a:lstStyle/>
                    <a:p>
                      <a:pPr marL="22225">
                        <a:lnSpc>
                          <a:spcPts val="1880"/>
                        </a:lnSpc>
                      </a:pPr>
                      <a:r>
                        <a:rPr sz="1650" spc="-55" dirty="0">
                          <a:solidFill>
                            <a:srgbClr val="0000FF"/>
                          </a:solidFill>
                          <a:latin typeface="Arial"/>
                          <a:cs typeface="Arial"/>
                        </a:rPr>
                        <a:t>number</a:t>
                      </a:r>
                      <a:endParaRPr sz="1650">
                        <a:latin typeface="Arial"/>
                        <a:cs typeface="Arial"/>
                      </a:endParaRPr>
                    </a:p>
                  </a:txBody>
                  <a:tcPr marL="0" marR="0" marT="0" marB="0"/>
                </a:tc>
                <a:tc>
                  <a:txBody>
                    <a:bodyPr/>
                    <a:lstStyle/>
                    <a:p>
                      <a:pPr algn="ctr">
                        <a:lnSpc>
                          <a:spcPts val="1880"/>
                        </a:lnSpc>
                      </a:pPr>
                      <a:r>
                        <a:rPr sz="1650" spc="185" dirty="0">
                          <a:solidFill>
                            <a:srgbClr val="0000FF"/>
                          </a:solidFill>
                          <a:latin typeface="Arial"/>
                          <a:cs typeface="Arial"/>
                        </a:rPr>
                        <a:t>of</a:t>
                      </a:r>
                      <a:endParaRPr sz="1650">
                        <a:latin typeface="Arial"/>
                        <a:cs typeface="Arial"/>
                      </a:endParaRPr>
                    </a:p>
                  </a:txBody>
                  <a:tcPr marL="0" marR="0" marT="0" marB="0"/>
                </a:tc>
                <a:tc>
                  <a:txBody>
                    <a:bodyPr/>
                    <a:lstStyle/>
                    <a:p>
                      <a:pPr algn="ctr">
                        <a:lnSpc>
                          <a:spcPts val="1880"/>
                        </a:lnSpc>
                      </a:pPr>
                      <a:r>
                        <a:rPr sz="1650" spc="204" dirty="0">
                          <a:solidFill>
                            <a:srgbClr val="0000FF"/>
                          </a:solidFill>
                          <a:latin typeface="Arial"/>
                          <a:cs typeface="Arial"/>
                        </a:rPr>
                        <a:t>visited</a:t>
                      </a:r>
                      <a:endParaRPr sz="1650">
                        <a:latin typeface="Arial"/>
                        <a:cs typeface="Arial"/>
                      </a:endParaRPr>
                    </a:p>
                  </a:txBody>
                  <a:tcPr marL="0" marR="0" marT="0" marB="0"/>
                </a:tc>
                <a:tc>
                  <a:txBody>
                    <a:bodyPr/>
                    <a:lstStyle/>
                    <a:p>
                      <a:pPr algn="ctr">
                        <a:lnSpc>
                          <a:spcPts val="1880"/>
                        </a:lnSpc>
                      </a:pPr>
                      <a:r>
                        <a:rPr sz="1650" spc="180" dirty="0">
                          <a:solidFill>
                            <a:srgbClr val="0000FF"/>
                          </a:solidFill>
                          <a:latin typeface="Arial"/>
                          <a:cs typeface="Arial"/>
                        </a:rPr>
                        <a:t>states: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4002,</a:t>
                      </a:r>
                      <a:endParaRPr sz="1650">
                        <a:latin typeface="Arial"/>
                        <a:cs typeface="Arial"/>
                      </a:endParaRPr>
                    </a:p>
                  </a:txBody>
                  <a:tcPr marL="0" marR="0" marT="0" marB="0"/>
                </a:tc>
                <a:tc>
                  <a:txBody>
                    <a:bodyPr/>
                    <a:lstStyle/>
                    <a:p>
                      <a:pPr algn="ctr">
                        <a:lnSpc>
                          <a:spcPts val="1880"/>
                        </a:lnSpc>
                      </a:pPr>
                      <a:r>
                        <a:rPr sz="1650" spc="140" dirty="0">
                          <a:solidFill>
                            <a:srgbClr val="0000FF"/>
                          </a:solidFill>
                          <a:latin typeface="Arial"/>
                          <a:cs typeface="Arial"/>
                        </a:rPr>
                        <a:t>states</a:t>
                      </a:r>
                      <a:endParaRPr sz="1650">
                        <a:latin typeface="Arial"/>
                        <a:cs typeface="Arial"/>
                      </a:endParaRPr>
                    </a:p>
                  </a:txBody>
                  <a:tcPr marL="0" marR="0" marT="0" marB="0"/>
                </a:tc>
                <a:tc>
                  <a:txBody>
                    <a:bodyPr/>
                    <a:lstStyle/>
                    <a:p>
                      <a:pPr marR="47625" algn="r">
                        <a:lnSpc>
                          <a:spcPts val="1880"/>
                        </a:lnSpc>
                      </a:pPr>
                      <a:r>
                        <a:rPr sz="1650" dirty="0">
                          <a:solidFill>
                            <a:srgbClr val="0000FF"/>
                          </a:solidFill>
                          <a:latin typeface="Arial"/>
                          <a:cs typeface="Arial"/>
                        </a:rPr>
                        <a:t>to</a:t>
                      </a:r>
                      <a:endParaRPr sz="1650">
                        <a:latin typeface="Arial"/>
                        <a:cs typeface="Arial"/>
                      </a:endParaRPr>
                    </a:p>
                  </a:txBody>
                  <a:tcPr marL="0" marR="0" marT="0" marB="0"/>
                </a:tc>
                <a:tc>
                  <a:txBody>
                    <a:bodyPr/>
                    <a:lstStyle/>
                    <a:p>
                      <a:pPr algn="ctr">
                        <a:lnSpc>
                          <a:spcPts val="1880"/>
                        </a:lnSpc>
                      </a:pPr>
                      <a:r>
                        <a:rPr sz="1650" spc="95" dirty="0">
                          <a:solidFill>
                            <a:srgbClr val="0000FF"/>
                          </a:solidFill>
                          <a:latin typeface="Arial"/>
                          <a:cs typeface="Arial"/>
                        </a:rPr>
                        <a:t>process:</a:t>
                      </a:r>
                      <a:endParaRPr sz="1650">
                        <a:latin typeface="Arial"/>
                        <a:cs typeface="Arial"/>
                      </a:endParaRPr>
                    </a:p>
                  </a:txBody>
                  <a:tcPr marL="0" marR="0" marT="0" marB="0"/>
                </a:tc>
                <a:tc>
                  <a:txBody>
                    <a:bodyPr/>
                    <a:lstStyle/>
                    <a:p>
                      <a:pPr marL="55244">
                        <a:lnSpc>
                          <a:spcPts val="1880"/>
                        </a:lnSpc>
                      </a:pPr>
                      <a:r>
                        <a:rPr sz="1650" spc="70" dirty="0">
                          <a:solidFill>
                            <a:srgbClr val="0000FF"/>
                          </a:solidFill>
                          <a:latin typeface="Arial"/>
                          <a:cs typeface="Arial"/>
                        </a:rPr>
                        <a:t>804,  </a:t>
                      </a:r>
                      <a:r>
                        <a:rPr sz="1650" spc="114" dirty="0">
                          <a:solidFill>
                            <a:srgbClr val="0000FF"/>
                          </a:solidFill>
                          <a:latin typeface="Arial"/>
                          <a:cs typeface="Arial"/>
                        </a:rPr>
                        <a:t>depth:</a:t>
                      </a:r>
                      <a:r>
                        <a:rPr sz="1650" spc="165" dirty="0">
                          <a:solidFill>
                            <a:srgbClr val="0000FF"/>
                          </a:solidFill>
                          <a:latin typeface="Arial"/>
                          <a:cs typeface="Arial"/>
                        </a:rPr>
                        <a:t> </a:t>
                      </a:r>
                      <a:r>
                        <a:rPr sz="1650" spc="-40" dirty="0">
                          <a:solidFill>
                            <a:srgbClr val="0000FF"/>
                          </a:solidFill>
                          <a:latin typeface="Arial"/>
                          <a:cs typeface="Arial"/>
                        </a:rPr>
                        <a:t>602</a:t>
                      </a:r>
                      <a:endParaRPr sz="1650">
                        <a:latin typeface="Arial"/>
                        <a:cs typeface="Arial"/>
                      </a:endParaRPr>
                    </a:p>
                  </a:txBody>
                  <a:tcPr marL="0" marR="0" marT="0" marB="0"/>
                </a:tc>
              </a:tr>
              <a:tr h="287350">
                <a:tc>
                  <a:txBody>
                    <a:bodyPr/>
                    <a:lstStyle/>
                    <a:p>
                      <a:pPr marL="22225">
                        <a:lnSpc>
                          <a:spcPts val="1880"/>
                        </a:lnSpc>
                      </a:pPr>
                      <a:r>
                        <a:rPr sz="1650" spc="-55" dirty="0">
                          <a:solidFill>
                            <a:srgbClr val="0000FF"/>
                          </a:solidFill>
                          <a:latin typeface="Arial"/>
                          <a:cs typeface="Arial"/>
                        </a:rPr>
                        <a:t>number</a:t>
                      </a:r>
                      <a:endParaRPr sz="1650">
                        <a:latin typeface="Arial"/>
                        <a:cs typeface="Arial"/>
                      </a:endParaRPr>
                    </a:p>
                  </a:txBody>
                  <a:tcPr marL="0" marR="0" marT="0" marB="0"/>
                </a:tc>
                <a:tc>
                  <a:txBody>
                    <a:bodyPr/>
                    <a:lstStyle/>
                    <a:p>
                      <a:pPr algn="ctr">
                        <a:lnSpc>
                          <a:spcPts val="1880"/>
                        </a:lnSpc>
                      </a:pPr>
                      <a:r>
                        <a:rPr sz="1650" spc="185" dirty="0">
                          <a:solidFill>
                            <a:srgbClr val="0000FF"/>
                          </a:solidFill>
                          <a:latin typeface="Arial"/>
                          <a:cs typeface="Arial"/>
                        </a:rPr>
                        <a:t>of</a:t>
                      </a:r>
                      <a:endParaRPr sz="1650">
                        <a:latin typeface="Arial"/>
                        <a:cs typeface="Arial"/>
                      </a:endParaRPr>
                    </a:p>
                  </a:txBody>
                  <a:tcPr marL="0" marR="0" marT="0" marB="0"/>
                </a:tc>
                <a:tc>
                  <a:txBody>
                    <a:bodyPr/>
                    <a:lstStyle/>
                    <a:p>
                      <a:pPr algn="ctr">
                        <a:lnSpc>
                          <a:spcPts val="1880"/>
                        </a:lnSpc>
                      </a:pPr>
                      <a:r>
                        <a:rPr sz="1650" spc="204" dirty="0">
                          <a:solidFill>
                            <a:srgbClr val="0000FF"/>
                          </a:solidFill>
                          <a:latin typeface="Arial"/>
                          <a:cs typeface="Arial"/>
                        </a:rPr>
                        <a:t>visited</a:t>
                      </a:r>
                      <a:endParaRPr sz="1650">
                        <a:latin typeface="Arial"/>
                        <a:cs typeface="Arial"/>
                      </a:endParaRPr>
                    </a:p>
                  </a:txBody>
                  <a:tcPr marL="0" marR="0" marT="0" marB="0"/>
                </a:tc>
                <a:tc>
                  <a:txBody>
                    <a:bodyPr/>
                    <a:lstStyle/>
                    <a:p>
                      <a:pPr algn="ctr">
                        <a:lnSpc>
                          <a:spcPts val="1880"/>
                        </a:lnSpc>
                      </a:pPr>
                      <a:r>
                        <a:rPr sz="1650" spc="180" dirty="0">
                          <a:solidFill>
                            <a:srgbClr val="0000FF"/>
                          </a:solidFill>
                          <a:latin typeface="Arial"/>
                          <a:cs typeface="Arial"/>
                        </a:rPr>
                        <a:t>states: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5002,</a:t>
                      </a:r>
                      <a:endParaRPr sz="1650">
                        <a:latin typeface="Arial"/>
                        <a:cs typeface="Arial"/>
                      </a:endParaRPr>
                    </a:p>
                  </a:txBody>
                  <a:tcPr marL="0" marR="0" marT="0" marB="0"/>
                </a:tc>
                <a:tc>
                  <a:txBody>
                    <a:bodyPr/>
                    <a:lstStyle/>
                    <a:p>
                      <a:pPr algn="ctr">
                        <a:lnSpc>
                          <a:spcPts val="1880"/>
                        </a:lnSpc>
                      </a:pPr>
                      <a:r>
                        <a:rPr sz="1650" spc="140" dirty="0">
                          <a:solidFill>
                            <a:srgbClr val="0000FF"/>
                          </a:solidFill>
                          <a:latin typeface="Arial"/>
                          <a:cs typeface="Arial"/>
                        </a:rPr>
                        <a:t>states</a:t>
                      </a:r>
                      <a:endParaRPr sz="1650">
                        <a:latin typeface="Arial"/>
                        <a:cs typeface="Arial"/>
                      </a:endParaRPr>
                    </a:p>
                  </a:txBody>
                  <a:tcPr marL="0" marR="0" marT="0" marB="0"/>
                </a:tc>
                <a:tc>
                  <a:txBody>
                    <a:bodyPr/>
                    <a:lstStyle/>
                    <a:p>
                      <a:pPr marR="47625" algn="r">
                        <a:lnSpc>
                          <a:spcPts val="1880"/>
                        </a:lnSpc>
                      </a:pPr>
                      <a:r>
                        <a:rPr sz="1650" dirty="0">
                          <a:solidFill>
                            <a:srgbClr val="0000FF"/>
                          </a:solidFill>
                          <a:latin typeface="Arial"/>
                          <a:cs typeface="Arial"/>
                        </a:rPr>
                        <a:t>to</a:t>
                      </a:r>
                      <a:endParaRPr sz="1650">
                        <a:latin typeface="Arial"/>
                        <a:cs typeface="Arial"/>
                      </a:endParaRPr>
                    </a:p>
                  </a:txBody>
                  <a:tcPr marL="0" marR="0" marT="0" marB="0"/>
                </a:tc>
                <a:tc>
                  <a:txBody>
                    <a:bodyPr/>
                    <a:lstStyle/>
                    <a:p>
                      <a:pPr algn="ctr">
                        <a:lnSpc>
                          <a:spcPts val="1880"/>
                        </a:lnSpc>
                      </a:pPr>
                      <a:r>
                        <a:rPr sz="1650" spc="95" dirty="0">
                          <a:solidFill>
                            <a:srgbClr val="0000FF"/>
                          </a:solidFill>
                          <a:latin typeface="Arial"/>
                          <a:cs typeface="Arial"/>
                        </a:rPr>
                        <a:t>process: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1804,  </a:t>
                      </a:r>
                      <a:r>
                        <a:rPr sz="1650" spc="114" dirty="0">
                          <a:solidFill>
                            <a:srgbClr val="0000FF"/>
                          </a:solidFill>
                          <a:latin typeface="Arial"/>
                          <a:cs typeface="Arial"/>
                        </a:rPr>
                        <a:t>depth:</a:t>
                      </a:r>
                      <a:r>
                        <a:rPr sz="1650" spc="195" dirty="0">
                          <a:solidFill>
                            <a:srgbClr val="0000FF"/>
                          </a:solidFill>
                          <a:latin typeface="Arial"/>
                          <a:cs typeface="Arial"/>
                        </a:rPr>
                        <a:t> </a:t>
                      </a:r>
                      <a:r>
                        <a:rPr sz="1650" spc="-40" dirty="0">
                          <a:solidFill>
                            <a:srgbClr val="0000FF"/>
                          </a:solidFill>
                          <a:latin typeface="Arial"/>
                          <a:cs typeface="Arial"/>
                        </a:rPr>
                        <a:t>1352</a:t>
                      </a:r>
                      <a:endParaRPr sz="1650">
                        <a:latin typeface="Arial"/>
                        <a:cs typeface="Arial"/>
                      </a:endParaRPr>
                    </a:p>
                  </a:txBody>
                  <a:tcPr marL="0" marR="0" marT="0" marB="0"/>
                </a:tc>
              </a:tr>
              <a:tr h="287293">
                <a:tc>
                  <a:txBody>
                    <a:bodyPr/>
                    <a:lstStyle/>
                    <a:p>
                      <a:pPr marL="22225">
                        <a:lnSpc>
                          <a:spcPts val="1880"/>
                        </a:lnSpc>
                      </a:pPr>
                      <a:r>
                        <a:rPr sz="1650" spc="-55" dirty="0">
                          <a:solidFill>
                            <a:srgbClr val="0000FF"/>
                          </a:solidFill>
                          <a:latin typeface="Arial"/>
                          <a:cs typeface="Arial"/>
                        </a:rPr>
                        <a:t>number</a:t>
                      </a:r>
                      <a:endParaRPr sz="1650">
                        <a:latin typeface="Arial"/>
                        <a:cs typeface="Arial"/>
                      </a:endParaRPr>
                    </a:p>
                  </a:txBody>
                  <a:tcPr marL="0" marR="0" marT="0" marB="0"/>
                </a:tc>
                <a:tc>
                  <a:txBody>
                    <a:bodyPr/>
                    <a:lstStyle/>
                    <a:p>
                      <a:pPr algn="ctr">
                        <a:lnSpc>
                          <a:spcPts val="1880"/>
                        </a:lnSpc>
                      </a:pPr>
                      <a:r>
                        <a:rPr sz="1650" spc="185" dirty="0">
                          <a:solidFill>
                            <a:srgbClr val="0000FF"/>
                          </a:solidFill>
                          <a:latin typeface="Arial"/>
                          <a:cs typeface="Arial"/>
                        </a:rPr>
                        <a:t>of</a:t>
                      </a:r>
                      <a:endParaRPr sz="1650">
                        <a:latin typeface="Arial"/>
                        <a:cs typeface="Arial"/>
                      </a:endParaRPr>
                    </a:p>
                  </a:txBody>
                  <a:tcPr marL="0" marR="0" marT="0" marB="0"/>
                </a:tc>
                <a:tc>
                  <a:txBody>
                    <a:bodyPr/>
                    <a:lstStyle/>
                    <a:p>
                      <a:pPr algn="ctr">
                        <a:lnSpc>
                          <a:spcPts val="1880"/>
                        </a:lnSpc>
                      </a:pPr>
                      <a:r>
                        <a:rPr sz="1650" spc="204" dirty="0">
                          <a:solidFill>
                            <a:srgbClr val="0000FF"/>
                          </a:solidFill>
                          <a:latin typeface="Arial"/>
                          <a:cs typeface="Arial"/>
                        </a:rPr>
                        <a:t>visited</a:t>
                      </a:r>
                      <a:endParaRPr sz="1650">
                        <a:latin typeface="Arial"/>
                        <a:cs typeface="Arial"/>
                      </a:endParaRPr>
                    </a:p>
                  </a:txBody>
                  <a:tcPr marL="0" marR="0" marT="0" marB="0"/>
                </a:tc>
                <a:tc>
                  <a:txBody>
                    <a:bodyPr/>
                    <a:lstStyle/>
                    <a:p>
                      <a:pPr algn="ctr">
                        <a:lnSpc>
                          <a:spcPts val="1880"/>
                        </a:lnSpc>
                      </a:pPr>
                      <a:r>
                        <a:rPr sz="1650" spc="180" dirty="0">
                          <a:solidFill>
                            <a:srgbClr val="0000FF"/>
                          </a:solidFill>
                          <a:latin typeface="Arial"/>
                          <a:cs typeface="Arial"/>
                        </a:rPr>
                        <a:t>states: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6002,</a:t>
                      </a:r>
                      <a:endParaRPr sz="1650">
                        <a:latin typeface="Arial"/>
                        <a:cs typeface="Arial"/>
                      </a:endParaRPr>
                    </a:p>
                  </a:txBody>
                  <a:tcPr marL="0" marR="0" marT="0" marB="0"/>
                </a:tc>
                <a:tc>
                  <a:txBody>
                    <a:bodyPr/>
                    <a:lstStyle/>
                    <a:p>
                      <a:pPr algn="ctr">
                        <a:lnSpc>
                          <a:spcPts val="1880"/>
                        </a:lnSpc>
                      </a:pPr>
                      <a:r>
                        <a:rPr sz="1650" spc="140" dirty="0">
                          <a:solidFill>
                            <a:srgbClr val="0000FF"/>
                          </a:solidFill>
                          <a:latin typeface="Arial"/>
                          <a:cs typeface="Arial"/>
                        </a:rPr>
                        <a:t>states</a:t>
                      </a:r>
                      <a:endParaRPr sz="1650">
                        <a:latin typeface="Arial"/>
                        <a:cs typeface="Arial"/>
                      </a:endParaRPr>
                    </a:p>
                  </a:txBody>
                  <a:tcPr marL="0" marR="0" marT="0" marB="0"/>
                </a:tc>
                <a:tc>
                  <a:txBody>
                    <a:bodyPr/>
                    <a:lstStyle/>
                    <a:p>
                      <a:pPr marR="47625" algn="r">
                        <a:lnSpc>
                          <a:spcPts val="1880"/>
                        </a:lnSpc>
                      </a:pPr>
                      <a:r>
                        <a:rPr sz="1650" dirty="0">
                          <a:solidFill>
                            <a:srgbClr val="0000FF"/>
                          </a:solidFill>
                          <a:latin typeface="Arial"/>
                          <a:cs typeface="Arial"/>
                        </a:rPr>
                        <a:t>to</a:t>
                      </a:r>
                      <a:endParaRPr sz="1650">
                        <a:latin typeface="Arial"/>
                        <a:cs typeface="Arial"/>
                      </a:endParaRPr>
                    </a:p>
                  </a:txBody>
                  <a:tcPr marL="0" marR="0" marT="0" marB="0"/>
                </a:tc>
                <a:tc>
                  <a:txBody>
                    <a:bodyPr/>
                    <a:lstStyle/>
                    <a:p>
                      <a:pPr algn="ctr">
                        <a:lnSpc>
                          <a:spcPts val="1880"/>
                        </a:lnSpc>
                      </a:pPr>
                      <a:r>
                        <a:rPr sz="1650" spc="95" dirty="0">
                          <a:solidFill>
                            <a:srgbClr val="0000FF"/>
                          </a:solidFill>
                          <a:latin typeface="Arial"/>
                          <a:cs typeface="Arial"/>
                        </a:rPr>
                        <a:t>process:</a:t>
                      </a:r>
                      <a:endParaRPr sz="1650">
                        <a:latin typeface="Arial"/>
                        <a:cs typeface="Arial"/>
                      </a:endParaRPr>
                    </a:p>
                  </a:txBody>
                  <a:tcPr marL="0" marR="0" marT="0" marB="0"/>
                </a:tc>
                <a:tc>
                  <a:txBody>
                    <a:bodyPr/>
                    <a:lstStyle/>
                    <a:p>
                      <a:pPr marL="55244">
                        <a:lnSpc>
                          <a:spcPts val="1880"/>
                        </a:lnSpc>
                      </a:pPr>
                      <a:r>
                        <a:rPr sz="1650" spc="50" dirty="0">
                          <a:solidFill>
                            <a:srgbClr val="0000FF"/>
                          </a:solidFill>
                          <a:latin typeface="Arial"/>
                          <a:cs typeface="Arial"/>
                        </a:rPr>
                        <a:t>2804,  </a:t>
                      </a:r>
                      <a:r>
                        <a:rPr sz="1650" spc="114" dirty="0">
                          <a:solidFill>
                            <a:srgbClr val="0000FF"/>
                          </a:solidFill>
                          <a:latin typeface="Arial"/>
                          <a:cs typeface="Arial"/>
                        </a:rPr>
                        <a:t>depth:</a:t>
                      </a:r>
                      <a:r>
                        <a:rPr sz="1650" spc="195" dirty="0">
                          <a:solidFill>
                            <a:srgbClr val="0000FF"/>
                          </a:solidFill>
                          <a:latin typeface="Arial"/>
                          <a:cs typeface="Arial"/>
                        </a:rPr>
                        <a:t> </a:t>
                      </a:r>
                      <a:r>
                        <a:rPr sz="1650" spc="-40" dirty="0">
                          <a:solidFill>
                            <a:srgbClr val="0000FF"/>
                          </a:solidFill>
                          <a:latin typeface="Arial"/>
                          <a:cs typeface="Arial"/>
                        </a:rPr>
                        <a:t>2102</a:t>
                      </a:r>
                      <a:endParaRPr sz="1650">
                        <a:latin typeface="Arial"/>
                        <a:cs typeface="Arial"/>
                      </a:endParaRPr>
                    </a:p>
                  </a:txBody>
                  <a:tcPr marL="0" marR="0" marT="0" marB="0"/>
                </a:tc>
              </a:tr>
              <a:tr h="300602">
                <a:tc>
                  <a:txBody>
                    <a:bodyPr/>
                    <a:lstStyle/>
                    <a:p>
                      <a:pPr marL="22225">
                        <a:lnSpc>
                          <a:spcPts val="1880"/>
                        </a:lnSpc>
                      </a:pPr>
                      <a:r>
                        <a:rPr sz="1650" spc="-55" dirty="0">
                          <a:solidFill>
                            <a:srgbClr val="0000FF"/>
                          </a:solidFill>
                          <a:latin typeface="Arial"/>
                          <a:cs typeface="Arial"/>
                        </a:rPr>
                        <a:t>number</a:t>
                      </a:r>
                      <a:endParaRPr sz="1650">
                        <a:latin typeface="Arial"/>
                        <a:cs typeface="Arial"/>
                      </a:endParaRPr>
                    </a:p>
                  </a:txBody>
                  <a:tcPr marL="0" marR="0" marT="0" marB="0"/>
                </a:tc>
                <a:tc>
                  <a:txBody>
                    <a:bodyPr/>
                    <a:lstStyle/>
                    <a:p>
                      <a:pPr algn="ctr">
                        <a:lnSpc>
                          <a:spcPts val="1880"/>
                        </a:lnSpc>
                      </a:pPr>
                      <a:r>
                        <a:rPr sz="1650" spc="185" dirty="0">
                          <a:solidFill>
                            <a:srgbClr val="0000FF"/>
                          </a:solidFill>
                          <a:latin typeface="Arial"/>
                          <a:cs typeface="Arial"/>
                        </a:rPr>
                        <a:t>of</a:t>
                      </a:r>
                      <a:endParaRPr sz="1650">
                        <a:latin typeface="Arial"/>
                        <a:cs typeface="Arial"/>
                      </a:endParaRPr>
                    </a:p>
                  </a:txBody>
                  <a:tcPr marL="0" marR="0" marT="0" marB="0"/>
                </a:tc>
                <a:tc>
                  <a:txBody>
                    <a:bodyPr/>
                    <a:lstStyle/>
                    <a:p>
                      <a:pPr algn="ctr">
                        <a:lnSpc>
                          <a:spcPts val="1880"/>
                        </a:lnSpc>
                      </a:pPr>
                      <a:r>
                        <a:rPr sz="1650" spc="204" dirty="0">
                          <a:solidFill>
                            <a:srgbClr val="0000FF"/>
                          </a:solidFill>
                          <a:latin typeface="Arial"/>
                          <a:cs typeface="Arial"/>
                        </a:rPr>
                        <a:t>visited</a:t>
                      </a:r>
                      <a:endParaRPr sz="1650">
                        <a:latin typeface="Arial"/>
                        <a:cs typeface="Arial"/>
                      </a:endParaRPr>
                    </a:p>
                  </a:txBody>
                  <a:tcPr marL="0" marR="0" marT="0" marB="0"/>
                </a:tc>
                <a:tc>
                  <a:txBody>
                    <a:bodyPr/>
                    <a:lstStyle/>
                    <a:p>
                      <a:pPr algn="ctr">
                        <a:lnSpc>
                          <a:spcPts val="1880"/>
                        </a:lnSpc>
                      </a:pPr>
                      <a:r>
                        <a:rPr sz="1650" spc="180" dirty="0">
                          <a:solidFill>
                            <a:srgbClr val="0000FF"/>
                          </a:solidFill>
                          <a:latin typeface="Arial"/>
                          <a:cs typeface="Arial"/>
                        </a:rPr>
                        <a:t>states:</a:t>
                      </a:r>
                      <a:endParaRPr sz="1650">
                        <a:latin typeface="Arial"/>
                        <a:cs typeface="Arial"/>
                      </a:endParaRPr>
                    </a:p>
                  </a:txBody>
                  <a:tcPr marL="0" marR="0" marT="0" marB="0"/>
                </a:tc>
                <a:tc>
                  <a:txBody>
                    <a:bodyPr/>
                    <a:lstStyle/>
                    <a:p>
                      <a:pPr marL="55244">
                        <a:lnSpc>
                          <a:spcPts val="1880"/>
                        </a:lnSpc>
                      </a:pPr>
                      <a:r>
                        <a:rPr sz="1650" spc="-40" dirty="0">
                          <a:solidFill>
                            <a:srgbClr val="0000FF"/>
                          </a:solidFill>
                          <a:latin typeface="Arial"/>
                          <a:cs typeface="Arial"/>
                        </a:rPr>
                        <a:t>6397</a:t>
                      </a:r>
                      <a:endParaRPr sz="1650">
                        <a:latin typeface="Arial"/>
                        <a:cs typeface="Arial"/>
                      </a:endParaRPr>
                    </a:p>
                  </a:txBody>
                  <a:tcPr marL="0" marR="0" marT="0" marB="0"/>
                </a:tc>
                <a:tc>
                  <a:txBody>
                    <a:bodyPr/>
                    <a:lstStyle/>
                    <a:p>
                      <a:endParaRPr sz="1650">
                        <a:latin typeface="Arial"/>
                        <a:cs typeface="Arial"/>
                      </a:endParaRPr>
                    </a:p>
                  </a:txBody>
                  <a:tcPr marL="0" marR="0" marT="0" marB="0"/>
                </a:tc>
                <a:tc>
                  <a:txBody>
                    <a:bodyPr/>
                    <a:lstStyle/>
                    <a:p>
                      <a:endParaRPr sz="1650">
                        <a:latin typeface="Arial"/>
                        <a:cs typeface="Arial"/>
                      </a:endParaRPr>
                    </a:p>
                  </a:txBody>
                  <a:tcPr marL="0" marR="0" marT="0" marB="0"/>
                </a:tc>
                <a:tc>
                  <a:txBody>
                    <a:bodyPr/>
                    <a:lstStyle/>
                    <a:p>
                      <a:endParaRPr sz="1650">
                        <a:latin typeface="Arial"/>
                        <a:cs typeface="Arial"/>
                      </a:endParaRPr>
                    </a:p>
                  </a:txBody>
                  <a:tcPr marL="0" marR="0" marT="0" marB="0"/>
                </a:tc>
                <a:tc>
                  <a:txBody>
                    <a:bodyPr/>
                    <a:lstStyle/>
                    <a:p>
                      <a:endParaRPr sz="1650">
                        <a:latin typeface="Arial"/>
                        <a:cs typeface="Arial"/>
                      </a:endParaRPr>
                    </a:p>
                  </a:txBody>
                  <a:tcPr marL="0" marR="0" marT="0" marB="0"/>
                </a:tc>
              </a:tr>
            </a:tbl>
          </a:graphicData>
        </a:graphic>
      </p:graphicFrame>
      <p:sp>
        <p:nvSpPr>
          <p:cNvPr id="6" name="object 6"/>
          <p:cNvSpPr txBox="1"/>
          <p:nvPr/>
        </p:nvSpPr>
        <p:spPr>
          <a:xfrm>
            <a:off x="896440" y="4994803"/>
            <a:ext cx="7820659" cy="1352550"/>
          </a:xfrm>
          <a:prstGeom prst="rect">
            <a:avLst/>
          </a:prstGeom>
        </p:spPr>
        <p:txBody>
          <a:bodyPr vert="horz" wrap="square" lIns="0" tIns="0" rIns="0" bIns="0" rtlCol="0">
            <a:spAutoFit/>
          </a:bodyPr>
          <a:lstStyle/>
          <a:p>
            <a:pPr marL="300990" marR="4166235" indent="222885">
              <a:lnSpc>
                <a:spcPct val="114300"/>
              </a:lnSpc>
            </a:pPr>
            <a:r>
              <a:rPr sz="1650" spc="220" dirty="0">
                <a:solidFill>
                  <a:srgbClr val="0000FF"/>
                </a:solidFill>
                <a:latin typeface="Arial"/>
                <a:cs typeface="Arial"/>
              </a:rPr>
              <a:t>verification </a:t>
            </a:r>
            <a:r>
              <a:rPr sz="1650" spc="160" dirty="0">
                <a:solidFill>
                  <a:srgbClr val="0000FF"/>
                </a:solidFill>
                <a:latin typeface="Arial"/>
                <a:cs typeface="Arial"/>
              </a:rPr>
              <a:t>time: </a:t>
            </a:r>
            <a:r>
              <a:rPr sz="1650" spc="70" dirty="0">
                <a:solidFill>
                  <a:srgbClr val="0000FF"/>
                </a:solidFill>
                <a:latin typeface="Arial"/>
                <a:cs typeface="Arial"/>
              </a:rPr>
              <a:t>0.54 </a:t>
            </a:r>
            <a:r>
              <a:rPr sz="1650" spc="25" dirty="0">
                <a:solidFill>
                  <a:srgbClr val="0000FF"/>
                </a:solidFill>
                <a:latin typeface="Arial"/>
                <a:cs typeface="Arial"/>
              </a:rPr>
              <a:t>secs  </a:t>
            </a:r>
            <a:r>
              <a:rPr sz="1650" spc="90" dirty="0">
                <a:solidFill>
                  <a:srgbClr val="0000FF"/>
                </a:solidFill>
                <a:latin typeface="Arial"/>
                <a:cs typeface="Arial"/>
              </a:rPr>
              <a:t>proved.</a:t>
            </a:r>
            <a:endParaRPr sz="1650">
              <a:latin typeface="Arial"/>
              <a:cs typeface="Arial"/>
            </a:endParaRPr>
          </a:p>
          <a:p>
            <a:pPr marL="300990" marR="5080" indent="-288290">
              <a:lnSpc>
                <a:spcPct val="123000"/>
              </a:lnSpc>
              <a:spcBef>
                <a:spcPts val="55"/>
              </a:spcBef>
              <a:buSzPct val="105128"/>
              <a:buFont typeface="Lucida Sans Unicode"/>
              <a:buChar char="•"/>
              <a:tabLst>
                <a:tab pos="301625" algn="l"/>
              </a:tabLst>
            </a:pPr>
            <a:r>
              <a:rPr sz="1950" spc="155" dirty="0">
                <a:solidFill>
                  <a:srgbClr val="231F20"/>
                </a:solidFill>
                <a:latin typeface="Arial"/>
                <a:cs typeface="Arial"/>
              </a:rPr>
              <a:t>For </a:t>
            </a:r>
            <a:r>
              <a:rPr sz="2050" spc="55" dirty="0">
                <a:solidFill>
                  <a:srgbClr val="FF0000"/>
                </a:solidFill>
                <a:latin typeface="SimSun"/>
                <a:cs typeface="SimSun"/>
              </a:rPr>
              <a:t>max = </a:t>
            </a:r>
            <a:r>
              <a:rPr sz="2050" spc="70" dirty="0">
                <a:solidFill>
                  <a:srgbClr val="FF0000"/>
                </a:solidFill>
                <a:latin typeface="SimSun"/>
                <a:cs typeface="SimSun"/>
              </a:rPr>
              <a:t>8000</a:t>
            </a:r>
            <a:r>
              <a:rPr sz="1950" spc="70" dirty="0">
                <a:solidFill>
                  <a:srgbClr val="231F20"/>
                </a:solidFill>
                <a:latin typeface="Arial"/>
                <a:cs typeface="Arial"/>
              </a:rPr>
              <a:t>, </a:t>
            </a:r>
            <a:r>
              <a:rPr sz="1950" spc="170" dirty="0">
                <a:solidFill>
                  <a:srgbClr val="231F20"/>
                </a:solidFill>
                <a:latin typeface="Arial"/>
                <a:cs typeface="Arial"/>
              </a:rPr>
              <a:t>number </a:t>
            </a:r>
            <a:r>
              <a:rPr sz="1950" spc="185" dirty="0">
                <a:solidFill>
                  <a:srgbClr val="231F20"/>
                </a:solidFill>
                <a:latin typeface="Arial"/>
                <a:cs typeface="Arial"/>
              </a:rPr>
              <a:t>of </a:t>
            </a:r>
            <a:r>
              <a:rPr sz="1950" spc="120" dirty="0">
                <a:solidFill>
                  <a:srgbClr val="231F20"/>
                </a:solidFill>
                <a:latin typeface="Arial"/>
                <a:cs typeface="Arial"/>
              </a:rPr>
              <a:t>visited </a:t>
            </a:r>
            <a:r>
              <a:rPr sz="1950" spc="125" dirty="0">
                <a:solidFill>
                  <a:srgbClr val="231F20"/>
                </a:solidFill>
                <a:latin typeface="Arial"/>
                <a:cs typeface="Arial"/>
              </a:rPr>
              <a:t>states grows </a:t>
            </a:r>
            <a:r>
              <a:rPr sz="1950" spc="250" dirty="0">
                <a:solidFill>
                  <a:srgbClr val="231F20"/>
                </a:solidFill>
                <a:latin typeface="Arial"/>
                <a:cs typeface="Arial"/>
              </a:rPr>
              <a:t>to </a:t>
            </a:r>
            <a:r>
              <a:rPr sz="1950" spc="150" dirty="0">
                <a:solidFill>
                  <a:srgbClr val="FF0000"/>
                </a:solidFill>
                <a:latin typeface="Arial"/>
                <a:cs typeface="Arial"/>
              </a:rPr>
              <a:t>63,997</a:t>
            </a:r>
            <a:r>
              <a:rPr sz="1950" spc="150" dirty="0">
                <a:solidFill>
                  <a:srgbClr val="231F20"/>
                </a:solidFill>
                <a:latin typeface="Arial"/>
                <a:cs typeface="Arial"/>
              </a:rPr>
              <a:t>,  </a:t>
            </a:r>
            <a:r>
              <a:rPr sz="1950" spc="130" dirty="0">
                <a:solidFill>
                  <a:srgbClr val="231F20"/>
                </a:solidFill>
                <a:latin typeface="Arial"/>
                <a:cs typeface="Arial"/>
              </a:rPr>
              <a:t>and </a:t>
            </a:r>
            <a:r>
              <a:rPr sz="1950" spc="195" dirty="0">
                <a:solidFill>
                  <a:srgbClr val="231F20"/>
                </a:solidFill>
                <a:latin typeface="Arial"/>
                <a:cs typeface="Arial"/>
              </a:rPr>
              <a:t>time </a:t>
            </a:r>
            <a:r>
              <a:rPr sz="1950" spc="250" dirty="0">
                <a:solidFill>
                  <a:srgbClr val="231F20"/>
                </a:solidFill>
                <a:latin typeface="Arial"/>
                <a:cs typeface="Arial"/>
              </a:rPr>
              <a:t>to </a:t>
            </a:r>
            <a:r>
              <a:rPr sz="1950" spc="150" dirty="0">
                <a:solidFill>
                  <a:srgbClr val="FF0000"/>
                </a:solidFill>
                <a:latin typeface="Arial"/>
                <a:cs typeface="Arial"/>
              </a:rPr>
              <a:t>23.86</a:t>
            </a:r>
            <a:r>
              <a:rPr sz="1950" spc="490" dirty="0">
                <a:solidFill>
                  <a:srgbClr val="FF0000"/>
                </a:solidFill>
                <a:latin typeface="Arial"/>
                <a:cs typeface="Arial"/>
              </a:rPr>
              <a:t> </a:t>
            </a:r>
            <a:r>
              <a:rPr sz="1950" spc="20" dirty="0">
                <a:solidFill>
                  <a:srgbClr val="231F20"/>
                </a:solidFill>
                <a:latin typeface="Arial"/>
                <a:cs typeface="Arial"/>
              </a:rPr>
              <a:t>secs</a:t>
            </a:r>
            <a:endParaRPr sz="1950">
              <a:latin typeface="Arial"/>
              <a:cs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39" y="596800"/>
            <a:ext cx="8260715" cy="5572125"/>
          </a:xfrm>
          <a:prstGeom prst="rect">
            <a:avLst/>
          </a:prstGeom>
        </p:spPr>
        <p:txBody>
          <a:bodyPr vert="horz" wrap="square" lIns="0" tIns="0" rIns="0" bIns="0" rtlCol="0">
            <a:spAutoFit/>
          </a:bodyPr>
          <a:lstStyle/>
          <a:p>
            <a:pPr marL="5080" algn="ctr">
              <a:lnSpc>
                <a:spcPct val="100000"/>
              </a:lnSpc>
            </a:pPr>
            <a:r>
              <a:rPr sz="1950" spc="305" dirty="0">
                <a:solidFill>
                  <a:srgbClr val="231F20"/>
                </a:solidFill>
                <a:latin typeface="Arial"/>
                <a:cs typeface="Arial"/>
              </a:rPr>
              <a:t>More </a:t>
            </a:r>
            <a:r>
              <a:rPr sz="1950" spc="250" dirty="0">
                <a:solidFill>
                  <a:srgbClr val="231F20"/>
                </a:solidFill>
                <a:latin typeface="Arial"/>
                <a:cs typeface="Arial"/>
              </a:rPr>
              <a:t>Explicit </a:t>
            </a:r>
            <a:r>
              <a:rPr sz="1950" spc="285" dirty="0">
                <a:solidFill>
                  <a:srgbClr val="231F20"/>
                </a:solidFill>
                <a:latin typeface="Arial"/>
                <a:cs typeface="Arial"/>
              </a:rPr>
              <a:t>State</a:t>
            </a:r>
            <a:r>
              <a:rPr sz="1950" spc="495" dirty="0">
                <a:solidFill>
                  <a:srgbClr val="231F20"/>
                </a:solidFill>
                <a:latin typeface="Arial"/>
                <a:cs typeface="Arial"/>
              </a:rPr>
              <a:t> </a:t>
            </a:r>
            <a:r>
              <a:rPr sz="1950" spc="225" dirty="0">
                <a:solidFill>
                  <a:srgbClr val="231F20"/>
                </a:solidFill>
                <a:latin typeface="Arial"/>
                <a:cs typeface="Arial"/>
              </a:rPr>
              <a:t>Checks</a:t>
            </a:r>
            <a:endParaRPr sz="1950">
              <a:latin typeface="Arial"/>
              <a:cs typeface="Arial"/>
            </a:endParaRPr>
          </a:p>
          <a:p>
            <a:pPr>
              <a:lnSpc>
                <a:spcPct val="100000"/>
              </a:lnSpc>
              <a:spcBef>
                <a:spcPts val="32"/>
              </a:spcBef>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45" dirty="0">
                <a:solidFill>
                  <a:srgbClr val="0000FF"/>
                </a:solidFill>
                <a:latin typeface="Arial"/>
                <a:cs typeface="Arial"/>
              </a:rPr>
              <a:t>Sometimes </a:t>
            </a:r>
            <a:r>
              <a:rPr sz="1950" spc="125" dirty="0">
                <a:solidFill>
                  <a:srgbClr val="0000FF"/>
                </a:solidFill>
                <a:latin typeface="Arial"/>
                <a:cs typeface="Arial"/>
              </a:rPr>
              <a:t>properties </a:t>
            </a:r>
            <a:r>
              <a:rPr sz="1950" spc="65" dirty="0">
                <a:solidFill>
                  <a:srgbClr val="0000FF"/>
                </a:solidFill>
                <a:latin typeface="Arial"/>
                <a:cs typeface="Arial"/>
              </a:rPr>
              <a:t>are </a:t>
            </a:r>
            <a:r>
              <a:rPr sz="1950" spc="170" dirty="0">
                <a:solidFill>
                  <a:srgbClr val="0000FF"/>
                </a:solidFill>
                <a:latin typeface="Arial"/>
                <a:cs typeface="Arial"/>
              </a:rPr>
              <a:t>true </a:t>
            </a:r>
            <a:r>
              <a:rPr sz="1950" spc="155" dirty="0">
                <a:solidFill>
                  <a:srgbClr val="0000FF"/>
                </a:solidFill>
                <a:latin typeface="Arial"/>
                <a:cs typeface="Arial"/>
              </a:rPr>
              <a:t>for </a:t>
            </a:r>
            <a:r>
              <a:rPr sz="1950" spc="175" dirty="0">
                <a:solidFill>
                  <a:srgbClr val="0000FF"/>
                </a:solidFill>
                <a:latin typeface="Arial"/>
                <a:cs typeface="Arial"/>
              </a:rPr>
              <a:t>the wrong </a:t>
            </a:r>
            <a:r>
              <a:rPr sz="1950" spc="415" dirty="0">
                <a:solidFill>
                  <a:srgbClr val="0000FF"/>
                </a:solidFill>
                <a:latin typeface="Arial"/>
                <a:cs typeface="Arial"/>
              </a:rPr>
              <a:t> </a:t>
            </a:r>
            <a:r>
              <a:rPr sz="1950" spc="90" dirty="0">
                <a:solidFill>
                  <a:srgbClr val="0000FF"/>
                </a:solidFill>
                <a:latin typeface="Arial"/>
                <a:cs typeface="Arial"/>
              </a:rPr>
              <a:t>reason</a:t>
            </a:r>
            <a:endParaRPr sz="1950">
              <a:latin typeface="Arial"/>
              <a:cs typeface="Arial"/>
            </a:endParaRPr>
          </a:p>
          <a:p>
            <a:pPr marL="300990" marR="90805" indent="-288290">
              <a:lnSpc>
                <a:spcPct val="125000"/>
              </a:lnSpc>
              <a:spcBef>
                <a:spcPts val="1340"/>
              </a:spcBef>
              <a:buSzPct val="105128"/>
              <a:buFont typeface="Lucida Sans Unicode"/>
              <a:buChar char="•"/>
              <a:tabLst>
                <a:tab pos="301625" algn="l"/>
              </a:tabLst>
            </a:pPr>
            <a:r>
              <a:rPr sz="1950" spc="220" dirty="0">
                <a:solidFill>
                  <a:srgbClr val="231F20"/>
                </a:solidFill>
                <a:latin typeface="Arial"/>
                <a:cs typeface="Arial"/>
              </a:rPr>
              <a:t>It </a:t>
            </a:r>
            <a:r>
              <a:rPr sz="1950" spc="40" dirty="0">
                <a:solidFill>
                  <a:srgbClr val="231F20"/>
                </a:solidFill>
                <a:latin typeface="Arial"/>
                <a:cs typeface="Arial"/>
              </a:rPr>
              <a:t>is </a:t>
            </a:r>
            <a:r>
              <a:rPr sz="1950" spc="155" dirty="0">
                <a:solidFill>
                  <a:srgbClr val="231F20"/>
                </a:solidFill>
                <a:latin typeface="Arial"/>
                <a:cs typeface="Arial"/>
              </a:rPr>
              <a:t>prudent </a:t>
            </a:r>
            <a:r>
              <a:rPr sz="1950" spc="250" dirty="0">
                <a:solidFill>
                  <a:srgbClr val="231F20"/>
                </a:solidFill>
                <a:latin typeface="Arial"/>
                <a:cs typeface="Arial"/>
              </a:rPr>
              <a:t>to </a:t>
            </a:r>
            <a:r>
              <a:rPr sz="1950" spc="160" dirty="0">
                <a:solidFill>
                  <a:srgbClr val="231F20"/>
                </a:solidFill>
                <a:latin typeface="Arial"/>
                <a:cs typeface="Arial"/>
              </a:rPr>
              <a:t>introduce </a:t>
            </a:r>
            <a:r>
              <a:rPr sz="1950" spc="85" dirty="0">
                <a:solidFill>
                  <a:srgbClr val="231F20"/>
                </a:solidFill>
                <a:latin typeface="Arial"/>
                <a:cs typeface="Arial"/>
              </a:rPr>
              <a:t>a </a:t>
            </a:r>
            <a:r>
              <a:rPr sz="1950" spc="155" dirty="0">
                <a:solidFill>
                  <a:srgbClr val="231F20"/>
                </a:solidFill>
                <a:latin typeface="Arial"/>
                <a:cs typeface="Arial"/>
              </a:rPr>
              <a:t>bug </a:t>
            </a:r>
            <a:r>
              <a:rPr sz="1950" spc="130" dirty="0">
                <a:solidFill>
                  <a:srgbClr val="231F20"/>
                </a:solidFill>
                <a:latin typeface="Arial"/>
                <a:cs typeface="Arial"/>
              </a:rPr>
              <a:t>and make </a:t>
            </a:r>
            <a:r>
              <a:rPr sz="1950" spc="80" dirty="0">
                <a:solidFill>
                  <a:srgbClr val="231F20"/>
                </a:solidFill>
                <a:latin typeface="Arial"/>
                <a:cs typeface="Arial"/>
              </a:rPr>
              <a:t>sure </a:t>
            </a:r>
            <a:r>
              <a:rPr sz="1950" spc="229" dirty="0">
                <a:solidFill>
                  <a:srgbClr val="231F20"/>
                </a:solidFill>
                <a:latin typeface="Arial"/>
                <a:cs typeface="Arial"/>
              </a:rPr>
              <a:t>it </a:t>
            </a:r>
            <a:r>
              <a:rPr sz="1950" spc="40" dirty="0">
                <a:solidFill>
                  <a:srgbClr val="231F20"/>
                </a:solidFill>
                <a:latin typeface="Arial"/>
                <a:cs typeface="Arial"/>
              </a:rPr>
              <a:t>is </a:t>
            </a:r>
            <a:r>
              <a:rPr sz="1950" spc="145" dirty="0">
                <a:solidFill>
                  <a:srgbClr val="231F20"/>
                </a:solidFill>
                <a:latin typeface="Arial"/>
                <a:cs typeface="Arial"/>
              </a:rPr>
              <a:t>detected  </a:t>
            </a:r>
            <a:r>
              <a:rPr sz="1950" spc="120" dirty="0">
                <a:solidFill>
                  <a:srgbClr val="231F20"/>
                </a:solidFill>
                <a:latin typeface="Arial"/>
                <a:cs typeface="Arial"/>
              </a:rPr>
              <a:t>before </a:t>
            </a:r>
            <a:r>
              <a:rPr sz="1950" spc="110" dirty="0">
                <a:solidFill>
                  <a:srgbClr val="231F20"/>
                </a:solidFill>
                <a:latin typeface="Arial"/>
                <a:cs typeface="Arial"/>
              </a:rPr>
              <a:t>declaring</a:t>
            </a:r>
            <a:r>
              <a:rPr sz="1950" spc="390" dirty="0">
                <a:solidFill>
                  <a:srgbClr val="231F20"/>
                </a:solidFill>
                <a:latin typeface="Arial"/>
                <a:cs typeface="Arial"/>
              </a:rPr>
              <a:t> </a:t>
            </a:r>
            <a:r>
              <a:rPr sz="1950" spc="155" dirty="0">
                <a:solidFill>
                  <a:srgbClr val="231F20"/>
                </a:solidFill>
                <a:latin typeface="Arial"/>
                <a:cs typeface="Arial"/>
              </a:rPr>
              <a:t>victory</a:t>
            </a:r>
            <a:endParaRPr sz="1950">
              <a:latin typeface="Arial"/>
              <a:cs typeface="Arial"/>
            </a:endParaRPr>
          </a:p>
          <a:p>
            <a:pPr marL="741680" marR="414020" lvl="1" indent="-288290">
              <a:lnSpc>
                <a:spcPct val="123000"/>
              </a:lnSpc>
              <a:spcBef>
                <a:spcPts val="434"/>
              </a:spcBef>
              <a:buSzPct val="105128"/>
              <a:buFont typeface="Lucida Sans Unicode"/>
              <a:buChar char="◦"/>
              <a:tabLst>
                <a:tab pos="742315" algn="l"/>
              </a:tabLst>
            </a:pPr>
            <a:r>
              <a:rPr sz="1950" spc="195" dirty="0">
                <a:solidFill>
                  <a:srgbClr val="231F20"/>
                </a:solidFill>
                <a:latin typeface="Arial"/>
                <a:cs typeface="Arial"/>
              </a:rPr>
              <a:t>We </a:t>
            </a:r>
            <a:r>
              <a:rPr sz="1950" spc="120" dirty="0">
                <a:solidFill>
                  <a:srgbClr val="231F20"/>
                </a:solidFill>
                <a:latin typeface="Arial"/>
                <a:cs typeface="Arial"/>
              </a:rPr>
              <a:t>can </a:t>
            </a:r>
            <a:r>
              <a:rPr sz="1950" spc="130" dirty="0">
                <a:solidFill>
                  <a:srgbClr val="231F20"/>
                </a:solidFill>
                <a:latin typeface="Arial"/>
                <a:cs typeface="Arial"/>
              </a:rPr>
              <a:t>remove </a:t>
            </a:r>
            <a:r>
              <a:rPr sz="1950" spc="175" dirty="0">
                <a:solidFill>
                  <a:srgbClr val="231F20"/>
                </a:solidFill>
                <a:latin typeface="Arial"/>
                <a:cs typeface="Arial"/>
              </a:rPr>
              <a:t>the </a:t>
            </a:r>
            <a:r>
              <a:rPr sz="2050" spc="55" dirty="0">
                <a:solidFill>
                  <a:srgbClr val="231F20"/>
                </a:solidFill>
                <a:latin typeface="SimSun"/>
                <a:cs typeface="SimSun"/>
              </a:rPr>
              <a:t>+1 </a:t>
            </a:r>
            <a:r>
              <a:rPr sz="1950" spc="170" dirty="0">
                <a:solidFill>
                  <a:srgbClr val="231F20"/>
                </a:solidFill>
                <a:latin typeface="Arial"/>
                <a:cs typeface="Arial"/>
              </a:rPr>
              <a:t>adjustment </a:t>
            </a:r>
            <a:r>
              <a:rPr sz="1950" spc="250" dirty="0">
                <a:solidFill>
                  <a:srgbClr val="231F20"/>
                </a:solidFill>
                <a:latin typeface="Arial"/>
                <a:cs typeface="Arial"/>
              </a:rPr>
              <a:t>to </a:t>
            </a:r>
            <a:r>
              <a:rPr sz="1950" spc="150" dirty="0">
                <a:solidFill>
                  <a:srgbClr val="231F20"/>
                </a:solidFill>
                <a:latin typeface="Arial"/>
                <a:cs typeface="Arial"/>
              </a:rPr>
              <a:t>tickets </a:t>
            </a:r>
            <a:r>
              <a:rPr sz="1950" spc="130" dirty="0">
                <a:solidFill>
                  <a:srgbClr val="231F20"/>
                </a:solidFill>
                <a:latin typeface="Arial"/>
                <a:cs typeface="Arial"/>
              </a:rPr>
              <a:t>and </a:t>
            </a:r>
            <a:r>
              <a:rPr sz="1950" spc="170" dirty="0">
                <a:solidFill>
                  <a:srgbClr val="231F20"/>
                </a:solidFill>
                <a:latin typeface="Arial"/>
                <a:cs typeface="Arial"/>
              </a:rPr>
              <a:t>get </a:t>
            </a:r>
            <a:r>
              <a:rPr sz="1950" spc="85" dirty="0">
                <a:solidFill>
                  <a:srgbClr val="231F20"/>
                </a:solidFill>
                <a:latin typeface="Arial"/>
                <a:cs typeface="Arial"/>
              </a:rPr>
              <a:t>a  </a:t>
            </a:r>
            <a:r>
              <a:rPr sz="1950" spc="135" dirty="0">
                <a:solidFill>
                  <a:srgbClr val="231F20"/>
                </a:solidFill>
                <a:latin typeface="Arial"/>
                <a:cs typeface="Arial"/>
              </a:rPr>
              <a:t>counterexample </a:t>
            </a:r>
            <a:r>
              <a:rPr sz="1950" spc="30" dirty="0">
                <a:solidFill>
                  <a:srgbClr val="231F20"/>
                </a:solidFill>
                <a:latin typeface="Arial"/>
                <a:cs typeface="Arial"/>
              </a:rPr>
              <a:t>as</a:t>
            </a:r>
            <a:r>
              <a:rPr sz="1950" spc="385" dirty="0">
                <a:solidFill>
                  <a:srgbClr val="231F20"/>
                </a:solidFill>
                <a:latin typeface="Arial"/>
                <a:cs typeface="Arial"/>
              </a:rPr>
              <a:t> </a:t>
            </a:r>
            <a:r>
              <a:rPr sz="1950" spc="120" dirty="0">
                <a:solidFill>
                  <a:srgbClr val="231F20"/>
                </a:solidFill>
                <a:latin typeface="Arial"/>
                <a:cs typeface="Arial"/>
              </a:rPr>
              <a:t>before</a:t>
            </a:r>
            <a:endParaRPr sz="1950">
              <a:latin typeface="Arial"/>
              <a:cs typeface="Arial"/>
            </a:endParaRPr>
          </a:p>
          <a:p>
            <a:pPr marL="300990" marR="508000" indent="-288290">
              <a:lnSpc>
                <a:spcPct val="125000"/>
              </a:lnSpc>
              <a:spcBef>
                <a:spcPts val="1345"/>
              </a:spcBef>
              <a:buSzPct val="105128"/>
              <a:buFont typeface="Lucida Sans Unicode"/>
              <a:buChar char="•"/>
              <a:tabLst>
                <a:tab pos="301625" algn="l"/>
              </a:tabLst>
            </a:pPr>
            <a:r>
              <a:rPr sz="1950" spc="195" dirty="0">
                <a:solidFill>
                  <a:srgbClr val="231F20"/>
                </a:solidFill>
                <a:latin typeface="Arial"/>
                <a:cs typeface="Arial"/>
              </a:rPr>
              <a:t>We </a:t>
            </a:r>
            <a:r>
              <a:rPr sz="1950" spc="120" dirty="0">
                <a:solidFill>
                  <a:srgbClr val="231F20"/>
                </a:solidFill>
                <a:latin typeface="Arial"/>
                <a:cs typeface="Arial"/>
              </a:rPr>
              <a:t>can check </a:t>
            </a:r>
            <a:r>
              <a:rPr sz="1950" spc="235" dirty="0">
                <a:solidFill>
                  <a:srgbClr val="231F20"/>
                </a:solidFill>
                <a:latin typeface="Arial"/>
                <a:cs typeface="Arial"/>
              </a:rPr>
              <a:t>that </a:t>
            </a:r>
            <a:r>
              <a:rPr sz="1950" spc="175" dirty="0">
                <a:solidFill>
                  <a:srgbClr val="231F20"/>
                </a:solidFill>
                <a:latin typeface="Arial"/>
                <a:cs typeface="Arial"/>
              </a:rPr>
              <a:t>the </a:t>
            </a:r>
            <a:r>
              <a:rPr sz="1950" spc="135" dirty="0">
                <a:solidFill>
                  <a:srgbClr val="231F20"/>
                </a:solidFill>
                <a:latin typeface="Arial"/>
                <a:cs typeface="Arial"/>
              </a:rPr>
              <a:t>counters </a:t>
            </a:r>
            <a:r>
              <a:rPr sz="1950" spc="65" dirty="0">
                <a:solidFill>
                  <a:srgbClr val="231F20"/>
                </a:solidFill>
                <a:latin typeface="Arial"/>
                <a:cs typeface="Arial"/>
              </a:rPr>
              <a:t>are </a:t>
            </a:r>
            <a:r>
              <a:rPr sz="1950" spc="105" dirty="0">
                <a:solidFill>
                  <a:srgbClr val="231F20"/>
                </a:solidFill>
                <a:latin typeface="Arial"/>
                <a:cs typeface="Arial"/>
              </a:rPr>
              <a:t>capable </a:t>
            </a:r>
            <a:r>
              <a:rPr sz="1950" spc="185" dirty="0">
                <a:solidFill>
                  <a:srgbClr val="231F20"/>
                </a:solidFill>
                <a:latin typeface="Arial"/>
                <a:cs typeface="Arial"/>
              </a:rPr>
              <a:t>of </a:t>
            </a:r>
            <a:r>
              <a:rPr sz="1950" spc="105" dirty="0">
                <a:solidFill>
                  <a:srgbClr val="231F20"/>
                </a:solidFill>
                <a:latin typeface="Arial"/>
                <a:cs typeface="Arial"/>
              </a:rPr>
              <a:t>increasing  </a:t>
            </a:r>
            <a:r>
              <a:rPr sz="1950" spc="135" dirty="0">
                <a:solidFill>
                  <a:srgbClr val="231F20"/>
                </a:solidFill>
                <a:latin typeface="Arial"/>
                <a:cs typeface="Arial"/>
              </a:rPr>
              <a:t>indefinitely </a:t>
            </a:r>
            <a:r>
              <a:rPr sz="1950" spc="105" dirty="0">
                <a:solidFill>
                  <a:srgbClr val="231F20"/>
                </a:solidFill>
                <a:latin typeface="Arial"/>
                <a:cs typeface="Arial"/>
              </a:rPr>
              <a:t>by </a:t>
            </a:r>
            <a:r>
              <a:rPr sz="1950" spc="135" dirty="0">
                <a:solidFill>
                  <a:srgbClr val="231F20"/>
                </a:solidFill>
                <a:latin typeface="Arial"/>
                <a:cs typeface="Arial"/>
              </a:rPr>
              <a:t>adding </a:t>
            </a:r>
            <a:r>
              <a:rPr sz="1950" spc="175" dirty="0">
                <a:solidFill>
                  <a:srgbClr val="231F20"/>
                </a:solidFill>
                <a:latin typeface="Arial"/>
                <a:cs typeface="Arial"/>
              </a:rPr>
              <a:t>the</a:t>
            </a:r>
            <a:r>
              <a:rPr sz="1950" spc="720" dirty="0">
                <a:solidFill>
                  <a:srgbClr val="231F20"/>
                </a:solidFill>
                <a:latin typeface="Arial"/>
                <a:cs typeface="Arial"/>
              </a:rPr>
              <a:t> </a:t>
            </a:r>
            <a:r>
              <a:rPr sz="1950" spc="140" dirty="0">
                <a:solidFill>
                  <a:srgbClr val="231F20"/>
                </a:solidFill>
                <a:latin typeface="Arial"/>
                <a:cs typeface="Arial"/>
              </a:rPr>
              <a:t>invariant</a:t>
            </a:r>
            <a:endParaRPr sz="1950">
              <a:latin typeface="Arial"/>
              <a:cs typeface="Arial"/>
            </a:endParaRPr>
          </a:p>
          <a:p>
            <a:pPr marL="300990">
              <a:lnSpc>
                <a:spcPts val="2325"/>
              </a:lnSpc>
            </a:pPr>
            <a:r>
              <a:rPr sz="2050" spc="55" dirty="0">
                <a:solidFill>
                  <a:srgbClr val="0000FF"/>
                </a:solidFill>
                <a:latin typeface="SimSun"/>
                <a:cs typeface="SimSun"/>
              </a:rPr>
              <a:t>unbounded: THEOREM system |- G(my_t &lt;</a:t>
            </a:r>
            <a:r>
              <a:rPr sz="2050" spc="10" dirty="0">
                <a:solidFill>
                  <a:srgbClr val="0000FF"/>
                </a:solidFill>
                <a:latin typeface="SimSun"/>
                <a:cs typeface="SimSun"/>
              </a:rPr>
              <a:t> </a:t>
            </a:r>
            <a:r>
              <a:rPr sz="2050" spc="55" dirty="0">
                <a:solidFill>
                  <a:srgbClr val="0000FF"/>
                </a:solidFill>
                <a:latin typeface="SimSun"/>
                <a:cs typeface="SimSun"/>
              </a:rPr>
              <a:t>max);</a:t>
            </a:r>
            <a:endParaRPr sz="2050">
              <a:latin typeface="SimSun"/>
              <a:cs typeface="SimSun"/>
            </a:endParaRPr>
          </a:p>
          <a:p>
            <a:pPr marL="300990">
              <a:lnSpc>
                <a:spcPct val="100000"/>
              </a:lnSpc>
              <a:spcBef>
                <a:spcPts val="150"/>
              </a:spcBef>
            </a:pPr>
            <a:r>
              <a:rPr sz="1950" spc="225" dirty="0">
                <a:solidFill>
                  <a:srgbClr val="231F20"/>
                </a:solidFill>
                <a:latin typeface="Arial"/>
                <a:cs typeface="Arial"/>
              </a:rPr>
              <a:t>(After </a:t>
            </a:r>
            <a:r>
              <a:rPr sz="1950" spc="145" dirty="0">
                <a:solidFill>
                  <a:srgbClr val="231F20"/>
                </a:solidFill>
                <a:latin typeface="Arial"/>
                <a:cs typeface="Arial"/>
              </a:rPr>
              <a:t>undoing </a:t>
            </a:r>
            <a:r>
              <a:rPr sz="1950" spc="175" dirty="0">
                <a:solidFill>
                  <a:srgbClr val="231F20"/>
                </a:solidFill>
                <a:latin typeface="Arial"/>
                <a:cs typeface="Arial"/>
              </a:rPr>
              <a:t>the </a:t>
            </a:r>
            <a:r>
              <a:rPr sz="1950" spc="125" dirty="0">
                <a:solidFill>
                  <a:srgbClr val="231F20"/>
                </a:solidFill>
                <a:latin typeface="Arial"/>
                <a:cs typeface="Arial"/>
              </a:rPr>
              <a:t>deliberate </a:t>
            </a:r>
            <a:r>
              <a:rPr sz="1950" spc="95" dirty="0">
                <a:solidFill>
                  <a:srgbClr val="231F20"/>
                </a:solidFill>
                <a:latin typeface="Arial"/>
                <a:cs typeface="Arial"/>
              </a:rPr>
              <a:t>errors </a:t>
            </a:r>
            <a:r>
              <a:rPr sz="1950" spc="165" dirty="0">
                <a:solidFill>
                  <a:srgbClr val="231F20"/>
                </a:solidFill>
                <a:latin typeface="Arial"/>
                <a:cs typeface="Arial"/>
              </a:rPr>
              <a:t>just </a:t>
            </a:r>
            <a:r>
              <a:rPr sz="1950" spc="210" dirty="0">
                <a:solidFill>
                  <a:srgbClr val="231F20"/>
                </a:solidFill>
                <a:latin typeface="Arial"/>
                <a:cs typeface="Arial"/>
              </a:rPr>
              <a:t> </a:t>
            </a:r>
            <a:r>
              <a:rPr sz="1950" spc="175" dirty="0">
                <a:solidFill>
                  <a:srgbClr val="231F20"/>
                </a:solidFill>
                <a:latin typeface="Arial"/>
                <a:cs typeface="Arial"/>
              </a:rPr>
              <a:t>introduced)</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95" dirty="0">
                <a:solidFill>
                  <a:srgbClr val="231F20"/>
                </a:solidFill>
                <a:latin typeface="Arial"/>
                <a:cs typeface="Arial"/>
              </a:rPr>
              <a:t>We </a:t>
            </a:r>
            <a:r>
              <a:rPr sz="1950" spc="170" dirty="0">
                <a:solidFill>
                  <a:srgbClr val="231F20"/>
                </a:solidFill>
                <a:latin typeface="Arial"/>
                <a:cs typeface="Arial"/>
              </a:rPr>
              <a:t>get </a:t>
            </a:r>
            <a:r>
              <a:rPr sz="1950" spc="155" dirty="0">
                <a:solidFill>
                  <a:srgbClr val="231F20"/>
                </a:solidFill>
                <a:latin typeface="Arial"/>
                <a:cs typeface="Arial"/>
              </a:rPr>
              <a:t>another</a:t>
            </a:r>
            <a:r>
              <a:rPr sz="1950" spc="455" dirty="0">
                <a:solidFill>
                  <a:srgbClr val="231F20"/>
                </a:solidFill>
                <a:latin typeface="Arial"/>
                <a:cs typeface="Arial"/>
              </a:rPr>
              <a:t> </a:t>
            </a:r>
            <a:r>
              <a:rPr sz="1950" spc="135" dirty="0">
                <a:solidFill>
                  <a:srgbClr val="231F20"/>
                </a:solidFill>
                <a:latin typeface="Arial"/>
                <a:cs typeface="Arial"/>
              </a:rPr>
              <a:t>counterexample</a:t>
            </a:r>
            <a:endParaRPr sz="1950">
              <a:latin typeface="Arial"/>
              <a:cs typeface="Arial"/>
            </a:endParaRPr>
          </a:p>
          <a:p>
            <a:pPr marL="300990" indent="-288290">
              <a:lnSpc>
                <a:spcPct val="100000"/>
              </a:lnSpc>
              <a:spcBef>
                <a:spcPts val="1830"/>
              </a:spcBef>
              <a:buSzPct val="105128"/>
              <a:buFont typeface="Lucida Sans Unicode"/>
              <a:buChar char="•"/>
              <a:tabLst>
                <a:tab pos="301625" algn="l"/>
                <a:tab pos="2367915" algn="l"/>
              </a:tabLst>
            </a:pPr>
            <a:r>
              <a:rPr sz="1950" spc="250" dirty="0">
                <a:solidFill>
                  <a:srgbClr val="231F20"/>
                </a:solidFill>
                <a:latin typeface="Arial"/>
                <a:cs typeface="Arial"/>
              </a:rPr>
              <a:t>The</a:t>
            </a:r>
            <a:r>
              <a:rPr sz="1950" spc="780" dirty="0">
                <a:solidFill>
                  <a:srgbClr val="231F20"/>
                </a:solidFill>
                <a:latin typeface="Arial"/>
                <a:cs typeface="Arial"/>
              </a:rPr>
              <a:t> </a:t>
            </a:r>
            <a:r>
              <a:rPr sz="1950" spc="180" dirty="0">
                <a:solidFill>
                  <a:srgbClr val="231F20"/>
                </a:solidFill>
                <a:latin typeface="Arial"/>
                <a:cs typeface="Arial"/>
              </a:rPr>
              <a:t>pattern</a:t>
            </a:r>
            <a:r>
              <a:rPr sz="1950" spc="780" dirty="0">
                <a:solidFill>
                  <a:srgbClr val="231F20"/>
                </a:solidFill>
                <a:latin typeface="Arial"/>
                <a:cs typeface="Arial"/>
              </a:rPr>
              <a:t> </a:t>
            </a:r>
            <a:r>
              <a:rPr sz="1950" spc="75" dirty="0">
                <a:solidFill>
                  <a:srgbClr val="231F20"/>
                </a:solidFill>
                <a:latin typeface="Arial"/>
                <a:cs typeface="Arial"/>
              </a:rPr>
              <a:t>is:	</a:t>
            </a:r>
            <a:r>
              <a:rPr sz="2050" spc="55" dirty="0">
                <a:solidFill>
                  <a:srgbClr val="0000FF"/>
                </a:solidFill>
                <a:latin typeface="SimSun"/>
                <a:cs typeface="SimSun"/>
              </a:rPr>
              <a:t>P1 </a:t>
            </a:r>
            <a:r>
              <a:rPr sz="2050" spc="70" dirty="0">
                <a:solidFill>
                  <a:srgbClr val="0000FF"/>
                </a:solidFill>
                <a:latin typeface="SimSun"/>
                <a:cs typeface="SimSun"/>
              </a:rPr>
              <a:t>tries</a:t>
            </a:r>
            <a:r>
              <a:rPr sz="1950" spc="70" dirty="0">
                <a:solidFill>
                  <a:srgbClr val="231F20"/>
                </a:solidFill>
                <a:latin typeface="Arial"/>
                <a:cs typeface="Arial"/>
              </a:rPr>
              <a:t>, </a:t>
            </a:r>
            <a:r>
              <a:rPr sz="1950" spc="165" dirty="0">
                <a:solidFill>
                  <a:srgbClr val="231F20"/>
                </a:solidFill>
                <a:latin typeface="Arial"/>
                <a:cs typeface="Arial"/>
              </a:rPr>
              <a:t>then </a:t>
            </a:r>
            <a:r>
              <a:rPr sz="1950" spc="175" dirty="0">
                <a:solidFill>
                  <a:srgbClr val="231F20"/>
                </a:solidFill>
                <a:latin typeface="Arial"/>
                <a:cs typeface="Arial"/>
              </a:rPr>
              <a:t>the </a:t>
            </a:r>
            <a:r>
              <a:rPr sz="1950" spc="150" dirty="0">
                <a:solidFill>
                  <a:srgbClr val="231F20"/>
                </a:solidFill>
                <a:latin typeface="Arial"/>
                <a:cs typeface="Arial"/>
              </a:rPr>
              <a:t>following </a:t>
            </a:r>
            <a:r>
              <a:rPr sz="1950" spc="75" dirty="0">
                <a:solidFill>
                  <a:srgbClr val="231F20"/>
                </a:solidFill>
                <a:latin typeface="Arial"/>
                <a:cs typeface="Arial"/>
              </a:rPr>
              <a:t>sequence</a:t>
            </a:r>
            <a:r>
              <a:rPr sz="1950" spc="509" dirty="0">
                <a:solidFill>
                  <a:srgbClr val="231F20"/>
                </a:solidFill>
                <a:latin typeface="Arial"/>
                <a:cs typeface="Arial"/>
              </a:rPr>
              <a:t> </a:t>
            </a:r>
            <a:r>
              <a:rPr sz="1950" spc="114" dirty="0">
                <a:solidFill>
                  <a:srgbClr val="231F20"/>
                </a:solidFill>
                <a:latin typeface="Arial"/>
                <a:cs typeface="Arial"/>
              </a:rPr>
              <a:t>repeats</a:t>
            </a:r>
            <a:endParaRPr sz="1950">
              <a:latin typeface="Arial"/>
              <a:cs typeface="Arial"/>
            </a:endParaRPr>
          </a:p>
          <a:p>
            <a:pPr marL="300990">
              <a:lnSpc>
                <a:spcPct val="100000"/>
              </a:lnSpc>
              <a:spcBef>
                <a:spcPts val="465"/>
              </a:spcBef>
            </a:pPr>
            <a:r>
              <a:rPr sz="2050" spc="55" dirty="0">
                <a:solidFill>
                  <a:srgbClr val="0000FF"/>
                </a:solidFill>
                <a:latin typeface="SimSun"/>
                <a:cs typeface="SimSun"/>
              </a:rPr>
              <a:t>P1 </a:t>
            </a:r>
            <a:r>
              <a:rPr sz="2050" spc="65" dirty="0">
                <a:solidFill>
                  <a:srgbClr val="0000FF"/>
                </a:solidFill>
                <a:latin typeface="SimSun"/>
                <a:cs typeface="SimSun"/>
              </a:rPr>
              <a:t>enters</a:t>
            </a:r>
            <a:r>
              <a:rPr sz="1950" spc="65" dirty="0">
                <a:solidFill>
                  <a:srgbClr val="231F20"/>
                </a:solidFill>
                <a:latin typeface="Arial"/>
                <a:cs typeface="Arial"/>
              </a:rPr>
              <a:t>, </a:t>
            </a:r>
            <a:r>
              <a:rPr sz="2050" spc="55" dirty="0">
                <a:solidFill>
                  <a:srgbClr val="0000FF"/>
                </a:solidFill>
                <a:latin typeface="SimSun"/>
                <a:cs typeface="SimSun"/>
              </a:rPr>
              <a:t>P2 </a:t>
            </a:r>
            <a:r>
              <a:rPr sz="2050" spc="70" dirty="0">
                <a:solidFill>
                  <a:srgbClr val="0000FF"/>
                </a:solidFill>
                <a:latin typeface="SimSun"/>
                <a:cs typeface="SimSun"/>
              </a:rPr>
              <a:t>tries</a:t>
            </a:r>
            <a:r>
              <a:rPr sz="1950" spc="70" dirty="0">
                <a:solidFill>
                  <a:srgbClr val="231F20"/>
                </a:solidFill>
                <a:latin typeface="Arial"/>
                <a:cs typeface="Arial"/>
              </a:rPr>
              <a:t>, </a:t>
            </a:r>
            <a:r>
              <a:rPr sz="2050" spc="55" dirty="0">
                <a:solidFill>
                  <a:srgbClr val="0000FF"/>
                </a:solidFill>
                <a:latin typeface="SimSun"/>
                <a:cs typeface="SimSun"/>
              </a:rPr>
              <a:t>P1 </a:t>
            </a:r>
            <a:r>
              <a:rPr sz="2050" spc="70" dirty="0">
                <a:solidFill>
                  <a:srgbClr val="0000FF"/>
                </a:solidFill>
                <a:latin typeface="SimSun"/>
                <a:cs typeface="SimSun"/>
              </a:rPr>
              <a:t>quits</a:t>
            </a:r>
            <a:r>
              <a:rPr sz="1950" spc="70" dirty="0">
                <a:solidFill>
                  <a:srgbClr val="231F20"/>
                </a:solidFill>
                <a:latin typeface="Arial"/>
                <a:cs typeface="Arial"/>
              </a:rPr>
              <a:t>, </a:t>
            </a:r>
            <a:r>
              <a:rPr sz="2050" spc="55" dirty="0">
                <a:solidFill>
                  <a:srgbClr val="0000FF"/>
                </a:solidFill>
                <a:latin typeface="SimSun"/>
                <a:cs typeface="SimSun"/>
              </a:rPr>
              <a:t>P2 </a:t>
            </a:r>
            <a:r>
              <a:rPr sz="2050" spc="65" dirty="0">
                <a:solidFill>
                  <a:srgbClr val="0000FF"/>
                </a:solidFill>
                <a:latin typeface="SimSun"/>
                <a:cs typeface="SimSun"/>
              </a:rPr>
              <a:t>enters</a:t>
            </a:r>
            <a:r>
              <a:rPr sz="1950" spc="65" dirty="0">
                <a:solidFill>
                  <a:srgbClr val="231F20"/>
                </a:solidFill>
                <a:latin typeface="Arial"/>
                <a:cs typeface="Arial"/>
              </a:rPr>
              <a:t>, </a:t>
            </a:r>
            <a:r>
              <a:rPr sz="2050" spc="55" dirty="0">
                <a:solidFill>
                  <a:srgbClr val="0000FF"/>
                </a:solidFill>
                <a:latin typeface="SimSun"/>
                <a:cs typeface="SimSun"/>
              </a:rPr>
              <a:t>P1 </a:t>
            </a:r>
            <a:r>
              <a:rPr sz="2050" spc="70" dirty="0">
                <a:solidFill>
                  <a:srgbClr val="0000FF"/>
                </a:solidFill>
                <a:latin typeface="SimSun"/>
                <a:cs typeface="SimSun"/>
              </a:rPr>
              <a:t>tries</a:t>
            </a:r>
            <a:r>
              <a:rPr sz="1950" spc="70" dirty="0">
                <a:solidFill>
                  <a:srgbClr val="231F20"/>
                </a:solidFill>
                <a:latin typeface="Arial"/>
                <a:cs typeface="Arial"/>
              </a:rPr>
              <a:t>, </a:t>
            </a:r>
            <a:r>
              <a:rPr sz="2050" spc="55" dirty="0">
                <a:solidFill>
                  <a:srgbClr val="0000FF"/>
                </a:solidFill>
                <a:latin typeface="SimSun"/>
                <a:cs typeface="SimSun"/>
              </a:rPr>
              <a:t>P2</a:t>
            </a:r>
            <a:r>
              <a:rPr sz="2050" spc="1125" dirty="0">
                <a:solidFill>
                  <a:srgbClr val="0000FF"/>
                </a:solidFill>
                <a:latin typeface="SimSun"/>
                <a:cs typeface="SimSun"/>
              </a:rPr>
              <a:t> </a:t>
            </a:r>
            <a:r>
              <a:rPr sz="2050" spc="55" dirty="0">
                <a:solidFill>
                  <a:srgbClr val="0000FF"/>
                </a:solidFill>
                <a:latin typeface="SimSun"/>
                <a:cs typeface="SimSun"/>
              </a:rPr>
              <a:t>quits</a:t>
            </a:r>
            <a:endParaRPr sz="2050">
              <a:latin typeface="SimSun"/>
              <a:cs typeface="SimSun"/>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39" y="475981"/>
            <a:ext cx="8181975" cy="5865495"/>
          </a:xfrm>
          <a:prstGeom prst="rect">
            <a:avLst/>
          </a:prstGeom>
        </p:spPr>
        <p:txBody>
          <a:bodyPr vert="horz" wrap="square" lIns="0" tIns="0" rIns="0" bIns="0" rtlCol="0">
            <a:spAutoFit/>
          </a:bodyPr>
          <a:lstStyle/>
          <a:p>
            <a:pPr marL="1145540">
              <a:lnSpc>
                <a:spcPct val="100000"/>
              </a:lnSpc>
            </a:pPr>
            <a:r>
              <a:rPr sz="1950" spc="250" dirty="0">
                <a:solidFill>
                  <a:srgbClr val="231F20"/>
                </a:solidFill>
                <a:latin typeface="Arial"/>
                <a:cs typeface="Arial"/>
              </a:rPr>
              <a:t>Benefits </a:t>
            </a:r>
            <a:r>
              <a:rPr sz="1950" spc="280" dirty="0">
                <a:solidFill>
                  <a:srgbClr val="231F20"/>
                </a:solidFill>
                <a:latin typeface="Arial"/>
                <a:cs typeface="Arial"/>
              </a:rPr>
              <a:t>of </a:t>
            </a:r>
            <a:r>
              <a:rPr sz="1950" spc="250" dirty="0">
                <a:solidFill>
                  <a:srgbClr val="231F20"/>
                </a:solidFill>
                <a:latin typeface="Arial"/>
                <a:cs typeface="Arial"/>
              </a:rPr>
              <a:t>Explicit </a:t>
            </a:r>
            <a:r>
              <a:rPr sz="1950" spc="285" dirty="0">
                <a:solidFill>
                  <a:srgbClr val="231F20"/>
                </a:solidFill>
                <a:latin typeface="Arial"/>
                <a:cs typeface="Arial"/>
              </a:rPr>
              <a:t>State </a:t>
            </a:r>
            <a:r>
              <a:rPr sz="1950" spc="305" dirty="0">
                <a:solidFill>
                  <a:srgbClr val="231F20"/>
                </a:solidFill>
                <a:latin typeface="Arial"/>
                <a:cs typeface="Arial"/>
              </a:rPr>
              <a:t>Model</a:t>
            </a:r>
            <a:r>
              <a:rPr sz="1950" spc="785"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a:p>
            <a:pPr marL="300990" marR="617220" indent="-288290">
              <a:lnSpc>
                <a:spcPct val="125000"/>
              </a:lnSpc>
              <a:spcBef>
                <a:spcPts val="1195"/>
              </a:spcBef>
              <a:buClr>
                <a:srgbClr val="231F20"/>
              </a:buClr>
              <a:buSzPct val="105128"/>
              <a:buFont typeface="Lucida Sans Unicode"/>
              <a:buChar char="•"/>
              <a:tabLst>
                <a:tab pos="301625" algn="l"/>
              </a:tabLst>
            </a:pPr>
            <a:r>
              <a:rPr sz="1950" spc="135" dirty="0">
                <a:solidFill>
                  <a:srgbClr val="0000FF"/>
                </a:solidFill>
                <a:latin typeface="Arial"/>
                <a:cs typeface="Arial"/>
              </a:rPr>
              <a:t>Can only </a:t>
            </a:r>
            <a:r>
              <a:rPr sz="1950" spc="95" dirty="0">
                <a:solidFill>
                  <a:srgbClr val="0000FF"/>
                </a:solidFill>
                <a:latin typeface="Arial"/>
                <a:cs typeface="Arial"/>
              </a:rPr>
              <a:t>explore </a:t>
            </a:r>
            <a:r>
              <a:rPr sz="1950" spc="85" dirty="0">
                <a:solidFill>
                  <a:srgbClr val="0000FF"/>
                </a:solidFill>
                <a:latin typeface="Arial"/>
                <a:cs typeface="Arial"/>
              </a:rPr>
              <a:t>a </a:t>
            </a:r>
            <a:r>
              <a:rPr sz="1950" spc="155" dirty="0">
                <a:solidFill>
                  <a:srgbClr val="0000FF"/>
                </a:solidFill>
                <a:latin typeface="Arial"/>
                <a:cs typeface="Arial"/>
              </a:rPr>
              <a:t>few </a:t>
            </a:r>
            <a:r>
              <a:rPr sz="1950" spc="150" dirty="0">
                <a:solidFill>
                  <a:srgbClr val="0000FF"/>
                </a:solidFill>
                <a:latin typeface="Arial"/>
                <a:cs typeface="Arial"/>
              </a:rPr>
              <a:t>million </a:t>
            </a:r>
            <a:r>
              <a:rPr sz="1950" spc="125" dirty="0">
                <a:solidFill>
                  <a:srgbClr val="0000FF"/>
                </a:solidFill>
                <a:latin typeface="Arial"/>
                <a:cs typeface="Arial"/>
              </a:rPr>
              <a:t>states, </a:t>
            </a:r>
            <a:r>
              <a:rPr sz="1950" spc="220" dirty="0">
                <a:solidFill>
                  <a:srgbClr val="0000FF"/>
                </a:solidFill>
                <a:latin typeface="Arial"/>
                <a:cs typeface="Arial"/>
              </a:rPr>
              <a:t>but </a:t>
            </a:r>
            <a:r>
              <a:rPr sz="1950" spc="195" dirty="0">
                <a:solidFill>
                  <a:srgbClr val="0000FF"/>
                </a:solidFill>
                <a:latin typeface="Arial"/>
                <a:cs typeface="Arial"/>
              </a:rPr>
              <a:t>that’s </a:t>
            </a:r>
            <a:r>
              <a:rPr sz="1950" spc="130" dirty="0">
                <a:solidFill>
                  <a:srgbClr val="0000FF"/>
                </a:solidFill>
                <a:latin typeface="Arial"/>
                <a:cs typeface="Arial"/>
              </a:rPr>
              <a:t>enough  </a:t>
            </a:r>
            <a:r>
              <a:rPr sz="1950" spc="140" dirty="0">
                <a:solidFill>
                  <a:srgbClr val="0000FF"/>
                </a:solidFill>
                <a:latin typeface="Arial"/>
                <a:cs typeface="Arial"/>
              </a:rPr>
              <a:t>when there </a:t>
            </a:r>
            <a:r>
              <a:rPr sz="1950" spc="65" dirty="0">
                <a:solidFill>
                  <a:srgbClr val="0000FF"/>
                </a:solidFill>
                <a:latin typeface="Arial"/>
                <a:cs typeface="Arial"/>
              </a:rPr>
              <a:t>are </a:t>
            </a:r>
            <a:r>
              <a:rPr sz="1950" spc="140" dirty="0">
                <a:solidFill>
                  <a:srgbClr val="0000FF"/>
                </a:solidFill>
                <a:latin typeface="Arial"/>
                <a:cs typeface="Arial"/>
              </a:rPr>
              <a:t>plenty </a:t>
            </a:r>
            <a:r>
              <a:rPr sz="1950" spc="185" dirty="0">
                <a:solidFill>
                  <a:srgbClr val="0000FF"/>
                </a:solidFill>
                <a:latin typeface="Arial"/>
                <a:cs typeface="Arial"/>
              </a:rPr>
              <a:t>of </a:t>
            </a:r>
            <a:r>
              <a:rPr sz="1950" spc="110" dirty="0">
                <a:solidFill>
                  <a:srgbClr val="0000FF"/>
                </a:solidFill>
                <a:latin typeface="Arial"/>
                <a:cs typeface="Arial"/>
              </a:rPr>
              <a:t>bugs </a:t>
            </a:r>
            <a:r>
              <a:rPr sz="1950" spc="250" dirty="0">
                <a:solidFill>
                  <a:srgbClr val="0000FF"/>
                </a:solidFill>
                <a:latin typeface="Arial"/>
                <a:cs typeface="Arial"/>
              </a:rPr>
              <a:t>to </a:t>
            </a:r>
            <a:r>
              <a:rPr sz="1950" spc="355" dirty="0">
                <a:solidFill>
                  <a:srgbClr val="0000FF"/>
                </a:solidFill>
                <a:latin typeface="Arial"/>
                <a:cs typeface="Arial"/>
              </a:rPr>
              <a:t> </a:t>
            </a:r>
            <a:r>
              <a:rPr sz="1950" spc="160" dirty="0">
                <a:solidFill>
                  <a:srgbClr val="0000FF"/>
                </a:solidFill>
                <a:latin typeface="Arial"/>
                <a:cs typeface="Arial"/>
              </a:rPr>
              <a:t>find</a:t>
            </a:r>
            <a:endParaRPr sz="1950">
              <a:latin typeface="Arial"/>
              <a:cs typeface="Arial"/>
            </a:endParaRPr>
          </a:p>
          <a:p>
            <a:pPr marL="300990" indent="-288290">
              <a:lnSpc>
                <a:spcPct val="100000"/>
              </a:lnSpc>
              <a:spcBef>
                <a:spcPts val="1050"/>
              </a:spcBef>
              <a:buSzPct val="105128"/>
              <a:buFont typeface="Lucida Sans Unicode"/>
              <a:buChar char="•"/>
              <a:tabLst>
                <a:tab pos="301625" algn="l"/>
              </a:tabLst>
            </a:pPr>
            <a:r>
              <a:rPr sz="1950" spc="135" dirty="0">
                <a:solidFill>
                  <a:srgbClr val="231F20"/>
                </a:solidFill>
                <a:latin typeface="Arial"/>
                <a:cs typeface="Arial"/>
              </a:rPr>
              <a:t>Can </a:t>
            </a:r>
            <a:r>
              <a:rPr sz="1950" spc="45" dirty="0">
                <a:solidFill>
                  <a:srgbClr val="231F20"/>
                </a:solidFill>
                <a:latin typeface="Arial"/>
                <a:cs typeface="Arial"/>
              </a:rPr>
              <a:t>use </a:t>
            </a:r>
            <a:r>
              <a:rPr sz="1950" spc="110" dirty="0">
                <a:solidFill>
                  <a:srgbClr val="FF0000"/>
                </a:solidFill>
                <a:latin typeface="Arial"/>
                <a:cs typeface="Arial"/>
              </a:rPr>
              <a:t>hashing </a:t>
            </a:r>
            <a:r>
              <a:rPr sz="1950" spc="155" dirty="0">
                <a:solidFill>
                  <a:srgbClr val="231F20"/>
                </a:solidFill>
                <a:latin typeface="Arial"/>
                <a:cs typeface="Arial"/>
              </a:rPr>
              <a:t>(supertrace) </a:t>
            </a:r>
            <a:r>
              <a:rPr sz="1950" spc="250" dirty="0">
                <a:solidFill>
                  <a:srgbClr val="231F20"/>
                </a:solidFill>
                <a:latin typeface="Arial"/>
                <a:cs typeface="Arial"/>
              </a:rPr>
              <a:t>to </a:t>
            </a:r>
            <a:r>
              <a:rPr sz="1950" spc="155" dirty="0">
                <a:solidFill>
                  <a:srgbClr val="231F20"/>
                </a:solidFill>
                <a:latin typeface="Arial"/>
                <a:cs typeface="Arial"/>
              </a:rPr>
              <a:t>go </a:t>
            </a:r>
            <a:r>
              <a:rPr sz="1950" spc="320" dirty="0">
                <a:solidFill>
                  <a:srgbClr val="231F20"/>
                </a:solidFill>
                <a:latin typeface="Arial"/>
                <a:cs typeface="Arial"/>
              </a:rPr>
              <a:t> </a:t>
            </a:r>
            <a:r>
              <a:rPr sz="1950" spc="175" dirty="0">
                <a:solidFill>
                  <a:srgbClr val="231F20"/>
                </a:solidFill>
                <a:latin typeface="Arial"/>
                <a:cs typeface="Arial"/>
              </a:rPr>
              <a:t>further</a:t>
            </a:r>
            <a:endParaRPr sz="1950">
              <a:latin typeface="Arial"/>
              <a:cs typeface="Arial"/>
            </a:endParaRPr>
          </a:p>
          <a:p>
            <a:pPr marL="300990" indent="-288290">
              <a:lnSpc>
                <a:spcPct val="100000"/>
              </a:lnSpc>
              <a:spcBef>
                <a:spcPts val="1050"/>
              </a:spcBef>
              <a:buSzPct val="105128"/>
              <a:buFont typeface="Lucida Sans Unicode"/>
              <a:buChar char="•"/>
              <a:tabLst>
                <a:tab pos="301625" algn="l"/>
              </a:tabLst>
            </a:pPr>
            <a:r>
              <a:rPr sz="1950" spc="135" dirty="0">
                <a:solidFill>
                  <a:srgbClr val="231F20"/>
                </a:solidFill>
                <a:latin typeface="Arial"/>
                <a:cs typeface="Arial"/>
              </a:rPr>
              <a:t>Can </a:t>
            </a:r>
            <a:r>
              <a:rPr sz="1950" spc="95" dirty="0">
                <a:solidFill>
                  <a:srgbClr val="231F20"/>
                </a:solidFill>
                <a:latin typeface="Arial"/>
                <a:cs typeface="Arial"/>
              </a:rPr>
              <a:t>have </a:t>
            </a:r>
            <a:r>
              <a:rPr sz="1950" spc="135" dirty="0">
                <a:solidFill>
                  <a:srgbClr val="0000FF"/>
                </a:solidFill>
                <a:latin typeface="Arial"/>
                <a:cs typeface="Arial"/>
              </a:rPr>
              <a:t>arbitrarily </a:t>
            </a:r>
            <a:r>
              <a:rPr sz="1950" spc="140" dirty="0">
                <a:solidFill>
                  <a:srgbClr val="0000FF"/>
                </a:solidFill>
                <a:latin typeface="Arial"/>
                <a:cs typeface="Arial"/>
              </a:rPr>
              <a:t>complex </a:t>
            </a:r>
            <a:r>
              <a:rPr sz="1950" spc="160" dirty="0">
                <a:solidFill>
                  <a:srgbClr val="231F20"/>
                </a:solidFill>
                <a:latin typeface="Arial"/>
                <a:cs typeface="Arial"/>
              </a:rPr>
              <a:t>transition </a:t>
            </a:r>
            <a:r>
              <a:rPr sz="1950" spc="195" dirty="0">
                <a:solidFill>
                  <a:srgbClr val="231F20"/>
                </a:solidFill>
                <a:latin typeface="Arial"/>
                <a:cs typeface="Arial"/>
              </a:rPr>
              <a:t> </a:t>
            </a:r>
            <a:r>
              <a:rPr sz="1950" spc="145" dirty="0">
                <a:solidFill>
                  <a:srgbClr val="231F20"/>
                </a:solidFill>
                <a:latin typeface="Arial"/>
                <a:cs typeface="Arial"/>
              </a:rPr>
              <a:t>relation</a:t>
            </a:r>
            <a:endParaRPr sz="1950">
              <a:latin typeface="Arial"/>
              <a:cs typeface="Arial"/>
            </a:endParaRPr>
          </a:p>
          <a:p>
            <a:pPr marL="741680" marR="730885" lvl="1" indent="-288290">
              <a:lnSpc>
                <a:spcPct val="125000"/>
              </a:lnSpc>
              <a:spcBef>
                <a:spcPts val="465"/>
              </a:spcBef>
              <a:buClr>
                <a:srgbClr val="231F20"/>
              </a:buClr>
              <a:buSzPct val="105128"/>
              <a:buFont typeface="Lucida Sans Unicode"/>
              <a:buChar char="◦"/>
              <a:tabLst>
                <a:tab pos="742315" algn="l"/>
              </a:tabLst>
            </a:pPr>
            <a:r>
              <a:rPr sz="1950" spc="140" dirty="0">
                <a:solidFill>
                  <a:srgbClr val="FF0000"/>
                </a:solidFill>
                <a:latin typeface="Arial"/>
                <a:cs typeface="Arial"/>
              </a:rPr>
              <a:t>Language </a:t>
            </a:r>
            <a:r>
              <a:rPr sz="1950" spc="120" dirty="0">
                <a:solidFill>
                  <a:srgbClr val="FF0000"/>
                </a:solidFill>
                <a:latin typeface="Arial"/>
                <a:cs typeface="Arial"/>
              </a:rPr>
              <a:t>can </a:t>
            </a:r>
            <a:r>
              <a:rPr sz="1950" spc="114" dirty="0">
                <a:solidFill>
                  <a:srgbClr val="FF0000"/>
                </a:solidFill>
                <a:latin typeface="Arial"/>
                <a:cs typeface="Arial"/>
              </a:rPr>
              <a:t>include </a:t>
            </a:r>
            <a:r>
              <a:rPr sz="1950" spc="120" dirty="0">
                <a:solidFill>
                  <a:srgbClr val="FF0000"/>
                </a:solidFill>
                <a:latin typeface="Arial"/>
                <a:cs typeface="Arial"/>
              </a:rPr>
              <a:t>any </a:t>
            </a:r>
            <a:r>
              <a:rPr sz="1950" spc="140" dirty="0">
                <a:solidFill>
                  <a:srgbClr val="FF0000"/>
                </a:solidFill>
                <a:latin typeface="Arial"/>
                <a:cs typeface="Arial"/>
              </a:rPr>
              <a:t>datatypes </a:t>
            </a:r>
            <a:r>
              <a:rPr sz="1950" spc="130" dirty="0">
                <a:solidFill>
                  <a:srgbClr val="FF0000"/>
                </a:solidFill>
                <a:latin typeface="Arial"/>
                <a:cs typeface="Arial"/>
              </a:rPr>
              <a:t>and </a:t>
            </a:r>
            <a:r>
              <a:rPr sz="1950" spc="140" dirty="0">
                <a:solidFill>
                  <a:srgbClr val="FF0000"/>
                </a:solidFill>
                <a:latin typeface="Arial"/>
                <a:cs typeface="Arial"/>
              </a:rPr>
              <a:t>operations  supported </a:t>
            </a:r>
            <a:r>
              <a:rPr sz="1950" spc="105" dirty="0">
                <a:solidFill>
                  <a:srgbClr val="FF0000"/>
                </a:solidFill>
                <a:latin typeface="Arial"/>
                <a:cs typeface="Arial"/>
              </a:rPr>
              <a:t>by </a:t>
            </a:r>
            <a:r>
              <a:rPr sz="1950" spc="175" dirty="0">
                <a:solidFill>
                  <a:srgbClr val="FF0000"/>
                </a:solidFill>
                <a:latin typeface="Arial"/>
                <a:cs typeface="Arial"/>
              </a:rPr>
              <a:t>the</a:t>
            </a:r>
            <a:r>
              <a:rPr sz="1950" spc="540" dirty="0">
                <a:solidFill>
                  <a:srgbClr val="FF0000"/>
                </a:solidFill>
                <a:latin typeface="Arial"/>
                <a:cs typeface="Arial"/>
              </a:rPr>
              <a:t> </a:t>
            </a:r>
            <a:r>
              <a:rPr sz="1950" spc="210" dirty="0">
                <a:solidFill>
                  <a:srgbClr val="FF0000"/>
                </a:solidFill>
                <a:latin typeface="Arial"/>
                <a:cs typeface="Arial"/>
              </a:rPr>
              <a:t>API</a:t>
            </a:r>
            <a:endParaRPr sz="1950">
              <a:latin typeface="Arial"/>
              <a:cs typeface="Arial"/>
            </a:endParaRPr>
          </a:p>
          <a:p>
            <a:pPr marL="300990" indent="-288290">
              <a:lnSpc>
                <a:spcPct val="100000"/>
              </a:lnSpc>
              <a:spcBef>
                <a:spcPts val="1050"/>
              </a:spcBef>
              <a:buClr>
                <a:srgbClr val="231F20"/>
              </a:buClr>
              <a:buSzPct val="105128"/>
              <a:buFont typeface="Lucida Sans Unicode"/>
              <a:buChar char="•"/>
              <a:tabLst>
                <a:tab pos="301625" algn="l"/>
              </a:tabLst>
            </a:pPr>
            <a:r>
              <a:rPr sz="1950" spc="180" dirty="0">
                <a:solidFill>
                  <a:srgbClr val="0000FF"/>
                </a:solidFill>
                <a:latin typeface="Arial"/>
                <a:cs typeface="Arial"/>
              </a:rPr>
              <a:t>Breadth </a:t>
            </a:r>
            <a:r>
              <a:rPr sz="1950" spc="165" dirty="0">
                <a:solidFill>
                  <a:srgbClr val="0000FF"/>
                </a:solidFill>
                <a:latin typeface="Arial"/>
                <a:cs typeface="Arial"/>
              </a:rPr>
              <a:t>first </a:t>
            </a:r>
            <a:r>
              <a:rPr sz="1950" spc="75" dirty="0">
                <a:solidFill>
                  <a:srgbClr val="0000FF"/>
                </a:solidFill>
                <a:latin typeface="Arial"/>
                <a:cs typeface="Arial"/>
              </a:rPr>
              <a:t>search </a:t>
            </a:r>
            <a:r>
              <a:rPr sz="1950" spc="120" dirty="0">
                <a:solidFill>
                  <a:srgbClr val="0000FF"/>
                </a:solidFill>
                <a:latin typeface="Arial"/>
                <a:cs typeface="Arial"/>
              </a:rPr>
              <a:t>finds </a:t>
            </a:r>
            <a:r>
              <a:rPr sz="1950" spc="145" dirty="0">
                <a:solidFill>
                  <a:srgbClr val="0000FF"/>
                </a:solidFill>
                <a:latin typeface="Arial"/>
                <a:cs typeface="Arial"/>
              </a:rPr>
              <a:t>short </a:t>
            </a:r>
            <a:r>
              <a:rPr sz="1950" spc="170" dirty="0">
                <a:solidFill>
                  <a:srgbClr val="0000FF"/>
                </a:solidFill>
                <a:latin typeface="Arial"/>
                <a:cs typeface="Arial"/>
              </a:rPr>
              <a:t> </a:t>
            </a:r>
            <a:r>
              <a:rPr sz="1950" spc="125" dirty="0">
                <a:solidFill>
                  <a:srgbClr val="0000FF"/>
                </a:solidFill>
                <a:latin typeface="Arial"/>
                <a:cs typeface="Arial"/>
              </a:rPr>
              <a:t>counterexamples</a:t>
            </a:r>
            <a:endParaRPr sz="1950">
              <a:latin typeface="Arial"/>
              <a:cs typeface="Arial"/>
            </a:endParaRPr>
          </a:p>
          <a:p>
            <a:pPr marL="741680" marR="678180" lvl="1" indent="-288290">
              <a:lnSpc>
                <a:spcPct val="125000"/>
              </a:lnSpc>
              <a:spcBef>
                <a:spcPts val="465"/>
              </a:spcBef>
              <a:buClr>
                <a:srgbClr val="231F20"/>
              </a:buClr>
              <a:buSzPct val="105128"/>
              <a:buFont typeface="Lucida Sans Unicode"/>
              <a:buChar char="◦"/>
              <a:tabLst>
                <a:tab pos="742315" algn="l"/>
              </a:tabLst>
            </a:pPr>
            <a:r>
              <a:rPr sz="1950" spc="135" dirty="0">
                <a:solidFill>
                  <a:srgbClr val="FF0000"/>
                </a:solidFill>
                <a:latin typeface="Arial"/>
                <a:cs typeface="Arial"/>
              </a:rPr>
              <a:t>Can </a:t>
            </a:r>
            <a:r>
              <a:rPr sz="1950" spc="180" dirty="0">
                <a:solidFill>
                  <a:srgbClr val="FF0000"/>
                </a:solidFill>
                <a:latin typeface="Arial"/>
                <a:cs typeface="Arial"/>
              </a:rPr>
              <a:t>write </a:t>
            </a:r>
            <a:r>
              <a:rPr sz="1950" spc="90" dirty="0">
                <a:solidFill>
                  <a:srgbClr val="FF0000"/>
                </a:solidFill>
                <a:latin typeface="Arial"/>
                <a:cs typeface="Arial"/>
              </a:rPr>
              <a:t>special </a:t>
            </a:r>
            <a:r>
              <a:rPr sz="1950" spc="75" dirty="0">
                <a:solidFill>
                  <a:srgbClr val="FF0000"/>
                </a:solidFill>
                <a:latin typeface="Arial"/>
                <a:cs typeface="Arial"/>
              </a:rPr>
              <a:t>search </a:t>
            </a:r>
            <a:r>
              <a:rPr sz="1950" spc="120" dirty="0">
                <a:solidFill>
                  <a:srgbClr val="FF0000"/>
                </a:solidFill>
                <a:latin typeface="Arial"/>
                <a:cs typeface="Arial"/>
              </a:rPr>
              <a:t>strategies </a:t>
            </a:r>
            <a:r>
              <a:rPr sz="1950" spc="250" dirty="0">
                <a:solidFill>
                  <a:srgbClr val="FF0000"/>
                </a:solidFill>
                <a:latin typeface="Arial"/>
                <a:cs typeface="Arial"/>
              </a:rPr>
              <a:t>to </a:t>
            </a:r>
            <a:r>
              <a:rPr sz="1950" spc="175" dirty="0">
                <a:solidFill>
                  <a:srgbClr val="FF0000"/>
                </a:solidFill>
                <a:latin typeface="Arial"/>
                <a:cs typeface="Arial"/>
              </a:rPr>
              <a:t>target </a:t>
            </a:r>
            <a:r>
              <a:rPr sz="1950" spc="110" dirty="0">
                <a:solidFill>
                  <a:srgbClr val="FF0000"/>
                </a:solidFill>
                <a:latin typeface="Arial"/>
                <a:cs typeface="Arial"/>
              </a:rPr>
              <a:t>specific  </a:t>
            </a:r>
            <a:r>
              <a:rPr sz="1950" spc="50" dirty="0">
                <a:solidFill>
                  <a:srgbClr val="FF0000"/>
                </a:solidFill>
                <a:latin typeface="Arial"/>
                <a:cs typeface="Arial"/>
              </a:rPr>
              <a:t>cases, </a:t>
            </a:r>
            <a:r>
              <a:rPr sz="1950" spc="130" dirty="0">
                <a:solidFill>
                  <a:srgbClr val="FF0000"/>
                </a:solidFill>
                <a:latin typeface="Arial"/>
                <a:cs typeface="Arial"/>
              </a:rPr>
              <a:t>or </a:t>
            </a:r>
            <a:r>
              <a:rPr sz="1950" spc="250" dirty="0">
                <a:solidFill>
                  <a:srgbClr val="FF0000"/>
                </a:solidFill>
                <a:latin typeface="Arial"/>
                <a:cs typeface="Arial"/>
              </a:rPr>
              <a:t>to </a:t>
            </a:r>
            <a:r>
              <a:rPr sz="1950" spc="114" dirty="0">
                <a:solidFill>
                  <a:srgbClr val="FF0000"/>
                </a:solidFill>
                <a:latin typeface="Arial"/>
                <a:cs typeface="Arial"/>
              </a:rPr>
              <a:t>ignore </a:t>
            </a:r>
            <a:r>
              <a:rPr sz="1950" spc="135" dirty="0">
                <a:solidFill>
                  <a:srgbClr val="FF0000"/>
                </a:solidFill>
                <a:latin typeface="Arial"/>
                <a:cs typeface="Arial"/>
              </a:rPr>
              <a:t>others </a:t>
            </a:r>
            <a:r>
              <a:rPr sz="1950" spc="160" dirty="0">
                <a:solidFill>
                  <a:srgbClr val="FF0000"/>
                </a:solidFill>
                <a:latin typeface="Arial"/>
                <a:cs typeface="Arial"/>
              </a:rPr>
              <a:t>(symmetry, </a:t>
            </a:r>
            <a:r>
              <a:rPr sz="1950" spc="140" dirty="0">
                <a:solidFill>
                  <a:srgbClr val="FF0000"/>
                </a:solidFill>
                <a:latin typeface="Arial"/>
                <a:cs typeface="Arial"/>
              </a:rPr>
              <a:t>partial </a:t>
            </a:r>
            <a:r>
              <a:rPr sz="1950" spc="475" dirty="0">
                <a:solidFill>
                  <a:srgbClr val="FF0000"/>
                </a:solidFill>
                <a:latin typeface="Arial"/>
                <a:cs typeface="Arial"/>
              </a:rPr>
              <a:t> </a:t>
            </a:r>
            <a:r>
              <a:rPr sz="1950" spc="150" dirty="0">
                <a:solidFill>
                  <a:srgbClr val="FF0000"/>
                </a:solidFill>
                <a:latin typeface="Arial"/>
                <a:cs typeface="Arial"/>
              </a:rPr>
              <a:t>order)</a:t>
            </a:r>
            <a:endParaRPr sz="1950">
              <a:latin typeface="Arial"/>
              <a:cs typeface="Arial"/>
            </a:endParaRPr>
          </a:p>
          <a:p>
            <a:pPr marL="300990" indent="-288290">
              <a:lnSpc>
                <a:spcPct val="100000"/>
              </a:lnSpc>
              <a:spcBef>
                <a:spcPts val="1050"/>
              </a:spcBef>
              <a:buSzPct val="105128"/>
              <a:buFont typeface="Lucida Sans Unicode"/>
              <a:buChar char="•"/>
              <a:tabLst>
                <a:tab pos="301625" algn="l"/>
              </a:tabLst>
            </a:pPr>
            <a:r>
              <a:rPr sz="1950" spc="335" dirty="0">
                <a:solidFill>
                  <a:srgbClr val="231F20"/>
                </a:solidFill>
                <a:latin typeface="Arial"/>
                <a:cs typeface="Arial"/>
              </a:rPr>
              <a:t>LTL </a:t>
            </a:r>
            <a:r>
              <a:rPr sz="1950" spc="40" dirty="0">
                <a:solidFill>
                  <a:srgbClr val="231F20"/>
                </a:solidFill>
                <a:latin typeface="Arial"/>
                <a:cs typeface="Arial"/>
              </a:rPr>
              <a:t>is </a:t>
            </a:r>
            <a:r>
              <a:rPr sz="1950" spc="114" dirty="0">
                <a:solidFill>
                  <a:srgbClr val="231F20"/>
                </a:solidFill>
                <a:latin typeface="Arial"/>
                <a:cs typeface="Arial"/>
              </a:rPr>
              <a:t>handled </a:t>
            </a:r>
            <a:r>
              <a:rPr sz="1950" spc="105" dirty="0">
                <a:solidFill>
                  <a:srgbClr val="231F20"/>
                </a:solidFill>
                <a:latin typeface="Arial"/>
                <a:cs typeface="Arial"/>
              </a:rPr>
              <a:t>via </a:t>
            </a:r>
            <a:r>
              <a:rPr sz="1950" spc="35" dirty="0">
                <a:solidFill>
                  <a:srgbClr val="231F20"/>
                </a:solidFill>
                <a:latin typeface="Arial"/>
                <a:cs typeface="Arial"/>
              </a:rPr>
              <a:t>Bu¨chi </a:t>
            </a:r>
            <a:r>
              <a:rPr sz="1950" spc="220" dirty="0">
                <a:solidFill>
                  <a:srgbClr val="231F20"/>
                </a:solidFill>
                <a:latin typeface="Arial"/>
                <a:cs typeface="Arial"/>
              </a:rPr>
              <a:t> </a:t>
            </a:r>
            <a:r>
              <a:rPr sz="1950" spc="195" dirty="0">
                <a:solidFill>
                  <a:srgbClr val="231F20"/>
                </a:solidFill>
                <a:latin typeface="Arial"/>
                <a:cs typeface="Arial"/>
              </a:rPr>
              <a:t>automata</a:t>
            </a:r>
            <a:endParaRPr sz="1950">
              <a:latin typeface="Arial"/>
              <a:cs typeface="Arial"/>
            </a:endParaRPr>
          </a:p>
          <a:p>
            <a:pPr marL="300990" marR="5080" indent="-288290">
              <a:lnSpc>
                <a:spcPct val="125000"/>
              </a:lnSpc>
              <a:spcBef>
                <a:spcPts val="465"/>
              </a:spcBef>
              <a:buClr>
                <a:srgbClr val="231F20"/>
              </a:buClr>
              <a:buSzPct val="105128"/>
              <a:buFont typeface="Lucida Sans Unicode"/>
              <a:buChar char="•"/>
              <a:tabLst>
                <a:tab pos="301625" algn="l"/>
                <a:tab pos="1285875" algn="l"/>
              </a:tabLst>
            </a:pPr>
            <a:r>
              <a:rPr sz="1950" spc="135" dirty="0">
                <a:solidFill>
                  <a:srgbClr val="0000FF"/>
                </a:solidFill>
                <a:latin typeface="Arial"/>
                <a:cs typeface="Arial"/>
              </a:rPr>
              <a:t>Can </a:t>
            </a:r>
            <a:r>
              <a:rPr sz="1950" spc="114" dirty="0">
                <a:solidFill>
                  <a:srgbClr val="0000FF"/>
                </a:solidFill>
                <a:latin typeface="Arial"/>
                <a:cs typeface="Arial"/>
              </a:rPr>
              <a:t>evaluate </a:t>
            </a:r>
            <a:r>
              <a:rPr sz="1950" spc="150" dirty="0">
                <a:solidFill>
                  <a:srgbClr val="0000FF"/>
                </a:solidFill>
                <a:latin typeface="Arial"/>
                <a:cs typeface="Arial"/>
              </a:rPr>
              <a:t>functions, </a:t>
            </a:r>
            <a:r>
              <a:rPr sz="1950" spc="220" dirty="0">
                <a:solidFill>
                  <a:srgbClr val="0000FF"/>
                </a:solidFill>
                <a:latin typeface="Arial"/>
                <a:cs typeface="Arial"/>
              </a:rPr>
              <a:t>not </a:t>
            </a:r>
            <a:r>
              <a:rPr sz="1950" spc="165" dirty="0">
                <a:solidFill>
                  <a:srgbClr val="0000FF"/>
                </a:solidFill>
                <a:latin typeface="Arial"/>
                <a:cs typeface="Arial"/>
              </a:rPr>
              <a:t>just </a:t>
            </a:r>
            <a:r>
              <a:rPr sz="1950" spc="110" dirty="0">
                <a:solidFill>
                  <a:srgbClr val="0000FF"/>
                </a:solidFill>
                <a:latin typeface="Arial"/>
                <a:cs typeface="Arial"/>
              </a:rPr>
              <a:t>predicates, </a:t>
            </a:r>
            <a:r>
              <a:rPr sz="1950" spc="155" dirty="0">
                <a:solidFill>
                  <a:srgbClr val="0000FF"/>
                </a:solidFill>
                <a:latin typeface="Arial"/>
                <a:cs typeface="Arial"/>
              </a:rPr>
              <a:t>on </a:t>
            </a:r>
            <a:r>
              <a:rPr sz="1950" spc="175" dirty="0">
                <a:solidFill>
                  <a:srgbClr val="0000FF"/>
                </a:solidFill>
                <a:latin typeface="Arial"/>
                <a:cs typeface="Arial"/>
              </a:rPr>
              <a:t>the </a:t>
            </a:r>
            <a:r>
              <a:rPr sz="1950" spc="100" dirty="0">
                <a:solidFill>
                  <a:srgbClr val="0000FF"/>
                </a:solidFill>
                <a:latin typeface="Arial"/>
                <a:cs typeface="Arial"/>
              </a:rPr>
              <a:t>reachable  </a:t>
            </a:r>
            <a:r>
              <a:rPr sz="1950" spc="125" dirty="0">
                <a:solidFill>
                  <a:srgbClr val="0000FF"/>
                </a:solidFill>
                <a:latin typeface="Arial"/>
                <a:cs typeface="Arial"/>
              </a:rPr>
              <a:t>states:	</a:t>
            </a:r>
            <a:r>
              <a:rPr sz="1950" spc="120" dirty="0">
                <a:solidFill>
                  <a:srgbClr val="0000FF"/>
                </a:solidFill>
                <a:latin typeface="Arial"/>
                <a:cs typeface="Arial"/>
              </a:rPr>
              <a:t>can </a:t>
            </a:r>
            <a:r>
              <a:rPr sz="1950" spc="130" dirty="0">
                <a:solidFill>
                  <a:srgbClr val="0000FF"/>
                </a:solidFill>
                <a:latin typeface="Arial"/>
                <a:cs typeface="Arial"/>
              </a:rPr>
              <a:t>calculate </a:t>
            </a:r>
            <a:r>
              <a:rPr sz="1950" spc="100" dirty="0">
                <a:solidFill>
                  <a:srgbClr val="0000FF"/>
                </a:solidFill>
                <a:latin typeface="Arial"/>
                <a:cs typeface="Arial"/>
              </a:rPr>
              <a:t>worst-cases, </a:t>
            </a:r>
            <a:r>
              <a:rPr sz="1950" spc="155" dirty="0">
                <a:solidFill>
                  <a:srgbClr val="0000FF"/>
                </a:solidFill>
                <a:latin typeface="Arial"/>
                <a:cs typeface="Arial"/>
              </a:rPr>
              <a:t>do</a:t>
            </a:r>
            <a:r>
              <a:rPr sz="1950" spc="780" dirty="0">
                <a:solidFill>
                  <a:srgbClr val="0000FF"/>
                </a:solidFill>
                <a:latin typeface="Arial"/>
                <a:cs typeface="Arial"/>
              </a:rPr>
              <a:t> </a:t>
            </a:r>
            <a:r>
              <a:rPr sz="1950" spc="175" dirty="0">
                <a:solidFill>
                  <a:srgbClr val="0000FF"/>
                </a:solidFill>
                <a:latin typeface="Arial"/>
                <a:cs typeface="Arial"/>
              </a:rPr>
              <a:t>optimization</a:t>
            </a:r>
            <a:endParaRPr sz="1950">
              <a:latin typeface="Arial"/>
              <a:cs typeface="Arial"/>
            </a:endParaRPr>
          </a:p>
          <a:p>
            <a:pPr marL="17780">
              <a:lnSpc>
                <a:spcPct val="100000"/>
              </a:lnSpc>
              <a:spcBef>
                <a:spcPts val="1780"/>
              </a:spcBef>
            </a:pPr>
            <a:r>
              <a:rPr sz="1950" spc="275" dirty="0">
                <a:solidFill>
                  <a:srgbClr val="FF0000"/>
                </a:solidFill>
                <a:latin typeface="Arial"/>
                <a:cs typeface="Arial"/>
              </a:rPr>
              <a:t>But </a:t>
            </a:r>
            <a:r>
              <a:rPr sz="1950" spc="229" dirty="0">
                <a:solidFill>
                  <a:srgbClr val="FF0000"/>
                </a:solidFill>
                <a:latin typeface="Arial"/>
                <a:cs typeface="Arial"/>
              </a:rPr>
              <a:t>it </a:t>
            </a:r>
            <a:r>
              <a:rPr sz="1950" spc="110" dirty="0">
                <a:solidFill>
                  <a:srgbClr val="FF0000"/>
                </a:solidFill>
                <a:latin typeface="Arial"/>
                <a:cs typeface="Arial"/>
              </a:rPr>
              <a:t>runs </a:t>
            </a:r>
            <a:r>
              <a:rPr sz="1950" spc="220" dirty="0">
                <a:solidFill>
                  <a:srgbClr val="FF0000"/>
                </a:solidFill>
                <a:latin typeface="Arial"/>
                <a:cs typeface="Arial"/>
              </a:rPr>
              <a:t>out </a:t>
            </a:r>
            <a:r>
              <a:rPr sz="1950" spc="185" dirty="0">
                <a:solidFill>
                  <a:srgbClr val="FF0000"/>
                </a:solidFill>
                <a:latin typeface="Arial"/>
                <a:cs typeface="Arial"/>
              </a:rPr>
              <a:t>of </a:t>
            </a:r>
            <a:r>
              <a:rPr sz="1950" spc="145" dirty="0">
                <a:solidFill>
                  <a:srgbClr val="FF0000"/>
                </a:solidFill>
                <a:latin typeface="Arial"/>
                <a:cs typeface="Arial"/>
              </a:rPr>
              <a:t>steam </a:t>
            </a:r>
            <a:r>
              <a:rPr sz="1950" spc="155" dirty="0">
                <a:solidFill>
                  <a:srgbClr val="FF0000"/>
                </a:solidFill>
                <a:latin typeface="Arial"/>
                <a:cs typeface="Arial"/>
              </a:rPr>
              <a:t>on </a:t>
            </a:r>
            <a:r>
              <a:rPr sz="1950" spc="140" dirty="0">
                <a:solidFill>
                  <a:srgbClr val="FF0000"/>
                </a:solidFill>
                <a:latin typeface="Arial"/>
                <a:cs typeface="Arial"/>
              </a:rPr>
              <a:t>big </a:t>
            </a:r>
            <a:r>
              <a:rPr sz="1950" spc="220" dirty="0">
                <a:solidFill>
                  <a:srgbClr val="FF0000"/>
                </a:solidFill>
                <a:latin typeface="Arial"/>
                <a:cs typeface="Arial"/>
              </a:rPr>
              <a:t> </a:t>
            </a:r>
            <a:r>
              <a:rPr sz="1950" spc="95" dirty="0">
                <a:solidFill>
                  <a:srgbClr val="FF0000"/>
                </a:solidFill>
                <a:latin typeface="Arial"/>
                <a:cs typeface="Arial"/>
              </a:rPr>
              <a:t>examples</a:t>
            </a:r>
            <a:endParaRPr sz="1950">
              <a:latin typeface="Arial"/>
              <a:cs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93469"/>
            <a:ext cx="8181975" cy="6049010"/>
          </a:xfrm>
          <a:prstGeom prst="rect">
            <a:avLst/>
          </a:prstGeom>
        </p:spPr>
        <p:txBody>
          <a:bodyPr vert="horz" wrap="square" lIns="0" tIns="0" rIns="0" bIns="0" rtlCol="0">
            <a:spAutoFit/>
          </a:bodyPr>
          <a:lstStyle/>
          <a:p>
            <a:pPr marL="926465">
              <a:lnSpc>
                <a:spcPct val="100000"/>
              </a:lnSpc>
            </a:pPr>
            <a:r>
              <a:rPr sz="1950" spc="195" dirty="0">
                <a:solidFill>
                  <a:srgbClr val="231F20"/>
                </a:solidFill>
                <a:latin typeface="Arial"/>
                <a:cs typeface="Arial"/>
              </a:rPr>
              <a:t>Analysis </a:t>
            </a:r>
            <a:r>
              <a:rPr sz="1950" spc="200" dirty="0">
                <a:solidFill>
                  <a:srgbClr val="231F20"/>
                </a:solidFill>
                <a:latin typeface="Arial"/>
                <a:cs typeface="Arial"/>
              </a:rPr>
              <a:t>by </a:t>
            </a:r>
            <a:r>
              <a:rPr sz="1950" spc="260" dirty="0">
                <a:solidFill>
                  <a:srgbClr val="231F20"/>
                </a:solidFill>
                <a:latin typeface="Arial"/>
                <a:cs typeface="Arial"/>
              </a:rPr>
              <a:t>Symbolic </a:t>
            </a:r>
            <a:r>
              <a:rPr sz="1950" spc="305" dirty="0">
                <a:solidFill>
                  <a:srgbClr val="231F20"/>
                </a:solidFill>
                <a:latin typeface="Arial"/>
                <a:cs typeface="Arial"/>
              </a:rPr>
              <a:t>Model </a:t>
            </a:r>
            <a:r>
              <a:rPr sz="1950" spc="245" dirty="0">
                <a:solidFill>
                  <a:srgbClr val="231F20"/>
                </a:solidFill>
                <a:latin typeface="Arial"/>
                <a:cs typeface="Arial"/>
              </a:rPr>
              <a:t>Checking</a:t>
            </a:r>
            <a:r>
              <a:rPr sz="1950" spc="840" dirty="0">
                <a:solidFill>
                  <a:srgbClr val="231F20"/>
                </a:solidFill>
                <a:latin typeface="Arial"/>
                <a:cs typeface="Arial"/>
              </a:rPr>
              <a:t> </a:t>
            </a:r>
            <a:r>
              <a:rPr sz="1950" spc="395" dirty="0">
                <a:solidFill>
                  <a:srgbClr val="231F20"/>
                </a:solidFill>
                <a:latin typeface="Arial"/>
                <a:cs typeface="Arial"/>
              </a:rPr>
              <a:t>(SMC)</a:t>
            </a:r>
            <a:endParaRPr sz="1950">
              <a:latin typeface="Arial"/>
              <a:cs typeface="Arial"/>
            </a:endParaRPr>
          </a:p>
          <a:p>
            <a:pPr marL="300990" marR="5080" indent="-288290">
              <a:lnSpc>
                <a:spcPct val="125000"/>
              </a:lnSpc>
              <a:spcBef>
                <a:spcPts val="1035"/>
              </a:spcBef>
              <a:buSzPct val="105128"/>
              <a:buFont typeface="Lucida Sans Unicode"/>
              <a:buChar char="•"/>
              <a:tabLst>
                <a:tab pos="301625" algn="l"/>
              </a:tabLst>
            </a:pPr>
            <a:r>
              <a:rPr sz="1950" spc="195" dirty="0">
                <a:solidFill>
                  <a:srgbClr val="231F20"/>
                </a:solidFill>
                <a:latin typeface="Arial"/>
                <a:cs typeface="Arial"/>
              </a:rPr>
              <a:t>We </a:t>
            </a:r>
            <a:r>
              <a:rPr sz="1950" spc="140" dirty="0">
                <a:solidFill>
                  <a:srgbClr val="231F20"/>
                </a:solidFill>
                <a:latin typeface="Arial"/>
                <a:cs typeface="Arial"/>
              </a:rPr>
              <a:t>could </a:t>
            </a:r>
            <a:r>
              <a:rPr sz="1950" spc="145" dirty="0">
                <a:solidFill>
                  <a:srgbClr val="231F20"/>
                </a:solidFill>
                <a:latin typeface="Arial"/>
                <a:cs typeface="Arial"/>
              </a:rPr>
              <a:t>take </a:t>
            </a:r>
            <a:r>
              <a:rPr sz="1950" spc="85" dirty="0">
                <a:solidFill>
                  <a:srgbClr val="231F20"/>
                </a:solidFill>
                <a:latin typeface="Arial"/>
                <a:cs typeface="Arial"/>
              </a:rPr>
              <a:t>a </a:t>
            </a:r>
            <a:r>
              <a:rPr sz="1950" spc="140" dirty="0">
                <a:solidFill>
                  <a:srgbClr val="0000FF"/>
                </a:solidFill>
                <a:latin typeface="Arial"/>
                <a:cs typeface="Arial"/>
              </a:rPr>
              <a:t>symbolic </a:t>
            </a:r>
            <a:r>
              <a:rPr sz="1950" spc="125" dirty="0">
                <a:solidFill>
                  <a:srgbClr val="231F20"/>
                </a:solidFill>
                <a:latin typeface="Arial"/>
                <a:cs typeface="Arial"/>
              </a:rPr>
              <a:t>representation </a:t>
            </a:r>
            <a:r>
              <a:rPr sz="1950" spc="185" dirty="0">
                <a:solidFill>
                  <a:srgbClr val="231F20"/>
                </a:solidFill>
                <a:latin typeface="Arial"/>
                <a:cs typeface="Arial"/>
              </a:rPr>
              <a:t>of </a:t>
            </a:r>
            <a:r>
              <a:rPr sz="1950" spc="175" dirty="0">
                <a:solidFill>
                  <a:srgbClr val="231F20"/>
                </a:solidFill>
                <a:latin typeface="Arial"/>
                <a:cs typeface="Arial"/>
              </a:rPr>
              <a:t>the </a:t>
            </a:r>
            <a:r>
              <a:rPr sz="1950" spc="160" dirty="0">
                <a:solidFill>
                  <a:srgbClr val="231F20"/>
                </a:solidFill>
                <a:latin typeface="Arial"/>
                <a:cs typeface="Arial"/>
              </a:rPr>
              <a:t>transition  </a:t>
            </a:r>
            <a:r>
              <a:rPr sz="1950" spc="145" dirty="0">
                <a:solidFill>
                  <a:srgbClr val="231F20"/>
                </a:solidFill>
                <a:latin typeface="Arial"/>
                <a:cs typeface="Arial"/>
              </a:rPr>
              <a:t>relation </a:t>
            </a:r>
            <a:r>
              <a:rPr sz="1950" spc="130" dirty="0">
                <a:solidFill>
                  <a:srgbClr val="231F20"/>
                </a:solidFill>
                <a:latin typeface="Arial"/>
                <a:cs typeface="Arial"/>
              </a:rPr>
              <a:t>and </a:t>
            </a:r>
            <a:r>
              <a:rPr sz="1950" spc="125" dirty="0">
                <a:solidFill>
                  <a:srgbClr val="231F20"/>
                </a:solidFill>
                <a:latin typeface="Arial"/>
                <a:cs typeface="Arial"/>
              </a:rPr>
              <a:t>repeatedly </a:t>
            </a:r>
            <a:r>
              <a:rPr sz="1950" spc="135" dirty="0">
                <a:solidFill>
                  <a:srgbClr val="FF0000"/>
                </a:solidFill>
                <a:latin typeface="Arial"/>
                <a:cs typeface="Arial"/>
              </a:rPr>
              <a:t>compose </a:t>
            </a:r>
            <a:r>
              <a:rPr sz="1950" spc="229" dirty="0">
                <a:solidFill>
                  <a:srgbClr val="231F20"/>
                </a:solidFill>
                <a:latin typeface="Arial"/>
                <a:cs typeface="Arial"/>
              </a:rPr>
              <a:t>it </a:t>
            </a:r>
            <a:r>
              <a:rPr sz="1950" spc="215" dirty="0">
                <a:solidFill>
                  <a:srgbClr val="231F20"/>
                </a:solidFill>
                <a:latin typeface="Arial"/>
                <a:cs typeface="Arial"/>
              </a:rPr>
              <a:t>with </a:t>
            </a:r>
            <a:r>
              <a:rPr sz="1950" spc="130" dirty="0">
                <a:solidFill>
                  <a:srgbClr val="231F20"/>
                </a:solidFill>
                <a:latin typeface="Arial"/>
                <a:cs typeface="Arial"/>
              </a:rPr>
              <a:t>itself </a:t>
            </a:r>
            <a:r>
              <a:rPr sz="1950" spc="175" dirty="0">
                <a:solidFill>
                  <a:srgbClr val="231F20"/>
                </a:solidFill>
                <a:latin typeface="Arial"/>
                <a:cs typeface="Arial"/>
              </a:rPr>
              <a:t>until </a:t>
            </a:r>
            <a:r>
              <a:rPr sz="1950" spc="229" dirty="0">
                <a:solidFill>
                  <a:srgbClr val="231F20"/>
                </a:solidFill>
                <a:latin typeface="Arial"/>
                <a:cs typeface="Arial"/>
              </a:rPr>
              <a:t>it </a:t>
            </a:r>
            <a:r>
              <a:rPr sz="1950" spc="75" dirty="0">
                <a:solidFill>
                  <a:srgbClr val="231F20"/>
                </a:solidFill>
                <a:latin typeface="Arial"/>
                <a:cs typeface="Arial"/>
              </a:rPr>
              <a:t>reaches  </a:t>
            </a:r>
            <a:r>
              <a:rPr sz="1950" spc="85" dirty="0">
                <a:solidFill>
                  <a:srgbClr val="231F20"/>
                </a:solidFill>
                <a:latin typeface="Arial"/>
                <a:cs typeface="Arial"/>
              </a:rPr>
              <a:t>a </a:t>
            </a:r>
            <a:r>
              <a:rPr sz="1950" spc="180" dirty="0">
                <a:solidFill>
                  <a:srgbClr val="FF0000"/>
                </a:solidFill>
                <a:latin typeface="Arial"/>
                <a:cs typeface="Arial"/>
              </a:rPr>
              <a:t>fixpoint </a:t>
            </a:r>
            <a:r>
              <a:rPr sz="1950" spc="215" dirty="0">
                <a:solidFill>
                  <a:srgbClr val="231F20"/>
                </a:solidFill>
                <a:latin typeface="Arial"/>
                <a:cs typeface="Arial"/>
              </a:rPr>
              <a:t>(must </a:t>
            </a:r>
            <a:r>
              <a:rPr sz="1950" spc="114" dirty="0">
                <a:solidFill>
                  <a:srgbClr val="231F20"/>
                </a:solidFill>
                <a:latin typeface="Arial"/>
                <a:cs typeface="Arial"/>
              </a:rPr>
              <a:t>exist </a:t>
            </a:r>
            <a:r>
              <a:rPr sz="1950" spc="155" dirty="0">
                <a:solidFill>
                  <a:srgbClr val="231F20"/>
                </a:solidFill>
                <a:latin typeface="Arial"/>
                <a:cs typeface="Arial"/>
              </a:rPr>
              <a:t>for </a:t>
            </a:r>
            <a:r>
              <a:rPr sz="1950" spc="160" dirty="0">
                <a:solidFill>
                  <a:srgbClr val="231F20"/>
                </a:solidFill>
                <a:latin typeface="Arial"/>
                <a:cs typeface="Arial"/>
              </a:rPr>
              <a:t>finite </a:t>
            </a:r>
            <a:r>
              <a:rPr sz="1950" spc="235" dirty="0">
                <a:solidFill>
                  <a:srgbClr val="231F20"/>
                </a:solidFill>
                <a:latin typeface="Arial"/>
                <a:cs typeface="Arial"/>
              </a:rPr>
              <a:t> </a:t>
            </a:r>
            <a:r>
              <a:rPr sz="1950" spc="125" dirty="0">
                <a:solidFill>
                  <a:srgbClr val="231F20"/>
                </a:solidFill>
                <a:latin typeface="Arial"/>
                <a:cs typeface="Arial"/>
              </a:rPr>
              <a:t>systems)</a:t>
            </a:r>
            <a:endParaRPr sz="1950">
              <a:latin typeface="Arial"/>
              <a:cs typeface="Arial"/>
            </a:endParaRPr>
          </a:p>
          <a:p>
            <a:pPr marL="300990" marR="69850" indent="-288290">
              <a:lnSpc>
                <a:spcPct val="125000"/>
              </a:lnSpc>
              <a:spcBef>
                <a:spcPts val="1035"/>
              </a:spcBef>
              <a:buSzPct val="105128"/>
              <a:buFont typeface="Lucida Sans Unicode"/>
              <a:buChar char="•"/>
              <a:tabLst>
                <a:tab pos="301625" algn="l"/>
              </a:tabLst>
            </a:pPr>
            <a:r>
              <a:rPr sz="1950" spc="290" dirty="0">
                <a:solidFill>
                  <a:srgbClr val="231F20"/>
                </a:solidFill>
                <a:latin typeface="Arial"/>
                <a:cs typeface="Arial"/>
              </a:rPr>
              <a:t>That </a:t>
            </a:r>
            <a:r>
              <a:rPr sz="1950" spc="150" dirty="0">
                <a:solidFill>
                  <a:srgbClr val="231F20"/>
                </a:solidFill>
                <a:latin typeface="Arial"/>
                <a:cs typeface="Arial"/>
              </a:rPr>
              <a:t>would </a:t>
            </a:r>
            <a:r>
              <a:rPr sz="1950" spc="100" dirty="0">
                <a:solidFill>
                  <a:srgbClr val="231F20"/>
                </a:solidFill>
                <a:latin typeface="Arial"/>
                <a:cs typeface="Arial"/>
              </a:rPr>
              <a:t>give </a:t>
            </a:r>
            <a:r>
              <a:rPr sz="1950" spc="65" dirty="0">
                <a:solidFill>
                  <a:srgbClr val="231F20"/>
                </a:solidFill>
                <a:latin typeface="Arial"/>
                <a:cs typeface="Arial"/>
              </a:rPr>
              <a:t>us </a:t>
            </a:r>
            <a:r>
              <a:rPr sz="1950" spc="85" dirty="0">
                <a:solidFill>
                  <a:srgbClr val="231F20"/>
                </a:solidFill>
                <a:latin typeface="Arial"/>
                <a:cs typeface="Arial"/>
              </a:rPr>
              <a:t>a </a:t>
            </a:r>
            <a:r>
              <a:rPr sz="1950" spc="125" dirty="0">
                <a:solidFill>
                  <a:srgbClr val="231F20"/>
                </a:solidFill>
                <a:latin typeface="Arial"/>
                <a:cs typeface="Arial"/>
              </a:rPr>
              <a:t>representation </a:t>
            </a:r>
            <a:r>
              <a:rPr sz="1950" spc="185" dirty="0">
                <a:solidFill>
                  <a:srgbClr val="231F20"/>
                </a:solidFill>
                <a:latin typeface="Arial"/>
                <a:cs typeface="Arial"/>
              </a:rPr>
              <a:t>of </a:t>
            </a:r>
            <a:r>
              <a:rPr sz="1950" spc="175" dirty="0">
                <a:solidFill>
                  <a:srgbClr val="231F20"/>
                </a:solidFill>
                <a:latin typeface="Arial"/>
                <a:cs typeface="Arial"/>
              </a:rPr>
              <a:t>the </a:t>
            </a:r>
            <a:r>
              <a:rPr sz="1950" spc="100" dirty="0">
                <a:solidFill>
                  <a:srgbClr val="FF0000"/>
                </a:solidFill>
                <a:latin typeface="Arial"/>
                <a:cs typeface="Arial"/>
              </a:rPr>
              <a:t>reachable </a:t>
            </a:r>
            <a:r>
              <a:rPr sz="1950" spc="125" dirty="0">
                <a:solidFill>
                  <a:srgbClr val="FF0000"/>
                </a:solidFill>
                <a:latin typeface="Arial"/>
                <a:cs typeface="Arial"/>
              </a:rPr>
              <a:t>states</a:t>
            </a:r>
            <a:r>
              <a:rPr sz="1950" spc="125" dirty="0">
                <a:solidFill>
                  <a:srgbClr val="231F20"/>
                </a:solidFill>
                <a:latin typeface="Arial"/>
                <a:cs typeface="Arial"/>
              </a:rPr>
              <a:t>,  </a:t>
            </a:r>
            <a:r>
              <a:rPr sz="1950" spc="210" dirty="0">
                <a:solidFill>
                  <a:srgbClr val="231F20"/>
                </a:solidFill>
                <a:latin typeface="Arial"/>
                <a:cs typeface="Arial"/>
              </a:rPr>
              <a:t>from </a:t>
            </a:r>
            <a:r>
              <a:rPr sz="1950" spc="155" dirty="0">
                <a:solidFill>
                  <a:srgbClr val="231F20"/>
                </a:solidFill>
                <a:latin typeface="Arial"/>
                <a:cs typeface="Arial"/>
              </a:rPr>
              <a:t>which </a:t>
            </a:r>
            <a:r>
              <a:rPr sz="1950" spc="95" dirty="0">
                <a:solidFill>
                  <a:srgbClr val="231F20"/>
                </a:solidFill>
                <a:latin typeface="Arial"/>
                <a:cs typeface="Arial"/>
              </a:rPr>
              <a:t>we </a:t>
            </a:r>
            <a:r>
              <a:rPr sz="1950" spc="140" dirty="0">
                <a:solidFill>
                  <a:srgbClr val="231F20"/>
                </a:solidFill>
                <a:latin typeface="Arial"/>
                <a:cs typeface="Arial"/>
              </a:rPr>
              <a:t>could </a:t>
            </a:r>
            <a:r>
              <a:rPr sz="1950" spc="120" dirty="0">
                <a:solidFill>
                  <a:srgbClr val="231F20"/>
                </a:solidFill>
                <a:latin typeface="Arial"/>
                <a:cs typeface="Arial"/>
              </a:rPr>
              <a:t>check </a:t>
            </a:r>
            <a:r>
              <a:rPr sz="1950" spc="114" dirty="0">
                <a:solidFill>
                  <a:srgbClr val="231F20"/>
                </a:solidFill>
                <a:latin typeface="Arial"/>
                <a:cs typeface="Arial"/>
              </a:rPr>
              <a:t>safety </a:t>
            </a:r>
            <a:r>
              <a:rPr sz="1950" spc="125" dirty="0">
                <a:solidFill>
                  <a:srgbClr val="231F20"/>
                </a:solidFill>
                <a:latin typeface="Arial"/>
                <a:cs typeface="Arial"/>
              </a:rPr>
              <a:t>properties </a:t>
            </a:r>
            <a:r>
              <a:rPr sz="1950" spc="455" dirty="0">
                <a:solidFill>
                  <a:srgbClr val="231F20"/>
                </a:solidFill>
                <a:latin typeface="Arial"/>
                <a:cs typeface="Arial"/>
              </a:rPr>
              <a:t> </a:t>
            </a:r>
            <a:r>
              <a:rPr sz="1950" spc="145" dirty="0">
                <a:solidFill>
                  <a:srgbClr val="231F20"/>
                </a:solidFill>
                <a:latin typeface="Arial"/>
                <a:cs typeface="Arial"/>
              </a:rPr>
              <a:t>directly</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155" dirty="0">
                <a:solidFill>
                  <a:srgbClr val="231F20"/>
                </a:solidFill>
                <a:latin typeface="Arial"/>
                <a:cs typeface="Arial"/>
              </a:rPr>
              <a:t>Again, </a:t>
            </a:r>
            <a:r>
              <a:rPr sz="1950" spc="335" dirty="0">
                <a:solidFill>
                  <a:srgbClr val="231F20"/>
                </a:solidFill>
                <a:latin typeface="Arial"/>
                <a:cs typeface="Arial"/>
              </a:rPr>
              <a:t>LTL </a:t>
            </a:r>
            <a:r>
              <a:rPr sz="1950" spc="40" dirty="0">
                <a:solidFill>
                  <a:srgbClr val="231F20"/>
                </a:solidFill>
                <a:latin typeface="Arial"/>
                <a:cs typeface="Arial"/>
              </a:rPr>
              <a:t>is </a:t>
            </a:r>
            <a:r>
              <a:rPr sz="1950" spc="114" dirty="0">
                <a:solidFill>
                  <a:srgbClr val="231F20"/>
                </a:solidFill>
                <a:latin typeface="Arial"/>
                <a:cs typeface="Arial"/>
              </a:rPr>
              <a:t>handled </a:t>
            </a:r>
            <a:r>
              <a:rPr sz="1950" spc="105" dirty="0">
                <a:solidFill>
                  <a:srgbClr val="231F20"/>
                </a:solidFill>
                <a:latin typeface="Arial"/>
                <a:cs typeface="Arial"/>
              </a:rPr>
              <a:t>via </a:t>
            </a:r>
            <a:r>
              <a:rPr sz="1950" spc="35" dirty="0">
                <a:solidFill>
                  <a:srgbClr val="231F20"/>
                </a:solidFill>
                <a:latin typeface="Arial"/>
                <a:cs typeface="Arial"/>
              </a:rPr>
              <a:t>Bu¨chi </a:t>
            </a:r>
            <a:r>
              <a:rPr sz="1950" spc="365" dirty="0">
                <a:solidFill>
                  <a:srgbClr val="231F20"/>
                </a:solidFill>
                <a:latin typeface="Arial"/>
                <a:cs typeface="Arial"/>
              </a:rPr>
              <a:t> </a:t>
            </a:r>
            <a:r>
              <a:rPr sz="1950" spc="195" dirty="0">
                <a:solidFill>
                  <a:srgbClr val="231F20"/>
                </a:solidFill>
                <a:latin typeface="Arial"/>
                <a:cs typeface="Arial"/>
              </a:rPr>
              <a:t>automata</a:t>
            </a:r>
            <a:endParaRPr sz="1950">
              <a:latin typeface="Arial"/>
              <a:cs typeface="Arial"/>
            </a:endParaRPr>
          </a:p>
          <a:p>
            <a:pPr marL="300990" marR="320675" indent="-288290">
              <a:lnSpc>
                <a:spcPct val="125000"/>
              </a:lnSpc>
              <a:spcBef>
                <a:spcPts val="1035"/>
              </a:spcBef>
              <a:buClr>
                <a:srgbClr val="231F20"/>
              </a:buClr>
              <a:buSzPct val="105128"/>
              <a:buFont typeface="Lucida Sans Unicode"/>
              <a:buChar char="•"/>
              <a:tabLst>
                <a:tab pos="301625" algn="l"/>
              </a:tabLst>
            </a:pPr>
            <a:r>
              <a:rPr sz="1950" spc="114" dirty="0">
                <a:solidFill>
                  <a:srgbClr val="0000FF"/>
                </a:solidFill>
                <a:latin typeface="Arial"/>
                <a:cs typeface="Arial"/>
              </a:rPr>
              <a:t>Reduced </a:t>
            </a:r>
            <a:r>
              <a:rPr sz="1950" spc="150" dirty="0">
                <a:solidFill>
                  <a:srgbClr val="0000FF"/>
                </a:solidFill>
                <a:latin typeface="Arial"/>
                <a:cs typeface="Arial"/>
              </a:rPr>
              <a:t>Ordered Binary </a:t>
            </a:r>
            <a:r>
              <a:rPr sz="1950" spc="120" dirty="0">
                <a:solidFill>
                  <a:srgbClr val="0000FF"/>
                </a:solidFill>
                <a:latin typeface="Arial"/>
                <a:cs typeface="Arial"/>
              </a:rPr>
              <a:t>Decision </a:t>
            </a:r>
            <a:r>
              <a:rPr sz="1950" spc="155" dirty="0">
                <a:solidFill>
                  <a:srgbClr val="0000FF"/>
                </a:solidFill>
                <a:latin typeface="Arial"/>
                <a:cs typeface="Arial"/>
              </a:rPr>
              <a:t>Diagrams </a:t>
            </a:r>
            <a:r>
              <a:rPr sz="1950" spc="270" dirty="0">
                <a:solidFill>
                  <a:srgbClr val="231F20"/>
                </a:solidFill>
                <a:latin typeface="Arial"/>
                <a:cs typeface="Arial"/>
              </a:rPr>
              <a:t>(BDDs) </a:t>
            </a:r>
            <a:r>
              <a:rPr sz="1950" spc="65" dirty="0">
                <a:solidFill>
                  <a:srgbClr val="231F20"/>
                </a:solidFill>
                <a:latin typeface="Arial"/>
                <a:cs typeface="Arial"/>
              </a:rPr>
              <a:t>are </a:t>
            </a:r>
            <a:r>
              <a:rPr sz="1950" spc="85" dirty="0">
                <a:solidFill>
                  <a:srgbClr val="231F20"/>
                </a:solidFill>
                <a:latin typeface="Arial"/>
                <a:cs typeface="Arial"/>
              </a:rPr>
              <a:t>a  </a:t>
            </a:r>
            <a:r>
              <a:rPr sz="1950" spc="120" dirty="0">
                <a:solidFill>
                  <a:srgbClr val="231F20"/>
                </a:solidFill>
                <a:latin typeface="Arial"/>
                <a:cs typeface="Arial"/>
              </a:rPr>
              <a:t>suitable </a:t>
            </a:r>
            <a:r>
              <a:rPr sz="1950" spc="125" dirty="0">
                <a:solidFill>
                  <a:srgbClr val="231F20"/>
                </a:solidFill>
                <a:latin typeface="Arial"/>
                <a:cs typeface="Arial"/>
              </a:rPr>
              <a:t>representation </a:t>
            </a:r>
            <a:r>
              <a:rPr sz="1950" spc="155" dirty="0">
                <a:solidFill>
                  <a:srgbClr val="231F20"/>
                </a:solidFill>
                <a:latin typeface="Arial"/>
                <a:cs typeface="Arial"/>
              </a:rPr>
              <a:t>for </a:t>
            </a:r>
            <a:r>
              <a:rPr sz="1950" spc="145" dirty="0">
                <a:solidFill>
                  <a:srgbClr val="231F20"/>
                </a:solidFill>
                <a:latin typeface="Arial"/>
                <a:cs typeface="Arial"/>
              </a:rPr>
              <a:t>doing</a:t>
            </a:r>
            <a:r>
              <a:rPr sz="1950" spc="740" dirty="0">
                <a:solidFill>
                  <a:srgbClr val="231F20"/>
                </a:solidFill>
                <a:latin typeface="Arial"/>
                <a:cs typeface="Arial"/>
              </a:rPr>
              <a:t> </a:t>
            </a:r>
            <a:r>
              <a:rPr sz="1950" spc="145" dirty="0">
                <a:solidFill>
                  <a:srgbClr val="231F20"/>
                </a:solidFill>
                <a:latin typeface="Arial"/>
                <a:cs typeface="Arial"/>
              </a:rPr>
              <a:t>this</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204" dirty="0">
                <a:solidFill>
                  <a:srgbClr val="231F20"/>
                </a:solidFill>
                <a:latin typeface="Arial"/>
                <a:cs typeface="Arial"/>
              </a:rPr>
              <a:t>This </a:t>
            </a:r>
            <a:r>
              <a:rPr sz="1950" spc="40" dirty="0">
                <a:solidFill>
                  <a:srgbClr val="231F20"/>
                </a:solidFill>
                <a:latin typeface="Arial"/>
                <a:cs typeface="Arial"/>
              </a:rPr>
              <a:t>is </a:t>
            </a:r>
            <a:r>
              <a:rPr sz="1950" spc="175" dirty="0">
                <a:solidFill>
                  <a:srgbClr val="231F20"/>
                </a:solidFill>
                <a:latin typeface="Arial"/>
                <a:cs typeface="Arial"/>
              </a:rPr>
              <a:t>the </a:t>
            </a:r>
            <a:r>
              <a:rPr sz="1950" spc="90" dirty="0">
                <a:solidFill>
                  <a:srgbClr val="231F20"/>
                </a:solidFill>
                <a:latin typeface="Arial"/>
                <a:cs typeface="Arial"/>
              </a:rPr>
              <a:t>basic idea </a:t>
            </a:r>
            <a:r>
              <a:rPr sz="1950" spc="185" dirty="0">
                <a:solidFill>
                  <a:srgbClr val="231F20"/>
                </a:solidFill>
                <a:latin typeface="Arial"/>
                <a:cs typeface="Arial"/>
              </a:rPr>
              <a:t>of </a:t>
            </a:r>
            <a:r>
              <a:rPr sz="1950" spc="140" dirty="0">
                <a:solidFill>
                  <a:srgbClr val="FF0000"/>
                </a:solidFill>
                <a:latin typeface="Arial"/>
                <a:cs typeface="Arial"/>
              </a:rPr>
              <a:t>symbolic </a:t>
            </a:r>
            <a:r>
              <a:rPr sz="1950" spc="160" dirty="0">
                <a:solidFill>
                  <a:srgbClr val="FF0000"/>
                </a:solidFill>
                <a:latin typeface="Arial"/>
                <a:cs typeface="Arial"/>
              </a:rPr>
              <a:t>model </a:t>
            </a:r>
            <a:r>
              <a:rPr sz="1950" spc="610" dirty="0">
                <a:solidFill>
                  <a:srgbClr val="FF0000"/>
                </a:solidFill>
                <a:latin typeface="Arial"/>
                <a:cs typeface="Arial"/>
              </a:rPr>
              <a:t> </a:t>
            </a:r>
            <a:r>
              <a:rPr sz="1950" spc="125" dirty="0">
                <a:solidFill>
                  <a:srgbClr val="FF0000"/>
                </a:solidFill>
                <a:latin typeface="Arial"/>
                <a:cs typeface="Arial"/>
              </a:rPr>
              <a:t>checking</a:t>
            </a:r>
            <a:endParaRPr sz="1950">
              <a:latin typeface="Arial"/>
              <a:cs typeface="Arial"/>
            </a:endParaRPr>
          </a:p>
          <a:p>
            <a:pPr marL="741680" marR="1088390" lvl="1" indent="-288290">
              <a:lnSpc>
                <a:spcPct val="125000"/>
              </a:lnSpc>
              <a:spcBef>
                <a:spcPts val="409"/>
              </a:spcBef>
              <a:buSzPct val="105128"/>
              <a:buFont typeface="Lucida Sans Unicode"/>
              <a:buChar char="◦"/>
              <a:tabLst>
                <a:tab pos="742315" algn="l"/>
              </a:tabLst>
            </a:pPr>
            <a:r>
              <a:rPr sz="1950" spc="120" dirty="0">
                <a:solidFill>
                  <a:srgbClr val="231F20"/>
                </a:solidFill>
                <a:latin typeface="Arial"/>
                <a:cs typeface="Arial"/>
              </a:rPr>
              <a:t>In </a:t>
            </a:r>
            <a:r>
              <a:rPr sz="1950" spc="135" dirty="0">
                <a:solidFill>
                  <a:srgbClr val="231F20"/>
                </a:solidFill>
                <a:latin typeface="Arial"/>
                <a:cs typeface="Arial"/>
              </a:rPr>
              <a:t>practice, </a:t>
            </a:r>
            <a:r>
              <a:rPr sz="1950" spc="45" dirty="0">
                <a:solidFill>
                  <a:srgbClr val="231F20"/>
                </a:solidFill>
                <a:latin typeface="Arial"/>
                <a:cs typeface="Arial"/>
              </a:rPr>
              <a:t>use </a:t>
            </a:r>
            <a:r>
              <a:rPr sz="1950" spc="145" dirty="0">
                <a:solidFill>
                  <a:srgbClr val="231F20"/>
                </a:solidFill>
                <a:latin typeface="Arial"/>
                <a:cs typeface="Arial"/>
              </a:rPr>
              <a:t>different </a:t>
            </a:r>
            <a:r>
              <a:rPr sz="1950" spc="165" dirty="0">
                <a:solidFill>
                  <a:srgbClr val="231F20"/>
                </a:solidFill>
                <a:latin typeface="Arial"/>
                <a:cs typeface="Arial"/>
              </a:rPr>
              <a:t>methods </a:t>
            </a:r>
            <a:r>
              <a:rPr sz="1950" spc="185" dirty="0">
                <a:solidFill>
                  <a:srgbClr val="231F20"/>
                </a:solidFill>
                <a:latin typeface="Arial"/>
                <a:cs typeface="Arial"/>
              </a:rPr>
              <a:t>of </a:t>
            </a:r>
            <a:r>
              <a:rPr sz="1950" spc="140" dirty="0">
                <a:solidFill>
                  <a:srgbClr val="231F20"/>
                </a:solidFill>
                <a:latin typeface="Arial"/>
                <a:cs typeface="Arial"/>
              </a:rPr>
              <a:t>calculation,  </a:t>
            </a:r>
            <a:r>
              <a:rPr sz="1950" spc="125" dirty="0">
                <a:solidFill>
                  <a:srgbClr val="231F20"/>
                </a:solidFill>
                <a:latin typeface="Arial"/>
                <a:cs typeface="Arial"/>
              </a:rPr>
              <a:t>depending </a:t>
            </a:r>
            <a:r>
              <a:rPr sz="1950" spc="155" dirty="0">
                <a:solidFill>
                  <a:srgbClr val="231F20"/>
                </a:solidFill>
                <a:latin typeface="Arial"/>
                <a:cs typeface="Arial"/>
              </a:rPr>
              <a:t>on </a:t>
            </a:r>
            <a:r>
              <a:rPr sz="1950" spc="175" dirty="0">
                <a:solidFill>
                  <a:srgbClr val="231F20"/>
                </a:solidFill>
                <a:latin typeface="Arial"/>
                <a:cs typeface="Arial"/>
              </a:rPr>
              <a:t>the </a:t>
            </a:r>
            <a:r>
              <a:rPr sz="1950" spc="160" dirty="0">
                <a:solidFill>
                  <a:srgbClr val="231F20"/>
                </a:solidFill>
                <a:latin typeface="Arial"/>
                <a:cs typeface="Arial"/>
              </a:rPr>
              <a:t>type </a:t>
            </a:r>
            <a:r>
              <a:rPr sz="1950" spc="185" dirty="0">
                <a:solidFill>
                  <a:srgbClr val="231F20"/>
                </a:solidFill>
                <a:latin typeface="Arial"/>
                <a:cs typeface="Arial"/>
              </a:rPr>
              <a:t>of </a:t>
            </a:r>
            <a:r>
              <a:rPr sz="1950" spc="150" dirty="0">
                <a:solidFill>
                  <a:srgbClr val="231F20"/>
                </a:solidFill>
                <a:latin typeface="Arial"/>
                <a:cs typeface="Arial"/>
              </a:rPr>
              <a:t>property </a:t>
            </a:r>
            <a:r>
              <a:rPr sz="1950" spc="130" dirty="0">
                <a:solidFill>
                  <a:srgbClr val="231F20"/>
                </a:solidFill>
                <a:latin typeface="Arial"/>
                <a:cs typeface="Arial"/>
              </a:rPr>
              <a:t>being </a:t>
            </a:r>
            <a:r>
              <a:rPr sz="1950" spc="315" dirty="0">
                <a:solidFill>
                  <a:srgbClr val="231F20"/>
                </a:solidFill>
                <a:latin typeface="Arial"/>
                <a:cs typeface="Arial"/>
              </a:rPr>
              <a:t> </a:t>
            </a:r>
            <a:r>
              <a:rPr sz="1950" spc="100" dirty="0">
                <a:solidFill>
                  <a:srgbClr val="231F20"/>
                </a:solidFill>
                <a:latin typeface="Arial"/>
                <a:cs typeface="Arial"/>
              </a:rPr>
              <a:t>checked</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35" dirty="0">
                <a:solidFill>
                  <a:srgbClr val="231F20"/>
                </a:solidFill>
                <a:latin typeface="Arial"/>
                <a:cs typeface="Arial"/>
              </a:rPr>
              <a:t>Can </a:t>
            </a:r>
            <a:r>
              <a:rPr sz="1950" spc="170" dirty="0">
                <a:solidFill>
                  <a:srgbClr val="231F20"/>
                </a:solidFill>
                <a:latin typeface="Arial"/>
                <a:cs typeface="Arial"/>
              </a:rPr>
              <a:t>construct </a:t>
            </a:r>
            <a:r>
              <a:rPr sz="1950" spc="125" dirty="0">
                <a:solidFill>
                  <a:srgbClr val="FF0000"/>
                </a:solidFill>
                <a:latin typeface="Arial"/>
                <a:cs typeface="Arial"/>
              </a:rPr>
              <a:t>counterexamples </a:t>
            </a:r>
            <a:r>
              <a:rPr sz="1950" spc="155" dirty="0">
                <a:solidFill>
                  <a:srgbClr val="231F20"/>
                </a:solidFill>
                <a:latin typeface="Arial"/>
                <a:cs typeface="Arial"/>
              </a:rPr>
              <a:t>for </a:t>
            </a:r>
            <a:r>
              <a:rPr sz="1950" spc="80" dirty="0">
                <a:solidFill>
                  <a:srgbClr val="231F20"/>
                </a:solidFill>
                <a:latin typeface="Arial"/>
                <a:cs typeface="Arial"/>
              </a:rPr>
              <a:t>false </a:t>
            </a:r>
            <a:r>
              <a:rPr sz="1950" spc="225" dirty="0">
                <a:solidFill>
                  <a:srgbClr val="231F20"/>
                </a:solidFill>
                <a:latin typeface="Arial"/>
                <a:cs typeface="Arial"/>
              </a:rPr>
              <a:t> </a:t>
            </a:r>
            <a:r>
              <a:rPr sz="1950" spc="125" dirty="0">
                <a:solidFill>
                  <a:srgbClr val="231F20"/>
                </a:solidFill>
                <a:latin typeface="Arial"/>
                <a:cs typeface="Arial"/>
              </a:rPr>
              <a:t>properties</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35" dirty="0">
                <a:solidFill>
                  <a:srgbClr val="231F20"/>
                </a:solidFill>
                <a:latin typeface="Arial"/>
                <a:cs typeface="Arial"/>
              </a:rPr>
              <a:t>Can </a:t>
            </a:r>
            <a:r>
              <a:rPr sz="1950" spc="165" dirty="0">
                <a:solidFill>
                  <a:srgbClr val="231F20"/>
                </a:solidFill>
                <a:latin typeface="Arial"/>
                <a:cs typeface="Arial"/>
              </a:rPr>
              <a:t>(sometimes) </a:t>
            </a:r>
            <a:r>
              <a:rPr sz="1950" spc="110" dirty="0">
                <a:solidFill>
                  <a:srgbClr val="231F20"/>
                </a:solidFill>
                <a:latin typeface="Arial"/>
                <a:cs typeface="Arial"/>
              </a:rPr>
              <a:t>handle </a:t>
            </a:r>
            <a:r>
              <a:rPr sz="1950" spc="120" dirty="0">
                <a:solidFill>
                  <a:srgbClr val="0000FF"/>
                </a:solidFill>
                <a:latin typeface="Arial"/>
                <a:cs typeface="Arial"/>
              </a:rPr>
              <a:t>huge </a:t>
            </a:r>
            <a:r>
              <a:rPr sz="1950" spc="100" dirty="0">
                <a:solidFill>
                  <a:srgbClr val="0000FF"/>
                </a:solidFill>
                <a:latin typeface="Arial"/>
                <a:cs typeface="Arial"/>
              </a:rPr>
              <a:t>statespaces </a:t>
            </a:r>
            <a:r>
              <a:rPr sz="1950" spc="105" dirty="0">
                <a:solidFill>
                  <a:srgbClr val="231F20"/>
                </a:solidFill>
                <a:latin typeface="Arial"/>
                <a:cs typeface="Arial"/>
              </a:rPr>
              <a:t>very </a:t>
            </a:r>
            <a:r>
              <a:rPr sz="1950" spc="390" dirty="0">
                <a:solidFill>
                  <a:srgbClr val="231F20"/>
                </a:solidFill>
                <a:latin typeface="Arial"/>
                <a:cs typeface="Arial"/>
              </a:rPr>
              <a:t> </a:t>
            </a:r>
            <a:r>
              <a:rPr sz="1950" spc="135" dirty="0">
                <a:solidFill>
                  <a:srgbClr val="231F20"/>
                </a:solidFill>
                <a:latin typeface="Arial"/>
                <a:cs typeface="Arial"/>
              </a:rPr>
              <a:t>efficiently</a:t>
            </a:r>
            <a:endParaRPr sz="1950">
              <a:latin typeface="Arial"/>
              <a:cs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93469"/>
            <a:ext cx="8260715" cy="5939790"/>
          </a:xfrm>
          <a:prstGeom prst="rect">
            <a:avLst/>
          </a:prstGeom>
        </p:spPr>
        <p:txBody>
          <a:bodyPr vert="horz" wrap="square" lIns="0" tIns="0" rIns="0" bIns="0" rtlCol="0">
            <a:spAutoFit/>
          </a:bodyPr>
          <a:lstStyle/>
          <a:p>
            <a:pPr marL="1885950">
              <a:lnSpc>
                <a:spcPct val="100000"/>
              </a:lnSpc>
            </a:pPr>
            <a:r>
              <a:rPr sz="1950" spc="260" dirty="0">
                <a:solidFill>
                  <a:srgbClr val="231F20"/>
                </a:solidFill>
                <a:latin typeface="Arial"/>
                <a:cs typeface="Arial"/>
              </a:rPr>
              <a:t>Symbolic </a:t>
            </a:r>
            <a:r>
              <a:rPr sz="1950" spc="305" dirty="0">
                <a:solidFill>
                  <a:srgbClr val="231F20"/>
                </a:solidFill>
                <a:latin typeface="Arial"/>
                <a:cs typeface="Arial"/>
              </a:rPr>
              <a:t>Model </a:t>
            </a:r>
            <a:r>
              <a:rPr sz="1950" spc="245" dirty="0">
                <a:solidFill>
                  <a:srgbClr val="231F20"/>
                </a:solidFill>
                <a:latin typeface="Arial"/>
                <a:cs typeface="Arial"/>
              </a:rPr>
              <a:t>Checking</a:t>
            </a:r>
            <a:r>
              <a:rPr sz="1950" spc="480" dirty="0">
                <a:solidFill>
                  <a:srgbClr val="231F20"/>
                </a:solidFill>
                <a:latin typeface="Arial"/>
                <a:cs typeface="Arial"/>
              </a:rPr>
              <a:t> </a:t>
            </a:r>
            <a:r>
              <a:rPr sz="1950" spc="350" dirty="0">
                <a:solidFill>
                  <a:srgbClr val="231F20"/>
                </a:solidFill>
                <a:latin typeface="Arial"/>
                <a:cs typeface="Arial"/>
              </a:rPr>
              <a:t>(ctd)</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240" dirty="0">
                <a:solidFill>
                  <a:srgbClr val="231F20"/>
                </a:solidFill>
                <a:latin typeface="Arial"/>
                <a:cs typeface="Arial"/>
              </a:rPr>
              <a:t>Our </a:t>
            </a:r>
            <a:r>
              <a:rPr sz="1950" spc="140" dirty="0">
                <a:solidFill>
                  <a:srgbClr val="231F20"/>
                </a:solidFill>
                <a:latin typeface="Arial"/>
                <a:cs typeface="Arial"/>
              </a:rPr>
              <a:t>symbolic </a:t>
            </a:r>
            <a:r>
              <a:rPr sz="1950" spc="125" dirty="0">
                <a:solidFill>
                  <a:srgbClr val="231F20"/>
                </a:solidFill>
                <a:latin typeface="Arial"/>
                <a:cs typeface="Arial"/>
              </a:rPr>
              <a:t>representation </a:t>
            </a:r>
            <a:r>
              <a:rPr sz="1950" spc="40" dirty="0">
                <a:solidFill>
                  <a:srgbClr val="231F20"/>
                </a:solidFill>
                <a:latin typeface="Arial"/>
                <a:cs typeface="Arial"/>
              </a:rPr>
              <a:t>is </a:t>
            </a:r>
            <a:r>
              <a:rPr sz="1950" spc="85" dirty="0">
                <a:solidFill>
                  <a:srgbClr val="231F20"/>
                </a:solidFill>
                <a:latin typeface="Arial"/>
                <a:cs typeface="Arial"/>
              </a:rPr>
              <a:t>a </a:t>
            </a:r>
            <a:r>
              <a:rPr sz="1950" spc="120" dirty="0">
                <a:solidFill>
                  <a:srgbClr val="231F20"/>
                </a:solidFill>
                <a:latin typeface="Arial"/>
                <a:cs typeface="Arial"/>
              </a:rPr>
              <a:t>purely </a:t>
            </a:r>
            <a:r>
              <a:rPr sz="1950" spc="150" dirty="0">
                <a:solidFill>
                  <a:srgbClr val="0000FF"/>
                </a:solidFill>
                <a:latin typeface="Arial"/>
                <a:cs typeface="Arial"/>
              </a:rPr>
              <a:t>Boolean </a:t>
            </a:r>
            <a:r>
              <a:rPr sz="1950" spc="565" dirty="0">
                <a:solidFill>
                  <a:srgbClr val="0000FF"/>
                </a:solidFill>
                <a:latin typeface="Arial"/>
                <a:cs typeface="Arial"/>
              </a:rPr>
              <a:t> </a:t>
            </a:r>
            <a:r>
              <a:rPr sz="1950" spc="105" dirty="0">
                <a:solidFill>
                  <a:srgbClr val="231F20"/>
                </a:solidFill>
                <a:latin typeface="Arial"/>
                <a:cs typeface="Arial"/>
              </a:rPr>
              <a:t>one</a:t>
            </a:r>
            <a:endParaRPr sz="1950">
              <a:latin typeface="Arial"/>
              <a:cs typeface="Arial"/>
            </a:endParaRPr>
          </a:p>
          <a:p>
            <a:pPr marL="300990" marR="228600" indent="-288290">
              <a:lnSpc>
                <a:spcPct val="125000"/>
              </a:lnSpc>
              <a:spcBef>
                <a:spcPts val="1030"/>
              </a:spcBef>
              <a:buSzPct val="105128"/>
              <a:buFont typeface="Lucida Sans Unicode"/>
              <a:buChar char="•"/>
              <a:tabLst>
                <a:tab pos="301625" algn="l"/>
              </a:tabLst>
            </a:pPr>
            <a:r>
              <a:rPr sz="1950" spc="114" dirty="0">
                <a:solidFill>
                  <a:srgbClr val="231F20"/>
                </a:solidFill>
                <a:latin typeface="Arial"/>
                <a:cs typeface="Arial"/>
              </a:rPr>
              <a:t>So </a:t>
            </a:r>
            <a:r>
              <a:rPr sz="1950" spc="95" dirty="0">
                <a:solidFill>
                  <a:srgbClr val="231F20"/>
                </a:solidFill>
                <a:latin typeface="Arial"/>
                <a:cs typeface="Arial"/>
              </a:rPr>
              <a:t>we have </a:t>
            </a:r>
            <a:r>
              <a:rPr sz="1950" spc="250" dirty="0">
                <a:solidFill>
                  <a:srgbClr val="231F20"/>
                </a:solidFill>
                <a:latin typeface="Arial"/>
                <a:cs typeface="Arial"/>
              </a:rPr>
              <a:t>to </a:t>
            </a:r>
            <a:r>
              <a:rPr sz="1950" spc="140" dirty="0">
                <a:solidFill>
                  <a:srgbClr val="231F20"/>
                </a:solidFill>
                <a:latin typeface="Arial"/>
                <a:cs typeface="Arial"/>
              </a:rPr>
              <a:t>compile </a:t>
            </a:r>
            <a:r>
              <a:rPr sz="1950" spc="175" dirty="0">
                <a:solidFill>
                  <a:srgbClr val="231F20"/>
                </a:solidFill>
                <a:latin typeface="Arial"/>
                <a:cs typeface="Arial"/>
              </a:rPr>
              <a:t>the </a:t>
            </a:r>
            <a:r>
              <a:rPr sz="1950" spc="160" dirty="0">
                <a:solidFill>
                  <a:srgbClr val="231F20"/>
                </a:solidFill>
                <a:latin typeface="Arial"/>
                <a:cs typeface="Arial"/>
              </a:rPr>
              <a:t>transition </a:t>
            </a:r>
            <a:r>
              <a:rPr sz="1950" spc="145" dirty="0">
                <a:solidFill>
                  <a:srgbClr val="231F20"/>
                </a:solidFill>
                <a:latin typeface="Arial"/>
                <a:cs typeface="Arial"/>
              </a:rPr>
              <a:t>relation </a:t>
            </a:r>
            <a:r>
              <a:rPr sz="1950" spc="160" dirty="0">
                <a:solidFill>
                  <a:srgbClr val="231F20"/>
                </a:solidFill>
                <a:latin typeface="Arial"/>
                <a:cs typeface="Arial"/>
              </a:rPr>
              <a:t>down </a:t>
            </a:r>
            <a:r>
              <a:rPr sz="1950" spc="250" dirty="0">
                <a:solidFill>
                  <a:srgbClr val="231F20"/>
                </a:solidFill>
                <a:latin typeface="Arial"/>
                <a:cs typeface="Arial"/>
              </a:rPr>
              <a:t>to </a:t>
            </a:r>
            <a:r>
              <a:rPr sz="1950" spc="204" dirty="0">
                <a:solidFill>
                  <a:srgbClr val="231F20"/>
                </a:solidFill>
                <a:latin typeface="Arial"/>
                <a:cs typeface="Arial"/>
              </a:rPr>
              <a:t>what  </a:t>
            </a:r>
            <a:r>
              <a:rPr sz="1950" spc="40" dirty="0">
                <a:solidFill>
                  <a:srgbClr val="231F20"/>
                </a:solidFill>
                <a:latin typeface="Arial"/>
                <a:cs typeface="Arial"/>
              </a:rPr>
              <a:t>is </a:t>
            </a:r>
            <a:r>
              <a:rPr sz="1950" spc="90" dirty="0">
                <a:solidFill>
                  <a:srgbClr val="231F20"/>
                </a:solidFill>
                <a:latin typeface="Arial"/>
                <a:cs typeface="Arial"/>
              </a:rPr>
              <a:t>essentially </a:t>
            </a:r>
            <a:r>
              <a:rPr sz="1950" spc="85" dirty="0">
                <a:solidFill>
                  <a:srgbClr val="231F20"/>
                </a:solidFill>
                <a:latin typeface="Arial"/>
                <a:cs typeface="Arial"/>
              </a:rPr>
              <a:t>a</a:t>
            </a:r>
            <a:r>
              <a:rPr sz="1950" spc="705" dirty="0">
                <a:solidFill>
                  <a:srgbClr val="231F20"/>
                </a:solidFill>
                <a:latin typeface="Arial"/>
                <a:cs typeface="Arial"/>
              </a:rPr>
              <a:t> </a:t>
            </a:r>
            <a:r>
              <a:rPr sz="1950" spc="160" dirty="0">
                <a:solidFill>
                  <a:srgbClr val="231F20"/>
                </a:solidFill>
                <a:latin typeface="Arial"/>
                <a:cs typeface="Arial"/>
              </a:rPr>
              <a:t>circuit</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155" dirty="0">
                <a:solidFill>
                  <a:srgbClr val="231F20"/>
                </a:solidFill>
                <a:latin typeface="Arial"/>
                <a:cs typeface="Arial"/>
              </a:rPr>
              <a:t>Bounded </a:t>
            </a:r>
            <a:r>
              <a:rPr sz="1950" spc="114" dirty="0">
                <a:solidFill>
                  <a:srgbClr val="231F20"/>
                </a:solidFill>
                <a:latin typeface="Arial"/>
                <a:cs typeface="Arial"/>
              </a:rPr>
              <a:t>integers </a:t>
            </a:r>
            <a:r>
              <a:rPr sz="1950" spc="100" dirty="0">
                <a:solidFill>
                  <a:srgbClr val="231F20"/>
                </a:solidFill>
                <a:latin typeface="Arial"/>
                <a:cs typeface="Arial"/>
              </a:rPr>
              <a:t>represented </a:t>
            </a:r>
            <a:r>
              <a:rPr sz="1950" spc="105" dirty="0">
                <a:solidFill>
                  <a:srgbClr val="231F20"/>
                </a:solidFill>
                <a:latin typeface="Arial"/>
                <a:cs typeface="Arial"/>
              </a:rPr>
              <a:t>by </a:t>
            </a:r>
            <a:r>
              <a:rPr sz="1950" spc="145" dirty="0">
                <a:solidFill>
                  <a:srgbClr val="0000FF"/>
                </a:solidFill>
                <a:latin typeface="Arial"/>
                <a:cs typeface="Arial"/>
              </a:rPr>
              <a:t>bitvectors </a:t>
            </a:r>
            <a:r>
              <a:rPr sz="1950" spc="185" dirty="0">
                <a:solidFill>
                  <a:srgbClr val="231F20"/>
                </a:solidFill>
                <a:latin typeface="Arial"/>
                <a:cs typeface="Arial"/>
              </a:rPr>
              <a:t>of </a:t>
            </a:r>
            <a:r>
              <a:rPr sz="1950" spc="120" dirty="0">
                <a:solidFill>
                  <a:srgbClr val="231F20"/>
                </a:solidFill>
                <a:latin typeface="Arial"/>
                <a:cs typeface="Arial"/>
              </a:rPr>
              <a:t>suitable</a:t>
            </a:r>
            <a:r>
              <a:rPr sz="1950" spc="625" dirty="0">
                <a:solidFill>
                  <a:srgbClr val="231F20"/>
                </a:solidFill>
                <a:latin typeface="Arial"/>
                <a:cs typeface="Arial"/>
              </a:rPr>
              <a:t> </a:t>
            </a:r>
            <a:r>
              <a:rPr sz="1950" spc="45" dirty="0">
                <a:solidFill>
                  <a:srgbClr val="231F20"/>
                </a:solidFill>
                <a:latin typeface="Arial"/>
                <a:cs typeface="Arial"/>
              </a:rPr>
              <a:t>size</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85" dirty="0">
                <a:solidFill>
                  <a:srgbClr val="231F20"/>
                </a:solidFill>
                <a:latin typeface="Arial"/>
                <a:cs typeface="Arial"/>
              </a:rPr>
              <a:t>Addition </a:t>
            </a:r>
            <a:r>
              <a:rPr sz="1950" spc="95" dirty="0">
                <a:solidFill>
                  <a:srgbClr val="231F20"/>
                </a:solidFill>
                <a:latin typeface="Arial"/>
                <a:cs typeface="Arial"/>
              </a:rPr>
              <a:t>requires </a:t>
            </a:r>
            <a:r>
              <a:rPr sz="1950" spc="175" dirty="0">
                <a:solidFill>
                  <a:srgbClr val="231F20"/>
                </a:solidFill>
                <a:latin typeface="Arial"/>
                <a:cs typeface="Arial"/>
              </a:rPr>
              <a:t>the </a:t>
            </a:r>
            <a:r>
              <a:rPr sz="1950" spc="160" dirty="0">
                <a:solidFill>
                  <a:srgbClr val="0000FF"/>
                </a:solidFill>
                <a:latin typeface="Arial"/>
                <a:cs typeface="Arial"/>
              </a:rPr>
              <a:t>circuit </a:t>
            </a:r>
            <a:r>
              <a:rPr sz="1950" spc="155" dirty="0">
                <a:solidFill>
                  <a:srgbClr val="231F20"/>
                </a:solidFill>
                <a:latin typeface="Arial"/>
                <a:cs typeface="Arial"/>
              </a:rPr>
              <a:t>for </a:t>
            </a:r>
            <a:r>
              <a:rPr sz="1950" spc="85" dirty="0">
                <a:solidFill>
                  <a:srgbClr val="231F20"/>
                </a:solidFill>
                <a:latin typeface="Arial"/>
                <a:cs typeface="Arial"/>
              </a:rPr>
              <a:t>a </a:t>
            </a:r>
            <a:r>
              <a:rPr sz="1950" spc="135" dirty="0">
                <a:solidFill>
                  <a:srgbClr val="231F20"/>
                </a:solidFill>
                <a:latin typeface="Arial"/>
                <a:cs typeface="Arial"/>
              </a:rPr>
              <a:t>boolean </a:t>
            </a:r>
            <a:r>
              <a:rPr sz="1950" spc="440" dirty="0">
                <a:solidFill>
                  <a:srgbClr val="231F20"/>
                </a:solidFill>
                <a:latin typeface="Arial"/>
                <a:cs typeface="Arial"/>
              </a:rPr>
              <a:t> </a:t>
            </a:r>
            <a:r>
              <a:rPr sz="1950" spc="114" dirty="0">
                <a:solidFill>
                  <a:srgbClr val="0000FF"/>
                </a:solidFill>
                <a:latin typeface="Arial"/>
                <a:cs typeface="Arial"/>
              </a:rPr>
              <a:t>adder</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25" dirty="0">
                <a:solidFill>
                  <a:srgbClr val="231F20"/>
                </a:solidFill>
                <a:latin typeface="Arial"/>
                <a:cs typeface="Arial"/>
              </a:rPr>
              <a:t>Similarly </a:t>
            </a:r>
            <a:r>
              <a:rPr sz="1950" spc="155" dirty="0">
                <a:solidFill>
                  <a:srgbClr val="231F20"/>
                </a:solidFill>
                <a:latin typeface="Arial"/>
                <a:cs typeface="Arial"/>
              </a:rPr>
              <a:t>for </a:t>
            </a:r>
            <a:r>
              <a:rPr sz="1950" spc="170" dirty="0">
                <a:solidFill>
                  <a:srgbClr val="231F20"/>
                </a:solidFill>
                <a:latin typeface="Arial"/>
                <a:cs typeface="Arial"/>
              </a:rPr>
              <a:t>other </a:t>
            </a:r>
            <a:r>
              <a:rPr sz="1950" spc="140" dirty="0">
                <a:solidFill>
                  <a:srgbClr val="231F20"/>
                </a:solidFill>
                <a:latin typeface="Arial"/>
                <a:cs typeface="Arial"/>
              </a:rPr>
              <a:t>datatypes </a:t>
            </a:r>
            <a:r>
              <a:rPr sz="1950" spc="130" dirty="0">
                <a:solidFill>
                  <a:srgbClr val="231F20"/>
                </a:solidFill>
                <a:latin typeface="Arial"/>
                <a:cs typeface="Arial"/>
              </a:rPr>
              <a:t>and  </a:t>
            </a:r>
            <a:r>
              <a:rPr sz="1950" spc="140" dirty="0">
                <a:solidFill>
                  <a:srgbClr val="231F20"/>
                </a:solidFill>
                <a:latin typeface="Arial"/>
                <a:cs typeface="Arial"/>
              </a:rPr>
              <a:t>operations</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95" dirty="0">
                <a:solidFill>
                  <a:srgbClr val="FF0000"/>
                </a:solidFill>
                <a:latin typeface="Arial"/>
                <a:cs typeface="Arial"/>
              </a:rPr>
              <a:t>We </a:t>
            </a:r>
            <a:r>
              <a:rPr sz="1950" spc="65" dirty="0">
                <a:solidFill>
                  <a:srgbClr val="FF0000"/>
                </a:solidFill>
                <a:latin typeface="Arial"/>
                <a:cs typeface="Arial"/>
              </a:rPr>
              <a:t>are </a:t>
            </a:r>
            <a:r>
              <a:rPr sz="1950" spc="145" dirty="0">
                <a:solidFill>
                  <a:srgbClr val="FF0000"/>
                </a:solidFill>
                <a:latin typeface="Arial"/>
                <a:cs typeface="Arial"/>
              </a:rPr>
              <a:t>doing </a:t>
            </a:r>
            <a:r>
              <a:rPr sz="1950" spc="85" dirty="0">
                <a:solidFill>
                  <a:srgbClr val="FF0000"/>
                </a:solidFill>
                <a:latin typeface="Arial"/>
                <a:cs typeface="Arial"/>
              </a:rPr>
              <a:t>a </a:t>
            </a:r>
            <a:r>
              <a:rPr sz="1950" spc="150" dirty="0">
                <a:solidFill>
                  <a:srgbClr val="FF0000"/>
                </a:solidFill>
                <a:latin typeface="Arial"/>
                <a:cs typeface="Arial"/>
              </a:rPr>
              <a:t>kind </a:t>
            </a:r>
            <a:r>
              <a:rPr sz="1950" spc="185" dirty="0">
                <a:solidFill>
                  <a:srgbClr val="FF0000"/>
                </a:solidFill>
                <a:latin typeface="Arial"/>
                <a:cs typeface="Arial"/>
              </a:rPr>
              <a:t>of </a:t>
            </a:r>
            <a:r>
              <a:rPr sz="1950" spc="160" dirty="0">
                <a:solidFill>
                  <a:srgbClr val="FF0000"/>
                </a:solidFill>
                <a:latin typeface="Arial"/>
                <a:cs typeface="Arial"/>
              </a:rPr>
              <a:t>circuit </a:t>
            </a:r>
            <a:r>
              <a:rPr sz="1950" spc="455" dirty="0">
                <a:solidFill>
                  <a:srgbClr val="FF0000"/>
                </a:solidFill>
                <a:latin typeface="Arial"/>
                <a:cs typeface="Arial"/>
              </a:rPr>
              <a:t> </a:t>
            </a:r>
            <a:r>
              <a:rPr sz="1950" spc="90" dirty="0">
                <a:solidFill>
                  <a:srgbClr val="FF0000"/>
                </a:solidFill>
                <a:latin typeface="Arial"/>
                <a:cs typeface="Arial"/>
              </a:rPr>
              <a:t>synthesis</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80" dirty="0">
                <a:solidFill>
                  <a:srgbClr val="0000FF"/>
                </a:solidFill>
                <a:latin typeface="Arial"/>
                <a:cs typeface="Arial"/>
              </a:rPr>
              <a:t>May </a:t>
            </a:r>
            <a:r>
              <a:rPr sz="1950" spc="130" dirty="0">
                <a:solidFill>
                  <a:srgbClr val="0000FF"/>
                </a:solidFill>
                <a:latin typeface="Arial"/>
                <a:cs typeface="Arial"/>
              </a:rPr>
              <a:t>fail </a:t>
            </a:r>
            <a:r>
              <a:rPr sz="1950" spc="155" dirty="0">
                <a:solidFill>
                  <a:srgbClr val="0000FF"/>
                </a:solidFill>
                <a:latin typeface="Arial"/>
                <a:cs typeface="Arial"/>
              </a:rPr>
              <a:t>for </a:t>
            </a:r>
            <a:r>
              <a:rPr sz="1950" spc="95" dirty="0">
                <a:solidFill>
                  <a:srgbClr val="0000FF"/>
                </a:solidFill>
                <a:latin typeface="Arial"/>
                <a:cs typeface="Arial"/>
              </a:rPr>
              <a:t>large </a:t>
            </a:r>
            <a:r>
              <a:rPr sz="1950" spc="130" dirty="0">
                <a:solidFill>
                  <a:srgbClr val="0000FF"/>
                </a:solidFill>
                <a:latin typeface="Arial"/>
                <a:cs typeface="Arial"/>
              </a:rPr>
              <a:t>or </a:t>
            </a:r>
            <a:r>
              <a:rPr sz="1950" spc="140" dirty="0">
                <a:solidFill>
                  <a:srgbClr val="0000FF"/>
                </a:solidFill>
                <a:latin typeface="Arial"/>
                <a:cs typeface="Arial"/>
              </a:rPr>
              <a:t>complex </a:t>
            </a:r>
            <a:r>
              <a:rPr sz="1950" spc="160" dirty="0">
                <a:solidFill>
                  <a:srgbClr val="0000FF"/>
                </a:solidFill>
                <a:latin typeface="Arial"/>
                <a:cs typeface="Arial"/>
              </a:rPr>
              <a:t>transition </a:t>
            </a:r>
            <a:r>
              <a:rPr sz="1950" spc="430" dirty="0">
                <a:solidFill>
                  <a:srgbClr val="0000FF"/>
                </a:solidFill>
                <a:latin typeface="Arial"/>
                <a:cs typeface="Arial"/>
              </a:rPr>
              <a:t> </a:t>
            </a:r>
            <a:r>
              <a:rPr sz="1950" spc="125" dirty="0">
                <a:solidFill>
                  <a:srgbClr val="0000FF"/>
                </a:solidFill>
                <a:latin typeface="Arial"/>
                <a:cs typeface="Arial"/>
              </a:rPr>
              <a:t>relations</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340" dirty="0">
                <a:solidFill>
                  <a:srgbClr val="231F20"/>
                </a:solidFill>
                <a:latin typeface="Arial"/>
                <a:cs typeface="Arial"/>
              </a:rPr>
              <a:t>BDD </a:t>
            </a:r>
            <a:r>
              <a:rPr sz="1950" spc="140" dirty="0">
                <a:solidFill>
                  <a:srgbClr val="231F20"/>
                </a:solidFill>
                <a:latin typeface="Arial"/>
                <a:cs typeface="Arial"/>
              </a:rPr>
              <a:t>operations </a:t>
            </a:r>
            <a:r>
              <a:rPr sz="1950" spc="114" dirty="0">
                <a:solidFill>
                  <a:srgbClr val="231F20"/>
                </a:solidFill>
                <a:latin typeface="Arial"/>
                <a:cs typeface="Arial"/>
              </a:rPr>
              <a:t>depend </a:t>
            </a:r>
            <a:r>
              <a:rPr sz="1950" spc="155" dirty="0">
                <a:solidFill>
                  <a:srgbClr val="231F20"/>
                </a:solidFill>
                <a:latin typeface="Arial"/>
                <a:cs typeface="Arial"/>
              </a:rPr>
              <a:t>on </a:t>
            </a:r>
            <a:r>
              <a:rPr sz="1950" spc="150" dirty="0">
                <a:solidFill>
                  <a:srgbClr val="231F20"/>
                </a:solidFill>
                <a:latin typeface="Arial"/>
                <a:cs typeface="Arial"/>
              </a:rPr>
              <a:t>finding </a:t>
            </a:r>
            <a:r>
              <a:rPr sz="1950" spc="85" dirty="0">
                <a:solidFill>
                  <a:srgbClr val="231F20"/>
                </a:solidFill>
                <a:latin typeface="Arial"/>
                <a:cs typeface="Arial"/>
              </a:rPr>
              <a:t>a </a:t>
            </a:r>
            <a:r>
              <a:rPr sz="1950" spc="185" dirty="0">
                <a:solidFill>
                  <a:srgbClr val="231F20"/>
                </a:solidFill>
                <a:latin typeface="Arial"/>
                <a:cs typeface="Arial"/>
              </a:rPr>
              <a:t>good </a:t>
            </a:r>
            <a:r>
              <a:rPr sz="1950" spc="95" dirty="0">
                <a:solidFill>
                  <a:srgbClr val="FF0000"/>
                </a:solidFill>
                <a:latin typeface="Arial"/>
                <a:cs typeface="Arial"/>
              </a:rPr>
              <a:t>variable </a:t>
            </a:r>
            <a:r>
              <a:rPr sz="1950" spc="465" dirty="0">
                <a:solidFill>
                  <a:srgbClr val="FF0000"/>
                </a:solidFill>
                <a:latin typeface="Arial"/>
                <a:cs typeface="Arial"/>
              </a:rPr>
              <a:t> </a:t>
            </a:r>
            <a:r>
              <a:rPr sz="1950" spc="125" dirty="0">
                <a:solidFill>
                  <a:srgbClr val="FF0000"/>
                </a:solidFill>
                <a:latin typeface="Arial"/>
                <a:cs typeface="Arial"/>
              </a:rPr>
              <a:t>ordering</a:t>
            </a:r>
            <a:endParaRPr sz="1950">
              <a:latin typeface="Arial"/>
              <a:cs typeface="Arial"/>
            </a:endParaRPr>
          </a:p>
          <a:p>
            <a:pPr marL="300990" indent="-288290">
              <a:lnSpc>
                <a:spcPct val="100000"/>
              </a:lnSpc>
              <a:spcBef>
                <a:spcPts val="1614"/>
              </a:spcBef>
              <a:buSzPct val="105128"/>
              <a:buFont typeface="Lucida Sans Unicode"/>
              <a:buChar char="•"/>
              <a:tabLst>
                <a:tab pos="301625" algn="l"/>
              </a:tabLst>
            </a:pPr>
            <a:r>
              <a:rPr sz="1950" spc="204" dirty="0">
                <a:solidFill>
                  <a:srgbClr val="231F20"/>
                </a:solidFill>
                <a:latin typeface="Arial"/>
                <a:cs typeface="Arial"/>
              </a:rPr>
              <a:t>Automated </a:t>
            </a:r>
            <a:r>
              <a:rPr sz="1950" spc="114" dirty="0">
                <a:solidFill>
                  <a:srgbClr val="231F20"/>
                </a:solidFill>
                <a:latin typeface="Arial"/>
                <a:cs typeface="Arial"/>
              </a:rPr>
              <a:t>heuristics </a:t>
            </a:r>
            <a:r>
              <a:rPr sz="1950" spc="100" dirty="0">
                <a:solidFill>
                  <a:srgbClr val="231F20"/>
                </a:solidFill>
                <a:latin typeface="Arial"/>
                <a:cs typeface="Arial"/>
              </a:rPr>
              <a:t>usually </a:t>
            </a:r>
            <a:r>
              <a:rPr sz="1950" spc="120" dirty="0">
                <a:solidFill>
                  <a:srgbClr val="231F20"/>
                </a:solidFill>
                <a:latin typeface="Arial"/>
                <a:cs typeface="Arial"/>
              </a:rPr>
              <a:t>effective </a:t>
            </a:r>
            <a:r>
              <a:rPr sz="1950" spc="250" dirty="0">
                <a:solidFill>
                  <a:srgbClr val="231F20"/>
                </a:solidFill>
                <a:latin typeface="Arial"/>
                <a:cs typeface="Arial"/>
              </a:rPr>
              <a:t>to </a:t>
            </a:r>
            <a:r>
              <a:rPr sz="1950" spc="190" dirty="0">
                <a:solidFill>
                  <a:srgbClr val="231F20"/>
                </a:solidFill>
                <a:latin typeface="Arial"/>
                <a:cs typeface="Arial"/>
              </a:rPr>
              <a:t>about </a:t>
            </a:r>
            <a:r>
              <a:rPr sz="1950" spc="155" dirty="0">
                <a:solidFill>
                  <a:srgbClr val="231F20"/>
                </a:solidFill>
                <a:latin typeface="Arial"/>
                <a:cs typeface="Arial"/>
              </a:rPr>
              <a:t>600 state</a:t>
            </a:r>
            <a:r>
              <a:rPr sz="1950" spc="830" dirty="0">
                <a:solidFill>
                  <a:srgbClr val="231F20"/>
                </a:solidFill>
                <a:latin typeface="Arial"/>
                <a:cs typeface="Arial"/>
              </a:rPr>
              <a:t> </a:t>
            </a:r>
            <a:r>
              <a:rPr sz="1950" spc="145" dirty="0">
                <a:solidFill>
                  <a:srgbClr val="231F20"/>
                </a:solidFill>
                <a:latin typeface="Arial"/>
                <a:cs typeface="Arial"/>
              </a:rPr>
              <a:t>bits</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210" dirty="0">
                <a:solidFill>
                  <a:srgbClr val="231F20"/>
                </a:solidFill>
                <a:latin typeface="Arial"/>
                <a:cs typeface="Arial"/>
              </a:rPr>
              <a:t>After </a:t>
            </a:r>
            <a:r>
              <a:rPr sz="1950" spc="215" dirty="0">
                <a:solidFill>
                  <a:srgbClr val="231F20"/>
                </a:solidFill>
                <a:latin typeface="Arial"/>
                <a:cs typeface="Arial"/>
              </a:rPr>
              <a:t>that, </a:t>
            </a:r>
            <a:r>
              <a:rPr sz="1950" spc="150" dirty="0">
                <a:solidFill>
                  <a:srgbClr val="231F20"/>
                </a:solidFill>
                <a:latin typeface="Arial"/>
                <a:cs typeface="Arial"/>
              </a:rPr>
              <a:t>manual </a:t>
            </a:r>
            <a:r>
              <a:rPr sz="1950" spc="130" dirty="0">
                <a:solidFill>
                  <a:srgbClr val="231F20"/>
                </a:solidFill>
                <a:latin typeface="Arial"/>
                <a:cs typeface="Arial"/>
              </a:rPr>
              <a:t>ordering, </a:t>
            </a:r>
            <a:r>
              <a:rPr sz="1950" spc="90" dirty="0">
                <a:solidFill>
                  <a:srgbClr val="231F20"/>
                </a:solidFill>
                <a:latin typeface="Arial"/>
                <a:cs typeface="Arial"/>
              </a:rPr>
              <a:t>special </a:t>
            </a:r>
            <a:r>
              <a:rPr sz="1950" spc="155" dirty="0">
                <a:solidFill>
                  <a:srgbClr val="231F20"/>
                </a:solidFill>
                <a:latin typeface="Arial"/>
                <a:cs typeface="Arial"/>
              </a:rPr>
              <a:t>tricks </a:t>
            </a:r>
            <a:r>
              <a:rPr sz="1950" spc="65" dirty="0">
                <a:solidFill>
                  <a:srgbClr val="231F20"/>
                </a:solidFill>
                <a:latin typeface="Arial"/>
                <a:cs typeface="Arial"/>
              </a:rPr>
              <a:t>are </a:t>
            </a:r>
            <a:r>
              <a:rPr sz="1950" spc="400" dirty="0">
                <a:solidFill>
                  <a:srgbClr val="231F20"/>
                </a:solidFill>
                <a:latin typeface="Arial"/>
                <a:cs typeface="Arial"/>
              </a:rPr>
              <a:t> </a:t>
            </a:r>
            <a:r>
              <a:rPr sz="1950" spc="80" dirty="0">
                <a:solidFill>
                  <a:srgbClr val="231F20"/>
                </a:solidFill>
                <a:latin typeface="Arial"/>
                <a:cs typeface="Arial"/>
              </a:rPr>
              <a:t>needed</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35" dirty="0">
                <a:solidFill>
                  <a:srgbClr val="231F20"/>
                </a:solidFill>
                <a:latin typeface="Arial"/>
                <a:cs typeface="Arial"/>
              </a:rPr>
              <a:t>Seldom </a:t>
            </a:r>
            <a:r>
              <a:rPr sz="1950" spc="170" dirty="0">
                <a:solidFill>
                  <a:srgbClr val="231F20"/>
                </a:solidFill>
                <a:latin typeface="Arial"/>
                <a:cs typeface="Arial"/>
              </a:rPr>
              <a:t>get </a:t>
            </a:r>
            <a:r>
              <a:rPr sz="1950" spc="125" dirty="0">
                <a:solidFill>
                  <a:srgbClr val="231F20"/>
                </a:solidFill>
                <a:latin typeface="Arial"/>
                <a:cs typeface="Arial"/>
              </a:rPr>
              <a:t>beyond </a:t>
            </a:r>
            <a:r>
              <a:rPr sz="1950" spc="150" dirty="0">
                <a:solidFill>
                  <a:srgbClr val="231F20"/>
                </a:solidFill>
                <a:latin typeface="Arial"/>
                <a:cs typeface="Arial"/>
              </a:rPr>
              <a:t>1,000 </a:t>
            </a:r>
            <a:r>
              <a:rPr sz="1950" spc="155" dirty="0">
                <a:solidFill>
                  <a:srgbClr val="231F20"/>
                </a:solidFill>
                <a:latin typeface="Arial"/>
                <a:cs typeface="Arial"/>
              </a:rPr>
              <a:t>state</a:t>
            </a:r>
            <a:r>
              <a:rPr sz="1950" spc="790" dirty="0">
                <a:solidFill>
                  <a:srgbClr val="231F20"/>
                </a:solidFill>
                <a:latin typeface="Arial"/>
                <a:cs typeface="Arial"/>
              </a:rPr>
              <a:t> </a:t>
            </a:r>
            <a:r>
              <a:rPr sz="1950" spc="145" dirty="0">
                <a:solidFill>
                  <a:srgbClr val="231F20"/>
                </a:solidFill>
                <a:latin typeface="Arial"/>
                <a:cs typeface="Arial"/>
              </a:rPr>
              <a:t>bits</a:t>
            </a:r>
            <a:endParaRPr sz="1950">
              <a:latin typeface="Arial"/>
              <a:cs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465209" y="761503"/>
            <a:ext cx="5129530" cy="314960"/>
          </a:xfrm>
          <a:prstGeom prst="rect">
            <a:avLst/>
          </a:prstGeom>
        </p:spPr>
        <p:txBody>
          <a:bodyPr vert="horz" wrap="square" lIns="0" tIns="0" rIns="0" bIns="0" rtlCol="0">
            <a:spAutoFit/>
          </a:bodyPr>
          <a:lstStyle/>
          <a:p>
            <a:pPr marL="12700">
              <a:lnSpc>
                <a:spcPct val="100000"/>
              </a:lnSpc>
            </a:pPr>
            <a:r>
              <a:rPr sz="1950" spc="260" dirty="0">
                <a:solidFill>
                  <a:srgbClr val="231F20"/>
                </a:solidFill>
                <a:latin typeface="Arial"/>
                <a:cs typeface="Arial"/>
              </a:rPr>
              <a:t>Symbolic </a:t>
            </a:r>
            <a:r>
              <a:rPr sz="1950" spc="305" dirty="0">
                <a:solidFill>
                  <a:srgbClr val="231F20"/>
                </a:solidFill>
                <a:latin typeface="Arial"/>
                <a:cs typeface="Arial"/>
              </a:rPr>
              <a:t>Model </a:t>
            </a:r>
            <a:r>
              <a:rPr sz="1950" spc="245" dirty="0">
                <a:solidFill>
                  <a:srgbClr val="231F20"/>
                </a:solidFill>
                <a:latin typeface="Arial"/>
                <a:cs typeface="Arial"/>
              </a:rPr>
              <a:t>Checking </a:t>
            </a:r>
            <a:r>
              <a:rPr sz="1950" spc="310" dirty="0">
                <a:solidFill>
                  <a:srgbClr val="231F20"/>
                </a:solidFill>
                <a:latin typeface="Arial"/>
                <a:cs typeface="Arial"/>
              </a:rPr>
              <a:t>with</a:t>
            </a:r>
            <a:r>
              <a:rPr sz="1950" spc="615" dirty="0">
                <a:solidFill>
                  <a:srgbClr val="231F20"/>
                </a:solidFill>
                <a:latin typeface="Arial"/>
                <a:cs typeface="Arial"/>
              </a:rPr>
              <a:t> </a:t>
            </a:r>
            <a:r>
              <a:rPr sz="1950" spc="375" dirty="0">
                <a:solidFill>
                  <a:srgbClr val="231F20"/>
                </a:solidFill>
                <a:latin typeface="Arial"/>
                <a:cs typeface="Arial"/>
              </a:rPr>
              <a:t>SAL</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369450" rIns="0" bIns="0" rtlCol="0">
            <a:spAutoFit/>
          </a:bodyPr>
          <a:lstStyle/>
          <a:p>
            <a:pPr marL="300990" indent="-288290">
              <a:lnSpc>
                <a:spcPct val="100000"/>
              </a:lnSpc>
              <a:buSzPct val="105128"/>
              <a:buFont typeface="Lucida Sans Unicode"/>
              <a:buChar char="•"/>
              <a:tabLst>
                <a:tab pos="301625" algn="l"/>
              </a:tabLst>
            </a:pPr>
            <a:r>
              <a:rPr sz="1950" spc="170" dirty="0">
                <a:solidFill>
                  <a:srgbClr val="231F20"/>
                </a:solidFill>
                <a:latin typeface="Arial"/>
                <a:cs typeface="Arial"/>
              </a:rPr>
              <a:t>We’ll </a:t>
            </a:r>
            <a:r>
              <a:rPr sz="1950" spc="45" dirty="0">
                <a:solidFill>
                  <a:srgbClr val="231F20"/>
                </a:solidFill>
                <a:latin typeface="Arial"/>
                <a:cs typeface="Arial"/>
              </a:rPr>
              <a:t>use </a:t>
            </a:r>
            <a:r>
              <a:rPr spc="65" dirty="0"/>
              <a:t>sal-smc</a:t>
            </a:r>
            <a:r>
              <a:rPr sz="1950" spc="65" dirty="0">
                <a:solidFill>
                  <a:srgbClr val="231F20"/>
                </a:solidFill>
                <a:latin typeface="Arial"/>
                <a:cs typeface="Arial"/>
              </a:rPr>
              <a:t>, </a:t>
            </a:r>
            <a:r>
              <a:rPr sz="1950" spc="25" dirty="0">
                <a:solidFill>
                  <a:srgbClr val="231F20"/>
                </a:solidFill>
                <a:latin typeface="Arial"/>
                <a:cs typeface="Arial"/>
              </a:rPr>
              <a:t>uses </a:t>
            </a:r>
            <a:r>
              <a:rPr sz="1950" spc="265" dirty="0">
                <a:latin typeface="Arial"/>
                <a:cs typeface="Arial"/>
              </a:rPr>
              <a:t>CUDD </a:t>
            </a:r>
            <a:r>
              <a:rPr sz="1950" spc="155" dirty="0">
                <a:solidFill>
                  <a:srgbClr val="231F20"/>
                </a:solidFill>
                <a:latin typeface="Arial"/>
                <a:cs typeface="Arial"/>
              </a:rPr>
              <a:t>for </a:t>
            </a:r>
            <a:r>
              <a:rPr sz="1950" spc="145" dirty="0">
                <a:solidFill>
                  <a:srgbClr val="231F20"/>
                </a:solidFill>
                <a:latin typeface="Arial"/>
                <a:cs typeface="Arial"/>
              </a:rPr>
              <a:t>its </a:t>
            </a:r>
            <a:r>
              <a:rPr sz="1950" spc="340" dirty="0">
                <a:solidFill>
                  <a:srgbClr val="231F20"/>
                </a:solidFill>
                <a:latin typeface="Arial"/>
                <a:cs typeface="Arial"/>
              </a:rPr>
              <a:t>BDD </a:t>
            </a:r>
            <a:r>
              <a:rPr sz="1950" spc="505" dirty="0">
                <a:solidFill>
                  <a:srgbClr val="231F20"/>
                </a:solidFill>
                <a:latin typeface="Arial"/>
                <a:cs typeface="Arial"/>
              </a:rPr>
              <a:t> </a:t>
            </a:r>
            <a:r>
              <a:rPr sz="1950" spc="140" dirty="0">
                <a:solidFill>
                  <a:srgbClr val="231F20"/>
                </a:solidFill>
                <a:latin typeface="Arial"/>
                <a:cs typeface="Arial"/>
              </a:rPr>
              <a:t>operations</a:t>
            </a:r>
            <a:endParaRPr sz="1950">
              <a:latin typeface="Arial"/>
              <a:cs typeface="Arial"/>
            </a:endParaRPr>
          </a:p>
        </p:txBody>
      </p:sp>
      <p:sp>
        <p:nvSpPr>
          <p:cNvPr id="4" name="object 4"/>
          <p:cNvSpPr txBox="1"/>
          <p:nvPr/>
        </p:nvSpPr>
        <p:spPr>
          <a:xfrm>
            <a:off x="896429" y="1833054"/>
            <a:ext cx="8171815" cy="4194810"/>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55" dirty="0">
                <a:solidFill>
                  <a:srgbClr val="231F20"/>
                </a:solidFill>
                <a:latin typeface="Arial"/>
                <a:cs typeface="Arial"/>
              </a:rPr>
              <a:t>For </a:t>
            </a:r>
            <a:r>
              <a:rPr sz="2050" spc="55" dirty="0">
                <a:solidFill>
                  <a:srgbClr val="FF0000"/>
                </a:solidFill>
                <a:latin typeface="SimSun"/>
                <a:cs typeface="SimSun"/>
              </a:rPr>
              <a:t>max =</a:t>
            </a:r>
            <a:r>
              <a:rPr sz="2050" spc="110" dirty="0">
                <a:solidFill>
                  <a:srgbClr val="FF0000"/>
                </a:solidFill>
                <a:latin typeface="SimSun"/>
                <a:cs typeface="SimSun"/>
              </a:rPr>
              <a:t> </a:t>
            </a:r>
            <a:r>
              <a:rPr sz="2050" spc="55" dirty="0">
                <a:solidFill>
                  <a:srgbClr val="FF0000"/>
                </a:solidFill>
                <a:latin typeface="SimSun"/>
                <a:cs typeface="SimSun"/>
              </a:rPr>
              <a:t>80</a:t>
            </a:r>
            <a:endParaRPr sz="2050">
              <a:latin typeface="SimSun"/>
              <a:cs typeface="SimSun"/>
            </a:endParaRPr>
          </a:p>
          <a:p>
            <a:pPr marL="300990">
              <a:lnSpc>
                <a:spcPct val="100000"/>
              </a:lnSpc>
              <a:spcBef>
                <a:spcPts val="465"/>
              </a:spcBef>
            </a:pPr>
            <a:r>
              <a:rPr sz="2050" spc="55" dirty="0">
                <a:solidFill>
                  <a:srgbClr val="0000FF"/>
                </a:solidFill>
                <a:latin typeface="SimSun"/>
                <a:cs typeface="SimSun"/>
              </a:rPr>
              <a:t>sal-smc smallbakery</a:t>
            </a:r>
            <a:r>
              <a:rPr sz="2050" spc="-25" dirty="0">
                <a:solidFill>
                  <a:srgbClr val="0000FF"/>
                </a:solidFill>
                <a:latin typeface="SimSun"/>
                <a:cs typeface="SimSun"/>
              </a:rPr>
              <a:t> </a:t>
            </a:r>
            <a:r>
              <a:rPr sz="2050" spc="55" dirty="0">
                <a:solidFill>
                  <a:srgbClr val="0000FF"/>
                </a:solidFill>
                <a:latin typeface="SimSun"/>
                <a:cs typeface="SimSun"/>
              </a:rPr>
              <a:t>safety</a:t>
            </a:r>
            <a:endParaRPr sz="2050">
              <a:latin typeface="SimSun"/>
              <a:cs typeface="SimSun"/>
            </a:endParaRPr>
          </a:p>
          <a:p>
            <a:pPr marL="300990" marR="301625">
              <a:lnSpc>
                <a:spcPts val="2930"/>
              </a:lnSpc>
              <a:spcBef>
                <a:spcPts val="170"/>
              </a:spcBef>
            </a:pPr>
            <a:r>
              <a:rPr sz="1950" spc="100" dirty="0">
                <a:solidFill>
                  <a:srgbClr val="231F20"/>
                </a:solidFill>
                <a:latin typeface="Arial"/>
                <a:cs typeface="Arial"/>
              </a:rPr>
              <a:t>Requires </a:t>
            </a:r>
            <a:r>
              <a:rPr sz="1950" spc="155" dirty="0">
                <a:solidFill>
                  <a:srgbClr val="FF0000"/>
                </a:solidFill>
                <a:latin typeface="Arial"/>
                <a:cs typeface="Arial"/>
              </a:rPr>
              <a:t>46 </a:t>
            </a:r>
            <a:r>
              <a:rPr sz="1950" spc="340" dirty="0">
                <a:solidFill>
                  <a:srgbClr val="231F20"/>
                </a:solidFill>
                <a:latin typeface="Arial"/>
                <a:cs typeface="Arial"/>
              </a:rPr>
              <a:t>BDD </a:t>
            </a:r>
            <a:r>
              <a:rPr sz="1950" spc="90" dirty="0">
                <a:solidFill>
                  <a:srgbClr val="231F20"/>
                </a:solidFill>
                <a:latin typeface="Arial"/>
                <a:cs typeface="Arial"/>
              </a:rPr>
              <a:t>variables, </a:t>
            </a:r>
            <a:r>
              <a:rPr sz="1950" spc="155" dirty="0">
                <a:solidFill>
                  <a:srgbClr val="FF0000"/>
                </a:solidFill>
                <a:latin typeface="Arial"/>
                <a:cs typeface="Arial"/>
              </a:rPr>
              <a:t>240 </a:t>
            </a:r>
            <a:r>
              <a:rPr sz="1950" spc="145" dirty="0">
                <a:solidFill>
                  <a:srgbClr val="231F20"/>
                </a:solidFill>
                <a:latin typeface="Arial"/>
                <a:cs typeface="Arial"/>
              </a:rPr>
              <a:t>iterations, </a:t>
            </a:r>
            <a:r>
              <a:rPr sz="1950" spc="155" dirty="0">
                <a:solidFill>
                  <a:srgbClr val="FF0000"/>
                </a:solidFill>
                <a:latin typeface="Arial"/>
                <a:cs typeface="Arial"/>
              </a:rPr>
              <a:t>637 </a:t>
            </a:r>
            <a:r>
              <a:rPr sz="1950" spc="125" dirty="0">
                <a:solidFill>
                  <a:srgbClr val="231F20"/>
                </a:solidFill>
                <a:latin typeface="Arial"/>
                <a:cs typeface="Arial"/>
              </a:rPr>
              <a:t>states, </a:t>
            </a:r>
            <a:r>
              <a:rPr sz="1950" spc="150" dirty="0">
                <a:solidFill>
                  <a:srgbClr val="FF0000"/>
                </a:solidFill>
                <a:latin typeface="Arial"/>
                <a:cs typeface="Arial"/>
              </a:rPr>
              <a:t>2.9  </a:t>
            </a:r>
            <a:r>
              <a:rPr sz="1950" spc="75" dirty="0">
                <a:solidFill>
                  <a:srgbClr val="231F20"/>
                </a:solidFill>
                <a:latin typeface="Arial"/>
                <a:cs typeface="Arial"/>
              </a:rPr>
              <a:t>seconds </a:t>
            </a:r>
            <a:r>
              <a:rPr sz="1950" spc="250" dirty="0">
                <a:solidFill>
                  <a:srgbClr val="231F20"/>
                </a:solidFill>
                <a:latin typeface="Arial"/>
                <a:cs typeface="Arial"/>
              </a:rPr>
              <a:t>to </a:t>
            </a:r>
            <a:r>
              <a:rPr sz="1950" spc="170" dirty="0">
                <a:solidFill>
                  <a:srgbClr val="231F20"/>
                </a:solidFill>
                <a:latin typeface="Arial"/>
                <a:cs typeface="Arial"/>
              </a:rPr>
              <a:t>get </a:t>
            </a:r>
            <a:r>
              <a:rPr sz="1950" spc="250" dirty="0">
                <a:solidFill>
                  <a:srgbClr val="231F20"/>
                </a:solidFill>
                <a:latin typeface="Arial"/>
                <a:cs typeface="Arial"/>
              </a:rPr>
              <a:t>to</a:t>
            </a:r>
            <a:r>
              <a:rPr sz="1950" spc="600" dirty="0">
                <a:solidFill>
                  <a:srgbClr val="231F20"/>
                </a:solidFill>
                <a:latin typeface="Arial"/>
                <a:cs typeface="Arial"/>
              </a:rPr>
              <a:t> </a:t>
            </a:r>
            <a:r>
              <a:rPr sz="1950" spc="114" dirty="0">
                <a:solidFill>
                  <a:srgbClr val="0000FF"/>
                </a:solidFill>
                <a:latin typeface="Arial"/>
                <a:cs typeface="Arial"/>
              </a:rPr>
              <a:t>proved</a:t>
            </a:r>
            <a:endParaRPr sz="1950">
              <a:latin typeface="Arial"/>
              <a:cs typeface="Arial"/>
            </a:endParaRPr>
          </a:p>
          <a:p>
            <a:pPr marL="300990" indent="-288290">
              <a:lnSpc>
                <a:spcPct val="100000"/>
              </a:lnSpc>
              <a:spcBef>
                <a:spcPts val="1630"/>
              </a:spcBef>
              <a:buSzPct val="105128"/>
              <a:buFont typeface="Lucida Sans Unicode"/>
              <a:buChar char="•"/>
              <a:tabLst>
                <a:tab pos="301625" algn="l"/>
              </a:tabLst>
            </a:pPr>
            <a:r>
              <a:rPr sz="1950" spc="155" dirty="0">
                <a:solidFill>
                  <a:srgbClr val="231F20"/>
                </a:solidFill>
                <a:latin typeface="Arial"/>
                <a:cs typeface="Arial"/>
              </a:rPr>
              <a:t>For </a:t>
            </a:r>
            <a:r>
              <a:rPr sz="2050" spc="55" dirty="0">
                <a:solidFill>
                  <a:srgbClr val="FF0000"/>
                </a:solidFill>
                <a:latin typeface="SimSun"/>
                <a:cs typeface="SimSun"/>
              </a:rPr>
              <a:t>max = </a:t>
            </a:r>
            <a:r>
              <a:rPr sz="2050" spc="70" dirty="0">
                <a:solidFill>
                  <a:srgbClr val="FF0000"/>
                </a:solidFill>
                <a:latin typeface="SimSun"/>
                <a:cs typeface="SimSun"/>
              </a:rPr>
              <a:t>8000</a:t>
            </a:r>
            <a:r>
              <a:rPr sz="1950" spc="70" dirty="0">
                <a:solidFill>
                  <a:srgbClr val="231F20"/>
                </a:solidFill>
                <a:latin typeface="Arial"/>
                <a:cs typeface="Arial"/>
              </a:rPr>
              <a:t>, </a:t>
            </a:r>
            <a:r>
              <a:rPr sz="1950" spc="215" dirty="0">
                <a:solidFill>
                  <a:srgbClr val="231F20"/>
                </a:solidFill>
                <a:latin typeface="Arial"/>
                <a:cs typeface="Arial"/>
              </a:rPr>
              <a:t>it’d </a:t>
            </a:r>
            <a:r>
              <a:rPr sz="1950" spc="114" dirty="0">
                <a:solidFill>
                  <a:srgbClr val="231F20"/>
                </a:solidFill>
                <a:latin typeface="Arial"/>
                <a:cs typeface="Arial"/>
              </a:rPr>
              <a:t>be </a:t>
            </a:r>
            <a:r>
              <a:rPr sz="1950" spc="130" dirty="0">
                <a:solidFill>
                  <a:srgbClr val="231F20"/>
                </a:solidFill>
                <a:latin typeface="Arial"/>
                <a:cs typeface="Arial"/>
              </a:rPr>
              <a:t>tedious </a:t>
            </a:r>
            <a:r>
              <a:rPr sz="1950" spc="145" dirty="0">
                <a:solidFill>
                  <a:srgbClr val="231F20"/>
                </a:solidFill>
                <a:latin typeface="Arial"/>
                <a:cs typeface="Arial"/>
              </a:rPr>
              <a:t>doing </a:t>
            </a:r>
            <a:r>
              <a:rPr sz="1950" spc="30" dirty="0">
                <a:solidFill>
                  <a:srgbClr val="231F20"/>
                </a:solidFill>
                <a:latin typeface="Arial"/>
                <a:cs typeface="Arial"/>
              </a:rPr>
              <a:t>as </a:t>
            </a:r>
            <a:r>
              <a:rPr sz="1950" spc="120" dirty="0">
                <a:solidFill>
                  <a:srgbClr val="231F20"/>
                </a:solidFill>
                <a:latin typeface="Arial"/>
                <a:cs typeface="Arial"/>
              </a:rPr>
              <a:t>above, </a:t>
            </a:r>
            <a:r>
              <a:rPr sz="1950" spc="740" dirty="0">
                <a:solidFill>
                  <a:srgbClr val="231F20"/>
                </a:solidFill>
                <a:latin typeface="Arial"/>
                <a:cs typeface="Arial"/>
              </a:rPr>
              <a:t> </a:t>
            </a:r>
            <a:r>
              <a:rPr sz="1950" spc="220" dirty="0">
                <a:solidFill>
                  <a:srgbClr val="FF0000"/>
                </a:solidFill>
                <a:latin typeface="Arial"/>
                <a:cs typeface="Arial"/>
              </a:rPr>
              <a:t>but</a:t>
            </a:r>
            <a:endParaRPr sz="1950">
              <a:latin typeface="Arial"/>
              <a:cs typeface="Arial"/>
            </a:endParaRPr>
          </a:p>
          <a:p>
            <a:pPr marL="300990">
              <a:lnSpc>
                <a:spcPct val="100000"/>
              </a:lnSpc>
              <a:spcBef>
                <a:spcPts val="465"/>
              </a:spcBef>
            </a:pPr>
            <a:r>
              <a:rPr sz="2050" spc="55" dirty="0">
                <a:solidFill>
                  <a:srgbClr val="0000FF"/>
                </a:solidFill>
                <a:latin typeface="SimSun"/>
                <a:cs typeface="SimSun"/>
              </a:rPr>
              <a:t>sal-smc smallbakery safety</a:t>
            </a:r>
            <a:r>
              <a:rPr sz="2050" spc="-20" dirty="0">
                <a:solidFill>
                  <a:srgbClr val="0000FF"/>
                </a:solidFill>
                <a:latin typeface="SimSun"/>
                <a:cs typeface="SimSun"/>
              </a:rPr>
              <a:t> </a:t>
            </a:r>
            <a:r>
              <a:rPr sz="2050" spc="55" dirty="0">
                <a:solidFill>
                  <a:srgbClr val="FF0000"/>
                </a:solidFill>
                <a:latin typeface="SimSun"/>
                <a:cs typeface="SimSun"/>
              </a:rPr>
              <a:t>--backward</a:t>
            </a:r>
            <a:endParaRPr sz="2050">
              <a:latin typeface="SimSun"/>
              <a:cs typeface="SimSun"/>
            </a:endParaRPr>
          </a:p>
          <a:p>
            <a:pPr marL="300990">
              <a:lnSpc>
                <a:spcPct val="100000"/>
              </a:lnSpc>
              <a:spcBef>
                <a:spcPts val="565"/>
              </a:spcBef>
            </a:pPr>
            <a:r>
              <a:rPr sz="1950" spc="100" dirty="0">
                <a:solidFill>
                  <a:srgbClr val="231F20"/>
                </a:solidFill>
                <a:latin typeface="Arial"/>
                <a:cs typeface="Arial"/>
              </a:rPr>
              <a:t>Requires </a:t>
            </a:r>
            <a:r>
              <a:rPr sz="1950" spc="155" dirty="0">
                <a:solidFill>
                  <a:srgbClr val="FF0000"/>
                </a:solidFill>
                <a:latin typeface="Arial"/>
                <a:cs typeface="Arial"/>
              </a:rPr>
              <a:t>70 </a:t>
            </a:r>
            <a:r>
              <a:rPr sz="1950" spc="340" dirty="0">
                <a:solidFill>
                  <a:srgbClr val="231F20"/>
                </a:solidFill>
                <a:latin typeface="Arial"/>
                <a:cs typeface="Arial"/>
              </a:rPr>
              <a:t>BDD </a:t>
            </a:r>
            <a:r>
              <a:rPr sz="1950" spc="90" dirty="0">
                <a:solidFill>
                  <a:srgbClr val="231F20"/>
                </a:solidFill>
                <a:latin typeface="Arial"/>
                <a:cs typeface="Arial"/>
              </a:rPr>
              <a:t>variables, </a:t>
            </a:r>
            <a:r>
              <a:rPr sz="1950" spc="155" dirty="0">
                <a:solidFill>
                  <a:srgbClr val="FF0000"/>
                </a:solidFill>
                <a:latin typeface="Arial"/>
                <a:cs typeface="Arial"/>
              </a:rPr>
              <a:t>5 </a:t>
            </a:r>
            <a:r>
              <a:rPr sz="1950" spc="145" dirty="0">
                <a:solidFill>
                  <a:srgbClr val="231F20"/>
                </a:solidFill>
                <a:latin typeface="Arial"/>
                <a:cs typeface="Arial"/>
              </a:rPr>
              <a:t>iterations, </a:t>
            </a:r>
            <a:r>
              <a:rPr sz="1950" spc="150" dirty="0">
                <a:solidFill>
                  <a:srgbClr val="FF0000"/>
                </a:solidFill>
                <a:latin typeface="Arial"/>
                <a:cs typeface="Arial"/>
              </a:rPr>
              <a:t>131,180,871 </a:t>
            </a:r>
            <a:r>
              <a:rPr sz="1950" spc="320" dirty="0">
                <a:solidFill>
                  <a:srgbClr val="FF0000"/>
                </a:solidFill>
                <a:latin typeface="Arial"/>
                <a:cs typeface="Arial"/>
              </a:rPr>
              <a:t> </a:t>
            </a:r>
            <a:r>
              <a:rPr sz="1950" spc="125" dirty="0">
                <a:solidFill>
                  <a:srgbClr val="231F20"/>
                </a:solidFill>
                <a:latin typeface="Arial"/>
                <a:cs typeface="Arial"/>
              </a:rPr>
              <a:t>states,</a:t>
            </a:r>
            <a:endParaRPr sz="1950">
              <a:latin typeface="Arial"/>
              <a:cs typeface="Arial"/>
            </a:endParaRPr>
          </a:p>
          <a:p>
            <a:pPr marL="300990">
              <a:lnSpc>
                <a:spcPct val="100000"/>
              </a:lnSpc>
              <a:spcBef>
                <a:spcPts val="484"/>
              </a:spcBef>
            </a:pPr>
            <a:r>
              <a:rPr sz="1950" spc="150" dirty="0">
                <a:solidFill>
                  <a:srgbClr val="FF0000"/>
                </a:solidFill>
                <a:latin typeface="Arial"/>
                <a:cs typeface="Arial"/>
              </a:rPr>
              <a:t>0.5 </a:t>
            </a:r>
            <a:r>
              <a:rPr sz="1950" spc="75" dirty="0">
                <a:solidFill>
                  <a:srgbClr val="231F20"/>
                </a:solidFill>
                <a:latin typeface="Arial"/>
                <a:cs typeface="Arial"/>
              </a:rPr>
              <a:t>seconds </a:t>
            </a:r>
            <a:r>
              <a:rPr sz="1950" spc="250" dirty="0">
                <a:solidFill>
                  <a:srgbClr val="231F20"/>
                </a:solidFill>
                <a:latin typeface="Arial"/>
                <a:cs typeface="Arial"/>
              </a:rPr>
              <a:t>to </a:t>
            </a:r>
            <a:r>
              <a:rPr sz="1950" spc="170" dirty="0">
                <a:solidFill>
                  <a:srgbClr val="231F20"/>
                </a:solidFill>
                <a:latin typeface="Arial"/>
                <a:cs typeface="Arial"/>
              </a:rPr>
              <a:t>get </a:t>
            </a:r>
            <a:r>
              <a:rPr sz="1950" spc="250" dirty="0">
                <a:solidFill>
                  <a:srgbClr val="231F20"/>
                </a:solidFill>
                <a:latin typeface="Arial"/>
                <a:cs typeface="Arial"/>
              </a:rPr>
              <a:t>to</a:t>
            </a:r>
            <a:r>
              <a:rPr sz="1950" spc="725" dirty="0">
                <a:solidFill>
                  <a:srgbClr val="231F20"/>
                </a:solidFill>
                <a:latin typeface="Arial"/>
                <a:cs typeface="Arial"/>
              </a:rPr>
              <a:t> </a:t>
            </a:r>
            <a:r>
              <a:rPr sz="2050" spc="55" dirty="0">
                <a:solidFill>
                  <a:srgbClr val="0000FF"/>
                </a:solidFill>
                <a:latin typeface="SimSun"/>
                <a:cs typeface="SimSun"/>
              </a:rPr>
              <a:t>proved</a:t>
            </a:r>
            <a:endParaRPr sz="2050">
              <a:latin typeface="SimSun"/>
              <a:cs typeface="SimSun"/>
            </a:endParaRPr>
          </a:p>
          <a:p>
            <a:pPr>
              <a:lnSpc>
                <a:spcPct val="100000"/>
              </a:lnSpc>
              <a:spcBef>
                <a:spcPts val="1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50" dirty="0">
                <a:solidFill>
                  <a:srgbClr val="231F20"/>
                </a:solidFill>
                <a:latin typeface="Arial"/>
                <a:cs typeface="Arial"/>
              </a:rPr>
              <a:t>Symbolic </a:t>
            </a:r>
            <a:r>
              <a:rPr sz="1950" spc="160" dirty="0">
                <a:solidFill>
                  <a:srgbClr val="231F20"/>
                </a:solidFill>
                <a:latin typeface="Arial"/>
                <a:cs typeface="Arial"/>
              </a:rPr>
              <a:t>model </a:t>
            </a:r>
            <a:r>
              <a:rPr sz="1950" spc="125" dirty="0">
                <a:solidFill>
                  <a:srgbClr val="231F20"/>
                </a:solidFill>
                <a:latin typeface="Arial"/>
                <a:cs typeface="Arial"/>
              </a:rPr>
              <a:t>checking </a:t>
            </a:r>
            <a:r>
              <a:rPr sz="1950" spc="40" dirty="0">
                <a:solidFill>
                  <a:srgbClr val="231F20"/>
                </a:solidFill>
                <a:latin typeface="Arial"/>
                <a:cs typeface="Arial"/>
              </a:rPr>
              <a:t>is </a:t>
            </a:r>
            <a:r>
              <a:rPr sz="1950" spc="140" dirty="0">
                <a:solidFill>
                  <a:srgbClr val="231F20"/>
                </a:solidFill>
                <a:latin typeface="Arial"/>
                <a:cs typeface="Arial"/>
              </a:rPr>
              <a:t> </a:t>
            </a:r>
            <a:r>
              <a:rPr sz="1950" spc="260" dirty="0">
                <a:solidFill>
                  <a:srgbClr val="231F20"/>
                </a:solidFill>
                <a:latin typeface="Arial"/>
                <a:cs typeface="Arial"/>
              </a:rPr>
              <a:t>“</a:t>
            </a:r>
            <a:r>
              <a:rPr sz="1950" spc="260" dirty="0">
                <a:solidFill>
                  <a:srgbClr val="0000FF"/>
                </a:solidFill>
                <a:latin typeface="Arial"/>
                <a:cs typeface="Arial"/>
              </a:rPr>
              <a:t>automatic</a:t>
            </a:r>
            <a:r>
              <a:rPr sz="1950" spc="260" dirty="0">
                <a:solidFill>
                  <a:srgbClr val="231F20"/>
                </a:solidFill>
                <a:latin typeface="Arial"/>
                <a:cs typeface="Arial"/>
              </a:rPr>
              <a:t>”</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75" dirty="0">
                <a:solidFill>
                  <a:srgbClr val="231F20"/>
                </a:solidFill>
                <a:latin typeface="Arial"/>
                <a:cs typeface="Arial"/>
              </a:rPr>
              <a:t>But </a:t>
            </a:r>
            <a:r>
              <a:rPr sz="1950" spc="95" dirty="0">
                <a:solidFill>
                  <a:srgbClr val="231F20"/>
                </a:solidFill>
                <a:latin typeface="Arial"/>
                <a:cs typeface="Arial"/>
              </a:rPr>
              <a:t>requires </a:t>
            </a:r>
            <a:r>
              <a:rPr sz="1950" spc="114" dirty="0">
                <a:solidFill>
                  <a:srgbClr val="FF0000"/>
                </a:solidFill>
                <a:latin typeface="Arial"/>
                <a:cs typeface="Arial"/>
              </a:rPr>
              <a:t>dial</a:t>
            </a:r>
            <a:r>
              <a:rPr sz="1950" spc="405" dirty="0">
                <a:solidFill>
                  <a:srgbClr val="FF0000"/>
                </a:solidFill>
                <a:latin typeface="Arial"/>
                <a:cs typeface="Arial"/>
              </a:rPr>
              <a:t> </a:t>
            </a:r>
            <a:r>
              <a:rPr sz="1950" spc="165" dirty="0">
                <a:solidFill>
                  <a:srgbClr val="FF0000"/>
                </a:solidFill>
                <a:latin typeface="Arial"/>
                <a:cs typeface="Arial"/>
              </a:rPr>
              <a:t>twiddling</a:t>
            </a:r>
            <a:endParaRPr sz="1950">
              <a:latin typeface="Arial"/>
              <a:cs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822772"/>
            <a:ext cx="7590155" cy="5178425"/>
          </a:xfrm>
          <a:prstGeom prst="rect">
            <a:avLst/>
          </a:prstGeom>
        </p:spPr>
        <p:txBody>
          <a:bodyPr vert="horz" wrap="square" lIns="0" tIns="0" rIns="0" bIns="0" rtlCol="0">
            <a:spAutoFit/>
          </a:bodyPr>
          <a:lstStyle/>
          <a:p>
            <a:pPr marL="924560">
              <a:lnSpc>
                <a:spcPct val="100000"/>
              </a:lnSpc>
            </a:pPr>
            <a:r>
              <a:rPr sz="1950" spc="305" dirty="0">
                <a:solidFill>
                  <a:srgbClr val="231F20"/>
                </a:solidFill>
                <a:latin typeface="Arial"/>
                <a:cs typeface="Arial"/>
              </a:rPr>
              <a:t>More </a:t>
            </a:r>
            <a:r>
              <a:rPr sz="1950" spc="225" dirty="0">
                <a:solidFill>
                  <a:srgbClr val="231F20"/>
                </a:solidFill>
                <a:latin typeface="Arial"/>
                <a:cs typeface="Arial"/>
              </a:rPr>
              <a:t>Checks </a:t>
            </a:r>
            <a:r>
              <a:rPr sz="1950" spc="385" dirty="0">
                <a:solidFill>
                  <a:srgbClr val="231F20"/>
                </a:solidFill>
                <a:latin typeface="Arial"/>
                <a:cs typeface="Arial"/>
              </a:rPr>
              <a:t>With </a:t>
            </a:r>
            <a:r>
              <a:rPr sz="1950" spc="260" dirty="0">
                <a:solidFill>
                  <a:srgbClr val="231F20"/>
                </a:solidFill>
                <a:latin typeface="Arial"/>
                <a:cs typeface="Arial"/>
              </a:rPr>
              <a:t>Symbolic </a:t>
            </a:r>
            <a:r>
              <a:rPr sz="1950" spc="305" dirty="0">
                <a:solidFill>
                  <a:srgbClr val="231F20"/>
                </a:solidFill>
                <a:latin typeface="Arial"/>
                <a:cs typeface="Arial"/>
              </a:rPr>
              <a:t>Model</a:t>
            </a:r>
            <a:r>
              <a:rPr sz="1950" spc="600"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ts val="2275"/>
              </a:lnSpc>
              <a:buSzPct val="105128"/>
              <a:buFont typeface="Lucida Sans Unicode"/>
              <a:buChar char="•"/>
              <a:tabLst>
                <a:tab pos="301625" algn="l"/>
              </a:tabLst>
            </a:pPr>
            <a:r>
              <a:rPr sz="1950" spc="250" dirty="0">
                <a:solidFill>
                  <a:srgbClr val="231F20"/>
                </a:solidFill>
                <a:latin typeface="Arial"/>
                <a:cs typeface="Arial"/>
              </a:rPr>
              <a:t>Do </a:t>
            </a:r>
            <a:r>
              <a:rPr sz="1950" spc="175" dirty="0">
                <a:solidFill>
                  <a:srgbClr val="231F20"/>
                </a:solidFill>
                <a:latin typeface="Arial"/>
                <a:cs typeface="Arial"/>
              </a:rPr>
              <a:t>the </a:t>
            </a:r>
            <a:r>
              <a:rPr sz="1950" spc="150" dirty="0">
                <a:solidFill>
                  <a:srgbClr val="231F20"/>
                </a:solidFill>
                <a:latin typeface="Arial"/>
                <a:cs typeface="Arial"/>
              </a:rPr>
              <a:t>tickets </a:t>
            </a:r>
            <a:r>
              <a:rPr sz="1950" spc="80" dirty="0">
                <a:solidFill>
                  <a:srgbClr val="231F20"/>
                </a:solidFill>
                <a:latin typeface="Arial"/>
                <a:cs typeface="Arial"/>
              </a:rPr>
              <a:t>always increase </a:t>
            </a:r>
            <a:r>
              <a:rPr sz="1950" spc="215" dirty="0">
                <a:solidFill>
                  <a:srgbClr val="231F20"/>
                </a:solidFill>
                <a:latin typeface="Arial"/>
                <a:cs typeface="Arial"/>
              </a:rPr>
              <a:t>without</a:t>
            </a:r>
            <a:r>
              <a:rPr sz="1950" spc="940" dirty="0">
                <a:solidFill>
                  <a:srgbClr val="231F20"/>
                </a:solidFill>
                <a:latin typeface="Arial"/>
                <a:cs typeface="Arial"/>
              </a:rPr>
              <a:t> </a:t>
            </a:r>
            <a:r>
              <a:rPr sz="1950" spc="150" dirty="0">
                <a:solidFill>
                  <a:srgbClr val="231F20"/>
                </a:solidFill>
                <a:latin typeface="Arial"/>
                <a:cs typeface="Arial"/>
              </a:rPr>
              <a:t>bound?</a:t>
            </a:r>
            <a:endParaRPr sz="1950">
              <a:latin typeface="Arial"/>
              <a:cs typeface="Arial"/>
            </a:endParaRPr>
          </a:p>
          <a:p>
            <a:pPr marL="300990">
              <a:lnSpc>
                <a:spcPts val="2395"/>
              </a:lnSpc>
            </a:pPr>
            <a:r>
              <a:rPr sz="2050" spc="55" dirty="0">
                <a:solidFill>
                  <a:srgbClr val="0000FF"/>
                </a:solidFill>
                <a:latin typeface="SimSun"/>
                <a:cs typeface="SimSun"/>
              </a:rPr>
              <a:t>bounded: LEMMA system |- F(my_t &gt;</a:t>
            </a:r>
            <a:r>
              <a:rPr sz="2050" spc="10" dirty="0">
                <a:solidFill>
                  <a:srgbClr val="0000FF"/>
                </a:solidFill>
                <a:latin typeface="SimSun"/>
                <a:cs typeface="SimSun"/>
              </a:rPr>
              <a:t> </a:t>
            </a:r>
            <a:r>
              <a:rPr sz="2050" spc="55" dirty="0">
                <a:solidFill>
                  <a:srgbClr val="0000FF"/>
                </a:solidFill>
                <a:latin typeface="SimSun"/>
                <a:cs typeface="SimSun"/>
              </a:rPr>
              <a:t>3);</a:t>
            </a:r>
            <a:endParaRPr sz="2050">
              <a:latin typeface="SimSun"/>
              <a:cs typeface="SimSun"/>
            </a:endParaRPr>
          </a:p>
          <a:p>
            <a:pPr marL="300990" marR="20320" indent="-288290">
              <a:lnSpc>
                <a:spcPct val="125000"/>
              </a:lnSpc>
              <a:spcBef>
                <a:spcPts val="390"/>
              </a:spcBef>
              <a:buSzPct val="105128"/>
              <a:buFont typeface="Lucida Sans Unicode"/>
              <a:buChar char="•"/>
              <a:tabLst>
                <a:tab pos="301625" algn="l"/>
              </a:tabLst>
            </a:pPr>
            <a:r>
              <a:rPr sz="1950" spc="250" dirty="0">
                <a:solidFill>
                  <a:srgbClr val="231F20"/>
                </a:solidFill>
                <a:latin typeface="Arial"/>
                <a:cs typeface="Arial"/>
              </a:rPr>
              <a:t>The </a:t>
            </a:r>
            <a:r>
              <a:rPr sz="1950" spc="135" dirty="0">
                <a:solidFill>
                  <a:srgbClr val="231F20"/>
                </a:solidFill>
                <a:latin typeface="Arial"/>
                <a:cs typeface="Arial"/>
              </a:rPr>
              <a:t>counterexample </a:t>
            </a:r>
            <a:r>
              <a:rPr sz="1950" spc="250" dirty="0">
                <a:solidFill>
                  <a:srgbClr val="231F20"/>
                </a:solidFill>
                <a:latin typeface="Arial"/>
                <a:cs typeface="Arial"/>
              </a:rPr>
              <a:t>to </a:t>
            </a:r>
            <a:r>
              <a:rPr sz="1950" spc="145" dirty="0">
                <a:solidFill>
                  <a:srgbClr val="231F20"/>
                </a:solidFill>
                <a:latin typeface="Arial"/>
                <a:cs typeface="Arial"/>
              </a:rPr>
              <a:t>this </a:t>
            </a:r>
            <a:r>
              <a:rPr sz="1950" spc="60" dirty="0">
                <a:solidFill>
                  <a:srgbClr val="0000FF"/>
                </a:solidFill>
                <a:latin typeface="Arial"/>
                <a:cs typeface="Arial"/>
              </a:rPr>
              <a:t>liveness </a:t>
            </a:r>
            <a:r>
              <a:rPr sz="1950" spc="150" dirty="0">
                <a:solidFill>
                  <a:srgbClr val="231F20"/>
                </a:solidFill>
                <a:latin typeface="Arial"/>
                <a:cs typeface="Arial"/>
              </a:rPr>
              <a:t>property </a:t>
            </a:r>
            <a:r>
              <a:rPr sz="1950" spc="40" dirty="0">
                <a:solidFill>
                  <a:srgbClr val="231F20"/>
                </a:solidFill>
                <a:latin typeface="Arial"/>
                <a:cs typeface="Arial"/>
              </a:rPr>
              <a:t>is </a:t>
            </a:r>
            <a:r>
              <a:rPr sz="1950" spc="85" dirty="0">
                <a:solidFill>
                  <a:srgbClr val="231F20"/>
                </a:solidFill>
                <a:latin typeface="Arial"/>
                <a:cs typeface="Arial"/>
              </a:rPr>
              <a:t>a </a:t>
            </a:r>
            <a:r>
              <a:rPr sz="1950" spc="125" dirty="0">
                <a:solidFill>
                  <a:srgbClr val="FF0000"/>
                </a:solidFill>
                <a:latin typeface="Arial"/>
                <a:cs typeface="Arial"/>
              </a:rPr>
              <a:t>prefix</a:t>
            </a:r>
            <a:r>
              <a:rPr sz="1950" spc="125" dirty="0">
                <a:solidFill>
                  <a:srgbClr val="231F20"/>
                </a:solidFill>
                <a:latin typeface="Arial"/>
                <a:cs typeface="Arial"/>
              </a:rPr>
              <a:t>,  followed </a:t>
            </a:r>
            <a:r>
              <a:rPr sz="1950" spc="105" dirty="0">
                <a:solidFill>
                  <a:srgbClr val="231F20"/>
                </a:solidFill>
                <a:latin typeface="Arial"/>
                <a:cs typeface="Arial"/>
              </a:rPr>
              <a:t>by </a:t>
            </a:r>
            <a:r>
              <a:rPr sz="1950" spc="85" dirty="0">
                <a:solidFill>
                  <a:srgbClr val="231F20"/>
                </a:solidFill>
                <a:latin typeface="Arial"/>
                <a:cs typeface="Arial"/>
              </a:rPr>
              <a:t>a </a:t>
            </a:r>
            <a:r>
              <a:rPr sz="1950" spc="160" dirty="0">
                <a:solidFill>
                  <a:srgbClr val="FF0000"/>
                </a:solidFill>
                <a:latin typeface="Arial"/>
                <a:cs typeface="Arial"/>
              </a:rPr>
              <a:t>loop</a:t>
            </a:r>
            <a:r>
              <a:rPr sz="1950" spc="765" dirty="0">
                <a:solidFill>
                  <a:srgbClr val="FF0000"/>
                </a:solidFill>
                <a:latin typeface="Arial"/>
                <a:cs typeface="Arial"/>
              </a:rPr>
              <a:t> </a:t>
            </a:r>
            <a:r>
              <a:rPr sz="1950" spc="130" dirty="0">
                <a:solidFill>
                  <a:srgbClr val="231F20"/>
                </a:solidFill>
                <a:latin typeface="Arial"/>
                <a:cs typeface="Arial"/>
              </a:rPr>
              <a:t>(lasso)</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50" dirty="0">
                <a:solidFill>
                  <a:srgbClr val="231F20"/>
                </a:solidFill>
                <a:latin typeface="Arial"/>
                <a:cs typeface="Arial"/>
              </a:rPr>
              <a:t>The </a:t>
            </a:r>
            <a:r>
              <a:rPr sz="1950" spc="180" dirty="0">
                <a:solidFill>
                  <a:srgbClr val="231F20"/>
                </a:solidFill>
                <a:latin typeface="Arial"/>
                <a:cs typeface="Arial"/>
              </a:rPr>
              <a:t>pattern </a:t>
            </a:r>
            <a:r>
              <a:rPr sz="1950" spc="40" dirty="0">
                <a:solidFill>
                  <a:srgbClr val="231F20"/>
                </a:solidFill>
                <a:latin typeface="Arial"/>
                <a:cs typeface="Arial"/>
              </a:rPr>
              <a:t>is </a:t>
            </a:r>
            <a:r>
              <a:rPr sz="1950" spc="204" dirty="0">
                <a:solidFill>
                  <a:srgbClr val="0000FF"/>
                </a:solidFill>
                <a:latin typeface="Arial"/>
                <a:cs typeface="Arial"/>
              </a:rPr>
              <a:t>P1 </a:t>
            </a:r>
            <a:r>
              <a:rPr sz="1950" spc="125" dirty="0">
                <a:solidFill>
                  <a:srgbClr val="0000FF"/>
                </a:solidFill>
                <a:latin typeface="Arial"/>
                <a:cs typeface="Arial"/>
              </a:rPr>
              <a:t>tries</a:t>
            </a:r>
            <a:r>
              <a:rPr sz="1950" spc="125" dirty="0">
                <a:solidFill>
                  <a:srgbClr val="231F20"/>
                </a:solidFill>
                <a:latin typeface="Arial"/>
                <a:cs typeface="Arial"/>
              </a:rPr>
              <a:t>, </a:t>
            </a:r>
            <a:r>
              <a:rPr sz="1950" spc="114" dirty="0">
                <a:solidFill>
                  <a:srgbClr val="0000FF"/>
                </a:solidFill>
                <a:latin typeface="Arial"/>
                <a:cs typeface="Arial"/>
              </a:rPr>
              <a:t>enters</a:t>
            </a:r>
            <a:r>
              <a:rPr sz="1950" spc="114" dirty="0">
                <a:solidFill>
                  <a:srgbClr val="231F20"/>
                </a:solidFill>
                <a:latin typeface="Arial"/>
                <a:cs typeface="Arial"/>
              </a:rPr>
              <a:t>, </a:t>
            </a:r>
            <a:r>
              <a:rPr sz="1950" spc="65" dirty="0">
                <a:solidFill>
                  <a:srgbClr val="0000FF"/>
                </a:solidFill>
                <a:latin typeface="Arial"/>
                <a:cs typeface="Arial"/>
              </a:rPr>
              <a:t>leaves</a:t>
            </a:r>
            <a:r>
              <a:rPr sz="1950" spc="65" dirty="0">
                <a:solidFill>
                  <a:srgbClr val="231F20"/>
                </a:solidFill>
                <a:latin typeface="Arial"/>
                <a:cs typeface="Arial"/>
              </a:rPr>
              <a:t>, </a:t>
            </a:r>
            <a:r>
              <a:rPr sz="1950" spc="130" dirty="0">
                <a:solidFill>
                  <a:srgbClr val="231F20"/>
                </a:solidFill>
                <a:latin typeface="Arial"/>
                <a:cs typeface="Arial"/>
              </a:rPr>
              <a:t>and </a:t>
            </a:r>
            <a:r>
              <a:rPr sz="1950" spc="165" dirty="0">
                <a:solidFill>
                  <a:srgbClr val="231F20"/>
                </a:solidFill>
                <a:latin typeface="Arial"/>
                <a:cs typeface="Arial"/>
              </a:rPr>
              <a:t>then </a:t>
            </a:r>
            <a:r>
              <a:rPr sz="1950" spc="760" dirty="0">
                <a:solidFill>
                  <a:srgbClr val="231F20"/>
                </a:solidFill>
                <a:latin typeface="Arial"/>
                <a:cs typeface="Arial"/>
              </a:rPr>
              <a:t> </a:t>
            </a:r>
            <a:r>
              <a:rPr sz="1950" spc="114" dirty="0">
                <a:solidFill>
                  <a:srgbClr val="231F20"/>
                </a:solidFill>
                <a:latin typeface="Arial"/>
                <a:cs typeface="Arial"/>
              </a:rPr>
              <a:t>repeats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ts val="2275"/>
              </a:lnSpc>
              <a:buSzPct val="105128"/>
              <a:buFont typeface="Lucida Sans Unicode"/>
              <a:buChar char="•"/>
              <a:tabLst>
                <a:tab pos="301625" algn="l"/>
              </a:tabLst>
            </a:pPr>
            <a:r>
              <a:rPr sz="1950" spc="135" dirty="0">
                <a:solidFill>
                  <a:srgbClr val="231F20"/>
                </a:solidFill>
                <a:latin typeface="Arial"/>
                <a:cs typeface="Arial"/>
              </a:rPr>
              <a:t>Does </a:t>
            </a:r>
            <a:r>
              <a:rPr sz="1950" spc="204" dirty="0">
                <a:solidFill>
                  <a:srgbClr val="231F20"/>
                </a:solidFill>
                <a:latin typeface="Arial"/>
                <a:cs typeface="Arial"/>
              </a:rPr>
              <a:t>P1 </a:t>
            </a:r>
            <a:r>
              <a:rPr sz="1950" spc="80" dirty="0">
                <a:solidFill>
                  <a:srgbClr val="231F20"/>
                </a:solidFill>
                <a:latin typeface="Arial"/>
                <a:cs typeface="Arial"/>
              </a:rPr>
              <a:t>ever </a:t>
            </a:r>
            <a:r>
              <a:rPr sz="1950" spc="170" dirty="0">
                <a:solidFill>
                  <a:srgbClr val="231F20"/>
                </a:solidFill>
                <a:latin typeface="Arial"/>
                <a:cs typeface="Arial"/>
              </a:rPr>
              <a:t>get </a:t>
            </a:r>
            <a:r>
              <a:rPr sz="1950" spc="190" dirty="0">
                <a:solidFill>
                  <a:srgbClr val="231F20"/>
                </a:solidFill>
                <a:latin typeface="Arial"/>
                <a:cs typeface="Arial"/>
              </a:rPr>
              <a:t>into </a:t>
            </a:r>
            <a:r>
              <a:rPr sz="1950" spc="175" dirty="0">
                <a:solidFill>
                  <a:srgbClr val="231F20"/>
                </a:solidFill>
                <a:latin typeface="Arial"/>
                <a:cs typeface="Arial"/>
              </a:rPr>
              <a:t>the </a:t>
            </a:r>
            <a:r>
              <a:rPr sz="1950" spc="150" dirty="0">
                <a:solidFill>
                  <a:srgbClr val="231F20"/>
                </a:solidFill>
                <a:latin typeface="Arial"/>
                <a:cs typeface="Arial"/>
              </a:rPr>
              <a:t>critical </a:t>
            </a:r>
            <a:r>
              <a:rPr sz="1950" spc="295" dirty="0">
                <a:solidFill>
                  <a:srgbClr val="231F20"/>
                </a:solidFill>
                <a:latin typeface="Arial"/>
                <a:cs typeface="Arial"/>
              </a:rPr>
              <a:t> </a:t>
            </a:r>
            <a:r>
              <a:rPr sz="1950" spc="120" dirty="0">
                <a:solidFill>
                  <a:srgbClr val="231F20"/>
                </a:solidFill>
                <a:latin typeface="Arial"/>
                <a:cs typeface="Arial"/>
              </a:rPr>
              <a:t>region?</a:t>
            </a:r>
            <a:endParaRPr sz="1950">
              <a:latin typeface="Arial"/>
              <a:cs typeface="Arial"/>
            </a:endParaRPr>
          </a:p>
          <a:p>
            <a:pPr marL="300990">
              <a:lnSpc>
                <a:spcPts val="2395"/>
              </a:lnSpc>
            </a:pPr>
            <a:r>
              <a:rPr sz="2050" spc="55" dirty="0">
                <a:solidFill>
                  <a:srgbClr val="0000FF"/>
                </a:solidFill>
                <a:latin typeface="SimSun"/>
                <a:cs typeface="SimSun"/>
              </a:rPr>
              <a:t>liveness: THEOREM system |- F(pc1 =</a:t>
            </a:r>
            <a:r>
              <a:rPr sz="2050" spc="5"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marL="300990">
              <a:lnSpc>
                <a:spcPct val="100000"/>
              </a:lnSpc>
              <a:spcBef>
                <a:spcPts val="50"/>
              </a:spcBef>
            </a:pPr>
            <a:r>
              <a:rPr sz="1950" spc="120" dirty="0">
                <a:solidFill>
                  <a:srgbClr val="231F20"/>
                </a:solidFill>
                <a:latin typeface="Arial"/>
                <a:cs typeface="Arial"/>
              </a:rPr>
              <a:t>Same </a:t>
            </a:r>
            <a:r>
              <a:rPr sz="1950" spc="135" dirty="0">
                <a:solidFill>
                  <a:srgbClr val="231F20"/>
                </a:solidFill>
                <a:latin typeface="Arial"/>
                <a:cs typeface="Arial"/>
              </a:rPr>
              <a:t>counterexample </a:t>
            </a:r>
            <a:r>
              <a:rPr sz="1950" spc="30" dirty="0">
                <a:solidFill>
                  <a:srgbClr val="231F20"/>
                </a:solidFill>
                <a:latin typeface="Arial"/>
                <a:cs typeface="Arial"/>
              </a:rPr>
              <a:t>as </a:t>
            </a:r>
            <a:r>
              <a:rPr sz="1950" spc="120" dirty="0">
                <a:solidFill>
                  <a:srgbClr val="231F20"/>
                </a:solidFill>
                <a:latin typeface="Arial"/>
                <a:cs typeface="Arial"/>
              </a:rPr>
              <a:t>above </a:t>
            </a:r>
            <a:r>
              <a:rPr sz="1950" spc="235" dirty="0">
                <a:solidFill>
                  <a:srgbClr val="231F20"/>
                </a:solidFill>
                <a:latin typeface="Arial"/>
                <a:cs typeface="Arial"/>
              </a:rPr>
              <a:t>(with </a:t>
            </a:r>
            <a:r>
              <a:rPr sz="2050" spc="55" dirty="0">
                <a:solidFill>
                  <a:srgbClr val="0000FF"/>
                </a:solidFill>
                <a:latin typeface="SimSun"/>
                <a:cs typeface="SimSun"/>
              </a:rPr>
              <a:t>P2 </a:t>
            </a:r>
            <a:r>
              <a:rPr sz="1950" spc="155" dirty="0">
                <a:solidFill>
                  <a:srgbClr val="231F20"/>
                </a:solidFill>
                <a:latin typeface="Arial"/>
                <a:cs typeface="Arial"/>
              </a:rPr>
              <a:t>rather </a:t>
            </a:r>
            <a:r>
              <a:rPr sz="1950" spc="185" dirty="0">
                <a:solidFill>
                  <a:srgbClr val="231F20"/>
                </a:solidFill>
                <a:latin typeface="Arial"/>
                <a:cs typeface="Arial"/>
              </a:rPr>
              <a:t>than </a:t>
            </a:r>
            <a:r>
              <a:rPr sz="1950" spc="200" dirty="0">
                <a:solidFill>
                  <a:srgbClr val="231F20"/>
                </a:solidFill>
                <a:latin typeface="Arial"/>
                <a:cs typeface="Arial"/>
              </a:rPr>
              <a:t> </a:t>
            </a:r>
            <a:r>
              <a:rPr sz="2050" spc="140" dirty="0">
                <a:solidFill>
                  <a:srgbClr val="0000FF"/>
                </a:solidFill>
                <a:latin typeface="SimSun"/>
                <a:cs typeface="SimSun"/>
              </a:rPr>
              <a:t>P1</a:t>
            </a:r>
            <a:r>
              <a:rPr sz="1950" spc="140" dirty="0">
                <a:solidFill>
                  <a:srgbClr val="231F20"/>
                </a:solidFill>
                <a:latin typeface="Arial"/>
                <a:cs typeface="Arial"/>
              </a:rPr>
              <a:t>)</a:t>
            </a:r>
            <a:endParaRPr sz="1950">
              <a:latin typeface="Arial"/>
              <a:cs typeface="Arial"/>
            </a:endParaRPr>
          </a:p>
          <a:p>
            <a:pPr>
              <a:lnSpc>
                <a:spcPct val="100000"/>
              </a:lnSpc>
              <a:spcBef>
                <a:spcPts val="11"/>
              </a:spcBef>
            </a:pPr>
            <a:endParaRPr sz="1650">
              <a:latin typeface="Times New Roman"/>
              <a:cs typeface="Times New Roman"/>
            </a:endParaRPr>
          </a:p>
          <a:p>
            <a:pPr marL="300990" indent="-288290">
              <a:lnSpc>
                <a:spcPts val="2275"/>
              </a:lnSpc>
              <a:buSzPct val="105128"/>
              <a:buFont typeface="Lucida Sans Unicode"/>
              <a:buChar char="•"/>
              <a:tabLst>
                <a:tab pos="301625" algn="l"/>
              </a:tabLst>
            </a:pPr>
            <a:r>
              <a:rPr sz="1950" spc="150" dirty="0">
                <a:solidFill>
                  <a:srgbClr val="231F20"/>
                </a:solidFill>
                <a:latin typeface="Arial"/>
                <a:cs typeface="Arial"/>
              </a:rPr>
              <a:t>If </a:t>
            </a:r>
            <a:r>
              <a:rPr sz="1950" spc="229" dirty="0">
                <a:solidFill>
                  <a:srgbClr val="231F20"/>
                </a:solidFill>
                <a:latin typeface="Arial"/>
                <a:cs typeface="Arial"/>
              </a:rPr>
              <a:t>it </a:t>
            </a:r>
            <a:r>
              <a:rPr sz="1950" spc="125" dirty="0">
                <a:solidFill>
                  <a:srgbClr val="231F20"/>
                </a:solidFill>
                <a:latin typeface="Arial"/>
                <a:cs typeface="Arial"/>
              </a:rPr>
              <a:t>tries, </a:t>
            </a:r>
            <a:r>
              <a:rPr sz="1950" spc="90" dirty="0">
                <a:solidFill>
                  <a:srgbClr val="231F20"/>
                </a:solidFill>
                <a:latin typeface="Arial"/>
                <a:cs typeface="Arial"/>
              </a:rPr>
              <a:t>does </a:t>
            </a:r>
            <a:r>
              <a:rPr sz="1950" spc="229" dirty="0">
                <a:solidFill>
                  <a:srgbClr val="231F20"/>
                </a:solidFill>
                <a:latin typeface="Arial"/>
                <a:cs typeface="Arial"/>
              </a:rPr>
              <a:t>it </a:t>
            </a:r>
            <a:r>
              <a:rPr sz="1950" spc="80" dirty="0">
                <a:solidFill>
                  <a:srgbClr val="231F20"/>
                </a:solidFill>
                <a:latin typeface="Arial"/>
                <a:cs typeface="Arial"/>
              </a:rPr>
              <a:t>always </a:t>
            </a:r>
            <a:r>
              <a:rPr sz="1950" spc="200" dirty="0">
                <a:solidFill>
                  <a:srgbClr val="231F20"/>
                </a:solidFill>
                <a:latin typeface="Arial"/>
                <a:cs typeface="Arial"/>
              </a:rPr>
              <a:t> </a:t>
            </a:r>
            <a:r>
              <a:rPr sz="1950" spc="80" dirty="0">
                <a:solidFill>
                  <a:srgbClr val="231F20"/>
                </a:solidFill>
                <a:latin typeface="Arial"/>
                <a:cs typeface="Arial"/>
              </a:rPr>
              <a:t>succeed?</a:t>
            </a:r>
            <a:endParaRPr sz="1950">
              <a:latin typeface="Arial"/>
              <a:cs typeface="Arial"/>
            </a:endParaRPr>
          </a:p>
          <a:p>
            <a:pPr marL="300990">
              <a:lnSpc>
                <a:spcPts val="2395"/>
              </a:lnSpc>
            </a:pPr>
            <a:r>
              <a:rPr sz="2050" spc="55" dirty="0">
                <a:solidFill>
                  <a:srgbClr val="0000FF"/>
                </a:solidFill>
                <a:latin typeface="SimSun"/>
                <a:cs typeface="SimSun"/>
              </a:rPr>
              <a:t>response: THEOREM system</a:t>
            </a:r>
            <a:r>
              <a:rPr sz="2050" spc="-1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300990" marR="1770380" indent="412750">
              <a:lnSpc>
                <a:spcPct val="102099"/>
              </a:lnSpc>
              <a:spcBef>
                <a:spcPts val="414"/>
              </a:spcBef>
            </a:pPr>
            <a:r>
              <a:rPr sz="2050" spc="55" dirty="0">
                <a:solidFill>
                  <a:srgbClr val="0000FF"/>
                </a:solidFill>
                <a:latin typeface="SimSun"/>
                <a:cs typeface="SimSun"/>
              </a:rPr>
              <a:t>G(pc1 = trying =&gt; F(pc1 = critical));  Proved</a:t>
            </a:r>
            <a:endParaRPr sz="2050">
              <a:latin typeface="SimSun"/>
              <a:cs typeface="SimSun"/>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809738"/>
            <a:ext cx="8131175" cy="5205095"/>
          </a:xfrm>
          <a:prstGeom prst="rect">
            <a:avLst/>
          </a:prstGeom>
        </p:spPr>
        <p:txBody>
          <a:bodyPr vert="horz" wrap="square" lIns="0" tIns="0" rIns="0" bIns="0" rtlCol="0">
            <a:spAutoFit/>
          </a:bodyPr>
          <a:lstStyle/>
          <a:p>
            <a:pPr marL="627380">
              <a:lnSpc>
                <a:spcPct val="100000"/>
              </a:lnSpc>
            </a:pPr>
            <a:r>
              <a:rPr sz="1950" spc="275" dirty="0">
                <a:solidFill>
                  <a:srgbClr val="231F20"/>
                </a:solidFill>
                <a:latin typeface="Arial"/>
                <a:cs typeface="Arial"/>
              </a:rPr>
              <a:t>Yet </a:t>
            </a:r>
            <a:r>
              <a:rPr sz="1950" spc="305" dirty="0">
                <a:solidFill>
                  <a:srgbClr val="231F20"/>
                </a:solidFill>
                <a:latin typeface="Arial"/>
                <a:cs typeface="Arial"/>
              </a:rPr>
              <a:t>More </a:t>
            </a:r>
            <a:r>
              <a:rPr sz="1950" spc="225" dirty="0">
                <a:solidFill>
                  <a:srgbClr val="231F20"/>
                </a:solidFill>
                <a:latin typeface="Arial"/>
                <a:cs typeface="Arial"/>
              </a:rPr>
              <a:t>Checks </a:t>
            </a:r>
            <a:r>
              <a:rPr sz="1950" spc="385" dirty="0">
                <a:solidFill>
                  <a:srgbClr val="231F20"/>
                </a:solidFill>
                <a:latin typeface="Arial"/>
                <a:cs typeface="Arial"/>
              </a:rPr>
              <a:t>With </a:t>
            </a:r>
            <a:r>
              <a:rPr sz="1950" spc="260" dirty="0">
                <a:solidFill>
                  <a:srgbClr val="231F20"/>
                </a:solidFill>
                <a:latin typeface="Arial"/>
                <a:cs typeface="Arial"/>
              </a:rPr>
              <a:t>Symbolic </a:t>
            </a:r>
            <a:r>
              <a:rPr sz="1950" spc="305" dirty="0">
                <a:solidFill>
                  <a:srgbClr val="231F20"/>
                </a:solidFill>
                <a:latin typeface="Arial"/>
                <a:cs typeface="Arial"/>
              </a:rPr>
              <a:t>Model</a:t>
            </a:r>
            <a:r>
              <a:rPr sz="1950" spc="695"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150" dirty="0">
                <a:solidFill>
                  <a:srgbClr val="231F20"/>
                </a:solidFill>
                <a:latin typeface="Arial"/>
                <a:cs typeface="Arial"/>
              </a:rPr>
              <a:t>If </a:t>
            </a:r>
            <a:r>
              <a:rPr sz="1950" spc="229" dirty="0">
                <a:solidFill>
                  <a:srgbClr val="231F20"/>
                </a:solidFill>
                <a:latin typeface="Arial"/>
                <a:cs typeface="Arial"/>
              </a:rPr>
              <a:t>it </a:t>
            </a:r>
            <a:r>
              <a:rPr sz="1950" spc="125" dirty="0">
                <a:solidFill>
                  <a:srgbClr val="231F20"/>
                </a:solidFill>
                <a:latin typeface="Arial"/>
                <a:cs typeface="Arial"/>
              </a:rPr>
              <a:t>tries </a:t>
            </a:r>
            <a:r>
              <a:rPr sz="1950" spc="145" dirty="0">
                <a:solidFill>
                  <a:srgbClr val="231F20"/>
                </a:solidFill>
                <a:latin typeface="Arial"/>
                <a:cs typeface="Arial"/>
              </a:rPr>
              <a:t>infinitely </a:t>
            </a:r>
            <a:r>
              <a:rPr sz="1950" spc="170" dirty="0">
                <a:solidFill>
                  <a:srgbClr val="231F20"/>
                </a:solidFill>
                <a:latin typeface="Arial"/>
                <a:cs typeface="Arial"/>
              </a:rPr>
              <a:t>often, </a:t>
            </a:r>
            <a:r>
              <a:rPr sz="1950" spc="90" dirty="0">
                <a:solidFill>
                  <a:srgbClr val="231F20"/>
                </a:solidFill>
                <a:latin typeface="Arial"/>
                <a:cs typeface="Arial"/>
              </a:rPr>
              <a:t>does </a:t>
            </a:r>
            <a:r>
              <a:rPr sz="1950" spc="229" dirty="0">
                <a:solidFill>
                  <a:srgbClr val="231F20"/>
                </a:solidFill>
                <a:latin typeface="Arial"/>
                <a:cs typeface="Arial"/>
              </a:rPr>
              <a:t>it </a:t>
            </a:r>
            <a:r>
              <a:rPr sz="1950" spc="125" dirty="0">
                <a:solidFill>
                  <a:srgbClr val="231F20"/>
                </a:solidFill>
                <a:latin typeface="Arial"/>
                <a:cs typeface="Arial"/>
              </a:rPr>
              <a:t>eventually </a:t>
            </a:r>
            <a:r>
              <a:rPr sz="1950" spc="75" dirty="0">
                <a:solidFill>
                  <a:srgbClr val="231F20"/>
                </a:solidFill>
                <a:latin typeface="Arial"/>
                <a:cs typeface="Arial"/>
              </a:rPr>
              <a:t>succeed </a:t>
            </a:r>
            <a:r>
              <a:rPr sz="1950" spc="145" dirty="0">
                <a:solidFill>
                  <a:srgbClr val="231F20"/>
                </a:solidFill>
                <a:latin typeface="Arial"/>
                <a:cs typeface="Arial"/>
              </a:rPr>
              <a:t>infinitely  </a:t>
            </a:r>
            <a:r>
              <a:rPr sz="1950" spc="160" dirty="0">
                <a:solidFill>
                  <a:srgbClr val="231F20"/>
                </a:solidFill>
                <a:latin typeface="Arial"/>
                <a:cs typeface="Arial"/>
              </a:rPr>
              <a:t>often?</a:t>
            </a:r>
            <a:endParaRPr sz="1950">
              <a:latin typeface="Arial"/>
              <a:cs typeface="Arial"/>
            </a:endParaRPr>
          </a:p>
          <a:p>
            <a:pPr marL="300990">
              <a:lnSpc>
                <a:spcPts val="2325"/>
              </a:lnSpc>
            </a:pPr>
            <a:r>
              <a:rPr sz="2050" spc="55" dirty="0">
                <a:solidFill>
                  <a:srgbClr val="0000FF"/>
                </a:solidFill>
                <a:latin typeface="SimSun"/>
                <a:cs typeface="SimSun"/>
              </a:rPr>
              <a:t>weak_fair: THEOREM system</a:t>
            </a:r>
            <a:r>
              <a:rPr sz="2050" spc="-20"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300990" marR="1622425" indent="412750">
              <a:lnSpc>
                <a:spcPct val="102099"/>
              </a:lnSpc>
              <a:spcBef>
                <a:spcPts val="414"/>
              </a:spcBef>
            </a:pPr>
            <a:r>
              <a:rPr sz="2050" spc="55" dirty="0">
                <a:solidFill>
                  <a:srgbClr val="0000FF"/>
                </a:solidFill>
                <a:latin typeface="SimSun"/>
                <a:cs typeface="SimSun"/>
              </a:rPr>
              <a:t>F(G(pc1 = trying)) =&gt; G(F(pc1 = critical))  Proved</a:t>
            </a:r>
            <a:endParaRPr sz="2050">
              <a:latin typeface="SimSun"/>
              <a:cs typeface="SimSun"/>
            </a:endParaRPr>
          </a:p>
          <a:p>
            <a:pPr marL="300990" marR="286385" indent="-288290">
              <a:lnSpc>
                <a:spcPct val="125000"/>
              </a:lnSpc>
              <a:spcBef>
                <a:spcPts val="1325"/>
              </a:spcBef>
              <a:buSzPct val="105128"/>
              <a:buFont typeface="Lucida Sans Unicode"/>
              <a:buChar char="•"/>
              <a:tabLst>
                <a:tab pos="301625" algn="l"/>
              </a:tabLst>
            </a:pPr>
            <a:r>
              <a:rPr sz="1950" spc="150" dirty="0">
                <a:solidFill>
                  <a:srgbClr val="231F20"/>
                </a:solidFill>
                <a:latin typeface="Arial"/>
                <a:cs typeface="Arial"/>
              </a:rPr>
              <a:t>If </a:t>
            </a:r>
            <a:r>
              <a:rPr sz="1950" spc="229" dirty="0">
                <a:solidFill>
                  <a:srgbClr val="231F20"/>
                </a:solidFill>
                <a:latin typeface="Arial"/>
                <a:cs typeface="Arial"/>
              </a:rPr>
              <a:t>it </a:t>
            </a:r>
            <a:r>
              <a:rPr sz="1950" spc="125" dirty="0">
                <a:solidFill>
                  <a:srgbClr val="231F20"/>
                </a:solidFill>
                <a:latin typeface="Arial"/>
                <a:cs typeface="Arial"/>
              </a:rPr>
              <a:t>tries continuously, </a:t>
            </a:r>
            <a:r>
              <a:rPr sz="1950" spc="90" dirty="0">
                <a:solidFill>
                  <a:srgbClr val="231F20"/>
                </a:solidFill>
                <a:latin typeface="Arial"/>
                <a:cs typeface="Arial"/>
              </a:rPr>
              <a:t>does </a:t>
            </a:r>
            <a:r>
              <a:rPr sz="1950" spc="229" dirty="0">
                <a:solidFill>
                  <a:srgbClr val="231F20"/>
                </a:solidFill>
                <a:latin typeface="Arial"/>
                <a:cs typeface="Arial"/>
              </a:rPr>
              <a:t>it </a:t>
            </a:r>
            <a:r>
              <a:rPr sz="1950" spc="125" dirty="0">
                <a:solidFill>
                  <a:srgbClr val="231F20"/>
                </a:solidFill>
                <a:latin typeface="Arial"/>
                <a:cs typeface="Arial"/>
              </a:rPr>
              <a:t>eventually </a:t>
            </a:r>
            <a:r>
              <a:rPr sz="1950" spc="75" dirty="0">
                <a:solidFill>
                  <a:srgbClr val="231F20"/>
                </a:solidFill>
                <a:latin typeface="Arial"/>
                <a:cs typeface="Arial"/>
              </a:rPr>
              <a:t>succeed </a:t>
            </a:r>
            <a:r>
              <a:rPr sz="1950" spc="145" dirty="0">
                <a:solidFill>
                  <a:srgbClr val="231F20"/>
                </a:solidFill>
                <a:latin typeface="Arial"/>
                <a:cs typeface="Arial"/>
              </a:rPr>
              <a:t>infinitely  </a:t>
            </a:r>
            <a:r>
              <a:rPr sz="1950" spc="160" dirty="0">
                <a:solidFill>
                  <a:srgbClr val="231F20"/>
                </a:solidFill>
                <a:latin typeface="Arial"/>
                <a:cs typeface="Arial"/>
              </a:rPr>
              <a:t>often?</a:t>
            </a:r>
            <a:endParaRPr sz="1950">
              <a:latin typeface="Arial"/>
              <a:cs typeface="Arial"/>
            </a:endParaRPr>
          </a:p>
          <a:p>
            <a:pPr marL="300990">
              <a:lnSpc>
                <a:spcPts val="2325"/>
              </a:lnSpc>
            </a:pPr>
            <a:r>
              <a:rPr sz="2050" spc="55" dirty="0">
                <a:solidFill>
                  <a:srgbClr val="0000FF"/>
                </a:solidFill>
                <a:latin typeface="SimSun"/>
                <a:cs typeface="SimSun"/>
              </a:rPr>
              <a:t>strong_fair: THEOREM system</a:t>
            </a:r>
            <a:r>
              <a:rPr sz="2050" spc="-20"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300990" marR="1622425" indent="412750">
              <a:lnSpc>
                <a:spcPct val="102099"/>
              </a:lnSpc>
              <a:spcBef>
                <a:spcPts val="409"/>
              </a:spcBef>
            </a:pPr>
            <a:r>
              <a:rPr sz="2050" spc="55" dirty="0">
                <a:solidFill>
                  <a:srgbClr val="0000FF"/>
                </a:solidFill>
                <a:latin typeface="SimSun"/>
                <a:cs typeface="SimSun"/>
              </a:rPr>
              <a:t>G(F(pc1 = trying)) =&gt; G(F(pc1 = critical))  Proved</a:t>
            </a:r>
            <a:endParaRPr sz="2050">
              <a:latin typeface="SimSun"/>
              <a:cs typeface="SimSun"/>
            </a:endParaRPr>
          </a:p>
          <a:p>
            <a:pPr>
              <a:lnSpc>
                <a:spcPct val="100000"/>
              </a:lnSpc>
              <a:spcBef>
                <a:spcPts val="1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45" dirty="0">
                <a:solidFill>
                  <a:srgbClr val="231F20"/>
                </a:solidFill>
                <a:latin typeface="Arial"/>
                <a:cs typeface="Arial"/>
              </a:rPr>
              <a:t>These </a:t>
            </a:r>
            <a:r>
              <a:rPr sz="1950" spc="125" dirty="0">
                <a:solidFill>
                  <a:srgbClr val="231F20"/>
                </a:solidFill>
                <a:latin typeface="Arial"/>
                <a:cs typeface="Arial"/>
              </a:rPr>
              <a:t>properties </a:t>
            </a:r>
            <a:r>
              <a:rPr sz="1950" spc="65" dirty="0">
                <a:solidFill>
                  <a:srgbClr val="231F20"/>
                </a:solidFill>
                <a:latin typeface="Arial"/>
                <a:cs typeface="Arial"/>
              </a:rPr>
              <a:t>are </a:t>
            </a:r>
            <a:r>
              <a:rPr sz="1950" spc="185" dirty="0">
                <a:solidFill>
                  <a:srgbClr val="231F20"/>
                </a:solidFill>
                <a:latin typeface="Arial"/>
                <a:cs typeface="Arial"/>
              </a:rPr>
              <a:t>getting</a:t>
            </a:r>
            <a:r>
              <a:rPr sz="1950" spc="790" dirty="0">
                <a:solidFill>
                  <a:srgbClr val="231F20"/>
                </a:solidFill>
                <a:latin typeface="Arial"/>
                <a:cs typeface="Arial"/>
              </a:rPr>
              <a:t> </a:t>
            </a:r>
            <a:r>
              <a:rPr sz="1950" spc="150" dirty="0">
                <a:solidFill>
                  <a:srgbClr val="231F20"/>
                </a:solidFill>
                <a:latin typeface="Arial"/>
                <a:cs typeface="Arial"/>
              </a:rPr>
              <a:t>complicated</a:t>
            </a:r>
            <a:endParaRPr sz="1950">
              <a:latin typeface="Arial"/>
              <a:cs typeface="Arial"/>
            </a:endParaRPr>
          </a:p>
          <a:p>
            <a:pPr>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95" dirty="0">
                <a:solidFill>
                  <a:srgbClr val="231F20"/>
                </a:solidFill>
                <a:latin typeface="Arial"/>
                <a:cs typeface="Arial"/>
              </a:rPr>
              <a:t>We </a:t>
            </a:r>
            <a:r>
              <a:rPr sz="1950" spc="114" dirty="0">
                <a:solidFill>
                  <a:srgbClr val="231F20"/>
                </a:solidFill>
                <a:latin typeface="Arial"/>
                <a:cs typeface="Arial"/>
              </a:rPr>
              <a:t>should </a:t>
            </a:r>
            <a:r>
              <a:rPr sz="1950" spc="170" dirty="0">
                <a:solidFill>
                  <a:srgbClr val="231F20"/>
                </a:solidFill>
                <a:latin typeface="Arial"/>
                <a:cs typeface="Arial"/>
              </a:rPr>
              <a:t>look </a:t>
            </a:r>
            <a:r>
              <a:rPr sz="1950" spc="215" dirty="0">
                <a:solidFill>
                  <a:srgbClr val="231F20"/>
                </a:solidFill>
                <a:latin typeface="Arial"/>
                <a:cs typeface="Arial"/>
              </a:rPr>
              <a:t>at</a:t>
            </a:r>
            <a:r>
              <a:rPr sz="1950" spc="590" dirty="0">
                <a:solidFill>
                  <a:srgbClr val="231F20"/>
                </a:solidFill>
                <a:latin typeface="Arial"/>
                <a:cs typeface="Arial"/>
              </a:rPr>
              <a:t> </a:t>
            </a:r>
            <a:r>
              <a:rPr sz="1950" spc="335" dirty="0">
                <a:solidFill>
                  <a:srgbClr val="231F20"/>
                </a:solidFill>
                <a:latin typeface="Arial"/>
                <a:cs typeface="Arial"/>
              </a:rPr>
              <a:t>LTL</a:t>
            </a:r>
            <a:endParaRPr sz="1950">
              <a:latin typeface="Arial"/>
              <a:cs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38" y="475981"/>
            <a:ext cx="8149590" cy="5989955"/>
          </a:xfrm>
          <a:prstGeom prst="rect">
            <a:avLst/>
          </a:prstGeom>
        </p:spPr>
        <p:txBody>
          <a:bodyPr vert="horz" wrap="square" lIns="0" tIns="0" rIns="0" bIns="0" rtlCol="0">
            <a:spAutoFit/>
          </a:bodyPr>
          <a:lstStyle/>
          <a:p>
            <a:pPr marL="2527300">
              <a:lnSpc>
                <a:spcPct val="100000"/>
              </a:lnSpc>
            </a:pPr>
            <a:r>
              <a:rPr sz="1950" spc="229" dirty="0">
                <a:solidFill>
                  <a:srgbClr val="231F20"/>
                </a:solidFill>
                <a:latin typeface="Arial"/>
                <a:cs typeface="Arial"/>
              </a:rPr>
              <a:t>Linear </a:t>
            </a:r>
            <a:r>
              <a:rPr sz="1950" spc="285" dirty="0">
                <a:solidFill>
                  <a:srgbClr val="231F20"/>
                </a:solidFill>
                <a:latin typeface="Arial"/>
                <a:cs typeface="Arial"/>
              </a:rPr>
              <a:t>Temporal</a:t>
            </a:r>
            <a:r>
              <a:rPr sz="1950" spc="465" dirty="0">
                <a:solidFill>
                  <a:srgbClr val="231F20"/>
                </a:solidFill>
                <a:latin typeface="Arial"/>
                <a:cs typeface="Arial"/>
              </a:rPr>
              <a:t> </a:t>
            </a:r>
            <a:r>
              <a:rPr sz="1950" spc="275" dirty="0">
                <a:solidFill>
                  <a:srgbClr val="231F20"/>
                </a:solidFill>
                <a:latin typeface="Arial"/>
                <a:cs typeface="Arial"/>
              </a:rPr>
              <a:t>Logic</a:t>
            </a:r>
            <a:endParaRPr sz="1950">
              <a:latin typeface="Arial"/>
              <a:cs typeface="Arial"/>
            </a:endParaRPr>
          </a:p>
          <a:p>
            <a:pPr marL="300990" marR="136525" indent="-288290">
              <a:lnSpc>
                <a:spcPct val="125000"/>
              </a:lnSpc>
              <a:spcBef>
                <a:spcPts val="1030"/>
              </a:spcBef>
              <a:buSzPct val="105128"/>
              <a:buFont typeface="Lucida Sans Unicode"/>
              <a:buChar char="•"/>
              <a:tabLst>
                <a:tab pos="301625" algn="l"/>
              </a:tabLst>
            </a:pPr>
            <a:r>
              <a:rPr sz="1950" spc="295" dirty="0">
                <a:solidFill>
                  <a:srgbClr val="231F20"/>
                </a:solidFill>
                <a:latin typeface="Arial"/>
                <a:cs typeface="Arial"/>
              </a:rPr>
              <a:t>A </a:t>
            </a:r>
            <a:r>
              <a:rPr sz="1950" spc="114" dirty="0">
                <a:solidFill>
                  <a:srgbClr val="231F20"/>
                </a:solidFill>
                <a:latin typeface="Arial"/>
                <a:cs typeface="Arial"/>
              </a:rPr>
              <a:t>language </a:t>
            </a:r>
            <a:r>
              <a:rPr sz="1950" spc="155" dirty="0">
                <a:solidFill>
                  <a:srgbClr val="231F20"/>
                </a:solidFill>
                <a:latin typeface="Arial"/>
                <a:cs typeface="Arial"/>
              </a:rPr>
              <a:t>for </a:t>
            </a:r>
            <a:r>
              <a:rPr sz="1950" spc="120" dirty="0">
                <a:solidFill>
                  <a:srgbClr val="231F20"/>
                </a:solidFill>
                <a:latin typeface="Arial"/>
                <a:cs typeface="Arial"/>
              </a:rPr>
              <a:t>specifying </a:t>
            </a:r>
            <a:r>
              <a:rPr sz="1950" spc="125" dirty="0">
                <a:solidFill>
                  <a:srgbClr val="231F20"/>
                </a:solidFill>
                <a:latin typeface="Arial"/>
                <a:cs typeface="Arial"/>
              </a:rPr>
              <a:t>properties </a:t>
            </a:r>
            <a:r>
              <a:rPr sz="1950" spc="185" dirty="0">
                <a:solidFill>
                  <a:srgbClr val="231F20"/>
                </a:solidFill>
                <a:latin typeface="Arial"/>
                <a:cs typeface="Arial"/>
              </a:rPr>
              <a:t>of </a:t>
            </a:r>
            <a:r>
              <a:rPr sz="1950" spc="175" dirty="0">
                <a:solidFill>
                  <a:srgbClr val="231F20"/>
                </a:solidFill>
                <a:latin typeface="Arial"/>
                <a:cs typeface="Arial"/>
              </a:rPr>
              <a:t>the </a:t>
            </a:r>
            <a:r>
              <a:rPr sz="1950" spc="130" dirty="0">
                <a:solidFill>
                  <a:srgbClr val="FF0000"/>
                </a:solidFill>
                <a:latin typeface="Arial"/>
                <a:cs typeface="Arial"/>
              </a:rPr>
              <a:t>execution </a:t>
            </a:r>
            <a:r>
              <a:rPr sz="1950" spc="120" dirty="0">
                <a:solidFill>
                  <a:srgbClr val="FF0000"/>
                </a:solidFill>
                <a:latin typeface="Arial"/>
                <a:cs typeface="Arial"/>
              </a:rPr>
              <a:t>traces  </a:t>
            </a:r>
            <a:r>
              <a:rPr sz="1950" spc="185" dirty="0">
                <a:solidFill>
                  <a:srgbClr val="231F20"/>
                </a:solidFill>
                <a:latin typeface="Arial"/>
                <a:cs typeface="Arial"/>
              </a:rPr>
              <a:t>of </a:t>
            </a:r>
            <a:r>
              <a:rPr sz="1950" spc="85" dirty="0">
                <a:solidFill>
                  <a:srgbClr val="231F20"/>
                </a:solidFill>
                <a:latin typeface="Arial"/>
                <a:cs typeface="Arial"/>
              </a:rPr>
              <a:t>a</a:t>
            </a:r>
            <a:r>
              <a:rPr sz="1950" spc="300" dirty="0">
                <a:solidFill>
                  <a:srgbClr val="231F20"/>
                </a:solidFill>
                <a:latin typeface="Arial"/>
                <a:cs typeface="Arial"/>
              </a:rPr>
              <a:t> </a:t>
            </a:r>
            <a:r>
              <a:rPr sz="1950" spc="120" dirty="0">
                <a:solidFill>
                  <a:srgbClr val="231F20"/>
                </a:solidFill>
                <a:latin typeface="Arial"/>
                <a:cs typeface="Arial"/>
              </a:rPr>
              <a:t>system</a:t>
            </a:r>
            <a:endParaRPr sz="1950">
              <a:latin typeface="Arial"/>
              <a:cs typeface="Arial"/>
            </a:endParaRPr>
          </a:p>
          <a:p>
            <a:pPr marL="300990" marR="5080" indent="-288290">
              <a:lnSpc>
                <a:spcPct val="118900"/>
              </a:lnSpc>
              <a:spcBef>
                <a:spcPts val="434"/>
              </a:spcBef>
              <a:buSzPct val="105128"/>
              <a:buFont typeface="Lucida Sans Unicode"/>
              <a:buChar char="•"/>
              <a:tabLst>
                <a:tab pos="301625" algn="l"/>
              </a:tabLst>
            </a:pPr>
            <a:r>
              <a:rPr sz="1950" spc="105" dirty="0">
                <a:solidFill>
                  <a:srgbClr val="231F20"/>
                </a:solidFill>
                <a:latin typeface="Arial"/>
                <a:cs typeface="Arial"/>
              </a:rPr>
              <a:t>Given </a:t>
            </a:r>
            <a:r>
              <a:rPr sz="1950" spc="85" dirty="0">
                <a:solidFill>
                  <a:srgbClr val="231F20"/>
                </a:solidFill>
                <a:latin typeface="Arial"/>
                <a:cs typeface="Arial"/>
              </a:rPr>
              <a:t>a </a:t>
            </a:r>
            <a:r>
              <a:rPr sz="1950" spc="120" dirty="0">
                <a:solidFill>
                  <a:srgbClr val="231F20"/>
                </a:solidFill>
                <a:latin typeface="Arial"/>
                <a:cs typeface="Arial"/>
              </a:rPr>
              <a:t>system </a:t>
            </a:r>
            <a:r>
              <a:rPr sz="1950" spc="105" dirty="0">
                <a:solidFill>
                  <a:srgbClr val="231F20"/>
                </a:solidFill>
                <a:latin typeface="Arial"/>
                <a:cs typeface="Arial"/>
              </a:rPr>
              <a:t>specified by </a:t>
            </a:r>
            <a:r>
              <a:rPr sz="1950" spc="155" dirty="0">
                <a:solidFill>
                  <a:srgbClr val="231F20"/>
                </a:solidFill>
                <a:latin typeface="Arial"/>
                <a:cs typeface="Arial"/>
              </a:rPr>
              <a:t>initiality </a:t>
            </a:r>
            <a:r>
              <a:rPr sz="1950" spc="120" dirty="0">
                <a:solidFill>
                  <a:srgbClr val="231F20"/>
                </a:solidFill>
                <a:latin typeface="Arial"/>
                <a:cs typeface="Arial"/>
              </a:rPr>
              <a:t>predicate </a:t>
            </a:r>
            <a:r>
              <a:rPr sz="2050" i="1" spc="80" dirty="0">
                <a:solidFill>
                  <a:srgbClr val="231F20"/>
                </a:solidFill>
                <a:latin typeface="Meiryo"/>
                <a:cs typeface="Meiryo"/>
              </a:rPr>
              <a:t>I </a:t>
            </a:r>
            <a:r>
              <a:rPr sz="1950" spc="130" dirty="0">
                <a:solidFill>
                  <a:srgbClr val="231F20"/>
                </a:solidFill>
                <a:latin typeface="Arial"/>
                <a:cs typeface="Arial"/>
              </a:rPr>
              <a:t>and  </a:t>
            </a:r>
            <a:r>
              <a:rPr sz="1950" spc="160" dirty="0">
                <a:solidFill>
                  <a:srgbClr val="231F20"/>
                </a:solidFill>
                <a:latin typeface="Arial"/>
                <a:cs typeface="Arial"/>
              </a:rPr>
              <a:t>transition </a:t>
            </a:r>
            <a:r>
              <a:rPr sz="1950" spc="145" dirty="0">
                <a:solidFill>
                  <a:srgbClr val="231F20"/>
                </a:solidFill>
                <a:latin typeface="Arial"/>
                <a:cs typeface="Arial"/>
              </a:rPr>
              <a:t>relation </a:t>
            </a:r>
            <a:r>
              <a:rPr sz="2050" i="1" spc="-100" dirty="0">
                <a:solidFill>
                  <a:srgbClr val="231F20"/>
                </a:solidFill>
                <a:latin typeface="Meiryo"/>
                <a:cs typeface="Meiryo"/>
              </a:rPr>
              <a:t>T </a:t>
            </a:r>
            <a:r>
              <a:rPr sz="1950" spc="145" dirty="0">
                <a:solidFill>
                  <a:srgbClr val="231F20"/>
                </a:solidFill>
                <a:latin typeface="Arial"/>
                <a:cs typeface="Arial"/>
              </a:rPr>
              <a:t>, </a:t>
            </a:r>
            <a:r>
              <a:rPr sz="1950" spc="85" dirty="0">
                <a:solidFill>
                  <a:srgbClr val="231F20"/>
                </a:solidFill>
                <a:latin typeface="Arial"/>
                <a:cs typeface="Arial"/>
              </a:rPr>
              <a:t>a </a:t>
            </a:r>
            <a:r>
              <a:rPr sz="1950" spc="150" dirty="0">
                <a:solidFill>
                  <a:srgbClr val="231F20"/>
                </a:solidFill>
                <a:latin typeface="Arial"/>
                <a:cs typeface="Arial"/>
              </a:rPr>
              <a:t>trace </a:t>
            </a:r>
            <a:r>
              <a:rPr sz="1950" spc="40" dirty="0">
                <a:solidFill>
                  <a:srgbClr val="231F20"/>
                </a:solidFill>
                <a:latin typeface="Arial"/>
                <a:cs typeface="Arial"/>
              </a:rPr>
              <a:t>is </a:t>
            </a:r>
            <a:r>
              <a:rPr sz="1950" spc="120" dirty="0">
                <a:solidFill>
                  <a:srgbClr val="231F20"/>
                </a:solidFill>
                <a:latin typeface="Arial"/>
                <a:cs typeface="Arial"/>
              </a:rPr>
              <a:t>an </a:t>
            </a:r>
            <a:r>
              <a:rPr sz="1950" spc="155" dirty="0">
                <a:solidFill>
                  <a:srgbClr val="0000FF"/>
                </a:solidFill>
                <a:latin typeface="Arial"/>
                <a:cs typeface="Arial"/>
              </a:rPr>
              <a:t>infinite </a:t>
            </a:r>
            <a:r>
              <a:rPr sz="1950" spc="75" dirty="0">
                <a:solidFill>
                  <a:srgbClr val="231F20"/>
                </a:solidFill>
                <a:latin typeface="Arial"/>
                <a:cs typeface="Arial"/>
              </a:rPr>
              <a:t>sequence </a:t>
            </a:r>
            <a:r>
              <a:rPr sz="1950" spc="185" dirty="0">
                <a:solidFill>
                  <a:srgbClr val="231F20"/>
                </a:solidFill>
                <a:latin typeface="Arial"/>
                <a:cs typeface="Arial"/>
              </a:rPr>
              <a:t>of </a:t>
            </a:r>
            <a:r>
              <a:rPr sz="1950" spc="125" dirty="0">
                <a:solidFill>
                  <a:srgbClr val="231F20"/>
                </a:solidFill>
                <a:latin typeface="Arial"/>
                <a:cs typeface="Arial"/>
              </a:rPr>
              <a:t>states  </a:t>
            </a:r>
            <a:r>
              <a:rPr sz="2050" i="1" spc="-50" dirty="0">
                <a:solidFill>
                  <a:srgbClr val="231F20"/>
                </a:solidFill>
                <a:latin typeface="Meiryo"/>
                <a:cs typeface="Meiryo"/>
              </a:rPr>
              <a:t>s</a:t>
            </a:r>
            <a:r>
              <a:rPr sz="2050" i="1" spc="-130" dirty="0">
                <a:solidFill>
                  <a:srgbClr val="231F20"/>
                </a:solidFill>
                <a:latin typeface="Meiryo"/>
                <a:cs typeface="Meiryo"/>
              </a:rPr>
              <a:t> </a:t>
            </a:r>
            <a:r>
              <a:rPr sz="2050" spc="114" dirty="0">
                <a:solidFill>
                  <a:srgbClr val="231F20"/>
                </a:solidFill>
                <a:latin typeface="Tahoma"/>
                <a:cs typeface="Tahoma"/>
              </a:rPr>
              <a:t>=</a:t>
            </a:r>
            <a:r>
              <a:rPr sz="2050" spc="-75" dirty="0">
                <a:solidFill>
                  <a:srgbClr val="231F20"/>
                </a:solidFill>
                <a:latin typeface="Tahoma"/>
                <a:cs typeface="Tahoma"/>
              </a:rPr>
              <a:t> </a:t>
            </a:r>
            <a:r>
              <a:rPr sz="2050" i="1" spc="15" dirty="0">
                <a:solidFill>
                  <a:srgbClr val="231F20"/>
                </a:solidFill>
                <a:latin typeface="Meiryo"/>
                <a:cs typeface="Meiryo"/>
              </a:rPr>
              <a:t>s</a:t>
            </a:r>
            <a:r>
              <a:rPr sz="2175" spc="22" baseline="-11494" dirty="0">
                <a:solidFill>
                  <a:srgbClr val="231F20"/>
                </a:solidFill>
                <a:latin typeface="PMingLiU"/>
                <a:cs typeface="PMingLiU"/>
              </a:rPr>
              <a:t>0</a:t>
            </a:r>
            <a:r>
              <a:rPr sz="2050" i="1" spc="15" dirty="0">
                <a:solidFill>
                  <a:srgbClr val="231F20"/>
                </a:solidFill>
                <a:latin typeface="Meiryo"/>
                <a:cs typeface="Meiryo"/>
              </a:rPr>
              <a:t>,</a:t>
            </a:r>
            <a:r>
              <a:rPr sz="2050" i="1" spc="-360" dirty="0">
                <a:solidFill>
                  <a:srgbClr val="231F20"/>
                </a:solidFill>
                <a:latin typeface="Meiryo"/>
                <a:cs typeface="Meiryo"/>
              </a:rPr>
              <a:t> </a:t>
            </a:r>
            <a:r>
              <a:rPr sz="2050" i="1" spc="15" dirty="0">
                <a:solidFill>
                  <a:srgbClr val="231F20"/>
                </a:solidFill>
                <a:latin typeface="Meiryo"/>
                <a:cs typeface="Meiryo"/>
              </a:rPr>
              <a:t>s</a:t>
            </a:r>
            <a:r>
              <a:rPr sz="2175" spc="22" baseline="-11494" dirty="0">
                <a:solidFill>
                  <a:srgbClr val="231F20"/>
                </a:solidFill>
                <a:latin typeface="PMingLiU"/>
                <a:cs typeface="PMingLiU"/>
              </a:rPr>
              <a:t>1</a:t>
            </a:r>
            <a:r>
              <a:rPr sz="2050" i="1" spc="1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30" dirty="0">
                <a:solidFill>
                  <a:srgbClr val="231F20"/>
                </a:solidFill>
                <a:latin typeface="Meiryo"/>
                <a:cs typeface="Meiryo"/>
              </a:rPr>
              <a:t>s</a:t>
            </a:r>
            <a:r>
              <a:rPr sz="2175" i="1" spc="44" baseline="-11494" dirty="0">
                <a:solidFill>
                  <a:srgbClr val="231F20"/>
                </a:solidFill>
                <a:latin typeface="Verdana"/>
                <a:cs typeface="Verdana"/>
              </a:rPr>
              <a:t>i</a:t>
            </a:r>
            <a:r>
              <a:rPr sz="2050" i="1" spc="30"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120" dirty="0">
                <a:solidFill>
                  <a:srgbClr val="231F20"/>
                </a:solidFill>
                <a:latin typeface="Meiryo"/>
                <a:cs typeface="Meiryo"/>
              </a:rPr>
              <a:t> </a:t>
            </a:r>
            <a:r>
              <a:rPr sz="1950" spc="120" dirty="0">
                <a:solidFill>
                  <a:srgbClr val="231F20"/>
                </a:solidFill>
                <a:latin typeface="Arial"/>
                <a:cs typeface="Arial"/>
              </a:rPr>
              <a:t>where</a:t>
            </a:r>
            <a:r>
              <a:rPr sz="1950" spc="280" dirty="0">
                <a:solidFill>
                  <a:srgbClr val="231F20"/>
                </a:solidFill>
                <a:latin typeface="Arial"/>
                <a:cs typeface="Arial"/>
              </a:rPr>
              <a:t> </a:t>
            </a:r>
            <a:r>
              <a:rPr sz="2050" i="1" spc="90" dirty="0">
                <a:solidFill>
                  <a:srgbClr val="231F20"/>
                </a:solidFill>
                <a:latin typeface="Meiryo"/>
                <a:cs typeface="Meiryo"/>
              </a:rPr>
              <a:t>I</a:t>
            </a:r>
            <a:r>
              <a:rPr sz="2050" spc="90" dirty="0">
                <a:solidFill>
                  <a:srgbClr val="231F20"/>
                </a:solidFill>
                <a:latin typeface="Tahoma"/>
                <a:cs typeface="Tahoma"/>
              </a:rPr>
              <a:t>(</a:t>
            </a:r>
            <a:r>
              <a:rPr sz="2050" i="1" spc="90" dirty="0">
                <a:solidFill>
                  <a:srgbClr val="231F20"/>
                </a:solidFill>
                <a:latin typeface="Meiryo"/>
                <a:cs typeface="Meiryo"/>
              </a:rPr>
              <a:t>s</a:t>
            </a:r>
            <a:r>
              <a:rPr sz="2175" spc="135" baseline="-11494" dirty="0">
                <a:solidFill>
                  <a:srgbClr val="231F20"/>
                </a:solidFill>
                <a:latin typeface="PMingLiU"/>
                <a:cs typeface="PMingLiU"/>
              </a:rPr>
              <a:t>0</a:t>
            </a:r>
            <a:r>
              <a:rPr sz="2050" spc="90" dirty="0">
                <a:solidFill>
                  <a:srgbClr val="231F20"/>
                </a:solidFill>
                <a:latin typeface="Tahoma"/>
                <a:cs typeface="Tahoma"/>
              </a:rPr>
              <a:t>)</a:t>
            </a:r>
            <a:r>
              <a:rPr sz="2050" spc="180" dirty="0">
                <a:solidFill>
                  <a:srgbClr val="231F20"/>
                </a:solidFill>
                <a:latin typeface="Tahoma"/>
                <a:cs typeface="Tahoma"/>
              </a:rPr>
              <a:t> </a:t>
            </a:r>
            <a:r>
              <a:rPr sz="1950" spc="130" dirty="0">
                <a:solidFill>
                  <a:srgbClr val="231F20"/>
                </a:solidFill>
                <a:latin typeface="Arial"/>
                <a:cs typeface="Arial"/>
              </a:rPr>
              <a:t>and</a:t>
            </a:r>
            <a:r>
              <a:rPr sz="1950" spc="280" dirty="0">
                <a:solidFill>
                  <a:srgbClr val="231F20"/>
                </a:solidFill>
                <a:latin typeface="Arial"/>
                <a:cs typeface="Arial"/>
              </a:rPr>
              <a:t> </a:t>
            </a:r>
            <a:r>
              <a:rPr sz="2050" i="1" spc="-100" dirty="0">
                <a:solidFill>
                  <a:srgbClr val="231F20"/>
                </a:solidFill>
                <a:latin typeface="Meiryo"/>
                <a:cs typeface="Meiryo"/>
              </a:rPr>
              <a:t>T</a:t>
            </a:r>
            <a:r>
              <a:rPr sz="2050" i="1" spc="-415" dirty="0">
                <a:solidFill>
                  <a:srgbClr val="231F20"/>
                </a:solidFill>
                <a:latin typeface="Meiryo"/>
                <a:cs typeface="Meiryo"/>
              </a:rPr>
              <a:t> </a:t>
            </a:r>
            <a:r>
              <a:rPr sz="2050" spc="25" dirty="0">
                <a:solidFill>
                  <a:srgbClr val="231F20"/>
                </a:solidFill>
                <a:latin typeface="Tahoma"/>
                <a:cs typeface="Tahoma"/>
              </a:rPr>
              <a:t>(</a:t>
            </a:r>
            <a:r>
              <a:rPr sz="2050" i="1" spc="25" dirty="0">
                <a:solidFill>
                  <a:srgbClr val="231F20"/>
                </a:solidFill>
                <a:latin typeface="Meiryo"/>
                <a:cs typeface="Meiryo"/>
              </a:rPr>
              <a:t>s</a:t>
            </a:r>
            <a:r>
              <a:rPr sz="2175" i="1" spc="37" baseline="-11494" dirty="0">
                <a:solidFill>
                  <a:srgbClr val="231F20"/>
                </a:solidFill>
                <a:latin typeface="Verdana"/>
                <a:cs typeface="Verdana"/>
              </a:rPr>
              <a:t>i</a:t>
            </a:r>
            <a:r>
              <a:rPr sz="2050" i="1" spc="25" dirty="0">
                <a:solidFill>
                  <a:srgbClr val="231F20"/>
                </a:solidFill>
                <a:latin typeface="Meiryo"/>
                <a:cs typeface="Meiryo"/>
              </a:rPr>
              <a:t>,</a:t>
            </a:r>
            <a:r>
              <a:rPr sz="2050" i="1" spc="-360" dirty="0">
                <a:solidFill>
                  <a:srgbClr val="231F20"/>
                </a:solidFill>
                <a:latin typeface="Meiryo"/>
                <a:cs typeface="Meiryo"/>
              </a:rPr>
              <a:t> </a:t>
            </a:r>
            <a:r>
              <a:rPr sz="2050" i="1" spc="175" dirty="0">
                <a:solidFill>
                  <a:srgbClr val="231F20"/>
                </a:solidFill>
                <a:latin typeface="Meiryo"/>
                <a:cs typeface="Meiryo"/>
              </a:rPr>
              <a:t>s</a:t>
            </a:r>
            <a:r>
              <a:rPr sz="2175" i="1" spc="262" baseline="-11494" dirty="0">
                <a:solidFill>
                  <a:srgbClr val="231F20"/>
                </a:solidFill>
                <a:latin typeface="Verdana"/>
                <a:cs typeface="Verdana"/>
              </a:rPr>
              <a:t>i</a:t>
            </a:r>
            <a:r>
              <a:rPr sz="2175" spc="262" baseline="-11494" dirty="0">
                <a:solidFill>
                  <a:srgbClr val="231F20"/>
                </a:solidFill>
                <a:latin typeface="PMingLiU"/>
                <a:cs typeface="PMingLiU"/>
              </a:rPr>
              <a:t>+1</a:t>
            </a:r>
            <a:r>
              <a:rPr sz="2050" spc="175" dirty="0">
                <a:solidFill>
                  <a:srgbClr val="231F20"/>
                </a:solidFill>
                <a:latin typeface="Tahoma"/>
                <a:cs typeface="Tahoma"/>
              </a:rPr>
              <a:t>)</a:t>
            </a:r>
            <a:endParaRPr sz="2050">
              <a:latin typeface="Tahoma"/>
              <a:cs typeface="Tahoma"/>
            </a:endParaRPr>
          </a:p>
          <a:p>
            <a:pPr marL="300990" marR="227329" indent="-288290">
              <a:lnSpc>
                <a:spcPct val="118900"/>
              </a:lnSpc>
              <a:spcBef>
                <a:spcPts val="414"/>
              </a:spcBef>
              <a:buSzPct val="105128"/>
              <a:buFont typeface="Lucida Sans Unicode"/>
              <a:buChar char="•"/>
              <a:tabLst>
                <a:tab pos="301625" algn="l"/>
              </a:tabLst>
            </a:pPr>
            <a:r>
              <a:rPr sz="1950" spc="250" dirty="0">
                <a:solidFill>
                  <a:srgbClr val="231F20"/>
                </a:solidFill>
                <a:latin typeface="Arial"/>
                <a:cs typeface="Arial"/>
              </a:rPr>
              <a:t>The </a:t>
            </a:r>
            <a:r>
              <a:rPr sz="1950" spc="120" dirty="0">
                <a:solidFill>
                  <a:srgbClr val="231F20"/>
                </a:solidFill>
                <a:latin typeface="Arial"/>
                <a:cs typeface="Arial"/>
              </a:rPr>
              <a:t>semantics </a:t>
            </a:r>
            <a:r>
              <a:rPr sz="1950" spc="185" dirty="0">
                <a:solidFill>
                  <a:srgbClr val="231F20"/>
                </a:solidFill>
                <a:latin typeface="Arial"/>
                <a:cs typeface="Arial"/>
              </a:rPr>
              <a:t>of </a:t>
            </a:r>
            <a:r>
              <a:rPr sz="1950" spc="335" dirty="0">
                <a:solidFill>
                  <a:srgbClr val="231F20"/>
                </a:solidFill>
                <a:latin typeface="Arial"/>
                <a:cs typeface="Arial"/>
              </a:rPr>
              <a:t>LTL </a:t>
            </a:r>
            <a:r>
              <a:rPr sz="1950" spc="90" dirty="0">
                <a:solidFill>
                  <a:srgbClr val="231F20"/>
                </a:solidFill>
                <a:latin typeface="Arial"/>
                <a:cs typeface="Arial"/>
              </a:rPr>
              <a:t>defines </a:t>
            </a:r>
            <a:r>
              <a:rPr sz="1950" spc="155" dirty="0">
                <a:solidFill>
                  <a:srgbClr val="231F20"/>
                </a:solidFill>
                <a:latin typeface="Arial"/>
                <a:cs typeface="Arial"/>
              </a:rPr>
              <a:t>whether </a:t>
            </a:r>
            <a:r>
              <a:rPr sz="1950" spc="85" dirty="0">
                <a:solidFill>
                  <a:srgbClr val="231F20"/>
                </a:solidFill>
                <a:latin typeface="Arial"/>
                <a:cs typeface="Arial"/>
              </a:rPr>
              <a:t>a </a:t>
            </a:r>
            <a:r>
              <a:rPr sz="1950" spc="150" dirty="0">
                <a:solidFill>
                  <a:srgbClr val="231F20"/>
                </a:solidFill>
                <a:latin typeface="Arial"/>
                <a:cs typeface="Arial"/>
              </a:rPr>
              <a:t>trace </a:t>
            </a:r>
            <a:r>
              <a:rPr sz="2050" i="1" spc="-50" dirty="0">
                <a:solidFill>
                  <a:srgbClr val="231F20"/>
                </a:solidFill>
                <a:latin typeface="Meiryo"/>
                <a:cs typeface="Meiryo"/>
              </a:rPr>
              <a:t>s </a:t>
            </a:r>
            <a:r>
              <a:rPr sz="1950" spc="90" dirty="0">
                <a:solidFill>
                  <a:srgbClr val="231F20"/>
                </a:solidFill>
                <a:latin typeface="Arial"/>
                <a:cs typeface="Arial"/>
              </a:rPr>
              <a:t>satisfies </a:t>
            </a:r>
            <a:r>
              <a:rPr sz="1950" spc="85" dirty="0">
                <a:solidFill>
                  <a:srgbClr val="231F20"/>
                </a:solidFill>
                <a:latin typeface="Arial"/>
                <a:cs typeface="Arial"/>
              </a:rPr>
              <a:t>a </a:t>
            </a:r>
            <a:r>
              <a:rPr sz="1950" spc="710" dirty="0">
                <a:solidFill>
                  <a:srgbClr val="231F20"/>
                </a:solidFill>
                <a:latin typeface="Arial"/>
                <a:cs typeface="Arial"/>
              </a:rPr>
              <a:t> </a:t>
            </a:r>
            <a:r>
              <a:rPr sz="1950" spc="160" dirty="0">
                <a:solidFill>
                  <a:srgbClr val="231F20"/>
                </a:solidFill>
                <a:latin typeface="Arial"/>
                <a:cs typeface="Arial"/>
              </a:rPr>
              <a:t>formula </a:t>
            </a:r>
            <a:r>
              <a:rPr sz="2050" i="1" spc="-204" dirty="0">
                <a:solidFill>
                  <a:srgbClr val="231F20"/>
                </a:solidFill>
                <a:latin typeface="Meiryo"/>
                <a:cs typeface="Meiryo"/>
              </a:rPr>
              <a:t>p  </a:t>
            </a:r>
            <a:r>
              <a:rPr sz="1950" spc="210" dirty="0">
                <a:solidFill>
                  <a:srgbClr val="231F20"/>
                </a:solidFill>
                <a:latin typeface="Arial"/>
                <a:cs typeface="Arial"/>
              </a:rPr>
              <a:t>(written </a:t>
            </a:r>
            <a:r>
              <a:rPr sz="1950" spc="30" dirty="0">
                <a:solidFill>
                  <a:srgbClr val="231F20"/>
                </a:solidFill>
                <a:latin typeface="Arial"/>
                <a:cs typeface="Arial"/>
              </a:rPr>
              <a:t>as </a:t>
            </a:r>
            <a:r>
              <a:rPr sz="2050" i="1" spc="-50" dirty="0">
                <a:solidFill>
                  <a:srgbClr val="231F20"/>
                </a:solidFill>
                <a:latin typeface="Meiryo"/>
                <a:cs typeface="Meiryo"/>
              </a:rPr>
              <a:t>s </a:t>
            </a:r>
            <a:r>
              <a:rPr sz="2050" spc="-215" dirty="0">
                <a:solidFill>
                  <a:srgbClr val="231F20"/>
                </a:solidFill>
                <a:latin typeface="Lucida Sans Unicode"/>
                <a:cs typeface="Lucida Sans Unicode"/>
              </a:rPr>
              <a:t>|</a:t>
            </a:r>
            <a:r>
              <a:rPr sz="2050" spc="-215" dirty="0">
                <a:solidFill>
                  <a:srgbClr val="231F20"/>
                </a:solidFill>
                <a:latin typeface="Tahoma"/>
                <a:cs typeface="Tahoma"/>
              </a:rPr>
              <a:t>=</a:t>
            </a:r>
            <a:r>
              <a:rPr sz="2050" spc="95" dirty="0">
                <a:solidFill>
                  <a:srgbClr val="231F20"/>
                </a:solidFill>
                <a:latin typeface="Tahoma"/>
                <a:cs typeface="Tahoma"/>
              </a:rPr>
              <a:t> </a:t>
            </a:r>
            <a:r>
              <a:rPr sz="2050" i="1" spc="55" dirty="0">
                <a:solidFill>
                  <a:srgbClr val="231F20"/>
                </a:solidFill>
                <a:latin typeface="Meiryo"/>
                <a:cs typeface="Meiryo"/>
              </a:rPr>
              <a:t>p</a:t>
            </a:r>
            <a:r>
              <a:rPr sz="1950" spc="55" dirty="0">
                <a:solidFill>
                  <a:srgbClr val="231F20"/>
                </a:solidFill>
                <a:latin typeface="Arial"/>
                <a:cs typeface="Arial"/>
              </a:rPr>
              <a:t>)</a:t>
            </a:r>
            <a:endParaRPr sz="1950">
              <a:latin typeface="Arial"/>
              <a:cs typeface="Arial"/>
            </a:endParaRPr>
          </a:p>
          <a:p>
            <a:pPr marL="300990" marR="75565" indent="-288290">
              <a:lnSpc>
                <a:spcPct val="125000"/>
              </a:lnSpc>
              <a:spcBef>
                <a:spcPts val="390"/>
              </a:spcBef>
              <a:buSzPct val="105128"/>
              <a:buFont typeface="Lucida Sans Unicode"/>
              <a:buChar char="•"/>
              <a:tabLst>
                <a:tab pos="301625" algn="l"/>
              </a:tabLst>
            </a:pPr>
            <a:r>
              <a:rPr sz="1950" spc="250" dirty="0">
                <a:solidFill>
                  <a:srgbClr val="231F20"/>
                </a:solidFill>
                <a:latin typeface="Arial"/>
                <a:cs typeface="Arial"/>
              </a:rPr>
              <a:t>The </a:t>
            </a:r>
            <a:r>
              <a:rPr sz="1950" spc="55" dirty="0">
                <a:solidFill>
                  <a:srgbClr val="231F20"/>
                </a:solidFill>
                <a:latin typeface="Arial"/>
                <a:cs typeface="Arial"/>
              </a:rPr>
              <a:t>base </a:t>
            </a:r>
            <a:r>
              <a:rPr sz="1950" spc="30" dirty="0">
                <a:solidFill>
                  <a:srgbClr val="231F20"/>
                </a:solidFill>
                <a:latin typeface="Arial"/>
                <a:cs typeface="Arial"/>
              </a:rPr>
              <a:t>cases </a:t>
            </a:r>
            <a:r>
              <a:rPr sz="1950" spc="65" dirty="0">
                <a:solidFill>
                  <a:srgbClr val="231F20"/>
                </a:solidFill>
                <a:latin typeface="Arial"/>
                <a:cs typeface="Arial"/>
              </a:rPr>
              <a:t>are </a:t>
            </a:r>
            <a:r>
              <a:rPr sz="1950" spc="140" dirty="0">
                <a:solidFill>
                  <a:srgbClr val="231F20"/>
                </a:solidFill>
                <a:latin typeface="Arial"/>
                <a:cs typeface="Arial"/>
              </a:rPr>
              <a:t>when </a:t>
            </a:r>
            <a:r>
              <a:rPr sz="1950" spc="155" dirty="0">
                <a:solidFill>
                  <a:srgbClr val="231F20"/>
                </a:solidFill>
                <a:latin typeface="Arial"/>
                <a:cs typeface="Arial"/>
              </a:rPr>
              <a:t>p </a:t>
            </a:r>
            <a:r>
              <a:rPr sz="1950" spc="40" dirty="0">
                <a:solidFill>
                  <a:srgbClr val="231F20"/>
                </a:solidFill>
                <a:latin typeface="Arial"/>
                <a:cs typeface="Arial"/>
              </a:rPr>
              <a:t>is </a:t>
            </a:r>
            <a:r>
              <a:rPr sz="1950" spc="85" dirty="0">
                <a:solidFill>
                  <a:srgbClr val="231F20"/>
                </a:solidFill>
                <a:latin typeface="Arial"/>
                <a:cs typeface="Arial"/>
              </a:rPr>
              <a:t>a </a:t>
            </a:r>
            <a:r>
              <a:rPr sz="1950" spc="120" dirty="0">
                <a:solidFill>
                  <a:srgbClr val="231F20"/>
                </a:solidFill>
                <a:latin typeface="Arial"/>
                <a:cs typeface="Arial"/>
              </a:rPr>
              <a:t>predicate </a:t>
            </a:r>
            <a:r>
              <a:rPr sz="1950" spc="155" dirty="0">
                <a:solidFill>
                  <a:srgbClr val="231F20"/>
                </a:solidFill>
                <a:latin typeface="Arial"/>
                <a:cs typeface="Arial"/>
              </a:rPr>
              <a:t>on </a:t>
            </a:r>
            <a:r>
              <a:rPr sz="1950" spc="125" dirty="0">
                <a:solidFill>
                  <a:srgbClr val="231F20"/>
                </a:solidFill>
                <a:latin typeface="Arial"/>
                <a:cs typeface="Arial"/>
              </a:rPr>
              <a:t>states, </a:t>
            </a:r>
            <a:r>
              <a:rPr sz="1950" spc="130" dirty="0">
                <a:solidFill>
                  <a:srgbClr val="231F20"/>
                </a:solidFill>
                <a:latin typeface="Arial"/>
                <a:cs typeface="Arial"/>
              </a:rPr>
              <a:t>and </a:t>
            </a:r>
            <a:r>
              <a:rPr sz="1950" spc="175" dirty="0">
                <a:solidFill>
                  <a:srgbClr val="231F20"/>
                </a:solidFill>
                <a:latin typeface="Arial"/>
                <a:cs typeface="Arial"/>
              </a:rPr>
              <a:t>the  </a:t>
            </a:r>
            <a:r>
              <a:rPr sz="1950" spc="135" dirty="0">
                <a:solidFill>
                  <a:srgbClr val="231F20"/>
                </a:solidFill>
                <a:latin typeface="Arial"/>
                <a:cs typeface="Arial"/>
              </a:rPr>
              <a:t>operators </a:t>
            </a:r>
            <a:r>
              <a:rPr sz="1950" spc="295" dirty="0">
                <a:solidFill>
                  <a:srgbClr val="231F20"/>
                </a:solidFill>
                <a:latin typeface="Arial"/>
                <a:cs typeface="Arial"/>
              </a:rPr>
              <a:t>X </a:t>
            </a:r>
            <a:r>
              <a:rPr sz="1950" spc="200" dirty="0">
                <a:solidFill>
                  <a:srgbClr val="231F20"/>
                </a:solidFill>
                <a:latin typeface="Arial"/>
                <a:cs typeface="Arial"/>
              </a:rPr>
              <a:t>(next), </a:t>
            </a:r>
            <a:r>
              <a:rPr sz="1950" spc="130" dirty="0">
                <a:solidFill>
                  <a:srgbClr val="231F20"/>
                </a:solidFill>
                <a:latin typeface="Arial"/>
                <a:cs typeface="Arial"/>
              </a:rPr>
              <a:t>and </a:t>
            </a:r>
            <a:r>
              <a:rPr sz="1950" spc="195" dirty="0">
                <a:solidFill>
                  <a:srgbClr val="231F20"/>
                </a:solidFill>
                <a:latin typeface="Arial"/>
                <a:cs typeface="Arial"/>
              </a:rPr>
              <a:t>U </a:t>
            </a:r>
            <a:r>
              <a:rPr sz="1950" spc="180" dirty="0">
                <a:solidFill>
                  <a:srgbClr val="231F20"/>
                </a:solidFill>
                <a:latin typeface="Arial"/>
                <a:cs typeface="Arial"/>
              </a:rPr>
              <a:t>(strong</a:t>
            </a:r>
            <a:r>
              <a:rPr sz="1950" spc="695" dirty="0">
                <a:solidFill>
                  <a:srgbClr val="231F20"/>
                </a:solidFill>
                <a:latin typeface="Arial"/>
                <a:cs typeface="Arial"/>
              </a:rPr>
              <a:t> </a:t>
            </a:r>
            <a:r>
              <a:rPr sz="1950" spc="200" dirty="0">
                <a:solidFill>
                  <a:srgbClr val="231F20"/>
                </a:solidFill>
                <a:latin typeface="Arial"/>
                <a:cs typeface="Arial"/>
              </a:rPr>
              <a:t>until)</a:t>
            </a:r>
            <a:endParaRPr sz="1950">
              <a:latin typeface="Arial"/>
              <a:cs typeface="Arial"/>
            </a:endParaRPr>
          </a:p>
          <a:p>
            <a:pPr marL="300990" marR="314960" indent="-288290">
              <a:lnSpc>
                <a:spcPct val="118900"/>
              </a:lnSpc>
              <a:spcBef>
                <a:spcPts val="434"/>
              </a:spcBef>
              <a:buFont typeface="Lucida Sans Unicode"/>
              <a:buChar char="•"/>
              <a:tabLst>
                <a:tab pos="301625" algn="l"/>
              </a:tabLst>
            </a:pPr>
            <a:r>
              <a:rPr sz="2050" i="1" spc="-50" dirty="0">
                <a:solidFill>
                  <a:srgbClr val="231F20"/>
                </a:solidFill>
                <a:latin typeface="Meiryo"/>
                <a:cs typeface="Meiryo"/>
              </a:rPr>
              <a:t>s </a:t>
            </a:r>
            <a:r>
              <a:rPr sz="2050" spc="-215" dirty="0">
                <a:solidFill>
                  <a:srgbClr val="231F20"/>
                </a:solidFill>
                <a:latin typeface="Lucida Sans Unicode"/>
                <a:cs typeface="Lucida Sans Unicode"/>
              </a:rPr>
              <a:t>|</a:t>
            </a:r>
            <a:r>
              <a:rPr sz="2050" spc="-215" dirty="0">
                <a:solidFill>
                  <a:srgbClr val="231F20"/>
                </a:solidFill>
                <a:latin typeface="Tahoma"/>
                <a:cs typeface="Tahoma"/>
              </a:rPr>
              <a:t>= </a:t>
            </a:r>
            <a:r>
              <a:rPr sz="2050" i="1" spc="-100" dirty="0">
                <a:solidFill>
                  <a:srgbClr val="231F20"/>
                </a:solidFill>
                <a:latin typeface="Meiryo"/>
                <a:cs typeface="Meiryo"/>
              </a:rPr>
              <a:t>φ</a:t>
            </a:r>
            <a:r>
              <a:rPr sz="1950" spc="-100" dirty="0">
                <a:solidFill>
                  <a:srgbClr val="231F20"/>
                </a:solidFill>
                <a:latin typeface="Arial"/>
                <a:cs typeface="Arial"/>
              </a:rPr>
              <a:t>, </a:t>
            </a:r>
            <a:r>
              <a:rPr sz="1950" spc="120" dirty="0">
                <a:solidFill>
                  <a:srgbClr val="231F20"/>
                </a:solidFill>
                <a:latin typeface="Arial"/>
                <a:cs typeface="Arial"/>
              </a:rPr>
              <a:t>where </a:t>
            </a:r>
            <a:r>
              <a:rPr sz="2050" i="1" spc="-345" dirty="0">
                <a:solidFill>
                  <a:srgbClr val="231F20"/>
                </a:solidFill>
                <a:latin typeface="Meiryo"/>
                <a:cs typeface="Meiryo"/>
              </a:rPr>
              <a:t>φ </a:t>
            </a:r>
            <a:r>
              <a:rPr sz="1950" spc="40" dirty="0">
                <a:solidFill>
                  <a:srgbClr val="231F20"/>
                </a:solidFill>
                <a:latin typeface="Arial"/>
                <a:cs typeface="Arial"/>
              </a:rPr>
              <a:t>is </a:t>
            </a:r>
            <a:r>
              <a:rPr sz="1950" spc="85" dirty="0">
                <a:solidFill>
                  <a:srgbClr val="231F20"/>
                </a:solidFill>
                <a:latin typeface="Arial"/>
                <a:cs typeface="Arial"/>
              </a:rPr>
              <a:t>a </a:t>
            </a:r>
            <a:r>
              <a:rPr sz="1950" spc="120" dirty="0">
                <a:solidFill>
                  <a:srgbClr val="231F20"/>
                </a:solidFill>
                <a:latin typeface="Arial"/>
                <a:cs typeface="Arial"/>
              </a:rPr>
              <a:t>predicate </a:t>
            </a:r>
            <a:r>
              <a:rPr sz="1950" spc="155" dirty="0">
                <a:solidFill>
                  <a:srgbClr val="231F20"/>
                </a:solidFill>
                <a:latin typeface="Arial"/>
                <a:cs typeface="Arial"/>
              </a:rPr>
              <a:t>on </a:t>
            </a:r>
            <a:r>
              <a:rPr sz="1950" spc="125" dirty="0">
                <a:solidFill>
                  <a:srgbClr val="231F20"/>
                </a:solidFill>
                <a:latin typeface="Arial"/>
                <a:cs typeface="Arial"/>
              </a:rPr>
              <a:t>states, </a:t>
            </a:r>
            <a:r>
              <a:rPr sz="1950" spc="155" dirty="0">
                <a:solidFill>
                  <a:srgbClr val="231F20"/>
                </a:solidFill>
                <a:latin typeface="Arial"/>
                <a:cs typeface="Arial"/>
              </a:rPr>
              <a:t>iff </a:t>
            </a:r>
            <a:r>
              <a:rPr sz="2050" i="1" spc="-345" dirty="0">
                <a:solidFill>
                  <a:srgbClr val="231F20"/>
                </a:solidFill>
                <a:latin typeface="Meiryo"/>
                <a:cs typeface="Meiryo"/>
              </a:rPr>
              <a:t>φ </a:t>
            </a:r>
            <a:r>
              <a:rPr sz="1950" spc="40" dirty="0">
                <a:solidFill>
                  <a:srgbClr val="231F20"/>
                </a:solidFill>
                <a:latin typeface="Arial"/>
                <a:cs typeface="Arial"/>
              </a:rPr>
              <a:t>is </a:t>
            </a:r>
            <a:r>
              <a:rPr sz="1950" spc="170" dirty="0">
                <a:solidFill>
                  <a:srgbClr val="231F20"/>
                </a:solidFill>
                <a:latin typeface="Arial"/>
                <a:cs typeface="Arial"/>
              </a:rPr>
              <a:t>true </a:t>
            </a:r>
            <a:r>
              <a:rPr sz="1950" spc="155" dirty="0">
                <a:solidFill>
                  <a:srgbClr val="231F20"/>
                </a:solidFill>
                <a:latin typeface="Arial"/>
                <a:cs typeface="Arial"/>
              </a:rPr>
              <a:t>on </a:t>
            </a:r>
            <a:r>
              <a:rPr sz="1950" spc="175" dirty="0">
                <a:solidFill>
                  <a:srgbClr val="231F20"/>
                </a:solidFill>
                <a:latin typeface="Arial"/>
                <a:cs typeface="Arial"/>
              </a:rPr>
              <a:t>the  </a:t>
            </a:r>
            <a:r>
              <a:rPr sz="1950" spc="150" dirty="0">
                <a:solidFill>
                  <a:srgbClr val="231F20"/>
                </a:solidFill>
                <a:latin typeface="Arial"/>
                <a:cs typeface="Arial"/>
              </a:rPr>
              <a:t>initial state, </a:t>
            </a:r>
            <a:r>
              <a:rPr sz="1950" spc="110" dirty="0">
                <a:solidFill>
                  <a:srgbClr val="231F20"/>
                </a:solidFill>
                <a:latin typeface="Arial"/>
                <a:cs typeface="Arial"/>
              </a:rPr>
              <a:t>i.e.,</a:t>
            </a:r>
            <a:r>
              <a:rPr sz="1950" spc="490" dirty="0">
                <a:solidFill>
                  <a:srgbClr val="231F20"/>
                </a:solidFill>
                <a:latin typeface="Arial"/>
                <a:cs typeface="Arial"/>
              </a:rPr>
              <a:t> </a:t>
            </a:r>
            <a:r>
              <a:rPr sz="2050" i="1" spc="-25" dirty="0">
                <a:solidFill>
                  <a:srgbClr val="231F20"/>
                </a:solidFill>
                <a:latin typeface="Meiryo"/>
                <a:cs typeface="Meiryo"/>
              </a:rPr>
              <a:t>φ</a:t>
            </a:r>
            <a:r>
              <a:rPr sz="2050" spc="-25" dirty="0">
                <a:solidFill>
                  <a:srgbClr val="231F20"/>
                </a:solidFill>
                <a:latin typeface="Tahoma"/>
                <a:cs typeface="Tahoma"/>
              </a:rPr>
              <a:t>(</a:t>
            </a:r>
            <a:r>
              <a:rPr sz="2050" i="1" spc="-25" dirty="0">
                <a:solidFill>
                  <a:srgbClr val="231F20"/>
                </a:solidFill>
                <a:latin typeface="Meiryo"/>
                <a:cs typeface="Meiryo"/>
              </a:rPr>
              <a:t>s</a:t>
            </a:r>
            <a:r>
              <a:rPr sz="2175" spc="-37" baseline="-11494" dirty="0">
                <a:solidFill>
                  <a:srgbClr val="231F20"/>
                </a:solidFill>
                <a:latin typeface="PMingLiU"/>
                <a:cs typeface="PMingLiU"/>
              </a:rPr>
              <a:t>0</a:t>
            </a:r>
            <a:r>
              <a:rPr sz="2050" spc="-25" dirty="0">
                <a:solidFill>
                  <a:srgbClr val="231F20"/>
                </a:solidFill>
                <a:latin typeface="Tahoma"/>
                <a:cs typeface="Tahoma"/>
              </a:rPr>
              <a:t>)</a:t>
            </a:r>
            <a:endParaRPr sz="2050">
              <a:latin typeface="Tahoma"/>
              <a:cs typeface="Tahoma"/>
            </a:endParaRPr>
          </a:p>
          <a:p>
            <a:pPr marL="300990" indent="-288290">
              <a:lnSpc>
                <a:spcPct val="100000"/>
              </a:lnSpc>
              <a:spcBef>
                <a:spcPts val="875"/>
              </a:spcBef>
              <a:buFont typeface="Lucida Sans Unicode"/>
              <a:buChar char="•"/>
              <a:tabLst>
                <a:tab pos="301625" algn="l"/>
              </a:tabLst>
            </a:pPr>
            <a:r>
              <a:rPr sz="2050" i="1" spc="-50" dirty="0">
                <a:solidFill>
                  <a:srgbClr val="231F20"/>
                </a:solidFill>
                <a:latin typeface="Meiryo"/>
                <a:cs typeface="Meiryo"/>
              </a:rPr>
              <a:t>s</a:t>
            </a:r>
            <a:r>
              <a:rPr sz="2050" i="1" spc="-130" dirty="0">
                <a:solidFill>
                  <a:srgbClr val="231F20"/>
                </a:solidFill>
                <a:latin typeface="Meiryo"/>
                <a:cs typeface="Meiryo"/>
              </a:rPr>
              <a:t> </a:t>
            </a:r>
            <a:r>
              <a:rPr sz="2050" spc="-215" dirty="0">
                <a:solidFill>
                  <a:srgbClr val="231F20"/>
                </a:solidFill>
                <a:latin typeface="Lucida Sans Unicode"/>
                <a:cs typeface="Lucida Sans Unicode"/>
              </a:rPr>
              <a:t>|</a:t>
            </a:r>
            <a:r>
              <a:rPr sz="2050" spc="-215" dirty="0">
                <a:solidFill>
                  <a:srgbClr val="231F20"/>
                </a:solidFill>
                <a:latin typeface="Tahoma"/>
                <a:cs typeface="Tahoma"/>
              </a:rPr>
              <a:t>=</a:t>
            </a:r>
            <a:r>
              <a:rPr sz="2050" spc="-75" dirty="0">
                <a:solidFill>
                  <a:srgbClr val="231F20"/>
                </a:solidFill>
                <a:latin typeface="Tahoma"/>
                <a:cs typeface="Tahoma"/>
              </a:rPr>
              <a:t> </a:t>
            </a:r>
            <a:r>
              <a:rPr sz="2050" i="1" spc="80" dirty="0">
                <a:solidFill>
                  <a:srgbClr val="231F20"/>
                </a:solidFill>
                <a:latin typeface="Meiryo"/>
                <a:cs typeface="Meiryo"/>
              </a:rPr>
              <a:t>X</a:t>
            </a:r>
            <a:r>
              <a:rPr sz="2050" spc="80" dirty="0">
                <a:solidFill>
                  <a:srgbClr val="231F20"/>
                </a:solidFill>
                <a:latin typeface="Tahoma"/>
                <a:cs typeface="Tahoma"/>
              </a:rPr>
              <a:t>(</a:t>
            </a:r>
            <a:r>
              <a:rPr sz="2050" i="1" spc="80" dirty="0">
                <a:solidFill>
                  <a:srgbClr val="231F20"/>
                </a:solidFill>
                <a:latin typeface="Meiryo"/>
                <a:cs typeface="Meiryo"/>
              </a:rPr>
              <a:t>p</a:t>
            </a:r>
            <a:r>
              <a:rPr sz="2050" spc="80" dirty="0">
                <a:solidFill>
                  <a:srgbClr val="231F20"/>
                </a:solidFill>
                <a:latin typeface="Tahoma"/>
                <a:cs typeface="Tahoma"/>
              </a:rPr>
              <a:t>)</a:t>
            </a:r>
            <a:r>
              <a:rPr sz="2050" spc="180" dirty="0">
                <a:solidFill>
                  <a:srgbClr val="231F20"/>
                </a:solidFill>
                <a:latin typeface="Tahoma"/>
                <a:cs typeface="Tahoma"/>
              </a:rPr>
              <a:t> </a:t>
            </a:r>
            <a:r>
              <a:rPr sz="1950" spc="155" dirty="0">
                <a:solidFill>
                  <a:srgbClr val="231F20"/>
                </a:solidFill>
                <a:latin typeface="Arial"/>
                <a:cs typeface="Arial"/>
              </a:rPr>
              <a:t>iff</a:t>
            </a:r>
            <a:r>
              <a:rPr sz="1950" spc="280" dirty="0">
                <a:solidFill>
                  <a:srgbClr val="231F20"/>
                </a:solidFill>
                <a:latin typeface="Arial"/>
                <a:cs typeface="Arial"/>
              </a:rPr>
              <a:t> </a:t>
            </a:r>
            <a:r>
              <a:rPr sz="2050" i="1" spc="-220" dirty="0">
                <a:solidFill>
                  <a:srgbClr val="231F20"/>
                </a:solidFill>
                <a:latin typeface="Meiryo"/>
                <a:cs typeface="Meiryo"/>
              </a:rPr>
              <a:t>w</a:t>
            </a:r>
            <a:r>
              <a:rPr sz="2050" i="1" spc="-75" dirty="0">
                <a:solidFill>
                  <a:srgbClr val="231F20"/>
                </a:solidFill>
                <a:latin typeface="Meiryo"/>
                <a:cs typeface="Meiryo"/>
              </a:rPr>
              <a:t> </a:t>
            </a:r>
            <a:r>
              <a:rPr sz="2050" spc="-215" dirty="0">
                <a:solidFill>
                  <a:srgbClr val="231F20"/>
                </a:solidFill>
                <a:latin typeface="Lucida Sans Unicode"/>
                <a:cs typeface="Lucida Sans Unicode"/>
              </a:rPr>
              <a:t>|</a:t>
            </a:r>
            <a:r>
              <a:rPr sz="2050" spc="-215" dirty="0">
                <a:solidFill>
                  <a:srgbClr val="231F20"/>
                </a:solidFill>
                <a:latin typeface="Tahoma"/>
                <a:cs typeface="Tahoma"/>
              </a:rPr>
              <a:t>=</a:t>
            </a:r>
            <a:r>
              <a:rPr sz="2050" spc="-75" dirty="0">
                <a:solidFill>
                  <a:srgbClr val="231F20"/>
                </a:solidFill>
                <a:latin typeface="Tahoma"/>
                <a:cs typeface="Tahoma"/>
              </a:rPr>
              <a:t> </a:t>
            </a:r>
            <a:r>
              <a:rPr sz="2050" i="1" spc="-204" dirty="0">
                <a:solidFill>
                  <a:srgbClr val="231F20"/>
                </a:solidFill>
                <a:latin typeface="Meiryo"/>
                <a:cs typeface="Meiryo"/>
              </a:rPr>
              <a:t>p</a:t>
            </a:r>
            <a:r>
              <a:rPr sz="2050" i="1" spc="125" dirty="0">
                <a:solidFill>
                  <a:srgbClr val="231F20"/>
                </a:solidFill>
                <a:latin typeface="Meiryo"/>
                <a:cs typeface="Meiryo"/>
              </a:rPr>
              <a:t> </a:t>
            </a:r>
            <a:r>
              <a:rPr sz="1950" spc="120" dirty="0">
                <a:solidFill>
                  <a:srgbClr val="231F20"/>
                </a:solidFill>
                <a:latin typeface="Arial"/>
                <a:cs typeface="Arial"/>
              </a:rPr>
              <a:t>where</a:t>
            </a:r>
            <a:r>
              <a:rPr sz="1950" spc="280" dirty="0">
                <a:solidFill>
                  <a:srgbClr val="231F20"/>
                </a:solidFill>
                <a:latin typeface="Arial"/>
                <a:cs typeface="Arial"/>
              </a:rPr>
              <a:t> </a:t>
            </a:r>
            <a:r>
              <a:rPr sz="2050" i="1" spc="-220" dirty="0">
                <a:solidFill>
                  <a:srgbClr val="231F20"/>
                </a:solidFill>
                <a:latin typeface="Meiryo"/>
                <a:cs typeface="Meiryo"/>
              </a:rPr>
              <a:t>w</a:t>
            </a:r>
            <a:r>
              <a:rPr sz="2050" i="1" spc="-75" dirty="0">
                <a:solidFill>
                  <a:srgbClr val="231F20"/>
                </a:solidFill>
                <a:latin typeface="Meiryo"/>
                <a:cs typeface="Meiryo"/>
              </a:rPr>
              <a:t> </a:t>
            </a:r>
            <a:r>
              <a:rPr sz="2050" spc="114" dirty="0">
                <a:solidFill>
                  <a:srgbClr val="231F20"/>
                </a:solidFill>
                <a:latin typeface="Tahoma"/>
                <a:cs typeface="Tahoma"/>
              </a:rPr>
              <a:t>=</a:t>
            </a:r>
            <a:r>
              <a:rPr sz="2050" spc="-75" dirty="0">
                <a:solidFill>
                  <a:srgbClr val="231F20"/>
                </a:solidFill>
                <a:latin typeface="Tahoma"/>
                <a:cs typeface="Tahoma"/>
              </a:rPr>
              <a:t> </a:t>
            </a:r>
            <a:r>
              <a:rPr sz="2050" i="1" spc="15" dirty="0">
                <a:solidFill>
                  <a:srgbClr val="231F20"/>
                </a:solidFill>
                <a:latin typeface="Meiryo"/>
                <a:cs typeface="Meiryo"/>
              </a:rPr>
              <a:t>s</a:t>
            </a:r>
            <a:r>
              <a:rPr sz="2175" spc="22" baseline="-11494" dirty="0">
                <a:solidFill>
                  <a:srgbClr val="231F20"/>
                </a:solidFill>
                <a:latin typeface="PMingLiU"/>
                <a:cs typeface="PMingLiU"/>
              </a:rPr>
              <a:t>1</a:t>
            </a:r>
            <a:r>
              <a:rPr sz="2050" i="1" spc="1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30" dirty="0">
                <a:solidFill>
                  <a:srgbClr val="231F20"/>
                </a:solidFill>
                <a:latin typeface="Meiryo"/>
                <a:cs typeface="Meiryo"/>
              </a:rPr>
              <a:t>s</a:t>
            </a:r>
            <a:r>
              <a:rPr sz="2175" i="1" spc="44" baseline="-11494" dirty="0">
                <a:solidFill>
                  <a:srgbClr val="231F20"/>
                </a:solidFill>
                <a:latin typeface="Verdana"/>
                <a:cs typeface="Verdana"/>
              </a:rPr>
              <a:t>i</a:t>
            </a:r>
            <a:r>
              <a:rPr sz="2050" i="1" spc="30"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endParaRPr sz="2050">
              <a:latin typeface="Meiryo"/>
              <a:cs typeface="Meiryo"/>
            </a:endParaRPr>
          </a:p>
          <a:p>
            <a:pPr marL="12700">
              <a:lnSpc>
                <a:spcPct val="100000"/>
              </a:lnSpc>
              <a:spcBef>
                <a:spcPts val="875"/>
              </a:spcBef>
              <a:tabLst>
                <a:tab pos="300990" algn="l"/>
              </a:tabLst>
            </a:pPr>
            <a:r>
              <a:rPr sz="2050" spc="-265" dirty="0">
                <a:solidFill>
                  <a:srgbClr val="231F20"/>
                </a:solidFill>
                <a:latin typeface="Lucida Sans Unicode"/>
                <a:cs typeface="Lucida Sans Unicode"/>
              </a:rPr>
              <a:t>•	</a:t>
            </a:r>
            <a:r>
              <a:rPr sz="2050" i="1" spc="-50" dirty="0">
                <a:solidFill>
                  <a:srgbClr val="231F20"/>
                </a:solidFill>
                <a:latin typeface="Meiryo"/>
                <a:cs typeface="Meiryo"/>
              </a:rPr>
              <a:t>s</a:t>
            </a:r>
            <a:r>
              <a:rPr sz="2050" i="1" spc="-130" dirty="0">
                <a:solidFill>
                  <a:srgbClr val="231F20"/>
                </a:solidFill>
                <a:latin typeface="Meiryo"/>
                <a:cs typeface="Meiryo"/>
              </a:rPr>
              <a:t> </a:t>
            </a:r>
            <a:r>
              <a:rPr sz="2050" spc="-215" dirty="0">
                <a:solidFill>
                  <a:srgbClr val="231F20"/>
                </a:solidFill>
                <a:latin typeface="Lucida Sans Unicode"/>
                <a:cs typeface="Lucida Sans Unicode"/>
              </a:rPr>
              <a:t>|</a:t>
            </a:r>
            <a:r>
              <a:rPr sz="2050" spc="-215" dirty="0">
                <a:solidFill>
                  <a:srgbClr val="231F20"/>
                </a:solidFill>
                <a:latin typeface="Tahoma"/>
                <a:cs typeface="Tahoma"/>
              </a:rPr>
              <a:t>=</a:t>
            </a:r>
            <a:r>
              <a:rPr sz="2050" spc="-75" dirty="0">
                <a:solidFill>
                  <a:srgbClr val="231F20"/>
                </a:solidFill>
                <a:latin typeface="Tahoma"/>
                <a:cs typeface="Tahoma"/>
              </a:rPr>
              <a:t> </a:t>
            </a:r>
            <a:r>
              <a:rPr sz="2050" i="1" spc="-85" dirty="0">
                <a:solidFill>
                  <a:srgbClr val="231F20"/>
                </a:solidFill>
                <a:latin typeface="Meiryo"/>
                <a:cs typeface="Meiryo"/>
              </a:rPr>
              <a:t>U</a:t>
            </a:r>
            <a:r>
              <a:rPr sz="2050" i="1" spc="-480" dirty="0">
                <a:solidFill>
                  <a:srgbClr val="231F20"/>
                </a:solidFill>
                <a:latin typeface="Meiryo"/>
                <a:cs typeface="Meiryo"/>
              </a:rPr>
              <a:t> </a:t>
            </a:r>
            <a:r>
              <a:rPr sz="2050" spc="-110" dirty="0">
                <a:solidFill>
                  <a:srgbClr val="231F20"/>
                </a:solidFill>
                <a:latin typeface="Tahoma"/>
                <a:cs typeface="Tahoma"/>
              </a:rPr>
              <a:t>(</a:t>
            </a:r>
            <a:r>
              <a:rPr sz="2050" i="1" spc="-110" dirty="0">
                <a:solidFill>
                  <a:srgbClr val="231F20"/>
                </a:solidFill>
                <a:latin typeface="Meiryo"/>
                <a:cs typeface="Meiryo"/>
              </a:rPr>
              <a:t>p,</a:t>
            </a:r>
            <a:r>
              <a:rPr sz="2050" i="1" spc="-360" dirty="0">
                <a:solidFill>
                  <a:srgbClr val="231F20"/>
                </a:solidFill>
                <a:latin typeface="Meiryo"/>
                <a:cs typeface="Meiryo"/>
              </a:rPr>
              <a:t> </a:t>
            </a:r>
            <a:r>
              <a:rPr sz="2050" i="1" spc="-120" dirty="0">
                <a:solidFill>
                  <a:srgbClr val="231F20"/>
                </a:solidFill>
                <a:latin typeface="Meiryo"/>
                <a:cs typeface="Meiryo"/>
              </a:rPr>
              <a:t>q</a:t>
            </a:r>
            <a:r>
              <a:rPr sz="2050" spc="-120" dirty="0">
                <a:solidFill>
                  <a:srgbClr val="231F20"/>
                </a:solidFill>
                <a:latin typeface="Tahoma"/>
                <a:cs typeface="Tahoma"/>
              </a:rPr>
              <a:t>)</a:t>
            </a:r>
            <a:r>
              <a:rPr sz="2050" spc="175" dirty="0">
                <a:solidFill>
                  <a:srgbClr val="231F20"/>
                </a:solidFill>
                <a:latin typeface="Tahoma"/>
                <a:cs typeface="Tahoma"/>
              </a:rPr>
              <a:t> </a:t>
            </a:r>
            <a:r>
              <a:rPr sz="1950" spc="155" dirty="0">
                <a:solidFill>
                  <a:srgbClr val="231F20"/>
                </a:solidFill>
                <a:latin typeface="Arial"/>
                <a:cs typeface="Arial"/>
              </a:rPr>
              <a:t>iff</a:t>
            </a:r>
            <a:r>
              <a:rPr sz="1950" spc="275" dirty="0">
                <a:solidFill>
                  <a:srgbClr val="231F20"/>
                </a:solidFill>
                <a:latin typeface="Arial"/>
                <a:cs typeface="Arial"/>
              </a:rPr>
              <a:t> </a:t>
            </a:r>
            <a:r>
              <a:rPr sz="2050" spc="-125" dirty="0">
                <a:solidFill>
                  <a:srgbClr val="231F20"/>
                </a:solidFill>
                <a:latin typeface="Lucida Sans Unicode"/>
                <a:cs typeface="Lucida Sans Unicode"/>
              </a:rPr>
              <a:t>∃</a:t>
            </a:r>
            <a:r>
              <a:rPr sz="2050" i="1" spc="-125" dirty="0">
                <a:solidFill>
                  <a:srgbClr val="231F20"/>
                </a:solidFill>
                <a:latin typeface="Meiryo"/>
                <a:cs typeface="Meiryo"/>
              </a:rPr>
              <a:t>n</a:t>
            </a:r>
            <a:r>
              <a:rPr sz="2050" i="1" spc="-130" dirty="0">
                <a:solidFill>
                  <a:srgbClr val="231F20"/>
                </a:solidFill>
                <a:latin typeface="Meiryo"/>
                <a:cs typeface="Meiryo"/>
              </a:rPr>
              <a:t> </a:t>
            </a:r>
            <a:r>
              <a:rPr sz="2050" spc="-155" dirty="0">
                <a:solidFill>
                  <a:srgbClr val="231F20"/>
                </a:solidFill>
                <a:latin typeface="Tahoma"/>
                <a:cs typeface="Tahoma"/>
              </a:rPr>
              <a:t>:</a:t>
            </a:r>
            <a:r>
              <a:rPr sz="2050" spc="-75" dirty="0">
                <a:solidFill>
                  <a:srgbClr val="231F20"/>
                </a:solidFill>
                <a:latin typeface="Tahoma"/>
                <a:cs typeface="Tahoma"/>
              </a:rPr>
              <a:t> </a:t>
            </a:r>
            <a:r>
              <a:rPr sz="2050" i="1" spc="-50" dirty="0">
                <a:solidFill>
                  <a:srgbClr val="231F20"/>
                </a:solidFill>
                <a:latin typeface="Meiryo"/>
                <a:cs typeface="Meiryo"/>
              </a:rPr>
              <a:t>s</a:t>
            </a:r>
            <a:r>
              <a:rPr sz="2050" i="1" spc="-130" dirty="0">
                <a:solidFill>
                  <a:srgbClr val="231F20"/>
                </a:solidFill>
                <a:latin typeface="Meiryo"/>
                <a:cs typeface="Meiryo"/>
              </a:rPr>
              <a:t> </a:t>
            </a:r>
            <a:r>
              <a:rPr sz="2050" spc="114" dirty="0">
                <a:solidFill>
                  <a:srgbClr val="231F20"/>
                </a:solidFill>
                <a:latin typeface="Tahoma"/>
                <a:cs typeface="Tahoma"/>
              </a:rPr>
              <a:t>=</a:t>
            </a:r>
            <a:r>
              <a:rPr sz="2050" spc="-75" dirty="0">
                <a:solidFill>
                  <a:srgbClr val="231F20"/>
                </a:solidFill>
                <a:latin typeface="Tahoma"/>
                <a:cs typeface="Tahoma"/>
              </a:rPr>
              <a:t> </a:t>
            </a:r>
            <a:r>
              <a:rPr sz="2050" i="1" spc="15" dirty="0">
                <a:solidFill>
                  <a:srgbClr val="231F20"/>
                </a:solidFill>
                <a:latin typeface="Meiryo"/>
                <a:cs typeface="Meiryo"/>
              </a:rPr>
              <a:t>s</a:t>
            </a:r>
            <a:r>
              <a:rPr sz="2175" spc="22" baseline="-11494" dirty="0">
                <a:solidFill>
                  <a:srgbClr val="231F20"/>
                </a:solidFill>
                <a:latin typeface="PMingLiU"/>
                <a:cs typeface="PMingLiU"/>
              </a:rPr>
              <a:t>0</a:t>
            </a:r>
            <a:r>
              <a:rPr sz="2050" i="1" spc="15" dirty="0">
                <a:solidFill>
                  <a:srgbClr val="231F20"/>
                </a:solidFill>
                <a:latin typeface="Meiryo"/>
                <a:cs typeface="Meiryo"/>
              </a:rPr>
              <a:t>,</a:t>
            </a:r>
            <a:r>
              <a:rPr sz="2050" i="1" spc="-360" dirty="0">
                <a:solidFill>
                  <a:srgbClr val="231F20"/>
                </a:solidFill>
                <a:latin typeface="Meiryo"/>
                <a:cs typeface="Meiryo"/>
              </a:rPr>
              <a:t> </a:t>
            </a:r>
            <a:r>
              <a:rPr sz="2050" i="1" spc="15" dirty="0">
                <a:solidFill>
                  <a:srgbClr val="231F20"/>
                </a:solidFill>
                <a:latin typeface="Meiryo"/>
                <a:cs typeface="Meiryo"/>
              </a:rPr>
              <a:t>s</a:t>
            </a:r>
            <a:r>
              <a:rPr sz="2175" spc="22" baseline="-11494" dirty="0">
                <a:solidFill>
                  <a:srgbClr val="231F20"/>
                </a:solidFill>
                <a:latin typeface="PMingLiU"/>
                <a:cs typeface="PMingLiU"/>
              </a:rPr>
              <a:t>1</a:t>
            </a:r>
            <a:r>
              <a:rPr sz="2050" i="1" spc="1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5" dirty="0">
                <a:solidFill>
                  <a:srgbClr val="231F20"/>
                </a:solidFill>
                <a:latin typeface="Meiryo"/>
                <a:cs typeface="Meiryo"/>
              </a:rPr>
              <a:t>s</a:t>
            </a:r>
            <a:r>
              <a:rPr sz="2175" i="1" spc="-7" baseline="-11494" dirty="0">
                <a:solidFill>
                  <a:srgbClr val="231F20"/>
                </a:solidFill>
                <a:latin typeface="Verdana"/>
                <a:cs typeface="Verdana"/>
              </a:rPr>
              <a:t>n</a:t>
            </a:r>
            <a:r>
              <a:rPr sz="2050" i="1" spc="-5" dirty="0">
                <a:solidFill>
                  <a:srgbClr val="231F20"/>
                </a:solidFill>
                <a:latin typeface="Meiryo"/>
                <a:cs typeface="Meiryo"/>
              </a:rPr>
              <a:t>.w</a:t>
            </a:r>
            <a:r>
              <a:rPr sz="1950" spc="-5" dirty="0">
                <a:solidFill>
                  <a:srgbClr val="231F20"/>
                </a:solidFill>
                <a:latin typeface="Arial"/>
                <a:cs typeface="Arial"/>
              </a:rPr>
              <a:t>,</a:t>
            </a:r>
            <a:endParaRPr sz="1950">
              <a:latin typeface="Arial"/>
              <a:cs typeface="Arial"/>
            </a:endParaRPr>
          </a:p>
          <a:p>
            <a:pPr marL="615950">
              <a:lnSpc>
                <a:spcPct val="100000"/>
              </a:lnSpc>
              <a:spcBef>
                <a:spcPts val="465"/>
              </a:spcBef>
            </a:pPr>
            <a:r>
              <a:rPr sz="2050" spc="-245" dirty="0">
                <a:solidFill>
                  <a:srgbClr val="231F20"/>
                </a:solidFill>
                <a:latin typeface="Lucida Sans Unicode"/>
                <a:cs typeface="Lucida Sans Unicode"/>
              </a:rPr>
              <a:t>∀</a:t>
            </a:r>
            <a:r>
              <a:rPr sz="2050" i="1" spc="-245" dirty="0">
                <a:solidFill>
                  <a:srgbClr val="231F20"/>
                </a:solidFill>
                <a:latin typeface="Meiryo"/>
                <a:cs typeface="Meiryo"/>
              </a:rPr>
              <a:t>i </a:t>
            </a:r>
            <a:r>
              <a:rPr sz="2050" spc="-254" dirty="0">
                <a:solidFill>
                  <a:srgbClr val="231F20"/>
                </a:solidFill>
                <a:latin typeface="Lucida Sans Unicode"/>
                <a:cs typeface="Lucida Sans Unicode"/>
              </a:rPr>
              <a:t>∈ </a:t>
            </a:r>
            <a:r>
              <a:rPr sz="2050" spc="40" dirty="0">
                <a:solidFill>
                  <a:srgbClr val="231F20"/>
                </a:solidFill>
                <a:latin typeface="Lucida Sans Unicode"/>
                <a:cs typeface="Lucida Sans Unicode"/>
              </a:rPr>
              <a:t>{</a:t>
            </a:r>
            <a:r>
              <a:rPr sz="2050" spc="40" dirty="0">
                <a:solidFill>
                  <a:srgbClr val="231F20"/>
                </a:solidFill>
                <a:latin typeface="Tahoma"/>
                <a:cs typeface="Tahoma"/>
              </a:rPr>
              <a:t>0</a:t>
            </a:r>
            <a:r>
              <a:rPr sz="2050" i="1" spc="40" dirty="0">
                <a:solidFill>
                  <a:srgbClr val="231F20"/>
                </a:solidFill>
                <a:latin typeface="Meiryo"/>
                <a:cs typeface="Meiryo"/>
              </a:rPr>
              <a:t>, </a:t>
            </a:r>
            <a:r>
              <a:rPr sz="2050" i="1" spc="-145" dirty="0">
                <a:solidFill>
                  <a:srgbClr val="231F20"/>
                </a:solidFill>
                <a:latin typeface="Meiryo"/>
                <a:cs typeface="Meiryo"/>
              </a:rPr>
              <a:t>..., </a:t>
            </a:r>
            <a:r>
              <a:rPr sz="2050" i="1" spc="165" dirty="0">
                <a:solidFill>
                  <a:srgbClr val="231F20"/>
                </a:solidFill>
                <a:latin typeface="Meiryo"/>
                <a:cs typeface="Meiryo"/>
              </a:rPr>
              <a:t>n</a:t>
            </a:r>
            <a:r>
              <a:rPr sz="2050" spc="165" dirty="0">
                <a:solidFill>
                  <a:srgbClr val="231F20"/>
                </a:solidFill>
                <a:latin typeface="Lucida Sans Unicode"/>
                <a:cs typeface="Lucida Sans Unicode"/>
              </a:rPr>
              <a:t>} </a:t>
            </a:r>
            <a:r>
              <a:rPr sz="2050" spc="-155" dirty="0">
                <a:solidFill>
                  <a:srgbClr val="231F20"/>
                </a:solidFill>
                <a:latin typeface="Tahoma"/>
                <a:cs typeface="Tahoma"/>
              </a:rPr>
              <a:t>: </a:t>
            </a:r>
            <a:r>
              <a:rPr sz="2050" i="1" spc="30" dirty="0">
                <a:solidFill>
                  <a:srgbClr val="231F20"/>
                </a:solidFill>
                <a:latin typeface="Meiryo"/>
                <a:cs typeface="Meiryo"/>
              </a:rPr>
              <a:t>s</a:t>
            </a:r>
            <a:r>
              <a:rPr sz="2175" i="1" spc="44" baseline="-11494" dirty="0">
                <a:solidFill>
                  <a:srgbClr val="231F20"/>
                </a:solidFill>
                <a:latin typeface="Verdana"/>
                <a:cs typeface="Verdana"/>
              </a:rPr>
              <a:t>i</a:t>
            </a:r>
            <a:r>
              <a:rPr sz="2050" i="1" spc="30" dirty="0">
                <a:solidFill>
                  <a:srgbClr val="231F20"/>
                </a:solidFill>
                <a:latin typeface="Meiryo"/>
                <a:cs typeface="Meiryo"/>
              </a:rPr>
              <a:t>,</a:t>
            </a:r>
            <a:r>
              <a:rPr sz="2050" i="1" spc="-555" dirty="0">
                <a:solidFill>
                  <a:srgbClr val="231F20"/>
                </a:solidFill>
                <a:latin typeface="Meiryo"/>
                <a:cs typeface="Meiryo"/>
              </a:rPr>
              <a:t> </a:t>
            </a:r>
            <a:r>
              <a:rPr sz="2050" i="1" spc="-145" dirty="0">
                <a:solidFill>
                  <a:srgbClr val="231F20"/>
                </a:solidFill>
                <a:latin typeface="Meiryo"/>
                <a:cs typeface="Meiryo"/>
              </a:rPr>
              <a:t>. . . </a:t>
            </a:r>
            <a:r>
              <a:rPr sz="2050" i="1" spc="-55" dirty="0">
                <a:solidFill>
                  <a:srgbClr val="231F20"/>
                </a:solidFill>
                <a:latin typeface="Meiryo"/>
                <a:cs typeface="Meiryo"/>
              </a:rPr>
              <a:t>s</a:t>
            </a:r>
            <a:r>
              <a:rPr sz="2175" i="1" spc="-82" baseline="-11494" dirty="0">
                <a:solidFill>
                  <a:srgbClr val="231F20"/>
                </a:solidFill>
                <a:latin typeface="Verdana"/>
                <a:cs typeface="Verdana"/>
              </a:rPr>
              <a:t>n</a:t>
            </a:r>
            <a:r>
              <a:rPr sz="2050" i="1" spc="-55" dirty="0">
                <a:solidFill>
                  <a:srgbClr val="231F20"/>
                </a:solidFill>
                <a:latin typeface="Meiryo"/>
                <a:cs typeface="Meiryo"/>
              </a:rPr>
              <a:t>.w </a:t>
            </a:r>
            <a:r>
              <a:rPr sz="2050" spc="-215" dirty="0">
                <a:solidFill>
                  <a:srgbClr val="231F20"/>
                </a:solidFill>
                <a:latin typeface="Lucida Sans Unicode"/>
                <a:cs typeface="Lucida Sans Unicode"/>
              </a:rPr>
              <a:t>|</a:t>
            </a:r>
            <a:r>
              <a:rPr sz="2050" spc="-215" dirty="0">
                <a:solidFill>
                  <a:srgbClr val="231F20"/>
                </a:solidFill>
                <a:latin typeface="Tahoma"/>
                <a:cs typeface="Tahoma"/>
              </a:rPr>
              <a:t>= </a:t>
            </a:r>
            <a:r>
              <a:rPr sz="2050" i="1" spc="-30" dirty="0">
                <a:solidFill>
                  <a:srgbClr val="231F20"/>
                </a:solidFill>
                <a:latin typeface="Meiryo"/>
                <a:cs typeface="Meiryo"/>
              </a:rPr>
              <a:t>p</a:t>
            </a:r>
            <a:r>
              <a:rPr sz="1950" spc="-30" dirty="0">
                <a:solidFill>
                  <a:srgbClr val="231F20"/>
                </a:solidFill>
                <a:latin typeface="Arial"/>
                <a:cs typeface="Arial"/>
              </a:rPr>
              <a:t>, </a:t>
            </a:r>
            <a:r>
              <a:rPr sz="1950" spc="130" dirty="0">
                <a:solidFill>
                  <a:srgbClr val="231F20"/>
                </a:solidFill>
                <a:latin typeface="Arial"/>
                <a:cs typeface="Arial"/>
              </a:rPr>
              <a:t>and </a:t>
            </a:r>
            <a:r>
              <a:rPr sz="2050" i="1" spc="-220" dirty="0">
                <a:solidFill>
                  <a:srgbClr val="231F20"/>
                </a:solidFill>
                <a:latin typeface="Meiryo"/>
                <a:cs typeface="Meiryo"/>
              </a:rPr>
              <a:t>w </a:t>
            </a:r>
            <a:r>
              <a:rPr sz="2050" spc="-215" dirty="0">
                <a:solidFill>
                  <a:srgbClr val="231F20"/>
                </a:solidFill>
                <a:latin typeface="Lucida Sans Unicode"/>
                <a:cs typeface="Lucida Sans Unicode"/>
              </a:rPr>
              <a:t>|</a:t>
            </a:r>
            <a:r>
              <a:rPr sz="2050" spc="-215" dirty="0">
                <a:solidFill>
                  <a:srgbClr val="231F20"/>
                </a:solidFill>
                <a:latin typeface="Tahoma"/>
                <a:cs typeface="Tahoma"/>
              </a:rPr>
              <a:t>= </a:t>
            </a:r>
            <a:r>
              <a:rPr sz="2050" i="1" spc="-325" dirty="0">
                <a:solidFill>
                  <a:srgbClr val="231F20"/>
                </a:solidFill>
                <a:latin typeface="Meiryo"/>
                <a:cs typeface="Meiryo"/>
              </a:rPr>
              <a:t>q</a:t>
            </a:r>
            <a:endParaRPr sz="2050">
              <a:latin typeface="Meiryo"/>
              <a:cs typeface="Meiryo"/>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544676"/>
            <a:ext cx="7909559" cy="5833745"/>
          </a:xfrm>
          <a:prstGeom prst="rect">
            <a:avLst/>
          </a:prstGeom>
        </p:spPr>
        <p:txBody>
          <a:bodyPr vert="horz" wrap="square" lIns="0" tIns="0" rIns="0" bIns="0" rtlCol="0">
            <a:spAutoFit/>
          </a:bodyPr>
          <a:lstStyle/>
          <a:p>
            <a:pPr marL="2109470">
              <a:lnSpc>
                <a:spcPct val="100000"/>
              </a:lnSpc>
            </a:pPr>
            <a:r>
              <a:rPr sz="1950" spc="229" dirty="0">
                <a:solidFill>
                  <a:srgbClr val="231F20"/>
                </a:solidFill>
                <a:latin typeface="Arial"/>
                <a:cs typeface="Arial"/>
              </a:rPr>
              <a:t>Linear </a:t>
            </a:r>
            <a:r>
              <a:rPr sz="1950" spc="285" dirty="0">
                <a:solidFill>
                  <a:srgbClr val="231F20"/>
                </a:solidFill>
                <a:latin typeface="Arial"/>
                <a:cs typeface="Arial"/>
              </a:rPr>
              <a:t>Temporal </a:t>
            </a:r>
            <a:r>
              <a:rPr sz="1950" spc="275" dirty="0">
                <a:solidFill>
                  <a:srgbClr val="231F20"/>
                </a:solidFill>
                <a:latin typeface="Arial"/>
                <a:cs typeface="Arial"/>
              </a:rPr>
              <a:t>Logic</a:t>
            </a:r>
            <a:r>
              <a:rPr sz="1950" spc="565" dirty="0">
                <a:solidFill>
                  <a:srgbClr val="231F20"/>
                </a:solidFill>
                <a:latin typeface="Arial"/>
                <a:cs typeface="Arial"/>
              </a:rPr>
              <a:t> </a:t>
            </a:r>
            <a:r>
              <a:rPr sz="1950" spc="350" dirty="0">
                <a:solidFill>
                  <a:srgbClr val="231F20"/>
                </a:solidFill>
                <a:latin typeface="Arial"/>
                <a:cs typeface="Arial"/>
              </a:rPr>
              <a:t>(ctd)</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210" dirty="0">
                <a:solidFill>
                  <a:srgbClr val="231F20"/>
                </a:solidFill>
                <a:latin typeface="Arial"/>
                <a:cs typeface="Arial"/>
              </a:rPr>
              <a:t>R </a:t>
            </a:r>
            <a:r>
              <a:rPr sz="1950" spc="114" dirty="0">
                <a:solidFill>
                  <a:srgbClr val="231F20"/>
                </a:solidFill>
                <a:latin typeface="Arial"/>
                <a:cs typeface="Arial"/>
              </a:rPr>
              <a:t>(release), </a:t>
            </a:r>
            <a:r>
              <a:rPr sz="1950" spc="135" dirty="0">
                <a:solidFill>
                  <a:srgbClr val="231F20"/>
                </a:solidFill>
                <a:latin typeface="Arial"/>
                <a:cs typeface="Arial"/>
              </a:rPr>
              <a:t>G (always), </a:t>
            </a:r>
            <a:r>
              <a:rPr sz="1950" spc="280" dirty="0">
                <a:solidFill>
                  <a:srgbClr val="231F20"/>
                </a:solidFill>
                <a:latin typeface="Arial"/>
                <a:cs typeface="Arial"/>
              </a:rPr>
              <a:t>F </a:t>
            </a:r>
            <a:r>
              <a:rPr sz="1950" spc="155" dirty="0">
                <a:solidFill>
                  <a:srgbClr val="231F20"/>
                </a:solidFill>
                <a:latin typeface="Arial"/>
                <a:cs typeface="Arial"/>
              </a:rPr>
              <a:t>(eventually), </a:t>
            </a:r>
            <a:r>
              <a:rPr sz="1950" spc="320" dirty="0">
                <a:solidFill>
                  <a:srgbClr val="231F20"/>
                </a:solidFill>
                <a:latin typeface="Arial"/>
                <a:cs typeface="Arial"/>
              </a:rPr>
              <a:t>B </a:t>
            </a:r>
            <a:r>
              <a:rPr sz="1950" spc="165" dirty="0">
                <a:solidFill>
                  <a:srgbClr val="231F20"/>
                </a:solidFill>
                <a:latin typeface="Arial"/>
                <a:cs typeface="Arial"/>
              </a:rPr>
              <a:t>(before), </a:t>
            </a:r>
            <a:r>
              <a:rPr sz="1950" spc="130" dirty="0">
                <a:solidFill>
                  <a:srgbClr val="231F20"/>
                </a:solidFill>
                <a:latin typeface="Arial"/>
                <a:cs typeface="Arial"/>
              </a:rPr>
              <a:t>and </a:t>
            </a:r>
            <a:r>
              <a:rPr sz="1950" spc="445" dirty="0">
                <a:solidFill>
                  <a:srgbClr val="231F20"/>
                </a:solidFill>
                <a:latin typeface="Arial"/>
                <a:cs typeface="Arial"/>
              </a:rPr>
              <a:t>W  </a:t>
            </a:r>
            <a:r>
              <a:rPr sz="1950" spc="155" dirty="0">
                <a:solidFill>
                  <a:srgbClr val="231F20"/>
                </a:solidFill>
                <a:latin typeface="Arial"/>
                <a:cs typeface="Arial"/>
              </a:rPr>
              <a:t>(weak </a:t>
            </a:r>
            <a:r>
              <a:rPr sz="1950" spc="200" dirty="0">
                <a:solidFill>
                  <a:srgbClr val="231F20"/>
                </a:solidFill>
                <a:latin typeface="Arial"/>
                <a:cs typeface="Arial"/>
              </a:rPr>
              <a:t>until) </a:t>
            </a:r>
            <a:r>
              <a:rPr sz="1950" spc="65" dirty="0">
                <a:solidFill>
                  <a:srgbClr val="231F20"/>
                </a:solidFill>
                <a:latin typeface="Arial"/>
                <a:cs typeface="Arial"/>
              </a:rPr>
              <a:t>are </a:t>
            </a:r>
            <a:r>
              <a:rPr sz="1950" spc="114" dirty="0">
                <a:solidFill>
                  <a:srgbClr val="231F20"/>
                </a:solidFill>
                <a:latin typeface="Arial"/>
                <a:cs typeface="Arial"/>
              </a:rPr>
              <a:t>defined </a:t>
            </a:r>
            <a:r>
              <a:rPr sz="1950" spc="130" dirty="0">
                <a:solidFill>
                  <a:srgbClr val="231F20"/>
                </a:solidFill>
                <a:latin typeface="Arial"/>
                <a:cs typeface="Arial"/>
              </a:rPr>
              <a:t>in </a:t>
            </a:r>
            <a:r>
              <a:rPr sz="1950" spc="160" dirty="0">
                <a:solidFill>
                  <a:srgbClr val="231F20"/>
                </a:solidFill>
                <a:latin typeface="Arial"/>
                <a:cs typeface="Arial"/>
              </a:rPr>
              <a:t>terms </a:t>
            </a:r>
            <a:r>
              <a:rPr sz="1950" spc="185" dirty="0">
                <a:solidFill>
                  <a:srgbClr val="231F20"/>
                </a:solidFill>
                <a:latin typeface="Arial"/>
                <a:cs typeface="Arial"/>
              </a:rPr>
              <a:t>of </a:t>
            </a:r>
            <a:r>
              <a:rPr sz="1950" spc="405" dirty="0">
                <a:solidFill>
                  <a:srgbClr val="231F20"/>
                </a:solidFill>
                <a:latin typeface="Arial"/>
                <a:cs typeface="Arial"/>
              </a:rPr>
              <a:t> </a:t>
            </a:r>
            <a:r>
              <a:rPr sz="1950" spc="100" dirty="0">
                <a:solidFill>
                  <a:srgbClr val="231F20"/>
                </a:solidFill>
                <a:latin typeface="Arial"/>
                <a:cs typeface="Arial"/>
              </a:rPr>
              <a:t>these</a:t>
            </a:r>
            <a:endParaRPr sz="1950">
              <a:latin typeface="Arial"/>
              <a:cs typeface="Arial"/>
            </a:endParaRPr>
          </a:p>
          <a:p>
            <a:pPr>
              <a:lnSpc>
                <a:spcPct val="100000"/>
              </a:lnSpc>
              <a:spcBef>
                <a:spcPts val="26"/>
              </a:spcBef>
              <a:buClr>
                <a:srgbClr val="231F20"/>
              </a:buClr>
              <a:buFont typeface="Lucida Sans Unicode"/>
              <a:buChar char="•"/>
            </a:pPr>
            <a:endParaRPr sz="2000">
              <a:latin typeface="Times New Roman"/>
              <a:cs typeface="Times New Roman"/>
            </a:endParaRPr>
          </a:p>
          <a:p>
            <a:pPr marL="300990" marR="3604895">
              <a:lnSpc>
                <a:spcPct val="118900"/>
              </a:lnSpc>
            </a:pPr>
            <a:r>
              <a:rPr sz="2050" spc="55" dirty="0">
                <a:solidFill>
                  <a:srgbClr val="0000FF"/>
                </a:solidFill>
                <a:latin typeface="SimSun"/>
                <a:cs typeface="SimSun"/>
              </a:rPr>
              <a:t>R(p, q) = NOT U(NOT p, NOT q)  G(p) = R(FALSE,</a:t>
            </a:r>
            <a:r>
              <a:rPr sz="2050" spc="-15" dirty="0">
                <a:solidFill>
                  <a:srgbClr val="0000FF"/>
                </a:solidFill>
                <a:latin typeface="SimSun"/>
                <a:cs typeface="SimSun"/>
              </a:rPr>
              <a:t> </a:t>
            </a:r>
            <a:r>
              <a:rPr sz="2050" spc="55" dirty="0">
                <a:solidFill>
                  <a:srgbClr val="0000FF"/>
                </a:solidFill>
                <a:latin typeface="SimSun"/>
                <a:cs typeface="SimSun"/>
              </a:rPr>
              <a:t>p)</a:t>
            </a:r>
            <a:endParaRPr sz="2050">
              <a:latin typeface="SimSun"/>
              <a:cs typeface="SimSun"/>
            </a:endParaRPr>
          </a:p>
          <a:p>
            <a:pPr marL="300990">
              <a:lnSpc>
                <a:spcPct val="100000"/>
              </a:lnSpc>
              <a:spcBef>
                <a:spcPts val="465"/>
              </a:spcBef>
            </a:pPr>
            <a:r>
              <a:rPr sz="2050" spc="55" dirty="0">
                <a:solidFill>
                  <a:srgbClr val="0000FF"/>
                </a:solidFill>
                <a:latin typeface="SimSun"/>
                <a:cs typeface="SimSun"/>
              </a:rPr>
              <a:t>F(p) = U(TRUE,</a:t>
            </a:r>
            <a:r>
              <a:rPr sz="2050" spc="-15" dirty="0">
                <a:solidFill>
                  <a:srgbClr val="0000FF"/>
                </a:solidFill>
                <a:latin typeface="SimSun"/>
                <a:cs typeface="SimSun"/>
              </a:rPr>
              <a:t> </a:t>
            </a:r>
            <a:r>
              <a:rPr sz="2050" spc="55" dirty="0">
                <a:solidFill>
                  <a:srgbClr val="0000FF"/>
                </a:solidFill>
                <a:latin typeface="SimSun"/>
                <a:cs typeface="SimSun"/>
              </a:rPr>
              <a:t>p)</a:t>
            </a:r>
            <a:endParaRPr sz="2050">
              <a:latin typeface="SimSun"/>
              <a:cs typeface="SimSun"/>
            </a:endParaRPr>
          </a:p>
          <a:p>
            <a:pPr marL="300990">
              <a:lnSpc>
                <a:spcPct val="100000"/>
              </a:lnSpc>
              <a:spcBef>
                <a:spcPts val="465"/>
              </a:spcBef>
            </a:pPr>
            <a:r>
              <a:rPr sz="2050" spc="55" dirty="0">
                <a:solidFill>
                  <a:srgbClr val="0000FF"/>
                </a:solidFill>
                <a:latin typeface="SimSun"/>
                <a:cs typeface="SimSun"/>
              </a:rPr>
              <a:t>B(p, q) = R(p, NOT</a:t>
            </a:r>
            <a:r>
              <a:rPr sz="2050" spc="5" dirty="0">
                <a:solidFill>
                  <a:srgbClr val="0000FF"/>
                </a:solidFill>
                <a:latin typeface="SimSun"/>
                <a:cs typeface="SimSun"/>
              </a:rPr>
              <a:t> </a:t>
            </a:r>
            <a:r>
              <a:rPr sz="2050" spc="55" dirty="0">
                <a:solidFill>
                  <a:srgbClr val="0000FF"/>
                </a:solidFill>
                <a:latin typeface="SimSun"/>
                <a:cs typeface="SimSun"/>
              </a:rPr>
              <a:t>q)</a:t>
            </a:r>
            <a:endParaRPr sz="2050">
              <a:latin typeface="SimSun"/>
              <a:cs typeface="SimSun"/>
            </a:endParaRPr>
          </a:p>
          <a:p>
            <a:pPr marL="300990">
              <a:lnSpc>
                <a:spcPct val="100000"/>
              </a:lnSpc>
              <a:spcBef>
                <a:spcPts val="465"/>
              </a:spcBef>
            </a:pPr>
            <a:r>
              <a:rPr sz="2050" spc="55" dirty="0">
                <a:solidFill>
                  <a:srgbClr val="0000FF"/>
                </a:solidFill>
                <a:latin typeface="SimSun"/>
                <a:cs typeface="SimSun"/>
              </a:rPr>
              <a:t>W(p, q) = G(p) OR U(p,</a:t>
            </a:r>
            <a:r>
              <a:rPr sz="2050" spc="15" dirty="0">
                <a:solidFill>
                  <a:srgbClr val="0000FF"/>
                </a:solidFill>
                <a:latin typeface="SimSun"/>
                <a:cs typeface="SimSun"/>
              </a:rPr>
              <a:t> </a:t>
            </a:r>
            <a:r>
              <a:rPr sz="2050" spc="55" dirty="0">
                <a:solidFill>
                  <a:srgbClr val="0000FF"/>
                </a:solidFill>
                <a:latin typeface="SimSun"/>
                <a:cs typeface="SimSun"/>
              </a:rPr>
              <a:t>q)</a:t>
            </a:r>
            <a:endParaRPr sz="2050">
              <a:latin typeface="SimSun"/>
              <a:cs typeface="SimSun"/>
            </a:endParaRPr>
          </a:p>
          <a:p>
            <a:pPr marL="300990" indent="-288290">
              <a:lnSpc>
                <a:spcPts val="2275"/>
              </a:lnSpc>
              <a:spcBef>
                <a:spcPts val="975"/>
              </a:spcBef>
              <a:buSzPct val="105128"/>
              <a:buFont typeface="Lucida Sans Unicode"/>
              <a:buChar char="•"/>
              <a:tabLst>
                <a:tab pos="301625" algn="l"/>
              </a:tabLst>
            </a:pPr>
            <a:r>
              <a:rPr sz="1950" spc="150" dirty="0">
                <a:solidFill>
                  <a:srgbClr val="231F20"/>
                </a:solidFill>
                <a:latin typeface="Arial"/>
                <a:cs typeface="Arial"/>
              </a:rPr>
              <a:t>Iterated </a:t>
            </a:r>
            <a:r>
              <a:rPr sz="1950" spc="160" dirty="0">
                <a:solidFill>
                  <a:srgbClr val="231F20"/>
                </a:solidFill>
                <a:latin typeface="Arial"/>
                <a:cs typeface="Arial"/>
              </a:rPr>
              <a:t>next </a:t>
            </a:r>
            <a:r>
              <a:rPr sz="1950" spc="155" dirty="0">
                <a:solidFill>
                  <a:srgbClr val="231F20"/>
                </a:solidFill>
                <a:latin typeface="Arial"/>
                <a:cs typeface="Arial"/>
              </a:rPr>
              <a:t>state </a:t>
            </a:r>
            <a:r>
              <a:rPr sz="1950" spc="120" dirty="0">
                <a:solidFill>
                  <a:srgbClr val="231F20"/>
                </a:solidFill>
                <a:latin typeface="Arial"/>
                <a:cs typeface="Arial"/>
              </a:rPr>
              <a:t>can </a:t>
            </a:r>
            <a:r>
              <a:rPr sz="1950" spc="114" dirty="0">
                <a:solidFill>
                  <a:srgbClr val="231F20"/>
                </a:solidFill>
                <a:latin typeface="Arial"/>
                <a:cs typeface="Arial"/>
              </a:rPr>
              <a:t>be defined </a:t>
            </a:r>
            <a:r>
              <a:rPr sz="1950" spc="130" dirty="0">
                <a:solidFill>
                  <a:srgbClr val="231F20"/>
                </a:solidFill>
                <a:latin typeface="Arial"/>
                <a:cs typeface="Arial"/>
              </a:rPr>
              <a:t>in </a:t>
            </a:r>
            <a:r>
              <a:rPr sz="1950" spc="490" dirty="0">
                <a:solidFill>
                  <a:srgbClr val="231F20"/>
                </a:solidFill>
                <a:latin typeface="Arial"/>
                <a:cs typeface="Arial"/>
              </a:rPr>
              <a:t> </a:t>
            </a:r>
            <a:r>
              <a:rPr sz="1950" spc="225" dirty="0">
                <a:solidFill>
                  <a:srgbClr val="231F20"/>
                </a:solidFill>
                <a:latin typeface="Arial"/>
                <a:cs typeface="Arial"/>
              </a:rPr>
              <a:t>SAL</a:t>
            </a:r>
            <a:endParaRPr sz="1950">
              <a:latin typeface="Arial"/>
              <a:cs typeface="Arial"/>
            </a:endParaRPr>
          </a:p>
          <a:p>
            <a:pPr marL="300990">
              <a:lnSpc>
                <a:spcPts val="2395"/>
              </a:lnSpc>
            </a:pPr>
            <a:r>
              <a:rPr sz="2050" spc="55" dirty="0">
                <a:solidFill>
                  <a:srgbClr val="0000FF"/>
                </a:solidFill>
                <a:latin typeface="SimSun"/>
                <a:cs typeface="SimSun"/>
              </a:rPr>
              <a:t>XXXX(a:boolean): boolean =</a:t>
            </a:r>
            <a:r>
              <a:rPr sz="2050" spc="-20" dirty="0">
                <a:solidFill>
                  <a:srgbClr val="0000FF"/>
                </a:solidFill>
                <a:latin typeface="SimSun"/>
                <a:cs typeface="SimSun"/>
              </a:rPr>
              <a:t> </a:t>
            </a:r>
            <a:r>
              <a:rPr sz="2050" spc="55" dirty="0">
                <a:solidFill>
                  <a:srgbClr val="0000FF"/>
                </a:solidFill>
                <a:latin typeface="SimSun"/>
                <a:cs typeface="SimSun"/>
              </a:rPr>
              <a:t>X(X(X(X(a))));</a:t>
            </a:r>
            <a:endParaRPr sz="2050">
              <a:latin typeface="SimSun"/>
              <a:cs typeface="SimSun"/>
            </a:endParaRPr>
          </a:p>
          <a:p>
            <a:pPr marL="300990">
              <a:lnSpc>
                <a:spcPts val="2275"/>
              </a:lnSpc>
              <a:spcBef>
                <a:spcPts val="150"/>
              </a:spcBef>
            </a:pPr>
            <a:r>
              <a:rPr sz="1950" spc="285" dirty="0">
                <a:solidFill>
                  <a:srgbClr val="231F20"/>
                </a:solidFill>
                <a:latin typeface="Arial"/>
                <a:cs typeface="Arial"/>
              </a:rPr>
              <a:t>Or</a:t>
            </a:r>
            <a:r>
              <a:rPr sz="1950" spc="185" dirty="0">
                <a:solidFill>
                  <a:srgbClr val="231F20"/>
                </a:solidFill>
                <a:latin typeface="Arial"/>
                <a:cs typeface="Arial"/>
              </a:rPr>
              <a:t> </a:t>
            </a:r>
            <a:r>
              <a:rPr sz="1950" spc="75" dirty="0">
                <a:solidFill>
                  <a:srgbClr val="231F20"/>
                </a:solidFill>
                <a:latin typeface="Arial"/>
                <a:cs typeface="Arial"/>
              </a:rPr>
              <a:t>even</a:t>
            </a:r>
            <a:endParaRPr sz="1950">
              <a:latin typeface="Arial"/>
              <a:cs typeface="Arial"/>
            </a:endParaRPr>
          </a:p>
          <a:p>
            <a:pPr marL="300990">
              <a:lnSpc>
                <a:spcPts val="2395"/>
              </a:lnSpc>
            </a:pPr>
            <a:r>
              <a:rPr sz="2050" spc="55" dirty="0">
                <a:solidFill>
                  <a:srgbClr val="0000FF"/>
                </a:solidFill>
                <a:latin typeface="SimSun"/>
                <a:cs typeface="SimSun"/>
              </a:rPr>
              <a:t>posnat: TYPE = </a:t>
            </a:r>
            <a:r>
              <a:rPr sz="2050" spc="160" dirty="0">
                <a:solidFill>
                  <a:srgbClr val="0000FF"/>
                </a:solidFill>
                <a:latin typeface="Lucida Sans Unicode"/>
                <a:cs typeface="Lucida Sans Unicode"/>
              </a:rPr>
              <a:t>{</a:t>
            </a:r>
            <a:r>
              <a:rPr sz="2050" spc="160" dirty="0">
                <a:solidFill>
                  <a:srgbClr val="0000FF"/>
                </a:solidFill>
                <a:latin typeface="SimSun"/>
                <a:cs typeface="SimSun"/>
              </a:rPr>
              <a:t>x: </a:t>
            </a:r>
            <a:r>
              <a:rPr sz="2050" spc="55" dirty="0">
                <a:solidFill>
                  <a:srgbClr val="0000FF"/>
                </a:solidFill>
                <a:latin typeface="SimSun"/>
                <a:cs typeface="SimSun"/>
              </a:rPr>
              <a:t>natural |</a:t>
            </a:r>
            <a:r>
              <a:rPr sz="2050" spc="-85" dirty="0">
                <a:solidFill>
                  <a:srgbClr val="0000FF"/>
                </a:solidFill>
                <a:latin typeface="SimSun"/>
                <a:cs typeface="SimSun"/>
              </a:rPr>
              <a:t> </a:t>
            </a:r>
            <a:r>
              <a:rPr sz="2050" spc="114" dirty="0">
                <a:solidFill>
                  <a:srgbClr val="0000FF"/>
                </a:solidFill>
                <a:latin typeface="SimSun"/>
                <a:cs typeface="SimSun"/>
              </a:rPr>
              <a:t>x&gt;0</a:t>
            </a:r>
            <a:r>
              <a:rPr sz="2050" spc="114" dirty="0">
                <a:solidFill>
                  <a:srgbClr val="0000FF"/>
                </a:solidFill>
                <a:latin typeface="Lucida Sans Unicode"/>
                <a:cs typeface="Lucida Sans Unicode"/>
              </a:rPr>
              <a:t>}</a:t>
            </a:r>
            <a:r>
              <a:rPr sz="2050" spc="114" dirty="0">
                <a:solidFill>
                  <a:srgbClr val="0000FF"/>
                </a:solidFill>
                <a:latin typeface="SimSun"/>
                <a:cs typeface="SimSun"/>
              </a:rPr>
              <a:t>;</a:t>
            </a:r>
            <a:endParaRPr sz="2050">
              <a:latin typeface="SimSun"/>
              <a:cs typeface="SimSun"/>
            </a:endParaRPr>
          </a:p>
          <a:p>
            <a:pPr marL="300990">
              <a:lnSpc>
                <a:spcPct val="100000"/>
              </a:lnSpc>
              <a:spcBef>
                <a:spcPts val="465"/>
              </a:spcBef>
            </a:pPr>
            <a:r>
              <a:rPr sz="2050" spc="55" dirty="0">
                <a:solidFill>
                  <a:srgbClr val="0000FF"/>
                </a:solidFill>
                <a:latin typeface="SimSun"/>
                <a:cs typeface="SimSun"/>
              </a:rPr>
              <a:t>Xn(a: boolean, n: posnat): boolean</a:t>
            </a:r>
            <a:r>
              <a:rPr sz="2050"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714375">
              <a:lnSpc>
                <a:spcPct val="100000"/>
              </a:lnSpc>
              <a:spcBef>
                <a:spcPts val="465"/>
              </a:spcBef>
            </a:pPr>
            <a:r>
              <a:rPr sz="2050" spc="55" dirty="0">
                <a:solidFill>
                  <a:srgbClr val="0000FF"/>
                </a:solidFill>
                <a:latin typeface="SimSun"/>
                <a:cs typeface="SimSun"/>
              </a:rPr>
              <a:t>IF n = 1 THEN X(a) ELSE Xn(X(a), n-1)</a:t>
            </a:r>
            <a:r>
              <a:rPr sz="2050" spc="35" dirty="0">
                <a:solidFill>
                  <a:srgbClr val="0000FF"/>
                </a:solidFill>
                <a:latin typeface="SimSun"/>
                <a:cs typeface="SimSun"/>
              </a:rPr>
              <a:t> </a:t>
            </a:r>
            <a:r>
              <a:rPr sz="2050" spc="55" dirty="0">
                <a:solidFill>
                  <a:srgbClr val="0000FF"/>
                </a:solidFill>
                <a:latin typeface="SimSun"/>
                <a:cs typeface="SimSun"/>
              </a:rPr>
              <a:t>ENDIF;</a:t>
            </a:r>
            <a:endParaRPr sz="2050">
              <a:latin typeface="SimSun"/>
              <a:cs typeface="SimSun"/>
            </a:endParaRPr>
          </a:p>
          <a:p>
            <a:pPr marL="300990">
              <a:lnSpc>
                <a:spcPct val="100000"/>
              </a:lnSpc>
              <a:spcBef>
                <a:spcPts val="465"/>
              </a:spcBef>
            </a:pPr>
            <a:r>
              <a:rPr sz="2050" spc="55" dirty="0">
                <a:solidFill>
                  <a:srgbClr val="0000FF"/>
                </a:solidFill>
                <a:latin typeface="SimSun"/>
                <a:cs typeface="SimSun"/>
              </a:rPr>
              <a:t>X24(a: boolean): boolean = Xn(a,</a:t>
            </a:r>
            <a:r>
              <a:rPr sz="2050" dirty="0">
                <a:solidFill>
                  <a:srgbClr val="0000FF"/>
                </a:solidFill>
                <a:latin typeface="SimSun"/>
                <a:cs typeface="SimSun"/>
              </a:rPr>
              <a:t> </a:t>
            </a:r>
            <a:r>
              <a:rPr sz="2050" spc="55" dirty="0">
                <a:solidFill>
                  <a:srgbClr val="0000FF"/>
                </a:solidFill>
                <a:latin typeface="SimSun"/>
                <a:cs typeface="SimSun"/>
              </a:rPr>
              <a:t>24);</a:t>
            </a:r>
            <a:endParaRPr sz="2050">
              <a:latin typeface="SimSun"/>
              <a:cs typeface="SimSun"/>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120388" y="475981"/>
            <a:ext cx="1818005" cy="297180"/>
          </a:xfrm>
          <a:prstGeom prst="rect">
            <a:avLst/>
          </a:prstGeom>
        </p:spPr>
        <p:txBody>
          <a:bodyPr vert="horz" wrap="square" lIns="0" tIns="0" rIns="0" bIns="0" rtlCol="0">
            <a:spAutoFit/>
          </a:bodyPr>
          <a:lstStyle/>
          <a:p>
            <a:pPr marL="12700">
              <a:lnSpc>
                <a:spcPct val="100000"/>
              </a:lnSpc>
            </a:pPr>
            <a:r>
              <a:rPr sz="1950" spc="185" dirty="0">
                <a:solidFill>
                  <a:srgbClr val="231F20"/>
                </a:solidFill>
                <a:latin typeface="Arial"/>
                <a:cs typeface="Arial"/>
              </a:rPr>
              <a:t>Fairness</a:t>
            </a:r>
            <a:r>
              <a:rPr sz="1950" spc="300" dirty="0">
                <a:solidFill>
                  <a:srgbClr val="231F20"/>
                </a:solidFill>
                <a:latin typeface="Arial"/>
                <a:cs typeface="Arial"/>
              </a:rPr>
              <a:t> </a:t>
            </a:r>
            <a:r>
              <a:rPr sz="1950" spc="260" dirty="0">
                <a:solidFill>
                  <a:srgbClr val="231F20"/>
                </a:solidFill>
                <a:latin typeface="Arial"/>
                <a:cs typeface="Arial"/>
              </a:rPr>
              <a:t>etc.</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44494" rIns="0" bIns="0" rtlCol="0">
            <a:spAutoFit/>
          </a:bodyPr>
          <a:lstStyle/>
          <a:p>
            <a:pPr marL="300990" indent="-288290">
              <a:lnSpc>
                <a:spcPct val="100000"/>
              </a:lnSpc>
              <a:buClr>
                <a:srgbClr val="231F20"/>
              </a:buClr>
              <a:buFont typeface="Lucida Sans Unicode"/>
              <a:buChar char="•"/>
              <a:tabLst>
                <a:tab pos="301625" algn="l"/>
                <a:tab pos="1906270" algn="l"/>
              </a:tabLst>
            </a:pPr>
            <a:r>
              <a:rPr spc="60" dirty="0"/>
              <a:t>G(F(expr))</a:t>
            </a:r>
            <a:r>
              <a:rPr sz="1950" spc="60" dirty="0">
                <a:solidFill>
                  <a:srgbClr val="231F20"/>
                </a:solidFill>
                <a:latin typeface="Arial"/>
                <a:cs typeface="Arial"/>
              </a:rPr>
              <a:t>:	</a:t>
            </a:r>
            <a:r>
              <a:rPr spc="55" dirty="0"/>
              <a:t>expr </a:t>
            </a:r>
            <a:r>
              <a:rPr sz="1950" spc="40" dirty="0">
                <a:solidFill>
                  <a:srgbClr val="231F20"/>
                </a:solidFill>
                <a:latin typeface="Arial"/>
                <a:cs typeface="Arial"/>
              </a:rPr>
              <a:t>is </a:t>
            </a:r>
            <a:r>
              <a:rPr sz="1950" spc="170" dirty="0">
                <a:solidFill>
                  <a:srgbClr val="231F20"/>
                </a:solidFill>
                <a:latin typeface="Arial"/>
                <a:cs typeface="Arial"/>
              </a:rPr>
              <a:t>true </a:t>
            </a:r>
            <a:r>
              <a:rPr sz="1950" spc="145" dirty="0">
                <a:solidFill>
                  <a:srgbClr val="FF0000"/>
                </a:solidFill>
                <a:latin typeface="Arial"/>
                <a:cs typeface="Arial"/>
              </a:rPr>
              <a:t>infinitely</a:t>
            </a:r>
            <a:r>
              <a:rPr sz="1950" spc="355" dirty="0">
                <a:solidFill>
                  <a:srgbClr val="FF0000"/>
                </a:solidFill>
                <a:latin typeface="Arial"/>
                <a:cs typeface="Arial"/>
              </a:rPr>
              <a:t> </a:t>
            </a:r>
            <a:r>
              <a:rPr sz="1950" spc="175" dirty="0">
                <a:solidFill>
                  <a:srgbClr val="FF0000"/>
                </a:solidFill>
                <a:latin typeface="Arial"/>
                <a:cs typeface="Arial"/>
              </a:rPr>
              <a:t>often</a:t>
            </a:r>
            <a:endParaRPr sz="1950">
              <a:latin typeface="Arial"/>
              <a:cs typeface="Arial"/>
            </a:endParaRPr>
          </a:p>
        </p:txBody>
      </p:sp>
      <p:sp>
        <p:nvSpPr>
          <p:cNvPr id="4" name="object 4"/>
          <p:cNvSpPr txBox="1"/>
          <p:nvPr/>
        </p:nvSpPr>
        <p:spPr>
          <a:xfrm>
            <a:off x="896440" y="1390141"/>
            <a:ext cx="8192770" cy="5085715"/>
          </a:xfrm>
          <a:prstGeom prst="rect">
            <a:avLst/>
          </a:prstGeom>
        </p:spPr>
        <p:txBody>
          <a:bodyPr vert="horz" wrap="square" lIns="0" tIns="0" rIns="0" bIns="0" rtlCol="0">
            <a:spAutoFit/>
          </a:bodyPr>
          <a:lstStyle/>
          <a:p>
            <a:pPr marL="300990" indent="-288290">
              <a:lnSpc>
                <a:spcPct val="100000"/>
              </a:lnSpc>
              <a:buClr>
                <a:srgbClr val="231F20"/>
              </a:buClr>
              <a:buFont typeface="Lucida Sans Unicode"/>
              <a:buChar char="•"/>
              <a:tabLst>
                <a:tab pos="301625" algn="l"/>
                <a:tab pos="3007995" algn="l"/>
              </a:tabLst>
            </a:pPr>
            <a:r>
              <a:rPr sz="2050" spc="55" dirty="0">
                <a:solidFill>
                  <a:srgbClr val="0000FF"/>
                </a:solidFill>
                <a:latin typeface="SimSun"/>
                <a:cs typeface="SimSun"/>
              </a:rPr>
              <a:t>G(F(NOT en</a:t>
            </a:r>
            <a:r>
              <a:rPr sz="2050" spc="850" dirty="0">
                <a:solidFill>
                  <a:srgbClr val="0000FF"/>
                </a:solidFill>
                <a:latin typeface="SimSun"/>
                <a:cs typeface="SimSun"/>
              </a:rPr>
              <a:t> </a:t>
            </a:r>
            <a:r>
              <a:rPr sz="2050" spc="55" dirty="0">
                <a:solidFill>
                  <a:srgbClr val="0000FF"/>
                </a:solidFill>
                <a:latin typeface="SimSun"/>
                <a:cs typeface="SimSun"/>
              </a:rPr>
              <a:t>OR</a:t>
            </a:r>
            <a:r>
              <a:rPr sz="2050" spc="450" dirty="0">
                <a:solidFill>
                  <a:srgbClr val="0000FF"/>
                </a:solidFill>
                <a:latin typeface="SimSun"/>
                <a:cs typeface="SimSun"/>
              </a:rPr>
              <a:t> </a:t>
            </a:r>
            <a:r>
              <a:rPr sz="2050" spc="70" dirty="0">
                <a:solidFill>
                  <a:srgbClr val="0000FF"/>
                </a:solidFill>
                <a:latin typeface="SimSun"/>
                <a:cs typeface="SimSun"/>
              </a:rPr>
              <a:t>oc))</a:t>
            </a:r>
            <a:r>
              <a:rPr sz="1950" spc="70" dirty="0">
                <a:solidFill>
                  <a:srgbClr val="231F20"/>
                </a:solidFill>
                <a:latin typeface="Arial"/>
                <a:cs typeface="Arial"/>
              </a:rPr>
              <a:t>:	</a:t>
            </a:r>
            <a:r>
              <a:rPr sz="1950" spc="160" dirty="0">
                <a:solidFill>
                  <a:srgbClr val="231F20"/>
                </a:solidFill>
                <a:latin typeface="Arial"/>
                <a:cs typeface="Arial"/>
              </a:rPr>
              <a:t>if </a:t>
            </a:r>
            <a:r>
              <a:rPr sz="2050" spc="55" dirty="0">
                <a:solidFill>
                  <a:srgbClr val="0000FF"/>
                </a:solidFill>
                <a:latin typeface="SimSun"/>
                <a:cs typeface="SimSun"/>
              </a:rPr>
              <a:t>en </a:t>
            </a:r>
            <a:r>
              <a:rPr sz="1950" spc="40" dirty="0">
                <a:solidFill>
                  <a:srgbClr val="231F20"/>
                </a:solidFill>
                <a:latin typeface="Arial"/>
                <a:cs typeface="Arial"/>
              </a:rPr>
              <a:t>is </a:t>
            </a:r>
            <a:r>
              <a:rPr sz="1950" spc="95" dirty="0">
                <a:solidFill>
                  <a:srgbClr val="231F20"/>
                </a:solidFill>
                <a:latin typeface="Arial"/>
                <a:cs typeface="Arial"/>
              </a:rPr>
              <a:t>enabled </a:t>
            </a:r>
            <a:r>
              <a:rPr sz="1950" spc="140" dirty="0">
                <a:solidFill>
                  <a:srgbClr val="FF0000"/>
                </a:solidFill>
                <a:latin typeface="Arial"/>
                <a:cs typeface="Arial"/>
              </a:rPr>
              <a:t>continuously</a:t>
            </a:r>
            <a:r>
              <a:rPr sz="1950" spc="140" dirty="0">
                <a:solidFill>
                  <a:srgbClr val="231F20"/>
                </a:solidFill>
                <a:latin typeface="Arial"/>
                <a:cs typeface="Arial"/>
              </a:rPr>
              <a:t>, </a:t>
            </a:r>
            <a:r>
              <a:rPr sz="1950" spc="165" dirty="0">
                <a:solidFill>
                  <a:srgbClr val="231F20"/>
                </a:solidFill>
                <a:latin typeface="Arial"/>
                <a:cs typeface="Arial"/>
              </a:rPr>
              <a:t>then</a:t>
            </a:r>
            <a:r>
              <a:rPr sz="1950" spc="745" dirty="0">
                <a:solidFill>
                  <a:srgbClr val="231F20"/>
                </a:solidFill>
                <a:latin typeface="Arial"/>
                <a:cs typeface="Arial"/>
              </a:rPr>
              <a:t> </a:t>
            </a:r>
            <a:r>
              <a:rPr sz="2050" spc="55" dirty="0">
                <a:solidFill>
                  <a:srgbClr val="0000FF"/>
                </a:solidFill>
                <a:latin typeface="SimSun"/>
                <a:cs typeface="SimSun"/>
              </a:rPr>
              <a:t>oc</a:t>
            </a:r>
            <a:endParaRPr sz="2050">
              <a:latin typeface="SimSun"/>
              <a:cs typeface="SimSun"/>
            </a:endParaRPr>
          </a:p>
          <a:p>
            <a:pPr marL="300990">
              <a:lnSpc>
                <a:spcPct val="100000"/>
              </a:lnSpc>
              <a:spcBef>
                <a:spcPts val="565"/>
              </a:spcBef>
            </a:pPr>
            <a:r>
              <a:rPr sz="1950" spc="145" dirty="0">
                <a:solidFill>
                  <a:srgbClr val="231F20"/>
                </a:solidFill>
                <a:latin typeface="Arial"/>
                <a:cs typeface="Arial"/>
              </a:rPr>
              <a:t>will </a:t>
            </a:r>
            <a:r>
              <a:rPr sz="1950" spc="155" dirty="0">
                <a:solidFill>
                  <a:srgbClr val="231F20"/>
                </a:solidFill>
                <a:latin typeface="Arial"/>
                <a:cs typeface="Arial"/>
              </a:rPr>
              <a:t>occur </a:t>
            </a:r>
            <a:r>
              <a:rPr sz="1950" spc="145" dirty="0">
                <a:solidFill>
                  <a:srgbClr val="FF0000"/>
                </a:solidFill>
                <a:latin typeface="Arial"/>
                <a:cs typeface="Arial"/>
              </a:rPr>
              <a:t>infinitely</a:t>
            </a:r>
            <a:r>
              <a:rPr sz="1950" spc="515" dirty="0">
                <a:solidFill>
                  <a:srgbClr val="FF0000"/>
                </a:solidFill>
                <a:latin typeface="Arial"/>
                <a:cs typeface="Arial"/>
              </a:rPr>
              <a:t> </a:t>
            </a:r>
            <a:r>
              <a:rPr sz="1950" spc="175" dirty="0">
                <a:solidFill>
                  <a:srgbClr val="FF0000"/>
                </a:solidFill>
                <a:latin typeface="Arial"/>
                <a:cs typeface="Arial"/>
              </a:rPr>
              <a:t>often</a:t>
            </a:r>
            <a:endParaRPr sz="1950">
              <a:latin typeface="Arial"/>
              <a:cs typeface="Arial"/>
            </a:endParaRPr>
          </a:p>
          <a:p>
            <a:pPr marL="741680" marR="1597025" lvl="1" indent="-288290">
              <a:lnSpc>
                <a:spcPct val="125000"/>
              </a:lnSpc>
              <a:spcBef>
                <a:spcPts val="414"/>
              </a:spcBef>
              <a:buClr>
                <a:srgbClr val="231F20"/>
              </a:buClr>
              <a:buSzPct val="105128"/>
              <a:buFont typeface="Lucida Sans Unicode"/>
              <a:buChar char="◦"/>
              <a:tabLst>
                <a:tab pos="742315" algn="l"/>
              </a:tabLst>
            </a:pPr>
            <a:r>
              <a:rPr sz="1950" spc="165" dirty="0">
                <a:solidFill>
                  <a:srgbClr val="0000FF"/>
                </a:solidFill>
                <a:latin typeface="Arial"/>
                <a:cs typeface="Arial"/>
              </a:rPr>
              <a:t>Weak </a:t>
            </a:r>
            <a:r>
              <a:rPr sz="1950" spc="90" dirty="0">
                <a:solidFill>
                  <a:srgbClr val="0000FF"/>
                </a:solidFill>
                <a:latin typeface="Arial"/>
                <a:cs typeface="Arial"/>
              </a:rPr>
              <a:t>fairness</a:t>
            </a:r>
            <a:r>
              <a:rPr sz="1950" spc="90" dirty="0">
                <a:solidFill>
                  <a:srgbClr val="231F20"/>
                </a:solidFill>
                <a:latin typeface="Arial"/>
                <a:cs typeface="Arial"/>
              </a:rPr>
              <a:t>, </a:t>
            </a:r>
            <a:r>
              <a:rPr sz="1950" spc="175" dirty="0">
                <a:solidFill>
                  <a:srgbClr val="231F20"/>
                </a:solidFill>
                <a:latin typeface="Arial"/>
                <a:cs typeface="Arial"/>
              </a:rPr>
              <a:t>often </a:t>
            </a:r>
            <a:r>
              <a:rPr sz="1950" spc="135" dirty="0">
                <a:solidFill>
                  <a:srgbClr val="231F20"/>
                </a:solidFill>
                <a:latin typeface="Arial"/>
                <a:cs typeface="Arial"/>
              </a:rPr>
              <a:t>sufficient </a:t>
            </a:r>
            <a:r>
              <a:rPr sz="1950" spc="155" dirty="0">
                <a:solidFill>
                  <a:srgbClr val="231F20"/>
                </a:solidFill>
                <a:latin typeface="Arial"/>
                <a:cs typeface="Arial"/>
              </a:rPr>
              <a:t>for </a:t>
            </a:r>
            <a:r>
              <a:rPr sz="1950" spc="85" dirty="0">
                <a:solidFill>
                  <a:srgbClr val="231F20"/>
                </a:solidFill>
                <a:latin typeface="Arial"/>
                <a:cs typeface="Arial"/>
              </a:rPr>
              <a:t>progress </a:t>
            </a:r>
            <a:r>
              <a:rPr sz="1950" spc="130" dirty="0">
                <a:solidFill>
                  <a:srgbClr val="231F20"/>
                </a:solidFill>
                <a:latin typeface="Arial"/>
                <a:cs typeface="Arial"/>
              </a:rPr>
              <a:t>in  </a:t>
            </a:r>
            <a:r>
              <a:rPr sz="1950" spc="114" dirty="0">
                <a:solidFill>
                  <a:srgbClr val="231F20"/>
                </a:solidFill>
                <a:latin typeface="Arial"/>
                <a:cs typeface="Arial"/>
              </a:rPr>
              <a:t>asynchronous</a:t>
            </a:r>
            <a:r>
              <a:rPr sz="1950" spc="204" dirty="0">
                <a:solidFill>
                  <a:srgbClr val="231F20"/>
                </a:solidFill>
                <a:latin typeface="Arial"/>
                <a:cs typeface="Arial"/>
              </a:rPr>
              <a:t> </a:t>
            </a:r>
            <a:r>
              <a:rPr sz="1950" spc="100" dirty="0">
                <a:solidFill>
                  <a:srgbClr val="231F20"/>
                </a:solidFill>
                <a:latin typeface="Arial"/>
                <a:cs typeface="Arial"/>
              </a:rPr>
              <a:t>systems</a:t>
            </a:r>
            <a:endParaRPr sz="1950">
              <a:latin typeface="Arial"/>
              <a:cs typeface="Arial"/>
            </a:endParaRPr>
          </a:p>
          <a:p>
            <a:pPr marL="741680" lvl="1" indent="-288290">
              <a:lnSpc>
                <a:spcPct val="100000"/>
              </a:lnSpc>
              <a:spcBef>
                <a:spcPts val="690"/>
              </a:spcBef>
              <a:buSzPct val="105128"/>
              <a:buFont typeface="Lucida Sans Unicode"/>
              <a:buChar char="◦"/>
              <a:tabLst>
                <a:tab pos="742315" algn="l"/>
              </a:tabLst>
            </a:pPr>
            <a:r>
              <a:rPr sz="1950" spc="100" dirty="0">
                <a:solidFill>
                  <a:srgbClr val="231F20"/>
                </a:solidFill>
                <a:latin typeface="Arial"/>
                <a:cs typeface="Arial"/>
              </a:rPr>
              <a:t>Easier </a:t>
            </a:r>
            <a:r>
              <a:rPr sz="1950" spc="30" dirty="0">
                <a:solidFill>
                  <a:srgbClr val="231F20"/>
                </a:solidFill>
                <a:latin typeface="Arial"/>
                <a:cs typeface="Arial"/>
              </a:rPr>
              <a:t>as </a:t>
            </a:r>
            <a:r>
              <a:rPr sz="2050" spc="55" dirty="0">
                <a:solidFill>
                  <a:srgbClr val="0000FF"/>
                </a:solidFill>
                <a:latin typeface="SimSun"/>
                <a:cs typeface="SimSun"/>
              </a:rPr>
              <a:t>G(F(NOT en) OR F(oc)) </a:t>
            </a:r>
            <a:r>
              <a:rPr sz="1950" spc="130" dirty="0">
                <a:solidFill>
                  <a:srgbClr val="231F20"/>
                </a:solidFill>
                <a:latin typeface="Arial"/>
                <a:cs typeface="Arial"/>
              </a:rPr>
              <a:t>or </a:t>
            </a:r>
            <a:r>
              <a:rPr sz="2050" spc="55" dirty="0">
                <a:solidFill>
                  <a:srgbClr val="0000FF"/>
                </a:solidFill>
                <a:latin typeface="SimSun"/>
                <a:cs typeface="SimSun"/>
              </a:rPr>
              <a:t>G(G(en) =&gt;</a:t>
            </a:r>
            <a:r>
              <a:rPr sz="2050" spc="345" dirty="0">
                <a:solidFill>
                  <a:srgbClr val="0000FF"/>
                </a:solidFill>
                <a:latin typeface="SimSun"/>
                <a:cs typeface="SimSun"/>
              </a:rPr>
              <a:t> </a:t>
            </a:r>
            <a:r>
              <a:rPr sz="2050" spc="55" dirty="0">
                <a:solidFill>
                  <a:srgbClr val="0000FF"/>
                </a:solidFill>
                <a:latin typeface="SimSun"/>
                <a:cs typeface="SimSun"/>
              </a:rPr>
              <a:t>F(oc))</a:t>
            </a:r>
            <a:endParaRPr sz="2050">
              <a:latin typeface="SimSun"/>
              <a:cs typeface="SimSun"/>
            </a:endParaRPr>
          </a:p>
          <a:p>
            <a:pPr marL="300990" indent="-288290">
              <a:lnSpc>
                <a:spcPct val="100000"/>
              </a:lnSpc>
              <a:spcBef>
                <a:spcPts val="880"/>
              </a:spcBef>
              <a:buClr>
                <a:srgbClr val="231F20"/>
              </a:buClr>
              <a:buFont typeface="Lucida Sans Unicode"/>
              <a:buChar char="•"/>
              <a:tabLst>
                <a:tab pos="301625" algn="l"/>
                <a:tab pos="3283585" algn="l"/>
              </a:tabLst>
            </a:pPr>
            <a:r>
              <a:rPr sz="2050" spc="55" dirty="0">
                <a:solidFill>
                  <a:srgbClr val="0000FF"/>
                </a:solidFill>
                <a:latin typeface="SimSun"/>
                <a:cs typeface="SimSun"/>
              </a:rPr>
              <a:t>G(F(en))</a:t>
            </a:r>
            <a:r>
              <a:rPr sz="2050" spc="645" dirty="0">
                <a:solidFill>
                  <a:srgbClr val="0000FF"/>
                </a:solidFill>
                <a:latin typeface="SimSun"/>
                <a:cs typeface="SimSun"/>
              </a:rPr>
              <a:t> </a:t>
            </a:r>
            <a:r>
              <a:rPr sz="2050" spc="55" dirty="0">
                <a:solidFill>
                  <a:srgbClr val="0000FF"/>
                </a:solidFill>
                <a:latin typeface="SimSun"/>
                <a:cs typeface="SimSun"/>
              </a:rPr>
              <a:t>=&gt;</a:t>
            </a:r>
            <a:r>
              <a:rPr sz="2050" spc="645" dirty="0">
                <a:solidFill>
                  <a:srgbClr val="0000FF"/>
                </a:solidFill>
                <a:latin typeface="SimSun"/>
                <a:cs typeface="SimSun"/>
              </a:rPr>
              <a:t> </a:t>
            </a:r>
            <a:r>
              <a:rPr sz="2050" spc="65" dirty="0">
                <a:solidFill>
                  <a:srgbClr val="0000FF"/>
                </a:solidFill>
                <a:latin typeface="SimSun"/>
                <a:cs typeface="SimSun"/>
              </a:rPr>
              <a:t>G(F(oc))</a:t>
            </a:r>
            <a:r>
              <a:rPr sz="1950" spc="65" dirty="0">
                <a:solidFill>
                  <a:srgbClr val="231F20"/>
                </a:solidFill>
                <a:latin typeface="Arial"/>
                <a:cs typeface="Arial"/>
              </a:rPr>
              <a:t>:	</a:t>
            </a:r>
            <a:r>
              <a:rPr sz="1950" spc="160" dirty="0">
                <a:solidFill>
                  <a:srgbClr val="231F20"/>
                </a:solidFill>
                <a:latin typeface="Arial"/>
                <a:cs typeface="Arial"/>
              </a:rPr>
              <a:t>if </a:t>
            </a:r>
            <a:r>
              <a:rPr sz="2050" spc="55" dirty="0">
                <a:solidFill>
                  <a:srgbClr val="0000FF"/>
                </a:solidFill>
                <a:latin typeface="SimSun"/>
                <a:cs typeface="SimSun"/>
              </a:rPr>
              <a:t>en </a:t>
            </a:r>
            <a:r>
              <a:rPr sz="1950" spc="40" dirty="0">
                <a:solidFill>
                  <a:srgbClr val="231F20"/>
                </a:solidFill>
                <a:latin typeface="Arial"/>
                <a:cs typeface="Arial"/>
              </a:rPr>
              <a:t>is </a:t>
            </a:r>
            <a:r>
              <a:rPr sz="1950" spc="95" dirty="0">
                <a:solidFill>
                  <a:srgbClr val="231F20"/>
                </a:solidFill>
                <a:latin typeface="Arial"/>
                <a:cs typeface="Arial"/>
              </a:rPr>
              <a:t>enabled </a:t>
            </a:r>
            <a:r>
              <a:rPr sz="1950" spc="145" dirty="0">
                <a:solidFill>
                  <a:srgbClr val="FF0000"/>
                </a:solidFill>
                <a:latin typeface="Arial"/>
                <a:cs typeface="Arial"/>
              </a:rPr>
              <a:t>infinitely </a:t>
            </a:r>
            <a:r>
              <a:rPr sz="1950" spc="170" dirty="0">
                <a:solidFill>
                  <a:srgbClr val="FF0000"/>
                </a:solidFill>
                <a:latin typeface="Arial"/>
                <a:cs typeface="Arial"/>
              </a:rPr>
              <a:t>often</a:t>
            </a:r>
            <a:r>
              <a:rPr sz="1950" spc="170" dirty="0">
                <a:solidFill>
                  <a:srgbClr val="231F20"/>
                </a:solidFill>
                <a:latin typeface="Arial"/>
                <a:cs typeface="Arial"/>
              </a:rPr>
              <a:t>,</a:t>
            </a:r>
            <a:r>
              <a:rPr sz="1950" spc="720" dirty="0">
                <a:solidFill>
                  <a:srgbClr val="231F20"/>
                </a:solidFill>
                <a:latin typeface="Arial"/>
                <a:cs typeface="Arial"/>
              </a:rPr>
              <a:t> </a:t>
            </a:r>
            <a:r>
              <a:rPr sz="1950" spc="165" dirty="0">
                <a:solidFill>
                  <a:srgbClr val="231F20"/>
                </a:solidFill>
                <a:latin typeface="Arial"/>
                <a:cs typeface="Arial"/>
              </a:rPr>
              <a:t>then</a:t>
            </a:r>
            <a:endParaRPr sz="1950">
              <a:latin typeface="Arial"/>
              <a:cs typeface="Arial"/>
            </a:endParaRPr>
          </a:p>
          <a:p>
            <a:pPr marL="300990">
              <a:lnSpc>
                <a:spcPct val="100000"/>
              </a:lnSpc>
              <a:spcBef>
                <a:spcPts val="465"/>
              </a:spcBef>
            </a:pPr>
            <a:r>
              <a:rPr sz="2050" spc="55" dirty="0">
                <a:solidFill>
                  <a:srgbClr val="0000FF"/>
                </a:solidFill>
                <a:latin typeface="SimSun"/>
                <a:cs typeface="SimSun"/>
              </a:rPr>
              <a:t>oc </a:t>
            </a:r>
            <a:r>
              <a:rPr sz="1950" spc="145" dirty="0">
                <a:solidFill>
                  <a:srgbClr val="231F20"/>
                </a:solidFill>
                <a:latin typeface="Arial"/>
                <a:cs typeface="Arial"/>
              </a:rPr>
              <a:t>will </a:t>
            </a:r>
            <a:r>
              <a:rPr sz="1950" spc="155" dirty="0">
                <a:solidFill>
                  <a:srgbClr val="231F20"/>
                </a:solidFill>
                <a:latin typeface="Arial"/>
                <a:cs typeface="Arial"/>
              </a:rPr>
              <a:t>occur </a:t>
            </a:r>
            <a:r>
              <a:rPr sz="1950" spc="145" dirty="0">
                <a:solidFill>
                  <a:srgbClr val="FF0000"/>
                </a:solidFill>
                <a:latin typeface="Arial"/>
                <a:cs typeface="Arial"/>
              </a:rPr>
              <a:t>infinitely</a:t>
            </a:r>
            <a:r>
              <a:rPr sz="1950" spc="265" dirty="0">
                <a:solidFill>
                  <a:srgbClr val="FF0000"/>
                </a:solidFill>
                <a:latin typeface="Arial"/>
                <a:cs typeface="Arial"/>
              </a:rPr>
              <a:t> </a:t>
            </a:r>
            <a:r>
              <a:rPr sz="1950" spc="175" dirty="0">
                <a:solidFill>
                  <a:srgbClr val="FF0000"/>
                </a:solidFill>
                <a:latin typeface="Arial"/>
                <a:cs typeface="Arial"/>
              </a:rPr>
              <a:t>often</a:t>
            </a:r>
            <a:endParaRPr sz="1950">
              <a:latin typeface="Arial"/>
              <a:cs typeface="Arial"/>
            </a:endParaRPr>
          </a:p>
          <a:p>
            <a:pPr marL="741680" marR="1215390" lvl="1" indent="-288290">
              <a:lnSpc>
                <a:spcPct val="125000"/>
              </a:lnSpc>
              <a:spcBef>
                <a:spcPts val="390"/>
              </a:spcBef>
              <a:buClr>
                <a:srgbClr val="231F20"/>
              </a:buClr>
              <a:buSzPct val="105128"/>
              <a:buFont typeface="Lucida Sans Unicode"/>
              <a:buChar char="◦"/>
              <a:tabLst>
                <a:tab pos="742315" algn="l"/>
              </a:tabLst>
            </a:pPr>
            <a:r>
              <a:rPr sz="1950" spc="175" dirty="0">
                <a:solidFill>
                  <a:srgbClr val="0000FF"/>
                </a:solidFill>
                <a:latin typeface="Arial"/>
                <a:cs typeface="Arial"/>
              </a:rPr>
              <a:t>Strong </a:t>
            </a:r>
            <a:r>
              <a:rPr sz="1950" spc="90" dirty="0">
                <a:solidFill>
                  <a:srgbClr val="0000FF"/>
                </a:solidFill>
                <a:latin typeface="Arial"/>
                <a:cs typeface="Arial"/>
              </a:rPr>
              <a:t>fairness</a:t>
            </a:r>
            <a:r>
              <a:rPr sz="1950" spc="90" dirty="0">
                <a:solidFill>
                  <a:srgbClr val="231F20"/>
                </a:solidFill>
                <a:latin typeface="Arial"/>
                <a:cs typeface="Arial"/>
              </a:rPr>
              <a:t>, </a:t>
            </a:r>
            <a:r>
              <a:rPr sz="1950" spc="175" dirty="0">
                <a:solidFill>
                  <a:srgbClr val="231F20"/>
                </a:solidFill>
                <a:latin typeface="Arial"/>
                <a:cs typeface="Arial"/>
              </a:rPr>
              <a:t>often </a:t>
            </a:r>
            <a:r>
              <a:rPr sz="1950" spc="60" dirty="0">
                <a:solidFill>
                  <a:srgbClr val="231F20"/>
                </a:solidFill>
                <a:latin typeface="Arial"/>
                <a:cs typeface="Arial"/>
              </a:rPr>
              <a:t>necessary </a:t>
            </a:r>
            <a:r>
              <a:rPr sz="1950" spc="155" dirty="0">
                <a:solidFill>
                  <a:srgbClr val="231F20"/>
                </a:solidFill>
                <a:latin typeface="Arial"/>
                <a:cs typeface="Arial"/>
              </a:rPr>
              <a:t>for </a:t>
            </a:r>
            <a:r>
              <a:rPr sz="1950" spc="114" dirty="0">
                <a:solidFill>
                  <a:srgbClr val="231F20"/>
                </a:solidFill>
                <a:latin typeface="Arial"/>
                <a:cs typeface="Arial"/>
              </a:rPr>
              <a:t>synchronous  </a:t>
            </a:r>
            <a:r>
              <a:rPr sz="1950" spc="160" dirty="0">
                <a:solidFill>
                  <a:srgbClr val="231F20"/>
                </a:solidFill>
                <a:latin typeface="Arial"/>
                <a:cs typeface="Arial"/>
              </a:rPr>
              <a:t>interaction</a:t>
            </a:r>
            <a:endParaRPr sz="1950">
              <a:latin typeface="Arial"/>
              <a:cs typeface="Arial"/>
            </a:endParaRPr>
          </a:p>
          <a:p>
            <a:pPr marL="300990" marR="219710" indent="-288290">
              <a:lnSpc>
                <a:spcPct val="123000"/>
              </a:lnSpc>
              <a:spcBef>
                <a:spcPts val="330"/>
              </a:spcBef>
              <a:buClr>
                <a:srgbClr val="231F20"/>
              </a:buClr>
              <a:buFont typeface="Lucida Sans Unicode"/>
              <a:buChar char="•"/>
              <a:tabLst>
                <a:tab pos="301625" algn="l"/>
                <a:tab pos="2456815" algn="l"/>
              </a:tabLst>
            </a:pPr>
            <a:r>
              <a:rPr sz="2050" spc="55" dirty="0">
                <a:solidFill>
                  <a:srgbClr val="0000FF"/>
                </a:solidFill>
                <a:latin typeface="SimSun"/>
                <a:cs typeface="SimSun"/>
              </a:rPr>
              <a:t>G(en</a:t>
            </a:r>
            <a:r>
              <a:rPr sz="2050" spc="640" dirty="0">
                <a:solidFill>
                  <a:srgbClr val="0000FF"/>
                </a:solidFill>
                <a:latin typeface="SimSun"/>
                <a:cs typeface="SimSun"/>
              </a:rPr>
              <a:t> </a:t>
            </a:r>
            <a:r>
              <a:rPr sz="2050" spc="55" dirty="0">
                <a:solidFill>
                  <a:srgbClr val="0000FF"/>
                </a:solidFill>
                <a:latin typeface="SimSun"/>
                <a:cs typeface="SimSun"/>
              </a:rPr>
              <a:t>=&gt;</a:t>
            </a:r>
            <a:r>
              <a:rPr sz="2050" spc="640" dirty="0">
                <a:solidFill>
                  <a:srgbClr val="0000FF"/>
                </a:solidFill>
                <a:latin typeface="SimSun"/>
                <a:cs typeface="SimSun"/>
              </a:rPr>
              <a:t> </a:t>
            </a:r>
            <a:r>
              <a:rPr sz="2050" spc="65" dirty="0">
                <a:solidFill>
                  <a:srgbClr val="0000FF"/>
                </a:solidFill>
                <a:latin typeface="SimSun"/>
                <a:cs typeface="SimSun"/>
              </a:rPr>
              <a:t>F(oc))</a:t>
            </a:r>
            <a:r>
              <a:rPr sz="1950" spc="65" dirty="0">
                <a:solidFill>
                  <a:srgbClr val="231F20"/>
                </a:solidFill>
                <a:latin typeface="Arial"/>
                <a:cs typeface="Arial"/>
              </a:rPr>
              <a:t>:	</a:t>
            </a:r>
            <a:r>
              <a:rPr sz="1950" spc="135" dirty="0">
                <a:solidFill>
                  <a:srgbClr val="231F20"/>
                </a:solidFill>
                <a:latin typeface="Arial"/>
                <a:cs typeface="Arial"/>
              </a:rPr>
              <a:t>everytime </a:t>
            </a:r>
            <a:r>
              <a:rPr sz="2050" spc="55" dirty="0">
                <a:solidFill>
                  <a:srgbClr val="0000FF"/>
                </a:solidFill>
                <a:latin typeface="SimSun"/>
                <a:cs typeface="SimSun"/>
              </a:rPr>
              <a:t>en </a:t>
            </a:r>
            <a:r>
              <a:rPr sz="1950" spc="40" dirty="0">
                <a:solidFill>
                  <a:srgbClr val="231F20"/>
                </a:solidFill>
                <a:latin typeface="Arial"/>
                <a:cs typeface="Arial"/>
              </a:rPr>
              <a:t>is </a:t>
            </a:r>
            <a:r>
              <a:rPr sz="1950" spc="165" dirty="0">
                <a:solidFill>
                  <a:srgbClr val="231F20"/>
                </a:solidFill>
                <a:latin typeface="Arial"/>
                <a:cs typeface="Arial"/>
              </a:rPr>
              <a:t>true, </a:t>
            </a:r>
            <a:r>
              <a:rPr sz="1950" spc="125" dirty="0">
                <a:solidFill>
                  <a:srgbClr val="231F20"/>
                </a:solidFill>
                <a:latin typeface="Arial"/>
                <a:cs typeface="Arial"/>
              </a:rPr>
              <a:t>eventually </a:t>
            </a:r>
            <a:r>
              <a:rPr sz="2050" spc="55" dirty="0">
                <a:solidFill>
                  <a:srgbClr val="0000FF"/>
                </a:solidFill>
                <a:latin typeface="SimSun"/>
                <a:cs typeface="SimSun"/>
              </a:rPr>
              <a:t>oc</a:t>
            </a:r>
            <a:r>
              <a:rPr sz="2050" spc="175" dirty="0">
                <a:solidFill>
                  <a:srgbClr val="0000FF"/>
                </a:solidFill>
                <a:latin typeface="SimSun"/>
                <a:cs typeface="SimSun"/>
              </a:rPr>
              <a:t> </a:t>
            </a:r>
            <a:r>
              <a:rPr sz="1950" spc="145" dirty="0">
                <a:solidFill>
                  <a:srgbClr val="231F20"/>
                </a:solidFill>
                <a:latin typeface="Arial"/>
                <a:cs typeface="Arial"/>
              </a:rPr>
              <a:t>will</a:t>
            </a:r>
            <a:r>
              <a:rPr sz="1950" spc="275" dirty="0">
                <a:solidFill>
                  <a:srgbClr val="231F20"/>
                </a:solidFill>
                <a:latin typeface="Arial"/>
                <a:cs typeface="Arial"/>
              </a:rPr>
              <a:t> </a:t>
            </a:r>
            <a:r>
              <a:rPr sz="1950" spc="80" dirty="0">
                <a:solidFill>
                  <a:srgbClr val="231F20"/>
                </a:solidFill>
                <a:latin typeface="Arial"/>
                <a:cs typeface="Arial"/>
              </a:rPr>
              <a:t>also </a:t>
            </a:r>
            <a:r>
              <a:rPr sz="1950" spc="75" dirty="0">
                <a:solidFill>
                  <a:srgbClr val="231F20"/>
                </a:solidFill>
                <a:latin typeface="Arial"/>
                <a:cs typeface="Arial"/>
              </a:rPr>
              <a:t> </a:t>
            </a:r>
            <a:r>
              <a:rPr sz="1950" spc="114" dirty="0">
                <a:solidFill>
                  <a:srgbClr val="231F20"/>
                </a:solidFill>
                <a:latin typeface="Arial"/>
                <a:cs typeface="Arial"/>
              </a:rPr>
              <a:t>be </a:t>
            </a:r>
            <a:r>
              <a:rPr sz="1950" spc="165" dirty="0">
                <a:solidFill>
                  <a:srgbClr val="231F20"/>
                </a:solidFill>
                <a:latin typeface="Arial"/>
                <a:cs typeface="Arial"/>
              </a:rPr>
              <a:t>true; </a:t>
            </a:r>
            <a:r>
              <a:rPr sz="1950" spc="145" dirty="0">
                <a:solidFill>
                  <a:srgbClr val="231F20"/>
                </a:solidFill>
                <a:latin typeface="Arial"/>
                <a:cs typeface="Arial"/>
              </a:rPr>
              <a:t>this </a:t>
            </a:r>
            <a:r>
              <a:rPr sz="1950" spc="40" dirty="0">
                <a:solidFill>
                  <a:srgbClr val="231F20"/>
                </a:solidFill>
                <a:latin typeface="Arial"/>
                <a:cs typeface="Arial"/>
              </a:rPr>
              <a:t>is </a:t>
            </a:r>
            <a:r>
              <a:rPr sz="1950" spc="85" dirty="0">
                <a:solidFill>
                  <a:srgbClr val="231F20"/>
                </a:solidFill>
                <a:latin typeface="Arial"/>
                <a:cs typeface="Arial"/>
              </a:rPr>
              <a:t>a response </a:t>
            </a:r>
            <a:r>
              <a:rPr sz="1950" spc="480" dirty="0">
                <a:solidFill>
                  <a:srgbClr val="231F20"/>
                </a:solidFill>
                <a:latin typeface="Arial"/>
                <a:cs typeface="Arial"/>
              </a:rPr>
              <a:t> </a:t>
            </a:r>
            <a:r>
              <a:rPr sz="1950" spc="160" dirty="0">
                <a:solidFill>
                  <a:srgbClr val="231F20"/>
                </a:solidFill>
                <a:latin typeface="Arial"/>
                <a:cs typeface="Arial"/>
              </a:rPr>
              <a:t>formula</a:t>
            </a:r>
            <a:endParaRPr sz="1950">
              <a:latin typeface="Arial"/>
              <a:cs typeface="Arial"/>
            </a:endParaRPr>
          </a:p>
          <a:p>
            <a:pPr marL="300990" marR="5080" indent="-288290">
              <a:lnSpc>
                <a:spcPct val="118900"/>
              </a:lnSpc>
              <a:spcBef>
                <a:spcPts val="434"/>
              </a:spcBef>
              <a:buClr>
                <a:srgbClr val="231F20"/>
              </a:buClr>
              <a:buFont typeface="Lucida Sans Unicode"/>
              <a:buChar char="•"/>
              <a:tabLst>
                <a:tab pos="301625" algn="l"/>
                <a:tab pos="2595245" algn="l"/>
              </a:tabLst>
            </a:pPr>
            <a:r>
              <a:rPr sz="2050" spc="55" dirty="0">
                <a:solidFill>
                  <a:srgbClr val="0000FF"/>
                </a:solidFill>
                <a:latin typeface="SimSun"/>
                <a:cs typeface="SimSun"/>
              </a:rPr>
              <a:t>init</a:t>
            </a:r>
            <a:r>
              <a:rPr sz="2050" spc="640" dirty="0">
                <a:solidFill>
                  <a:srgbClr val="0000FF"/>
                </a:solidFill>
                <a:latin typeface="SimSun"/>
                <a:cs typeface="SimSun"/>
              </a:rPr>
              <a:t> </a:t>
            </a:r>
            <a:r>
              <a:rPr sz="2050" spc="55" dirty="0">
                <a:solidFill>
                  <a:srgbClr val="0000FF"/>
                </a:solidFill>
                <a:latin typeface="SimSun"/>
                <a:cs typeface="SimSun"/>
              </a:rPr>
              <a:t>=&gt;</a:t>
            </a:r>
            <a:r>
              <a:rPr sz="2050" spc="640" dirty="0">
                <a:solidFill>
                  <a:srgbClr val="0000FF"/>
                </a:solidFill>
                <a:latin typeface="SimSun"/>
                <a:cs typeface="SimSun"/>
              </a:rPr>
              <a:t> </a:t>
            </a:r>
            <a:r>
              <a:rPr sz="2050" spc="65" dirty="0">
                <a:solidFill>
                  <a:srgbClr val="0000FF"/>
                </a:solidFill>
                <a:latin typeface="SimSun"/>
                <a:cs typeface="SimSun"/>
              </a:rPr>
              <a:t>G(expr)</a:t>
            </a:r>
            <a:r>
              <a:rPr sz="1950" spc="65" dirty="0">
                <a:solidFill>
                  <a:srgbClr val="231F20"/>
                </a:solidFill>
                <a:latin typeface="Arial"/>
                <a:cs typeface="Arial"/>
              </a:rPr>
              <a:t>:	</a:t>
            </a:r>
            <a:r>
              <a:rPr sz="2050" spc="55" dirty="0">
                <a:solidFill>
                  <a:srgbClr val="0000FF"/>
                </a:solidFill>
                <a:latin typeface="SimSun"/>
                <a:cs typeface="SimSun"/>
              </a:rPr>
              <a:t>expr </a:t>
            </a:r>
            <a:r>
              <a:rPr sz="1950" spc="40" dirty="0">
                <a:solidFill>
                  <a:srgbClr val="231F20"/>
                </a:solidFill>
                <a:latin typeface="Arial"/>
                <a:cs typeface="Arial"/>
              </a:rPr>
              <a:t>is </a:t>
            </a:r>
            <a:r>
              <a:rPr sz="1950" spc="80" dirty="0">
                <a:solidFill>
                  <a:srgbClr val="231F20"/>
                </a:solidFill>
                <a:latin typeface="Arial"/>
                <a:cs typeface="Arial"/>
              </a:rPr>
              <a:t>always </a:t>
            </a:r>
            <a:r>
              <a:rPr sz="1950" spc="170" dirty="0">
                <a:solidFill>
                  <a:srgbClr val="231F20"/>
                </a:solidFill>
                <a:latin typeface="Arial"/>
                <a:cs typeface="Arial"/>
              </a:rPr>
              <a:t>true </a:t>
            </a:r>
            <a:r>
              <a:rPr sz="1950" spc="130" dirty="0">
                <a:solidFill>
                  <a:srgbClr val="231F20"/>
                </a:solidFill>
                <a:latin typeface="Arial"/>
                <a:cs typeface="Arial"/>
              </a:rPr>
              <a:t>in </a:t>
            </a:r>
            <a:r>
              <a:rPr sz="1950" spc="120" dirty="0">
                <a:solidFill>
                  <a:srgbClr val="231F20"/>
                </a:solidFill>
                <a:latin typeface="Arial"/>
                <a:cs typeface="Arial"/>
              </a:rPr>
              <a:t>any </a:t>
            </a:r>
            <a:r>
              <a:rPr sz="1950" spc="150" dirty="0">
                <a:solidFill>
                  <a:srgbClr val="231F20"/>
                </a:solidFill>
                <a:latin typeface="Arial"/>
                <a:cs typeface="Arial"/>
              </a:rPr>
              <a:t>trace </a:t>
            </a:r>
            <a:r>
              <a:rPr sz="1950" spc="175" dirty="0">
                <a:solidFill>
                  <a:srgbClr val="231F20"/>
                </a:solidFill>
                <a:latin typeface="Arial"/>
                <a:cs typeface="Arial"/>
              </a:rPr>
              <a:t> </a:t>
            </a:r>
            <a:r>
              <a:rPr sz="1950" spc="235" dirty="0">
                <a:solidFill>
                  <a:srgbClr val="231F20"/>
                </a:solidFill>
                <a:latin typeface="Arial"/>
                <a:cs typeface="Arial"/>
              </a:rPr>
              <a:t>that</a:t>
            </a:r>
            <a:r>
              <a:rPr sz="1950" spc="275" dirty="0">
                <a:solidFill>
                  <a:srgbClr val="231F20"/>
                </a:solidFill>
                <a:latin typeface="Arial"/>
                <a:cs typeface="Arial"/>
              </a:rPr>
              <a:t> </a:t>
            </a:r>
            <a:r>
              <a:rPr sz="1950" spc="105" dirty="0">
                <a:solidFill>
                  <a:srgbClr val="231F20"/>
                </a:solidFill>
                <a:latin typeface="Arial"/>
                <a:cs typeface="Arial"/>
              </a:rPr>
              <a:t>begins </a:t>
            </a:r>
            <a:r>
              <a:rPr sz="1950" spc="-15" dirty="0">
                <a:solidFill>
                  <a:srgbClr val="231F20"/>
                </a:solidFill>
                <a:latin typeface="Arial"/>
                <a:cs typeface="Arial"/>
              </a:rPr>
              <a:t> </a:t>
            </a:r>
            <a:r>
              <a:rPr sz="1950" spc="215" dirty="0">
                <a:solidFill>
                  <a:srgbClr val="231F20"/>
                </a:solidFill>
                <a:latin typeface="Arial"/>
                <a:cs typeface="Arial"/>
              </a:rPr>
              <a:t>with </a:t>
            </a:r>
            <a:r>
              <a:rPr sz="1950" spc="85" dirty="0">
                <a:solidFill>
                  <a:srgbClr val="231F20"/>
                </a:solidFill>
                <a:latin typeface="Arial"/>
                <a:cs typeface="Arial"/>
              </a:rPr>
              <a:t>a </a:t>
            </a:r>
            <a:r>
              <a:rPr sz="1950" spc="155" dirty="0">
                <a:solidFill>
                  <a:srgbClr val="231F20"/>
                </a:solidFill>
                <a:latin typeface="Arial"/>
                <a:cs typeface="Arial"/>
              </a:rPr>
              <a:t>state </a:t>
            </a:r>
            <a:r>
              <a:rPr sz="1950" spc="125" dirty="0">
                <a:solidFill>
                  <a:srgbClr val="231F20"/>
                </a:solidFill>
                <a:latin typeface="Arial"/>
                <a:cs typeface="Arial"/>
              </a:rPr>
              <a:t>satisfying</a:t>
            </a:r>
            <a:r>
              <a:rPr sz="1950" spc="610" dirty="0">
                <a:solidFill>
                  <a:srgbClr val="231F20"/>
                </a:solidFill>
                <a:latin typeface="Arial"/>
                <a:cs typeface="Arial"/>
              </a:rPr>
              <a:t> </a:t>
            </a:r>
            <a:r>
              <a:rPr sz="2050" spc="55" dirty="0">
                <a:solidFill>
                  <a:srgbClr val="0000FF"/>
                </a:solidFill>
                <a:latin typeface="SimSun"/>
                <a:cs typeface="SimSun"/>
              </a:rPr>
              <a:t>init</a:t>
            </a:r>
            <a:endParaRPr sz="2050">
              <a:latin typeface="SimSun"/>
              <a:cs typeface="SimSun"/>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8060690" cy="6074410"/>
          </a:xfrm>
          <a:prstGeom prst="rect">
            <a:avLst/>
          </a:prstGeom>
        </p:spPr>
        <p:txBody>
          <a:bodyPr vert="horz" wrap="square" lIns="0" tIns="0" rIns="0" bIns="0" rtlCol="0">
            <a:spAutoFit/>
          </a:bodyPr>
          <a:lstStyle/>
          <a:p>
            <a:pPr marL="2459990">
              <a:lnSpc>
                <a:spcPct val="100000"/>
              </a:lnSpc>
            </a:pPr>
            <a:r>
              <a:rPr sz="1950" spc="265" dirty="0">
                <a:solidFill>
                  <a:srgbClr val="231F20"/>
                </a:solidFill>
                <a:latin typeface="Arial"/>
                <a:cs typeface="Arial"/>
              </a:rPr>
              <a:t>Complex </a:t>
            </a:r>
            <a:r>
              <a:rPr sz="1950" spc="480" dirty="0">
                <a:solidFill>
                  <a:srgbClr val="231F20"/>
                </a:solidFill>
                <a:latin typeface="Arial"/>
                <a:cs typeface="Arial"/>
              </a:rPr>
              <a:t>LTL</a:t>
            </a:r>
            <a:r>
              <a:rPr sz="1950" spc="415" dirty="0">
                <a:solidFill>
                  <a:srgbClr val="231F20"/>
                </a:solidFill>
                <a:latin typeface="Arial"/>
                <a:cs typeface="Arial"/>
              </a:rPr>
              <a:t> </a:t>
            </a:r>
            <a:r>
              <a:rPr sz="1950" spc="245" dirty="0">
                <a:solidFill>
                  <a:srgbClr val="231F20"/>
                </a:solidFill>
                <a:latin typeface="Arial"/>
                <a:cs typeface="Arial"/>
              </a:rPr>
              <a:t>Formulas</a:t>
            </a:r>
            <a:endParaRPr sz="1950">
              <a:latin typeface="Arial"/>
              <a:cs typeface="Arial"/>
            </a:endParaRPr>
          </a:p>
          <a:p>
            <a:pPr marL="300990" indent="-288290">
              <a:lnSpc>
                <a:spcPct val="100000"/>
              </a:lnSpc>
              <a:spcBef>
                <a:spcPts val="1614"/>
              </a:spcBef>
              <a:buSzPct val="105128"/>
              <a:buFont typeface="Lucida Sans Unicode"/>
              <a:buChar char="•"/>
              <a:tabLst>
                <a:tab pos="301625" algn="l"/>
              </a:tabLst>
            </a:pPr>
            <a:r>
              <a:rPr sz="1950" spc="135" dirty="0">
                <a:solidFill>
                  <a:srgbClr val="231F20"/>
                </a:solidFill>
                <a:latin typeface="Arial"/>
                <a:cs typeface="Arial"/>
              </a:rPr>
              <a:t>Can </a:t>
            </a:r>
            <a:r>
              <a:rPr sz="1950" spc="95" dirty="0">
                <a:solidFill>
                  <a:srgbClr val="231F20"/>
                </a:solidFill>
                <a:latin typeface="Arial"/>
                <a:cs typeface="Arial"/>
              </a:rPr>
              <a:t>vizualize </a:t>
            </a:r>
            <a:r>
              <a:rPr sz="1950" spc="140" dirty="0">
                <a:solidFill>
                  <a:srgbClr val="231F20"/>
                </a:solidFill>
                <a:latin typeface="Arial"/>
                <a:cs typeface="Arial"/>
              </a:rPr>
              <a:t>complex </a:t>
            </a:r>
            <a:r>
              <a:rPr sz="1950" spc="335" dirty="0">
                <a:solidFill>
                  <a:srgbClr val="231F20"/>
                </a:solidFill>
                <a:latin typeface="Arial"/>
                <a:cs typeface="Arial"/>
              </a:rPr>
              <a:t>LTL </a:t>
            </a:r>
            <a:r>
              <a:rPr sz="1950" spc="135" dirty="0">
                <a:solidFill>
                  <a:srgbClr val="231F20"/>
                </a:solidFill>
                <a:latin typeface="Arial"/>
                <a:cs typeface="Arial"/>
              </a:rPr>
              <a:t>formulas </a:t>
            </a:r>
            <a:r>
              <a:rPr sz="1950" spc="30" dirty="0">
                <a:solidFill>
                  <a:srgbClr val="231F20"/>
                </a:solidFill>
                <a:latin typeface="Arial"/>
                <a:cs typeface="Arial"/>
              </a:rPr>
              <a:t>as </a:t>
            </a:r>
            <a:r>
              <a:rPr sz="1950" spc="35" dirty="0">
                <a:solidFill>
                  <a:srgbClr val="231F20"/>
                </a:solidFill>
                <a:latin typeface="Arial"/>
                <a:cs typeface="Arial"/>
              </a:rPr>
              <a:t>Bu¨chi </a:t>
            </a:r>
            <a:r>
              <a:rPr sz="1950" spc="550" dirty="0">
                <a:solidFill>
                  <a:srgbClr val="231F20"/>
                </a:solidFill>
                <a:latin typeface="Arial"/>
                <a:cs typeface="Arial"/>
              </a:rPr>
              <a:t> </a:t>
            </a:r>
            <a:r>
              <a:rPr sz="1950" spc="195" dirty="0">
                <a:solidFill>
                  <a:srgbClr val="231F20"/>
                </a:solidFill>
                <a:latin typeface="Arial"/>
                <a:cs typeface="Arial"/>
              </a:rPr>
              <a:t>automata</a:t>
            </a:r>
            <a:endParaRPr sz="1950">
              <a:latin typeface="Arial"/>
              <a:cs typeface="Arial"/>
            </a:endParaRPr>
          </a:p>
          <a:p>
            <a:pPr marL="300990">
              <a:lnSpc>
                <a:spcPts val="2435"/>
              </a:lnSpc>
              <a:spcBef>
                <a:spcPts val="620"/>
              </a:spcBef>
            </a:pPr>
            <a:r>
              <a:rPr sz="2050" spc="55" dirty="0">
                <a:solidFill>
                  <a:srgbClr val="0000FF"/>
                </a:solidFill>
                <a:latin typeface="SimSun"/>
                <a:cs typeface="SimSun"/>
              </a:rPr>
              <a:t>ltl2buchi smallbakery response</a:t>
            </a:r>
            <a:r>
              <a:rPr sz="2050" spc="-20" dirty="0">
                <a:solidFill>
                  <a:srgbClr val="0000FF"/>
                </a:solidFill>
                <a:latin typeface="SimSun"/>
                <a:cs typeface="SimSun"/>
              </a:rPr>
              <a:t> </a:t>
            </a:r>
            <a:r>
              <a:rPr sz="2050" spc="55" dirty="0">
                <a:solidFill>
                  <a:srgbClr val="0000FF"/>
                </a:solidFill>
                <a:latin typeface="SimSun"/>
                <a:cs typeface="SimSun"/>
              </a:rPr>
              <a:t>-dotty</a:t>
            </a:r>
            <a:endParaRPr sz="2050">
              <a:latin typeface="SimSun"/>
              <a:cs typeface="SimSun"/>
            </a:endParaRPr>
          </a:p>
          <a:p>
            <a:pPr marL="405765">
              <a:lnSpc>
                <a:spcPts val="2145"/>
              </a:lnSpc>
            </a:pPr>
            <a:r>
              <a:rPr sz="1950" spc="210" dirty="0">
                <a:solidFill>
                  <a:srgbClr val="231F20"/>
                </a:solidFill>
                <a:latin typeface="Arial"/>
                <a:cs typeface="Arial"/>
              </a:rPr>
              <a:t>dotty </a:t>
            </a:r>
            <a:r>
              <a:rPr sz="1950" spc="40" dirty="0">
                <a:solidFill>
                  <a:srgbClr val="231F20"/>
                </a:solidFill>
                <a:latin typeface="Arial"/>
                <a:cs typeface="Arial"/>
              </a:rPr>
              <a:t>is </a:t>
            </a:r>
            <a:r>
              <a:rPr sz="1950" spc="114" dirty="0">
                <a:solidFill>
                  <a:srgbClr val="231F20"/>
                </a:solidFill>
                <a:latin typeface="Arial"/>
                <a:cs typeface="Arial"/>
              </a:rPr>
              <a:t>broken </a:t>
            </a:r>
            <a:r>
              <a:rPr sz="1950" spc="130" dirty="0">
                <a:solidFill>
                  <a:srgbClr val="231F20"/>
                </a:solidFill>
                <a:latin typeface="Arial"/>
                <a:cs typeface="Arial"/>
              </a:rPr>
              <a:t>in </a:t>
            </a:r>
            <a:r>
              <a:rPr sz="1950" spc="190" dirty="0">
                <a:solidFill>
                  <a:srgbClr val="231F20"/>
                </a:solidFill>
                <a:latin typeface="Arial"/>
                <a:cs typeface="Arial"/>
              </a:rPr>
              <a:t>Ubuntu </a:t>
            </a:r>
            <a:r>
              <a:rPr sz="1950" spc="150" dirty="0">
                <a:solidFill>
                  <a:srgbClr val="231F20"/>
                </a:solidFill>
                <a:latin typeface="Arial"/>
                <a:cs typeface="Arial"/>
              </a:rPr>
              <a:t>8.04, </a:t>
            </a:r>
            <a:r>
              <a:rPr sz="1950" spc="65" dirty="0">
                <a:solidFill>
                  <a:srgbClr val="231F20"/>
                </a:solidFill>
                <a:latin typeface="Arial"/>
                <a:cs typeface="Arial"/>
              </a:rPr>
              <a:t>so </a:t>
            </a:r>
            <a:r>
              <a:rPr sz="1950" spc="95" dirty="0">
                <a:solidFill>
                  <a:srgbClr val="231F20"/>
                </a:solidFill>
                <a:latin typeface="Arial"/>
                <a:cs typeface="Arial"/>
              </a:rPr>
              <a:t>we have </a:t>
            </a:r>
            <a:r>
              <a:rPr sz="1950" spc="250" dirty="0">
                <a:solidFill>
                  <a:srgbClr val="231F20"/>
                </a:solidFill>
                <a:latin typeface="Arial"/>
                <a:cs typeface="Arial"/>
              </a:rPr>
              <a:t>to </a:t>
            </a:r>
            <a:r>
              <a:rPr sz="1950" spc="935" dirty="0">
                <a:solidFill>
                  <a:srgbClr val="231F20"/>
                </a:solidFill>
                <a:latin typeface="Arial"/>
                <a:cs typeface="Arial"/>
              </a:rPr>
              <a:t> </a:t>
            </a:r>
            <a:r>
              <a:rPr sz="1950" spc="155" dirty="0">
                <a:solidFill>
                  <a:srgbClr val="231F20"/>
                </a:solidFill>
                <a:latin typeface="Arial"/>
                <a:cs typeface="Arial"/>
              </a:rPr>
              <a:t>do</a:t>
            </a:r>
            <a:endParaRPr sz="1950">
              <a:latin typeface="Arial"/>
              <a:cs typeface="Arial"/>
            </a:endParaRPr>
          </a:p>
          <a:p>
            <a:pPr marL="300990">
              <a:lnSpc>
                <a:spcPts val="2265"/>
              </a:lnSpc>
            </a:pPr>
            <a:r>
              <a:rPr sz="2050" spc="55" dirty="0">
                <a:solidFill>
                  <a:srgbClr val="0000FF"/>
                </a:solidFill>
                <a:latin typeface="SimSun"/>
                <a:cs typeface="SimSun"/>
              </a:rPr>
              <a:t>ltl2buchi smallbakery response | neato -tps | gv</a:t>
            </a:r>
            <a:r>
              <a:rPr sz="2050" spc="2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300990" indent="-288290">
              <a:lnSpc>
                <a:spcPts val="2315"/>
              </a:lnSpc>
              <a:buSzPct val="105128"/>
              <a:buFont typeface="Lucida Sans Unicode"/>
              <a:buChar char="•"/>
              <a:tabLst>
                <a:tab pos="301625" algn="l"/>
              </a:tabLst>
            </a:pPr>
            <a:r>
              <a:rPr sz="1950" spc="185" dirty="0">
                <a:solidFill>
                  <a:srgbClr val="231F20"/>
                </a:solidFill>
                <a:latin typeface="Arial"/>
                <a:cs typeface="Arial"/>
              </a:rPr>
              <a:t>There </a:t>
            </a:r>
            <a:r>
              <a:rPr sz="1950" spc="65" dirty="0">
                <a:solidFill>
                  <a:srgbClr val="231F20"/>
                </a:solidFill>
                <a:latin typeface="Arial"/>
                <a:cs typeface="Arial"/>
              </a:rPr>
              <a:t>are </a:t>
            </a:r>
            <a:r>
              <a:rPr sz="1950" spc="110" dirty="0">
                <a:solidFill>
                  <a:srgbClr val="231F20"/>
                </a:solidFill>
                <a:latin typeface="Arial"/>
                <a:cs typeface="Arial"/>
              </a:rPr>
              <a:t>web </a:t>
            </a:r>
            <a:r>
              <a:rPr sz="1950" spc="75" dirty="0">
                <a:solidFill>
                  <a:srgbClr val="231F20"/>
                </a:solidFill>
                <a:latin typeface="Arial"/>
                <a:cs typeface="Arial"/>
              </a:rPr>
              <a:t>pages </a:t>
            </a:r>
            <a:r>
              <a:rPr sz="1950" spc="135" dirty="0">
                <a:solidFill>
                  <a:srgbClr val="231F20"/>
                </a:solidFill>
                <a:latin typeface="Arial"/>
                <a:cs typeface="Arial"/>
              </a:rPr>
              <a:t>giving </a:t>
            </a:r>
            <a:r>
              <a:rPr sz="1950" spc="335" dirty="0">
                <a:solidFill>
                  <a:srgbClr val="231F20"/>
                </a:solidFill>
                <a:latin typeface="Arial"/>
                <a:cs typeface="Arial"/>
              </a:rPr>
              <a:t>LTL </a:t>
            </a:r>
            <a:r>
              <a:rPr sz="1950" spc="155" dirty="0">
                <a:solidFill>
                  <a:srgbClr val="231F20"/>
                </a:solidFill>
                <a:latin typeface="Arial"/>
                <a:cs typeface="Arial"/>
              </a:rPr>
              <a:t>for </a:t>
            </a:r>
            <a:r>
              <a:rPr sz="1950" spc="195" dirty="0">
                <a:solidFill>
                  <a:srgbClr val="231F20"/>
                </a:solidFill>
                <a:latin typeface="Arial"/>
                <a:cs typeface="Arial"/>
              </a:rPr>
              <a:t>common </a:t>
            </a:r>
            <a:r>
              <a:rPr sz="1950" spc="495" dirty="0">
                <a:solidFill>
                  <a:srgbClr val="231F20"/>
                </a:solidFill>
                <a:latin typeface="Arial"/>
                <a:cs typeface="Arial"/>
              </a:rPr>
              <a:t> </a:t>
            </a:r>
            <a:r>
              <a:rPr sz="1950" spc="130" dirty="0">
                <a:solidFill>
                  <a:srgbClr val="231F20"/>
                </a:solidFill>
                <a:latin typeface="Arial"/>
                <a:cs typeface="Arial"/>
              </a:rPr>
              <a:t>requirements</a:t>
            </a:r>
            <a:endParaRPr sz="1950">
              <a:latin typeface="Arial"/>
              <a:cs typeface="Arial"/>
            </a:endParaRPr>
          </a:p>
          <a:p>
            <a:pPr marL="300990" indent="-288290">
              <a:lnSpc>
                <a:spcPct val="100000"/>
              </a:lnSpc>
              <a:spcBef>
                <a:spcPts val="1000"/>
              </a:spcBef>
              <a:buSzPct val="105128"/>
              <a:buFont typeface="Lucida Sans Unicode"/>
              <a:buChar char="•"/>
              <a:tabLst>
                <a:tab pos="301625" algn="l"/>
              </a:tabLst>
            </a:pPr>
            <a:r>
              <a:rPr sz="1950" spc="215" dirty="0">
                <a:solidFill>
                  <a:srgbClr val="231F20"/>
                </a:solidFill>
                <a:latin typeface="Arial"/>
                <a:cs typeface="Arial"/>
              </a:rPr>
              <a:t>Other </a:t>
            </a:r>
            <a:r>
              <a:rPr sz="1950" spc="150" dirty="0">
                <a:solidFill>
                  <a:srgbClr val="231F20"/>
                </a:solidFill>
                <a:latin typeface="Arial"/>
                <a:cs typeface="Arial"/>
              </a:rPr>
              <a:t>property</a:t>
            </a:r>
            <a:r>
              <a:rPr sz="1950" spc="335" dirty="0">
                <a:solidFill>
                  <a:srgbClr val="231F20"/>
                </a:solidFill>
                <a:latin typeface="Arial"/>
                <a:cs typeface="Arial"/>
              </a:rPr>
              <a:t> </a:t>
            </a:r>
            <a:r>
              <a:rPr sz="1950" spc="95" dirty="0">
                <a:solidFill>
                  <a:srgbClr val="231F20"/>
                </a:solidFill>
                <a:latin typeface="Arial"/>
                <a:cs typeface="Arial"/>
              </a:rPr>
              <a:t>languages</a:t>
            </a:r>
            <a:endParaRPr sz="1950">
              <a:latin typeface="Arial"/>
              <a:cs typeface="Arial"/>
            </a:endParaRPr>
          </a:p>
          <a:p>
            <a:pPr marL="741680" lvl="1" indent="-288290">
              <a:lnSpc>
                <a:spcPct val="100000"/>
              </a:lnSpc>
              <a:spcBef>
                <a:spcPts val="994"/>
              </a:spcBef>
              <a:buClr>
                <a:srgbClr val="231F20"/>
              </a:buClr>
              <a:buSzPct val="105128"/>
              <a:buFont typeface="Lucida Sans Unicode"/>
              <a:buChar char="◦"/>
              <a:tabLst>
                <a:tab pos="742315" algn="l"/>
              </a:tabLst>
            </a:pPr>
            <a:r>
              <a:rPr sz="1950" spc="300" dirty="0">
                <a:solidFill>
                  <a:srgbClr val="FF0000"/>
                </a:solidFill>
                <a:latin typeface="Arial"/>
                <a:cs typeface="Arial"/>
              </a:rPr>
              <a:t>CTL</a:t>
            </a:r>
            <a:r>
              <a:rPr sz="1950" spc="300" dirty="0">
                <a:solidFill>
                  <a:srgbClr val="231F20"/>
                </a:solidFill>
                <a:latin typeface="Arial"/>
                <a:cs typeface="Arial"/>
              </a:rPr>
              <a:t>: </a:t>
            </a:r>
            <a:r>
              <a:rPr sz="1950" spc="190" dirty="0">
                <a:solidFill>
                  <a:srgbClr val="0000FF"/>
                </a:solidFill>
                <a:latin typeface="Arial"/>
                <a:cs typeface="Arial"/>
              </a:rPr>
              <a:t>computation </a:t>
            </a:r>
            <a:r>
              <a:rPr sz="1950" spc="135" dirty="0">
                <a:solidFill>
                  <a:srgbClr val="0000FF"/>
                </a:solidFill>
                <a:latin typeface="Arial"/>
                <a:cs typeface="Arial"/>
              </a:rPr>
              <a:t>tree </a:t>
            </a:r>
            <a:r>
              <a:rPr sz="1950" spc="130" dirty="0">
                <a:solidFill>
                  <a:srgbClr val="0000FF"/>
                </a:solidFill>
                <a:latin typeface="Arial"/>
                <a:cs typeface="Arial"/>
              </a:rPr>
              <a:t>logic </a:t>
            </a:r>
            <a:r>
              <a:rPr sz="1950" spc="40" dirty="0">
                <a:solidFill>
                  <a:srgbClr val="231F20"/>
                </a:solidFill>
                <a:latin typeface="Arial"/>
                <a:cs typeface="Arial"/>
              </a:rPr>
              <a:t>is </a:t>
            </a:r>
            <a:r>
              <a:rPr sz="1950" spc="85" dirty="0">
                <a:solidFill>
                  <a:srgbClr val="231F20"/>
                </a:solidFill>
                <a:latin typeface="Arial"/>
                <a:cs typeface="Arial"/>
              </a:rPr>
              <a:t>a </a:t>
            </a:r>
            <a:r>
              <a:rPr sz="1950" spc="130" dirty="0">
                <a:solidFill>
                  <a:srgbClr val="FF0000"/>
                </a:solidFill>
                <a:latin typeface="Arial"/>
                <a:cs typeface="Arial"/>
              </a:rPr>
              <a:t>branching </a:t>
            </a:r>
            <a:r>
              <a:rPr sz="1950" spc="195" dirty="0">
                <a:solidFill>
                  <a:srgbClr val="FF0000"/>
                </a:solidFill>
                <a:latin typeface="Arial"/>
                <a:cs typeface="Arial"/>
              </a:rPr>
              <a:t>time </a:t>
            </a:r>
            <a:r>
              <a:rPr sz="1950" spc="535" dirty="0">
                <a:solidFill>
                  <a:srgbClr val="FF0000"/>
                </a:solidFill>
                <a:latin typeface="Arial"/>
                <a:cs typeface="Arial"/>
              </a:rPr>
              <a:t> </a:t>
            </a:r>
            <a:r>
              <a:rPr sz="1950" spc="130" dirty="0">
                <a:solidFill>
                  <a:srgbClr val="231F20"/>
                </a:solidFill>
                <a:latin typeface="Arial"/>
                <a:cs typeface="Arial"/>
              </a:rPr>
              <a:t>logic</a:t>
            </a:r>
            <a:endParaRPr sz="1950">
              <a:latin typeface="Arial"/>
              <a:cs typeface="Arial"/>
            </a:endParaRPr>
          </a:p>
          <a:p>
            <a:pPr marL="768350">
              <a:lnSpc>
                <a:spcPct val="100000"/>
              </a:lnSpc>
              <a:spcBef>
                <a:spcPts val="690"/>
              </a:spcBef>
              <a:tabLst>
                <a:tab pos="1056640" algn="l"/>
              </a:tabLst>
            </a:pPr>
            <a:r>
              <a:rPr sz="2050" i="1" spc="-620" dirty="0">
                <a:solidFill>
                  <a:srgbClr val="231F20"/>
                </a:solidFill>
                <a:latin typeface="Meiryo"/>
                <a:cs typeface="Meiryo"/>
              </a:rPr>
              <a:t>⋆	</a:t>
            </a:r>
            <a:r>
              <a:rPr sz="1950" spc="335" dirty="0">
                <a:solidFill>
                  <a:srgbClr val="231F20"/>
                </a:solidFill>
                <a:latin typeface="Arial"/>
                <a:cs typeface="Arial"/>
              </a:rPr>
              <a:t>LTL </a:t>
            </a:r>
            <a:r>
              <a:rPr sz="1950" spc="130" dirty="0">
                <a:solidFill>
                  <a:srgbClr val="231F20"/>
                </a:solidFill>
                <a:latin typeface="Arial"/>
                <a:cs typeface="Arial"/>
              </a:rPr>
              <a:t>and </a:t>
            </a:r>
            <a:r>
              <a:rPr sz="1950" spc="355" dirty="0">
                <a:solidFill>
                  <a:srgbClr val="231F20"/>
                </a:solidFill>
                <a:latin typeface="Arial"/>
                <a:cs typeface="Arial"/>
              </a:rPr>
              <a:t>CTL </a:t>
            </a:r>
            <a:r>
              <a:rPr sz="1950" spc="65" dirty="0">
                <a:solidFill>
                  <a:srgbClr val="231F20"/>
                </a:solidFill>
                <a:latin typeface="Arial"/>
                <a:cs typeface="Arial"/>
              </a:rPr>
              <a:t>are</a:t>
            </a:r>
            <a:r>
              <a:rPr sz="1950" spc="245" dirty="0">
                <a:solidFill>
                  <a:srgbClr val="231F20"/>
                </a:solidFill>
                <a:latin typeface="Arial"/>
                <a:cs typeface="Arial"/>
              </a:rPr>
              <a:t> </a:t>
            </a:r>
            <a:r>
              <a:rPr sz="1950" spc="130" dirty="0">
                <a:solidFill>
                  <a:srgbClr val="FF0000"/>
                </a:solidFill>
                <a:latin typeface="Arial"/>
                <a:cs typeface="Arial"/>
              </a:rPr>
              <a:t>incomparable</a:t>
            </a:r>
            <a:endParaRPr sz="1950">
              <a:latin typeface="Arial"/>
              <a:cs typeface="Arial"/>
            </a:endParaRPr>
          </a:p>
          <a:p>
            <a:pPr marL="768350">
              <a:lnSpc>
                <a:spcPct val="100000"/>
              </a:lnSpc>
              <a:spcBef>
                <a:spcPts val="465"/>
              </a:spcBef>
              <a:tabLst>
                <a:tab pos="1056640" algn="l"/>
              </a:tabLst>
            </a:pPr>
            <a:r>
              <a:rPr sz="2050" i="1" spc="-620" dirty="0">
                <a:solidFill>
                  <a:srgbClr val="231F20"/>
                </a:solidFill>
                <a:latin typeface="Meiryo"/>
                <a:cs typeface="Meiryo"/>
              </a:rPr>
              <a:t>⋆	</a:t>
            </a:r>
            <a:r>
              <a:rPr sz="1950" spc="225" dirty="0">
                <a:solidFill>
                  <a:srgbClr val="0000FF"/>
                </a:solidFill>
                <a:latin typeface="Arial"/>
                <a:cs typeface="Arial"/>
              </a:rPr>
              <a:t>SAL </a:t>
            </a:r>
            <a:r>
              <a:rPr sz="1950" spc="114" dirty="0">
                <a:solidFill>
                  <a:srgbClr val="0000FF"/>
                </a:solidFill>
                <a:latin typeface="Arial"/>
                <a:cs typeface="Arial"/>
              </a:rPr>
              <a:t>accepts </a:t>
            </a:r>
            <a:r>
              <a:rPr sz="1950" spc="355" dirty="0">
                <a:solidFill>
                  <a:srgbClr val="0000FF"/>
                </a:solidFill>
                <a:latin typeface="Arial"/>
                <a:cs typeface="Arial"/>
              </a:rPr>
              <a:t>CTL </a:t>
            </a:r>
            <a:r>
              <a:rPr sz="1950" spc="135" dirty="0">
                <a:solidFill>
                  <a:srgbClr val="0000FF"/>
                </a:solidFill>
                <a:latin typeface="Arial"/>
                <a:cs typeface="Arial"/>
              </a:rPr>
              <a:t>syntax </a:t>
            </a:r>
            <a:r>
              <a:rPr sz="1950" spc="155" dirty="0">
                <a:solidFill>
                  <a:srgbClr val="0000FF"/>
                </a:solidFill>
                <a:latin typeface="Arial"/>
                <a:cs typeface="Arial"/>
              </a:rPr>
              <a:t>on </a:t>
            </a:r>
            <a:r>
              <a:rPr sz="1950" spc="175" dirty="0">
                <a:solidFill>
                  <a:srgbClr val="0000FF"/>
                </a:solidFill>
                <a:latin typeface="Arial"/>
                <a:cs typeface="Arial"/>
              </a:rPr>
              <a:t>the </a:t>
            </a:r>
            <a:r>
              <a:rPr sz="1950" spc="195" dirty="0">
                <a:solidFill>
                  <a:srgbClr val="0000FF"/>
                </a:solidFill>
                <a:latin typeface="Arial"/>
                <a:cs typeface="Arial"/>
              </a:rPr>
              <a:t>common</a:t>
            </a:r>
            <a:r>
              <a:rPr sz="1950" spc="810" dirty="0">
                <a:solidFill>
                  <a:srgbClr val="0000FF"/>
                </a:solidFill>
                <a:latin typeface="Arial"/>
                <a:cs typeface="Arial"/>
              </a:rPr>
              <a:t> </a:t>
            </a:r>
            <a:r>
              <a:rPr sz="1950" spc="180" dirty="0">
                <a:solidFill>
                  <a:srgbClr val="0000FF"/>
                </a:solidFill>
                <a:latin typeface="Arial"/>
                <a:cs typeface="Arial"/>
              </a:rPr>
              <a:t>fragment</a:t>
            </a:r>
            <a:endParaRPr sz="1950">
              <a:latin typeface="Arial"/>
              <a:cs typeface="Arial"/>
            </a:endParaRPr>
          </a:p>
          <a:p>
            <a:pPr marL="741680" marR="539750">
              <a:lnSpc>
                <a:spcPct val="125000"/>
              </a:lnSpc>
              <a:spcBef>
                <a:spcPts val="185"/>
              </a:spcBef>
            </a:pPr>
            <a:r>
              <a:rPr sz="1950" spc="195" dirty="0">
                <a:solidFill>
                  <a:srgbClr val="FF0000"/>
                </a:solidFill>
                <a:latin typeface="Arial"/>
                <a:cs typeface="Arial"/>
              </a:rPr>
              <a:t>PSL</a:t>
            </a:r>
            <a:r>
              <a:rPr sz="1950" spc="195" dirty="0">
                <a:solidFill>
                  <a:srgbClr val="231F20"/>
                </a:solidFill>
                <a:latin typeface="Arial"/>
                <a:cs typeface="Arial"/>
              </a:rPr>
              <a:t>: </a:t>
            </a:r>
            <a:r>
              <a:rPr sz="1950" spc="114" dirty="0">
                <a:solidFill>
                  <a:srgbClr val="231F20"/>
                </a:solidFill>
                <a:latin typeface="Arial"/>
                <a:cs typeface="Arial"/>
              </a:rPr>
              <a:t>Accellera </a:t>
            </a:r>
            <a:r>
              <a:rPr sz="1950" spc="175" dirty="0">
                <a:solidFill>
                  <a:srgbClr val="0000FF"/>
                </a:solidFill>
                <a:latin typeface="Arial"/>
                <a:cs typeface="Arial"/>
              </a:rPr>
              <a:t>Property </a:t>
            </a:r>
            <a:r>
              <a:rPr sz="1950" spc="140" dirty="0">
                <a:solidFill>
                  <a:srgbClr val="0000FF"/>
                </a:solidFill>
                <a:latin typeface="Arial"/>
                <a:cs typeface="Arial"/>
              </a:rPr>
              <a:t>Specification Language </a:t>
            </a:r>
            <a:r>
              <a:rPr sz="1950" spc="40" dirty="0">
                <a:solidFill>
                  <a:srgbClr val="231F20"/>
                </a:solidFill>
                <a:latin typeface="Arial"/>
                <a:cs typeface="Arial"/>
              </a:rPr>
              <a:t>is </a:t>
            </a:r>
            <a:r>
              <a:rPr sz="1950" spc="85" dirty="0">
                <a:solidFill>
                  <a:srgbClr val="231F20"/>
                </a:solidFill>
                <a:latin typeface="Arial"/>
                <a:cs typeface="Arial"/>
              </a:rPr>
              <a:t>a  </a:t>
            </a:r>
            <a:r>
              <a:rPr sz="1950" spc="114" dirty="0">
                <a:solidFill>
                  <a:srgbClr val="231F20"/>
                </a:solidFill>
                <a:latin typeface="Arial"/>
                <a:cs typeface="Arial"/>
              </a:rPr>
              <a:t>language </a:t>
            </a:r>
            <a:r>
              <a:rPr sz="1950" spc="105" dirty="0">
                <a:solidFill>
                  <a:srgbClr val="231F20"/>
                </a:solidFill>
                <a:latin typeface="Arial"/>
                <a:cs typeface="Arial"/>
              </a:rPr>
              <a:t>developed by</a:t>
            </a:r>
            <a:r>
              <a:rPr sz="1950" spc="555" dirty="0">
                <a:solidFill>
                  <a:srgbClr val="231F20"/>
                </a:solidFill>
                <a:latin typeface="Arial"/>
                <a:cs typeface="Arial"/>
              </a:rPr>
              <a:t> </a:t>
            </a:r>
            <a:r>
              <a:rPr sz="1950" spc="150" dirty="0">
                <a:solidFill>
                  <a:srgbClr val="231F20"/>
                </a:solidFill>
                <a:latin typeface="Arial"/>
                <a:cs typeface="Arial"/>
              </a:rPr>
              <a:t>industry</a:t>
            </a:r>
            <a:endParaRPr sz="1950">
              <a:latin typeface="Arial"/>
              <a:cs typeface="Arial"/>
            </a:endParaRPr>
          </a:p>
          <a:p>
            <a:pPr marL="300990" indent="-288290">
              <a:lnSpc>
                <a:spcPct val="100000"/>
              </a:lnSpc>
              <a:spcBef>
                <a:spcPts val="994"/>
              </a:spcBef>
              <a:buSzPct val="105128"/>
              <a:buFont typeface="Lucida Sans Unicode"/>
              <a:buChar char="•"/>
              <a:tabLst>
                <a:tab pos="301625" algn="l"/>
              </a:tabLst>
            </a:pPr>
            <a:r>
              <a:rPr sz="1950" spc="155" dirty="0">
                <a:solidFill>
                  <a:srgbClr val="231F20"/>
                </a:solidFill>
                <a:latin typeface="Arial"/>
                <a:cs typeface="Arial"/>
              </a:rPr>
              <a:t>For </a:t>
            </a:r>
            <a:r>
              <a:rPr sz="1950" spc="114" dirty="0">
                <a:solidFill>
                  <a:srgbClr val="231F20"/>
                </a:solidFill>
                <a:latin typeface="Arial"/>
                <a:cs typeface="Arial"/>
              </a:rPr>
              <a:t>safety </a:t>
            </a:r>
            <a:r>
              <a:rPr sz="1950" spc="125" dirty="0">
                <a:solidFill>
                  <a:srgbClr val="231F20"/>
                </a:solidFill>
                <a:latin typeface="Arial"/>
                <a:cs typeface="Arial"/>
              </a:rPr>
              <a:t>properties, </a:t>
            </a:r>
            <a:r>
              <a:rPr sz="1950" spc="145" dirty="0">
                <a:solidFill>
                  <a:srgbClr val="231F20"/>
                </a:solidFill>
                <a:latin typeface="Arial"/>
                <a:cs typeface="Arial"/>
              </a:rPr>
              <a:t>may </a:t>
            </a:r>
            <a:r>
              <a:rPr sz="1950" spc="110" dirty="0">
                <a:solidFill>
                  <a:srgbClr val="231F20"/>
                </a:solidFill>
                <a:latin typeface="Arial"/>
                <a:cs typeface="Arial"/>
              </a:rPr>
              <a:t>prefer </a:t>
            </a:r>
            <a:r>
              <a:rPr sz="1950" spc="85" dirty="0">
                <a:solidFill>
                  <a:srgbClr val="231F20"/>
                </a:solidFill>
                <a:latin typeface="Arial"/>
                <a:cs typeface="Arial"/>
              </a:rPr>
              <a:t>a </a:t>
            </a:r>
            <a:r>
              <a:rPr sz="1950" spc="114" dirty="0">
                <a:solidFill>
                  <a:srgbClr val="0000FF"/>
                </a:solidFill>
                <a:latin typeface="Arial"/>
                <a:cs typeface="Arial"/>
              </a:rPr>
              <a:t>synchronous </a:t>
            </a:r>
            <a:r>
              <a:rPr sz="1950" spc="635" dirty="0">
                <a:solidFill>
                  <a:srgbClr val="0000FF"/>
                </a:solidFill>
                <a:latin typeface="Arial"/>
                <a:cs typeface="Arial"/>
              </a:rPr>
              <a:t> </a:t>
            </a:r>
            <a:r>
              <a:rPr sz="1950" spc="95" dirty="0">
                <a:solidFill>
                  <a:srgbClr val="0000FF"/>
                </a:solidFill>
                <a:latin typeface="Arial"/>
                <a:cs typeface="Arial"/>
              </a:rPr>
              <a:t>observer</a:t>
            </a:r>
            <a:endParaRPr sz="1950">
              <a:latin typeface="Arial"/>
              <a:cs typeface="Arial"/>
            </a:endParaRPr>
          </a:p>
          <a:p>
            <a:pPr marL="741680" marR="5080" lvl="1" indent="-288290">
              <a:lnSpc>
                <a:spcPct val="125000"/>
              </a:lnSpc>
              <a:spcBef>
                <a:spcPts val="409"/>
              </a:spcBef>
              <a:buSzPct val="105128"/>
              <a:buFont typeface="Lucida Sans Unicode"/>
              <a:buChar char="◦"/>
              <a:tabLst>
                <a:tab pos="742315" algn="l"/>
              </a:tabLst>
            </a:pPr>
            <a:r>
              <a:rPr sz="1950" spc="175" dirty="0">
                <a:solidFill>
                  <a:srgbClr val="231F20"/>
                </a:solidFill>
                <a:latin typeface="Arial"/>
                <a:cs typeface="Arial"/>
              </a:rPr>
              <a:t>Module </a:t>
            </a:r>
            <a:r>
              <a:rPr sz="1950" spc="235" dirty="0">
                <a:solidFill>
                  <a:srgbClr val="231F20"/>
                </a:solidFill>
                <a:latin typeface="Arial"/>
                <a:cs typeface="Arial"/>
              </a:rPr>
              <a:t>that </a:t>
            </a:r>
            <a:r>
              <a:rPr sz="1950" spc="70" dirty="0">
                <a:solidFill>
                  <a:srgbClr val="231F20"/>
                </a:solidFill>
                <a:latin typeface="Arial"/>
                <a:cs typeface="Arial"/>
              </a:rPr>
              <a:t>observes </a:t>
            </a:r>
            <a:r>
              <a:rPr sz="1950" spc="175" dirty="0">
                <a:solidFill>
                  <a:srgbClr val="231F20"/>
                </a:solidFill>
                <a:latin typeface="Arial"/>
                <a:cs typeface="Arial"/>
              </a:rPr>
              <a:t>the </a:t>
            </a:r>
            <a:r>
              <a:rPr sz="1950" spc="125" dirty="0">
                <a:solidFill>
                  <a:srgbClr val="231F20"/>
                </a:solidFill>
                <a:latin typeface="Arial"/>
                <a:cs typeface="Arial"/>
              </a:rPr>
              <a:t>system, </a:t>
            </a:r>
            <a:r>
              <a:rPr sz="1950" spc="75" dirty="0">
                <a:solidFill>
                  <a:srgbClr val="231F20"/>
                </a:solidFill>
                <a:latin typeface="Arial"/>
                <a:cs typeface="Arial"/>
              </a:rPr>
              <a:t>sets </a:t>
            </a:r>
            <a:r>
              <a:rPr sz="1950" spc="120" dirty="0">
                <a:solidFill>
                  <a:srgbClr val="FF0000"/>
                </a:solidFill>
                <a:latin typeface="Arial"/>
                <a:cs typeface="Arial"/>
              </a:rPr>
              <a:t>error </a:t>
            </a:r>
            <a:r>
              <a:rPr sz="1950" spc="140" dirty="0">
                <a:solidFill>
                  <a:srgbClr val="231F20"/>
                </a:solidFill>
                <a:latin typeface="Arial"/>
                <a:cs typeface="Arial"/>
              </a:rPr>
              <a:t>flag when </a:t>
            </a:r>
            <a:r>
              <a:rPr sz="1950" spc="229" dirty="0">
                <a:solidFill>
                  <a:srgbClr val="231F20"/>
                </a:solidFill>
                <a:latin typeface="Arial"/>
                <a:cs typeface="Arial"/>
              </a:rPr>
              <a:t>it  </a:t>
            </a:r>
            <a:r>
              <a:rPr sz="1950" spc="-10" dirty="0">
                <a:solidFill>
                  <a:srgbClr val="231F20"/>
                </a:solidFill>
                <a:latin typeface="Arial"/>
                <a:cs typeface="Arial"/>
              </a:rPr>
              <a:t>sees </a:t>
            </a:r>
            <a:r>
              <a:rPr sz="1950" spc="85" dirty="0">
                <a:solidFill>
                  <a:srgbClr val="231F20"/>
                </a:solidFill>
                <a:latin typeface="Arial"/>
                <a:cs typeface="Arial"/>
              </a:rPr>
              <a:t>a</a:t>
            </a:r>
            <a:r>
              <a:rPr sz="1950" spc="505" dirty="0">
                <a:solidFill>
                  <a:srgbClr val="231F20"/>
                </a:solidFill>
                <a:latin typeface="Arial"/>
                <a:cs typeface="Arial"/>
              </a:rPr>
              <a:t> </a:t>
            </a:r>
            <a:r>
              <a:rPr sz="1950" spc="150" dirty="0">
                <a:solidFill>
                  <a:srgbClr val="231F20"/>
                </a:solidFill>
                <a:latin typeface="Arial"/>
                <a:cs typeface="Arial"/>
              </a:rPr>
              <a:t>violation</a:t>
            </a:r>
            <a:endParaRPr sz="1950">
              <a:latin typeface="Arial"/>
              <a:cs typeface="Arial"/>
            </a:endParaRPr>
          </a:p>
          <a:p>
            <a:pPr marL="741680" lvl="1" indent="-288290">
              <a:lnSpc>
                <a:spcPct val="100000"/>
              </a:lnSpc>
              <a:spcBef>
                <a:spcPts val="690"/>
              </a:spcBef>
              <a:buSzPct val="105128"/>
              <a:buFont typeface="Lucida Sans Unicode"/>
              <a:buChar char="◦"/>
              <a:tabLst>
                <a:tab pos="742315" algn="l"/>
              </a:tabLst>
            </a:pPr>
            <a:r>
              <a:rPr sz="1950" spc="180" dirty="0">
                <a:solidFill>
                  <a:srgbClr val="231F20"/>
                </a:solidFill>
                <a:latin typeface="Arial"/>
                <a:cs typeface="Arial"/>
              </a:rPr>
              <a:t>Model </a:t>
            </a:r>
            <a:r>
              <a:rPr sz="1950" spc="120" dirty="0">
                <a:solidFill>
                  <a:srgbClr val="231F20"/>
                </a:solidFill>
                <a:latin typeface="Arial"/>
                <a:cs typeface="Arial"/>
              </a:rPr>
              <a:t>check </a:t>
            </a:r>
            <a:r>
              <a:rPr sz="1950" spc="155" dirty="0">
                <a:solidFill>
                  <a:srgbClr val="231F20"/>
                </a:solidFill>
                <a:latin typeface="Arial"/>
                <a:cs typeface="Arial"/>
              </a:rPr>
              <a:t>for </a:t>
            </a:r>
            <a:r>
              <a:rPr sz="2050" spc="55" dirty="0">
                <a:solidFill>
                  <a:srgbClr val="0000FF"/>
                </a:solidFill>
                <a:latin typeface="SimSun"/>
                <a:cs typeface="SimSun"/>
              </a:rPr>
              <a:t>G(NOT</a:t>
            </a:r>
            <a:r>
              <a:rPr sz="2050" spc="385" dirty="0">
                <a:solidFill>
                  <a:srgbClr val="0000FF"/>
                </a:solidFill>
                <a:latin typeface="SimSun"/>
                <a:cs typeface="SimSun"/>
              </a:rPr>
              <a:t> </a:t>
            </a:r>
            <a:r>
              <a:rPr sz="2050" spc="55" dirty="0">
                <a:solidFill>
                  <a:srgbClr val="0000FF"/>
                </a:solidFill>
                <a:latin typeface="SimSun"/>
                <a:cs typeface="SimSun"/>
              </a:rPr>
              <a:t>error)</a:t>
            </a:r>
            <a:endParaRPr sz="2050">
              <a:latin typeface="SimSun"/>
              <a:cs typeface="SimSun"/>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7192" y="1200759"/>
            <a:ext cx="6326505" cy="314960"/>
          </a:xfrm>
          <a:prstGeom prst="rect">
            <a:avLst/>
          </a:prstGeom>
        </p:spPr>
        <p:txBody>
          <a:bodyPr vert="horz" wrap="square" lIns="0" tIns="0" rIns="0" bIns="0" rtlCol="0">
            <a:spAutoFit/>
          </a:bodyPr>
          <a:lstStyle/>
          <a:p>
            <a:pPr marL="12700">
              <a:lnSpc>
                <a:spcPct val="100000"/>
              </a:lnSpc>
            </a:pPr>
            <a:r>
              <a:rPr sz="1950" spc="340" dirty="0">
                <a:solidFill>
                  <a:srgbClr val="231F20"/>
                </a:solidFill>
                <a:latin typeface="Arial"/>
                <a:cs typeface="Arial"/>
              </a:rPr>
              <a:t>From </a:t>
            </a:r>
            <a:r>
              <a:rPr sz="1950" spc="260" dirty="0">
                <a:solidFill>
                  <a:srgbClr val="231F20"/>
                </a:solidFill>
                <a:latin typeface="Arial"/>
                <a:cs typeface="Arial"/>
              </a:rPr>
              <a:t>Symbolic </a:t>
            </a:r>
            <a:r>
              <a:rPr sz="1950" spc="355" dirty="0">
                <a:solidFill>
                  <a:srgbClr val="231F20"/>
                </a:solidFill>
                <a:latin typeface="Arial"/>
                <a:cs typeface="Arial"/>
              </a:rPr>
              <a:t>to </a:t>
            </a:r>
            <a:r>
              <a:rPr sz="1950" spc="280" dirty="0">
                <a:solidFill>
                  <a:srgbClr val="231F20"/>
                </a:solidFill>
                <a:latin typeface="Arial"/>
                <a:cs typeface="Arial"/>
              </a:rPr>
              <a:t>Bounded </a:t>
            </a:r>
            <a:r>
              <a:rPr sz="1950" spc="305" dirty="0">
                <a:solidFill>
                  <a:srgbClr val="231F20"/>
                </a:solidFill>
                <a:latin typeface="Arial"/>
                <a:cs typeface="Arial"/>
              </a:rPr>
              <a:t>Model</a:t>
            </a:r>
            <a:r>
              <a:rPr sz="1950" spc="570"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808705" rIns="0" bIns="0" rtlCol="0">
            <a:spAutoFit/>
          </a:bodyPr>
          <a:lstStyle/>
          <a:p>
            <a:pPr marL="300990" indent="-288290">
              <a:lnSpc>
                <a:spcPct val="100000"/>
              </a:lnSpc>
              <a:buSzPct val="105128"/>
              <a:buFont typeface="Lucida Sans Unicode"/>
              <a:buChar char="•"/>
              <a:tabLst>
                <a:tab pos="301625" algn="l"/>
              </a:tabLst>
            </a:pPr>
            <a:r>
              <a:rPr sz="1950" spc="114" dirty="0">
                <a:solidFill>
                  <a:srgbClr val="231F20"/>
                </a:solidFill>
                <a:latin typeface="Arial"/>
                <a:cs typeface="Arial"/>
              </a:rPr>
              <a:t>Using </a:t>
            </a:r>
            <a:r>
              <a:rPr sz="1950" spc="85" dirty="0">
                <a:solidFill>
                  <a:srgbClr val="231F20"/>
                </a:solidFill>
                <a:latin typeface="Arial"/>
                <a:cs typeface="Arial"/>
              </a:rPr>
              <a:t>a </a:t>
            </a:r>
            <a:r>
              <a:rPr sz="1950" spc="145" dirty="0">
                <a:solidFill>
                  <a:srgbClr val="231F20"/>
                </a:solidFill>
                <a:latin typeface="Arial"/>
                <a:cs typeface="Arial"/>
              </a:rPr>
              <a:t>different </a:t>
            </a:r>
            <a:r>
              <a:rPr sz="1950" spc="114" dirty="0">
                <a:solidFill>
                  <a:srgbClr val="231F20"/>
                </a:solidFill>
                <a:latin typeface="Arial"/>
                <a:cs typeface="Arial"/>
              </a:rPr>
              <a:t>example, </a:t>
            </a:r>
            <a:r>
              <a:rPr spc="55" dirty="0"/>
              <a:t>sal-smc -v 3 om1</a:t>
            </a:r>
            <a:r>
              <a:rPr spc="745" dirty="0"/>
              <a:t> </a:t>
            </a:r>
            <a:r>
              <a:rPr spc="55" dirty="0"/>
              <a:t>validity</a:t>
            </a:r>
            <a:endParaRPr sz="1950">
              <a:latin typeface="Arial"/>
              <a:cs typeface="Arial"/>
            </a:endParaRPr>
          </a:p>
        </p:txBody>
      </p:sp>
      <p:sp>
        <p:nvSpPr>
          <p:cNvPr id="4" name="object 4"/>
          <p:cNvSpPr txBox="1"/>
          <p:nvPr/>
        </p:nvSpPr>
        <p:spPr>
          <a:xfrm>
            <a:off x="896442" y="2167382"/>
            <a:ext cx="8260715" cy="3421379"/>
          </a:xfrm>
          <a:prstGeom prst="rect">
            <a:avLst/>
          </a:prstGeom>
        </p:spPr>
        <p:txBody>
          <a:bodyPr vert="horz" wrap="square" lIns="0" tIns="0" rIns="0" bIns="0" rtlCol="0">
            <a:spAutoFit/>
          </a:bodyPr>
          <a:lstStyle/>
          <a:p>
            <a:pPr marL="741680" indent="-288290">
              <a:lnSpc>
                <a:spcPct val="100000"/>
              </a:lnSpc>
              <a:buSzPct val="105128"/>
              <a:buFont typeface="Lucida Sans Unicode"/>
              <a:buChar char="◦"/>
              <a:tabLst>
                <a:tab pos="742315" algn="l"/>
              </a:tabLst>
            </a:pPr>
            <a:r>
              <a:rPr sz="1950" spc="190" dirty="0">
                <a:solidFill>
                  <a:srgbClr val="231F20"/>
                </a:solidFill>
                <a:latin typeface="Arial"/>
                <a:cs typeface="Arial"/>
              </a:rPr>
              <a:t>Oral </a:t>
            </a:r>
            <a:r>
              <a:rPr sz="1950" spc="70" dirty="0">
                <a:solidFill>
                  <a:srgbClr val="231F20"/>
                </a:solidFill>
                <a:latin typeface="Arial"/>
                <a:cs typeface="Arial"/>
              </a:rPr>
              <a:t>Messages </a:t>
            </a:r>
            <a:r>
              <a:rPr sz="1950" spc="170" dirty="0">
                <a:solidFill>
                  <a:srgbClr val="231F20"/>
                </a:solidFill>
                <a:latin typeface="Arial"/>
                <a:cs typeface="Arial"/>
              </a:rPr>
              <a:t>algorithm </a:t>
            </a:r>
            <a:r>
              <a:rPr sz="1950" spc="215" dirty="0">
                <a:solidFill>
                  <a:srgbClr val="231F20"/>
                </a:solidFill>
                <a:latin typeface="Arial"/>
                <a:cs typeface="Arial"/>
              </a:rPr>
              <a:t>with </a:t>
            </a:r>
            <a:r>
              <a:rPr sz="2050" i="1" spc="-30" dirty="0">
                <a:solidFill>
                  <a:srgbClr val="231F20"/>
                </a:solidFill>
                <a:latin typeface="Meiryo"/>
                <a:cs typeface="Meiryo"/>
              </a:rPr>
              <a:t>n</a:t>
            </a:r>
            <a:r>
              <a:rPr sz="2050" i="1" spc="605" dirty="0">
                <a:solidFill>
                  <a:srgbClr val="231F20"/>
                </a:solidFill>
                <a:latin typeface="Meiryo"/>
                <a:cs typeface="Meiryo"/>
              </a:rPr>
              <a:t> </a:t>
            </a:r>
            <a:r>
              <a:rPr sz="1950" spc="195" dirty="0">
                <a:solidFill>
                  <a:srgbClr val="231F20"/>
                </a:solidFill>
                <a:latin typeface="Arial"/>
                <a:cs typeface="Arial"/>
              </a:rPr>
              <a:t>“relays”</a:t>
            </a:r>
            <a:endParaRPr sz="1950">
              <a:latin typeface="Arial"/>
              <a:cs typeface="Arial"/>
            </a:endParaRPr>
          </a:p>
          <a:p>
            <a:pPr>
              <a:lnSpc>
                <a:spcPct val="100000"/>
              </a:lnSpc>
              <a:spcBef>
                <a:spcPts val="1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65" dirty="0">
                <a:solidFill>
                  <a:srgbClr val="231F20"/>
                </a:solidFill>
                <a:latin typeface="Arial"/>
                <a:cs typeface="Arial"/>
              </a:rPr>
              <a:t>With </a:t>
            </a:r>
            <a:r>
              <a:rPr sz="1950" spc="155" dirty="0">
                <a:solidFill>
                  <a:srgbClr val="231F20"/>
                </a:solidFill>
                <a:latin typeface="Arial"/>
                <a:cs typeface="Arial"/>
              </a:rPr>
              <a:t>3 </a:t>
            </a:r>
            <a:r>
              <a:rPr sz="1950" spc="80" dirty="0">
                <a:solidFill>
                  <a:srgbClr val="231F20"/>
                </a:solidFill>
                <a:latin typeface="Arial"/>
                <a:cs typeface="Arial"/>
              </a:rPr>
              <a:t>relays, </a:t>
            </a:r>
            <a:r>
              <a:rPr sz="1950" spc="150" dirty="0">
                <a:solidFill>
                  <a:srgbClr val="FF0000"/>
                </a:solidFill>
                <a:latin typeface="Arial"/>
                <a:cs typeface="Arial"/>
              </a:rPr>
              <a:t>10,749,517,287 </a:t>
            </a:r>
            <a:r>
              <a:rPr sz="1950" spc="100" dirty="0">
                <a:solidFill>
                  <a:srgbClr val="231F20"/>
                </a:solidFill>
                <a:latin typeface="Arial"/>
                <a:cs typeface="Arial"/>
              </a:rPr>
              <a:t>reachable</a:t>
            </a:r>
            <a:r>
              <a:rPr sz="1950" spc="725" dirty="0">
                <a:solidFill>
                  <a:srgbClr val="231F20"/>
                </a:solidFill>
                <a:latin typeface="Arial"/>
                <a:cs typeface="Arial"/>
              </a:rPr>
              <a:t> </a:t>
            </a:r>
            <a:r>
              <a:rPr sz="1950" spc="125" dirty="0">
                <a:solidFill>
                  <a:srgbClr val="231F20"/>
                </a:solidFill>
                <a:latin typeface="Arial"/>
                <a:cs typeface="Arial"/>
              </a:rPr>
              <a:t>states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65" dirty="0">
                <a:solidFill>
                  <a:srgbClr val="231F20"/>
                </a:solidFill>
                <a:latin typeface="Arial"/>
                <a:cs typeface="Arial"/>
              </a:rPr>
              <a:t>With </a:t>
            </a:r>
            <a:r>
              <a:rPr sz="1950" spc="155" dirty="0">
                <a:solidFill>
                  <a:srgbClr val="231F20"/>
                </a:solidFill>
                <a:latin typeface="Arial"/>
                <a:cs typeface="Arial"/>
              </a:rPr>
              <a:t>4 </a:t>
            </a:r>
            <a:r>
              <a:rPr sz="1950" spc="80" dirty="0">
                <a:solidFill>
                  <a:srgbClr val="231F20"/>
                </a:solidFill>
                <a:latin typeface="Arial"/>
                <a:cs typeface="Arial"/>
              </a:rPr>
              <a:t>relays, </a:t>
            </a:r>
            <a:r>
              <a:rPr sz="1950" spc="150" dirty="0">
                <a:solidFill>
                  <a:srgbClr val="FF0000"/>
                </a:solidFill>
                <a:latin typeface="Arial"/>
                <a:cs typeface="Arial"/>
              </a:rPr>
              <a:t>66,708,834,289,920 </a:t>
            </a:r>
            <a:r>
              <a:rPr sz="1950" spc="100" dirty="0">
                <a:solidFill>
                  <a:srgbClr val="231F20"/>
                </a:solidFill>
                <a:latin typeface="Arial"/>
                <a:cs typeface="Arial"/>
              </a:rPr>
              <a:t>reachable</a:t>
            </a:r>
            <a:r>
              <a:rPr sz="1950" spc="730" dirty="0">
                <a:solidFill>
                  <a:srgbClr val="231F20"/>
                </a:solidFill>
                <a:latin typeface="Arial"/>
                <a:cs typeface="Arial"/>
              </a:rPr>
              <a:t> </a:t>
            </a:r>
            <a:r>
              <a:rPr sz="1950" spc="125" dirty="0">
                <a:solidFill>
                  <a:srgbClr val="231F20"/>
                </a:solidFill>
                <a:latin typeface="Arial"/>
                <a:cs typeface="Arial"/>
              </a:rPr>
              <a:t>states</a:t>
            </a:r>
            <a:endParaRPr sz="1950">
              <a:latin typeface="Arial"/>
              <a:cs typeface="Arial"/>
            </a:endParaRPr>
          </a:p>
          <a:p>
            <a:pPr>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65" dirty="0">
                <a:solidFill>
                  <a:srgbClr val="231F20"/>
                </a:solidFill>
                <a:latin typeface="Arial"/>
                <a:cs typeface="Arial"/>
              </a:rPr>
              <a:t>With </a:t>
            </a:r>
            <a:r>
              <a:rPr sz="1950" spc="155" dirty="0">
                <a:solidFill>
                  <a:srgbClr val="231F20"/>
                </a:solidFill>
                <a:latin typeface="Arial"/>
                <a:cs typeface="Arial"/>
              </a:rPr>
              <a:t>5 </a:t>
            </a:r>
            <a:r>
              <a:rPr sz="1950" spc="80" dirty="0">
                <a:solidFill>
                  <a:srgbClr val="231F20"/>
                </a:solidFill>
                <a:latin typeface="Arial"/>
                <a:cs typeface="Arial"/>
              </a:rPr>
              <a:t>relays, </a:t>
            </a:r>
            <a:r>
              <a:rPr sz="1950" spc="160" dirty="0">
                <a:solidFill>
                  <a:srgbClr val="FF0000"/>
                </a:solidFill>
                <a:latin typeface="Arial"/>
                <a:cs typeface="Arial"/>
              </a:rPr>
              <a:t>run </a:t>
            </a:r>
            <a:r>
              <a:rPr sz="1950" spc="220" dirty="0">
                <a:solidFill>
                  <a:srgbClr val="FF0000"/>
                </a:solidFill>
                <a:latin typeface="Arial"/>
                <a:cs typeface="Arial"/>
              </a:rPr>
              <a:t>out </a:t>
            </a:r>
            <a:r>
              <a:rPr sz="1950" spc="185" dirty="0">
                <a:solidFill>
                  <a:srgbClr val="FF0000"/>
                </a:solidFill>
                <a:latin typeface="Arial"/>
                <a:cs typeface="Arial"/>
              </a:rPr>
              <a:t>of </a:t>
            </a:r>
            <a:r>
              <a:rPr sz="1950" spc="125" dirty="0">
                <a:solidFill>
                  <a:srgbClr val="FF0000"/>
                </a:solidFill>
                <a:latin typeface="Arial"/>
                <a:cs typeface="Arial"/>
              </a:rPr>
              <a:t>patience </a:t>
            </a:r>
            <a:r>
              <a:rPr sz="1950" spc="160" dirty="0">
                <a:solidFill>
                  <a:srgbClr val="231F20"/>
                </a:solidFill>
                <a:latin typeface="Arial"/>
                <a:cs typeface="Arial"/>
              </a:rPr>
              <a:t>waiting </a:t>
            </a:r>
            <a:r>
              <a:rPr sz="1950" spc="155" dirty="0">
                <a:solidFill>
                  <a:srgbClr val="231F20"/>
                </a:solidFill>
                <a:latin typeface="Arial"/>
                <a:cs typeface="Arial"/>
              </a:rPr>
              <a:t>for </a:t>
            </a:r>
            <a:r>
              <a:rPr sz="1950" spc="195" dirty="0">
                <a:solidFill>
                  <a:srgbClr val="231F20"/>
                </a:solidFill>
                <a:latin typeface="Arial"/>
                <a:cs typeface="Arial"/>
              </a:rPr>
              <a:t> </a:t>
            </a:r>
            <a:r>
              <a:rPr sz="1950" spc="135" dirty="0">
                <a:solidFill>
                  <a:srgbClr val="231F20"/>
                </a:solidFill>
                <a:latin typeface="Arial"/>
                <a:cs typeface="Arial"/>
              </a:rPr>
              <a:t>counterexample</a:t>
            </a:r>
            <a:endParaRPr sz="1950">
              <a:latin typeface="Arial"/>
              <a:cs typeface="Arial"/>
            </a:endParaRPr>
          </a:p>
          <a:p>
            <a:pPr marL="300990" marR="1444625" indent="-288290">
              <a:lnSpc>
                <a:spcPct val="125000"/>
              </a:lnSpc>
              <a:spcBef>
                <a:spcPts val="1340"/>
              </a:spcBef>
              <a:buClr>
                <a:srgbClr val="231F20"/>
              </a:buClr>
              <a:buSzPct val="105128"/>
              <a:buFont typeface="Lucida Sans Unicode"/>
              <a:buChar char="•"/>
              <a:tabLst>
                <a:tab pos="301625" algn="l"/>
              </a:tabLst>
            </a:pPr>
            <a:r>
              <a:rPr sz="1950" spc="155" dirty="0">
                <a:solidFill>
                  <a:srgbClr val="FF0000"/>
                </a:solidFill>
                <a:latin typeface="Arial"/>
                <a:cs typeface="Arial"/>
              </a:rPr>
              <a:t>Bounded </a:t>
            </a:r>
            <a:r>
              <a:rPr sz="1950" spc="160" dirty="0">
                <a:solidFill>
                  <a:srgbClr val="231F20"/>
                </a:solidFill>
                <a:latin typeface="Arial"/>
                <a:cs typeface="Arial"/>
              </a:rPr>
              <a:t>model </a:t>
            </a:r>
            <a:r>
              <a:rPr sz="1950" spc="85" dirty="0">
                <a:solidFill>
                  <a:srgbClr val="231F20"/>
                </a:solidFill>
                <a:latin typeface="Arial"/>
                <a:cs typeface="Arial"/>
              </a:rPr>
              <a:t>checkers </a:t>
            </a:r>
            <a:r>
              <a:rPr sz="1950" spc="65" dirty="0">
                <a:solidFill>
                  <a:srgbClr val="231F20"/>
                </a:solidFill>
                <a:latin typeface="Arial"/>
                <a:cs typeface="Arial"/>
              </a:rPr>
              <a:t>are </a:t>
            </a:r>
            <a:r>
              <a:rPr sz="1950" spc="90" dirty="0">
                <a:solidFill>
                  <a:srgbClr val="231F20"/>
                </a:solidFill>
                <a:latin typeface="Arial"/>
                <a:cs typeface="Arial"/>
              </a:rPr>
              <a:t>specialized </a:t>
            </a:r>
            <a:r>
              <a:rPr sz="1950" spc="250" dirty="0">
                <a:solidFill>
                  <a:srgbClr val="231F20"/>
                </a:solidFill>
                <a:latin typeface="Arial"/>
                <a:cs typeface="Arial"/>
              </a:rPr>
              <a:t>to </a:t>
            </a:r>
            <a:r>
              <a:rPr sz="1950" spc="150" dirty="0">
                <a:solidFill>
                  <a:srgbClr val="231F20"/>
                </a:solidFill>
                <a:latin typeface="Arial"/>
                <a:cs typeface="Arial"/>
              </a:rPr>
              <a:t>finding  </a:t>
            </a:r>
            <a:r>
              <a:rPr sz="1950" spc="125" dirty="0">
                <a:solidFill>
                  <a:srgbClr val="231F20"/>
                </a:solidFill>
                <a:latin typeface="Arial"/>
                <a:cs typeface="Arial"/>
              </a:rPr>
              <a:t>counterexamples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45" dirty="0">
                <a:solidFill>
                  <a:srgbClr val="0000FF"/>
                </a:solidFill>
                <a:latin typeface="Arial"/>
                <a:cs typeface="Arial"/>
              </a:rPr>
              <a:t>Sometimes </a:t>
            </a:r>
            <a:r>
              <a:rPr sz="1950" spc="120" dirty="0">
                <a:solidFill>
                  <a:srgbClr val="0000FF"/>
                </a:solidFill>
                <a:latin typeface="Arial"/>
                <a:cs typeface="Arial"/>
              </a:rPr>
              <a:t>can </a:t>
            </a:r>
            <a:r>
              <a:rPr sz="1950" spc="110" dirty="0">
                <a:solidFill>
                  <a:srgbClr val="0000FF"/>
                </a:solidFill>
                <a:latin typeface="Arial"/>
                <a:cs typeface="Arial"/>
              </a:rPr>
              <a:t>handle </a:t>
            </a:r>
            <a:r>
              <a:rPr sz="1950" spc="125" dirty="0">
                <a:solidFill>
                  <a:srgbClr val="0000FF"/>
                </a:solidFill>
                <a:latin typeface="Arial"/>
                <a:cs typeface="Arial"/>
              </a:rPr>
              <a:t>bigger </a:t>
            </a:r>
            <a:r>
              <a:rPr sz="1950" spc="120" dirty="0">
                <a:solidFill>
                  <a:srgbClr val="0000FF"/>
                </a:solidFill>
                <a:latin typeface="Arial"/>
                <a:cs typeface="Arial"/>
              </a:rPr>
              <a:t>problems </a:t>
            </a:r>
            <a:r>
              <a:rPr sz="1950" spc="185" dirty="0">
                <a:solidFill>
                  <a:srgbClr val="0000FF"/>
                </a:solidFill>
                <a:latin typeface="Arial"/>
                <a:cs typeface="Arial"/>
              </a:rPr>
              <a:t>than </a:t>
            </a:r>
            <a:r>
              <a:rPr sz="1950" spc="325" dirty="0">
                <a:solidFill>
                  <a:srgbClr val="0000FF"/>
                </a:solidFill>
                <a:latin typeface="Arial"/>
                <a:cs typeface="Arial"/>
              </a:rPr>
              <a:t> </a:t>
            </a:r>
            <a:r>
              <a:rPr sz="1950" spc="215" dirty="0">
                <a:solidFill>
                  <a:srgbClr val="0000FF"/>
                </a:solidFill>
                <a:latin typeface="Arial"/>
                <a:cs typeface="Arial"/>
              </a:rPr>
              <a:t>SMC</a:t>
            </a:r>
            <a:endParaRPr sz="1950">
              <a:latin typeface="Arial"/>
              <a:cs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06155" y="493469"/>
            <a:ext cx="6447790" cy="297180"/>
          </a:xfrm>
          <a:prstGeom prst="rect">
            <a:avLst/>
          </a:prstGeom>
        </p:spPr>
        <p:txBody>
          <a:bodyPr vert="horz" wrap="square" lIns="0" tIns="0" rIns="0" bIns="0" rtlCol="0">
            <a:spAutoFit/>
          </a:bodyPr>
          <a:lstStyle/>
          <a:p>
            <a:pPr marL="12700">
              <a:lnSpc>
                <a:spcPct val="100000"/>
              </a:lnSpc>
            </a:pPr>
            <a:r>
              <a:rPr sz="1950" spc="195" dirty="0">
                <a:solidFill>
                  <a:srgbClr val="231F20"/>
                </a:solidFill>
                <a:latin typeface="Arial"/>
                <a:cs typeface="Arial"/>
              </a:rPr>
              <a:t>Analysis </a:t>
            </a:r>
            <a:r>
              <a:rPr sz="1950" spc="200" dirty="0">
                <a:solidFill>
                  <a:srgbClr val="231F20"/>
                </a:solidFill>
                <a:latin typeface="Arial"/>
                <a:cs typeface="Arial"/>
              </a:rPr>
              <a:t>by </a:t>
            </a:r>
            <a:r>
              <a:rPr sz="1950" spc="280" dirty="0">
                <a:solidFill>
                  <a:srgbClr val="231F20"/>
                </a:solidFill>
                <a:latin typeface="Arial"/>
                <a:cs typeface="Arial"/>
              </a:rPr>
              <a:t>Bounded </a:t>
            </a:r>
            <a:r>
              <a:rPr sz="1950" spc="305" dirty="0">
                <a:solidFill>
                  <a:srgbClr val="231F20"/>
                </a:solidFill>
                <a:latin typeface="Arial"/>
                <a:cs typeface="Arial"/>
              </a:rPr>
              <a:t>Model </a:t>
            </a:r>
            <a:r>
              <a:rPr sz="1950" spc="245" dirty="0">
                <a:solidFill>
                  <a:srgbClr val="231F20"/>
                </a:solidFill>
                <a:latin typeface="Arial"/>
                <a:cs typeface="Arial"/>
              </a:rPr>
              <a:t>Checking</a:t>
            </a:r>
            <a:r>
              <a:rPr sz="1950" spc="850" dirty="0">
                <a:solidFill>
                  <a:srgbClr val="231F20"/>
                </a:solidFill>
                <a:latin typeface="Arial"/>
                <a:cs typeface="Arial"/>
              </a:rPr>
              <a:t> </a:t>
            </a:r>
            <a:r>
              <a:rPr sz="1950" spc="450" dirty="0">
                <a:solidFill>
                  <a:srgbClr val="231F20"/>
                </a:solidFill>
                <a:latin typeface="Arial"/>
                <a:cs typeface="Arial"/>
              </a:rPr>
              <a:t>(BMC)</a:t>
            </a:r>
            <a:endParaRPr sz="1950">
              <a:latin typeface="Arial"/>
              <a:cs typeface="Arial"/>
            </a:endParaRPr>
          </a:p>
        </p:txBody>
      </p:sp>
      <p:sp>
        <p:nvSpPr>
          <p:cNvPr id="3" name="object 3"/>
          <p:cNvSpPr txBox="1">
            <a:spLocks noGrp="1"/>
          </p:cNvSpPr>
          <p:nvPr>
            <p:ph type="title"/>
          </p:nvPr>
        </p:nvSpPr>
        <p:spPr>
          <a:xfrm>
            <a:off x="896439" y="924528"/>
            <a:ext cx="8131809" cy="742950"/>
          </a:xfrm>
          <a:prstGeom prst="rect">
            <a:avLst/>
          </a:prstGeom>
        </p:spPr>
        <p:txBody>
          <a:bodyPr vert="horz" wrap="square" lIns="0" tIns="0" rIns="0" bIns="0" rtlCol="0">
            <a:spAutoFit/>
          </a:bodyPr>
          <a:lstStyle/>
          <a:p>
            <a:pPr marL="300990" marR="5080" indent="-288290">
              <a:lnSpc>
                <a:spcPct val="118900"/>
              </a:lnSpc>
              <a:buSzPct val="105128"/>
              <a:buFont typeface="Lucida Sans Unicode"/>
              <a:buChar char="•"/>
              <a:tabLst>
                <a:tab pos="301625" algn="l"/>
                <a:tab pos="1663064" algn="l"/>
              </a:tabLst>
            </a:pPr>
            <a:r>
              <a:rPr sz="1950" spc="105" dirty="0">
                <a:solidFill>
                  <a:srgbClr val="231F20"/>
                </a:solidFill>
                <a:latin typeface="Arial"/>
                <a:cs typeface="Arial"/>
              </a:rPr>
              <a:t>Given </a:t>
            </a:r>
            <a:r>
              <a:rPr sz="1950" spc="120" dirty="0">
                <a:solidFill>
                  <a:srgbClr val="231F20"/>
                </a:solidFill>
                <a:latin typeface="Arial"/>
                <a:cs typeface="Arial"/>
              </a:rPr>
              <a:t>system </a:t>
            </a:r>
            <a:r>
              <a:rPr sz="1950" spc="105" dirty="0">
                <a:solidFill>
                  <a:srgbClr val="231F20"/>
                </a:solidFill>
                <a:latin typeface="Arial"/>
                <a:cs typeface="Arial"/>
              </a:rPr>
              <a:t>specified by </a:t>
            </a:r>
            <a:r>
              <a:rPr sz="1950" spc="155" dirty="0">
                <a:solidFill>
                  <a:srgbClr val="231F20"/>
                </a:solidFill>
                <a:latin typeface="Arial"/>
                <a:cs typeface="Arial"/>
              </a:rPr>
              <a:t>initiality </a:t>
            </a:r>
            <a:r>
              <a:rPr sz="1950" spc="120" dirty="0">
                <a:solidFill>
                  <a:srgbClr val="231F20"/>
                </a:solidFill>
                <a:latin typeface="Arial"/>
                <a:cs typeface="Arial"/>
              </a:rPr>
              <a:t>predicate </a:t>
            </a:r>
            <a:r>
              <a:rPr i="1" spc="80" dirty="0">
                <a:solidFill>
                  <a:srgbClr val="231F20"/>
                </a:solidFill>
                <a:latin typeface="Meiryo"/>
                <a:cs typeface="Meiryo"/>
              </a:rPr>
              <a:t>I </a:t>
            </a:r>
            <a:r>
              <a:rPr sz="1950" spc="130" dirty="0">
                <a:solidFill>
                  <a:srgbClr val="231F20"/>
                </a:solidFill>
                <a:latin typeface="Arial"/>
                <a:cs typeface="Arial"/>
              </a:rPr>
              <a:t>and </a:t>
            </a:r>
            <a:r>
              <a:rPr sz="1950" spc="160" dirty="0">
                <a:solidFill>
                  <a:srgbClr val="231F20"/>
                </a:solidFill>
                <a:latin typeface="Arial"/>
                <a:cs typeface="Arial"/>
              </a:rPr>
              <a:t>transition  </a:t>
            </a:r>
            <a:r>
              <a:rPr sz="1950" spc="145" dirty="0">
                <a:solidFill>
                  <a:srgbClr val="231F20"/>
                </a:solidFill>
                <a:latin typeface="Arial"/>
                <a:cs typeface="Arial"/>
              </a:rPr>
              <a:t>relation </a:t>
            </a:r>
            <a:r>
              <a:rPr sz="1950" spc="725" dirty="0">
                <a:solidFill>
                  <a:srgbClr val="231F20"/>
                </a:solidFill>
                <a:latin typeface="Arial"/>
                <a:cs typeface="Arial"/>
              </a:rPr>
              <a:t> </a:t>
            </a:r>
            <a:r>
              <a:rPr i="1" spc="-100" dirty="0">
                <a:solidFill>
                  <a:srgbClr val="231F20"/>
                </a:solidFill>
                <a:latin typeface="Meiryo"/>
                <a:cs typeface="Meiryo"/>
              </a:rPr>
              <a:t>T	</a:t>
            </a:r>
            <a:r>
              <a:rPr sz="1950" spc="155" dirty="0">
                <a:solidFill>
                  <a:srgbClr val="231F20"/>
                </a:solidFill>
                <a:latin typeface="Arial"/>
                <a:cs typeface="Arial"/>
              </a:rPr>
              <a:t>on </a:t>
            </a:r>
            <a:r>
              <a:rPr sz="1950" spc="125" dirty="0">
                <a:solidFill>
                  <a:srgbClr val="231F20"/>
                </a:solidFill>
                <a:latin typeface="Arial"/>
                <a:cs typeface="Arial"/>
              </a:rPr>
              <a:t>states</a:t>
            </a:r>
            <a:r>
              <a:rPr sz="1950" spc="320" dirty="0">
                <a:solidFill>
                  <a:srgbClr val="231F20"/>
                </a:solidFill>
                <a:latin typeface="Arial"/>
                <a:cs typeface="Arial"/>
              </a:rPr>
              <a:t> </a:t>
            </a:r>
            <a:r>
              <a:rPr i="1" spc="-35" dirty="0">
                <a:solidFill>
                  <a:srgbClr val="231F20"/>
                </a:solidFill>
                <a:latin typeface="Meiryo"/>
                <a:cs typeface="Meiryo"/>
              </a:rPr>
              <a:t>S</a:t>
            </a:r>
            <a:endParaRPr sz="1950">
              <a:latin typeface="Meiryo"/>
              <a:cs typeface="Meiryo"/>
            </a:endParaRPr>
          </a:p>
        </p:txBody>
      </p:sp>
      <p:sp>
        <p:nvSpPr>
          <p:cNvPr id="4" name="object 4"/>
          <p:cNvSpPr txBox="1"/>
          <p:nvPr/>
        </p:nvSpPr>
        <p:spPr>
          <a:xfrm>
            <a:off x="896429" y="1857857"/>
            <a:ext cx="8505825" cy="4625340"/>
          </a:xfrm>
          <a:prstGeom prst="rect">
            <a:avLst/>
          </a:prstGeom>
        </p:spPr>
        <p:txBody>
          <a:bodyPr vert="horz" wrap="square" lIns="0" tIns="0" rIns="0" bIns="0" rtlCol="0">
            <a:spAutoFit/>
          </a:bodyPr>
          <a:lstStyle/>
          <a:p>
            <a:pPr marL="300990" indent="-288290">
              <a:lnSpc>
                <a:spcPct val="100000"/>
              </a:lnSpc>
              <a:buClr>
                <a:srgbClr val="231F20"/>
              </a:buClr>
              <a:buSzPct val="105128"/>
              <a:buFont typeface="Lucida Sans Unicode"/>
              <a:buChar char="•"/>
              <a:tabLst>
                <a:tab pos="301625" algn="l"/>
                <a:tab pos="5596890" algn="l"/>
              </a:tabLst>
            </a:pPr>
            <a:r>
              <a:rPr sz="1950" spc="30" dirty="0">
                <a:solidFill>
                  <a:srgbClr val="0000FF"/>
                </a:solidFill>
                <a:latin typeface="Arial"/>
                <a:cs typeface="Arial"/>
              </a:rPr>
              <a:t>Is  </a:t>
            </a:r>
            <a:r>
              <a:rPr sz="1950" spc="140" dirty="0">
                <a:solidFill>
                  <a:srgbClr val="0000FF"/>
                </a:solidFill>
                <a:latin typeface="Arial"/>
                <a:cs typeface="Arial"/>
              </a:rPr>
              <a:t>there </a:t>
            </a:r>
            <a:r>
              <a:rPr sz="1950" spc="85" dirty="0">
                <a:solidFill>
                  <a:srgbClr val="0000FF"/>
                </a:solidFill>
                <a:latin typeface="Arial"/>
                <a:cs typeface="Arial"/>
              </a:rPr>
              <a:t>a  </a:t>
            </a:r>
            <a:r>
              <a:rPr sz="1950" spc="135" dirty="0">
                <a:solidFill>
                  <a:srgbClr val="0000FF"/>
                </a:solidFill>
                <a:latin typeface="Arial"/>
                <a:cs typeface="Arial"/>
              </a:rPr>
              <a:t>counterexample </a:t>
            </a:r>
            <a:r>
              <a:rPr sz="1950" spc="250" dirty="0">
                <a:solidFill>
                  <a:srgbClr val="0000FF"/>
                </a:solidFill>
                <a:latin typeface="Arial"/>
                <a:cs typeface="Arial"/>
              </a:rPr>
              <a:t>to</a:t>
            </a:r>
            <a:r>
              <a:rPr sz="1950" spc="894" dirty="0">
                <a:solidFill>
                  <a:srgbClr val="0000FF"/>
                </a:solidFill>
                <a:latin typeface="Arial"/>
                <a:cs typeface="Arial"/>
              </a:rPr>
              <a:t> </a:t>
            </a:r>
            <a:r>
              <a:rPr sz="1950" spc="150" dirty="0">
                <a:solidFill>
                  <a:srgbClr val="0000FF"/>
                </a:solidFill>
                <a:latin typeface="Arial"/>
                <a:cs typeface="Arial"/>
              </a:rPr>
              <a:t>property</a:t>
            </a:r>
            <a:r>
              <a:rPr sz="1950" spc="490" dirty="0">
                <a:solidFill>
                  <a:srgbClr val="0000FF"/>
                </a:solidFill>
                <a:latin typeface="Arial"/>
                <a:cs typeface="Arial"/>
              </a:rPr>
              <a:t> </a:t>
            </a:r>
            <a:r>
              <a:rPr sz="2050" i="1" spc="65" dirty="0">
                <a:solidFill>
                  <a:srgbClr val="0000FF"/>
                </a:solidFill>
                <a:latin typeface="Meiryo"/>
                <a:cs typeface="Meiryo"/>
              </a:rPr>
              <a:t>P	</a:t>
            </a:r>
            <a:r>
              <a:rPr sz="1950" spc="130" dirty="0">
                <a:solidFill>
                  <a:srgbClr val="0000FF"/>
                </a:solidFill>
                <a:latin typeface="Arial"/>
                <a:cs typeface="Arial"/>
              </a:rPr>
              <a:t>in </a:t>
            </a:r>
            <a:r>
              <a:rPr sz="2050" i="1" spc="-55" dirty="0">
                <a:solidFill>
                  <a:srgbClr val="0000FF"/>
                </a:solidFill>
                <a:latin typeface="Meiryo"/>
                <a:cs typeface="Meiryo"/>
              </a:rPr>
              <a:t>k </a:t>
            </a:r>
            <a:r>
              <a:rPr sz="1950" spc="90" dirty="0">
                <a:solidFill>
                  <a:srgbClr val="0000FF"/>
                </a:solidFill>
                <a:latin typeface="Arial"/>
                <a:cs typeface="Arial"/>
              </a:rPr>
              <a:t>steps </a:t>
            </a:r>
            <a:r>
              <a:rPr sz="1950" spc="130" dirty="0">
                <a:solidFill>
                  <a:srgbClr val="0000FF"/>
                </a:solidFill>
                <a:latin typeface="Arial"/>
                <a:cs typeface="Arial"/>
              </a:rPr>
              <a:t>or </a:t>
            </a:r>
            <a:r>
              <a:rPr sz="1950" spc="145" dirty="0">
                <a:solidFill>
                  <a:srgbClr val="0000FF"/>
                </a:solidFill>
                <a:latin typeface="Arial"/>
                <a:cs typeface="Arial"/>
              </a:rPr>
              <a:t> </a:t>
            </a:r>
            <a:r>
              <a:rPr sz="1950" spc="30" dirty="0">
                <a:solidFill>
                  <a:srgbClr val="0000FF"/>
                </a:solidFill>
                <a:latin typeface="Arial"/>
                <a:cs typeface="Arial"/>
              </a:rPr>
              <a:t>less?</a:t>
            </a:r>
            <a:endParaRPr sz="1950">
              <a:latin typeface="Arial"/>
              <a:cs typeface="Arial"/>
            </a:endParaRPr>
          </a:p>
          <a:p>
            <a:pPr marL="12700">
              <a:lnSpc>
                <a:spcPct val="100000"/>
              </a:lnSpc>
              <a:spcBef>
                <a:spcPts val="1500"/>
              </a:spcBef>
              <a:tabLst>
                <a:tab pos="300990" algn="l"/>
              </a:tabLst>
            </a:pPr>
            <a:r>
              <a:rPr sz="2050" spc="-265" dirty="0">
                <a:solidFill>
                  <a:srgbClr val="231F20"/>
                </a:solidFill>
                <a:latin typeface="Lucida Sans Unicode"/>
                <a:cs typeface="Lucida Sans Unicode"/>
              </a:rPr>
              <a:t>•	</a:t>
            </a:r>
            <a:r>
              <a:rPr sz="1950" spc="135" dirty="0">
                <a:solidFill>
                  <a:srgbClr val="231F20"/>
                </a:solidFill>
                <a:latin typeface="Arial"/>
                <a:cs typeface="Arial"/>
              </a:rPr>
              <a:t>Can</a:t>
            </a:r>
            <a:r>
              <a:rPr sz="1950" spc="270" dirty="0">
                <a:solidFill>
                  <a:srgbClr val="231F20"/>
                </a:solidFill>
                <a:latin typeface="Arial"/>
                <a:cs typeface="Arial"/>
              </a:rPr>
              <a:t> </a:t>
            </a:r>
            <a:r>
              <a:rPr sz="1950" spc="215" dirty="0">
                <a:solidFill>
                  <a:srgbClr val="231F20"/>
                </a:solidFill>
                <a:latin typeface="Arial"/>
                <a:cs typeface="Arial"/>
              </a:rPr>
              <a:t>try</a:t>
            </a:r>
            <a:r>
              <a:rPr sz="1950" spc="270" dirty="0">
                <a:solidFill>
                  <a:srgbClr val="231F20"/>
                </a:solidFill>
                <a:latin typeface="Arial"/>
                <a:cs typeface="Arial"/>
              </a:rPr>
              <a:t> </a:t>
            </a:r>
            <a:r>
              <a:rPr sz="2050" i="1" spc="-55" dirty="0">
                <a:solidFill>
                  <a:srgbClr val="231F20"/>
                </a:solidFill>
                <a:latin typeface="Meiryo"/>
                <a:cs typeface="Meiryo"/>
              </a:rPr>
              <a:t>k</a:t>
            </a:r>
            <a:r>
              <a:rPr sz="2050" i="1" spc="-70" dirty="0">
                <a:solidFill>
                  <a:srgbClr val="231F20"/>
                </a:solidFill>
                <a:latin typeface="Meiryo"/>
                <a:cs typeface="Meiryo"/>
              </a:rPr>
              <a:t> </a:t>
            </a:r>
            <a:r>
              <a:rPr sz="2050" spc="114" dirty="0">
                <a:solidFill>
                  <a:srgbClr val="231F20"/>
                </a:solidFill>
                <a:latin typeface="Tahoma"/>
                <a:cs typeface="Tahoma"/>
              </a:rPr>
              <a:t>=</a:t>
            </a:r>
            <a:r>
              <a:rPr sz="2050" spc="-80" dirty="0">
                <a:solidFill>
                  <a:srgbClr val="231F20"/>
                </a:solidFill>
                <a:latin typeface="Tahoma"/>
                <a:cs typeface="Tahoma"/>
              </a:rPr>
              <a:t> </a:t>
            </a:r>
            <a:r>
              <a:rPr sz="2050" spc="-120" dirty="0">
                <a:solidFill>
                  <a:srgbClr val="231F20"/>
                </a:solidFill>
                <a:latin typeface="Tahoma"/>
                <a:cs typeface="Tahoma"/>
              </a:rPr>
              <a:t>1</a:t>
            </a:r>
            <a:r>
              <a:rPr sz="2050" i="1" spc="-120" dirty="0">
                <a:solidFill>
                  <a:srgbClr val="231F20"/>
                </a:solidFill>
                <a:latin typeface="Meiryo"/>
                <a:cs typeface="Meiryo"/>
              </a:rPr>
              <a:t>,</a:t>
            </a:r>
            <a:r>
              <a:rPr sz="2050" i="1" spc="-360" dirty="0">
                <a:solidFill>
                  <a:srgbClr val="231F20"/>
                </a:solidFill>
                <a:latin typeface="Meiryo"/>
                <a:cs typeface="Meiryo"/>
              </a:rPr>
              <a:t> </a:t>
            </a:r>
            <a:r>
              <a:rPr sz="2050" spc="-114" dirty="0">
                <a:solidFill>
                  <a:srgbClr val="231F20"/>
                </a:solidFill>
                <a:latin typeface="Tahoma"/>
                <a:cs typeface="Tahoma"/>
              </a:rPr>
              <a:t>2</a:t>
            </a:r>
            <a:r>
              <a:rPr sz="2050" i="1" spc="-114"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endParaRPr sz="2050">
              <a:latin typeface="Meiryo"/>
              <a:cs typeface="Meiryo"/>
            </a:endParaRPr>
          </a:p>
          <a:p>
            <a:pPr marL="300990" indent="-288290">
              <a:lnSpc>
                <a:spcPct val="100000"/>
              </a:lnSpc>
              <a:spcBef>
                <a:spcPts val="1500"/>
              </a:spcBef>
              <a:buSzPct val="105128"/>
              <a:buFont typeface="Lucida Sans Unicode"/>
              <a:buChar char="•"/>
              <a:tabLst>
                <a:tab pos="301625" algn="l"/>
              </a:tabLst>
            </a:pPr>
            <a:r>
              <a:rPr sz="1950" spc="175" dirty="0">
                <a:solidFill>
                  <a:srgbClr val="231F20"/>
                </a:solidFill>
                <a:latin typeface="Arial"/>
                <a:cs typeface="Arial"/>
              </a:rPr>
              <a:t>Find </a:t>
            </a:r>
            <a:r>
              <a:rPr sz="1950" spc="125" dirty="0">
                <a:solidFill>
                  <a:srgbClr val="231F20"/>
                </a:solidFill>
                <a:latin typeface="Arial"/>
                <a:cs typeface="Arial"/>
              </a:rPr>
              <a:t>assignment </a:t>
            </a:r>
            <a:r>
              <a:rPr sz="1950" spc="250" dirty="0">
                <a:solidFill>
                  <a:srgbClr val="231F20"/>
                </a:solidFill>
                <a:latin typeface="Arial"/>
                <a:cs typeface="Arial"/>
              </a:rPr>
              <a:t>to </a:t>
            </a:r>
            <a:r>
              <a:rPr sz="1950" spc="125" dirty="0">
                <a:solidFill>
                  <a:srgbClr val="231F20"/>
                </a:solidFill>
                <a:latin typeface="Arial"/>
                <a:cs typeface="Arial"/>
              </a:rPr>
              <a:t>states </a:t>
            </a:r>
            <a:r>
              <a:rPr sz="2050" i="1" spc="15" dirty="0">
                <a:solidFill>
                  <a:srgbClr val="231F20"/>
                </a:solidFill>
                <a:latin typeface="Meiryo"/>
                <a:cs typeface="Meiryo"/>
              </a:rPr>
              <a:t>s</a:t>
            </a:r>
            <a:r>
              <a:rPr sz="2175" spc="22" baseline="-11494" dirty="0">
                <a:solidFill>
                  <a:srgbClr val="231F20"/>
                </a:solidFill>
                <a:latin typeface="PMingLiU"/>
                <a:cs typeface="PMingLiU"/>
              </a:rPr>
              <a:t>0</a:t>
            </a:r>
            <a:r>
              <a:rPr sz="2050" i="1" spc="15" dirty="0">
                <a:solidFill>
                  <a:srgbClr val="231F20"/>
                </a:solidFill>
                <a:latin typeface="Meiryo"/>
                <a:cs typeface="Meiryo"/>
              </a:rPr>
              <a:t>, </a:t>
            </a:r>
            <a:r>
              <a:rPr sz="2050" i="1" spc="-145" dirty="0">
                <a:solidFill>
                  <a:srgbClr val="231F20"/>
                </a:solidFill>
                <a:latin typeface="Meiryo"/>
                <a:cs typeface="Meiryo"/>
              </a:rPr>
              <a:t>. . . ,</a:t>
            </a:r>
            <a:r>
              <a:rPr sz="2050" i="1" spc="-440" dirty="0">
                <a:solidFill>
                  <a:srgbClr val="231F20"/>
                </a:solidFill>
                <a:latin typeface="Meiryo"/>
                <a:cs typeface="Meiryo"/>
              </a:rPr>
              <a:t> </a:t>
            </a:r>
            <a:r>
              <a:rPr sz="2050" i="1" spc="-15" dirty="0">
                <a:solidFill>
                  <a:srgbClr val="231F20"/>
                </a:solidFill>
                <a:latin typeface="Meiryo"/>
                <a:cs typeface="Meiryo"/>
              </a:rPr>
              <a:t>s</a:t>
            </a:r>
            <a:r>
              <a:rPr sz="2175" i="1" spc="-22" baseline="-11494" dirty="0">
                <a:solidFill>
                  <a:srgbClr val="231F20"/>
                </a:solidFill>
                <a:latin typeface="Verdana"/>
                <a:cs typeface="Verdana"/>
              </a:rPr>
              <a:t>k </a:t>
            </a:r>
            <a:r>
              <a:rPr sz="1950" spc="125" dirty="0">
                <a:solidFill>
                  <a:srgbClr val="231F20"/>
                </a:solidFill>
                <a:latin typeface="Arial"/>
                <a:cs typeface="Arial"/>
              </a:rPr>
              <a:t>satisfying</a:t>
            </a:r>
            <a:endParaRPr sz="1950">
              <a:latin typeface="Arial"/>
              <a:cs typeface="Arial"/>
            </a:endParaRPr>
          </a:p>
          <a:p>
            <a:pPr marL="300990">
              <a:lnSpc>
                <a:spcPct val="100000"/>
              </a:lnSpc>
              <a:spcBef>
                <a:spcPts val="1500"/>
              </a:spcBef>
            </a:pPr>
            <a:r>
              <a:rPr sz="2050" i="1" spc="90" dirty="0">
                <a:solidFill>
                  <a:srgbClr val="0000FF"/>
                </a:solidFill>
                <a:latin typeface="Meiryo"/>
                <a:cs typeface="Meiryo"/>
              </a:rPr>
              <a:t>I</a:t>
            </a:r>
            <a:r>
              <a:rPr sz="2050" spc="90" dirty="0">
                <a:solidFill>
                  <a:srgbClr val="0000FF"/>
                </a:solidFill>
                <a:latin typeface="Tahoma"/>
                <a:cs typeface="Tahoma"/>
              </a:rPr>
              <a:t>(</a:t>
            </a:r>
            <a:r>
              <a:rPr sz="2050" i="1" spc="90" dirty="0">
                <a:solidFill>
                  <a:srgbClr val="0000FF"/>
                </a:solidFill>
                <a:latin typeface="Meiryo"/>
                <a:cs typeface="Meiryo"/>
              </a:rPr>
              <a:t>s</a:t>
            </a:r>
            <a:r>
              <a:rPr sz="2175" spc="135" baseline="-11494" dirty="0">
                <a:solidFill>
                  <a:srgbClr val="0000FF"/>
                </a:solidFill>
                <a:latin typeface="PMingLiU"/>
                <a:cs typeface="PMingLiU"/>
              </a:rPr>
              <a:t>0</a:t>
            </a:r>
            <a:r>
              <a:rPr sz="2050" spc="90" dirty="0">
                <a:solidFill>
                  <a:srgbClr val="0000FF"/>
                </a:solidFill>
                <a:latin typeface="Tahoma"/>
                <a:cs typeface="Tahoma"/>
              </a:rPr>
              <a:t>)</a:t>
            </a:r>
            <a:r>
              <a:rPr sz="2050" spc="-185" dirty="0">
                <a:solidFill>
                  <a:srgbClr val="0000FF"/>
                </a:solidFill>
                <a:latin typeface="Tahoma"/>
                <a:cs typeface="Tahoma"/>
              </a:rPr>
              <a:t> </a:t>
            </a:r>
            <a:r>
              <a:rPr sz="2050" spc="-254" dirty="0">
                <a:solidFill>
                  <a:srgbClr val="0000FF"/>
                </a:solidFill>
                <a:latin typeface="Lucida Sans Unicode"/>
                <a:cs typeface="Lucida Sans Unicode"/>
              </a:rPr>
              <a:t>∧</a:t>
            </a:r>
            <a:r>
              <a:rPr sz="2050" spc="-190" dirty="0">
                <a:solidFill>
                  <a:srgbClr val="0000FF"/>
                </a:solidFill>
                <a:latin typeface="Lucida Sans Unicode"/>
                <a:cs typeface="Lucida Sans Unicode"/>
              </a:rPr>
              <a:t> </a:t>
            </a:r>
            <a:r>
              <a:rPr sz="2050" i="1" spc="-100" dirty="0">
                <a:solidFill>
                  <a:srgbClr val="0000FF"/>
                </a:solidFill>
                <a:latin typeface="Meiryo"/>
                <a:cs typeface="Meiryo"/>
              </a:rPr>
              <a:t>T</a:t>
            </a:r>
            <a:r>
              <a:rPr sz="2050" i="1" spc="-409" dirty="0">
                <a:solidFill>
                  <a:srgbClr val="0000FF"/>
                </a:solidFill>
                <a:latin typeface="Meiryo"/>
                <a:cs typeface="Meiryo"/>
              </a:rPr>
              <a:t> </a:t>
            </a:r>
            <a:r>
              <a:rPr sz="2050" spc="15" dirty="0">
                <a:solidFill>
                  <a:srgbClr val="0000FF"/>
                </a:solidFill>
                <a:latin typeface="Tahoma"/>
                <a:cs typeface="Tahoma"/>
              </a:rPr>
              <a:t>(</a:t>
            </a:r>
            <a:r>
              <a:rPr sz="2050" i="1" spc="15" dirty="0">
                <a:solidFill>
                  <a:srgbClr val="0000FF"/>
                </a:solidFill>
                <a:latin typeface="Meiryo"/>
                <a:cs typeface="Meiryo"/>
              </a:rPr>
              <a:t>s</a:t>
            </a:r>
            <a:r>
              <a:rPr sz="2175" spc="22" baseline="-11494" dirty="0">
                <a:solidFill>
                  <a:srgbClr val="0000FF"/>
                </a:solidFill>
                <a:latin typeface="PMingLiU"/>
                <a:cs typeface="PMingLiU"/>
              </a:rPr>
              <a:t>0</a:t>
            </a:r>
            <a:r>
              <a:rPr sz="2050" i="1" spc="15" dirty="0">
                <a:solidFill>
                  <a:srgbClr val="0000FF"/>
                </a:solidFill>
                <a:latin typeface="Meiryo"/>
                <a:cs typeface="Meiryo"/>
              </a:rPr>
              <a:t>,</a:t>
            </a:r>
            <a:r>
              <a:rPr sz="2050" i="1" spc="-355" dirty="0">
                <a:solidFill>
                  <a:srgbClr val="0000FF"/>
                </a:solidFill>
                <a:latin typeface="Meiryo"/>
                <a:cs typeface="Meiryo"/>
              </a:rPr>
              <a:t> </a:t>
            </a:r>
            <a:r>
              <a:rPr sz="2050" i="1" spc="65" dirty="0">
                <a:solidFill>
                  <a:srgbClr val="0000FF"/>
                </a:solidFill>
                <a:latin typeface="Meiryo"/>
                <a:cs typeface="Meiryo"/>
              </a:rPr>
              <a:t>s</a:t>
            </a:r>
            <a:r>
              <a:rPr sz="2175" spc="97" baseline="-11494" dirty="0">
                <a:solidFill>
                  <a:srgbClr val="0000FF"/>
                </a:solidFill>
                <a:latin typeface="PMingLiU"/>
                <a:cs typeface="PMingLiU"/>
              </a:rPr>
              <a:t>1</a:t>
            </a:r>
            <a:r>
              <a:rPr sz="2050" spc="65" dirty="0">
                <a:solidFill>
                  <a:srgbClr val="0000FF"/>
                </a:solidFill>
                <a:latin typeface="Tahoma"/>
                <a:cs typeface="Tahoma"/>
              </a:rPr>
              <a:t>)</a:t>
            </a:r>
            <a:r>
              <a:rPr sz="2050" spc="-185" dirty="0">
                <a:solidFill>
                  <a:srgbClr val="0000FF"/>
                </a:solidFill>
                <a:latin typeface="Tahoma"/>
                <a:cs typeface="Tahoma"/>
              </a:rPr>
              <a:t> </a:t>
            </a:r>
            <a:r>
              <a:rPr sz="2050" spc="-254" dirty="0">
                <a:solidFill>
                  <a:srgbClr val="0000FF"/>
                </a:solidFill>
                <a:latin typeface="Lucida Sans Unicode"/>
                <a:cs typeface="Lucida Sans Unicode"/>
              </a:rPr>
              <a:t>∧</a:t>
            </a:r>
            <a:r>
              <a:rPr sz="2050" spc="-190" dirty="0">
                <a:solidFill>
                  <a:srgbClr val="0000FF"/>
                </a:solidFill>
                <a:latin typeface="Lucida Sans Unicode"/>
                <a:cs typeface="Lucida Sans Unicode"/>
              </a:rPr>
              <a:t> </a:t>
            </a:r>
            <a:r>
              <a:rPr sz="2050" i="1" spc="-100" dirty="0">
                <a:solidFill>
                  <a:srgbClr val="0000FF"/>
                </a:solidFill>
                <a:latin typeface="Meiryo"/>
                <a:cs typeface="Meiryo"/>
              </a:rPr>
              <a:t>T</a:t>
            </a:r>
            <a:r>
              <a:rPr sz="2050" i="1" spc="-409" dirty="0">
                <a:solidFill>
                  <a:srgbClr val="0000FF"/>
                </a:solidFill>
                <a:latin typeface="Meiryo"/>
                <a:cs typeface="Meiryo"/>
              </a:rPr>
              <a:t> </a:t>
            </a:r>
            <a:r>
              <a:rPr sz="2050" spc="15" dirty="0">
                <a:solidFill>
                  <a:srgbClr val="0000FF"/>
                </a:solidFill>
                <a:latin typeface="Tahoma"/>
                <a:cs typeface="Tahoma"/>
              </a:rPr>
              <a:t>(</a:t>
            </a:r>
            <a:r>
              <a:rPr sz="2050" i="1" spc="15" dirty="0">
                <a:solidFill>
                  <a:srgbClr val="0000FF"/>
                </a:solidFill>
                <a:latin typeface="Meiryo"/>
                <a:cs typeface="Meiryo"/>
              </a:rPr>
              <a:t>s</a:t>
            </a:r>
            <a:r>
              <a:rPr sz="2175" spc="22" baseline="-11494" dirty="0">
                <a:solidFill>
                  <a:srgbClr val="0000FF"/>
                </a:solidFill>
                <a:latin typeface="PMingLiU"/>
                <a:cs typeface="PMingLiU"/>
              </a:rPr>
              <a:t>1</a:t>
            </a:r>
            <a:r>
              <a:rPr sz="2050" i="1" spc="15" dirty="0">
                <a:solidFill>
                  <a:srgbClr val="0000FF"/>
                </a:solidFill>
                <a:latin typeface="Meiryo"/>
                <a:cs typeface="Meiryo"/>
              </a:rPr>
              <a:t>,</a:t>
            </a:r>
            <a:r>
              <a:rPr sz="2050" i="1" spc="-355" dirty="0">
                <a:solidFill>
                  <a:srgbClr val="0000FF"/>
                </a:solidFill>
                <a:latin typeface="Meiryo"/>
                <a:cs typeface="Meiryo"/>
              </a:rPr>
              <a:t> </a:t>
            </a:r>
            <a:r>
              <a:rPr sz="2050" i="1" spc="65" dirty="0">
                <a:solidFill>
                  <a:srgbClr val="0000FF"/>
                </a:solidFill>
                <a:latin typeface="Meiryo"/>
                <a:cs typeface="Meiryo"/>
              </a:rPr>
              <a:t>s</a:t>
            </a:r>
            <a:r>
              <a:rPr sz="2175" spc="97" baseline="-11494" dirty="0">
                <a:solidFill>
                  <a:srgbClr val="0000FF"/>
                </a:solidFill>
                <a:latin typeface="PMingLiU"/>
                <a:cs typeface="PMingLiU"/>
              </a:rPr>
              <a:t>2</a:t>
            </a:r>
            <a:r>
              <a:rPr sz="2050" spc="65" dirty="0">
                <a:solidFill>
                  <a:srgbClr val="0000FF"/>
                </a:solidFill>
                <a:latin typeface="Tahoma"/>
                <a:cs typeface="Tahoma"/>
              </a:rPr>
              <a:t>)</a:t>
            </a:r>
            <a:r>
              <a:rPr sz="2050" spc="-185" dirty="0">
                <a:solidFill>
                  <a:srgbClr val="0000FF"/>
                </a:solidFill>
                <a:latin typeface="Tahoma"/>
                <a:cs typeface="Tahoma"/>
              </a:rPr>
              <a:t> </a:t>
            </a:r>
            <a:r>
              <a:rPr sz="2050" spc="-254" dirty="0">
                <a:solidFill>
                  <a:srgbClr val="0000FF"/>
                </a:solidFill>
                <a:latin typeface="Lucida Sans Unicode"/>
                <a:cs typeface="Lucida Sans Unicode"/>
              </a:rPr>
              <a:t>∧</a:t>
            </a:r>
            <a:r>
              <a:rPr sz="2050" spc="-190" dirty="0">
                <a:solidFill>
                  <a:srgbClr val="0000FF"/>
                </a:solidFill>
                <a:latin typeface="Lucida Sans Unicode"/>
                <a:cs typeface="Lucida Sans Unicode"/>
              </a:rPr>
              <a:t> </a:t>
            </a:r>
            <a:r>
              <a:rPr sz="2050" spc="-725" dirty="0">
                <a:solidFill>
                  <a:srgbClr val="0000FF"/>
                </a:solidFill>
                <a:latin typeface="Lucida Sans Unicode"/>
                <a:cs typeface="Lucida Sans Unicode"/>
              </a:rPr>
              <a:t>·</a:t>
            </a:r>
            <a:r>
              <a:rPr sz="2050" spc="-305" dirty="0">
                <a:solidFill>
                  <a:srgbClr val="0000FF"/>
                </a:solidFill>
                <a:latin typeface="Lucida Sans Unicode"/>
                <a:cs typeface="Lucida Sans Unicode"/>
              </a:rPr>
              <a:t> </a:t>
            </a:r>
            <a:r>
              <a:rPr sz="2050" spc="-725" dirty="0">
                <a:solidFill>
                  <a:srgbClr val="0000FF"/>
                </a:solidFill>
                <a:latin typeface="Lucida Sans Unicode"/>
                <a:cs typeface="Lucida Sans Unicode"/>
              </a:rPr>
              <a:t>·</a:t>
            </a:r>
            <a:r>
              <a:rPr sz="2050" spc="-305" dirty="0">
                <a:solidFill>
                  <a:srgbClr val="0000FF"/>
                </a:solidFill>
                <a:latin typeface="Lucida Sans Unicode"/>
                <a:cs typeface="Lucida Sans Unicode"/>
              </a:rPr>
              <a:t> </a:t>
            </a:r>
            <a:r>
              <a:rPr sz="2050" spc="-725"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spc="-254"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i="1" spc="-100" dirty="0">
                <a:solidFill>
                  <a:srgbClr val="0000FF"/>
                </a:solidFill>
                <a:latin typeface="Meiryo"/>
                <a:cs typeface="Meiryo"/>
              </a:rPr>
              <a:t>T</a:t>
            </a:r>
            <a:r>
              <a:rPr sz="2050" i="1" spc="-409" dirty="0">
                <a:solidFill>
                  <a:srgbClr val="0000FF"/>
                </a:solidFill>
                <a:latin typeface="Meiryo"/>
                <a:cs typeface="Meiryo"/>
              </a:rPr>
              <a:t> </a:t>
            </a:r>
            <a:r>
              <a:rPr sz="2050" spc="90" dirty="0">
                <a:solidFill>
                  <a:srgbClr val="0000FF"/>
                </a:solidFill>
                <a:latin typeface="Tahoma"/>
                <a:cs typeface="Tahoma"/>
              </a:rPr>
              <a:t>(</a:t>
            </a:r>
            <a:r>
              <a:rPr sz="2050" i="1" spc="90" dirty="0">
                <a:solidFill>
                  <a:srgbClr val="0000FF"/>
                </a:solidFill>
                <a:latin typeface="Meiryo"/>
                <a:cs typeface="Meiryo"/>
              </a:rPr>
              <a:t>s</a:t>
            </a:r>
            <a:r>
              <a:rPr sz="2175" i="1" spc="135" baseline="-11494" dirty="0">
                <a:solidFill>
                  <a:srgbClr val="0000FF"/>
                </a:solidFill>
                <a:latin typeface="Verdana"/>
                <a:cs typeface="Verdana"/>
              </a:rPr>
              <a:t>k</a:t>
            </a:r>
            <a:r>
              <a:rPr sz="2175" spc="135" baseline="-11494" dirty="0">
                <a:solidFill>
                  <a:srgbClr val="0000FF"/>
                </a:solidFill>
                <a:latin typeface="Arial"/>
                <a:cs typeface="Arial"/>
              </a:rPr>
              <a:t>−</a:t>
            </a:r>
            <a:r>
              <a:rPr sz="2175" spc="135" baseline="-11494" dirty="0">
                <a:solidFill>
                  <a:srgbClr val="0000FF"/>
                </a:solidFill>
                <a:latin typeface="PMingLiU"/>
                <a:cs typeface="PMingLiU"/>
              </a:rPr>
              <a:t>1</a:t>
            </a:r>
            <a:r>
              <a:rPr sz="2050" i="1" spc="90" dirty="0">
                <a:solidFill>
                  <a:srgbClr val="0000FF"/>
                </a:solidFill>
                <a:latin typeface="Meiryo"/>
                <a:cs typeface="Meiryo"/>
              </a:rPr>
              <a:t>,</a:t>
            </a:r>
            <a:r>
              <a:rPr sz="2050" i="1" spc="-355" dirty="0">
                <a:solidFill>
                  <a:srgbClr val="0000FF"/>
                </a:solidFill>
                <a:latin typeface="Meiryo"/>
                <a:cs typeface="Meiryo"/>
              </a:rPr>
              <a:t> </a:t>
            </a:r>
            <a:r>
              <a:rPr sz="2050" i="1" spc="-15" dirty="0">
                <a:solidFill>
                  <a:srgbClr val="0000FF"/>
                </a:solidFill>
                <a:latin typeface="Meiryo"/>
                <a:cs typeface="Meiryo"/>
              </a:rPr>
              <a:t>s</a:t>
            </a:r>
            <a:r>
              <a:rPr sz="2175" i="1" spc="-22" baseline="-11494" dirty="0">
                <a:solidFill>
                  <a:srgbClr val="0000FF"/>
                </a:solidFill>
                <a:latin typeface="Verdana"/>
                <a:cs typeface="Verdana"/>
              </a:rPr>
              <a:t>k</a:t>
            </a:r>
            <a:r>
              <a:rPr sz="2175" i="1" spc="-562" baseline="-11494" dirty="0">
                <a:solidFill>
                  <a:srgbClr val="0000FF"/>
                </a:solidFill>
                <a:latin typeface="Verdana"/>
                <a:cs typeface="Verdana"/>
              </a:rPr>
              <a:t> </a:t>
            </a:r>
            <a:r>
              <a:rPr sz="2050" spc="15" dirty="0">
                <a:solidFill>
                  <a:srgbClr val="0000FF"/>
                </a:solidFill>
                <a:latin typeface="Tahoma"/>
                <a:cs typeface="Tahoma"/>
              </a:rPr>
              <a:t>)</a:t>
            </a:r>
            <a:r>
              <a:rPr sz="2050" spc="-185" dirty="0">
                <a:solidFill>
                  <a:srgbClr val="0000FF"/>
                </a:solidFill>
                <a:latin typeface="Tahoma"/>
                <a:cs typeface="Tahoma"/>
              </a:rPr>
              <a:t> </a:t>
            </a:r>
            <a:r>
              <a:rPr sz="2050" spc="-254" dirty="0">
                <a:solidFill>
                  <a:srgbClr val="0000FF"/>
                </a:solidFill>
                <a:latin typeface="Lucida Sans Unicode"/>
                <a:cs typeface="Lucida Sans Unicode"/>
              </a:rPr>
              <a:t>∧</a:t>
            </a:r>
            <a:r>
              <a:rPr sz="2050" spc="-190" dirty="0">
                <a:solidFill>
                  <a:srgbClr val="0000FF"/>
                </a:solidFill>
                <a:latin typeface="Lucida Sans Unicode"/>
                <a:cs typeface="Lucida Sans Unicode"/>
              </a:rPr>
              <a:t> </a:t>
            </a:r>
            <a:r>
              <a:rPr sz="2050" spc="-60" dirty="0">
                <a:solidFill>
                  <a:srgbClr val="0000FF"/>
                </a:solidFill>
                <a:latin typeface="Lucida Sans Unicode"/>
                <a:cs typeface="Lucida Sans Unicode"/>
              </a:rPr>
              <a:t>¬</a:t>
            </a:r>
            <a:r>
              <a:rPr sz="2050" spc="-60" dirty="0">
                <a:solidFill>
                  <a:srgbClr val="0000FF"/>
                </a:solidFill>
                <a:latin typeface="Tahoma"/>
                <a:cs typeface="Tahoma"/>
              </a:rPr>
              <a:t>(</a:t>
            </a:r>
            <a:r>
              <a:rPr sz="2050" i="1" spc="-60" dirty="0">
                <a:solidFill>
                  <a:srgbClr val="0000FF"/>
                </a:solidFill>
                <a:latin typeface="Meiryo"/>
                <a:cs typeface="Meiryo"/>
              </a:rPr>
              <a:t>P</a:t>
            </a:r>
            <a:r>
              <a:rPr sz="2050" i="1" spc="-409" dirty="0">
                <a:solidFill>
                  <a:srgbClr val="0000FF"/>
                </a:solidFill>
                <a:latin typeface="Meiryo"/>
                <a:cs typeface="Meiryo"/>
              </a:rPr>
              <a:t> </a:t>
            </a:r>
            <a:r>
              <a:rPr sz="2050" spc="55" dirty="0">
                <a:solidFill>
                  <a:srgbClr val="0000FF"/>
                </a:solidFill>
                <a:latin typeface="Tahoma"/>
                <a:cs typeface="Tahoma"/>
              </a:rPr>
              <a:t>(</a:t>
            </a:r>
            <a:r>
              <a:rPr sz="2050" i="1" spc="55" dirty="0">
                <a:solidFill>
                  <a:srgbClr val="0000FF"/>
                </a:solidFill>
                <a:latin typeface="Meiryo"/>
                <a:cs typeface="Meiryo"/>
              </a:rPr>
              <a:t>s</a:t>
            </a:r>
            <a:r>
              <a:rPr sz="2175" spc="82" baseline="-11494" dirty="0">
                <a:solidFill>
                  <a:srgbClr val="0000FF"/>
                </a:solidFill>
                <a:latin typeface="PMingLiU"/>
                <a:cs typeface="PMingLiU"/>
              </a:rPr>
              <a:t>1</a:t>
            </a:r>
            <a:r>
              <a:rPr sz="2050" spc="55" dirty="0">
                <a:solidFill>
                  <a:srgbClr val="0000FF"/>
                </a:solidFill>
                <a:latin typeface="Tahoma"/>
                <a:cs typeface="Tahoma"/>
              </a:rPr>
              <a:t>)</a:t>
            </a:r>
            <a:r>
              <a:rPr sz="2050" spc="-185" dirty="0">
                <a:solidFill>
                  <a:srgbClr val="0000FF"/>
                </a:solidFill>
                <a:latin typeface="Tahoma"/>
                <a:cs typeface="Tahoma"/>
              </a:rPr>
              <a:t> </a:t>
            </a:r>
            <a:r>
              <a:rPr sz="2050" spc="-254" dirty="0">
                <a:solidFill>
                  <a:srgbClr val="0000FF"/>
                </a:solidFill>
                <a:latin typeface="Lucida Sans Unicode"/>
                <a:cs typeface="Lucida Sans Unicode"/>
              </a:rPr>
              <a:t>∧</a:t>
            </a:r>
            <a:r>
              <a:rPr sz="2050" spc="-190" dirty="0">
                <a:solidFill>
                  <a:srgbClr val="0000FF"/>
                </a:solidFill>
                <a:latin typeface="Lucida Sans Unicode"/>
                <a:cs typeface="Lucida Sans Unicode"/>
              </a:rPr>
              <a:t> </a:t>
            </a:r>
            <a:r>
              <a:rPr sz="2050" spc="-725" dirty="0">
                <a:solidFill>
                  <a:srgbClr val="0000FF"/>
                </a:solidFill>
                <a:latin typeface="Lucida Sans Unicode"/>
                <a:cs typeface="Lucida Sans Unicode"/>
              </a:rPr>
              <a:t>·</a:t>
            </a:r>
            <a:r>
              <a:rPr sz="2050" spc="-305" dirty="0">
                <a:solidFill>
                  <a:srgbClr val="0000FF"/>
                </a:solidFill>
                <a:latin typeface="Lucida Sans Unicode"/>
                <a:cs typeface="Lucida Sans Unicode"/>
              </a:rPr>
              <a:t> </a:t>
            </a:r>
            <a:r>
              <a:rPr sz="2050" spc="-725" dirty="0">
                <a:solidFill>
                  <a:srgbClr val="0000FF"/>
                </a:solidFill>
                <a:latin typeface="Lucida Sans Unicode"/>
                <a:cs typeface="Lucida Sans Unicode"/>
              </a:rPr>
              <a:t>·</a:t>
            </a:r>
            <a:r>
              <a:rPr sz="2050" spc="-305" dirty="0">
                <a:solidFill>
                  <a:srgbClr val="0000FF"/>
                </a:solidFill>
                <a:latin typeface="Lucida Sans Unicode"/>
                <a:cs typeface="Lucida Sans Unicode"/>
              </a:rPr>
              <a:t> </a:t>
            </a:r>
            <a:r>
              <a:rPr sz="2050" spc="-725"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spc="-254"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i="1" spc="65" dirty="0">
                <a:solidFill>
                  <a:srgbClr val="0000FF"/>
                </a:solidFill>
                <a:latin typeface="Meiryo"/>
                <a:cs typeface="Meiryo"/>
              </a:rPr>
              <a:t>P</a:t>
            </a:r>
            <a:r>
              <a:rPr sz="2050" i="1" spc="-409" dirty="0">
                <a:solidFill>
                  <a:srgbClr val="0000FF"/>
                </a:solidFill>
                <a:latin typeface="Meiryo"/>
                <a:cs typeface="Meiryo"/>
              </a:rPr>
              <a:t> </a:t>
            </a:r>
            <a:r>
              <a:rPr sz="2050" spc="-5" dirty="0">
                <a:solidFill>
                  <a:srgbClr val="0000FF"/>
                </a:solidFill>
                <a:latin typeface="Tahoma"/>
                <a:cs typeface="Tahoma"/>
              </a:rPr>
              <a:t>(</a:t>
            </a:r>
            <a:r>
              <a:rPr sz="2050" i="1" spc="-5" dirty="0">
                <a:solidFill>
                  <a:srgbClr val="0000FF"/>
                </a:solidFill>
                <a:latin typeface="Meiryo"/>
                <a:cs typeface="Meiryo"/>
              </a:rPr>
              <a:t>s</a:t>
            </a:r>
            <a:r>
              <a:rPr sz="2175" i="1" spc="-7" baseline="-11494" dirty="0">
                <a:solidFill>
                  <a:srgbClr val="0000FF"/>
                </a:solidFill>
                <a:latin typeface="Verdana"/>
                <a:cs typeface="Verdana"/>
              </a:rPr>
              <a:t>k</a:t>
            </a:r>
            <a:r>
              <a:rPr sz="2175" i="1" spc="-562" baseline="-11494" dirty="0">
                <a:solidFill>
                  <a:srgbClr val="0000FF"/>
                </a:solidFill>
                <a:latin typeface="Verdana"/>
                <a:cs typeface="Verdana"/>
              </a:rPr>
              <a:t> </a:t>
            </a:r>
            <a:r>
              <a:rPr sz="2050" spc="15" dirty="0">
                <a:solidFill>
                  <a:srgbClr val="0000FF"/>
                </a:solidFill>
                <a:latin typeface="Tahoma"/>
                <a:cs typeface="Tahoma"/>
              </a:rPr>
              <a:t>))</a:t>
            </a:r>
            <a:endParaRPr sz="2050">
              <a:latin typeface="Tahoma"/>
              <a:cs typeface="Tahoma"/>
            </a:endParaRPr>
          </a:p>
          <a:p>
            <a:pPr marL="300990" marR="250190" indent="-288290">
              <a:lnSpc>
                <a:spcPct val="123000"/>
              </a:lnSpc>
              <a:spcBef>
                <a:spcPts val="1345"/>
              </a:spcBef>
              <a:buSzPct val="105128"/>
              <a:buFont typeface="Lucida Sans Unicode"/>
              <a:buChar char="•"/>
              <a:tabLst>
                <a:tab pos="301625" algn="l"/>
                <a:tab pos="5689600" algn="l"/>
              </a:tabLst>
            </a:pPr>
            <a:r>
              <a:rPr sz="1950" spc="105" dirty="0">
                <a:solidFill>
                  <a:srgbClr val="231F20"/>
                </a:solidFill>
                <a:latin typeface="Arial"/>
                <a:cs typeface="Arial"/>
              </a:rPr>
              <a:t>Given </a:t>
            </a:r>
            <a:r>
              <a:rPr sz="1950" spc="85" dirty="0">
                <a:solidFill>
                  <a:srgbClr val="231F20"/>
                </a:solidFill>
                <a:latin typeface="Arial"/>
                <a:cs typeface="Arial"/>
              </a:rPr>
              <a:t>a </a:t>
            </a:r>
            <a:r>
              <a:rPr sz="1950" spc="150" dirty="0">
                <a:solidFill>
                  <a:srgbClr val="231F20"/>
                </a:solidFill>
                <a:latin typeface="Arial"/>
                <a:cs typeface="Arial"/>
              </a:rPr>
              <a:t>Boolean </a:t>
            </a:r>
            <a:r>
              <a:rPr sz="1950" spc="135" dirty="0">
                <a:solidFill>
                  <a:srgbClr val="231F20"/>
                </a:solidFill>
                <a:latin typeface="Arial"/>
                <a:cs typeface="Arial"/>
              </a:rPr>
              <a:t>encoding </a:t>
            </a:r>
            <a:r>
              <a:rPr sz="1950" spc="185" dirty="0">
                <a:solidFill>
                  <a:srgbClr val="231F20"/>
                </a:solidFill>
                <a:latin typeface="Arial"/>
                <a:cs typeface="Arial"/>
              </a:rPr>
              <a:t>of </a:t>
            </a:r>
            <a:r>
              <a:rPr sz="2050" i="1" spc="190" dirty="0">
                <a:solidFill>
                  <a:srgbClr val="231F20"/>
                </a:solidFill>
                <a:latin typeface="Meiryo"/>
                <a:cs typeface="Meiryo"/>
              </a:rPr>
              <a:t>I</a:t>
            </a:r>
            <a:r>
              <a:rPr sz="1950" spc="190" dirty="0">
                <a:solidFill>
                  <a:srgbClr val="231F20"/>
                </a:solidFill>
                <a:latin typeface="Arial"/>
                <a:cs typeface="Arial"/>
              </a:rPr>
              <a:t>, </a:t>
            </a:r>
            <a:r>
              <a:rPr sz="2050" i="1" spc="-100" dirty="0">
                <a:solidFill>
                  <a:srgbClr val="231F20"/>
                </a:solidFill>
                <a:latin typeface="Meiryo"/>
                <a:cs typeface="Meiryo"/>
              </a:rPr>
              <a:t>T </a:t>
            </a:r>
            <a:r>
              <a:rPr sz="1950" spc="145" dirty="0">
                <a:solidFill>
                  <a:srgbClr val="231F20"/>
                </a:solidFill>
                <a:latin typeface="Arial"/>
                <a:cs typeface="Arial"/>
              </a:rPr>
              <a:t>,  </a:t>
            </a:r>
            <a:r>
              <a:rPr sz="1950" spc="275" dirty="0">
                <a:solidFill>
                  <a:srgbClr val="231F20"/>
                </a:solidFill>
                <a:latin typeface="Arial"/>
                <a:cs typeface="Arial"/>
              </a:rPr>
              <a:t> </a:t>
            </a:r>
            <a:r>
              <a:rPr sz="1950" spc="130" dirty="0">
                <a:solidFill>
                  <a:srgbClr val="231F20"/>
                </a:solidFill>
                <a:latin typeface="Arial"/>
                <a:cs typeface="Arial"/>
              </a:rPr>
              <a:t>and</a:t>
            </a:r>
            <a:r>
              <a:rPr sz="1950" spc="390" dirty="0">
                <a:solidFill>
                  <a:srgbClr val="231F20"/>
                </a:solidFill>
                <a:latin typeface="Arial"/>
                <a:cs typeface="Arial"/>
              </a:rPr>
              <a:t> </a:t>
            </a:r>
            <a:r>
              <a:rPr sz="2050" i="1" spc="65" dirty="0">
                <a:solidFill>
                  <a:srgbClr val="231F20"/>
                </a:solidFill>
                <a:latin typeface="Meiryo"/>
                <a:cs typeface="Meiryo"/>
              </a:rPr>
              <a:t>P	</a:t>
            </a:r>
            <a:r>
              <a:rPr sz="1950" spc="140" dirty="0">
                <a:solidFill>
                  <a:srgbClr val="231F20"/>
                </a:solidFill>
                <a:latin typeface="Arial"/>
                <a:cs typeface="Arial"/>
              </a:rPr>
              <a:t>(i.e., </a:t>
            </a:r>
            <a:r>
              <a:rPr sz="1950" spc="175" dirty="0">
                <a:solidFill>
                  <a:srgbClr val="231F20"/>
                </a:solidFill>
                <a:latin typeface="Arial"/>
                <a:cs typeface="Arial"/>
              </a:rPr>
              <a:t>circuit),</a:t>
            </a:r>
            <a:r>
              <a:rPr sz="1950" spc="360" dirty="0">
                <a:solidFill>
                  <a:srgbClr val="231F20"/>
                </a:solidFill>
                <a:latin typeface="Arial"/>
                <a:cs typeface="Arial"/>
              </a:rPr>
              <a:t> </a:t>
            </a:r>
            <a:r>
              <a:rPr sz="1950" spc="145" dirty="0">
                <a:solidFill>
                  <a:srgbClr val="231F20"/>
                </a:solidFill>
                <a:latin typeface="Arial"/>
                <a:cs typeface="Arial"/>
              </a:rPr>
              <a:t>this</a:t>
            </a:r>
            <a:r>
              <a:rPr sz="1950" spc="245" dirty="0">
                <a:solidFill>
                  <a:srgbClr val="231F20"/>
                </a:solidFill>
                <a:latin typeface="Arial"/>
                <a:cs typeface="Arial"/>
              </a:rPr>
              <a:t> </a:t>
            </a:r>
            <a:r>
              <a:rPr sz="1950" spc="40" dirty="0">
                <a:solidFill>
                  <a:srgbClr val="231F20"/>
                </a:solidFill>
                <a:latin typeface="Arial"/>
                <a:cs typeface="Arial"/>
              </a:rPr>
              <a:t>is </a:t>
            </a:r>
            <a:r>
              <a:rPr sz="1950" spc="-15" dirty="0">
                <a:solidFill>
                  <a:srgbClr val="231F20"/>
                </a:solidFill>
                <a:latin typeface="Arial"/>
                <a:cs typeface="Arial"/>
              </a:rPr>
              <a:t> </a:t>
            </a:r>
            <a:r>
              <a:rPr sz="1950" spc="85" dirty="0">
                <a:solidFill>
                  <a:srgbClr val="231F20"/>
                </a:solidFill>
                <a:latin typeface="Arial"/>
                <a:cs typeface="Arial"/>
              </a:rPr>
              <a:t>a </a:t>
            </a:r>
            <a:r>
              <a:rPr sz="1950" spc="140" dirty="0">
                <a:solidFill>
                  <a:srgbClr val="0000FF"/>
                </a:solidFill>
                <a:latin typeface="Arial"/>
                <a:cs typeface="Arial"/>
              </a:rPr>
              <a:t>propositional </a:t>
            </a:r>
            <a:r>
              <a:rPr sz="1950" spc="130" dirty="0">
                <a:solidFill>
                  <a:srgbClr val="0000FF"/>
                </a:solidFill>
                <a:latin typeface="Arial"/>
                <a:cs typeface="Arial"/>
              </a:rPr>
              <a:t>satisfiability </a:t>
            </a:r>
            <a:r>
              <a:rPr sz="1950" spc="270" dirty="0">
                <a:solidFill>
                  <a:srgbClr val="0000FF"/>
                </a:solidFill>
                <a:latin typeface="Arial"/>
                <a:cs typeface="Arial"/>
              </a:rPr>
              <a:t>(</a:t>
            </a:r>
            <a:r>
              <a:rPr sz="1950" spc="270" dirty="0">
                <a:solidFill>
                  <a:srgbClr val="FF0000"/>
                </a:solidFill>
                <a:latin typeface="Arial"/>
                <a:cs typeface="Arial"/>
              </a:rPr>
              <a:t>SAT</a:t>
            </a:r>
            <a:r>
              <a:rPr sz="1950" spc="270" dirty="0">
                <a:solidFill>
                  <a:srgbClr val="0000FF"/>
                </a:solidFill>
                <a:latin typeface="Arial"/>
                <a:cs typeface="Arial"/>
              </a:rPr>
              <a:t>)</a:t>
            </a:r>
            <a:r>
              <a:rPr sz="1950" spc="755" dirty="0">
                <a:solidFill>
                  <a:srgbClr val="0000FF"/>
                </a:solidFill>
                <a:latin typeface="Arial"/>
                <a:cs typeface="Arial"/>
              </a:rPr>
              <a:t> </a:t>
            </a:r>
            <a:r>
              <a:rPr sz="1950" spc="140" dirty="0">
                <a:solidFill>
                  <a:srgbClr val="0000FF"/>
                </a:solidFill>
                <a:latin typeface="Arial"/>
                <a:cs typeface="Arial"/>
              </a:rPr>
              <a:t>problem</a:t>
            </a:r>
            <a:endParaRPr sz="1950">
              <a:latin typeface="Arial"/>
              <a:cs typeface="Arial"/>
            </a:endParaRPr>
          </a:p>
          <a:p>
            <a:pPr marL="300990" indent="-288290">
              <a:lnSpc>
                <a:spcPct val="100000"/>
              </a:lnSpc>
              <a:spcBef>
                <a:spcPts val="1614"/>
              </a:spcBef>
              <a:buClr>
                <a:srgbClr val="231F20"/>
              </a:buClr>
              <a:buSzPct val="105128"/>
              <a:buFont typeface="Lucida Sans Unicode"/>
              <a:buChar char="•"/>
              <a:tabLst>
                <a:tab pos="301625" algn="l"/>
              </a:tabLst>
            </a:pPr>
            <a:r>
              <a:rPr sz="1950" spc="250" dirty="0">
                <a:solidFill>
                  <a:srgbClr val="FF0000"/>
                </a:solidFill>
                <a:latin typeface="Arial"/>
                <a:cs typeface="Arial"/>
              </a:rPr>
              <a:t>SAT </a:t>
            </a:r>
            <a:r>
              <a:rPr sz="1950" spc="75" dirty="0">
                <a:solidFill>
                  <a:srgbClr val="FF0000"/>
                </a:solidFill>
                <a:latin typeface="Arial"/>
                <a:cs typeface="Arial"/>
              </a:rPr>
              <a:t>solvers </a:t>
            </a:r>
            <a:r>
              <a:rPr sz="1950" spc="95" dirty="0">
                <a:solidFill>
                  <a:srgbClr val="FF0000"/>
                </a:solidFill>
                <a:latin typeface="Arial"/>
                <a:cs typeface="Arial"/>
              </a:rPr>
              <a:t>have </a:t>
            </a:r>
            <a:r>
              <a:rPr sz="1950" spc="135" dirty="0">
                <a:solidFill>
                  <a:srgbClr val="FF0000"/>
                </a:solidFill>
                <a:latin typeface="Arial"/>
                <a:cs typeface="Arial"/>
              </a:rPr>
              <a:t>become amazingly </a:t>
            </a:r>
            <a:r>
              <a:rPr sz="1950" spc="155" dirty="0">
                <a:solidFill>
                  <a:srgbClr val="FF0000"/>
                </a:solidFill>
                <a:latin typeface="Arial"/>
                <a:cs typeface="Arial"/>
              </a:rPr>
              <a:t>fast </a:t>
            </a:r>
            <a:r>
              <a:rPr sz="1950" spc="130" dirty="0">
                <a:solidFill>
                  <a:srgbClr val="FF0000"/>
                </a:solidFill>
                <a:latin typeface="Arial"/>
                <a:cs typeface="Arial"/>
              </a:rPr>
              <a:t>recently </a:t>
            </a:r>
            <a:r>
              <a:rPr sz="1950" spc="75" dirty="0">
                <a:solidFill>
                  <a:srgbClr val="231F20"/>
                </a:solidFill>
                <a:latin typeface="Arial"/>
                <a:cs typeface="Arial"/>
              </a:rPr>
              <a:t>(see </a:t>
            </a:r>
            <a:r>
              <a:rPr sz="1950" spc="660" dirty="0">
                <a:solidFill>
                  <a:srgbClr val="231F20"/>
                </a:solidFill>
                <a:latin typeface="Arial"/>
                <a:cs typeface="Arial"/>
              </a:rPr>
              <a:t> </a:t>
            </a:r>
            <a:r>
              <a:rPr sz="1950" spc="175" dirty="0">
                <a:solidFill>
                  <a:srgbClr val="231F20"/>
                </a:solidFill>
                <a:latin typeface="Arial"/>
                <a:cs typeface="Arial"/>
              </a:rPr>
              <a:t>later)</a:t>
            </a:r>
            <a:endParaRPr sz="1950">
              <a:latin typeface="Arial"/>
              <a:cs typeface="Arial"/>
            </a:endParaRPr>
          </a:p>
          <a:p>
            <a:pPr marL="300990" marR="1749425" indent="-288290">
              <a:lnSpc>
                <a:spcPct val="125000"/>
              </a:lnSpc>
              <a:spcBef>
                <a:spcPts val="1035"/>
              </a:spcBef>
              <a:buSzPct val="105128"/>
              <a:buFont typeface="Lucida Sans Unicode"/>
              <a:buChar char="•"/>
              <a:tabLst>
                <a:tab pos="301625" algn="l"/>
              </a:tabLst>
            </a:pPr>
            <a:r>
              <a:rPr sz="1950" spc="300" dirty="0">
                <a:solidFill>
                  <a:srgbClr val="231F20"/>
                </a:solidFill>
                <a:latin typeface="Arial"/>
                <a:cs typeface="Arial"/>
              </a:rPr>
              <a:t>BMC </a:t>
            </a:r>
            <a:r>
              <a:rPr sz="1950" spc="25" dirty="0">
                <a:solidFill>
                  <a:srgbClr val="231F20"/>
                </a:solidFill>
                <a:latin typeface="Arial"/>
                <a:cs typeface="Arial"/>
              </a:rPr>
              <a:t>uses </a:t>
            </a:r>
            <a:r>
              <a:rPr sz="1950" spc="95" dirty="0">
                <a:solidFill>
                  <a:srgbClr val="231F20"/>
                </a:solidFill>
                <a:latin typeface="Arial"/>
                <a:cs typeface="Arial"/>
              </a:rPr>
              <a:t>same </a:t>
            </a:r>
            <a:r>
              <a:rPr sz="1950" spc="210" dirty="0">
                <a:solidFill>
                  <a:srgbClr val="231F20"/>
                </a:solidFill>
                <a:latin typeface="Arial"/>
                <a:cs typeface="Arial"/>
              </a:rPr>
              <a:t>front </a:t>
            </a:r>
            <a:r>
              <a:rPr sz="1950" spc="105" dirty="0">
                <a:solidFill>
                  <a:srgbClr val="231F20"/>
                </a:solidFill>
                <a:latin typeface="Arial"/>
                <a:cs typeface="Arial"/>
              </a:rPr>
              <a:t>end </a:t>
            </a:r>
            <a:r>
              <a:rPr sz="1950" spc="155" dirty="0">
                <a:solidFill>
                  <a:srgbClr val="231F20"/>
                </a:solidFill>
                <a:latin typeface="Arial"/>
                <a:cs typeface="Arial"/>
              </a:rPr>
              <a:t>reduction </a:t>
            </a:r>
            <a:r>
              <a:rPr sz="1950" spc="250" dirty="0">
                <a:solidFill>
                  <a:srgbClr val="231F20"/>
                </a:solidFill>
                <a:latin typeface="Arial"/>
                <a:cs typeface="Arial"/>
              </a:rPr>
              <a:t>to </a:t>
            </a:r>
            <a:r>
              <a:rPr sz="1950" spc="85" dirty="0">
                <a:solidFill>
                  <a:srgbClr val="231F20"/>
                </a:solidFill>
                <a:latin typeface="Arial"/>
                <a:cs typeface="Arial"/>
              </a:rPr>
              <a:t>a </a:t>
            </a:r>
            <a:r>
              <a:rPr sz="1950" spc="150" dirty="0">
                <a:solidFill>
                  <a:srgbClr val="231F20"/>
                </a:solidFill>
                <a:latin typeface="Arial"/>
                <a:cs typeface="Arial"/>
              </a:rPr>
              <a:t>Boolean  </a:t>
            </a:r>
            <a:r>
              <a:rPr sz="1950" spc="125" dirty="0">
                <a:solidFill>
                  <a:srgbClr val="231F20"/>
                </a:solidFill>
                <a:latin typeface="Arial"/>
                <a:cs typeface="Arial"/>
              </a:rPr>
              <a:t>representation </a:t>
            </a:r>
            <a:r>
              <a:rPr sz="1950" spc="30" dirty="0">
                <a:solidFill>
                  <a:srgbClr val="231F20"/>
                </a:solidFill>
                <a:latin typeface="Arial"/>
                <a:cs typeface="Arial"/>
              </a:rPr>
              <a:t>as </a:t>
            </a:r>
            <a:r>
              <a:rPr sz="1950" spc="195" dirty="0">
                <a:solidFill>
                  <a:srgbClr val="231F20"/>
                </a:solidFill>
                <a:latin typeface="Arial"/>
                <a:cs typeface="Arial"/>
              </a:rPr>
              <a:t>SMC, </a:t>
            </a:r>
            <a:r>
              <a:rPr sz="1950" spc="220" dirty="0">
                <a:solidFill>
                  <a:srgbClr val="231F20"/>
                </a:solidFill>
                <a:latin typeface="Arial"/>
                <a:cs typeface="Arial"/>
              </a:rPr>
              <a:t>but </a:t>
            </a:r>
            <a:r>
              <a:rPr sz="1950" spc="85" dirty="0">
                <a:solidFill>
                  <a:srgbClr val="231F20"/>
                </a:solidFill>
                <a:latin typeface="Arial"/>
                <a:cs typeface="Arial"/>
              </a:rPr>
              <a:t>a </a:t>
            </a:r>
            <a:r>
              <a:rPr sz="1950" spc="145" dirty="0">
                <a:solidFill>
                  <a:srgbClr val="231F20"/>
                </a:solidFill>
                <a:latin typeface="Arial"/>
                <a:cs typeface="Arial"/>
              </a:rPr>
              <a:t>different </a:t>
            </a:r>
            <a:r>
              <a:rPr sz="1950" spc="135" dirty="0">
                <a:solidFill>
                  <a:srgbClr val="231F20"/>
                </a:solidFill>
                <a:latin typeface="Arial"/>
                <a:cs typeface="Arial"/>
              </a:rPr>
              <a:t>back </a:t>
            </a:r>
            <a:r>
              <a:rPr sz="1950" spc="545" dirty="0">
                <a:solidFill>
                  <a:srgbClr val="231F20"/>
                </a:solidFill>
                <a:latin typeface="Arial"/>
                <a:cs typeface="Arial"/>
              </a:rPr>
              <a:t> </a:t>
            </a:r>
            <a:r>
              <a:rPr sz="1950" spc="105" dirty="0">
                <a:solidFill>
                  <a:srgbClr val="231F20"/>
                </a:solidFill>
                <a:latin typeface="Arial"/>
                <a:cs typeface="Arial"/>
              </a:rPr>
              <a:t>end</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300" dirty="0">
                <a:solidFill>
                  <a:srgbClr val="231F20"/>
                </a:solidFill>
                <a:latin typeface="Arial"/>
                <a:cs typeface="Arial"/>
              </a:rPr>
              <a:t>BMC </a:t>
            </a:r>
            <a:r>
              <a:rPr sz="1950" spc="105" dirty="0">
                <a:solidFill>
                  <a:srgbClr val="231F20"/>
                </a:solidFill>
                <a:latin typeface="Arial"/>
                <a:cs typeface="Arial"/>
              </a:rPr>
              <a:t>generally </a:t>
            </a:r>
            <a:r>
              <a:rPr sz="1950" spc="60" dirty="0">
                <a:solidFill>
                  <a:srgbClr val="231F20"/>
                </a:solidFill>
                <a:latin typeface="Arial"/>
                <a:cs typeface="Arial"/>
              </a:rPr>
              <a:t>needs </a:t>
            </a:r>
            <a:r>
              <a:rPr sz="1950" spc="15" dirty="0">
                <a:solidFill>
                  <a:srgbClr val="231F20"/>
                </a:solidFill>
                <a:latin typeface="Arial"/>
                <a:cs typeface="Arial"/>
              </a:rPr>
              <a:t>less </a:t>
            </a:r>
            <a:r>
              <a:rPr sz="1950" spc="150" dirty="0">
                <a:solidFill>
                  <a:srgbClr val="231F20"/>
                </a:solidFill>
                <a:latin typeface="Arial"/>
                <a:cs typeface="Arial"/>
              </a:rPr>
              <a:t>tinkering </a:t>
            </a:r>
            <a:r>
              <a:rPr sz="1950" spc="185" dirty="0">
                <a:solidFill>
                  <a:srgbClr val="231F20"/>
                </a:solidFill>
                <a:latin typeface="Arial"/>
                <a:cs typeface="Arial"/>
              </a:rPr>
              <a:t>than </a:t>
            </a:r>
            <a:r>
              <a:rPr sz="1950" spc="290" dirty="0">
                <a:solidFill>
                  <a:srgbClr val="231F20"/>
                </a:solidFill>
                <a:latin typeface="Arial"/>
                <a:cs typeface="Arial"/>
              </a:rPr>
              <a:t> </a:t>
            </a:r>
            <a:r>
              <a:rPr sz="1950" spc="215" dirty="0">
                <a:solidFill>
                  <a:srgbClr val="231F20"/>
                </a:solidFill>
                <a:latin typeface="Arial"/>
                <a:cs typeface="Arial"/>
              </a:rPr>
              <a:t>SMC</a:t>
            </a:r>
            <a:endParaRPr sz="1950">
              <a:latin typeface="Arial"/>
              <a:cs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478582" y="923354"/>
            <a:ext cx="5102860" cy="314960"/>
          </a:xfrm>
          <a:prstGeom prst="rect">
            <a:avLst/>
          </a:prstGeom>
        </p:spPr>
        <p:txBody>
          <a:bodyPr vert="horz" wrap="square" lIns="0" tIns="0" rIns="0" bIns="0" rtlCol="0">
            <a:spAutoFit/>
          </a:bodyPr>
          <a:lstStyle/>
          <a:p>
            <a:pPr marL="12700">
              <a:lnSpc>
                <a:spcPct val="100000"/>
              </a:lnSpc>
            </a:pPr>
            <a:r>
              <a:rPr sz="1950" spc="280" dirty="0">
                <a:solidFill>
                  <a:srgbClr val="231F20"/>
                </a:solidFill>
                <a:latin typeface="Arial"/>
                <a:cs typeface="Arial"/>
              </a:rPr>
              <a:t>Bounded </a:t>
            </a:r>
            <a:r>
              <a:rPr sz="1950" spc="305" dirty="0">
                <a:solidFill>
                  <a:srgbClr val="231F20"/>
                </a:solidFill>
                <a:latin typeface="Arial"/>
                <a:cs typeface="Arial"/>
              </a:rPr>
              <a:t>Model </a:t>
            </a:r>
            <a:r>
              <a:rPr sz="1950" spc="245" dirty="0">
                <a:solidFill>
                  <a:srgbClr val="231F20"/>
                </a:solidFill>
                <a:latin typeface="Arial"/>
                <a:cs typeface="Arial"/>
              </a:rPr>
              <a:t>Checking </a:t>
            </a:r>
            <a:r>
              <a:rPr sz="1950" spc="310" dirty="0">
                <a:solidFill>
                  <a:srgbClr val="231F20"/>
                </a:solidFill>
                <a:latin typeface="Arial"/>
                <a:cs typeface="Arial"/>
              </a:rPr>
              <a:t>with</a:t>
            </a:r>
            <a:r>
              <a:rPr sz="1950" spc="615" dirty="0">
                <a:solidFill>
                  <a:srgbClr val="231F20"/>
                </a:solidFill>
                <a:latin typeface="Arial"/>
                <a:cs typeface="Arial"/>
              </a:rPr>
              <a:t> </a:t>
            </a:r>
            <a:r>
              <a:rPr sz="1950" spc="375" dirty="0">
                <a:solidFill>
                  <a:srgbClr val="231F20"/>
                </a:solidFill>
                <a:latin typeface="Arial"/>
                <a:cs typeface="Arial"/>
              </a:rPr>
              <a:t>SAL</a:t>
            </a:r>
            <a:endParaRPr sz="1950">
              <a:latin typeface="Arial"/>
              <a:cs typeface="Arial"/>
            </a:endParaRPr>
          </a:p>
        </p:txBody>
      </p:sp>
      <p:sp>
        <p:nvSpPr>
          <p:cNvPr id="3" name="object 3"/>
          <p:cNvSpPr txBox="1">
            <a:spLocks noGrp="1"/>
          </p:cNvSpPr>
          <p:nvPr>
            <p:ph type="title"/>
          </p:nvPr>
        </p:nvSpPr>
        <p:spPr>
          <a:xfrm>
            <a:off x="896442" y="1381036"/>
            <a:ext cx="7718425" cy="770890"/>
          </a:xfrm>
          <a:prstGeom prst="rect">
            <a:avLst/>
          </a:prstGeom>
        </p:spPr>
        <p:txBody>
          <a:bodyPr vert="horz" wrap="square" lIns="0" tIns="0" rIns="0" bIns="0" rtlCol="0">
            <a:spAutoFit/>
          </a:bodyPr>
          <a:lstStyle/>
          <a:p>
            <a:pPr marL="300990" marR="5080" indent="-288290">
              <a:lnSpc>
                <a:spcPct val="123000"/>
              </a:lnSpc>
              <a:buSzPct val="105128"/>
              <a:buFont typeface="Lucida Sans Unicode"/>
              <a:buChar char="•"/>
              <a:tabLst>
                <a:tab pos="301625" algn="l"/>
              </a:tabLst>
            </a:pPr>
            <a:r>
              <a:rPr sz="1950" spc="170" dirty="0">
                <a:solidFill>
                  <a:srgbClr val="231F20"/>
                </a:solidFill>
                <a:latin typeface="Arial"/>
                <a:cs typeface="Arial"/>
              </a:rPr>
              <a:t>We’ll </a:t>
            </a:r>
            <a:r>
              <a:rPr sz="1950" spc="45" dirty="0">
                <a:solidFill>
                  <a:srgbClr val="231F20"/>
                </a:solidFill>
                <a:latin typeface="Arial"/>
                <a:cs typeface="Arial"/>
              </a:rPr>
              <a:t>use </a:t>
            </a:r>
            <a:r>
              <a:rPr spc="65" dirty="0"/>
              <a:t>sal-bmc</a:t>
            </a:r>
            <a:r>
              <a:rPr sz="1950" spc="65" dirty="0">
                <a:solidFill>
                  <a:srgbClr val="231F20"/>
                </a:solidFill>
                <a:latin typeface="Arial"/>
                <a:cs typeface="Arial"/>
              </a:rPr>
              <a:t>, </a:t>
            </a:r>
            <a:r>
              <a:rPr sz="1950" spc="100" dirty="0">
                <a:latin typeface="Arial"/>
                <a:cs typeface="Arial"/>
              </a:rPr>
              <a:t>Yices </a:t>
            </a:r>
            <a:r>
              <a:rPr sz="1950" spc="30" dirty="0">
                <a:solidFill>
                  <a:srgbClr val="231F20"/>
                </a:solidFill>
                <a:latin typeface="Arial"/>
                <a:cs typeface="Arial"/>
              </a:rPr>
              <a:t>as </a:t>
            </a:r>
            <a:r>
              <a:rPr sz="1950" spc="145" dirty="0">
                <a:solidFill>
                  <a:srgbClr val="231F20"/>
                </a:solidFill>
                <a:latin typeface="Arial"/>
                <a:cs typeface="Arial"/>
              </a:rPr>
              <a:t>its </a:t>
            </a:r>
            <a:r>
              <a:rPr sz="1950" spc="250" dirty="0">
                <a:solidFill>
                  <a:srgbClr val="231F20"/>
                </a:solidFill>
                <a:latin typeface="Arial"/>
                <a:cs typeface="Arial"/>
              </a:rPr>
              <a:t>SAT </a:t>
            </a:r>
            <a:r>
              <a:rPr sz="1950" spc="90" dirty="0">
                <a:solidFill>
                  <a:srgbClr val="231F20"/>
                </a:solidFill>
                <a:latin typeface="Arial"/>
                <a:cs typeface="Arial"/>
              </a:rPr>
              <a:t>solver </a:t>
            </a:r>
            <a:r>
              <a:rPr sz="1950" spc="165" dirty="0">
                <a:solidFill>
                  <a:srgbClr val="231F20"/>
                </a:solidFill>
                <a:latin typeface="Arial"/>
                <a:cs typeface="Arial"/>
              </a:rPr>
              <a:t>(can </a:t>
            </a:r>
            <a:r>
              <a:rPr sz="1950" spc="45" dirty="0">
                <a:solidFill>
                  <a:srgbClr val="231F20"/>
                </a:solidFill>
                <a:latin typeface="Arial"/>
                <a:cs typeface="Arial"/>
              </a:rPr>
              <a:t>use </a:t>
            </a:r>
            <a:r>
              <a:rPr sz="1950" spc="165" dirty="0">
                <a:solidFill>
                  <a:srgbClr val="231F20"/>
                </a:solidFill>
                <a:latin typeface="Arial"/>
                <a:cs typeface="Arial"/>
              </a:rPr>
              <a:t>many  </a:t>
            </a:r>
            <a:r>
              <a:rPr sz="1950" spc="160" dirty="0">
                <a:solidFill>
                  <a:srgbClr val="231F20"/>
                </a:solidFill>
                <a:latin typeface="Arial"/>
                <a:cs typeface="Arial"/>
              </a:rPr>
              <a:t>others); </a:t>
            </a:r>
            <a:r>
              <a:rPr sz="1950" spc="175" dirty="0">
                <a:solidFill>
                  <a:srgbClr val="231F20"/>
                </a:solidFill>
                <a:latin typeface="Arial"/>
                <a:cs typeface="Arial"/>
              </a:rPr>
              <a:t>the </a:t>
            </a:r>
            <a:r>
              <a:rPr sz="1950" spc="165" dirty="0">
                <a:solidFill>
                  <a:srgbClr val="231F20"/>
                </a:solidFill>
                <a:latin typeface="Arial"/>
                <a:cs typeface="Arial"/>
              </a:rPr>
              <a:t>depth </a:t>
            </a:r>
            <a:r>
              <a:rPr sz="1950" spc="195" dirty="0">
                <a:solidFill>
                  <a:srgbClr val="231F20"/>
                </a:solidFill>
                <a:latin typeface="Arial"/>
                <a:cs typeface="Arial"/>
              </a:rPr>
              <a:t>k </a:t>
            </a:r>
            <a:r>
              <a:rPr sz="1950" spc="130" dirty="0">
                <a:solidFill>
                  <a:srgbClr val="231F20"/>
                </a:solidFill>
                <a:latin typeface="Arial"/>
                <a:cs typeface="Arial"/>
              </a:rPr>
              <a:t>defaults </a:t>
            </a:r>
            <a:r>
              <a:rPr sz="1950" spc="250" dirty="0">
                <a:solidFill>
                  <a:srgbClr val="231F20"/>
                </a:solidFill>
                <a:latin typeface="Arial"/>
                <a:cs typeface="Arial"/>
              </a:rPr>
              <a:t>to</a:t>
            </a:r>
            <a:r>
              <a:rPr sz="1950" spc="810" dirty="0">
                <a:solidFill>
                  <a:srgbClr val="231F20"/>
                </a:solidFill>
                <a:latin typeface="Arial"/>
                <a:cs typeface="Arial"/>
              </a:rPr>
              <a:t> </a:t>
            </a:r>
            <a:r>
              <a:rPr sz="1950" spc="155" dirty="0">
                <a:solidFill>
                  <a:srgbClr val="231F20"/>
                </a:solidFill>
                <a:latin typeface="Arial"/>
                <a:cs typeface="Arial"/>
              </a:rPr>
              <a:t>10</a:t>
            </a:r>
            <a:endParaRPr sz="1950">
              <a:latin typeface="Arial"/>
              <a:cs typeface="Arial"/>
            </a:endParaRPr>
          </a:p>
        </p:txBody>
      </p:sp>
      <p:sp>
        <p:nvSpPr>
          <p:cNvPr id="4" name="object 4"/>
          <p:cNvSpPr txBox="1"/>
          <p:nvPr/>
        </p:nvSpPr>
        <p:spPr>
          <a:xfrm>
            <a:off x="896429" y="2305011"/>
            <a:ext cx="7534909" cy="1489075"/>
          </a:xfrm>
          <a:prstGeom prst="rect">
            <a:avLst/>
          </a:prstGeom>
        </p:spPr>
        <p:txBody>
          <a:bodyPr vert="horz" wrap="square" lIns="0" tIns="0" rIns="0" bIns="0" rtlCol="0">
            <a:spAutoFit/>
          </a:bodyPr>
          <a:lstStyle/>
          <a:p>
            <a:pPr marL="300990" marR="5080" indent="-288290">
              <a:lnSpc>
                <a:spcPct val="125000"/>
              </a:lnSpc>
              <a:buSzPct val="105128"/>
              <a:buFont typeface="Lucida Sans Unicode"/>
              <a:buChar char="•"/>
              <a:tabLst>
                <a:tab pos="301625" algn="l"/>
              </a:tabLst>
            </a:pPr>
            <a:r>
              <a:rPr sz="1950" spc="135" dirty="0">
                <a:solidFill>
                  <a:srgbClr val="231F20"/>
                </a:solidFill>
                <a:latin typeface="Arial"/>
                <a:cs typeface="Arial"/>
              </a:rPr>
              <a:t>Finds </a:t>
            </a:r>
            <a:r>
              <a:rPr sz="1950" spc="175" dirty="0">
                <a:solidFill>
                  <a:srgbClr val="231F20"/>
                </a:solidFill>
                <a:latin typeface="Arial"/>
                <a:cs typeface="Arial"/>
              </a:rPr>
              <a:t>the </a:t>
            </a:r>
            <a:r>
              <a:rPr sz="1950" spc="135" dirty="0">
                <a:solidFill>
                  <a:srgbClr val="231F20"/>
                </a:solidFill>
                <a:latin typeface="Arial"/>
                <a:cs typeface="Arial"/>
              </a:rPr>
              <a:t>counterexample </a:t>
            </a:r>
            <a:r>
              <a:rPr sz="1950" spc="130" dirty="0">
                <a:solidFill>
                  <a:srgbClr val="231F20"/>
                </a:solidFill>
                <a:latin typeface="Arial"/>
                <a:cs typeface="Arial"/>
              </a:rPr>
              <a:t>in </a:t>
            </a:r>
            <a:r>
              <a:rPr sz="1950" spc="175" dirty="0">
                <a:solidFill>
                  <a:srgbClr val="231F20"/>
                </a:solidFill>
                <a:latin typeface="Arial"/>
                <a:cs typeface="Arial"/>
              </a:rPr>
              <a:t>the </a:t>
            </a:r>
            <a:r>
              <a:rPr sz="1950" spc="315" dirty="0">
                <a:solidFill>
                  <a:srgbClr val="231F20"/>
                </a:solidFill>
                <a:latin typeface="Arial"/>
                <a:cs typeface="Arial"/>
              </a:rPr>
              <a:t>OM1 </a:t>
            </a:r>
            <a:r>
              <a:rPr sz="1950" spc="114" dirty="0">
                <a:solidFill>
                  <a:srgbClr val="231F20"/>
                </a:solidFill>
                <a:latin typeface="Arial"/>
                <a:cs typeface="Arial"/>
              </a:rPr>
              <a:t>example </a:t>
            </a:r>
            <a:r>
              <a:rPr sz="1950" spc="130" dirty="0">
                <a:solidFill>
                  <a:srgbClr val="231F20"/>
                </a:solidFill>
                <a:latin typeface="Arial"/>
                <a:cs typeface="Arial"/>
              </a:rPr>
              <a:t>in </a:t>
            </a:r>
            <a:r>
              <a:rPr sz="1950" spc="85" dirty="0">
                <a:solidFill>
                  <a:srgbClr val="231F20"/>
                </a:solidFill>
                <a:latin typeface="Arial"/>
                <a:cs typeface="Arial"/>
              </a:rPr>
              <a:t>a </a:t>
            </a:r>
            <a:r>
              <a:rPr sz="1950" spc="155" dirty="0">
                <a:solidFill>
                  <a:srgbClr val="231F20"/>
                </a:solidFill>
                <a:latin typeface="Arial"/>
                <a:cs typeface="Arial"/>
              </a:rPr>
              <a:t>few  </a:t>
            </a:r>
            <a:r>
              <a:rPr sz="1950" spc="75" dirty="0">
                <a:solidFill>
                  <a:srgbClr val="231F20"/>
                </a:solidFill>
                <a:latin typeface="Arial"/>
                <a:cs typeface="Arial"/>
              </a:rPr>
              <a:t>seconds</a:t>
            </a:r>
            <a:endParaRPr sz="1950">
              <a:latin typeface="Arial"/>
              <a:cs typeface="Arial"/>
            </a:endParaRPr>
          </a:p>
          <a:p>
            <a:pPr marL="300990">
              <a:lnSpc>
                <a:spcPts val="2325"/>
              </a:lnSpc>
            </a:pPr>
            <a:r>
              <a:rPr sz="2050" spc="55" dirty="0">
                <a:solidFill>
                  <a:srgbClr val="0000FF"/>
                </a:solidFill>
                <a:latin typeface="SimSun"/>
                <a:cs typeface="SimSun"/>
              </a:rPr>
              <a:t>sal-bmc -v 3 om1 validity </a:t>
            </a:r>
            <a:r>
              <a:rPr sz="2050" spc="55" dirty="0">
                <a:solidFill>
                  <a:srgbClr val="FF0000"/>
                </a:solidFill>
                <a:latin typeface="SimSun"/>
                <a:cs typeface="SimSun"/>
              </a:rPr>
              <a:t>-d</a:t>
            </a:r>
            <a:r>
              <a:rPr sz="2050" spc="5" dirty="0">
                <a:solidFill>
                  <a:srgbClr val="FF0000"/>
                </a:solidFill>
                <a:latin typeface="SimSun"/>
                <a:cs typeface="SimSun"/>
              </a:rPr>
              <a:t> </a:t>
            </a:r>
            <a:r>
              <a:rPr sz="2050" spc="55" dirty="0">
                <a:solidFill>
                  <a:srgbClr val="FF0000"/>
                </a:solidFill>
                <a:latin typeface="SimSun"/>
                <a:cs typeface="SimSun"/>
              </a:rPr>
              <a:t>3</a:t>
            </a:r>
            <a:endParaRPr sz="2050">
              <a:latin typeface="SimSun"/>
              <a:cs typeface="SimSun"/>
            </a:endParaRPr>
          </a:p>
          <a:p>
            <a:pPr marL="300990" indent="-288290">
              <a:lnSpc>
                <a:spcPct val="100000"/>
              </a:lnSpc>
              <a:spcBef>
                <a:spcPts val="975"/>
              </a:spcBef>
              <a:buSzPct val="105128"/>
              <a:buFont typeface="Lucida Sans Unicode"/>
              <a:buChar char="•"/>
              <a:tabLst>
                <a:tab pos="301625" algn="l"/>
              </a:tabLst>
            </a:pPr>
            <a:r>
              <a:rPr sz="1950" spc="200" dirty="0">
                <a:solidFill>
                  <a:srgbClr val="231F20"/>
                </a:solidFill>
                <a:latin typeface="Arial"/>
                <a:cs typeface="Arial"/>
              </a:rPr>
              <a:t>And </a:t>
            </a:r>
            <a:r>
              <a:rPr sz="1950" spc="80" dirty="0">
                <a:solidFill>
                  <a:srgbClr val="231F20"/>
                </a:solidFill>
                <a:latin typeface="Arial"/>
                <a:cs typeface="Arial"/>
              </a:rPr>
              <a:t>also </a:t>
            </a:r>
            <a:r>
              <a:rPr sz="1950" spc="105" dirty="0">
                <a:solidFill>
                  <a:srgbClr val="231F20"/>
                </a:solidFill>
                <a:latin typeface="Arial"/>
                <a:cs typeface="Arial"/>
              </a:rPr>
              <a:t>all </a:t>
            </a:r>
            <a:r>
              <a:rPr sz="1950" spc="100" dirty="0">
                <a:solidFill>
                  <a:srgbClr val="231F20"/>
                </a:solidFill>
                <a:latin typeface="Arial"/>
                <a:cs typeface="Arial"/>
              </a:rPr>
              <a:t>these</a:t>
            </a:r>
            <a:r>
              <a:rPr sz="1950" spc="695" dirty="0">
                <a:solidFill>
                  <a:srgbClr val="231F20"/>
                </a:solidFill>
                <a:latin typeface="Arial"/>
                <a:cs typeface="Arial"/>
              </a:rPr>
              <a:t> </a:t>
            </a:r>
            <a:r>
              <a:rPr sz="1950" spc="95" dirty="0">
                <a:solidFill>
                  <a:srgbClr val="231F20"/>
                </a:solidFill>
                <a:latin typeface="Arial"/>
                <a:cs typeface="Arial"/>
              </a:rPr>
              <a:t>examples</a:t>
            </a:r>
            <a:endParaRPr sz="1950">
              <a:latin typeface="Arial"/>
              <a:cs typeface="Arial"/>
            </a:endParaRPr>
          </a:p>
        </p:txBody>
      </p:sp>
      <p:graphicFrame>
        <p:nvGraphicFramePr>
          <p:cNvPr id="5" name="object 5"/>
          <p:cNvGraphicFramePr>
            <a:graphicFrameLocks noGrp="1"/>
          </p:cNvGraphicFramePr>
          <p:nvPr/>
        </p:nvGraphicFramePr>
        <p:xfrm>
          <a:off x="1175637" y="3806439"/>
          <a:ext cx="5555004" cy="1073617"/>
        </p:xfrm>
        <a:graphic>
          <a:graphicData uri="http://schemas.openxmlformats.org/drawingml/2006/table">
            <a:tbl>
              <a:tblPr firstRow="1" bandRow="1">
                <a:tableStyleId>{2D5ABB26-0587-4C30-8999-92F81FD0307C}</a:tableStyleId>
              </a:tblPr>
              <a:tblGrid>
                <a:gridCol w="1055346"/>
                <a:gridCol w="413368"/>
                <a:gridCol w="275520"/>
                <a:gridCol w="1653008"/>
                <a:gridCol w="2157762"/>
              </a:tblGrid>
              <a:tr h="321526">
                <a:tc>
                  <a:txBody>
                    <a:bodyPr/>
                    <a:lstStyle/>
                    <a:p>
                      <a:pPr marR="38735" algn="ctr">
                        <a:lnSpc>
                          <a:spcPts val="2000"/>
                        </a:lnSpc>
                      </a:pPr>
                      <a:r>
                        <a:rPr sz="2050" spc="55" dirty="0">
                          <a:solidFill>
                            <a:srgbClr val="0000FF"/>
                          </a:solidFill>
                          <a:latin typeface="SimSun"/>
                          <a:cs typeface="SimSun"/>
                        </a:rPr>
                        <a:t>sal-bmc</a:t>
                      </a:r>
                      <a:endParaRPr sz="2050">
                        <a:latin typeface="SimSun"/>
                        <a:cs typeface="SimSun"/>
                      </a:endParaRPr>
                    </a:p>
                  </a:txBody>
                  <a:tcPr marL="0" marR="0" marT="0" marB="0"/>
                </a:tc>
                <a:tc>
                  <a:txBody>
                    <a:bodyPr/>
                    <a:lstStyle/>
                    <a:p>
                      <a:pPr algn="ctr">
                        <a:lnSpc>
                          <a:spcPts val="2000"/>
                        </a:lnSpc>
                      </a:pPr>
                      <a:r>
                        <a:rPr sz="2050" spc="55" dirty="0">
                          <a:solidFill>
                            <a:srgbClr val="0000FF"/>
                          </a:solidFill>
                          <a:latin typeface="SimSun"/>
                          <a:cs typeface="SimSun"/>
                        </a:rPr>
                        <a:t>-v</a:t>
                      </a:r>
                      <a:endParaRPr sz="2050">
                        <a:latin typeface="SimSun"/>
                        <a:cs typeface="SimSun"/>
                      </a:endParaRPr>
                    </a:p>
                  </a:txBody>
                  <a:tcPr marL="0" marR="0" marT="0" marB="0"/>
                </a:tc>
                <a:tc>
                  <a:txBody>
                    <a:bodyPr/>
                    <a:lstStyle/>
                    <a:p>
                      <a:pPr algn="ctr">
                        <a:lnSpc>
                          <a:spcPts val="2000"/>
                        </a:lnSpc>
                      </a:pPr>
                      <a:r>
                        <a:rPr sz="2050" dirty="0">
                          <a:solidFill>
                            <a:srgbClr val="0000FF"/>
                          </a:solidFill>
                          <a:latin typeface="SimSun"/>
                          <a:cs typeface="SimSun"/>
                        </a:rPr>
                        <a:t>3</a:t>
                      </a:r>
                      <a:endParaRPr sz="2050">
                        <a:latin typeface="SimSun"/>
                        <a:cs typeface="SimSun"/>
                      </a:endParaRPr>
                    </a:p>
                  </a:txBody>
                  <a:tcPr marL="0" marR="0" marT="0" marB="0"/>
                </a:tc>
                <a:tc>
                  <a:txBody>
                    <a:bodyPr/>
                    <a:lstStyle/>
                    <a:p>
                      <a:pPr marR="60960" algn="r">
                        <a:lnSpc>
                          <a:spcPts val="2000"/>
                        </a:lnSpc>
                      </a:pPr>
                      <a:r>
                        <a:rPr sz="2050" spc="-5" dirty="0">
                          <a:solidFill>
                            <a:srgbClr val="0000FF"/>
                          </a:solidFill>
                          <a:latin typeface="SimSun"/>
                          <a:cs typeface="SimSun"/>
                        </a:rPr>
                        <a:t>smallbaker</a:t>
                      </a:r>
                      <a:r>
                        <a:rPr sz="2050" dirty="0">
                          <a:solidFill>
                            <a:srgbClr val="0000FF"/>
                          </a:solidFill>
                          <a:latin typeface="SimSun"/>
                          <a:cs typeface="SimSun"/>
                        </a:rPr>
                        <a:t>y</a:t>
                      </a:r>
                      <a:endParaRPr sz="2050">
                        <a:latin typeface="SimSun"/>
                        <a:cs typeface="SimSun"/>
                      </a:endParaRPr>
                    </a:p>
                  </a:txBody>
                  <a:tcPr marL="0" marR="0" marT="0" marB="0"/>
                </a:tc>
                <a:tc>
                  <a:txBody>
                    <a:bodyPr/>
                    <a:lstStyle/>
                    <a:p>
                      <a:pPr marL="68580">
                        <a:lnSpc>
                          <a:spcPts val="2000"/>
                        </a:lnSpc>
                      </a:pPr>
                      <a:r>
                        <a:rPr sz="2050" spc="55" dirty="0">
                          <a:solidFill>
                            <a:srgbClr val="0000FF"/>
                          </a:solidFill>
                          <a:latin typeface="SimSun"/>
                          <a:cs typeface="SimSun"/>
                        </a:rPr>
                        <a:t>liveness</a:t>
                      </a:r>
                      <a:endParaRPr sz="2050">
                        <a:latin typeface="SimSun"/>
                        <a:cs typeface="SimSun"/>
                      </a:endParaRPr>
                    </a:p>
                  </a:txBody>
                  <a:tcPr marL="0" marR="0" marT="0" marB="0"/>
                </a:tc>
              </a:tr>
              <a:tr h="371589">
                <a:tc>
                  <a:txBody>
                    <a:bodyPr/>
                    <a:lstStyle/>
                    <a:p>
                      <a:pPr marR="38735" algn="ctr">
                        <a:lnSpc>
                          <a:spcPts val="2395"/>
                        </a:lnSpc>
                      </a:pPr>
                      <a:r>
                        <a:rPr sz="2050" spc="55" dirty="0">
                          <a:solidFill>
                            <a:srgbClr val="0000FF"/>
                          </a:solidFill>
                          <a:latin typeface="SimSun"/>
                          <a:cs typeface="SimSun"/>
                        </a:rPr>
                        <a:t>sal-bmc</a:t>
                      </a:r>
                      <a:endParaRPr sz="2050">
                        <a:latin typeface="SimSun"/>
                        <a:cs typeface="SimSun"/>
                      </a:endParaRPr>
                    </a:p>
                  </a:txBody>
                  <a:tcPr marL="0" marR="0" marT="0" marB="0"/>
                </a:tc>
                <a:tc>
                  <a:txBody>
                    <a:bodyPr/>
                    <a:lstStyle/>
                    <a:p>
                      <a:pPr algn="ctr">
                        <a:lnSpc>
                          <a:spcPts val="2395"/>
                        </a:lnSpc>
                      </a:pPr>
                      <a:r>
                        <a:rPr sz="2050" spc="55" dirty="0">
                          <a:solidFill>
                            <a:srgbClr val="0000FF"/>
                          </a:solidFill>
                          <a:latin typeface="SimSun"/>
                          <a:cs typeface="SimSun"/>
                        </a:rPr>
                        <a:t>-v</a:t>
                      </a:r>
                      <a:endParaRPr sz="2050">
                        <a:latin typeface="SimSun"/>
                        <a:cs typeface="SimSun"/>
                      </a:endParaRPr>
                    </a:p>
                  </a:txBody>
                  <a:tcPr marL="0" marR="0" marT="0" marB="0"/>
                </a:tc>
                <a:tc>
                  <a:txBody>
                    <a:bodyPr/>
                    <a:lstStyle/>
                    <a:p>
                      <a:pPr algn="ctr">
                        <a:lnSpc>
                          <a:spcPts val="2395"/>
                        </a:lnSpc>
                      </a:pPr>
                      <a:r>
                        <a:rPr sz="2050" dirty="0">
                          <a:solidFill>
                            <a:srgbClr val="0000FF"/>
                          </a:solidFill>
                          <a:latin typeface="SimSun"/>
                          <a:cs typeface="SimSun"/>
                        </a:rPr>
                        <a:t>3</a:t>
                      </a:r>
                      <a:endParaRPr sz="2050">
                        <a:latin typeface="SimSun"/>
                        <a:cs typeface="SimSun"/>
                      </a:endParaRPr>
                    </a:p>
                  </a:txBody>
                  <a:tcPr marL="0" marR="0" marT="0" marB="0"/>
                </a:tc>
                <a:tc>
                  <a:txBody>
                    <a:bodyPr/>
                    <a:lstStyle/>
                    <a:p>
                      <a:pPr marR="60960" algn="r">
                        <a:lnSpc>
                          <a:spcPts val="2395"/>
                        </a:lnSpc>
                      </a:pPr>
                      <a:r>
                        <a:rPr sz="2050" spc="-5" dirty="0">
                          <a:solidFill>
                            <a:srgbClr val="0000FF"/>
                          </a:solidFill>
                          <a:latin typeface="SimSun"/>
                          <a:cs typeface="SimSun"/>
                        </a:rPr>
                        <a:t>smallbaker</a:t>
                      </a:r>
                      <a:r>
                        <a:rPr sz="2050" dirty="0">
                          <a:solidFill>
                            <a:srgbClr val="0000FF"/>
                          </a:solidFill>
                          <a:latin typeface="SimSun"/>
                          <a:cs typeface="SimSun"/>
                        </a:rPr>
                        <a:t>y</a:t>
                      </a:r>
                      <a:endParaRPr sz="2050">
                        <a:latin typeface="SimSun"/>
                        <a:cs typeface="SimSun"/>
                      </a:endParaRPr>
                    </a:p>
                  </a:txBody>
                  <a:tcPr marL="0" marR="0" marT="0" marB="0"/>
                </a:tc>
                <a:tc>
                  <a:txBody>
                    <a:bodyPr/>
                    <a:lstStyle/>
                    <a:p>
                      <a:pPr marL="68580">
                        <a:lnSpc>
                          <a:spcPts val="2395"/>
                        </a:lnSpc>
                      </a:pPr>
                      <a:r>
                        <a:rPr sz="2050" spc="55" dirty="0">
                          <a:solidFill>
                            <a:srgbClr val="0000FF"/>
                          </a:solidFill>
                          <a:latin typeface="SimSun"/>
                          <a:cs typeface="SimSun"/>
                        </a:rPr>
                        <a:t>bounded</a:t>
                      </a:r>
                      <a:endParaRPr sz="2050">
                        <a:latin typeface="SimSun"/>
                        <a:cs typeface="SimSun"/>
                      </a:endParaRPr>
                    </a:p>
                  </a:txBody>
                  <a:tcPr marL="0" marR="0" marT="0" marB="0"/>
                </a:tc>
              </a:tr>
              <a:tr h="380502">
                <a:tc>
                  <a:txBody>
                    <a:bodyPr/>
                    <a:lstStyle/>
                    <a:p>
                      <a:pPr marR="38735" algn="ctr">
                        <a:lnSpc>
                          <a:spcPts val="2395"/>
                        </a:lnSpc>
                      </a:pPr>
                      <a:r>
                        <a:rPr sz="2050" spc="55" dirty="0">
                          <a:solidFill>
                            <a:srgbClr val="0000FF"/>
                          </a:solidFill>
                          <a:latin typeface="SimSun"/>
                          <a:cs typeface="SimSun"/>
                        </a:rPr>
                        <a:t>sal-bmc</a:t>
                      </a:r>
                      <a:endParaRPr sz="2050">
                        <a:latin typeface="SimSun"/>
                        <a:cs typeface="SimSun"/>
                      </a:endParaRPr>
                    </a:p>
                  </a:txBody>
                  <a:tcPr marL="0" marR="0" marT="0" marB="0"/>
                </a:tc>
                <a:tc>
                  <a:txBody>
                    <a:bodyPr/>
                    <a:lstStyle/>
                    <a:p>
                      <a:pPr algn="ctr">
                        <a:lnSpc>
                          <a:spcPts val="2395"/>
                        </a:lnSpc>
                      </a:pPr>
                      <a:r>
                        <a:rPr sz="2050" spc="55" dirty="0">
                          <a:solidFill>
                            <a:srgbClr val="0000FF"/>
                          </a:solidFill>
                          <a:latin typeface="SimSun"/>
                          <a:cs typeface="SimSun"/>
                        </a:rPr>
                        <a:t>-v</a:t>
                      </a:r>
                      <a:endParaRPr sz="2050">
                        <a:latin typeface="SimSun"/>
                        <a:cs typeface="SimSun"/>
                      </a:endParaRPr>
                    </a:p>
                  </a:txBody>
                  <a:tcPr marL="0" marR="0" marT="0" marB="0"/>
                </a:tc>
                <a:tc>
                  <a:txBody>
                    <a:bodyPr/>
                    <a:lstStyle/>
                    <a:p>
                      <a:pPr algn="ctr">
                        <a:lnSpc>
                          <a:spcPts val="2395"/>
                        </a:lnSpc>
                      </a:pPr>
                      <a:r>
                        <a:rPr sz="2050" dirty="0">
                          <a:solidFill>
                            <a:srgbClr val="0000FF"/>
                          </a:solidFill>
                          <a:latin typeface="SimSun"/>
                          <a:cs typeface="SimSun"/>
                        </a:rPr>
                        <a:t>3</a:t>
                      </a:r>
                      <a:endParaRPr sz="2050">
                        <a:latin typeface="SimSun"/>
                        <a:cs typeface="SimSun"/>
                      </a:endParaRPr>
                    </a:p>
                  </a:txBody>
                  <a:tcPr marL="0" marR="0" marT="0" marB="0"/>
                </a:tc>
                <a:tc>
                  <a:txBody>
                    <a:bodyPr/>
                    <a:lstStyle/>
                    <a:p>
                      <a:pPr marR="60960" algn="r">
                        <a:lnSpc>
                          <a:spcPts val="2395"/>
                        </a:lnSpc>
                      </a:pPr>
                      <a:r>
                        <a:rPr sz="2050" spc="-5" dirty="0">
                          <a:solidFill>
                            <a:srgbClr val="0000FF"/>
                          </a:solidFill>
                          <a:latin typeface="SimSun"/>
                          <a:cs typeface="SimSun"/>
                        </a:rPr>
                        <a:t>smallbaker</a:t>
                      </a:r>
                      <a:r>
                        <a:rPr sz="2050" dirty="0">
                          <a:solidFill>
                            <a:srgbClr val="0000FF"/>
                          </a:solidFill>
                          <a:latin typeface="SimSun"/>
                          <a:cs typeface="SimSun"/>
                        </a:rPr>
                        <a:t>y</a:t>
                      </a:r>
                      <a:endParaRPr sz="2050">
                        <a:latin typeface="SimSun"/>
                        <a:cs typeface="SimSun"/>
                      </a:endParaRPr>
                    </a:p>
                  </a:txBody>
                  <a:tcPr marL="0" marR="0" marT="0" marB="0"/>
                </a:tc>
                <a:tc>
                  <a:txBody>
                    <a:bodyPr/>
                    <a:lstStyle/>
                    <a:p>
                      <a:pPr marL="68580">
                        <a:lnSpc>
                          <a:spcPts val="2395"/>
                        </a:lnSpc>
                      </a:pPr>
                      <a:r>
                        <a:rPr sz="2050" spc="55" dirty="0">
                          <a:solidFill>
                            <a:srgbClr val="0000FF"/>
                          </a:solidFill>
                          <a:latin typeface="SimSun"/>
                          <a:cs typeface="SimSun"/>
                        </a:rPr>
                        <a:t>unbounded </a:t>
                      </a:r>
                      <a:r>
                        <a:rPr sz="2050" spc="55" dirty="0">
                          <a:solidFill>
                            <a:srgbClr val="FF0000"/>
                          </a:solidFill>
                          <a:latin typeface="SimSun"/>
                          <a:cs typeface="SimSun"/>
                        </a:rPr>
                        <a:t>-d</a:t>
                      </a:r>
                      <a:r>
                        <a:rPr sz="2050" spc="-25" dirty="0">
                          <a:solidFill>
                            <a:srgbClr val="FF0000"/>
                          </a:solidFill>
                          <a:latin typeface="SimSun"/>
                          <a:cs typeface="SimSun"/>
                        </a:rPr>
                        <a:t> </a:t>
                      </a:r>
                      <a:r>
                        <a:rPr sz="2050" spc="55" dirty="0">
                          <a:solidFill>
                            <a:srgbClr val="FF0000"/>
                          </a:solidFill>
                          <a:latin typeface="SimSun"/>
                          <a:cs typeface="SimSun"/>
                        </a:rPr>
                        <a:t>20</a:t>
                      </a:r>
                      <a:endParaRPr sz="2050">
                        <a:latin typeface="SimSun"/>
                        <a:cs typeface="SimSun"/>
                      </a:endParaRPr>
                    </a:p>
                  </a:txBody>
                  <a:tcPr marL="0" marR="0" marT="0" marB="0"/>
                </a:tc>
              </a:tr>
            </a:tbl>
          </a:graphicData>
        </a:graphic>
      </p:graphicFrame>
      <p:sp>
        <p:nvSpPr>
          <p:cNvPr id="6" name="object 6"/>
          <p:cNvSpPr txBox="1"/>
          <p:nvPr/>
        </p:nvSpPr>
        <p:spPr>
          <a:xfrm>
            <a:off x="896440" y="4927854"/>
            <a:ext cx="7936865" cy="926465"/>
          </a:xfrm>
          <a:prstGeom prst="rect">
            <a:avLst/>
          </a:prstGeom>
        </p:spPr>
        <p:txBody>
          <a:bodyPr vert="horz" wrap="square" lIns="0" tIns="0" rIns="0" bIns="0" rtlCol="0">
            <a:spAutoFit/>
          </a:bodyPr>
          <a:lstStyle/>
          <a:p>
            <a:pPr marL="300990" indent="-288290">
              <a:lnSpc>
                <a:spcPts val="2275"/>
              </a:lnSpc>
              <a:buSzPct val="105128"/>
              <a:buFont typeface="Lucida Sans Unicode"/>
              <a:buChar char="•"/>
              <a:tabLst>
                <a:tab pos="301625" algn="l"/>
              </a:tabLst>
            </a:pPr>
            <a:r>
              <a:rPr sz="1950" spc="275" dirty="0">
                <a:solidFill>
                  <a:srgbClr val="231F20"/>
                </a:solidFill>
                <a:latin typeface="Arial"/>
                <a:cs typeface="Arial"/>
              </a:rPr>
              <a:t>But </a:t>
            </a:r>
            <a:r>
              <a:rPr sz="1950" spc="204" dirty="0">
                <a:solidFill>
                  <a:srgbClr val="231F20"/>
                </a:solidFill>
                <a:latin typeface="Arial"/>
                <a:cs typeface="Arial"/>
              </a:rPr>
              <a:t>what </a:t>
            </a:r>
            <a:r>
              <a:rPr sz="1950" spc="190" dirty="0">
                <a:solidFill>
                  <a:srgbClr val="231F20"/>
                </a:solidFill>
                <a:latin typeface="Arial"/>
                <a:cs typeface="Arial"/>
              </a:rPr>
              <a:t>about </a:t>
            </a:r>
            <a:r>
              <a:rPr sz="1950" spc="175" dirty="0">
                <a:solidFill>
                  <a:srgbClr val="231F20"/>
                </a:solidFill>
                <a:latin typeface="Arial"/>
                <a:cs typeface="Arial"/>
              </a:rPr>
              <a:t>the </a:t>
            </a:r>
            <a:r>
              <a:rPr sz="1950" spc="170" dirty="0">
                <a:solidFill>
                  <a:srgbClr val="231F20"/>
                </a:solidFill>
                <a:latin typeface="Arial"/>
                <a:cs typeface="Arial"/>
              </a:rPr>
              <a:t>true</a:t>
            </a:r>
            <a:r>
              <a:rPr sz="1950" spc="535" dirty="0">
                <a:solidFill>
                  <a:srgbClr val="231F20"/>
                </a:solidFill>
                <a:latin typeface="Arial"/>
                <a:cs typeface="Arial"/>
              </a:rPr>
              <a:t> </a:t>
            </a:r>
            <a:r>
              <a:rPr sz="1950" spc="145" dirty="0">
                <a:solidFill>
                  <a:srgbClr val="231F20"/>
                </a:solidFill>
                <a:latin typeface="Arial"/>
                <a:cs typeface="Arial"/>
              </a:rPr>
              <a:t>property?</a:t>
            </a:r>
            <a:endParaRPr sz="1950">
              <a:latin typeface="Arial"/>
              <a:cs typeface="Arial"/>
            </a:endParaRPr>
          </a:p>
          <a:p>
            <a:pPr marL="300990">
              <a:lnSpc>
                <a:spcPts val="2395"/>
              </a:lnSpc>
            </a:pPr>
            <a:r>
              <a:rPr sz="2050" spc="55" dirty="0">
                <a:solidFill>
                  <a:srgbClr val="0000FF"/>
                </a:solidFill>
                <a:latin typeface="SimSun"/>
                <a:cs typeface="SimSun"/>
              </a:rPr>
              <a:t>sal-bmc -v 3 smallbakery safety </a:t>
            </a:r>
            <a:r>
              <a:rPr sz="2050" spc="55" dirty="0">
                <a:solidFill>
                  <a:srgbClr val="FF0000"/>
                </a:solidFill>
                <a:latin typeface="SimSun"/>
                <a:cs typeface="SimSun"/>
              </a:rPr>
              <a:t>-d</a:t>
            </a:r>
            <a:r>
              <a:rPr sz="2050" spc="5" dirty="0">
                <a:solidFill>
                  <a:srgbClr val="FF0000"/>
                </a:solidFill>
                <a:latin typeface="SimSun"/>
                <a:cs typeface="SimSun"/>
              </a:rPr>
              <a:t> </a:t>
            </a:r>
            <a:r>
              <a:rPr sz="2050" spc="55" dirty="0">
                <a:solidFill>
                  <a:srgbClr val="FF0000"/>
                </a:solidFill>
                <a:latin typeface="SimSun"/>
                <a:cs typeface="SimSun"/>
              </a:rPr>
              <a:t>20</a:t>
            </a:r>
            <a:endParaRPr sz="2050">
              <a:latin typeface="SimSun"/>
              <a:cs typeface="SimSun"/>
            </a:endParaRPr>
          </a:p>
          <a:p>
            <a:pPr marL="300990">
              <a:lnSpc>
                <a:spcPct val="100000"/>
              </a:lnSpc>
              <a:spcBef>
                <a:spcPts val="150"/>
              </a:spcBef>
            </a:pPr>
            <a:r>
              <a:rPr sz="1950" spc="135" dirty="0">
                <a:solidFill>
                  <a:srgbClr val="231F20"/>
                </a:solidFill>
                <a:latin typeface="Arial"/>
                <a:cs typeface="Arial"/>
              </a:rPr>
              <a:t>Can </a:t>
            </a:r>
            <a:r>
              <a:rPr sz="1950" spc="75" dirty="0">
                <a:solidFill>
                  <a:srgbClr val="231F20"/>
                </a:solidFill>
                <a:latin typeface="Arial"/>
                <a:cs typeface="Arial"/>
              </a:rPr>
              <a:t>keep </a:t>
            </a:r>
            <a:r>
              <a:rPr sz="1950" spc="105" dirty="0">
                <a:solidFill>
                  <a:srgbClr val="231F20"/>
                </a:solidFill>
                <a:latin typeface="Arial"/>
                <a:cs typeface="Arial"/>
              </a:rPr>
              <a:t>increasing </a:t>
            </a:r>
            <a:r>
              <a:rPr sz="1950" spc="175" dirty="0">
                <a:solidFill>
                  <a:srgbClr val="231F20"/>
                </a:solidFill>
                <a:latin typeface="Arial"/>
                <a:cs typeface="Arial"/>
              </a:rPr>
              <a:t>the </a:t>
            </a:r>
            <a:r>
              <a:rPr sz="1950" spc="160" dirty="0">
                <a:solidFill>
                  <a:srgbClr val="231F20"/>
                </a:solidFill>
                <a:latin typeface="Arial"/>
                <a:cs typeface="Arial"/>
              </a:rPr>
              <a:t>depth, </a:t>
            </a:r>
            <a:r>
              <a:rPr sz="1950" spc="220" dirty="0">
                <a:solidFill>
                  <a:srgbClr val="231F20"/>
                </a:solidFill>
                <a:latin typeface="Arial"/>
                <a:cs typeface="Arial"/>
              </a:rPr>
              <a:t>but </a:t>
            </a:r>
            <a:r>
              <a:rPr sz="1950" spc="204" dirty="0">
                <a:solidFill>
                  <a:srgbClr val="231F20"/>
                </a:solidFill>
                <a:latin typeface="Arial"/>
                <a:cs typeface="Arial"/>
              </a:rPr>
              <a:t>what </a:t>
            </a:r>
            <a:r>
              <a:rPr sz="1950" spc="90" dirty="0">
                <a:solidFill>
                  <a:srgbClr val="231F20"/>
                </a:solidFill>
                <a:latin typeface="Arial"/>
                <a:cs typeface="Arial"/>
              </a:rPr>
              <a:t>does </a:t>
            </a:r>
            <a:r>
              <a:rPr sz="1950" spc="235" dirty="0">
                <a:solidFill>
                  <a:srgbClr val="231F20"/>
                </a:solidFill>
                <a:latin typeface="Arial"/>
                <a:cs typeface="Arial"/>
              </a:rPr>
              <a:t>that </a:t>
            </a:r>
            <a:r>
              <a:rPr sz="1950" spc="145" dirty="0">
                <a:solidFill>
                  <a:srgbClr val="231F20"/>
                </a:solidFill>
                <a:latin typeface="Arial"/>
                <a:cs typeface="Arial"/>
              </a:rPr>
              <a:t>tell </a:t>
            </a:r>
            <a:r>
              <a:rPr sz="1950" spc="735" dirty="0">
                <a:solidFill>
                  <a:srgbClr val="231F20"/>
                </a:solidFill>
                <a:latin typeface="Arial"/>
                <a:cs typeface="Arial"/>
              </a:rPr>
              <a:t> </a:t>
            </a:r>
            <a:r>
              <a:rPr sz="1950" spc="70" dirty="0">
                <a:solidFill>
                  <a:srgbClr val="231F20"/>
                </a:solidFill>
                <a:latin typeface="Arial"/>
                <a:cs typeface="Arial"/>
              </a:rPr>
              <a:t>us?</a:t>
            </a:r>
            <a:endParaRPr sz="1950">
              <a:latin typeface="Arial"/>
              <a:cs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19082" y="1119949"/>
            <a:ext cx="4421505" cy="314960"/>
          </a:xfrm>
          <a:prstGeom prst="rect">
            <a:avLst/>
          </a:prstGeom>
        </p:spPr>
        <p:txBody>
          <a:bodyPr vert="horz" wrap="square" lIns="0" tIns="0" rIns="0" bIns="0" rtlCol="0">
            <a:spAutoFit/>
          </a:bodyPr>
          <a:lstStyle/>
          <a:p>
            <a:pPr marL="12700">
              <a:lnSpc>
                <a:spcPct val="100000"/>
              </a:lnSpc>
            </a:pPr>
            <a:r>
              <a:rPr sz="1950" spc="270" dirty="0">
                <a:solidFill>
                  <a:srgbClr val="231F20"/>
                </a:solidFill>
                <a:latin typeface="Arial"/>
                <a:cs typeface="Arial"/>
              </a:rPr>
              <a:t>Extending </a:t>
            </a:r>
            <a:r>
              <a:rPr sz="1950" spc="475" dirty="0">
                <a:solidFill>
                  <a:srgbClr val="231F20"/>
                </a:solidFill>
                <a:latin typeface="Arial"/>
                <a:cs typeface="Arial"/>
              </a:rPr>
              <a:t>BMC </a:t>
            </a:r>
            <a:r>
              <a:rPr sz="1950" spc="355" dirty="0">
                <a:solidFill>
                  <a:srgbClr val="231F20"/>
                </a:solidFill>
                <a:latin typeface="Arial"/>
                <a:cs typeface="Arial"/>
              </a:rPr>
              <a:t>to</a:t>
            </a:r>
            <a:r>
              <a:rPr sz="1950" spc="295" dirty="0">
                <a:solidFill>
                  <a:srgbClr val="231F20"/>
                </a:solidFill>
                <a:latin typeface="Arial"/>
                <a:cs typeface="Arial"/>
              </a:rPr>
              <a:t> </a:t>
            </a:r>
            <a:r>
              <a:rPr sz="1950" spc="245" dirty="0">
                <a:solidFill>
                  <a:srgbClr val="231F20"/>
                </a:solidFill>
                <a:latin typeface="Arial"/>
                <a:cs typeface="Arial"/>
              </a:rPr>
              <a:t>Verification</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727895" rIns="0" bIns="0" rtlCol="0">
            <a:spAutoFit/>
          </a:bodyPr>
          <a:lstStyle/>
          <a:p>
            <a:pPr marL="300990" indent="-288290">
              <a:lnSpc>
                <a:spcPct val="100000"/>
              </a:lnSpc>
              <a:buClr>
                <a:srgbClr val="231F20"/>
              </a:buClr>
              <a:buSzPct val="105128"/>
              <a:buFont typeface="Lucida Sans Unicode"/>
              <a:buChar char="•"/>
              <a:tabLst>
                <a:tab pos="301625" algn="l"/>
              </a:tabLst>
            </a:pPr>
            <a:r>
              <a:rPr sz="1950" spc="195" dirty="0">
                <a:latin typeface="Arial"/>
                <a:cs typeface="Arial"/>
              </a:rPr>
              <a:t>We</a:t>
            </a:r>
            <a:r>
              <a:rPr sz="1950" spc="280" dirty="0">
                <a:latin typeface="Arial"/>
                <a:cs typeface="Arial"/>
              </a:rPr>
              <a:t> </a:t>
            </a:r>
            <a:r>
              <a:rPr sz="1950" spc="114" dirty="0">
                <a:latin typeface="Arial"/>
                <a:cs typeface="Arial"/>
              </a:rPr>
              <a:t>should</a:t>
            </a:r>
            <a:r>
              <a:rPr sz="1950" spc="280" dirty="0">
                <a:latin typeface="Arial"/>
                <a:cs typeface="Arial"/>
              </a:rPr>
              <a:t> </a:t>
            </a:r>
            <a:r>
              <a:rPr sz="1950" spc="110" dirty="0">
                <a:latin typeface="Arial"/>
                <a:cs typeface="Arial"/>
              </a:rPr>
              <a:t>require</a:t>
            </a:r>
            <a:r>
              <a:rPr sz="1950" spc="280" dirty="0">
                <a:latin typeface="Arial"/>
                <a:cs typeface="Arial"/>
              </a:rPr>
              <a:t> </a:t>
            </a:r>
            <a:r>
              <a:rPr sz="1950" spc="235" dirty="0">
                <a:latin typeface="Arial"/>
                <a:cs typeface="Arial"/>
              </a:rPr>
              <a:t>that</a:t>
            </a:r>
            <a:r>
              <a:rPr sz="1950" spc="275" dirty="0">
                <a:latin typeface="Arial"/>
                <a:cs typeface="Arial"/>
              </a:rPr>
              <a:t> </a:t>
            </a:r>
            <a:r>
              <a:rPr i="1" spc="15" dirty="0">
                <a:latin typeface="Meiryo"/>
                <a:cs typeface="Meiryo"/>
              </a:rPr>
              <a:t>s</a:t>
            </a:r>
            <a:r>
              <a:rPr sz="2175" spc="22" baseline="-11494" dirty="0">
                <a:latin typeface="PMingLiU"/>
                <a:cs typeface="PMingLiU"/>
              </a:rPr>
              <a:t>0</a:t>
            </a:r>
            <a:r>
              <a:rPr sz="2050" i="1" spc="15" dirty="0">
                <a:latin typeface="Meiryo"/>
                <a:cs typeface="Meiryo"/>
              </a:rPr>
              <a:t>,</a:t>
            </a:r>
            <a:r>
              <a:rPr sz="2050" i="1" spc="-355" dirty="0">
                <a:latin typeface="Meiryo"/>
                <a:cs typeface="Meiryo"/>
              </a:rPr>
              <a:t> </a:t>
            </a:r>
            <a:r>
              <a:rPr sz="2050" i="1" spc="-145" dirty="0">
                <a:latin typeface="Meiryo"/>
                <a:cs typeface="Meiryo"/>
              </a:rPr>
              <a:t>.</a:t>
            </a:r>
            <a:r>
              <a:rPr sz="2050" i="1" spc="-355" dirty="0">
                <a:latin typeface="Meiryo"/>
                <a:cs typeface="Meiryo"/>
              </a:rPr>
              <a:t> </a:t>
            </a:r>
            <a:r>
              <a:rPr sz="2050" i="1" spc="-145" dirty="0">
                <a:latin typeface="Meiryo"/>
                <a:cs typeface="Meiryo"/>
              </a:rPr>
              <a:t>.</a:t>
            </a:r>
            <a:r>
              <a:rPr sz="2050" i="1" spc="-355" dirty="0">
                <a:latin typeface="Meiryo"/>
                <a:cs typeface="Meiryo"/>
              </a:rPr>
              <a:t> </a:t>
            </a:r>
            <a:r>
              <a:rPr sz="2050" i="1" spc="-145" dirty="0">
                <a:latin typeface="Meiryo"/>
                <a:cs typeface="Meiryo"/>
              </a:rPr>
              <a:t>.</a:t>
            </a:r>
            <a:r>
              <a:rPr sz="2050" i="1" spc="-355" dirty="0">
                <a:latin typeface="Meiryo"/>
                <a:cs typeface="Meiryo"/>
              </a:rPr>
              <a:t> </a:t>
            </a:r>
            <a:r>
              <a:rPr sz="2050" i="1" spc="-145" dirty="0">
                <a:latin typeface="Meiryo"/>
                <a:cs typeface="Meiryo"/>
              </a:rPr>
              <a:t>,</a:t>
            </a:r>
            <a:r>
              <a:rPr sz="2050" i="1" spc="-355" dirty="0">
                <a:latin typeface="Meiryo"/>
                <a:cs typeface="Meiryo"/>
              </a:rPr>
              <a:t> </a:t>
            </a:r>
            <a:r>
              <a:rPr sz="2050" i="1" spc="-15" dirty="0">
                <a:latin typeface="Meiryo"/>
                <a:cs typeface="Meiryo"/>
              </a:rPr>
              <a:t>s</a:t>
            </a:r>
            <a:r>
              <a:rPr sz="2175" i="1" spc="-22" baseline="-11494" dirty="0">
                <a:latin typeface="Verdana"/>
                <a:cs typeface="Verdana"/>
              </a:rPr>
              <a:t>k</a:t>
            </a:r>
            <a:r>
              <a:rPr sz="2175" i="1" spc="-562" baseline="-11494" dirty="0">
                <a:latin typeface="Verdana"/>
                <a:cs typeface="Verdana"/>
              </a:rPr>
              <a:t> </a:t>
            </a:r>
            <a:r>
              <a:rPr sz="1950" spc="85" dirty="0">
                <a:latin typeface="Arial"/>
                <a:cs typeface="Arial"/>
              </a:rPr>
              <a:t>a</a:t>
            </a:r>
            <a:r>
              <a:rPr sz="1950" spc="280" dirty="0">
                <a:latin typeface="Arial"/>
                <a:cs typeface="Arial"/>
              </a:rPr>
              <a:t> </a:t>
            </a:r>
            <a:r>
              <a:rPr sz="1950" spc="65" dirty="0">
                <a:latin typeface="Arial"/>
                <a:cs typeface="Arial"/>
              </a:rPr>
              <a:t>are</a:t>
            </a:r>
            <a:r>
              <a:rPr sz="1950" spc="280" dirty="0">
                <a:latin typeface="Arial"/>
                <a:cs typeface="Arial"/>
              </a:rPr>
              <a:t> </a:t>
            </a:r>
            <a:r>
              <a:rPr sz="1950" spc="165" dirty="0">
                <a:latin typeface="Arial"/>
                <a:cs typeface="Arial"/>
              </a:rPr>
              <a:t>distinct</a:t>
            </a:r>
            <a:endParaRPr sz="1950">
              <a:latin typeface="Arial"/>
              <a:cs typeface="Arial"/>
            </a:endParaRPr>
          </a:p>
        </p:txBody>
      </p:sp>
      <p:sp>
        <p:nvSpPr>
          <p:cNvPr id="4" name="object 4"/>
          <p:cNvSpPr txBox="1"/>
          <p:nvPr/>
        </p:nvSpPr>
        <p:spPr>
          <a:xfrm>
            <a:off x="896440" y="2099271"/>
            <a:ext cx="8260080" cy="3541395"/>
          </a:xfrm>
          <a:prstGeom prst="rect">
            <a:avLst/>
          </a:prstGeom>
        </p:spPr>
        <p:txBody>
          <a:bodyPr vert="horz" wrap="square" lIns="0" tIns="0" rIns="0" bIns="0" rtlCol="0">
            <a:spAutoFit/>
          </a:bodyPr>
          <a:lstStyle/>
          <a:p>
            <a:pPr marL="741680" indent="-288290">
              <a:lnSpc>
                <a:spcPct val="100000"/>
              </a:lnSpc>
              <a:buSzPct val="105128"/>
              <a:buFont typeface="Lucida Sans Unicode"/>
              <a:buChar char="◦"/>
              <a:tabLst>
                <a:tab pos="742315" algn="l"/>
              </a:tabLst>
            </a:pPr>
            <a:r>
              <a:rPr sz="1950" spc="155" dirty="0">
                <a:solidFill>
                  <a:srgbClr val="231F20"/>
                </a:solidFill>
                <a:latin typeface="Arial"/>
                <a:cs typeface="Arial"/>
              </a:rPr>
              <a:t>Otherwise </a:t>
            </a:r>
            <a:r>
              <a:rPr sz="1950" spc="130" dirty="0">
                <a:solidFill>
                  <a:srgbClr val="231F20"/>
                </a:solidFill>
                <a:latin typeface="Arial"/>
                <a:cs typeface="Arial"/>
              </a:rPr>
              <a:t>there’s </a:t>
            </a:r>
            <a:r>
              <a:rPr sz="1950" spc="85" dirty="0">
                <a:solidFill>
                  <a:srgbClr val="231F20"/>
                </a:solidFill>
                <a:latin typeface="Arial"/>
                <a:cs typeface="Arial"/>
              </a:rPr>
              <a:t>a </a:t>
            </a:r>
            <a:r>
              <a:rPr sz="1950" spc="130" dirty="0">
                <a:solidFill>
                  <a:srgbClr val="231F20"/>
                </a:solidFill>
                <a:latin typeface="Arial"/>
                <a:cs typeface="Arial"/>
              </a:rPr>
              <a:t>shorter</a:t>
            </a:r>
            <a:r>
              <a:rPr sz="1950" spc="795" dirty="0">
                <a:solidFill>
                  <a:srgbClr val="231F20"/>
                </a:solidFill>
                <a:latin typeface="Arial"/>
                <a:cs typeface="Arial"/>
              </a:rPr>
              <a:t> </a:t>
            </a:r>
            <a:r>
              <a:rPr sz="1950" spc="135" dirty="0">
                <a:solidFill>
                  <a:srgbClr val="231F20"/>
                </a:solidFill>
                <a:latin typeface="Arial"/>
                <a:cs typeface="Arial"/>
              </a:rPr>
              <a:t>counterexample</a:t>
            </a:r>
            <a:endParaRPr sz="1950">
              <a:latin typeface="Arial"/>
              <a:cs typeface="Arial"/>
            </a:endParaRPr>
          </a:p>
          <a:p>
            <a:pPr marL="300990" indent="-288290">
              <a:lnSpc>
                <a:spcPct val="100000"/>
              </a:lnSpc>
              <a:spcBef>
                <a:spcPts val="1825"/>
              </a:spcBef>
              <a:buClr>
                <a:srgbClr val="231F20"/>
              </a:buClr>
              <a:buSzPct val="105128"/>
              <a:buFont typeface="Lucida Sans Unicode"/>
              <a:buChar char="•"/>
              <a:tabLst>
                <a:tab pos="301625" algn="l"/>
              </a:tabLst>
            </a:pPr>
            <a:r>
              <a:rPr sz="1950" spc="200" dirty="0">
                <a:solidFill>
                  <a:srgbClr val="0000FF"/>
                </a:solidFill>
                <a:latin typeface="Arial"/>
                <a:cs typeface="Arial"/>
              </a:rPr>
              <a:t>And </a:t>
            </a:r>
            <a:r>
              <a:rPr sz="1950" spc="95" dirty="0">
                <a:solidFill>
                  <a:srgbClr val="0000FF"/>
                </a:solidFill>
                <a:latin typeface="Arial"/>
                <a:cs typeface="Arial"/>
              </a:rPr>
              <a:t>we </a:t>
            </a:r>
            <a:r>
              <a:rPr sz="1950" spc="114" dirty="0">
                <a:solidFill>
                  <a:srgbClr val="0000FF"/>
                </a:solidFill>
                <a:latin typeface="Arial"/>
                <a:cs typeface="Arial"/>
              </a:rPr>
              <a:t>should </a:t>
            </a:r>
            <a:r>
              <a:rPr sz="1950" spc="220" dirty="0">
                <a:solidFill>
                  <a:srgbClr val="0000FF"/>
                </a:solidFill>
                <a:latin typeface="Arial"/>
                <a:cs typeface="Arial"/>
              </a:rPr>
              <a:t>not </a:t>
            </a:r>
            <a:r>
              <a:rPr sz="1950" spc="125" dirty="0">
                <a:solidFill>
                  <a:srgbClr val="0000FF"/>
                </a:solidFill>
                <a:latin typeface="Arial"/>
                <a:cs typeface="Arial"/>
              </a:rPr>
              <a:t>allow </a:t>
            </a:r>
            <a:r>
              <a:rPr sz="1950" spc="120" dirty="0">
                <a:solidFill>
                  <a:srgbClr val="0000FF"/>
                </a:solidFill>
                <a:latin typeface="Arial"/>
                <a:cs typeface="Arial"/>
              </a:rPr>
              <a:t>any </a:t>
            </a:r>
            <a:r>
              <a:rPr sz="1950" spc="220" dirty="0">
                <a:solidFill>
                  <a:srgbClr val="0000FF"/>
                </a:solidFill>
                <a:latin typeface="Arial"/>
                <a:cs typeface="Arial"/>
              </a:rPr>
              <a:t>but </a:t>
            </a:r>
            <a:r>
              <a:rPr sz="2050" i="1" spc="40" dirty="0">
                <a:solidFill>
                  <a:srgbClr val="0000FF"/>
                </a:solidFill>
                <a:latin typeface="Meiryo"/>
                <a:cs typeface="Meiryo"/>
              </a:rPr>
              <a:t>s</a:t>
            </a:r>
            <a:r>
              <a:rPr sz="2175" spc="60" baseline="-11494" dirty="0">
                <a:solidFill>
                  <a:srgbClr val="0000FF"/>
                </a:solidFill>
                <a:latin typeface="PMingLiU"/>
                <a:cs typeface="PMingLiU"/>
              </a:rPr>
              <a:t>0  </a:t>
            </a:r>
            <a:r>
              <a:rPr sz="1950" spc="250" dirty="0">
                <a:solidFill>
                  <a:srgbClr val="0000FF"/>
                </a:solidFill>
                <a:latin typeface="Arial"/>
                <a:cs typeface="Arial"/>
              </a:rPr>
              <a:t>to </a:t>
            </a:r>
            <a:r>
              <a:rPr sz="1950" spc="120" dirty="0">
                <a:solidFill>
                  <a:srgbClr val="0000FF"/>
                </a:solidFill>
                <a:latin typeface="Arial"/>
                <a:cs typeface="Arial"/>
              </a:rPr>
              <a:t>satisfy </a:t>
            </a:r>
            <a:r>
              <a:rPr sz="1950" spc="605" dirty="0">
                <a:solidFill>
                  <a:srgbClr val="0000FF"/>
                </a:solidFill>
                <a:latin typeface="Arial"/>
                <a:cs typeface="Arial"/>
              </a:rPr>
              <a:t> </a:t>
            </a:r>
            <a:r>
              <a:rPr sz="2050" i="1" spc="80" dirty="0">
                <a:solidFill>
                  <a:srgbClr val="0000FF"/>
                </a:solidFill>
                <a:latin typeface="Meiryo"/>
                <a:cs typeface="Meiryo"/>
              </a:rPr>
              <a:t>I</a:t>
            </a:r>
            <a:endParaRPr sz="2050">
              <a:latin typeface="Meiryo"/>
              <a:cs typeface="Meiryo"/>
            </a:endParaRPr>
          </a:p>
          <a:p>
            <a:pPr marL="741680" lvl="1" indent="-288290">
              <a:lnSpc>
                <a:spcPct val="100000"/>
              </a:lnSpc>
              <a:spcBef>
                <a:spcPts val="1080"/>
              </a:spcBef>
              <a:buSzPct val="105128"/>
              <a:buFont typeface="Lucida Sans Unicode"/>
              <a:buChar char="◦"/>
              <a:tabLst>
                <a:tab pos="742315" algn="l"/>
              </a:tabLst>
            </a:pPr>
            <a:r>
              <a:rPr sz="1950" spc="155" dirty="0">
                <a:solidFill>
                  <a:srgbClr val="231F20"/>
                </a:solidFill>
                <a:latin typeface="Arial"/>
                <a:cs typeface="Arial"/>
              </a:rPr>
              <a:t>Otherwise </a:t>
            </a:r>
            <a:r>
              <a:rPr sz="1950" spc="130" dirty="0">
                <a:solidFill>
                  <a:srgbClr val="231F20"/>
                </a:solidFill>
                <a:latin typeface="Arial"/>
                <a:cs typeface="Arial"/>
              </a:rPr>
              <a:t>there’s </a:t>
            </a:r>
            <a:r>
              <a:rPr sz="1950" spc="85" dirty="0">
                <a:solidFill>
                  <a:srgbClr val="231F20"/>
                </a:solidFill>
                <a:latin typeface="Arial"/>
                <a:cs typeface="Arial"/>
              </a:rPr>
              <a:t>a </a:t>
            </a:r>
            <a:r>
              <a:rPr sz="1950" spc="130" dirty="0">
                <a:solidFill>
                  <a:srgbClr val="231F20"/>
                </a:solidFill>
                <a:latin typeface="Arial"/>
                <a:cs typeface="Arial"/>
              </a:rPr>
              <a:t>shorter</a:t>
            </a:r>
            <a:r>
              <a:rPr sz="1950" spc="795" dirty="0">
                <a:solidFill>
                  <a:srgbClr val="231F20"/>
                </a:solidFill>
                <a:latin typeface="Arial"/>
                <a:cs typeface="Arial"/>
              </a:rPr>
              <a:t> </a:t>
            </a:r>
            <a:r>
              <a:rPr sz="1950" spc="135" dirty="0">
                <a:solidFill>
                  <a:srgbClr val="231F20"/>
                </a:solidFill>
                <a:latin typeface="Arial"/>
                <a:cs typeface="Arial"/>
              </a:rPr>
              <a:t>counterexample</a:t>
            </a:r>
            <a:endParaRPr sz="1950">
              <a:latin typeface="Arial"/>
              <a:cs typeface="Arial"/>
            </a:endParaRPr>
          </a:p>
          <a:p>
            <a:pPr marL="300990" marR="5080" indent="-288290" algn="just">
              <a:lnSpc>
                <a:spcPct val="118900"/>
              </a:lnSpc>
              <a:spcBef>
                <a:spcPts val="1360"/>
              </a:spcBef>
              <a:buClr>
                <a:srgbClr val="231F20"/>
              </a:buClr>
              <a:buSzPct val="105128"/>
              <a:buFont typeface="Lucida Sans Unicode"/>
              <a:buChar char="•"/>
              <a:tabLst>
                <a:tab pos="301625" algn="l"/>
              </a:tabLst>
            </a:pPr>
            <a:r>
              <a:rPr sz="1950" spc="150" dirty="0">
                <a:solidFill>
                  <a:srgbClr val="FF0000"/>
                </a:solidFill>
                <a:latin typeface="Arial"/>
                <a:cs typeface="Arial"/>
              </a:rPr>
              <a:t>If </a:t>
            </a:r>
            <a:r>
              <a:rPr sz="1950" spc="130" dirty="0">
                <a:solidFill>
                  <a:srgbClr val="FF0000"/>
                </a:solidFill>
                <a:latin typeface="Arial"/>
                <a:cs typeface="Arial"/>
              </a:rPr>
              <a:t>there’s </a:t>
            </a:r>
            <a:r>
              <a:rPr sz="1950" spc="155" dirty="0">
                <a:solidFill>
                  <a:srgbClr val="FF0000"/>
                </a:solidFill>
                <a:latin typeface="Arial"/>
                <a:cs typeface="Arial"/>
              </a:rPr>
              <a:t>no </a:t>
            </a:r>
            <a:r>
              <a:rPr sz="1950" spc="185" dirty="0">
                <a:solidFill>
                  <a:srgbClr val="FF0000"/>
                </a:solidFill>
                <a:latin typeface="Arial"/>
                <a:cs typeface="Arial"/>
              </a:rPr>
              <a:t>path of </a:t>
            </a:r>
            <a:r>
              <a:rPr sz="1950" spc="155" dirty="0">
                <a:solidFill>
                  <a:srgbClr val="FF0000"/>
                </a:solidFill>
                <a:latin typeface="Arial"/>
                <a:cs typeface="Arial"/>
              </a:rPr>
              <a:t>length </a:t>
            </a:r>
            <a:r>
              <a:rPr sz="2050" i="1" spc="-55" dirty="0">
                <a:solidFill>
                  <a:srgbClr val="FF0000"/>
                </a:solidFill>
                <a:latin typeface="Meiryo"/>
                <a:cs typeface="Meiryo"/>
              </a:rPr>
              <a:t>k </a:t>
            </a:r>
            <a:r>
              <a:rPr sz="1950" spc="125" dirty="0">
                <a:solidFill>
                  <a:srgbClr val="FF0000"/>
                </a:solidFill>
                <a:latin typeface="Arial"/>
                <a:cs typeface="Arial"/>
              </a:rPr>
              <a:t>satisfying </a:t>
            </a:r>
            <a:r>
              <a:rPr sz="1950" spc="100" dirty="0">
                <a:solidFill>
                  <a:srgbClr val="FF0000"/>
                </a:solidFill>
                <a:latin typeface="Arial"/>
                <a:cs typeface="Arial"/>
              </a:rPr>
              <a:t>these </a:t>
            </a:r>
            <a:r>
              <a:rPr sz="1950" spc="200" dirty="0">
                <a:solidFill>
                  <a:srgbClr val="FF0000"/>
                </a:solidFill>
                <a:latin typeface="Arial"/>
                <a:cs typeface="Arial"/>
              </a:rPr>
              <a:t>two </a:t>
            </a:r>
            <a:r>
              <a:rPr sz="1950" spc="145" dirty="0">
                <a:solidFill>
                  <a:srgbClr val="FF0000"/>
                </a:solidFill>
                <a:latin typeface="Arial"/>
                <a:cs typeface="Arial"/>
              </a:rPr>
              <a:t>constraints,  </a:t>
            </a:r>
            <a:r>
              <a:rPr sz="1950" spc="130" dirty="0">
                <a:solidFill>
                  <a:srgbClr val="FF0000"/>
                </a:solidFill>
                <a:latin typeface="Arial"/>
                <a:cs typeface="Arial"/>
              </a:rPr>
              <a:t>and </a:t>
            </a:r>
            <a:r>
              <a:rPr sz="1950" spc="155" dirty="0">
                <a:solidFill>
                  <a:srgbClr val="FF0000"/>
                </a:solidFill>
                <a:latin typeface="Arial"/>
                <a:cs typeface="Arial"/>
              </a:rPr>
              <a:t>no </a:t>
            </a:r>
            <a:r>
              <a:rPr sz="1950" spc="135" dirty="0">
                <a:solidFill>
                  <a:srgbClr val="FF0000"/>
                </a:solidFill>
                <a:latin typeface="Arial"/>
                <a:cs typeface="Arial"/>
              </a:rPr>
              <a:t>counterexample </a:t>
            </a:r>
            <a:r>
              <a:rPr sz="1950" spc="70" dirty="0">
                <a:solidFill>
                  <a:srgbClr val="FF0000"/>
                </a:solidFill>
                <a:latin typeface="Arial"/>
                <a:cs typeface="Arial"/>
              </a:rPr>
              <a:t>has </a:t>
            </a:r>
            <a:r>
              <a:rPr sz="1950" spc="100" dirty="0">
                <a:solidFill>
                  <a:srgbClr val="FF0000"/>
                </a:solidFill>
                <a:latin typeface="Arial"/>
                <a:cs typeface="Arial"/>
              </a:rPr>
              <a:t>been </a:t>
            </a:r>
            <a:r>
              <a:rPr sz="1950" spc="165" dirty="0">
                <a:solidFill>
                  <a:srgbClr val="FF0000"/>
                </a:solidFill>
                <a:latin typeface="Arial"/>
                <a:cs typeface="Arial"/>
              </a:rPr>
              <a:t>found </a:t>
            </a:r>
            <a:r>
              <a:rPr sz="1950" spc="185" dirty="0">
                <a:solidFill>
                  <a:srgbClr val="FF0000"/>
                </a:solidFill>
                <a:latin typeface="Arial"/>
                <a:cs typeface="Arial"/>
              </a:rPr>
              <a:t>of </a:t>
            </a:r>
            <a:r>
              <a:rPr sz="1950" spc="155" dirty="0">
                <a:solidFill>
                  <a:srgbClr val="FF0000"/>
                </a:solidFill>
                <a:latin typeface="Arial"/>
                <a:cs typeface="Arial"/>
              </a:rPr>
              <a:t>length </a:t>
            </a:r>
            <a:r>
              <a:rPr sz="1950" spc="15" dirty="0">
                <a:solidFill>
                  <a:srgbClr val="FF0000"/>
                </a:solidFill>
                <a:latin typeface="Arial"/>
                <a:cs typeface="Arial"/>
              </a:rPr>
              <a:t>less </a:t>
            </a:r>
            <a:r>
              <a:rPr sz="1950" spc="185" dirty="0">
                <a:solidFill>
                  <a:srgbClr val="FF0000"/>
                </a:solidFill>
                <a:latin typeface="Arial"/>
                <a:cs typeface="Arial"/>
              </a:rPr>
              <a:t>than </a:t>
            </a:r>
            <a:r>
              <a:rPr sz="2050" i="1" spc="75" dirty="0">
                <a:solidFill>
                  <a:srgbClr val="FF0000"/>
                </a:solidFill>
                <a:latin typeface="Meiryo"/>
                <a:cs typeface="Meiryo"/>
              </a:rPr>
              <a:t>k</a:t>
            </a:r>
            <a:r>
              <a:rPr sz="1950" spc="75" dirty="0">
                <a:solidFill>
                  <a:srgbClr val="FF0000"/>
                </a:solidFill>
                <a:latin typeface="Arial"/>
                <a:cs typeface="Arial"/>
              </a:rPr>
              <a:t>,  </a:t>
            </a:r>
            <a:r>
              <a:rPr sz="1950" spc="165" dirty="0">
                <a:solidFill>
                  <a:srgbClr val="FF0000"/>
                </a:solidFill>
                <a:latin typeface="Arial"/>
                <a:cs typeface="Arial"/>
              </a:rPr>
              <a:t>then </a:t>
            </a:r>
            <a:r>
              <a:rPr sz="1950" spc="95" dirty="0">
                <a:solidFill>
                  <a:srgbClr val="FF0000"/>
                </a:solidFill>
                <a:latin typeface="Arial"/>
                <a:cs typeface="Arial"/>
              </a:rPr>
              <a:t>we have </a:t>
            </a:r>
            <a:r>
              <a:rPr sz="1950" spc="114" dirty="0">
                <a:solidFill>
                  <a:srgbClr val="0000FF"/>
                </a:solidFill>
                <a:latin typeface="Arial"/>
                <a:cs typeface="Arial"/>
              </a:rPr>
              <a:t>verified</a:t>
            </a:r>
            <a:r>
              <a:rPr sz="1950" spc="695" dirty="0">
                <a:solidFill>
                  <a:srgbClr val="0000FF"/>
                </a:solidFill>
                <a:latin typeface="Arial"/>
                <a:cs typeface="Arial"/>
              </a:rPr>
              <a:t> </a:t>
            </a:r>
            <a:r>
              <a:rPr sz="2050" i="1" spc="65" dirty="0">
                <a:solidFill>
                  <a:srgbClr val="FF0000"/>
                </a:solidFill>
                <a:latin typeface="Meiryo"/>
                <a:cs typeface="Meiryo"/>
              </a:rPr>
              <a:t>P</a:t>
            </a:r>
            <a:endParaRPr sz="2050">
              <a:latin typeface="Meiryo"/>
              <a:cs typeface="Meiryo"/>
            </a:endParaRPr>
          </a:p>
          <a:p>
            <a:pPr marL="741680" lvl="1" indent="-288290">
              <a:lnSpc>
                <a:spcPct val="100000"/>
              </a:lnSpc>
              <a:spcBef>
                <a:spcPts val="1080"/>
              </a:spcBef>
              <a:buSzPct val="105128"/>
              <a:buFont typeface="Lucida Sans Unicode"/>
              <a:buChar char="◦"/>
              <a:tabLst>
                <a:tab pos="742315" algn="l"/>
              </a:tabLst>
            </a:pPr>
            <a:r>
              <a:rPr sz="1950" spc="225" dirty="0">
                <a:solidFill>
                  <a:srgbClr val="231F20"/>
                </a:solidFill>
                <a:latin typeface="Arial"/>
                <a:cs typeface="Arial"/>
              </a:rPr>
              <a:t>By </a:t>
            </a:r>
            <a:r>
              <a:rPr sz="1950" spc="150" dirty="0">
                <a:solidFill>
                  <a:srgbClr val="231F20"/>
                </a:solidFill>
                <a:latin typeface="Arial"/>
                <a:cs typeface="Arial"/>
              </a:rPr>
              <a:t>finding </a:t>
            </a:r>
            <a:r>
              <a:rPr sz="1950" spc="145" dirty="0">
                <a:solidFill>
                  <a:srgbClr val="231F20"/>
                </a:solidFill>
                <a:latin typeface="Arial"/>
                <a:cs typeface="Arial"/>
              </a:rPr>
              <a:t>its </a:t>
            </a:r>
            <a:r>
              <a:rPr sz="1950" spc="160" dirty="0">
                <a:solidFill>
                  <a:srgbClr val="231F20"/>
                </a:solidFill>
                <a:latin typeface="Arial"/>
                <a:cs typeface="Arial"/>
              </a:rPr>
              <a:t>finite</a:t>
            </a:r>
            <a:r>
              <a:rPr sz="1950" spc="560" dirty="0">
                <a:solidFill>
                  <a:srgbClr val="231F20"/>
                </a:solidFill>
                <a:latin typeface="Arial"/>
                <a:cs typeface="Arial"/>
              </a:rPr>
              <a:t> </a:t>
            </a:r>
            <a:r>
              <a:rPr sz="1950" spc="150" dirty="0">
                <a:solidFill>
                  <a:srgbClr val="0000FF"/>
                </a:solidFill>
                <a:latin typeface="Arial"/>
                <a:cs typeface="Arial"/>
              </a:rPr>
              <a:t>diameter</a:t>
            </a:r>
            <a:endParaRPr sz="1950">
              <a:latin typeface="Arial"/>
              <a:cs typeface="Arial"/>
            </a:endParaRPr>
          </a:p>
          <a:p>
            <a:pPr lvl="1">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35" dirty="0">
                <a:solidFill>
                  <a:srgbClr val="231F20"/>
                </a:solidFill>
                <a:latin typeface="Arial"/>
                <a:cs typeface="Arial"/>
              </a:rPr>
              <a:t>Seldom </a:t>
            </a:r>
            <a:r>
              <a:rPr sz="1950" spc="85" dirty="0">
                <a:solidFill>
                  <a:srgbClr val="231F20"/>
                </a:solidFill>
                <a:latin typeface="Arial"/>
                <a:cs typeface="Arial"/>
              </a:rPr>
              <a:t>feasible </a:t>
            </a:r>
            <a:r>
              <a:rPr sz="1950" spc="130" dirty="0">
                <a:solidFill>
                  <a:srgbClr val="231F20"/>
                </a:solidFill>
                <a:latin typeface="Arial"/>
                <a:cs typeface="Arial"/>
              </a:rPr>
              <a:t>in</a:t>
            </a:r>
            <a:r>
              <a:rPr sz="1950" spc="585" dirty="0">
                <a:solidFill>
                  <a:srgbClr val="231F20"/>
                </a:solidFill>
                <a:latin typeface="Arial"/>
                <a:cs typeface="Arial"/>
              </a:rPr>
              <a:t> </a:t>
            </a:r>
            <a:r>
              <a:rPr sz="1950" spc="130" dirty="0">
                <a:solidFill>
                  <a:srgbClr val="231F20"/>
                </a:solidFill>
                <a:latin typeface="Arial"/>
                <a:cs typeface="Arial"/>
              </a:rPr>
              <a:t>practice</a:t>
            </a:r>
            <a:endParaRPr sz="1950">
              <a:latin typeface="Arial"/>
              <a:cs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64563" y="816024"/>
            <a:ext cx="6331585" cy="314960"/>
          </a:xfrm>
          <a:prstGeom prst="rect">
            <a:avLst/>
          </a:prstGeom>
        </p:spPr>
        <p:txBody>
          <a:bodyPr vert="horz" wrap="square" lIns="0" tIns="0" rIns="0" bIns="0" rtlCol="0">
            <a:spAutoFit/>
          </a:bodyPr>
          <a:lstStyle/>
          <a:p>
            <a:pPr marL="12700">
              <a:lnSpc>
                <a:spcPct val="100000"/>
              </a:lnSpc>
            </a:pPr>
            <a:r>
              <a:rPr sz="1950" spc="229" dirty="0">
                <a:solidFill>
                  <a:srgbClr val="231F20"/>
                </a:solidFill>
                <a:latin typeface="Arial"/>
                <a:cs typeface="Arial"/>
              </a:rPr>
              <a:t>Alternatively, </a:t>
            </a:r>
            <a:r>
              <a:rPr sz="1950" spc="330" dirty="0">
                <a:solidFill>
                  <a:srgbClr val="231F20"/>
                </a:solidFill>
                <a:latin typeface="Arial"/>
                <a:cs typeface="Arial"/>
              </a:rPr>
              <a:t>Automated </a:t>
            </a:r>
            <a:r>
              <a:rPr sz="1950" spc="260" dirty="0">
                <a:solidFill>
                  <a:srgbClr val="231F20"/>
                </a:solidFill>
                <a:latin typeface="Arial"/>
                <a:cs typeface="Arial"/>
              </a:rPr>
              <a:t>Induction </a:t>
            </a:r>
            <a:r>
              <a:rPr sz="1950" spc="190" dirty="0">
                <a:solidFill>
                  <a:srgbClr val="231F20"/>
                </a:solidFill>
                <a:latin typeface="Arial"/>
                <a:cs typeface="Arial"/>
              </a:rPr>
              <a:t>via</a:t>
            </a:r>
            <a:r>
              <a:rPr sz="1950" spc="600" dirty="0">
                <a:solidFill>
                  <a:srgbClr val="231F20"/>
                </a:solidFill>
                <a:latin typeface="Arial"/>
                <a:cs typeface="Arial"/>
              </a:rPr>
              <a:t> </a:t>
            </a:r>
            <a:r>
              <a:rPr sz="1950" spc="475" dirty="0">
                <a:solidFill>
                  <a:srgbClr val="231F20"/>
                </a:solidFill>
                <a:latin typeface="Arial"/>
                <a:cs typeface="Arial"/>
              </a:rPr>
              <a:t>BMC</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424086" rIns="0" bIns="0" rtlCol="0">
            <a:spAutoFit/>
          </a:bodyPr>
          <a:lstStyle/>
          <a:p>
            <a:pPr marL="300990" indent="-288290">
              <a:lnSpc>
                <a:spcPct val="100000"/>
              </a:lnSpc>
              <a:buClr>
                <a:srgbClr val="231F20"/>
              </a:buClr>
              <a:buSzPct val="105128"/>
              <a:buFont typeface="Lucida Sans Unicode"/>
              <a:buChar char="•"/>
              <a:tabLst>
                <a:tab pos="301625" algn="l"/>
              </a:tabLst>
            </a:pPr>
            <a:r>
              <a:rPr sz="1950" spc="160" dirty="0">
                <a:latin typeface="Arial"/>
                <a:cs typeface="Arial"/>
              </a:rPr>
              <a:t>Ordinary </a:t>
            </a:r>
            <a:r>
              <a:rPr sz="1950" spc="145" dirty="0">
                <a:latin typeface="Arial"/>
                <a:cs typeface="Arial"/>
              </a:rPr>
              <a:t>inductive </a:t>
            </a:r>
            <a:r>
              <a:rPr sz="1950" spc="105" dirty="0">
                <a:latin typeface="Arial"/>
                <a:cs typeface="Arial"/>
              </a:rPr>
              <a:t>invariance </a:t>
            </a:r>
            <a:r>
              <a:rPr sz="1950" spc="195" dirty="0">
                <a:latin typeface="Arial"/>
                <a:cs typeface="Arial"/>
              </a:rPr>
              <a:t>(for </a:t>
            </a:r>
            <a:r>
              <a:rPr i="1" spc="65" dirty="0">
                <a:latin typeface="Meiryo"/>
                <a:cs typeface="Meiryo"/>
              </a:rPr>
              <a:t>P</a:t>
            </a:r>
            <a:r>
              <a:rPr i="1" spc="75" dirty="0">
                <a:latin typeface="Meiryo"/>
                <a:cs typeface="Meiryo"/>
              </a:rPr>
              <a:t> </a:t>
            </a:r>
            <a:r>
              <a:rPr sz="1950" spc="225" dirty="0">
                <a:latin typeface="Arial"/>
                <a:cs typeface="Arial"/>
              </a:rPr>
              <a:t>)</a:t>
            </a:r>
            <a:r>
              <a:rPr sz="1950" spc="225" dirty="0">
                <a:solidFill>
                  <a:srgbClr val="231F20"/>
                </a:solidFill>
                <a:latin typeface="Arial"/>
                <a:cs typeface="Arial"/>
              </a:rPr>
              <a:t>:</a:t>
            </a:r>
            <a:endParaRPr sz="1950">
              <a:latin typeface="Arial"/>
              <a:cs typeface="Arial"/>
            </a:endParaRPr>
          </a:p>
        </p:txBody>
      </p:sp>
      <p:sp>
        <p:nvSpPr>
          <p:cNvPr id="4" name="object 4"/>
          <p:cNvSpPr txBox="1">
            <a:spLocks noGrp="1"/>
          </p:cNvSpPr>
          <p:nvPr>
            <p:ph type="body" idx="1"/>
          </p:nvPr>
        </p:nvSpPr>
        <p:spPr>
          <a:prstGeom prst="rect">
            <a:avLst/>
          </a:prstGeom>
        </p:spPr>
        <p:txBody>
          <a:bodyPr vert="horz" wrap="square" lIns="0" tIns="374662" rIns="0" bIns="0" rtlCol="0">
            <a:spAutoFit/>
          </a:bodyPr>
          <a:lstStyle/>
          <a:p>
            <a:pPr marL="490855">
              <a:lnSpc>
                <a:spcPct val="100000"/>
              </a:lnSpc>
              <a:tabLst>
                <a:tab pos="1475740" algn="l"/>
              </a:tabLst>
            </a:pPr>
            <a:r>
              <a:rPr spc="195" dirty="0">
                <a:latin typeface="Arial"/>
                <a:cs typeface="Arial"/>
              </a:rPr>
              <a:t>Basis:	</a:t>
            </a:r>
            <a:r>
              <a:rPr sz="2050" i="1" spc="90" dirty="0">
                <a:latin typeface="Meiryo"/>
                <a:cs typeface="Meiryo"/>
              </a:rPr>
              <a:t>I</a:t>
            </a:r>
            <a:r>
              <a:rPr sz="2050" spc="90" dirty="0">
                <a:latin typeface="Tahoma"/>
                <a:cs typeface="Tahoma"/>
              </a:rPr>
              <a:t>(</a:t>
            </a:r>
            <a:r>
              <a:rPr sz="2050" i="1" spc="90" dirty="0">
                <a:latin typeface="Meiryo"/>
                <a:cs typeface="Meiryo"/>
              </a:rPr>
              <a:t>s</a:t>
            </a:r>
            <a:r>
              <a:rPr sz="2175" spc="135" baseline="-11494" dirty="0">
                <a:latin typeface="PMingLiU"/>
                <a:cs typeface="PMingLiU"/>
              </a:rPr>
              <a:t>0</a:t>
            </a:r>
            <a:r>
              <a:rPr sz="2050" spc="90" dirty="0">
                <a:latin typeface="Tahoma"/>
                <a:cs typeface="Tahoma"/>
              </a:rPr>
              <a:t>)</a:t>
            </a:r>
            <a:r>
              <a:rPr sz="2050" spc="-100" dirty="0">
                <a:latin typeface="Tahoma"/>
                <a:cs typeface="Tahoma"/>
              </a:rPr>
              <a:t> </a:t>
            </a:r>
            <a:r>
              <a:rPr sz="2050" spc="-25" dirty="0">
                <a:latin typeface="Lucida Sans Unicode"/>
                <a:cs typeface="Lucida Sans Unicode"/>
              </a:rPr>
              <a:t>⊃</a:t>
            </a:r>
            <a:r>
              <a:rPr sz="2050" spc="-105" dirty="0">
                <a:latin typeface="Lucida Sans Unicode"/>
                <a:cs typeface="Lucida Sans Unicode"/>
              </a:rPr>
              <a:t> </a:t>
            </a:r>
            <a:r>
              <a:rPr sz="2050" i="1" spc="65" dirty="0">
                <a:latin typeface="Meiryo"/>
                <a:cs typeface="Meiryo"/>
              </a:rPr>
              <a:t>P</a:t>
            </a:r>
            <a:r>
              <a:rPr sz="2050" i="1" spc="-425" dirty="0">
                <a:latin typeface="Meiryo"/>
                <a:cs typeface="Meiryo"/>
              </a:rPr>
              <a:t> </a:t>
            </a:r>
            <a:r>
              <a:rPr sz="2050" spc="55" dirty="0">
                <a:latin typeface="Tahoma"/>
                <a:cs typeface="Tahoma"/>
              </a:rPr>
              <a:t>(</a:t>
            </a:r>
            <a:r>
              <a:rPr sz="2050" i="1" spc="55" dirty="0">
                <a:latin typeface="Meiryo"/>
                <a:cs typeface="Meiryo"/>
              </a:rPr>
              <a:t>s</a:t>
            </a:r>
            <a:r>
              <a:rPr sz="2175" spc="82" baseline="-11494" dirty="0">
                <a:latin typeface="PMingLiU"/>
                <a:cs typeface="PMingLiU"/>
              </a:rPr>
              <a:t>0</a:t>
            </a:r>
            <a:r>
              <a:rPr sz="2050" spc="55" dirty="0">
                <a:latin typeface="Tahoma"/>
                <a:cs typeface="Tahoma"/>
              </a:rPr>
              <a:t>)</a:t>
            </a:r>
            <a:endParaRPr sz="2050">
              <a:latin typeface="Tahoma"/>
              <a:cs typeface="Tahoma"/>
            </a:endParaRPr>
          </a:p>
          <a:p>
            <a:pPr marL="490855">
              <a:lnSpc>
                <a:spcPct val="100000"/>
              </a:lnSpc>
              <a:spcBef>
                <a:spcPts val="725"/>
              </a:spcBef>
              <a:tabLst>
                <a:tab pos="1391285" algn="l"/>
              </a:tabLst>
            </a:pPr>
            <a:r>
              <a:rPr spc="254" dirty="0">
                <a:latin typeface="Arial"/>
                <a:cs typeface="Arial"/>
              </a:rPr>
              <a:t>Step:	</a:t>
            </a:r>
            <a:r>
              <a:rPr sz="2050" i="1" spc="65" dirty="0">
                <a:latin typeface="Meiryo"/>
                <a:cs typeface="Meiryo"/>
              </a:rPr>
              <a:t>P</a:t>
            </a:r>
            <a:r>
              <a:rPr sz="2050" i="1" spc="-420" dirty="0">
                <a:latin typeface="Meiryo"/>
                <a:cs typeface="Meiryo"/>
              </a:rPr>
              <a:t> </a:t>
            </a:r>
            <a:r>
              <a:rPr sz="2050" spc="90" dirty="0">
                <a:latin typeface="Tahoma"/>
                <a:cs typeface="Tahoma"/>
              </a:rPr>
              <a:t>(</a:t>
            </a:r>
            <a:r>
              <a:rPr sz="2050" i="1" spc="90" dirty="0">
                <a:latin typeface="Meiryo"/>
                <a:cs typeface="Meiryo"/>
              </a:rPr>
              <a:t>r</a:t>
            </a:r>
            <a:r>
              <a:rPr sz="2175" spc="135" baseline="-11494" dirty="0">
                <a:latin typeface="PMingLiU"/>
                <a:cs typeface="PMingLiU"/>
              </a:rPr>
              <a:t>0</a:t>
            </a:r>
            <a:r>
              <a:rPr sz="2050" spc="90" dirty="0">
                <a:latin typeface="Tahoma"/>
                <a:cs typeface="Tahoma"/>
              </a:rPr>
              <a:t>)</a:t>
            </a:r>
            <a:r>
              <a:rPr sz="2050" spc="-195" dirty="0">
                <a:latin typeface="Tahoma"/>
                <a:cs typeface="Tahoma"/>
              </a:rPr>
              <a:t> </a:t>
            </a:r>
            <a:r>
              <a:rPr sz="2050" spc="-254" dirty="0">
                <a:latin typeface="Lucida Sans Unicode"/>
                <a:cs typeface="Lucida Sans Unicode"/>
              </a:rPr>
              <a:t>∧</a:t>
            </a:r>
            <a:r>
              <a:rPr sz="2050" spc="-204" dirty="0">
                <a:latin typeface="Lucida Sans Unicode"/>
                <a:cs typeface="Lucida Sans Unicode"/>
              </a:rPr>
              <a:t> </a:t>
            </a:r>
            <a:r>
              <a:rPr sz="2050" i="1" spc="-100" dirty="0">
                <a:latin typeface="Meiryo"/>
                <a:cs typeface="Meiryo"/>
              </a:rPr>
              <a:t>T</a:t>
            </a:r>
            <a:r>
              <a:rPr sz="2050" i="1" spc="-420" dirty="0">
                <a:latin typeface="Meiryo"/>
                <a:cs typeface="Meiryo"/>
              </a:rPr>
              <a:t> </a:t>
            </a:r>
            <a:r>
              <a:rPr sz="2050" spc="50" dirty="0">
                <a:latin typeface="Tahoma"/>
                <a:cs typeface="Tahoma"/>
              </a:rPr>
              <a:t>(</a:t>
            </a:r>
            <a:r>
              <a:rPr sz="2050" i="1" spc="50" dirty="0">
                <a:latin typeface="Meiryo"/>
                <a:cs typeface="Meiryo"/>
              </a:rPr>
              <a:t>r</a:t>
            </a:r>
            <a:r>
              <a:rPr sz="2175" spc="75" baseline="-11494" dirty="0">
                <a:latin typeface="PMingLiU"/>
                <a:cs typeface="PMingLiU"/>
              </a:rPr>
              <a:t>0</a:t>
            </a:r>
            <a:r>
              <a:rPr sz="2050" i="1" spc="50" dirty="0">
                <a:latin typeface="Meiryo"/>
                <a:cs typeface="Meiryo"/>
              </a:rPr>
              <a:t>,</a:t>
            </a:r>
            <a:r>
              <a:rPr sz="2050" i="1" spc="-365" dirty="0">
                <a:latin typeface="Meiryo"/>
                <a:cs typeface="Meiryo"/>
              </a:rPr>
              <a:t> </a:t>
            </a:r>
            <a:r>
              <a:rPr sz="2050" i="1" spc="110" dirty="0">
                <a:latin typeface="Meiryo"/>
                <a:cs typeface="Meiryo"/>
              </a:rPr>
              <a:t>r</a:t>
            </a:r>
            <a:r>
              <a:rPr sz="2175" spc="165" baseline="-11494" dirty="0">
                <a:latin typeface="PMingLiU"/>
                <a:cs typeface="PMingLiU"/>
              </a:rPr>
              <a:t>1</a:t>
            </a:r>
            <a:r>
              <a:rPr sz="2050" spc="110" dirty="0">
                <a:latin typeface="Tahoma"/>
                <a:cs typeface="Tahoma"/>
              </a:rPr>
              <a:t>)</a:t>
            </a:r>
            <a:r>
              <a:rPr sz="2050" spc="-85" dirty="0">
                <a:latin typeface="Tahoma"/>
                <a:cs typeface="Tahoma"/>
              </a:rPr>
              <a:t> </a:t>
            </a:r>
            <a:r>
              <a:rPr sz="2050" spc="-25" dirty="0">
                <a:latin typeface="Lucida Sans Unicode"/>
                <a:cs typeface="Lucida Sans Unicode"/>
              </a:rPr>
              <a:t>⊃</a:t>
            </a:r>
            <a:r>
              <a:rPr sz="2050" spc="-95" dirty="0">
                <a:latin typeface="Lucida Sans Unicode"/>
                <a:cs typeface="Lucida Sans Unicode"/>
              </a:rPr>
              <a:t> </a:t>
            </a:r>
            <a:r>
              <a:rPr sz="2050" i="1" spc="65" dirty="0">
                <a:latin typeface="Meiryo"/>
                <a:cs typeface="Meiryo"/>
              </a:rPr>
              <a:t>P</a:t>
            </a:r>
            <a:r>
              <a:rPr sz="2050" i="1" spc="-420" dirty="0">
                <a:latin typeface="Meiryo"/>
                <a:cs typeface="Meiryo"/>
              </a:rPr>
              <a:t> </a:t>
            </a:r>
            <a:r>
              <a:rPr sz="2050" spc="90" dirty="0">
                <a:latin typeface="Tahoma"/>
                <a:cs typeface="Tahoma"/>
              </a:rPr>
              <a:t>(</a:t>
            </a:r>
            <a:r>
              <a:rPr sz="2050" i="1" spc="90" dirty="0">
                <a:latin typeface="Meiryo"/>
                <a:cs typeface="Meiryo"/>
              </a:rPr>
              <a:t>r</a:t>
            </a:r>
            <a:r>
              <a:rPr sz="2175" spc="135" baseline="-11494" dirty="0">
                <a:latin typeface="PMingLiU"/>
                <a:cs typeface="PMingLiU"/>
              </a:rPr>
              <a:t>1</a:t>
            </a:r>
            <a:r>
              <a:rPr sz="2050" spc="90" dirty="0">
                <a:latin typeface="Tahoma"/>
                <a:cs typeface="Tahoma"/>
              </a:rPr>
              <a:t>)</a:t>
            </a:r>
            <a:endParaRPr sz="2050">
              <a:latin typeface="Tahoma"/>
              <a:cs typeface="Tahoma"/>
            </a:endParaRPr>
          </a:p>
          <a:p>
            <a:pPr marL="490855" indent="-288290">
              <a:lnSpc>
                <a:spcPct val="100000"/>
              </a:lnSpc>
              <a:spcBef>
                <a:spcPts val="1805"/>
              </a:spcBef>
              <a:buClr>
                <a:srgbClr val="231F20"/>
              </a:buClr>
              <a:buSzPct val="105128"/>
              <a:buFont typeface="Lucida Sans Unicode"/>
              <a:buChar char="•"/>
              <a:tabLst>
                <a:tab pos="491490" algn="l"/>
              </a:tabLst>
            </a:pPr>
            <a:r>
              <a:rPr spc="170" dirty="0">
                <a:solidFill>
                  <a:srgbClr val="0000FF"/>
                </a:solidFill>
              </a:rPr>
              <a:t>Extend </a:t>
            </a:r>
            <a:r>
              <a:rPr spc="250" dirty="0">
                <a:solidFill>
                  <a:srgbClr val="0000FF"/>
                </a:solidFill>
              </a:rPr>
              <a:t>to </a:t>
            </a:r>
            <a:r>
              <a:rPr spc="160" dirty="0">
                <a:solidFill>
                  <a:srgbClr val="0000FF"/>
                </a:solidFill>
              </a:rPr>
              <a:t>induction </a:t>
            </a:r>
            <a:r>
              <a:rPr spc="185" dirty="0">
                <a:solidFill>
                  <a:srgbClr val="0000FF"/>
                </a:solidFill>
              </a:rPr>
              <a:t>of </a:t>
            </a:r>
            <a:r>
              <a:rPr spc="165" dirty="0">
                <a:solidFill>
                  <a:srgbClr val="0000FF"/>
                </a:solidFill>
              </a:rPr>
              <a:t>depth</a:t>
            </a:r>
            <a:r>
              <a:rPr spc="620" dirty="0">
                <a:solidFill>
                  <a:srgbClr val="0000FF"/>
                </a:solidFill>
              </a:rPr>
              <a:t> </a:t>
            </a:r>
            <a:r>
              <a:rPr sz="2050" i="1" spc="75" dirty="0">
                <a:solidFill>
                  <a:srgbClr val="0000FF"/>
                </a:solidFill>
                <a:latin typeface="Meiryo"/>
                <a:cs typeface="Meiryo"/>
              </a:rPr>
              <a:t>k</a:t>
            </a:r>
            <a:r>
              <a:rPr spc="75" dirty="0"/>
              <a:t>:</a:t>
            </a:r>
            <a:endParaRPr sz="2050">
              <a:latin typeface="Meiryo"/>
              <a:cs typeface="Meiryo"/>
            </a:endParaRPr>
          </a:p>
          <a:p>
            <a:pPr marL="490855">
              <a:lnSpc>
                <a:spcPct val="100000"/>
              </a:lnSpc>
              <a:spcBef>
                <a:spcPts val="980"/>
              </a:spcBef>
              <a:tabLst>
                <a:tab pos="1475740" algn="l"/>
              </a:tabLst>
            </a:pPr>
            <a:r>
              <a:rPr spc="195" dirty="0">
                <a:latin typeface="Arial"/>
                <a:cs typeface="Arial"/>
              </a:rPr>
              <a:t>Basis:	</a:t>
            </a:r>
            <a:r>
              <a:rPr spc="175" dirty="0"/>
              <a:t>No </a:t>
            </a:r>
            <a:r>
              <a:rPr spc="135" dirty="0"/>
              <a:t>counterexample </a:t>
            </a:r>
            <a:r>
              <a:rPr spc="185" dirty="0"/>
              <a:t>of </a:t>
            </a:r>
            <a:r>
              <a:rPr spc="155" dirty="0"/>
              <a:t>length </a:t>
            </a:r>
            <a:r>
              <a:rPr sz="2050" i="1" spc="-55" dirty="0">
                <a:latin typeface="Meiryo"/>
                <a:cs typeface="Meiryo"/>
              </a:rPr>
              <a:t>k </a:t>
            </a:r>
            <a:r>
              <a:rPr spc="130" dirty="0"/>
              <a:t>or </a:t>
            </a:r>
            <a:r>
              <a:rPr spc="325" dirty="0"/>
              <a:t> </a:t>
            </a:r>
            <a:r>
              <a:rPr spc="15" dirty="0"/>
              <a:t>less</a:t>
            </a:r>
            <a:endParaRPr sz="2050">
              <a:latin typeface="Meiryo"/>
              <a:cs typeface="Meiryo"/>
            </a:endParaRPr>
          </a:p>
        </p:txBody>
      </p:sp>
      <p:sp>
        <p:nvSpPr>
          <p:cNvPr id="5" name="object 5"/>
          <p:cNvSpPr txBox="1"/>
          <p:nvPr/>
        </p:nvSpPr>
        <p:spPr>
          <a:xfrm>
            <a:off x="1185163" y="3583457"/>
            <a:ext cx="768985" cy="314960"/>
          </a:xfrm>
          <a:prstGeom prst="rect">
            <a:avLst/>
          </a:prstGeom>
        </p:spPr>
        <p:txBody>
          <a:bodyPr vert="horz" wrap="square" lIns="0" tIns="0" rIns="0" bIns="0" rtlCol="0">
            <a:spAutoFit/>
          </a:bodyPr>
          <a:lstStyle/>
          <a:p>
            <a:pPr marL="12700">
              <a:lnSpc>
                <a:spcPct val="100000"/>
              </a:lnSpc>
            </a:pPr>
            <a:r>
              <a:rPr sz="1950" spc="210" dirty="0">
                <a:solidFill>
                  <a:srgbClr val="231F20"/>
                </a:solidFill>
                <a:latin typeface="Arial"/>
                <a:cs typeface="Arial"/>
              </a:rPr>
              <a:t>S</a:t>
            </a:r>
            <a:r>
              <a:rPr sz="1950" spc="434" dirty="0">
                <a:solidFill>
                  <a:srgbClr val="231F20"/>
                </a:solidFill>
                <a:latin typeface="Arial"/>
                <a:cs typeface="Arial"/>
              </a:rPr>
              <a:t>t</a:t>
            </a:r>
            <a:r>
              <a:rPr sz="1950" spc="150" dirty="0">
                <a:solidFill>
                  <a:srgbClr val="231F20"/>
                </a:solidFill>
                <a:latin typeface="Arial"/>
                <a:cs typeface="Arial"/>
              </a:rPr>
              <a:t>e</a:t>
            </a:r>
            <a:r>
              <a:rPr sz="1950" spc="240" dirty="0">
                <a:solidFill>
                  <a:srgbClr val="231F20"/>
                </a:solidFill>
                <a:latin typeface="Arial"/>
                <a:cs typeface="Arial"/>
              </a:rPr>
              <a:t>p:</a:t>
            </a:r>
            <a:endParaRPr sz="1950">
              <a:latin typeface="Arial"/>
              <a:cs typeface="Arial"/>
            </a:endParaRPr>
          </a:p>
        </p:txBody>
      </p:sp>
      <p:sp>
        <p:nvSpPr>
          <p:cNvPr id="6" name="object 6"/>
          <p:cNvSpPr txBox="1"/>
          <p:nvPr/>
        </p:nvSpPr>
        <p:spPr>
          <a:xfrm>
            <a:off x="2085619" y="3570757"/>
            <a:ext cx="7071359" cy="354330"/>
          </a:xfrm>
          <a:prstGeom prst="rect">
            <a:avLst/>
          </a:prstGeom>
        </p:spPr>
        <p:txBody>
          <a:bodyPr vert="horz" wrap="square" lIns="0" tIns="0" rIns="0" bIns="0" rtlCol="0">
            <a:spAutoFit/>
          </a:bodyPr>
          <a:lstStyle/>
          <a:p>
            <a:pPr marL="12700">
              <a:lnSpc>
                <a:spcPct val="100000"/>
              </a:lnSpc>
            </a:pPr>
            <a:r>
              <a:rPr sz="2050" i="1" spc="65" dirty="0">
                <a:solidFill>
                  <a:srgbClr val="231F20"/>
                </a:solidFill>
                <a:latin typeface="Meiryo"/>
                <a:cs typeface="Meiryo"/>
              </a:rPr>
              <a:t>P</a:t>
            </a:r>
            <a:r>
              <a:rPr sz="2050" i="1" spc="-409" dirty="0">
                <a:solidFill>
                  <a:srgbClr val="231F20"/>
                </a:solidFill>
                <a:latin typeface="Meiryo"/>
                <a:cs typeface="Meiryo"/>
              </a:rPr>
              <a:t> </a:t>
            </a:r>
            <a:r>
              <a:rPr sz="2050" spc="90" dirty="0">
                <a:solidFill>
                  <a:srgbClr val="231F20"/>
                </a:solidFill>
                <a:latin typeface="Tahoma"/>
                <a:cs typeface="Tahoma"/>
              </a:rPr>
              <a:t>(</a:t>
            </a:r>
            <a:r>
              <a:rPr sz="2050" i="1" spc="90" dirty="0">
                <a:solidFill>
                  <a:srgbClr val="231F20"/>
                </a:solidFill>
                <a:latin typeface="Meiryo"/>
                <a:cs typeface="Meiryo"/>
              </a:rPr>
              <a:t>r</a:t>
            </a:r>
            <a:r>
              <a:rPr sz="2175" spc="135" baseline="-11494" dirty="0">
                <a:solidFill>
                  <a:srgbClr val="231F20"/>
                </a:solidFill>
                <a:latin typeface="PMingLiU"/>
                <a:cs typeface="PMingLiU"/>
              </a:rPr>
              <a:t>0</a:t>
            </a:r>
            <a:r>
              <a:rPr sz="2050" spc="90" dirty="0">
                <a:solidFill>
                  <a:srgbClr val="231F20"/>
                </a:solidFill>
                <a:latin typeface="Tahoma"/>
                <a:cs typeface="Tahoma"/>
              </a:rPr>
              <a:t>)</a:t>
            </a:r>
            <a:r>
              <a:rPr sz="2050" spc="-340" dirty="0">
                <a:solidFill>
                  <a:srgbClr val="231F20"/>
                </a:solidFill>
                <a:latin typeface="Tahoma"/>
                <a:cs typeface="Tahoma"/>
              </a:rPr>
              <a:t> </a:t>
            </a:r>
            <a:r>
              <a:rPr sz="2050" spc="-254" dirty="0">
                <a:solidFill>
                  <a:srgbClr val="231F20"/>
                </a:solidFill>
                <a:latin typeface="Lucida Sans Unicode"/>
                <a:cs typeface="Lucida Sans Unicode"/>
              </a:rPr>
              <a:t>∧</a:t>
            </a:r>
            <a:r>
              <a:rPr sz="2050" spc="-345" dirty="0">
                <a:solidFill>
                  <a:srgbClr val="231F20"/>
                </a:solidFill>
                <a:latin typeface="Lucida Sans Unicode"/>
                <a:cs typeface="Lucida Sans Unicode"/>
              </a:rPr>
              <a:t> </a:t>
            </a:r>
            <a:r>
              <a:rPr sz="2050" i="1" spc="-100" dirty="0">
                <a:solidFill>
                  <a:srgbClr val="231F20"/>
                </a:solidFill>
                <a:latin typeface="Meiryo"/>
                <a:cs typeface="Meiryo"/>
              </a:rPr>
              <a:t>T</a:t>
            </a:r>
            <a:r>
              <a:rPr sz="2050" i="1" spc="-409" dirty="0">
                <a:solidFill>
                  <a:srgbClr val="231F20"/>
                </a:solidFill>
                <a:latin typeface="Meiryo"/>
                <a:cs typeface="Meiryo"/>
              </a:rPr>
              <a:t> </a:t>
            </a:r>
            <a:r>
              <a:rPr sz="2050" spc="50" dirty="0">
                <a:solidFill>
                  <a:srgbClr val="231F20"/>
                </a:solidFill>
                <a:latin typeface="Tahoma"/>
                <a:cs typeface="Tahoma"/>
              </a:rPr>
              <a:t>(</a:t>
            </a:r>
            <a:r>
              <a:rPr sz="2050" i="1" spc="50" dirty="0">
                <a:solidFill>
                  <a:srgbClr val="231F20"/>
                </a:solidFill>
                <a:latin typeface="Meiryo"/>
                <a:cs typeface="Meiryo"/>
              </a:rPr>
              <a:t>r</a:t>
            </a:r>
            <a:r>
              <a:rPr sz="2175" spc="75" baseline="-11494" dirty="0">
                <a:solidFill>
                  <a:srgbClr val="231F20"/>
                </a:solidFill>
                <a:latin typeface="PMingLiU"/>
                <a:cs typeface="PMingLiU"/>
              </a:rPr>
              <a:t>0</a:t>
            </a:r>
            <a:r>
              <a:rPr sz="2050" i="1" spc="50" dirty="0">
                <a:solidFill>
                  <a:srgbClr val="231F20"/>
                </a:solidFill>
                <a:latin typeface="Meiryo"/>
                <a:cs typeface="Meiryo"/>
              </a:rPr>
              <a:t>,</a:t>
            </a:r>
            <a:r>
              <a:rPr sz="2050" i="1" spc="-355" dirty="0">
                <a:solidFill>
                  <a:srgbClr val="231F20"/>
                </a:solidFill>
                <a:latin typeface="Meiryo"/>
                <a:cs typeface="Meiryo"/>
              </a:rPr>
              <a:t> </a:t>
            </a:r>
            <a:r>
              <a:rPr sz="2050" i="1" spc="110" dirty="0">
                <a:solidFill>
                  <a:srgbClr val="231F20"/>
                </a:solidFill>
                <a:latin typeface="Meiryo"/>
                <a:cs typeface="Meiryo"/>
              </a:rPr>
              <a:t>r</a:t>
            </a:r>
            <a:r>
              <a:rPr sz="2175" spc="165" baseline="-11494" dirty="0">
                <a:solidFill>
                  <a:srgbClr val="231F20"/>
                </a:solidFill>
                <a:latin typeface="PMingLiU"/>
                <a:cs typeface="PMingLiU"/>
              </a:rPr>
              <a:t>1</a:t>
            </a:r>
            <a:r>
              <a:rPr sz="2050" spc="110" dirty="0">
                <a:solidFill>
                  <a:srgbClr val="231F20"/>
                </a:solidFill>
                <a:latin typeface="Tahoma"/>
                <a:cs typeface="Tahoma"/>
              </a:rPr>
              <a:t>)</a:t>
            </a:r>
            <a:r>
              <a:rPr sz="2050" spc="-340" dirty="0">
                <a:solidFill>
                  <a:srgbClr val="231F20"/>
                </a:solidFill>
                <a:latin typeface="Tahoma"/>
                <a:cs typeface="Tahoma"/>
              </a:rPr>
              <a:t> </a:t>
            </a:r>
            <a:r>
              <a:rPr sz="2050" spc="-254" dirty="0">
                <a:solidFill>
                  <a:srgbClr val="231F20"/>
                </a:solidFill>
                <a:latin typeface="Lucida Sans Unicode"/>
                <a:cs typeface="Lucida Sans Unicode"/>
              </a:rPr>
              <a:t>∧</a:t>
            </a:r>
            <a:r>
              <a:rPr sz="2050" spc="-345" dirty="0">
                <a:solidFill>
                  <a:srgbClr val="231F20"/>
                </a:solidFill>
                <a:latin typeface="Lucida Sans Unicode"/>
                <a:cs typeface="Lucida Sans Unicode"/>
              </a:rPr>
              <a:t> </a:t>
            </a:r>
            <a:r>
              <a:rPr sz="2050" i="1" spc="65" dirty="0">
                <a:solidFill>
                  <a:srgbClr val="231F20"/>
                </a:solidFill>
                <a:latin typeface="Meiryo"/>
                <a:cs typeface="Meiryo"/>
              </a:rPr>
              <a:t>P</a:t>
            </a:r>
            <a:r>
              <a:rPr sz="2050" i="1" spc="-409" dirty="0">
                <a:solidFill>
                  <a:srgbClr val="231F20"/>
                </a:solidFill>
                <a:latin typeface="Meiryo"/>
                <a:cs typeface="Meiryo"/>
              </a:rPr>
              <a:t> </a:t>
            </a:r>
            <a:r>
              <a:rPr sz="2050" spc="90" dirty="0">
                <a:solidFill>
                  <a:srgbClr val="231F20"/>
                </a:solidFill>
                <a:latin typeface="Tahoma"/>
                <a:cs typeface="Tahoma"/>
              </a:rPr>
              <a:t>(</a:t>
            </a:r>
            <a:r>
              <a:rPr sz="2050" i="1" spc="90" dirty="0">
                <a:solidFill>
                  <a:srgbClr val="231F20"/>
                </a:solidFill>
                <a:latin typeface="Meiryo"/>
                <a:cs typeface="Meiryo"/>
              </a:rPr>
              <a:t>r</a:t>
            </a:r>
            <a:r>
              <a:rPr sz="2175" spc="135" baseline="-11494" dirty="0">
                <a:solidFill>
                  <a:srgbClr val="231F20"/>
                </a:solidFill>
                <a:latin typeface="PMingLiU"/>
                <a:cs typeface="PMingLiU"/>
              </a:rPr>
              <a:t>1</a:t>
            </a:r>
            <a:r>
              <a:rPr sz="2050" spc="90" dirty="0">
                <a:solidFill>
                  <a:srgbClr val="231F20"/>
                </a:solidFill>
                <a:latin typeface="Tahoma"/>
                <a:cs typeface="Tahoma"/>
              </a:rPr>
              <a:t>)</a:t>
            </a:r>
            <a:r>
              <a:rPr sz="2050" spc="-340" dirty="0">
                <a:solidFill>
                  <a:srgbClr val="231F20"/>
                </a:solidFill>
                <a:latin typeface="Tahoma"/>
                <a:cs typeface="Tahoma"/>
              </a:rPr>
              <a:t> </a:t>
            </a:r>
            <a:r>
              <a:rPr sz="2050" spc="-254" dirty="0">
                <a:solidFill>
                  <a:srgbClr val="231F20"/>
                </a:solidFill>
                <a:latin typeface="Lucida Sans Unicode"/>
                <a:cs typeface="Lucida Sans Unicode"/>
              </a:rPr>
              <a:t>∧</a:t>
            </a:r>
            <a:r>
              <a:rPr sz="2050" spc="-345" dirty="0">
                <a:solidFill>
                  <a:srgbClr val="231F20"/>
                </a:solidFill>
                <a:latin typeface="Lucida Sans Unicode"/>
                <a:cs typeface="Lucida Sans Unicode"/>
              </a:rPr>
              <a:t> </a:t>
            </a:r>
            <a:r>
              <a:rPr sz="2050" spc="-725" dirty="0">
                <a:solidFill>
                  <a:srgbClr val="231F20"/>
                </a:solidFill>
                <a:latin typeface="Lucida Sans Unicode"/>
                <a:cs typeface="Lucida Sans Unicode"/>
              </a:rPr>
              <a:t>·</a:t>
            </a:r>
            <a:r>
              <a:rPr sz="2050" spc="-305" dirty="0">
                <a:solidFill>
                  <a:srgbClr val="231F20"/>
                </a:solidFill>
                <a:latin typeface="Lucida Sans Unicode"/>
                <a:cs typeface="Lucida Sans Unicode"/>
              </a:rPr>
              <a:t> </a:t>
            </a:r>
            <a:r>
              <a:rPr sz="2050" spc="-725" dirty="0">
                <a:solidFill>
                  <a:srgbClr val="231F20"/>
                </a:solidFill>
                <a:latin typeface="Lucida Sans Unicode"/>
                <a:cs typeface="Lucida Sans Unicode"/>
              </a:rPr>
              <a:t>·</a:t>
            </a:r>
            <a:r>
              <a:rPr sz="2050" spc="-305" dirty="0">
                <a:solidFill>
                  <a:srgbClr val="231F20"/>
                </a:solidFill>
                <a:latin typeface="Lucida Sans Unicode"/>
                <a:cs typeface="Lucida Sans Unicode"/>
              </a:rPr>
              <a:t> </a:t>
            </a:r>
            <a:r>
              <a:rPr sz="2050" spc="-725" dirty="0">
                <a:solidFill>
                  <a:srgbClr val="231F20"/>
                </a:solidFill>
                <a:latin typeface="Lucida Sans Unicode"/>
                <a:cs typeface="Lucida Sans Unicode"/>
              </a:rPr>
              <a:t>·</a:t>
            </a:r>
            <a:r>
              <a:rPr sz="2050" spc="-350" dirty="0">
                <a:solidFill>
                  <a:srgbClr val="231F20"/>
                </a:solidFill>
                <a:latin typeface="Lucida Sans Unicode"/>
                <a:cs typeface="Lucida Sans Unicode"/>
              </a:rPr>
              <a:t> </a:t>
            </a:r>
            <a:r>
              <a:rPr sz="2050" spc="-254" dirty="0">
                <a:solidFill>
                  <a:srgbClr val="231F20"/>
                </a:solidFill>
                <a:latin typeface="Lucida Sans Unicode"/>
                <a:cs typeface="Lucida Sans Unicode"/>
              </a:rPr>
              <a:t>∧</a:t>
            </a:r>
            <a:r>
              <a:rPr sz="2050" spc="-350" dirty="0">
                <a:solidFill>
                  <a:srgbClr val="231F20"/>
                </a:solidFill>
                <a:latin typeface="Lucida Sans Unicode"/>
                <a:cs typeface="Lucida Sans Unicode"/>
              </a:rPr>
              <a:t> </a:t>
            </a:r>
            <a:r>
              <a:rPr sz="2050" i="1" spc="65" dirty="0">
                <a:solidFill>
                  <a:srgbClr val="231F20"/>
                </a:solidFill>
                <a:latin typeface="Meiryo"/>
                <a:cs typeface="Meiryo"/>
              </a:rPr>
              <a:t>P</a:t>
            </a:r>
            <a:r>
              <a:rPr sz="2050" i="1" spc="-409" dirty="0">
                <a:solidFill>
                  <a:srgbClr val="231F20"/>
                </a:solidFill>
                <a:latin typeface="Meiryo"/>
                <a:cs typeface="Meiryo"/>
              </a:rPr>
              <a:t> </a:t>
            </a:r>
            <a:r>
              <a:rPr sz="2050" spc="140" dirty="0">
                <a:solidFill>
                  <a:srgbClr val="231F20"/>
                </a:solidFill>
                <a:latin typeface="Tahoma"/>
                <a:cs typeface="Tahoma"/>
              </a:rPr>
              <a:t>(</a:t>
            </a:r>
            <a:r>
              <a:rPr sz="2050" i="1" spc="140" dirty="0">
                <a:solidFill>
                  <a:srgbClr val="231F20"/>
                </a:solidFill>
                <a:latin typeface="Meiryo"/>
                <a:cs typeface="Meiryo"/>
              </a:rPr>
              <a:t>r</a:t>
            </a:r>
            <a:r>
              <a:rPr sz="2175" i="1" spc="209" baseline="-11494" dirty="0">
                <a:solidFill>
                  <a:srgbClr val="231F20"/>
                </a:solidFill>
                <a:latin typeface="Verdana"/>
                <a:cs typeface="Verdana"/>
              </a:rPr>
              <a:t>k</a:t>
            </a:r>
            <a:r>
              <a:rPr sz="2175" spc="209" baseline="-11494" dirty="0">
                <a:solidFill>
                  <a:srgbClr val="231F20"/>
                </a:solidFill>
                <a:latin typeface="Arial"/>
                <a:cs typeface="Arial"/>
              </a:rPr>
              <a:t>−</a:t>
            </a:r>
            <a:r>
              <a:rPr sz="2175" spc="209" baseline="-11494" dirty="0">
                <a:solidFill>
                  <a:srgbClr val="231F20"/>
                </a:solidFill>
                <a:latin typeface="PMingLiU"/>
                <a:cs typeface="PMingLiU"/>
              </a:rPr>
              <a:t>1</a:t>
            </a:r>
            <a:r>
              <a:rPr sz="2050" spc="140" dirty="0">
                <a:solidFill>
                  <a:srgbClr val="231F20"/>
                </a:solidFill>
                <a:latin typeface="Tahoma"/>
                <a:cs typeface="Tahoma"/>
              </a:rPr>
              <a:t>)</a:t>
            </a:r>
            <a:r>
              <a:rPr sz="2050" spc="-340" dirty="0">
                <a:solidFill>
                  <a:srgbClr val="231F20"/>
                </a:solidFill>
                <a:latin typeface="Tahoma"/>
                <a:cs typeface="Tahoma"/>
              </a:rPr>
              <a:t> </a:t>
            </a:r>
            <a:r>
              <a:rPr sz="2050" spc="-254" dirty="0">
                <a:solidFill>
                  <a:srgbClr val="231F20"/>
                </a:solidFill>
                <a:latin typeface="Lucida Sans Unicode"/>
                <a:cs typeface="Lucida Sans Unicode"/>
              </a:rPr>
              <a:t>∧</a:t>
            </a:r>
            <a:r>
              <a:rPr sz="2050" spc="-345" dirty="0">
                <a:solidFill>
                  <a:srgbClr val="231F20"/>
                </a:solidFill>
                <a:latin typeface="Lucida Sans Unicode"/>
                <a:cs typeface="Lucida Sans Unicode"/>
              </a:rPr>
              <a:t> </a:t>
            </a:r>
            <a:r>
              <a:rPr sz="2050" i="1" spc="-100" dirty="0">
                <a:solidFill>
                  <a:srgbClr val="231F20"/>
                </a:solidFill>
                <a:latin typeface="Meiryo"/>
                <a:cs typeface="Meiryo"/>
              </a:rPr>
              <a:t>T</a:t>
            </a:r>
            <a:r>
              <a:rPr sz="2050" i="1" spc="-409" dirty="0">
                <a:solidFill>
                  <a:srgbClr val="231F20"/>
                </a:solidFill>
                <a:latin typeface="Meiryo"/>
                <a:cs typeface="Meiryo"/>
              </a:rPr>
              <a:t> </a:t>
            </a:r>
            <a:r>
              <a:rPr sz="2050" spc="114" dirty="0">
                <a:solidFill>
                  <a:srgbClr val="231F20"/>
                </a:solidFill>
                <a:latin typeface="Tahoma"/>
                <a:cs typeface="Tahoma"/>
              </a:rPr>
              <a:t>(</a:t>
            </a:r>
            <a:r>
              <a:rPr sz="2050" i="1" spc="114" dirty="0">
                <a:solidFill>
                  <a:srgbClr val="231F20"/>
                </a:solidFill>
                <a:latin typeface="Meiryo"/>
                <a:cs typeface="Meiryo"/>
              </a:rPr>
              <a:t>r</a:t>
            </a:r>
            <a:r>
              <a:rPr sz="2175" i="1" spc="172" baseline="-11494" dirty="0">
                <a:solidFill>
                  <a:srgbClr val="231F20"/>
                </a:solidFill>
                <a:latin typeface="Verdana"/>
                <a:cs typeface="Verdana"/>
              </a:rPr>
              <a:t>k</a:t>
            </a:r>
            <a:r>
              <a:rPr sz="2175" spc="172" baseline="-11494" dirty="0">
                <a:solidFill>
                  <a:srgbClr val="231F20"/>
                </a:solidFill>
                <a:latin typeface="Arial"/>
                <a:cs typeface="Arial"/>
              </a:rPr>
              <a:t>−</a:t>
            </a:r>
            <a:r>
              <a:rPr sz="2175" spc="172" baseline="-11494" dirty="0">
                <a:solidFill>
                  <a:srgbClr val="231F20"/>
                </a:solidFill>
                <a:latin typeface="PMingLiU"/>
                <a:cs typeface="PMingLiU"/>
              </a:rPr>
              <a:t>1</a:t>
            </a:r>
            <a:r>
              <a:rPr sz="2050" i="1" spc="114" dirty="0">
                <a:solidFill>
                  <a:srgbClr val="231F20"/>
                </a:solidFill>
                <a:latin typeface="Meiryo"/>
                <a:cs typeface="Meiryo"/>
              </a:rPr>
              <a:t>,</a:t>
            </a:r>
            <a:r>
              <a:rPr sz="2050" i="1" spc="-355" dirty="0">
                <a:solidFill>
                  <a:srgbClr val="231F20"/>
                </a:solidFill>
                <a:latin typeface="Meiryo"/>
                <a:cs typeface="Meiryo"/>
              </a:rPr>
              <a:t> </a:t>
            </a:r>
            <a:r>
              <a:rPr sz="2050" i="1" spc="50" dirty="0">
                <a:solidFill>
                  <a:srgbClr val="231F20"/>
                </a:solidFill>
                <a:latin typeface="Meiryo"/>
                <a:cs typeface="Meiryo"/>
              </a:rPr>
              <a:t>r</a:t>
            </a:r>
            <a:r>
              <a:rPr sz="2175" i="1" spc="75" baseline="-11494" dirty="0">
                <a:solidFill>
                  <a:srgbClr val="231F20"/>
                </a:solidFill>
                <a:latin typeface="Verdana"/>
                <a:cs typeface="Verdana"/>
              </a:rPr>
              <a:t>k</a:t>
            </a:r>
            <a:r>
              <a:rPr sz="2175" i="1" spc="-562" baseline="-11494" dirty="0">
                <a:solidFill>
                  <a:srgbClr val="231F20"/>
                </a:solidFill>
                <a:latin typeface="Verdana"/>
                <a:cs typeface="Verdana"/>
              </a:rPr>
              <a:t> </a:t>
            </a:r>
            <a:r>
              <a:rPr sz="2050" spc="15" dirty="0">
                <a:solidFill>
                  <a:srgbClr val="231F20"/>
                </a:solidFill>
                <a:latin typeface="Tahoma"/>
                <a:cs typeface="Tahoma"/>
              </a:rPr>
              <a:t>)</a:t>
            </a:r>
            <a:r>
              <a:rPr sz="2050" spc="-70" dirty="0">
                <a:solidFill>
                  <a:srgbClr val="231F20"/>
                </a:solidFill>
                <a:latin typeface="Tahoma"/>
                <a:cs typeface="Tahoma"/>
              </a:rPr>
              <a:t> </a:t>
            </a:r>
            <a:r>
              <a:rPr sz="2050" spc="-25" dirty="0">
                <a:solidFill>
                  <a:srgbClr val="231F20"/>
                </a:solidFill>
                <a:latin typeface="Lucida Sans Unicode"/>
                <a:cs typeface="Lucida Sans Unicode"/>
              </a:rPr>
              <a:t>⊃</a:t>
            </a:r>
            <a:r>
              <a:rPr sz="2050" spc="-80" dirty="0">
                <a:solidFill>
                  <a:srgbClr val="231F20"/>
                </a:solidFill>
                <a:latin typeface="Lucida Sans Unicode"/>
                <a:cs typeface="Lucida Sans Unicode"/>
              </a:rPr>
              <a:t> </a:t>
            </a:r>
            <a:r>
              <a:rPr sz="2050" i="1" spc="65" dirty="0">
                <a:solidFill>
                  <a:srgbClr val="231F20"/>
                </a:solidFill>
                <a:latin typeface="Meiryo"/>
                <a:cs typeface="Meiryo"/>
              </a:rPr>
              <a:t>P</a:t>
            </a:r>
            <a:r>
              <a:rPr sz="2050" i="1" spc="-409" dirty="0">
                <a:solidFill>
                  <a:srgbClr val="231F20"/>
                </a:solidFill>
                <a:latin typeface="Meiryo"/>
                <a:cs typeface="Meiryo"/>
              </a:rPr>
              <a:t> </a:t>
            </a:r>
            <a:r>
              <a:rPr sz="2050" spc="40" dirty="0">
                <a:solidFill>
                  <a:srgbClr val="231F20"/>
                </a:solidFill>
                <a:latin typeface="Tahoma"/>
                <a:cs typeface="Tahoma"/>
              </a:rPr>
              <a:t>(</a:t>
            </a:r>
            <a:r>
              <a:rPr sz="2050" i="1" spc="40" dirty="0">
                <a:solidFill>
                  <a:srgbClr val="231F20"/>
                </a:solidFill>
                <a:latin typeface="Meiryo"/>
                <a:cs typeface="Meiryo"/>
              </a:rPr>
              <a:t>r</a:t>
            </a:r>
            <a:r>
              <a:rPr sz="2175" i="1" spc="60" baseline="-11494" dirty="0">
                <a:solidFill>
                  <a:srgbClr val="231F20"/>
                </a:solidFill>
                <a:latin typeface="Verdana"/>
                <a:cs typeface="Verdana"/>
              </a:rPr>
              <a:t>k</a:t>
            </a:r>
            <a:r>
              <a:rPr sz="2175" i="1" spc="-562" baseline="-11494" dirty="0">
                <a:solidFill>
                  <a:srgbClr val="231F20"/>
                </a:solidFill>
                <a:latin typeface="Verdana"/>
                <a:cs typeface="Verdana"/>
              </a:rPr>
              <a:t> </a:t>
            </a:r>
            <a:r>
              <a:rPr sz="2050" spc="15" dirty="0">
                <a:solidFill>
                  <a:srgbClr val="231F20"/>
                </a:solidFill>
                <a:latin typeface="Tahoma"/>
                <a:cs typeface="Tahoma"/>
              </a:rPr>
              <a:t>)</a:t>
            </a:r>
            <a:endParaRPr sz="2050">
              <a:latin typeface="Tahoma"/>
              <a:cs typeface="Tahoma"/>
            </a:endParaRPr>
          </a:p>
        </p:txBody>
      </p:sp>
      <p:sp>
        <p:nvSpPr>
          <p:cNvPr id="7" name="object 7"/>
          <p:cNvSpPr txBox="1"/>
          <p:nvPr/>
        </p:nvSpPr>
        <p:spPr>
          <a:xfrm>
            <a:off x="896440" y="4020654"/>
            <a:ext cx="8078470" cy="1952625"/>
          </a:xfrm>
          <a:prstGeom prst="rect">
            <a:avLst/>
          </a:prstGeom>
        </p:spPr>
        <p:txBody>
          <a:bodyPr vert="horz" wrap="square" lIns="0" tIns="0" rIns="0" bIns="0" rtlCol="0">
            <a:spAutoFit/>
          </a:bodyPr>
          <a:lstStyle/>
          <a:p>
            <a:pPr marL="300990">
              <a:lnSpc>
                <a:spcPct val="100000"/>
              </a:lnSpc>
            </a:pPr>
            <a:r>
              <a:rPr sz="1950" spc="145" dirty="0">
                <a:solidFill>
                  <a:srgbClr val="0000FF"/>
                </a:solidFill>
                <a:latin typeface="Arial"/>
                <a:cs typeface="Arial"/>
              </a:rPr>
              <a:t>These </a:t>
            </a:r>
            <a:r>
              <a:rPr sz="1950" spc="65" dirty="0">
                <a:solidFill>
                  <a:srgbClr val="0000FF"/>
                </a:solidFill>
                <a:latin typeface="Arial"/>
                <a:cs typeface="Arial"/>
              </a:rPr>
              <a:t>are </a:t>
            </a:r>
            <a:r>
              <a:rPr sz="1950" spc="75" dirty="0">
                <a:solidFill>
                  <a:srgbClr val="0000FF"/>
                </a:solidFill>
                <a:latin typeface="Arial"/>
                <a:cs typeface="Arial"/>
              </a:rPr>
              <a:t>close </a:t>
            </a:r>
            <a:r>
              <a:rPr sz="1950" spc="105" dirty="0">
                <a:solidFill>
                  <a:srgbClr val="0000FF"/>
                </a:solidFill>
                <a:latin typeface="Arial"/>
                <a:cs typeface="Arial"/>
              </a:rPr>
              <a:t>relatives </a:t>
            </a:r>
            <a:r>
              <a:rPr sz="1950" spc="185" dirty="0">
                <a:solidFill>
                  <a:srgbClr val="0000FF"/>
                </a:solidFill>
                <a:latin typeface="Arial"/>
                <a:cs typeface="Arial"/>
              </a:rPr>
              <a:t>of </a:t>
            </a:r>
            <a:r>
              <a:rPr sz="1950" spc="175" dirty="0">
                <a:solidFill>
                  <a:srgbClr val="0000FF"/>
                </a:solidFill>
                <a:latin typeface="Arial"/>
                <a:cs typeface="Arial"/>
              </a:rPr>
              <a:t>the </a:t>
            </a:r>
            <a:r>
              <a:rPr sz="1950" spc="300" dirty="0">
                <a:solidFill>
                  <a:srgbClr val="0000FF"/>
                </a:solidFill>
                <a:latin typeface="Arial"/>
                <a:cs typeface="Arial"/>
              </a:rPr>
              <a:t>BMC </a:t>
            </a:r>
            <a:r>
              <a:rPr sz="1950" spc="375" dirty="0">
                <a:solidFill>
                  <a:srgbClr val="0000FF"/>
                </a:solidFill>
                <a:latin typeface="Arial"/>
                <a:cs typeface="Arial"/>
              </a:rPr>
              <a:t> </a:t>
            </a:r>
            <a:r>
              <a:rPr sz="1950" spc="135" dirty="0">
                <a:solidFill>
                  <a:srgbClr val="0000FF"/>
                </a:solidFill>
                <a:latin typeface="Arial"/>
                <a:cs typeface="Arial"/>
              </a:rPr>
              <a:t>formulas</a:t>
            </a:r>
            <a:endParaRPr sz="1950">
              <a:latin typeface="Arial"/>
              <a:cs typeface="Arial"/>
            </a:endParaRPr>
          </a:p>
          <a:p>
            <a:pPr>
              <a:lnSpc>
                <a:spcPct val="100000"/>
              </a:lnSpc>
              <a:spcBef>
                <a:spcPts val="46"/>
              </a:spcBef>
            </a:pPr>
            <a:endParaRPr sz="15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60" dirty="0">
                <a:solidFill>
                  <a:srgbClr val="FF0000"/>
                </a:solidFill>
                <a:latin typeface="Arial"/>
                <a:cs typeface="Arial"/>
              </a:rPr>
              <a:t>Induction </a:t>
            </a:r>
            <a:r>
              <a:rPr sz="1950" spc="155" dirty="0">
                <a:solidFill>
                  <a:srgbClr val="FF0000"/>
                </a:solidFill>
                <a:latin typeface="Arial"/>
                <a:cs typeface="Arial"/>
              </a:rPr>
              <a:t>for </a:t>
            </a:r>
            <a:r>
              <a:rPr sz="2050" i="1" spc="-55" dirty="0">
                <a:solidFill>
                  <a:srgbClr val="FF0000"/>
                </a:solidFill>
                <a:latin typeface="Meiryo"/>
                <a:cs typeface="Meiryo"/>
              </a:rPr>
              <a:t>k </a:t>
            </a:r>
            <a:r>
              <a:rPr sz="2050" spc="114" dirty="0">
                <a:solidFill>
                  <a:srgbClr val="FF0000"/>
                </a:solidFill>
                <a:latin typeface="Tahoma"/>
                <a:cs typeface="Tahoma"/>
              </a:rPr>
              <a:t>= </a:t>
            </a:r>
            <a:r>
              <a:rPr sz="2050" spc="-120" dirty="0">
                <a:solidFill>
                  <a:srgbClr val="FF0000"/>
                </a:solidFill>
                <a:latin typeface="Tahoma"/>
                <a:cs typeface="Tahoma"/>
              </a:rPr>
              <a:t>2</a:t>
            </a:r>
            <a:r>
              <a:rPr sz="2050" i="1" spc="-120" dirty="0">
                <a:solidFill>
                  <a:srgbClr val="FF0000"/>
                </a:solidFill>
                <a:latin typeface="Meiryo"/>
                <a:cs typeface="Meiryo"/>
              </a:rPr>
              <a:t>, </a:t>
            </a:r>
            <a:r>
              <a:rPr sz="2050" spc="-114" dirty="0">
                <a:solidFill>
                  <a:srgbClr val="FF0000"/>
                </a:solidFill>
                <a:latin typeface="Tahoma"/>
                <a:cs typeface="Tahoma"/>
              </a:rPr>
              <a:t>3</a:t>
            </a:r>
            <a:r>
              <a:rPr sz="2050" i="1" spc="-114" dirty="0">
                <a:solidFill>
                  <a:srgbClr val="FF0000"/>
                </a:solidFill>
                <a:latin typeface="Meiryo"/>
                <a:cs typeface="Meiryo"/>
              </a:rPr>
              <a:t>, </a:t>
            </a:r>
            <a:r>
              <a:rPr sz="2050" spc="-90" dirty="0">
                <a:solidFill>
                  <a:srgbClr val="FF0000"/>
                </a:solidFill>
                <a:latin typeface="Tahoma"/>
                <a:cs typeface="Tahoma"/>
              </a:rPr>
              <a:t>4 </a:t>
            </a:r>
            <a:r>
              <a:rPr sz="2050" i="1" spc="-145" dirty="0">
                <a:solidFill>
                  <a:srgbClr val="FF0000"/>
                </a:solidFill>
                <a:latin typeface="Meiryo"/>
                <a:cs typeface="Meiryo"/>
              </a:rPr>
              <a:t>. . . </a:t>
            </a:r>
            <a:r>
              <a:rPr sz="1950" spc="145" dirty="0">
                <a:solidFill>
                  <a:srgbClr val="FF0000"/>
                </a:solidFill>
                <a:latin typeface="Arial"/>
                <a:cs typeface="Arial"/>
              </a:rPr>
              <a:t>may </a:t>
            </a:r>
            <a:r>
              <a:rPr sz="1950" spc="75" dirty="0">
                <a:solidFill>
                  <a:srgbClr val="FF0000"/>
                </a:solidFill>
                <a:latin typeface="Arial"/>
                <a:cs typeface="Arial"/>
              </a:rPr>
              <a:t>succeed </a:t>
            </a:r>
            <a:r>
              <a:rPr sz="1950" spc="120" dirty="0">
                <a:solidFill>
                  <a:srgbClr val="FF0000"/>
                </a:solidFill>
                <a:latin typeface="Arial"/>
                <a:cs typeface="Arial"/>
              </a:rPr>
              <a:t>where </a:t>
            </a:r>
            <a:r>
              <a:rPr sz="2050" i="1" spc="-55" dirty="0">
                <a:solidFill>
                  <a:srgbClr val="FF0000"/>
                </a:solidFill>
                <a:latin typeface="Meiryo"/>
                <a:cs typeface="Meiryo"/>
              </a:rPr>
              <a:t>k </a:t>
            </a:r>
            <a:r>
              <a:rPr sz="2050" spc="114" dirty="0">
                <a:solidFill>
                  <a:srgbClr val="FF0000"/>
                </a:solidFill>
                <a:latin typeface="Tahoma"/>
                <a:cs typeface="Tahoma"/>
              </a:rPr>
              <a:t>= </a:t>
            </a:r>
            <a:r>
              <a:rPr sz="2050" spc="-90" dirty="0">
                <a:solidFill>
                  <a:srgbClr val="FF0000"/>
                </a:solidFill>
                <a:latin typeface="Tahoma"/>
                <a:cs typeface="Tahoma"/>
              </a:rPr>
              <a:t>1 </a:t>
            </a:r>
            <a:r>
              <a:rPr sz="1950" spc="90" dirty="0">
                <a:solidFill>
                  <a:srgbClr val="FF0000"/>
                </a:solidFill>
                <a:latin typeface="Arial"/>
                <a:cs typeface="Arial"/>
              </a:rPr>
              <a:t>does</a:t>
            </a:r>
            <a:r>
              <a:rPr sz="1950" spc="114" dirty="0">
                <a:solidFill>
                  <a:srgbClr val="FF0000"/>
                </a:solidFill>
                <a:latin typeface="Arial"/>
                <a:cs typeface="Arial"/>
              </a:rPr>
              <a:t> </a:t>
            </a:r>
            <a:r>
              <a:rPr sz="1950" spc="220" dirty="0">
                <a:solidFill>
                  <a:srgbClr val="FF0000"/>
                </a:solidFill>
                <a:latin typeface="Arial"/>
                <a:cs typeface="Arial"/>
              </a:rPr>
              <a:t>not</a:t>
            </a:r>
            <a:endParaRPr sz="1950">
              <a:latin typeface="Arial"/>
              <a:cs typeface="Arial"/>
            </a:endParaRPr>
          </a:p>
          <a:p>
            <a:pPr>
              <a:lnSpc>
                <a:spcPct val="100000"/>
              </a:lnSpc>
              <a:spcBef>
                <a:spcPts val="1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80" dirty="0">
                <a:solidFill>
                  <a:srgbClr val="231F20"/>
                </a:solidFill>
                <a:latin typeface="Arial"/>
                <a:cs typeface="Arial"/>
              </a:rPr>
              <a:t>Note </a:t>
            </a:r>
            <a:r>
              <a:rPr sz="1950" spc="235" dirty="0">
                <a:solidFill>
                  <a:srgbClr val="231F20"/>
                </a:solidFill>
                <a:latin typeface="Arial"/>
                <a:cs typeface="Arial"/>
              </a:rPr>
              <a:t>that </a:t>
            </a:r>
            <a:r>
              <a:rPr sz="1950" spc="125" dirty="0">
                <a:solidFill>
                  <a:srgbClr val="0000FF"/>
                </a:solidFill>
                <a:latin typeface="Arial"/>
                <a:cs typeface="Arial"/>
              </a:rPr>
              <a:t>counterexamples </a:t>
            </a:r>
            <a:r>
              <a:rPr sz="1950" spc="105" dirty="0">
                <a:solidFill>
                  <a:srgbClr val="231F20"/>
                </a:solidFill>
                <a:latin typeface="Arial"/>
                <a:cs typeface="Arial"/>
              </a:rPr>
              <a:t>help </a:t>
            </a:r>
            <a:r>
              <a:rPr sz="1950" spc="125" dirty="0">
                <a:solidFill>
                  <a:srgbClr val="231F20"/>
                </a:solidFill>
                <a:latin typeface="Arial"/>
                <a:cs typeface="Arial"/>
              </a:rPr>
              <a:t>debug</a:t>
            </a:r>
            <a:r>
              <a:rPr sz="1950" spc="770" dirty="0">
                <a:solidFill>
                  <a:srgbClr val="231F20"/>
                </a:solidFill>
                <a:latin typeface="Arial"/>
                <a:cs typeface="Arial"/>
              </a:rPr>
              <a:t> </a:t>
            </a:r>
            <a:r>
              <a:rPr sz="1950" spc="140" dirty="0">
                <a:solidFill>
                  <a:srgbClr val="231F20"/>
                </a:solidFill>
                <a:latin typeface="Arial"/>
                <a:cs typeface="Arial"/>
              </a:rPr>
              <a:t>invariant</a:t>
            </a:r>
            <a:endParaRPr sz="1950">
              <a:latin typeface="Arial"/>
              <a:cs typeface="Arial"/>
            </a:endParaRPr>
          </a:p>
          <a:p>
            <a:pPr>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35" dirty="0">
                <a:solidFill>
                  <a:srgbClr val="231F20"/>
                </a:solidFill>
                <a:latin typeface="Arial"/>
                <a:cs typeface="Arial"/>
              </a:rPr>
              <a:t>Can </a:t>
            </a:r>
            <a:r>
              <a:rPr sz="1950" spc="70" dirty="0">
                <a:solidFill>
                  <a:srgbClr val="231F20"/>
                </a:solidFill>
                <a:latin typeface="Arial"/>
                <a:cs typeface="Arial"/>
              </a:rPr>
              <a:t>easily </a:t>
            </a:r>
            <a:r>
              <a:rPr sz="1950" spc="135" dirty="0">
                <a:solidFill>
                  <a:srgbClr val="231F20"/>
                </a:solidFill>
                <a:latin typeface="Arial"/>
                <a:cs typeface="Arial"/>
              </a:rPr>
              <a:t>extend </a:t>
            </a:r>
            <a:r>
              <a:rPr sz="1950" spc="250" dirty="0">
                <a:solidFill>
                  <a:srgbClr val="231F20"/>
                </a:solidFill>
                <a:latin typeface="Arial"/>
                <a:cs typeface="Arial"/>
              </a:rPr>
              <a:t>to </a:t>
            </a:r>
            <a:r>
              <a:rPr sz="1950" spc="45" dirty="0">
                <a:solidFill>
                  <a:srgbClr val="231F20"/>
                </a:solidFill>
                <a:latin typeface="Arial"/>
                <a:cs typeface="Arial"/>
              </a:rPr>
              <a:t>use </a:t>
            </a:r>
            <a:r>
              <a:rPr sz="1950" spc="180" dirty="0">
                <a:solidFill>
                  <a:srgbClr val="231F20"/>
                </a:solidFill>
                <a:latin typeface="Arial"/>
                <a:cs typeface="Arial"/>
              </a:rPr>
              <a:t> </a:t>
            </a:r>
            <a:r>
              <a:rPr sz="1950" spc="130" dirty="0">
                <a:solidFill>
                  <a:srgbClr val="FF0000"/>
                </a:solidFill>
                <a:latin typeface="Arial"/>
                <a:cs typeface="Arial"/>
              </a:rPr>
              <a:t>lemmas</a:t>
            </a:r>
            <a:endParaRPr sz="1950">
              <a:latin typeface="Arial"/>
              <a:cs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406470" y="470485"/>
            <a:ext cx="3246755" cy="339090"/>
          </a:xfrm>
          <a:prstGeom prst="rect">
            <a:avLst/>
          </a:prstGeom>
        </p:spPr>
        <p:txBody>
          <a:bodyPr vert="horz" wrap="square" lIns="0" tIns="0" rIns="0" bIns="0" rtlCol="0">
            <a:spAutoFit/>
          </a:bodyPr>
          <a:lstStyle/>
          <a:p>
            <a:pPr marL="12700">
              <a:lnSpc>
                <a:spcPct val="100000"/>
              </a:lnSpc>
            </a:pPr>
            <a:r>
              <a:rPr i="1" spc="235" dirty="0">
                <a:solidFill>
                  <a:srgbClr val="231F20"/>
                </a:solidFill>
                <a:latin typeface="Meiryo"/>
                <a:cs typeface="Meiryo"/>
              </a:rPr>
              <a:t>k</a:t>
            </a:r>
            <a:r>
              <a:rPr sz="1950" spc="235" dirty="0">
                <a:solidFill>
                  <a:srgbClr val="231F20"/>
                </a:solidFill>
                <a:latin typeface="Arial"/>
                <a:cs typeface="Arial"/>
              </a:rPr>
              <a:t>-Induction </a:t>
            </a:r>
            <a:r>
              <a:rPr sz="1950" spc="110" dirty="0">
                <a:solidFill>
                  <a:srgbClr val="231F20"/>
                </a:solidFill>
                <a:latin typeface="Arial"/>
                <a:cs typeface="Arial"/>
              </a:rPr>
              <a:t>is</a:t>
            </a:r>
            <a:r>
              <a:rPr sz="1950" spc="440" dirty="0">
                <a:solidFill>
                  <a:srgbClr val="231F20"/>
                </a:solidFill>
                <a:latin typeface="Arial"/>
                <a:cs typeface="Arial"/>
              </a:rPr>
              <a:t> </a:t>
            </a:r>
            <a:r>
              <a:rPr sz="1950" spc="245" dirty="0">
                <a:solidFill>
                  <a:srgbClr val="231F20"/>
                </a:solidFill>
                <a:latin typeface="Arial"/>
                <a:cs typeface="Arial"/>
              </a:rPr>
              <a:t>Powerful</a:t>
            </a:r>
            <a:endParaRPr sz="1950">
              <a:latin typeface="Arial"/>
              <a:cs typeface="Arial"/>
            </a:endParaRPr>
          </a:p>
        </p:txBody>
      </p:sp>
      <p:sp>
        <p:nvSpPr>
          <p:cNvPr id="3" name="object 3"/>
          <p:cNvSpPr/>
          <p:nvPr/>
        </p:nvSpPr>
        <p:spPr>
          <a:xfrm>
            <a:off x="1761554" y="1553756"/>
            <a:ext cx="6532053" cy="4563616"/>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538565" y="2175358"/>
            <a:ext cx="4978030" cy="3320413"/>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470974" y="2848763"/>
            <a:ext cx="3113212" cy="1973603"/>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3991571" y="2156537"/>
            <a:ext cx="0" cy="414655"/>
          </a:xfrm>
          <a:custGeom>
            <a:avLst/>
            <a:gdLst/>
            <a:ahLst/>
            <a:cxnLst/>
            <a:rect l="l" t="t" r="r" b="b"/>
            <a:pathLst>
              <a:path h="414655">
                <a:moveTo>
                  <a:pt x="0" y="414412"/>
                </a:moveTo>
                <a:lnTo>
                  <a:pt x="0" y="0"/>
                </a:lnTo>
              </a:path>
            </a:pathLst>
          </a:custGeom>
          <a:ln w="31080">
            <a:solidFill>
              <a:srgbClr val="FFA0A0"/>
            </a:solidFill>
          </a:ln>
        </p:spPr>
        <p:txBody>
          <a:bodyPr wrap="square" lIns="0" tIns="0" rIns="0" bIns="0" rtlCol="0"/>
          <a:lstStyle/>
          <a:p>
            <a:endParaRPr/>
          </a:p>
        </p:txBody>
      </p:sp>
      <p:sp>
        <p:nvSpPr>
          <p:cNvPr id="7" name="object 7"/>
          <p:cNvSpPr/>
          <p:nvPr/>
        </p:nvSpPr>
        <p:spPr>
          <a:xfrm>
            <a:off x="3908691" y="2156536"/>
            <a:ext cx="166370" cy="414655"/>
          </a:xfrm>
          <a:custGeom>
            <a:avLst/>
            <a:gdLst/>
            <a:ahLst/>
            <a:cxnLst/>
            <a:rect l="l" t="t" r="r" b="b"/>
            <a:pathLst>
              <a:path w="166370" h="414655">
                <a:moveTo>
                  <a:pt x="165760" y="414413"/>
                </a:moveTo>
                <a:lnTo>
                  <a:pt x="82880" y="0"/>
                </a:lnTo>
                <a:lnTo>
                  <a:pt x="0" y="414413"/>
                </a:lnTo>
                <a:lnTo>
                  <a:pt x="82880" y="331533"/>
                </a:lnTo>
                <a:lnTo>
                  <a:pt x="165760" y="414413"/>
                </a:lnTo>
                <a:close/>
              </a:path>
            </a:pathLst>
          </a:custGeom>
          <a:solidFill>
            <a:srgbClr val="FFA0A0"/>
          </a:solidFill>
        </p:spPr>
        <p:txBody>
          <a:bodyPr wrap="square" lIns="0" tIns="0" rIns="0" bIns="0" rtlCol="0"/>
          <a:lstStyle/>
          <a:p>
            <a:endParaRPr/>
          </a:p>
        </p:txBody>
      </p:sp>
      <p:sp>
        <p:nvSpPr>
          <p:cNvPr id="8" name="object 8"/>
          <p:cNvSpPr/>
          <p:nvPr/>
        </p:nvSpPr>
        <p:spPr>
          <a:xfrm>
            <a:off x="3908691" y="2156536"/>
            <a:ext cx="166370" cy="414655"/>
          </a:xfrm>
          <a:custGeom>
            <a:avLst/>
            <a:gdLst/>
            <a:ahLst/>
            <a:cxnLst/>
            <a:rect l="l" t="t" r="r" b="b"/>
            <a:pathLst>
              <a:path w="166370" h="414655">
                <a:moveTo>
                  <a:pt x="165760" y="414413"/>
                </a:moveTo>
                <a:lnTo>
                  <a:pt x="82880" y="0"/>
                </a:lnTo>
                <a:lnTo>
                  <a:pt x="0" y="414413"/>
                </a:lnTo>
                <a:lnTo>
                  <a:pt x="82880" y="331533"/>
                </a:lnTo>
                <a:lnTo>
                  <a:pt x="165760" y="414413"/>
                </a:lnTo>
                <a:close/>
              </a:path>
            </a:pathLst>
          </a:custGeom>
          <a:ln w="31080">
            <a:solidFill>
              <a:srgbClr val="FFA0A0"/>
            </a:solidFill>
          </a:ln>
        </p:spPr>
        <p:txBody>
          <a:bodyPr wrap="square" lIns="0" tIns="0" rIns="0" bIns="0" rtlCol="0"/>
          <a:lstStyle/>
          <a:p>
            <a:endParaRPr/>
          </a:p>
        </p:txBody>
      </p:sp>
      <p:sp>
        <p:nvSpPr>
          <p:cNvPr id="9" name="object 9"/>
          <p:cNvSpPr txBox="1"/>
          <p:nvPr/>
        </p:nvSpPr>
        <p:spPr>
          <a:xfrm>
            <a:off x="901701" y="1025423"/>
            <a:ext cx="4843780" cy="2863850"/>
          </a:xfrm>
          <a:prstGeom prst="rect">
            <a:avLst/>
          </a:prstGeom>
        </p:spPr>
        <p:txBody>
          <a:bodyPr vert="horz" wrap="square" lIns="0" tIns="0" rIns="0" bIns="0" rtlCol="0">
            <a:spAutoFit/>
          </a:bodyPr>
          <a:lstStyle/>
          <a:p>
            <a:pPr marL="12700">
              <a:lnSpc>
                <a:spcPct val="100000"/>
              </a:lnSpc>
            </a:pPr>
            <a:r>
              <a:rPr sz="1950" spc="150" dirty="0">
                <a:solidFill>
                  <a:srgbClr val="231F20"/>
                </a:solidFill>
                <a:latin typeface="Arial"/>
                <a:cs typeface="Arial"/>
              </a:rPr>
              <a:t>Violations </a:t>
            </a:r>
            <a:r>
              <a:rPr sz="1950" spc="170" dirty="0">
                <a:solidFill>
                  <a:srgbClr val="231F20"/>
                </a:solidFill>
                <a:latin typeface="Arial"/>
                <a:cs typeface="Arial"/>
              </a:rPr>
              <a:t>get </a:t>
            </a:r>
            <a:r>
              <a:rPr sz="1950" spc="114" dirty="0">
                <a:solidFill>
                  <a:srgbClr val="231F20"/>
                </a:solidFill>
                <a:latin typeface="Arial"/>
                <a:cs typeface="Arial"/>
              </a:rPr>
              <a:t>harder </a:t>
            </a:r>
            <a:r>
              <a:rPr sz="1950" spc="30" dirty="0">
                <a:solidFill>
                  <a:srgbClr val="231F20"/>
                </a:solidFill>
                <a:latin typeface="Arial"/>
                <a:cs typeface="Arial"/>
              </a:rPr>
              <a:t>as </a:t>
            </a:r>
            <a:r>
              <a:rPr sz="1950" spc="195" dirty="0">
                <a:solidFill>
                  <a:srgbClr val="231F20"/>
                </a:solidFill>
                <a:latin typeface="Arial"/>
                <a:cs typeface="Arial"/>
              </a:rPr>
              <a:t>k</a:t>
            </a:r>
            <a:r>
              <a:rPr sz="1950" spc="875" dirty="0">
                <a:solidFill>
                  <a:srgbClr val="231F20"/>
                </a:solidFill>
                <a:latin typeface="Arial"/>
                <a:cs typeface="Arial"/>
              </a:rPr>
              <a:t> </a:t>
            </a:r>
            <a:r>
              <a:rPr sz="1950" spc="125" dirty="0">
                <a:solidFill>
                  <a:srgbClr val="231F20"/>
                </a:solidFill>
                <a:latin typeface="Arial"/>
                <a:cs typeface="Arial"/>
              </a:rPr>
              <a:t>grows</a:t>
            </a:r>
            <a:endParaRPr sz="1950">
              <a:latin typeface="Arial"/>
              <a:cs typeface="Arial"/>
            </a:endParaRPr>
          </a:p>
          <a:p>
            <a:pPr marL="3420745" marR="5080" indent="-635" algn="ctr">
              <a:lnSpc>
                <a:spcPct val="233700"/>
              </a:lnSpc>
              <a:spcBef>
                <a:spcPts val="525"/>
              </a:spcBef>
            </a:pPr>
            <a:r>
              <a:rPr sz="1600" b="1" spc="10" dirty="0">
                <a:solidFill>
                  <a:srgbClr val="FFE0E0"/>
                </a:solidFill>
                <a:latin typeface="Times New Roman"/>
                <a:cs typeface="Times New Roman"/>
              </a:rPr>
              <a:t>all states  </a:t>
            </a:r>
            <a:r>
              <a:rPr sz="1600" b="1" spc="10" dirty="0">
                <a:latin typeface="Times New Roman"/>
                <a:cs typeface="Times New Roman"/>
              </a:rPr>
              <a:t>invariant</a:t>
            </a:r>
            <a:endParaRPr sz="1600">
              <a:latin typeface="Times New Roman"/>
              <a:cs typeface="Times New Roman"/>
            </a:endParaRPr>
          </a:p>
          <a:p>
            <a:pPr>
              <a:lnSpc>
                <a:spcPct val="100000"/>
              </a:lnSpc>
              <a:spcBef>
                <a:spcPts val="21"/>
              </a:spcBef>
            </a:pPr>
            <a:endParaRPr sz="1400">
              <a:latin typeface="Times New Roman"/>
              <a:cs typeface="Times New Roman"/>
            </a:endParaRPr>
          </a:p>
          <a:p>
            <a:pPr marL="3420745" marR="5080" algn="ctr">
              <a:lnSpc>
                <a:spcPct val="233700"/>
              </a:lnSpc>
            </a:pPr>
            <a:r>
              <a:rPr sz="1600" b="1" spc="10" dirty="0">
                <a:solidFill>
                  <a:srgbClr val="FFE0E0"/>
                </a:solidFill>
                <a:latin typeface="Times New Roman"/>
                <a:cs typeface="Times New Roman"/>
              </a:rPr>
              <a:t>reachable</a:t>
            </a:r>
            <a:r>
              <a:rPr sz="1600" b="1" spc="-40" dirty="0">
                <a:solidFill>
                  <a:srgbClr val="FFE0E0"/>
                </a:solidFill>
                <a:latin typeface="Times New Roman"/>
                <a:cs typeface="Times New Roman"/>
              </a:rPr>
              <a:t> </a:t>
            </a:r>
            <a:r>
              <a:rPr sz="1600" b="1" spc="10" dirty="0">
                <a:solidFill>
                  <a:srgbClr val="FFE0E0"/>
                </a:solidFill>
                <a:latin typeface="Times New Roman"/>
                <a:cs typeface="Times New Roman"/>
              </a:rPr>
              <a:t>states </a:t>
            </a:r>
            <a:r>
              <a:rPr sz="1600" b="1" spc="5" dirty="0">
                <a:solidFill>
                  <a:srgbClr val="FFE0E0"/>
                </a:solidFill>
                <a:latin typeface="Times New Roman"/>
                <a:cs typeface="Times New Roman"/>
              </a:rPr>
              <a:t> </a:t>
            </a:r>
            <a:r>
              <a:rPr sz="1600" b="1" spc="10" dirty="0">
                <a:solidFill>
                  <a:srgbClr val="FFE0E0"/>
                </a:solidFill>
                <a:latin typeface="Times New Roman"/>
                <a:cs typeface="Times New Roman"/>
              </a:rPr>
              <a:t>initial</a:t>
            </a:r>
            <a:r>
              <a:rPr sz="1600" b="1" spc="-75" dirty="0">
                <a:solidFill>
                  <a:srgbClr val="FFE0E0"/>
                </a:solidFill>
                <a:latin typeface="Times New Roman"/>
                <a:cs typeface="Times New Roman"/>
              </a:rPr>
              <a:t> </a:t>
            </a:r>
            <a:r>
              <a:rPr sz="1600" b="1" spc="10" dirty="0">
                <a:solidFill>
                  <a:srgbClr val="FFE0E0"/>
                </a:solidFill>
                <a:latin typeface="Times New Roman"/>
                <a:cs typeface="Times New Roman"/>
              </a:rPr>
              <a:t>states</a:t>
            </a:r>
            <a:endParaRPr sz="1600">
              <a:latin typeface="Times New Roman"/>
              <a:cs typeface="Times New Roman"/>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3158896" y="848131"/>
            <a:ext cx="3741420" cy="339090"/>
          </a:xfrm>
          <a:prstGeom prst="rect">
            <a:avLst/>
          </a:prstGeom>
        </p:spPr>
        <p:txBody>
          <a:bodyPr vert="horz" wrap="square" lIns="0" tIns="0" rIns="0" bIns="0" rtlCol="0">
            <a:spAutoFit/>
          </a:bodyPr>
          <a:lstStyle/>
          <a:p>
            <a:pPr marL="12700">
              <a:lnSpc>
                <a:spcPct val="100000"/>
              </a:lnSpc>
            </a:pPr>
            <a:r>
              <a:rPr sz="1950" spc="245" dirty="0">
                <a:solidFill>
                  <a:srgbClr val="231F20"/>
                </a:solidFill>
                <a:latin typeface="Arial"/>
                <a:cs typeface="Arial"/>
              </a:rPr>
              <a:t>Verification </a:t>
            </a:r>
            <a:r>
              <a:rPr sz="1950" spc="200" dirty="0">
                <a:solidFill>
                  <a:srgbClr val="231F20"/>
                </a:solidFill>
                <a:latin typeface="Arial"/>
                <a:cs typeface="Arial"/>
              </a:rPr>
              <a:t>by</a:t>
            </a:r>
            <a:r>
              <a:rPr sz="1950" spc="434" dirty="0">
                <a:solidFill>
                  <a:srgbClr val="231F20"/>
                </a:solidFill>
                <a:latin typeface="Arial"/>
                <a:cs typeface="Arial"/>
              </a:rPr>
              <a:t> </a:t>
            </a:r>
            <a:r>
              <a:rPr i="1" spc="235" dirty="0">
                <a:solidFill>
                  <a:srgbClr val="231F20"/>
                </a:solidFill>
                <a:latin typeface="Meiryo"/>
                <a:cs typeface="Meiryo"/>
              </a:rPr>
              <a:t>k</a:t>
            </a:r>
            <a:r>
              <a:rPr sz="1950" spc="235" dirty="0">
                <a:solidFill>
                  <a:srgbClr val="231F20"/>
                </a:solidFill>
                <a:latin typeface="Arial"/>
                <a:cs typeface="Arial"/>
              </a:rPr>
              <a:t>-Induction</a:t>
            </a:r>
            <a:endParaRPr sz="1950">
              <a:latin typeface="Arial"/>
              <a:cs typeface="Arial"/>
            </a:endParaRPr>
          </a:p>
        </p:txBody>
      </p:sp>
      <p:sp>
        <p:nvSpPr>
          <p:cNvPr id="3" name="object 3"/>
          <p:cNvSpPr txBox="1"/>
          <p:nvPr/>
        </p:nvSpPr>
        <p:spPr>
          <a:xfrm>
            <a:off x="896440" y="1328661"/>
            <a:ext cx="7749540" cy="4701540"/>
          </a:xfrm>
          <a:prstGeom prst="rect">
            <a:avLst/>
          </a:prstGeom>
        </p:spPr>
        <p:txBody>
          <a:bodyPr vert="horz" wrap="square" lIns="0" tIns="0" rIns="0" bIns="0" rtlCol="0">
            <a:spAutoFit/>
          </a:bodyPr>
          <a:lstStyle/>
          <a:p>
            <a:pPr marL="300990" marR="5080" indent="-288290">
              <a:lnSpc>
                <a:spcPct val="125000"/>
              </a:lnSpc>
              <a:buSzPct val="105128"/>
              <a:buFont typeface="Lucida Sans Unicode"/>
              <a:buChar char="•"/>
              <a:tabLst>
                <a:tab pos="301625" algn="l"/>
              </a:tabLst>
            </a:pPr>
            <a:r>
              <a:rPr sz="1950" spc="185" dirty="0">
                <a:solidFill>
                  <a:srgbClr val="231F20"/>
                </a:solidFill>
                <a:latin typeface="Arial"/>
                <a:cs typeface="Arial"/>
              </a:rPr>
              <a:t>Looking </a:t>
            </a:r>
            <a:r>
              <a:rPr sz="1950" spc="215" dirty="0">
                <a:solidFill>
                  <a:srgbClr val="231F20"/>
                </a:solidFill>
                <a:latin typeface="Arial"/>
                <a:cs typeface="Arial"/>
              </a:rPr>
              <a:t>at </a:t>
            </a:r>
            <a:r>
              <a:rPr sz="1950" spc="120" dirty="0">
                <a:solidFill>
                  <a:srgbClr val="231F20"/>
                </a:solidFill>
                <a:latin typeface="Arial"/>
                <a:cs typeface="Arial"/>
              </a:rPr>
              <a:t>an </a:t>
            </a:r>
            <a:r>
              <a:rPr sz="1950" spc="145" dirty="0">
                <a:solidFill>
                  <a:srgbClr val="0000FF"/>
                </a:solidFill>
                <a:latin typeface="Arial"/>
                <a:cs typeface="Arial"/>
              </a:rPr>
              <a:t>inductive </a:t>
            </a:r>
            <a:r>
              <a:rPr sz="1950" spc="135" dirty="0">
                <a:solidFill>
                  <a:srgbClr val="0000FF"/>
                </a:solidFill>
                <a:latin typeface="Arial"/>
                <a:cs typeface="Arial"/>
              </a:rPr>
              <a:t>counterexample </a:t>
            </a:r>
            <a:r>
              <a:rPr sz="1950" spc="120" dirty="0">
                <a:solidFill>
                  <a:srgbClr val="231F20"/>
                </a:solidFill>
                <a:latin typeface="Arial"/>
                <a:cs typeface="Arial"/>
              </a:rPr>
              <a:t>can </a:t>
            </a:r>
            <a:r>
              <a:rPr sz="1950" spc="105" dirty="0">
                <a:solidFill>
                  <a:srgbClr val="231F20"/>
                </a:solidFill>
                <a:latin typeface="Arial"/>
                <a:cs typeface="Arial"/>
              </a:rPr>
              <a:t>help </a:t>
            </a:r>
            <a:r>
              <a:rPr sz="1950" spc="110" dirty="0">
                <a:solidFill>
                  <a:srgbClr val="231F20"/>
                </a:solidFill>
                <a:latin typeface="Arial"/>
                <a:cs typeface="Arial"/>
              </a:rPr>
              <a:t>suggest  </a:t>
            </a:r>
            <a:r>
              <a:rPr sz="1950" spc="130" dirty="0">
                <a:solidFill>
                  <a:srgbClr val="231F20"/>
                </a:solidFill>
                <a:latin typeface="Arial"/>
                <a:cs typeface="Arial"/>
              </a:rPr>
              <a:t>lemmas </a:t>
            </a:r>
            <a:r>
              <a:rPr sz="1950" spc="135" dirty="0">
                <a:solidFill>
                  <a:srgbClr val="231F20"/>
                </a:solidFill>
                <a:latin typeface="Arial"/>
                <a:cs typeface="Arial"/>
              </a:rPr>
              <a:t>(idea </a:t>
            </a:r>
            <a:r>
              <a:rPr sz="1950" spc="40" dirty="0">
                <a:solidFill>
                  <a:srgbClr val="231F20"/>
                </a:solidFill>
                <a:latin typeface="Arial"/>
                <a:cs typeface="Arial"/>
              </a:rPr>
              <a:t>is </a:t>
            </a:r>
            <a:r>
              <a:rPr sz="1950" spc="250" dirty="0">
                <a:solidFill>
                  <a:srgbClr val="231F20"/>
                </a:solidFill>
                <a:latin typeface="Arial"/>
                <a:cs typeface="Arial"/>
              </a:rPr>
              <a:t>to </a:t>
            </a:r>
            <a:r>
              <a:rPr sz="1950" spc="130" dirty="0">
                <a:solidFill>
                  <a:srgbClr val="231F20"/>
                </a:solidFill>
                <a:latin typeface="Arial"/>
                <a:cs typeface="Arial"/>
              </a:rPr>
              <a:t>make </a:t>
            </a:r>
            <a:r>
              <a:rPr sz="1950" spc="175" dirty="0">
                <a:solidFill>
                  <a:srgbClr val="231F20"/>
                </a:solidFill>
                <a:latin typeface="Arial"/>
                <a:cs typeface="Arial"/>
              </a:rPr>
              <a:t>the </a:t>
            </a:r>
            <a:r>
              <a:rPr sz="1950" spc="150" dirty="0">
                <a:solidFill>
                  <a:srgbClr val="231F20"/>
                </a:solidFill>
                <a:latin typeface="Arial"/>
                <a:cs typeface="Arial"/>
              </a:rPr>
              <a:t>initial </a:t>
            </a:r>
            <a:r>
              <a:rPr sz="1950" spc="155" dirty="0">
                <a:solidFill>
                  <a:srgbClr val="231F20"/>
                </a:solidFill>
                <a:latin typeface="Arial"/>
                <a:cs typeface="Arial"/>
              </a:rPr>
              <a:t>state </a:t>
            </a:r>
            <a:r>
              <a:rPr sz="1950" spc="509" dirty="0">
                <a:solidFill>
                  <a:srgbClr val="231F20"/>
                </a:solidFill>
                <a:latin typeface="Arial"/>
                <a:cs typeface="Arial"/>
              </a:rPr>
              <a:t> </a:t>
            </a:r>
            <a:r>
              <a:rPr sz="1950" spc="114" dirty="0">
                <a:solidFill>
                  <a:srgbClr val="231F20"/>
                </a:solidFill>
                <a:latin typeface="Arial"/>
                <a:cs typeface="Arial"/>
              </a:rPr>
              <a:t>infeasible)</a:t>
            </a:r>
            <a:endParaRPr sz="1950">
              <a:latin typeface="Arial"/>
              <a:cs typeface="Arial"/>
            </a:endParaRPr>
          </a:p>
          <a:p>
            <a:pPr marL="300990">
              <a:lnSpc>
                <a:spcPts val="2325"/>
              </a:lnSpc>
            </a:pPr>
            <a:r>
              <a:rPr sz="2050" spc="55" dirty="0">
                <a:solidFill>
                  <a:srgbClr val="0000FF"/>
                </a:solidFill>
                <a:latin typeface="SimSun"/>
                <a:cs typeface="SimSun"/>
              </a:rPr>
              <a:t>sal-bmc -v 3 -d 2 -i smallbakery safety</a:t>
            </a:r>
            <a:r>
              <a:rPr sz="2050" spc="25" dirty="0">
                <a:solidFill>
                  <a:srgbClr val="0000FF"/>
                </a:solidFill>
                <a:latin typeface="SimSun"/>
                <a:cs typeface="SimSun"/>
              </a:rPr>
              <a:t> </a:t>
            </a:r>
            <a:r>
              <a:rPr sz="2050" spc="55" dirty="0">
                <a:solidFill>
                  <a:srgbClr val="FF0000"/>
                </a:solidFill>
                <a:latin typeface="SimSun"/>
                <a:cs typeface="SimSun"/>
              </a:rPr>
              <a:t>-ice</a:t>
            </a:r>
            <a:endParaRPr sz="2050">
              <a:latin typeface="SimSun"/>
              <a:cs typeface="SimSun"/>
            </a:endParaRPr>
          </a:p>
          <a:p>
            <a:pPr marL="300990" indent="-288290">
              <a:lnSpc>
                <a:spcPct val="100000"/>
              </a:lnSpc>
              <a:spcBef>
                <a:spcPts val="975"/>
              </a:spcBef>
              <a:buSzPct val="105128"/>
              <a:buFont typeface="Lucida Sans Unicode"/>
              <a:buChar char="•"/>
              <a:tabLst>
                <a:tab pos="301625" algn="l"/>
              </a:tabLst>
            </a:pPr>
            <a:r>
              <a:rPr sz="1950" spc="100" dirty="0">
                <a:solidFill>
                  <a:srgbClr val="231F20"/>
                </a:solidFill>
                <a:latin typeface="Arial"/>
                <a:cs typeface="Arial"/>
              </a:rPr>
              <a:t>Here’s </a:t>
            </a:r>
            <a:r>
              <a:rPr sz="1950" spc="85" dirty="0">
                <a:solidFill>
                  <a:srgbClr val="231F20"/>
                </a:solidFill>
                <a:latin typeface="Arial"/>
                <a:cs typeface="Arial"/>
              </a:rPr>
              <a:t>a </a:t>
            </a:r>
            <a:r>
              <a:rPr sz="1950" spc="110" dirty="0">
                <a:solidFill>
                  <a:srgbClr val="231F20"/>
                </a:solidFill>
                <a:latin typeface="Arial"/>
                <a:cs typeface="Arial"/>
              </a:rPr>
              <a:t>simple</a:t>
            </a:r>
            <a:r>
              <a:rPr sz="1950" spc="625" dirty="0">
                <a:solidFill>
                  <a:srgbClr val="231F20"/>
                </a:solidFill>
                <a:latin typeface="Arial"/>
                <a:cs typeface="Arial"/>
              </a:rPr>
              <a:t> </a:t>
            </a:r>
            <a:r>
              <a:rPr sz="1950" spc="160" dirty="0">
                <a:solidFill>
                  <a:srgbClr val="231F20"/>
                </a:solidFill>
                <a:latin typeface="Arial"/>
                <a:cs typeface="Arial"/>
              </a:rPr>
              <a:t>lemma</a:t>
            </a:r>
            <a:endParaRPr sz="1950">
              <a:latin typeface="Arial"/>
              <a:cs typeface="Arial"/>
            </a:endParaRPr>
          </a:p>
          <a:p>
            <a:pPr>
              <a:lnSpc>
                <a:spcPct val="100000"/>
              </a:lnSpc>
              <a:spcBef>
                <a:spcPts val="31"/>
              </a:spcBef>
              <a:buClr>
                <a:srgbClr val="231F20"/>
              </a:buClr>
              <a:buFont typeface="Lucida Sans Unicode"/>
              <a:buChar char="•"/>
            </a:pPr>
            <a:endParaRPr sz="2400">
              <a:latin typeface="Times New Roman"/>
              <a:cs typeface="Times New Roman"/>
            </a:endParaRPr>
          </a:p>
          <a:p>
            <a:pPr marL="300990">
              <a:lnSpc>
                <a:spcPct val="100000"/>
              </a:lnSpc>
            </a:pPr>
            <a:r>
              <a:rPr sz="2050" spc="55" dirty="0">
                <a:solidFill>
                  <a:srgbClr val="0000FF"/>
                </a:solidFill>
                <a:latin typeface="SimSun"/>
                <a:cs typeface="SimSun"/>
              </a:rPr>
              <a:t>aux: LEMMA system |- G((my_t = 0 =&gt; pc1 =</a:t>
            </a:r>
            <a:r>
              <a:rPr sz="2050" spc="40" dirty="0">
                <a:solidFill>
                  <a:srgbClr val="0000FF"/>
                </a:solidFill>
                <a:latin typeface="SimSun"/>
                <a:cs typeface="SimSun"/>
              </a:rPr>
              <a:t> </a:t>
            </a:r>
            <a:r>
              <a:rPr sz="2050" spc="55" dirty="0">
                <a:solidFill>
                  <a:srgbClr val="0000FF"/>
                </a:solidFill>
                <a:latin typeface="SimSun"/>
                <a:cs typeface="SimSun"/>
              </a:rPr>
              <a:t>idle)</a:t>
            </a:r>
            <a:endParaRPr sz="2050">
              <a:latin typeface="SimSun"/>
              <a:cs typeface="SimSun"/>
            </a:endParaRPr>
          </a:p>
          <a:p>
            <a:pPr marL="2918460">
              <a:lnSpc>
                <a:spcPct val="100000"/>
              </a:lnSpc>
              <a:spcBef>
                <a:spcPts val="465"/>
              </a:spcBef>
            </a:pPr>
            <a:r>
              <a:rPr sz="2050" spc="55" dirty="0">
                <a:solidFill>
                  <a:srgbClr val="0000FF"/>
                </a:solidFill>
                <a:latin typeface="SimSun"/>
                <a:cs typeface="SimSun"/>
              </a:rPr>
              <a:t>AND (other_t = 0 =&gt; pc2 =</a:t>
            </a:r>
            <a:r>
              <a:rPr sz="2050" spc="10" dirty="0">
                <a:solidFill>
                  <a:srgbClr val="0000FF"/>
                </a:solidFill>
                <a:latin typeface="SimSun"/>
                <a:cs typeface="SimSun"/>
              </a:rPr>
              <a:t> </a:t>
            </a:r>
            <a:r>
              <a:rPr sz="2050" spc="55" dirty="0">
                <a:solidFill>
                  <a:srgbClr val="0000FF"/>
                </a:solidFill>
                <a:latin typeface="SimSun"/>
                <a:cs typeface="SimSun"/>
              </a:rPr>
              <a:t>idle));</a:t>
            </a:r>
            <a:endParaRPr sz="2050">
              <a:latin typeface="SimSun"/>
              <a:cs typeface="SimSun"/>
            </a:endParaRPr>
          </a:p>
          <a:p>
            <a:pPr marL="300990" indent="-288290">
              <a:lnSpc>
                <a:spcPct val="100000"/>
              </a:lnSpc>
              <a:spcBef>
                <a:spcPts val="875"/>
              </a:spcBef>
              <a:buSzPct val="105128"/>
              <a:buFont typeface="Lucida Sans Unicode"/>
              <a:buChar char="•"/>
              <a:tabLst>
                <a:tab pos="301625" algn="l"/>
              </a:tabLst>
            </a:pPr>
            <a:r>
              <a:rPr sz="1950" spc="135" dirty="0">
                <a:solidFill>
                  <a:srgbClr val="231F20"/>
                </a:solidFill>
                <a:latin typeface="Arial"/>
                <a:cs typeface="Arial"/>
              </a:rPr>
              <a:t>Can </a:t>
            </a:r>
            <a:r>
              <a:rPr sz="1950" spc="110" dirty="0">
                <a:solidFill>
                  <a:srgbClr val="231F20"/>
                </a:solidFill>
                <a:latin typeface="Arial"/>
                <a:cs typeface="Arial"/>
              </a:rPr>
              <a:t>prove </a:t>
            </a:r>
            <a:r>
              <a:rPr sz="1950" spc="215" dirty="0">
                <a:solidFill>
                  <a:srgbClr val="231F20"/>
                </a:solidFill>
                <a:latin typeface="Arial"/>
                <a:cs typeface="Arial"/>
              </a:rPr>
              <a:t>with </a:t>
            </a:r>
            <a:r>
              <a:rPr sz="2050" spc="65" dirty="0">
                <a:solidFill>
                  <a:srgbClr val="0000FF"/>
                </a:solidFill>
                <a:latin typeface="SimSun"/>
                <a:cs typeface="SimSun"/>
              </a:rPr>
              <a:t>sal-smc</a:t>
            </a:r>
            <a:r>
              <a:rPr sz="1950" spc="65" dirty="0">
                <a:solidFill>
                  <a:srgbClr val="231F20"/>
                </a:solidFill>
                <a:latin typeface="Arial"/>
                <a:cs typeface="Arial"/>
              </a:rPr>
              <a:t>, </a:t>
            </a:r>
            <a:r>
              <a:rPr sz="1950" spc="130" dirty="0">
                <a:solidFill>
                  <a:srgbClr val="231F20"/>
                </a:solidFill>
                <a:latin typeface="Arial"/>
                <a:cs typeface="Arial"/>
              </a:rPr>
              <a:t>or </a:t>
            </a:r>
            <a:r>
              <a:rPr sz="1950" spc="215" dirty="0">
                <a:solidFill>
                  <a:srgbClr val="231F20"/>
                </a:solidFill>
                <a:latin typeface="Arial"/>
                <a:cs typeface="Arial"/>
              </a:rPr>
              <a:t>with </a:t>
            </a:r>
            <a:r>
              <a:rPr sz="1950" spc="265" dirty="0">
                <a:solidFill>
                  <a:srgbClr val="231F20"/>
                </a:solidFill>
                <a:latin typeface="Arial"/>
                <a:cs typeface="Arial"/>
              </a:rPr>
              <a:t> </a:t>
            </a:r>
            <a:r>
              <a:rPr sz="1950" spc="160" dirty="0">
                <a:solidFill>
                  <a:srgbClr val="FF0000"/>
                </a:solidFill>
                <a:latin typeface="Arial"/>
                <a:cs typeface="Arial"/>
              </a:rPr>
              <a:t>1-induction</a:t>
            </a:r>
            <a:endParaRPr sz="1950">
              <a:latin typeface="Arial"/>
              <a:cs typeface="Arial"/>
            </a:endParaRPr>
          </a:p>
          <a:p>
            <a:pPr>
              <a:lnSpc>
                <a:spcPct val="100000"/>
              </a:lnSpc>
              <a:spcBef>
                <a:spcPts val="11"/>
              </a:spcBef>
              <a:buClr>
                <a:srgbClr val="231F20"/>
              </a:buClr>
              <a:buFont typeface="Lucida Sans Unicode"/>
              <a:buChar char="•"/>
            </a:pPr>
            <a:endParaRPr sz="2400">
              <a:latin typeface="Times New Roman"/>
              <a:cs typeface="Times New Roman"/>
            </a:endParaRPr>
          </a:p>
          <a:p>
            <a:pPr marL="300990">
              <a:lnSpc>
                <a:spcPct val="100000"/>
              </a:lnSpc>
            </a:pPr>
            <a:r>
              <a:rPr sz="2050" spc="55" dirty="0">
                <a:solidFill>
                  <a:srgbClr val="0000FF"/>
                </a:solidFill>
                <a:latin typeface="SimSun"/>
                <a:cs typeface="SimSun"/>
              </a:rPr>
              <a:t>sal-bmc -v 3 -d 1 -i smallbakery</a:t>
            </a:r>
            <a:r>
              <a:rPr sz="2050" spc="15" dirty="0">
                <a:solidFill>
                  <a:srgbClr val="0000FF"/>
                </a:solidFill>
                <a:latin typeface="SimSun"/>
                <a:cs typeface="SimSun"/>
              </a:rPr>
              <a:t> </a:t>
            </a:r>
            <a:r>
              <a:rPr sz="2050" spc="55" dirty="0">
                <a:solidFill>
                  <a:srgbClr val="0000FF"/>
                </a:solidFill>
                <a:latin typeface="SimSun"/>
                <a:cs typeface="SimSun"/>
              </a:rPr>
              <a:t>aux</a:t>
            </a:r>
            <a:endParaRPr sz="2050">
              <a:latin typeface="SimSun"/>
              <a:cs typeface="SimSun"/>
            </a:endParaRPr>
          </a:p>
          <a:p>
            <a:pPr marL="300990" indent="-288290">
              <a:lnSpc>
                <a:spcPct val="100000"/>
              </a:lnSpc>
              <a:spcBef>
                <a:spcPts val="875"/>
              </a:spcBef>
              <a:buSzPct val="105128"/>
              <a:buFont typeface="Lucida Sans Unicode"/>
              <a:buChar char="•"/>
              <a:tabLst>
                <a:tab pos="301625" algn="l"/>
              </a:tabLst>
            </a:pPr>
            <a:r>
              <a:rPr sz="1950" spc="135" dirty="0">
                <a:solidFill>
                  <a:srgbClr val="231F20"/>
                </a:solidFill>
                <a:latin typeface="Arial"/>
                <a:cs typeface="Arial"/>
              </a:rPr>
              <a:t>Can </a:t>
            </a:r>
            <a:r>
              <a:rPr sz="1950" spc="165" dirty="0">
                <a:solidFill>
                  <a:srgbClr val="231F20"/>
                </a:solidFill>
                <a:latin typeface="Arial"/>
                <a:cs typeface="Arial"/>
              </a:rPr>
              <a:t>then </a:t>
            </a:r>
            <a:r>
              <a:rPr sz="1950" spc="125" dirty="0">
                <a:solidFill>
                  <a:srgbClr val="231F20"/>
                </a:solidFill>
                <a:latin typeface="Arial"/>
                <a:cs typeface="Arial"/>
              </a:rPr>
              <a:t>verify </a:t>
            </a:r>
            <a:r>
              <a:rPr sz="2050" spc="55" dirty="0">
                <a:solidFill>
                  <a:srgbClr val="0000FF"/>
                </a:solidFill>
                <a:latin typeface="SimSun"/>
                <a:cs typeface="SimSun"/>
              </a:rPr>
              <a:t>safety </a:t>
            </a:r>
            <a:r>
              <a:rPr sz="1950" spc="215" dirty="0">
                <a:solidFill>
                  <a:srgbClr val="231F20"/>
                </a:solidFill>
                <a:latin typeface="Arial"/>
                <a:cs typeface="Arial"/>
              </a:rPr>
              <a:t>with </a:t>
            </a:r>
            <a:r>
              <a:rPr sz="1950" spc="160" dirty="0">
                <a:solidFill>
                  <a:srgbClr val="FF0000"/>
                </a:solidFill>
                <a:latin typeface="Arial"/>
                <a:cs typeface="Arial"/>
              </a:rPr>
              <a:t>2-induction </a:t>
            </a:r>
            <a:r>
              <a:rPr sz="1950" spc="110" dirty="0">
                <a:solidFill>
                  <a:srgbClr val="231F20"/>
                </a:solidFill>
                <a:latin typeface="Arial"/>
                <a:cs typeface="Arial"/>
              </a:rPr>
              <a:t>using </a:t>
            </a:r>
            <a:r>
              <a:rPr sz="1950" spc="145" dirty="0">
                <a:solidFill>
                  <a:srgbClr val="231F20"/>
                </a:solidFill>
                <a:latin typeface="Arial"/>
                <a:cs typeface="Arial"/>
              </a:rPr>
              <a:t>this </a:t>
            </a:r>
            <a:r>
              <a:rPr sz="1950" spc="150" dirty="0">
                <a:solidFill>
                  <a:srgbClr val="231F20"/>
                </a:solidFill>
                <a:latin typeface="Arial"/>
                <a:cs typeface="Arial"/>
              </a:rPr>
              <a:t> </a:t>
            </a:r>
            <a:r>
              <a:rPr sz="1950" spc="160" dirty="0">
                <a:solidFill>
                  <a:srgbClr val="FF0000"/>
                </a:solidFill>
                <a:latin typeface="Arial"/>
                <a:cs typeface="Arial"/>
              </a:rPr>
              <a:t>lemma</a:t>
            </a:r>
            <a:endParaRPr sz="1950">
              <a:latin typeface="Arial"/>
              <a:cs typeface="Arial"/>
            </a:endParaRPr>
          </a:p>
          <a:p>
            <a:pPr>
              <a:lnSpc>
                <a:spcPct val="100000"/>
              </a:lnSpc>
              <a:spcBef>
                <a:spcPts val="11"/>
              </a:spcBef>
            </a:pPr>
            <a:endParaRPr sz="2400">
              <a:latin typeface="Times New Roman"/>
              <a:cs typeface="Times New Roman"/>
            </a:endParaRPr>
          </a:p>
          <a:p>
            <a:pPr marL="300990">
              <a:lnSpc>
                <a:spcPct val="100000"/>
              </a:lnSpc>
            </a:pPr>
            <a:r>
              <a:rPr sz="2050" spc="55" dirty="0">
                <a:solidFill>
                  <a:srgbClr val="0000FF"/>
                </a:solidFill>
                <a:latin typeface="SimSun"/>
                <a:cs typeface="SimSun"/>
              </a:rPr>
              <a:t>sal-bmc -v 3 -d 2 -i smallbakery safety -l</a:t>
            </a:r>
            <a:r>
              <a:rPr sz="2050" spc="35" dirty="0">
                <a:solidFill>
                  <a:srgbClr val="0000FF"/>
                </a:solidFill>
                <a:latin typeface="SimSun"/>
                <a:cs typeface="SimSun"/>
              </a:rPr>
              <a:t> </a:t>
            </a:r>
            <a:r>
              <a:rPr sz="2050" spc="55" dirty="0">
                <a:solidFill>
                  <a:srgbClr val="0000FF"/>
                </a:solidFill>
                <a:latin typeface="SimSun"/>
                <a:cs typeface="SimSun"/>
              </a:rPr>
              <a:t>aux</a:t>
            </a:r>
            <a:endParaRPr sz="2050">
              <a:latin typeface="SimSun"/>
              <a:cs typeface="SimSun"/>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436520" y="3249129"/>
            <a:ext cx="883285" cy="314960"/>
          </a:xfrm>
          <a:prstGeom prst="rect">
            <a:avLst/>
          </a:prstGeom>
        </p:spPr>
        <p:txBody>
          <a:bodyPr vert="horz" wrap="square" lIns="0" tIns="0" rIns="0" bIns="0" rtlCol="0">
            <a:spAutoFit/>
          </a:bodyPr>
          <a:lstStyle/>
          <a:p>
            <a:pPr marL="12700">
              <a:lnSpc>
                <a:spcPct val="100000"/>
              </a:lnSpc>
            </a:pPr>
            <a:r>
              <a:rPr sz="1950" spc="455" dirty="0">
                <a:solidFill>
                  <a:srgbClr val="231F20"/>
                </a:solidFill>
                <a:latin typeface="Arial"/>
                <a:cs typeface="Arial"/>
              </a:rPr>
              <a:t>A</a:t>
            </a:r>
            <a:r>
              <a:rPr sz="1950" spc="70" dirty="0">
                <a:solidFill>
                  <a:srgbClr val="231F20"/>
                </a:solidFill>
                <a:latin typeface="Arial"/>
                <a:cs typeface="Arial"/>
              </a:rPr>
              <a:t>s</a:t>
            </a:r>
            <a:r>
              <a:rPr sz="1950" spc="150" dirty="0">
                <a:solidFill>
                  <a:srgbClr val="231F20"/>
                </a:solidFill>
                <a:latin typeface="Arial"/>
                <a:cs typeface="Arial"/>
              </a:rPr>
              <a:t>i</a:t>
            </a:r>
            <a:r>
              <a:rPr sz="1950" spc="210" dirty="0">
                <a:solidFill>
                  <a:srgbClr val="231F20"/>
                </a:solidFill>
                <a:latin typeface="Arial"/>
                <a:cs typeface="Arial"/>
              </a:rPr>
              <a:t>d</a:t>
            </a:r>
            <a:r>
              <a:rPr sz="1950" spc="204" dirty="0">
                <a:solidFill>
                  <a:srgbClr val="231F20"/>
                </a:solidFill>
                <a:latin typeface="Arial"/>
                <a:cs typeface="Arial"/>
              </a:rPr>
              <a:t>e</a:t>
            </a:r>
            <a:r>
              <a:rPr sz="1950" spc="215" dirty="0">
                <a:solidFill>
                  <a:srgbClr val="231F20"/>
                </a:solidFill>
                <a:latin typeface="Arial"/>
                <a:cs typeface="Arial"/>
              </a:rPr>
              <a:t>:</a:t>
            </a:r>
            <a:endParaRPr sz="1950">
              <a:latin typeface="Arial"/>
              <a:cs typeface="Arial"/>
            </a:endParaRPr>
          </a:p>
        </p:txBody>
      </p:sp>
      <p:sp>
        <p:nvSpPr>
          <p:cNvPr id="3" name="object 3"/>
          <p:cNvSpPr txBox="1"/>
          <p:nvPr/>
        </p:nvSpPr>
        <p:spPr>
          <a:xfrm>
            <a:off x="3448256" y="3249129"/>
            <a:ext cx="4174490" cy="314960"/>
          </a:xfrm>
          <a:prstGeom prst="rect">
            <a:avLst/>
          </a:prstGeom>
        </p:spPr>
        <p:txBody>
          <a:bodyPr vert="horz" wrap="square" lIns="0" tIns="0" rIns="0" bIns="0" rtlCol="0">
            <a:spAutoFit/>
          </a:bodyPr>
          <a:lstStyle/>
          <a:p>
            <a:pPr marL="12700">
              <a:lnSpc>
                <a:spcPct val="100000"/>
              </a:lnSpc>
            </a:pPr>
            <a:r>
              <a:rPr sz="1950" spc="475" dirty="0">
                <a:solidFill>
                  <a:srgbClr val="231F20"/>
                </a:solidFill>
                <a:latin typeface="Arial"/>
                <a:cs typeface="Arial"/>
              </a:rPr>
              <a:t>BMC </a:t>
            </a:r>
            <a:r>
              <a:rPr sz="1950" spc="260" dirty="0">
                <a:solidFill>
                  <a:srgbClr val="231F20"/>
                </a:solidFill>
                <a:latin typeface="Arial"/>
                <a:cs typeface="Arial"/>
              </a:rPr>
              <a:t>Can </a:t>
            </a:r>
            <a:r>
              <a:rPr sz="1950" spc="240" dirty="0">
                <a:solidFill>
                  <a:srgbClr val="231F20"/>
                </a:solidFill>
                <a:latin typeface="Arial"/>
                <a:cs typeface="Arial"/>
              </a:rPr>
              <a:t>Also </a:t>
            </a:r>
            <a:r>
              <a:rPr sz="1950" spc="204" dirty="0">
                <a:solidFill>
                  <a:srgbClr val="231F20"/>
                </a:solidFill>
                <a:latin typeface="Arial"/>
                <a:cs typeface="Arial"/>
              </a:rPr>
              <a:t>Solve</a:t>
            </a:r>
            <a:r>
              <a:rPr sz="1950" spc="434" dirty="0">
                <a:solidFill>
                  <a:srgbClr val="231F20"/>
                </a:solidFill>
                <a:latin typeface="Arial"/>
                <a:cs typeface="Arial"/>
              </a:rPr>
              <a:t> </a:t>
            </a:r>
            <a:r>
              <a:rPr sz="1950" spc="260" dirty="0">
                <a:solidFill>
                  <a:srgbClr val="231F20"/>
                </a:solidFill>
                <a:latin typeface="Arial"/>
                <a:cs typeface="Arial"/>
              </a:rPr>
              <a:t>Sudoku</a:t>
            </a:r>
            <a:endParaRPr sz="1950">
              <a:latin typeface="Arial"/>
              <a:cs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8199755" cy="5917565"/>
          </a:xfrm>
          <a:prstGeom prst="rect">
            <a:avLst/>
          </a:prstGeom>
        </p:spPr>
        <p:txBody>
          <a:bodyPr vert="horz" wrap="square" lIns="0" tIns="0" rIns="0" bIns="0" rtlCol="0">
            <a:spAutoFit/>
          </a:bodyPr>
          <a:lstStyle/>
          <a:p>
            <a:pPr marL="444500">
              <a:lnSpc>
                <a:spcPct val="100000"/>
              </a:lnSpc>
            </a:pPr>
            <a:r>
              <a:rPr sz="1950" spc="280" dirty="0">
                <a:solidFill>
                  <a:srgbClr val="231F20"/>
                </a:solidFill>
                <a:latin typeface="Arial"/>
                <a:cs typeface="Arial"/>
              </a:rPr>
              <a:t>Bounded </a:t>
            </a:r>
            <a:r>
              <a:rPr sz="1950" spc="305" dirty="0">
                <a:solidFill>
                  <a:srgbClr val="231F20"/>
                </a:solidFill>
                <a:latin typeface="Arial"/>
                <a:cs typeface="Arial"/>
              </a:rPr>
              <a:t>Model </a:t>
            </a:r>
            <a:r>
              <a:rPr sz="1950" spc="245" dirty="0">
                <a:solidFill>
                  <a:srgbClr val="231F20"/>
                </a:solidFill>
                <a:latin typeface="Arial"/>
                <a:cs typeface="Arial"/>
              </a:rPr>
              <a:t>Checking for </a:t>
            </a:r>
            <a:r>
              <a:rPr sz="1950" spc="235" dirty="0">
                <a:solidFill>
                  <a:srgbClr val="231F20"/>
                </a:solidFill>
                <a:latin typeface="Arial"/>
                <a:cs typeface="Arial"/>
              </a:rPr>
              <a:t>Infinite </a:t>
            </a:r>
            <a:r>
              <a:rPr sz="1950" spc="285" dirty="0">
                <a:solidFill>
                  <a:srgbClr val="231F20"/>
                </a:solidFill>
                <a:latin typeface="Arial"/>
                <a:cs typeface="Arial"/>
              </a:rPr>
              <a:t>State</a:t>
            </a:r>
            <a:r>
              <a:rPr sz="1950" spc="919" dirty="0">
                <a:solidFill>
                  <a:srgbClr val="231F20"/>
                </a:solidFill>
                <a:latin typeface="Arial"/>
                <a:cs typeface="Arial"/>
              </a:rPr>
              <a:t> </a:t>
            </a:r>
            <a:r>
              <a:rPr sz="1950" spc="235" dirty="0">
                <a:solidFill>
                  <a:srgbClr val="231F20"/>
                </a:solidFill>
                <a:latin typeface="Arial"/>
                <a:cs typeface="Arial"/>
              </a:rPr>
              <a:t>Systems</a:t>
            </a:r>
            <a:endParaRPr sz="1950">
              <a:latin typeface="Arial"/>
              <a:cs typeface="Arial"/>
            </a:endParaRPr>
          </a:p>
          <a:p>
            <a:pPr marL="300990" marR="445134" indent="-288290">
              <a:lnSpc>
                <a:spcPct val="125000"/>
              </a:lnSpc>
              <a:spcBef>
                <a:spcPts val="1030"/>
              </a:spcBef>
              <a:buSzPct val="105128"/>
              <a:buFont typeface="Lucida Sans Unicode"/>
              <a:buChar char="•"/>
              <a:tabLst>
                <a:tab pos="301625" algn="l"/>
              </a:tabLst>
            </a:pPr>
            <a:r>
              <a:rPr sz="1950" spc="195" dirty="0">
                <a:solidFill>
                  <a:srgbClr val="231F20"/>
                </a:solidFill>
                <a:latin typeface="Arial"/>
                <a:cs typeface="Arial"/>
              </a:rPr>
              <a:t>We </a:t>
            </a:r>
            <a:r>
              <a:rPr sz="1950" spc="120" dirty="0">
                <a:solidFill>
                  <a:srgbClr val="231F20"/>
                </a:solidFill>
                <a:latin typeface="Arial"/>
                <a:cs typeface="Arial"/>
              </a:rPr>
              <a:t>can </a:t>
            </a:r>
            <a:r>
              <a:rPr sz="1950" spc="95" dirty="0">
                <a:solidFill>
                  <a:srgbClr val="231F20"/>
                </a:solidFill>
                <a:latin typeface="Arial"/>
                <a:cs typeface="Arial"/>
              </a:rPr>
              <a:t>discharge </a:t>
            </a:r>
            <a:r>
              <a:rPr sz="1950" spc="175" dirty="0">
                <a:solidFill>
                  <a:srgbClr val="231F20"/>
                </a:solidFill>
                <a:latin typeface="Arial"/>
                <a:cs typeface="Arial"/>
              </a:rPr>
              <a:t>the </a:t>
            </a:r>
            <a:r>
              <a:rPr sz="1950" spc="300" dirty="0">
                <a:solidFill>
                  <a:srgbClr val="231F20"/>
                </a:solidFill>
                <a:latin typeface="Arial"/>
                <a:cs typeface="Arial"/>
              </a:rPr>
              <a:t>BMC </a:t>
            </a:r>
            <a:r>
              <a:rPr sz="1950" spc="130" dirty="0">
                <a:solidFill>
                  <a:srgbClr val="231F20"/>
                </a:solidFill>
                <a:latin typeface="Arial"/>
                <a:cs typeface="Arial"/>
              </a:rPr>
              <a:t>and </a:t>
            </a:r>
            <a:r>
              <a:rPr sz="1950" spc="165" dirty="0">
                <a:solidFill>
                  <a:srgbClr val="231F20"/>
                </a:solidFill>
                <a:latin typeface="Arial"/>
                <a:cs typeface="Arial"/>
              </a:rPr>
              <a:t>k-induction </a:t>
            </a:r>
            <a:r>
              <a:rPr sz="1950" spc="135" dirty="0">
                <a:solidFill>
                  <a:srgbClr val="231F20"/>
                </a:solidFill>
                <a:latin typeface="Arial"/>
                <a:cs typeface="Arial"/>
              </a:rPr>
              <a:t>efficiently </a:t>
            </a:r>
            <a:r>
              <a:rPr sz="1950" spc="155" dirty="0">
                <a:solidFill>
                  <a:srgbClr val="231F20"/>
                </a:solidFill>
                <a:latin typeface="Arial"/>
                <a:cs typeface="Arial"/>
              </a:rPr>
              <a:t>for  </a:t>
            </a:r>
            <a:r>
              <a:rPr sz="1950" spc="150" dirty="0">
                <a:solidFill>
                  <a:srgbClr val="231F20"/>
                </a:solidFill>
                <a:latin typeface="Arial"/>
                <a:cs typeface="Arial"/>
              </a:rPr>
              <a:t>Boolean </a:t>
            </a:r>
            <a:r>
              <a:rPr sz="1950" spc="114" dirty="0">
                <a:solidFill>
                  <a:srgbClr val="231F20"/>
                </a:solidFill>
                <a:latin typeface="Arial"/>
                <a:cs typeface="Arial"/>
              </a:rPr>
              <a:t>encodings </a:t>
            </a:r>
            <a:r>
              <a:rPr sz="1950" spc="185" dirty="0">
                <a:solidFill>
                  <a:srgbClr val="231F20"/>
                </a:solidFill>
                <a:latin typeface="Arial"/>
                <a:cs typeface="Arial"/>
              </a:rPr>
              <a:t>of </a:t>
            </a:r>
            <a:r>
              <a:rPr sz="1950" spc="160" dirty="0">
                <a:solidFill>
                  <a:srgbClr val="231F20"/>
                </a:solidFill>
                <a:latin typeface="Arial"/>
                <a:cs typeface="Arial"/>
              </a:rPr>
              <a:t>finite </a:t>
            </a:r>
            <a:r>
              <a:rPr sz="1950" spc="155" dirty="0">
                <a:solidFill>
                  <a:srgbClr val="231F20"/>
                </a:solidFill>
                <a:latin typeface="Arial"/>
                <a:cs typeface="Arial"/>
              </a:rPr>
              <a:t>state </a:t>
            </a:r>
            <a:r>
              <a:rPr sz="1950" spc="100" dirty="0">
                <a:solidFill>
                  <a:srgbClr val="231F20"/>
                </a:solidFill>
                <a:latin typeface="Arial"/>
                <a:cs typeface="Arial"/>
              </a:rPr>
              <a:t>systems </a:t>
            </a:r>
            <a:r>
              <a:rPr sz="1950" spc="80" dirty="0">
                <a:solidFill>
                  <a:srgbClr val="231F20"/>
                </a:solidFill>
                <a:latin typeface="Arial"/>
                <a:cs typeface="Arial"/>
              </a:rPr>
              <a:t>because </a:t>
            </a:r>
            <a:r>
              <a:rPr sz="1950" spc="250" dirty="0">
                <a:solidFill>
                  <a:srgbClr val="231F20"/>
                </a:solidFill>
                <a:latin typeface="Arial"/>
                <a:cs typeface="Arial"/>
              </a:rPr>
              <a:t>SAT  </a:t>
            </a:r>
            <a:r>
              <a:rPr sz="1950" spc="75" dirty="0">
                <a:solidFill>
                  <a:srgbClr val="231F20"/>
                </a:solidFill>
                <a:latin typeface="Arial"/>
                <a:cs typeface="Arial"/>
              </a:rPr>
              <a:t>solvers </a:t>
            </a:r>
            <a:r>
              <a:rPr sz="1950" spc="155" dirty="0">
                <a:solidFill>
                  <a:srgbClr val="231F20"/>
                </a:solidFill>
                <a:latin typeface="Arial"/>
                <a:cs typeface="Arial"/>
              </a:rPr>
              <a:t>do </a:t>
            </a:r>
            <a:r>
              <a:rPr sz="1950" spc="135" dirty="0">
                <a:solidFill>
                  <a:srgbClr val="231F20"/>
                </a:solidFill>
                <a:latin typeface="Arial"/>
                <a:cs typeface="Arial"/>
              </a:rPr>
              <a:t>efficient</a:t>
            </a:r>
            <a:r>
              <a:rPr sz="1950" spc="555" dirty="0">
                <a:solidFill>
                  <a:srgbClr val="231F20"/>
                </a:solidFill>
                <a:latin typeface="Arial"/>
                <a:cs typeface="Arial"/>
              </a:rPr>
              <a:t> </a:t>
            </a:r>
            <a:r>
              <a:rPr sz="1950" spc="75" dirty="0">
                <a:solidFill>
                  <a:srgbClr val="231F20"/>
                </a:solidFill>
                <a:latin typeface="Arial"/>
                <a:cs typeface="Arial"/>
              </a:rPr>
              <a:t>search</a:t>
            </a:r>
            <a:endParaRPr sz="1950">
              <a:latin typeface="Arial"/>
              <a:cs typeface="Arial"/>
            </a:endParaRPr>
          </a:p>
          <a:p>
            <a:pPr marL="300990" marR="5080" indent="-288290">
              <a:lnSpc>
                <a:spcPct val="125000"/>
              </a:lnSpc>
              <a:spcBef>
                <a:spcPts val="1035"/>
              </a:spcBef>
              <a:buClr>
                <a:srgbClr val="231F20"/>
              </a:buClr>
              <a:buSzPct val="105128"/>
              <a:buFont typeface="Lucida Sans Unicode"/>
              <a:buChar char="•"/>
              <a:tabLst>
                <a:tab pos="301625" algn="l"/>
              </a:tabLst>
            </a:pPr>
            <a:r>
              <a:rPr sz="1950" spc="150" dirty="0">
                <a:solidFill>
                  <a:srgbClr val="0000FF"/>
                </a:solidFill>
                <a:latin typeface="Arial"/>
                <a:cs typeface="Arial"/>
              </a:rPr>
              <a:t>If </a:t>
            </a:r>
            <a:r>
              <a:rPr sz="1950" spc="95" dirty="0">
                <a:solidFill>
                  <a:srgbClr val="0000FF"/>
                </a:solidFill>
                <a:latin typeface="Arial"/>
                <a:cs typeface="Arial"/>
              </a:rPr>
              <a:t>we </a:t>
            </a:r>
            <a:r>
              <a:rPr sz="1950" spc="140" dirty="0">
                <a:solidFill>
                  <a:srgbClr val="0000FF"/>
                </a:solidFill>
                <a:latin typeface="Arial"/>
                <a:cs typeface="Arial"/>
              </a:rPr>
              <a:t>could </a:t>
            </a:r>
            <a:r>
              <a:rPr sz="1950" spc="95" dirty="0">
                <a:solidFill>
                  <a:srgbClr val="0000FF"/>
                </a:solidFill>
                <a:latin typeface="Arial"/>
                <a:cs typeface="Arial"/>
              </a:rPr>
              <a:t>discharge </a:t>
            </a:r>
            <a:r>
              <a:rPr sz="1950" spc="100" dirty="0">
                <a:solidFill>
                  <a:srgbClr val="0000FF"/>
                </a:solidFill>
                <a:latin typeface="Arial"/>
                <a:cs typeface="Arial"/>
              </a:rPr>
              <a:t>these </a:t>
            </a:r>
            <a:r>
              <a:rPr sz="1950" spc="135" dirty="0">
                <a:solidFill>
                  <a:srgbClr val="0000FF"/>
                </a:solidFill>
                <a:latin typeface="Arial"/>
                <a:cs typeface="Arial"/>
              </a:rPr>
              <a:t>formulas </a:t>
            </a:r>
            <a:r>
              <a:rPr sz="1950" spc="114" dirty="0">
                <a:solidFill>
                  <a:srgbClr val="0000FF"/>
                </a:solidFill>
                <a:latin typeface="Arial"/>
                <a:cs typeface="Arial"/>
              </a:rPr>
              <a:t>over </a:t>
            </a:r>
            <a:r>
              <a:rPr sz="1950" spc="125" dirty="0">
                <a:solidFill>
                  <a:srgbClr val="0000FF"/>
                </a:solidFill>
                <a:latin typeface="Arial"/>
                <a:cs typeface="Arial"/>
              </a:rPr>
              <a:t>richer </a:t>
            </a:r>
            <a:r>
              <a:rPr sz="1950" spc="110" dirty="0">
                <a:solidFill>
                  <a:srgbClr val="0000FF"/>
                </a:solidFill>
                <a:latin typeface="Arial"/>
                <a:cs typeface="Arial"/>
              </a:rPr>
              <a:t>theories, </a:t>
            </a:r>
            <a:r>
              <a:rPr sz="1950" spc="95" dirty="0">
                <a:solidFill>
                  <a:srgbClr val="0000FF"/>
                </a:solidFill>
                <a:latin typeface="Arial"/>
                <a:cs typeface="Arial"/>
              </a:rPr>
              <a:t>we  </a:t>
            </a:r>
            <a:r>
              <a:rPr sz="1950" spc="140" dirty="0">
                <a:solidFill>
                  <a:srgbClr val="0000FF"/>
                </a:solidFill>
                <a:latin typeface="Arial"/>
                <a:cs typeface="Arial"/>
              </a:rPr>
              <a:t>could </a:t>
            </a:r>
            <a:r>
              <a:rPr sz="1950" spc="155" dirty="0">
                <a:solidFill>
                  <a:srgbClr val="0000FF"/>
                </a:solidFill>
                <a:latin typeface="Arial"/>
                <a:cs typeface="Arial"/>
              </a:rPr>
              <a:t>do </a:t>
            </a:r>
            <a:r>
              <a:rPr sz="1950" spc="300" dirty="0">
                <a:solidFill>
                  <a:srgbClr val="0000FF"/>
                </a:solidFill>
                <a:latin typeface="Arial"/>
                <a:cs typeface="Arial"/>
              </a:rPr>
              <a:t>BMC </a:t>
            </a:r>
            <a:r>
              <a:rPr sz="1950" spc="130" dirty="0">
                <a:solidFill>
                  <a:srgbClr val="0000FF"/>
                </a:solidFill>
                <a:latin typeface="Arial"/>
                <a:cs typeface="Arial"/>
              </a:rPr>
              <a:t>and </a:t>
            </a:r>
            <a:r>
              <a:rPr sz="1950" spc="165" dirty="0">
                <a:solidFill>
                  <a:srgbClr val="0000FF"/>
                </a:solidFill>
                <a:latin typeface="Arial"/>
                <a:cs typeface="Arial"/>
              </a:rPr>
              <a:t>k-induction </a:t>
            </a:r>
            <a:r>
              <a:rPr sz="1950" spc="155" dirty="0">
                <a:solidFill>
                  <a:srgbClr val="0000FF"/>
                </a:solidFill>
                <a:latin typeface="Arial"/>
                <a:cs typeface="Arial"/>
              </a:rPr>
              <a:t>for state </a:t>
            </a:r>
            <a:r>
              <a:rPr sz="1950" spc="114" dirty="0">
                <a:solidFill>
                  <a:srgbClr val="0000FF"/>
                </a:solidFill>
                <a:latin typeface="Arial"/>
                <a:cs typeface="Arial"/>
              </a:rPr>
              <a:t>machines over </a:t>
            </a:r>
            <a:r>
              <a:rPr sz="1950" spc="100" dirty="0">
                <a:solidFill>
                  <a:srgbClr val="0000FF"/>
                </a:solidFill>
                <a:latin typeface="Arial"/>
                <a:cs typeface="Arial"/>
              </a:rPr>
              <a:t>these  </a:t>
            </a:r>
            <a:r>
              <a:rPr sz="1950" spc="110" dirty="0">
                <a:solidFill>
                  <a:srgbClr val="0000FF"/>
                </a:solidFill>
                <a:latin typeface="Arial"/>
                <a:cs typeface="Arial"/>
              </a:rPr>
              <a:t>theories</a:t>
            </a:r>
            <a:endParaRPr sz="1950">
              <a:latin typeface="Arial"/>
              <a:cs typeface="Arial"/>
            </a:endParaRPr>
          </a:p>
          <a:p>
            <a:pPr marL="300990" marR="650875" indent="-288290">
              <a:lnSpc>
                <a:spcPct val="125000"/>
              </a:lnSpc>
              <a:spcBef>
                <a:spcPts val="1035"/>
              </a:spcBef>
              <a:buClr>
                <a:srgbClr val="231F20"/>
              </a:buClr>
              <a:buSzPct val="105128"/>
              <a:buFont typeface="Lucida Sans Unicode"/>
              <a:buChar char="•"/>
              <a:tabLst>
                <a:tab pos="301625" algn="l"/>
              </a:tabLst>
            </a:pPr>
            <a:r>
              <a:rPr sz="1950" spc="114" dirty="0">
                <a:solidFill>
                  <a:srgbClr val="FF0000"/>
                </a:solidFill>
                <a:latin typeface="Arial"/>
                <a:cs typeface="Arial"/>
              </a:rPr>
              <a:t>So </a:t>
            </a:r>
            <a:r>
              <a:rPr sz="1950" spc="160" dirty="0">
                <a:solidFill>
                  <a:srgbClr val="FF0000"/>
                </a:solidFill>
                <a:latin typeface="Arial"/>
                <a:cs typeface="Arial"/>
              </a:rPr>
              <a:t>how </a:t>
            </a:r>
            <a:r>
              <a:rPr sz="1950" spc="190" dirty="0">
                <a:solidFill>
                  <a:srgbClr val="FF0000"/>
                </a:solidFill>
                <a:latin typeface="Arial"/>
                <a:cs typeface="Arial"/>
              </a:rPr>
              <a:t>about </a:t>
            </a:r>
            <a:r>
              <a:rPr sz="1950" spc="160" dirty="0">
                <a:solidFill>
                  <a:srgbClr val="FF0000"/>
                </a:solidFill>
                <a:latin typeface="Arial"/>
                <a:cs typeface="Arial"/>
              </a:rPr>
              <a:t>if </a:t>
            </a:r>
            <a:r>
              <a:rPr sz="1950" spc="95" dirty="0">
                <a:solidFill>
                  <a:srgbClr val="FF0000"/>
                </a:solidFill>
                <a:latin typeface="Arial"/>
                <a:cs typeface="Arial"/>
              </a:rPr>
              <a:t>we </a:t>
            </a:r>
            <a:r>
              <a:rPr sz="1950" spc="145" dirty="0">
                <a:solidFill>
                  <a:srgbClr val="FF0000"/>
                </a:solidFill>
                <a:latin typeface="Arial"/>
                <a:cs typeface="Arial"/>
              </a:rPr>
              <a:t>combine </a:t>
            </a:r>
            <a:r>
              <a:rPr sz="1950" spc="85" dirty="0">
                <a:solidFill>
                  <a:srgbClr val="FF0000"/>
                </a:solidFill>
                <a:latin typeface="Arial"/>
                <a:cs typeface="Arial"/>
              </a:rPr>
              <a:t>a </a:t>
            </a:r>
            <a:r>
              <a:rPr sz="1950" spc="250" dirty="0">
                <a:solidFill>
                  <a:srgbClr val="FF0000"/>
                </a:solidFill>
                <a:latin typeface="Arial"/>
                <a:cs typeface="Arial"/>
              </a:rPr>
              <a:t>SAT </a:t>
            </a:r>
            <a:r>
              <a:rPr sz="1950" spc="90" dirty="0">
                <a:solidFill>
                  <a:srgbClr val="FF0000"/>
                </a:solidFill>
                <a:latin typeface="Arial"/>
                <a:cs typeface="Arial"/>
              </a:rPr>
              <a:t>solver </a:t>
            </a:r>
            <a:r>
              <a:rPr sz="1950" spc="215" dirty="0">
                <a:solidFill>
                  <a:srgbClr val="FF0000"/>
                </a:solidFill>
                <a:latin typeface="Arial"/>
                <a:cs typeface="Arial"/>
              </a:rPr>
              <a:t>with </a:t>
            </a:r>
            <a:r>
              <a:rPr sz="1950" spc="100" dirty="0">
                <a:solidFill>
                  <a:srgbClr val="FF0000"/>
                </a:solidFill>
                <a:latin typeface="Arial"/>
                <a:cs typeface="Arial"/>
              </a:rPr>
              <a:t>decision  </a:t>
            </a:r>
            <a:r>
              <a:rPr sz="1950" spc="105" dirty="0">
                <a:solidFill>
                  <a:srgbClr val="FF0000"/>
                </a:solidFill>
                <a:latin typeface="Arial"/>
                <a:cs typeface="Arial"/>
              </a:rPr>
              <a:t>procedures </a:t>
            </a:r>
            <a:r>
              <a:rPr sz="1950" spc="155" dirty="0">
                <a:solidFill>
                  <a:srgbClr val="FF0000"/>
                </a:solidFill>
                <a:latin typeface="Arial"/>
                <a:cs typeface="Arial"/>
              </a:rPr>
              <a:t>for </a:t>
            </a:r>
            <a:r>
              <a:rPr sz="1950" spc="105" dirty="0">
                <a:solidFill>
                  <a:srgbClr val="FF0000"/>
                </a:solidFill>
                <a:latin typeface="Arial"/>
                <a:cs typeface="Arial"/>
              </a:rPr>
              <a:t>useful </a:t>
            </a:r>
            <a:r>
              <a:rPr sz="1950" spc="110" dirty="0">
                <a:solidFill>
                  <a:srgbClr val="FF0000"/>
                </a:solidFill>
                <a:latin typeface="Arial"/>
                <a:cs typeface="Arial"/>
              </a:rPr>
              <a:t>theories </a:t>
            </a:r>
            <a:r>
              <a:rPr sz="1950" spc="90" dirty="0">
                <a:solidFill>
                  <a:srgbClr val="FF0000"/>
                </a:solidFill>
                <a:latin typeface="Arial"/>
                <a:cs typeface="Arial"/>
              </a:rPr>
              <a:t>like </a:t>
            </a:r>
            <a:r>
              <a:rPr sz="1950" spc="310" dirty="0">
                <a:solidFill>
                  <a:srgbClr val="FF0000"/>
                </a:solidFill>
                <a:latin typeface="Arial"/>
                <a:cs typeface="Arial"/>
              </a:rPr>
              <a:t> </a:t>
            </a:r>
            <a:r>
              <a:rPr sz="1950" spc="160" dirty="0">
                <a:solidFill>
                  <a:srgbClr val="FF0000"/>
                </a:solidFill>
                <a:latin typeface="Arial"/>
                <a:cs typeface="Arial"/>
              </a:rPr>
              <a:t>arithmetic?</a:t>
            </a:r>
            <a:endParaRPr sz="1950">
              <a:latin typeface="Arial"/>
              <a:cs typeface="Arial"/>
            </a:endParaRPr>
          </a:p>
          <a:p>
            <a:pPr marL="300990" indent="-288290">
              <a:lnSpc>
                <a:spcPct val="100000"/>
              </a:lnSpc>
              <a:spcBef>
                <a:spcPts val="1614"/>
              </a:spcBef>
              <a:buClr>
                <a:srgbClr val="231F20"/>
              </a:buClr>
              <a:buSzPct val="105128"/>
              <a:buFont typeface="Lucida Sans Unicode"/>
              <a:buChar char="•"/>
              <a:tabLst>
                <a:tab pos="301625" algn="l"/>
              </a:tabLst>
            </a:pPr>
            <a:r>
              <a:rPr sz="1950" spc="229" dirty="0">
                <a:solidFill>
                  <a:srgbClr val="0000FF"/>
                </a:solidFill>
                <a:latin typeface="Arial"/>
                <a:cs typeface="Arial"/>
              </a:rPr>
              <a:t>That’s </a:t>
            </a:r>
            <a:r>
              <a:rPr sz="1950" spc="204" dirty="0">
                <a:solidFill>
                  <a:srgbClr val="0000FF"/>
                </a:solidFill>
                <a:latin typeface="Arial"/>
                <a:cs typeface="Arial"/>
              </a:rPr>
              <a:t>what </a:t>
            </a:r>
            <a:r>
              <a:rPr sz="1950" spc="120" dirty="0">
                <a:solidFill>
                  <a:srgbClr val="0000FF"/>
                </a:solidFill>
                <a:latin typeface="Arial"/>
                <a:cs typeface="Arial"/>
              </a:rPr>
              <a:t>an </a:t>
            </a:r>
            <a:r>
              <a:rPr sz="1950" spc="350" dirty="0">
                <a:solidFill>
                  <a:srgbClr val="0000FF"/>
                </a:solidFill>
                <a:latin typeface="Arial"/>
                <a:cs typeface="Arial"/>
              </a:rPr>
              <a:t>SMT </a:t>
            </a:r>
            <a:r>
              <a:rPr sz="1950" spc="90" dirty="0">
                <a:solidFill>
                  <a:srgbClr val="0000FF"/>
                </a:solidFill>
                <a:latin typeface="Arial"/>
                <a:cs typeface="Arial"/>
              </a:rPr>
              <a:t>solver does </a:t>
            </a:r>
            <a:r>
              <a:rPr sz="1950" spc="135" dirty="0">
                <a:solidFill>
                  <a:srgbClr val="231F20"/>
                </a:solidFill>
                <a:latin typeface="Arial"/>
                <a:cs typeface="Arial"/>
              </a:rPr>
              <a:t>(details </a:t>
            </a:r>
            <a:r>
              <a:rPr sz="1950" spc="225" dirty="0">
                <a:solidFill>
                  <a:srgbClr val="231F20"/>
                </a:solidFill>
                <a:latin typeface="Arial"/>
                <a:cs typeface="Arial"/>
              </a:rPr>
              <a:t> </a:t>
            </a:r>
            <a:r>
              <a:rPr sz="1950" spc="175" dirty="0">
                <a:solidFill>
                  <a:srgbClr val="231F20"/>
                </a:solidFill>
                <a:latin typeface="Arial"/>
                <a:cs typeface="Arial"/>
              </a:rPr>
              <a:t>later)</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35" dirty="0">
                <a:solidFill>
                  <a:srgbClr val="231F20"/>
                </a:solidFill>
                <a:latin typeface="Arial"/>
                <a:cs typeface="Arial"/>
              </a:rPr>
              <a:t>Satisfiability </a:t>
            </a:r>
            <a:r>
              <a:rPr sz="1950" spc="200" dirty="0">
                <a:solidFill>
                  <a:srgbClr val="231F20"/>
                </a:solidFill>
                <a:latin typeface="Arial"/>
                <a:cs typeface="Arial"/>
              </a:rPr>
              <a:t>Modulo</a:t>
            </a:r>
            <a:r>
              <a:rPr sz="1950" spc="395" dirty="0">
                <a:solidFill>
                  <a:srgbClr val="231F20"/>
                </a:solidFill>
                <a:latin typeface="Arial"/>
                <a:cs typeface="Arial"/>
              </a:rPr>
              <a:t> </a:t>
            </a:r>
            <a:r>
              <a:rPr sz="1950" spc="135" dirty="0">
                <a:solidFill>
                  <a:srgbClr val="231F20"/>
                </a:solidFill>
                <a:latin typeface="Arial"/>
                <a:cs typeface="Arial"/>
              </a:rPr>
              <a:t>Theories</a:t>
            </a:r>
            <a:endParaRPr sz="1950">
              <a:latin typeface="Arial"/>
              <a:cs typeface="Arial"/>
            </a:endParaRPr>
          </a:p>
          <a:p>
            <a:pPr marL="300990" marR="169545" indent="-288290">
              <a:lnSpc>
                <a:spcPct val="125000"/>
              </a:lnSpc>
              <a:spcBef>
                <a:spcPts val="1035"/>
              </a:spcBef>
              <a:buSzPct val="105128"/>
              <a:buFont typeface="Lucida Sans Unicode"/>
              <a:buChar char="•"/>
              <a:tabLst>
                <a:tab pos="301625" algn="l"/>
              </a:tabLst>
            </a:pPr>
            <a:r>
              <a:rPr sz="1950" spc="300" dirty="0">
                <a:solidFill>
                  <a:srgbClr val="231F20"/>
                </a:solidFill>
                <a:latin typeface="Arial"/>
                <a:cs typeface="Arial"/>
              </a:rPr>
              <a:t>BMC </a:t>
            </a:r>
            <a:r>
              <a:rPr sz="1950" spc="110" dirty="0">
                <a:solidFill>
                  <a:srgbClr val="231F20"/>
                </a:solidFill>
                <a:latin typeface="Arial"/>
                <a:cs typeface="Arial"/>
              </a:rPr>
              <a:t>using </a:t>
            </a:r>
            <a:r>
              <a:rPr sz="1950" spc="120" dirty="0">
                <a:solidFill>
                  <a:srgbClr val="231F20"/>
                </a:solidFill>
                <a:latin typeface="Arial"/>
                <a:cs typeface="Arial"/>
              </a:rPr>
              <a:t>an </a:t>
            </a:r>
            <a:r>
              <a:rPr sz="1950" spc="350" dirty="0">
                <a:solidFill>
                  <a:srgbClr val="231F20"/>
                </a:solidFill>
                <a:latin typeface="Arial"/>
                <a:cs typeface="Arial"/>
              </a:rPr>
              <a:t>SMT </a:t>
            </a:r>
            <a:r>
              <a:rPr sz="1950" spc="90" dirty="0">
                <a:solidFill>
                  <a:srgbClr val="231F20"/>
                </a:solidFill>
                <a:latin typeface="Arial"/>
                <a:cs typeface="Arial"/>
              </a:rPr>
              <a:t>solver </a:t>
            </a:r>
            <a:r>
              <a:rPr sz="1950" spc="80" dirty="0">
                <a:solidFill>
                  <a:srgbClr val="231F20"/>
                </a:solidFill>
                <a:latin typeface="Arial"/>
                <a:cs typeface="Arial"/>
              </a:rPr>
              <a:t>yields </a:t>
            </a:r>
            <a:r>
              <a:rPr sz="1950" spc="120" dirty="0">
                <a:solidFill>
                  <a:srgbClr val="231F20"/>
                </a:solidFill>
                <a:latin typeface="Arial"/>
                <a:cs typeface="Arial"/>
              </a:rPr>
              <a:t>an </a:t>
            </a:r>
            <a:r>
              <a:rPr sz="1950" spc="155" dirty="0">
                <a:solidFill>
                  <a:srgbClr val="FF0000"/>
                </a:solidFill>
                <a:latin typeface="Arial"/>
                <a:cs typeface="Arial"/>
              </a:rPr>
              <a:t>infinite </a:t>
            </a:r>
            <a:r>
              <a:rPr sz="1950" spc="140" dirty="0">
                <a:solidFill>
                  <a:srgbClr val="FF0000"/>
                </a:solidFill>
                <a:latin typeface="Arial"/>
                <a:cs typeface="Arial"/>
              </a:rPr>
              <a:t>bounded </a:t>
            </a:r>
            <a:r>
              <a:rPr sz="1950" spc="160" dirty="0">
                <a:solidFill>
                  <a:srgbClr val="FF0000"/>
                </a:solidFill>
                <a:latin typeface="Arial"/>
                <a:cs typeface="Arial"/>
              </a:rPr>
              <a:t>model  </a:t>
            </a:r>
            <a:r>
              <a:rPr sz="1950" spc="100" dirty="0">
                <a:solidFill>
                  <a:srgbClr val="FF0000"/>
                </a:solidFill>
                <a:latin typeface="Arial"/>
                <a:cs typeface="Arial"/>
              </a:rPr>
              <a:t>checker</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10" dirty="0">
                <a:solidFill>
                  <a:srgbClr val="231F20"/>
                </a:solidFill>
                <a:latin typeface="Arial"/>
                <a:cs typeface="Arial"/>
              </a:rPr>
              <a:t>i.e., </a:t>
            </a:r>
            <a:r>
              <a:rPr sz="1950" spc="85" dirty="0">
                <a:solidFill>
                  <a:srgbClr val="231F20"/>
                </a:solidFill>
                <a:latin typeface="Arial"/>
                <a:cs typeface="Arial"/>
              </a:rPr>
              <a:t>a </a:t>
            </a:r>
            <a:r>
              <a:rPr sz="1950" spc="140" dirty="0">
                <a:solidFill>
                  <a:srgbClr val="231F20"/>
                </a:solidFill>
                <a:latin typeface="Arial"/>
                <a:cs typeface="Arial"/>
              </a:rPr>
              <a:t>bounded </a:t>
            </a:r>
            <a:r>
              <a:rPr sz="1950" spc="160" dirty="0">
                <a:solidFill>
                  <a:srgbClr val="231F20"/>
                </a:solidFill>
                <a:latin typeface="Arial"/>
                <a:cs typeface="Arial"/>
              </a:rPr>
              <a:t>model </a:t>
            </a:r>
            <a:r>
              <a:rPr sz="1950" spc="100" dirty="0">
                <a:solidFill>
                  <a:srgbClr val="231F20"/>
                </a:solidFill>
                <a:latin typeface="Arial"/>
                <a:cs typeface="Arial"/>
              </a:rPr>
              <a:t>checker </a:t>
            </a:r>
            <a:r>
              <a:rPr sz="1950" spc="155" dirty="0">
                <a:solidFill>
                  <a:srgbClr val="231F20"/>
                </a:solidFill>
                <a:latin typeface="Arial"/>
                <a:cs typeface="Arial"/>
              </a:rPr>
              <a:t>for infinite state </a:t>
            </a:r>
            <a:r>
              <a:rPr sz="1950" spc="675" dirty="0">
                <a:solidFill>
                  <a:srgbClr val="231F20"/>
                </a:solidFill>
                <a:latin typeface="Arial"/>
                <a:cs typeface="Arial"/>
              </a:rPr>
              <a:t> </a:t>
            </a:r>
            <a:r>
              <a:rPr sz="1950" spc="100" dirty="0">
                <a:solidFill>
                  <a:srgbClr val="231F20"/>
                </a:solidFill>
                <a:latin typeface="Arial"/>
                <a:cs typeface="Arial"/>
              </a:rPr>
              <a:t>systems</a:t>
            </a:r>
            <a:endParaRPr sz="1950">
              <a:latin typeface="Arial"/>
              <a:cs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8196580" cy="5857875"/>
          </a:xfrm>
          <a:prstGeom prst="rect">
            <a:avLst/>
          </a:prstGeom>
        </p:spPr>
        <p:txBody>
          <a:bodyPr vert="horz" wrap="square" lIns="0" tIns="0" rIns="0" bIns="0" rtlCol="0">
            <a:spAutoFit/>
          </a:bodyPr>
          <a:lstStyle/>
          <a:p>
            <a:pPr marL="69215" algn="ctr">
              <a:lnSpc>
                <a:spcPct val="100000"/>
              </a:lnSpc>
            </a:pPr>
            <a:r>
              <a:rPr sz="1950" spc="525" dirty="0">
                <a:solidFill>
                  <a:srgbClr val="231F20"/>
                </a:solidFill>
                <a:latin typeface="Arial"/>
                <a:cs typeface="Arial"/>
              </a:rPr>
              <a:t>SMT</a:t>
            </a:r>
            <a:r>
              <a:rPr sz="1950" spc="280" dirty="0">
                <a:solidFill>
                  <a:srgbClr val="231F20"/>
                </a:solidFill>
                <a:latin typeface="Arial"/>
                <a:cs typeface="Arial"/>
              </a:rPr>
              <a:t> </a:t>
            </a:r>
            <a:r>
              <a:rPr sz="1950" spc="190" dirty="0">
                <a:solidFill>
                  <a:srgbClr val="231F20"/>
                </a:solidFill>
                <a:latin typeface="Arial"/>
                <a:cs typeface="Arial"/>
              </a:rPr>
              <a:t>Solvers</a:t>
            </a:r>
            <a:endParaRPr sz="1950">
              <a:latin typeface="Arial"/>
              <a:cs typeface="Arial"/>
            </a:endParaRPr>
          </a:p>
          <a:p>
            <a:pPr marL="300990" indent="-288290">
              <a:lnSpc>
                <a:spcPct val="100000"/>
              </a:lnSpc>
              <a:spcBef>
                <a:spcPts val="1614"/>
              </a:spcBef>
              <a:buSzPct val="105128"/>
              <a:buFont typeface="Lucida Sans Unicode"/>
              <a:buChar char="•"/>
              <a:tabLst>
                <a:tab pos="301625" algn="l"/>
              </a:tabLst>
            </a:pPr>
            <a:r>
              <a:rPr sz="1950" spc="170" dirty="0">
                <a:solidFill>
                  <a:srgbClr val="231F20"/>
                </a:solidFill>
                <a:latin typeface="Arial"/>
                <a:cs typeface="Arial"/>
              </a:rPr>
              <a:t>Ours </a:t>
            </a:r>
            <a:r>
              <a:rPr sz="1950" spc="40" dirty="0">
                <a:solidFill>
                  <a:srgbClr val="231F20"/>
                </a:solidFill>
                <a:latin typeface="Arial"/>
                <a:cs typeface="Arial"/>
              </a:rPr>
              <a:t>is </a:t>
            </a:r>
            <a:r>
              <a:rPr sz="1950" spc="100" dirty="0">
                <a:solidFill>
                  <a:srgbClr val="231F20"/>
                </a:solidFill>
                <a:latin typeface="Arial"/>
                <a:cs typeface="Arial"/>
              </a:rPr>
              <a:t>called</a:t>
            </a:r>
            <a:r>
              <a:rPr sz="1950" spc="580" dirty="0">
                <a:solidFill>
                  <a:srgbClr val="231F20"/>
                </a:solidFill>
                <a:latin typeface="Arial"/>
                <a:cs typeface="Arial"/>
              </a:rPr>
              <a:t> </a:t>
            </a:r>
            <a:r>
              <a:rPr sz="1950" spc="100" dirty="0">
                <a:solidFill>
                  <a:srgbClr val="FF0000"/>
                </a:solidFill>
                <a:latin typeface="Arial"/>
                <a:cs typeface="Arial"/>
              </a:rPr>
              <a:t>Yices</a:t>
            </a:r>
            <a:endParaRPr sz="1950">
              <a:latin typeface="Arial"/>
              <a:cs typeface="Arial"/>
            </a:endParaRPr>
          </a:p>
          <a:p>
            <a:pPr marL="741680" lvl="1" indent="-288290">
              <a:lnSpc>
                <a:spcPct val="100000"/>
              </a:lnSpc>
              <a:spcBef>
                <a:spcPts val="1000"/>
              </a:spcBef>
              <a:buClr>
                <a:srgbClr val="231F20"/>
              </a:buClr>
              <a:buSzPct val="105128"/>
              <a:buFont typeface="Lucida Sans Unicode"/>
              <a:buChar char="◦"/>
              <a:tabLst>
                <a:tab pos="742315" algn="l"/>
              </a:tabLst>
            </a:pPr>
            <a:r>
              <a:rPr sz="1950" spc="145" dirty="0">
                <a:solidFill>
                  <a:srgbClr val="0000FF"/>
                </a:solidFill>
                <a:latin typeface="Arial"/>
                <a:cs typeface="Arial"/>
              </a:rPr>
              <a:t>Typically </a:t>
            </a:r>
            <a:r>
              <a:rPr sz="1950" spc="90" dirty="0">
                <a:solidFill>
                  <a:srgbClr val="0000FF"/>
                </a:solidFill>
                <a:latin typeface="Arial"/>
                <a:cs typeface="Arial"/>
              </a:rPr>
              <a:t>does </a:t>
            </a:r>
            <a:r>
              <a:rPr sz="1950" spc="105" dirty="0">
                <a:solidFill>
                  <a:srgbClr val="0000FF"/>
                </a:solidFill>
                <a:latin typeface="Arial"/>
                <a:cs typeface="Arial"/>
              </a:rPr>
              <a:t>very </a:t>
            </a:r>
            <a:r>
              <a:rPr sz="1950" spc="100" dirty="0">
                <a:solidFill>
                  <a:srgbClr val="0000FF"/>
                </a:solidFill>
                <a:latin typeface="Arial"/>
                <a:cs typeface="Arial"/>
              </a:rPr>
              <a:t>well </a:t>
            </a:r>
            <a:r>
              <a:rPr sz="1950" spc="130" dirty="0">
                <a:solidFill>
                  <a:srgbClr val="0000FF"/>
                </a:solidFill>
                <a:latin typeface="Arial"/>
                <a:cs typeface="Arial"/>
              </a:rPr>
              <a:t>in </a:t>
            </a:r>
            <a:r>
              <a:rPr sz="1950" spc="175" dirty="0">
                <a:solidFill>
                  <a:srgbClr val="0000FF"/>
                </a:solidFill>
                <a:latin typeface="Arial"/>
                <a:cs typeface="Arial"/>
              </a:rPr>
              <a:t>the </a:t>
            </a:r>
            <a:r>
              <a:rPr sz="1950" spc="125" dirty="0">
                <a:solidFill>
                  <a:srgbClr val="0000FF"/>
                </a:solidFill>
                <a:latin typeface="Arial"/>
                <a:cs typeface="Arial"/>
              </a:rPr>
              <a:t>annual </a:t>
            </a:r>
            <a:r>
              <a:rPr sz="1950" spc="350" dirty="0">
                <a:solidFill>
                  <a:srgbClr val="0000FF"/>
                </a:solidFill>
                <a:latin typeface="Arial"/>
                <a:cs typeface="Arial"/>
              </a:rPr>
              <a:t>SMT </a:t>
            </a:r>
            <a:r>
              <a:rPr sz="1950" spc="509" dirty="0">
                <a:solidFill>
                  <a:srgbClr val="0000FF"/>
                </a:solidFill>
                <a:latin typeface="Arial"/>
                <a:cs typeface="Arial"/>
              </a:rPr>
              <a:t> </a:t>
            </a:r>
            <a:r>
              <a:rPr sz="1950" spc="185" dirty="0">
                <a:solidFill>
                  <a:srgbClr val="0000FF"/>
                </a:solidFill>
                <a:latin typeface="Arial"/>
                <a:cs typeface="Arial"/>
              </a:rPr>
              <a:t>competition</a:t>
            </a:r>
            <a:endParaRPr sz="1950">
              <a:latin typeface="Arial"/>
              <a:cs typeface="Arial"/>
            </a:endParaRPr>
          </a:p>
          <a:p>
            <a:pPr marL="300990" marR="324485" indent="-288290">
              <a:lnSpc>
                <a:spcPct val="125000"/>
              </a:lnSpc>
              <a:spcBef>
                <a:spcPts val="414"/>
              </a:spcBef>
              <a:buSzPct val="105128"/>
              <a:buFont typeface="Lucida Sans Unicode"/>
              <a:buChar char="•"/>
              <a:tabLst>
                <a:tab pos="301625" algn="l"/>
              </a:tabLst>
            </a:pPr>
            <a:r>
              <a:rPr sz="1950" spc="100" dirty="0">
                <a:solidFill>
                  <a:srgbClr val="231F20"/>
                </a:solidFill>
                <a:latin typeface="Arial"/>
                <a:cs typeface="Arial"/>
              </a:rPr>
              <a:t>Yices </a:t>
            </a:r>
            <a:r>
              <a:rPr sz="1950" spc="75" dirty="0">
                <a:solidFill>
                  <a:srgbClr val="231F20"/>
                </a:solidFill>
                <a:latin typeface="Arial"/>
                <a:cs typeface="Arial"/>
              </a:rPr>
              <a:t>decides </a:t>
            </a:r>
            <a:r>
              <a:rPr sz="1950" spc="135" dirty="0">
                <a:solidFill>
                  <a:srgbClr val="231F20"/>
                </a:solidFill>
                <a:latin typeface="Arial"/>
                <a:cs typeface="Arial"/>
              </a:rPr>
              <a:t>formulas </a:t>
            </a:r>
            <a:r>
              <a:rPr sz="1950" spc="130" dirty="0">
                <a:solidFill>
                  <a:srgbClr val="231F20"/>
                </a:solidFill>
                <a:latin typeface="Arial"/>
                <a:cs typeface="Arial"/>
              </a:rPr>
              <a:t>in </a:t>
            </a:r>
            <a:r>
              <a:rPr sz="1950" spc="175" dirty="0">
                <a:solidFill>
                  <a:srgbClr val="231F20"/>
                </a:solidFill>
                <a:latin typeface="Arial"/>
                <a:cs typeface="Arial"/>
              </a:rPr>
              <a:t>the </a:t>
            </a:r>
            <a:r>
              <a:rPr sz="1950" spc="145" dirty="0">
                <a:solidFill>
                  <a:srgbClr val="231F20"/>
                </a:solidFill>
                <a:latin typeface="Arial"/>
                <a:cs typeface="Arial"/>
              </a:rPr>
              <a:t>combined </a:t>
            </a:r>
            <a:r>
              <a:rPr sz="1950" spc="110" dirty="0">
                <a:solidFill>
                  <a:srgbClr val="231F20"/>
                </a:solidFill>
                <a:latin typeface="Arial"/>
                <a:cs typeface="Arial"/>
              </a:rPr>
              <a:t>theories </a:t>
            </a:r>
            <a:r>
              <a:rPr sz="1950" spc="185" dirty="0">
                <a:solidFill>
                  <a:srgbClr val="231F20"/>
                </a:solidFill>
                <a:latin typeface="Arial"/>
                <a:cs typeface="Arial"/>
              </a:rPr>
              <a:t>of </a:t>
            </a:r>
            <a:r>
              <a:rPr sz="1950" spc="95" dirty="0">
                <a:solidFill>
                  <a:srgbClr val="231F20"/>
                </a:solidFill>
                <a:latin typeface="Arial"/>
                <a:cs typeface="Arial"/>
              </a:rPr>
              <a:t>linear  </a:t>
            </a:r>
            <a:r>
              <a:rPr sz="1950" spc="170" dirty="0">
                <a:solidFill>
                  <a:srgbClr val="231F20"/>
                </a:solidFill>
                <a:latin typeface="Arial"/>
                <a:cs typeface="Arial"/>
              </a:rPr>
              <a:t>arithmetic </a:t>
            </a:r>
            <a:r>
              <a:rPr sz="1950" spc="114" dirty="0">
                <a:solidFill>
                  <a:srgbClr val="231F20"/>
                </a:solidFill>
                <a:latin typeface="Arial"/>
                <a:cs typeface="Arial"/>
              </a:rPr>
              <a:t>over integers </a:t>
            </a:r>
            <a:r>
              <a:rPr sz="1950" spc="130" dirty="0">
                <a:solidFill>
                  <a:srgbClr val="231F20"/>
                </a:solidFill>
                <a:latin typeface="Arial"/>
                <a:cs typeface="Arial"/>
              </a:rPr>
              <a:t>and </a:t>
            </a:r>
            <a:r>
              <a:rPr sz="1950" spc="70" dirty="0">
                <a:solidFill>
                  <a:srgbClr val="231F20"/>
                </a:solidFill>
                <a:latin typeface="Arial"/>
                <a:cs typeface="Arial"/>
              </a:rPr>
              <a:t>reals </a:t>
            </a:r>
            <a:r>
              <a:rPr sz="1950" spc="150" dirty="0">
                <a:solidFill>
                  <a:srgbClr val="231F20"/>
                </a:solidFill>
                <a:latin typeface="Arial"/>
                <a:cs typeface="Arial"/>
              </a:rPr>
              <a:t>(including </a:t>
            </a:r>
            <a:r>
              <a:rPr sz="1950" spc="140" dirty="0">
                <a:solidFill>
                  <a:srgbClr val="231F20"/>
                </a:solidFill>
                <a:latin typeface="Arial"/>
                <a:cs typeface="Arial"/>
              </a:rPr>
              <a:t>mixed </a:t>
            </a:r>
            <a:r>
              <a:rPr sz="1950" spc="170" dirty="0">
                <a:solidFill>
                  <a:srgbClr val="231F20"/>
                </a:solidFill>
                <a:latin typeface="Arial"/>
                <a:cs typeface="Arial"/>
              </a:rPr>
              <a:t>forms),  </a:t>
            </a:r>
            <a:r>
              <a:rPr sz="1950" spc="125" dirty="0">
                <a:solidFill>
                  <a:srgbClr val="231F20"/>
                </a:solidFill>
                <a:latin typeface="Arial"/>
                <a:cs typeface="Arial"/>
              </a:rPr>
              <a:t>fixed </a:t>
            </a:r>
            <a:r>
              <a:rPr sz="1950" spc="45" dirty="0">
                <a:solidFill>
                  <a:srgbClr val="231F20"/>
                </a:solidFill>
                <a:latin typeface="Arial"/>
                <a:cs typeface="Arial"/>
              </a:rPr>
              <a:t>size </a:t>
            </a:r>
            <a:r>
              <a:rPr sz="1950" spc="145" dirty="0">
                <a:solidFill>
                  <a:srgbClr val="231F20"/>
                </a:solidFill>
                <a:latin typeface="Arial"/>
                <a:cs typeface="Arial"/>
              </a:rPr>
              <a:t>bitvectors, </a:t>
            </a:r>
            <a:r>
              <a:rPr sz="1950" spc="130" dirty="0">
                <a:solidFill>
                  <a:srgbClr val="231F20"/>
                </a:solidFill>
                <a:latin typeface="Arial"/>
                <a:cs typeface="Arial"/>
              </a:rPr>
              <a:t>equality </a:t>
            </a:r>
            <a:r>
              <a:rPr sz="1950" spc="215" dirty="0">
                <a:solidFill>
                  <a:srgbClr val="231F20"/>
                </a:solidFill>
                <a:latin typeface="Arial"/>
                <a:cs typeface="Arial"/>
              </a:rPr>
              <a:t>with </a:t>
            </a:r>
            <a:r>
              <a:rPr sz="1950" spc="145" dirty="0">
                <a:solidFill>
                  <a:srgbClr val="231F20"/>
                </a:solidFill>
                <a:latin typeface="Arial"/>
                <a:cs typeface="Arial"/>
              </a:rPr>
              <a:t>uninterpreted </a:t>
            </a:r>
            <a:r>
              <a:rPr sz="1950" spc="150" dirty="0">
                <a:solidFill>
                  <a:srgbClr val="231F20"/>
                </a:solidFill>
                <a:latin typeface="Arial"/>
                <a:cs typeface="Arial"/>
              </a:rPr>
              <a:t>functions,  </a:t>
            </a:r>
            <a:r>
              <a:rPr sz="1950" spc="95" dirty="0">
                <a:solidFill>
                  <a:srgbClr val="231F20"/>
                </a:solidFill>
                <a:latin typeface="Arial"/>
                <a:cs typeface="Arial"/>
              </a:rPr>
              <a:t>recursive </a:t>
            </a:r>
            <a:r>
              <a:rPr sz="1950" spc="140" dirty="0">
                <a:solidFill>
                  <a:srgbClr val="231F20"/>
                </a:solidFill>
                <a:latin typeface="Arial"/>
                <a:cs typeface="Arial"/>
              </a:rPr>
              <a:t>datatypes (such </a:t>
            </a:r>
            <a:r>
              <a:rPr sz="1950" spc="30" dirty="0">
                <a:solidFill>
                  <a:srgbClr val="231F20"/>
                </a:solidFill>
                <a:latin typeface="Arial"/>
                <a:cs typeface="Arial"/>
              </a:rPr>
              <a:t>as </a:t>
            </a:r>
            <a:r>
              <a:rPr sz="1950" spc="105" dirty="0">
                <a:solidFill>
                  <a:srgbClr val="231F20"/>
                </a:solidFill>
                <a:latin typeface="Arial"/>
                <a:cs typeface="Arial"/>
              </a:rPr>
              <a:t>lists </a:t>
            </a:r>
            <a:r>
              <a:rPr sz="1950" spc="130" dirty="0">
                <a:solidFill>
                  <a:srgbClr val="231F20"/>
                </a:solidFill>
                <a:latin typeface="Arial"/>
                <a:cs typeface="Arial"/>
              </a:rPr>
              <a:t>and </a:t>
            </a:r>
            <a:r>
              <a:rPr sz="1950" spc="140" dirty="0">
                <a:solidFill>
                  <a:srgbClr val="231F20"/>
                </a:solidFill>
                <a:latin typeface="Arial"/>
                <a:cs typeface="Arial"/>
              </a:rPr>
              <a:t>trees), </a:t>
            </a:r>
            <a:r>
              <a:rPr sz="1950" spc="110" dirty="0">
                <a:solidFill>
                  <a:srgbClr val="231F20"/>
                </a:solidFill>
                <a:latin typeface="Arial"/>
                <a:cs typeface="Arial"/>
              </a:rPr>
              <a:t>extensional  </a:t>
            </a:r>
            <a:r>
              <a:rPr sz="1950" spc="85" dirty="0">
                <a:solidFill>
                  <a:srgbClr val="231F20"/>
                </a:solidFill>
                <a:latin typeface="Arial"/>
                <a:cs typeface="Arial"/>
              </a:rPr>
              <a:t>arrays, </a:t>
            </a:r>
            <a:r>
              <a:rPr sz="1950" spc="130" dirty="0">
                <a:solidFill>
                  <a:srgbClr val="231F20"/>
                </a:solidFill>
                <a:latin typeface="Arial"/>
                <a:cs typeface="Arial"/>
              </a:rPr>
              <a:t>dependently </a:t>
            </a:r>
            <a:r>
              <a:rPr sz="1950" spc="155" dirty="0">
                <a:solidFill>
                  <a:srgbClr val="231F20"/>
                </a:solidFill>
                <a:latin typeface="Arial"/>
                <a:cs typeface="Arial"/>
              </a:rPr>
              <a:t>typed </a:t>
            </a:r>
            <a:r>
              <a:rPr sz="1950" spc="125" dirty="0">
                <a:solidFill>
                  <a:srgbClr val="231F20"/>
                </a:solidFill>
                <a:latin typeface="Arial"/>
                <a:cs typeface="Arial"/>
              </a:rPr>
              <a:t>tuples </a:t>
            </a:r>
            <a:r>
              <a:rPr sz="1950" spc="130" dirty="0">
                <a:solidFill>
                  <a:srgbClr val="231F20"/>
                </a:solidFill>
                <a:latin typeface="Arial"/>
                <a:cs typeface="Arial"/>
              </a:rPr>
              <a:t>and </a:t>
            </a:r>
            <a:r>
              <a:rPr sz="1950" spc="95" dirty="0">
                <a:solidFill>
                  <a:srgbClr val="231F20"/>
                </a:solidFill>
                <a:latin typeface="Arial"/>
                <a:cs typeface="Arial"/>
              </a:rPr>
              <a:t>records </a:t>
            </a:r>
            <a:r>
              <a:rPr sz="1950" spc="185" dirty="0">
                <a:solidFill>
                  <a:srgbClr val="231F20"/>
                </a:solidFill>
                <a:latin typeface="Arial"/>
                <a:cs typeface="Arial"/>
              </a:rPr>
              <a:t>of </a:t>
            </a:r>
            <a:r>
              <a:rPr sz="1950" spc="105" dirty="0">
                <a:solidFill>
                  <a:srgbClr val="231F20"/>
                </a:solidFill>
                <a:latin typeface="Arial"/>
                <a:cs typeface="Arial"/>
              </a:rPr>
              <a:t>all these,  </a:t>
            </a:r>
            <a:r>
              <a:rPr sz="1950" spc="160" dirty="0">
                <a:solidFill>
                  <a:srgbClr val="231F20"/>
                </a:solidFill>
                <a:latin typeface="Arial"/>
                <a:cs typeface="Arial"/>
              </a:rPr>
              <a:t>lambda </a:t>
            </a:r>
            <a:r>
              <a:rPr sz="1950" spc="75" dirty="0">
                <a:solidFill>
                  <a:srgbClr val="231F20"/>
                </a:solidFill>
                <a:latin typeface="Arial"/>
                <a:cs typeface="Arial"/>
              </a:rPr>
              <a:t>expressions, </a:t>
            </a:r>
            <a:r>
              <a:rPr sz="1950" spc="130" dirty="0">
                <a:solidFill>
                  <a:srgbClr val="231F20"/>
                </a:solidFill>
                <a:latin typeface="Arial"/>
                <a:cs typeface="Arial"/>
              </a:rPr>
              <a:t>and </a:t>
            </a:r>
            <a:r>
              <a:rPr sz="1950" spc="110" dirty="0">
                <a:solidFill>
                  <a:srgbClr val="231F20"/>
                </a:solidFill>
                <a:latin typeface="Arial"/>
                <a:cs typeface="Arial"/>
              </a:rPr>
              <a:t>some </a:t>
            </a:r>
            <a:r>
              <a:rPr sz="1950" spc="150" dirty="0">
                <a:solidFill>
                  <a:srgbClr val="231F20"/>
                </a:solidFill>
                <a:latin typeface="Arial"/>
                <a:cs typeface="Arial"/>
              </a:rPr>
              <a:t>quantified </a:t>
            </a:r>
            <a:r>
              <a:rPr sz="1950" spc="215" dirty="0">
                <a:solidFill>
                  <a:srgbClr val="231F20"/>
                </a:solidFill>
                <a:latin typeface="Arial"/>
                <a:cs typeface="Arial"/>
              </a:rPr>
              <a:t> </a:t>
            </a:r>
            <a:r>
              <a:rPr sz="1950" spc="135" dirty="0">
                <a:solidFill>
                  <a:srgbClr val="231F20"/>
                </a:solidFill>
                <a:latin typeface="Arial"/>
                <a:cs typeface="Arial"/>
              </a:rPr>
              <a:t>formulas</a:t>
            </a:r>
            <a:endParaRPr sz="1950">
              <a:latin typeface="Arial"/>
              <a:cs typeface="Arial"/>
            </a:endParaRPr>
          </a:p>
          <a:p>
            <a:pPr marL="300990" marR="5080" indent="-288290">
              <a:lnSpc>
                <a:spcPct val="125000"/>
              </a:lnSpc>
              <a:spcBef>
                <a:spcPts val="414"/>
              </a:spcBef>
              <a:buSzPct val="105128"/>
              <a:buFont typeface="Lucida Sans Unicode"/>
              <a:buChar char="•"/>
              <a:tabLst>
                <a:tab pos="301625" algn="l"/>
              </a:tabLst>
            </a:pPr>
            <a:r>
              <a:rPr sz="1950" spc="105" dirty="0">
                <a:solidFill>
                  <a:srgbClr val="231F20"/>
                </a:solidFill>
                <a:latin typeface="Arial"/>
                <a:cs typeface="Arial"/>
              </a:rPr>
              <a:t>Decides </a:t>
            </a:r>
            <a:r>
              <a:rPr sz="1950" spc="155" dirty="0">
                <a:solidFill>
                  <a:srgbClr val="231F20"/>
                </a:solidFill>
                <a:latin typeface="Arial"/>
                <a:cs typeface="Arial"/>
              </a:rPr>
              <a:t>whether </a:t>
            </a:r>
            <a:r>
              <a:rPr sz="1950" spc="135" dirty="0">
                <a:solidFill>
                  <a:srgbClr val="231F20"/>
                </a:solidFill>
                <a:latin typeface="Arial"/>
                <a:cs typeface="Arial"/>
              </a:rPr>
              <a:t>formulas </a:t>
            </a:r>
            <a:r>
              <a:rPr sz="1950" spc="65" dirty="0">
                <a:solidFill>
                  <a:srgbClr val="231F20"/>
                </a:solidFill>
                <a:latin typeface="Arial"/>
                <a:cs typeface="Arial"/>
              </a:rPr>
              <a:t>are </a:t>
            </a:r>
            <a:r>
              <a:rPr sz="1950" spc="114" dirty="0">
                <a:solidFill>
                  <a:srgbClr val="231F20"/>
                </a:solidFill>
                <a:latin typeface="Arial"/>
                <a:cs typeface="Arial"/>
              </a:rPr>
              <a:t>unsatisfiable </a:t>
            </a:r>
            <a:r>
              <a:rPr sz="1950" spc="130" dirty="0">
                <a:solidFill>
                  <a:srgbClr val="231F20"/>
                </a:solidFill>
                <a:latin typeface="Arial"/>
                <a:cs typeface="Arial"/>
              </a:rPr>
              <a:t>or </a:t>
            </a:r>
            <a:r>
              <a:rPr sz="1950" spc="110" dirty="0">
                <a:solidFill>
                  <a:srgbClr val="231F20"/>
                </a:solidFill>
                <a:latin typeface="Arial"/>
                <a:cs typeface="Arial"/>
              </a:rPr>
              <a:t>satisfiable; </a:t>
            </a:r>
            <a:r>
              <a:rPr sz="1950" spc="130" dirty="0">
                <a:solidFill>
                  <a:srgbClr val="231F20"/>
                </a:solidFill>
                <a:latin typeface="Arial"/>
                <a:cs typeface="Arial"/>
              </a:rPr>
              <a:t>in  </a:t>
            </a:r>
            <a:r>
              <a:rPr sz="1950" spc="175" dirty="0">
                <a:solidFill>
                  <a:srgbClr val="231F20"/>
                </a:solidFill>
                <a:latin typeface="Arial"/>
                <a:cs typeface="Arial"/>
              </a:rPr>
              <a:t>the </a:t>
            </a:r>
            <a:r>
              <a:rPr sz="1950" spc="180" dirty="0">
                <a:solidFill>
                  <a:srgbClr val="231F20"/>
                </a:solidFill>
                <a:latin typeface="Arial"/>
                <a:cs typeface="Arial"/>
              </a:rPr>
              <a:t>latter </a:t>
            </a:r>
            <a:r>
              <a:rPr sz="1950" spc="50" dirty="0">
                <a:solidFill>
                  <a:srgbClr val="231F20"/>
                </a:solidFill>
                <a:latin typeface="Arial"/>
                <a:cs typeface="Arial"/>
              </a:rPr>
              <a:t>case </a:t>
            </a:r>
            <a:r>
              <a:rPr sz="1950" spc="229" dirty="0">
                <a:solidFill>
                  <a:srgbClr val="231F20"/>
                </a:solidFill>
                <a:latin typeface="Arial"/>
                <a:cs typeface="Arial"/>
              </a:rPr>
              <a:t>it </a:t>
            </a:r>
            <a:r>
              <a:rPr sz="1950" spc="120" dirty="0">
                <a:solidFill>
                  <a:srgbClr val="231F20"/>
                </a:solidFill>
                <a:latin typeface="Arial"/>
                <a:cs typeface="Arial"/>
              </a:rPr>
              <a:t>can </a:t>
            </a:r>
            <a:r>
              <a:rPr sz="1950" spc="170" dirty="0">
                <a:solidFill>
                  <a:srgbClr val="231F20"/>
                </a:solidFill>
                <a:latin typeface="Arial"/>
                <a:cs typeface="Arial"/>
              </a:rPr>
              <a:t>construct </a:t>
            </a:r>
            <a:r>
              <a:rPr sz="1950" spc="120" dirty="0">
                <a:solidFill>
                  <a:srgbClr val="231F20"/>
                </a:solidFill>
                <a:latin typeface="Arial"/>
                <a:cs typeface="Arial"/>
              </a:rPr>
              <a:t>an </a:t>
            </a:r>
            <a:r>
              <a:rPr sz="1950" spc="135" dirty="0">
                <a:solidFill>
                  <a:srgbClr val="231F20"/>
                </a:solidFill>
                <a:latin typeface="Arial"/>
                <a:cs typeface="Arial"/>
              </a:rPr>
              <a:t>explicit </a:t>
            </a:r>
            <a:r>
              <a:rPr sz="1950" spc="125" dirty="0">
                <a:solidFill>
                  <a:srgbClr val="231F20"/>
                </a:solidFill>
                <a:latin typeface="Arial"/>
                <a:cs typeface="Arial"/>
              </a:rPr>
              <a:t>satisfying </a:t>
            </a:r>
            <a:r>
              <a:rPr sz="1950" spc="715" dirty="0">
                <a:solidFill>
                  <a:srgbClr val="231F20"/>
                </a:solidFill>
                <a:latin typeface="Arial"/>
                <a:cs typeface="Arial"/>
              </a:rPr>
              <a:t> </a:t>
            </a:r>
            <a:r>
              <a:rPr sz="1950" spc="120" dirty="0">
                <a:solidFill>
                  <a:srgbClr val="231F20"/>
                </a:solidFill>
                <a:latin typeface="Arial"/>
                <a:cs typeface="Arial"/>
              </a:rPr>
              <a:t>instance</a:t>
            </a:r>
            <a:endParaRPr sz="1950">
              <a:latin typeface="Arial"/>
              <a:cs typeface="Arial"/>
            </a:endParaRPr>
          </a:p>
          <a:p>
            <a:pPr marL="300990" marR="40005" indent="-288290">
              <a:lnSpc>
                <a:spcPct val="125000"/>
              </a:lnSpc>
              <a:spcBef>
                <a:spcPts val="409"/>
              </a:spcBef>
              <a:buSzPct val="105128"/>
              <a:buFont typeface="Lucida Sans Unicode"/>
              <a:buChar char="•"/>
              <a:tabLst>
                <a:tab pos="301625" algn="l"/>
              </a:tabLst>
            </a:pPr>
            <a:r>
              <a:rPr sz="1950" spc="155" dirty="0">
                <a:solidFill>
                  <a:srgbClr val="231F20"/>
                </a:solidFill>
                <a:latin typeface="Arial"/>
                <a:cs typeface="Arial"/>
              </a:rPr>
              <a:t>For </a:t>
            </a:r>
            <a:r>
              <a:rPr sz="1950" spc="114" dirty="0">
                <a:solidFill>
                  <a:srgbClr val="231F20"/>
                </a:solidFill>
                <a:latin typeface="Arial"/>
                <a:cs typeface="Arial"/>
              </a:rPr>
              <a:t>unsatisfiable </a:t>
            </a:r>
            <a:r>
              <a:rPr sz="1950" spc="135" dirty="0">
                <a:solidFill>
                  <a:srgbClr val="231F20"/>
                </a:solidFill>
                <a:latin typeface="Arial"/>
                <a:cs typeface="Arial"/>
              </a:rPr>
              <a:t>formulas, </a:t>
            </a:r>
            <a:r>
              <a:rPr sz="1950" spc="229" dirty="0">
                <a:solidFill>
                  <a:srgbClr val="231F20"/>
                </a:solidFill>
                <a:latin typeface="Arial"/>
                <a:cs typeface="Arial"/>
              </a:rPr>
              <a:t>it </a:t>
            </a:r>
            <a:r>
              <a:rPr sz="1950" spc="120" dirty="0">
                <a:solidFill>
                  <a:srgbClr val="231F20"/>
                </a:solidFill>
                <a:latin typeface="Arial"/>
                <a:cs typeface="Arial"/>
              </a:rPr>
              <a:t>can </a:t>
            </a:r>
            <a:r>
              <a:rPr sz="1950" spc="150" dirty="0">
                <a:solidFill>
                  <a:srgbClr val="231F20"/>
                </a:solidFill>
                <a:latin typeface="Arial"/>
                <a:cs typeface="Arial"/>
              </a:rPr>
              <a:t>optionally </a:t>
            </a:r>
            <a:r>
              <a:rPr sz="1950" spc="160" dirty="0">
                <a:solidFill>
                  <a:srgbClr val="231F20"/>
                </a:solidFill>
                <a:latin typeface="Arial"/>
                <a:cs typeface="Arial"/>
              </a:rPr>
              <a:t>find </a:t>
            </a:r>
            <a:r>
              <a:rPr sz="1950" spc="120" dirty="0">
                <a:solidFill>
                  <a:srgbClr val="231F20"/>
                </a:solidFill>
                <a:latin typeface="Arial"/>
                <a:cs typeface="Arial"/>
              </a:rPr>
              <a:t>an  </a:t>
            </a:r>
            <a:r>
              <a:rPr sz="1950" spc="125" dirty="0">
                <a:solidFill>
                  <a:srgbClr val="231F20"/>
                </a:solidFill>
                <a:latin typeface="Arial"/>
                <a:cs typeface="Arial"/>
              </a:rPr>
              <a:t>assignment </a:t>
            </a:r>
            <a:r>
              <a:rPr sz="1950" spc="235" dirty="0">
                <a:solidFill>
                  <a:srgbClr val="231F20"/>
                </a:solidFill>
                <a:latin typeface="Arial"/>
                <a:cs typeface="Arial"/>
              </a:rPr>
              <a:t>that </a:t>
            </a:r>
            <a:r>
              <a:rPr sz="1950" spc="120" dirty="0">
                <a:solidFill>
                  <a:srgbClr val="231F20"/>
                </a:solidFill>
                <a:latin typeface="Arial"/>
                <a:cs typeface="Arial"/>
              </a:rPr>
              <a:t>maximizes </a:t>
            </a:r>
            <a:r>
              <a:rPr sz="1950" spc="175" dirty="0">
                <a:solidFill>
                  <a:srgbClr val="231F20"/>
                </a:solidFill>
                <a:latin typeface="Arial"/>
                <a:cs typeface="Arial"/>
              </a:rPr>
              <a:t>the </a:t>
            </a:r>
            <a:r>
              <a:rPr sz="1950" spc="160" dirty="0">
                <a:solidFill>
                  <a:srgbClr val="231F20"/>
                </a:solidFill>
                <a:latin typeface="Arial"/>
                <a:cs typeface="Arial"/>
              </a:rPr>
              <a:t>weight </a:t>
            </a:r>
            <a:r>
              <a:rPr sz="1950" spc="185" dirty="0">
                <a:solidFill>
                  <a:srgbClr val="231F20"/>
                </a:solidFill>
                <a:latin typeface="Arial"/>
                <a:cs typeface="Arial"/>
              </a:rPr>
              <a:t>of </a:t>
            </a:r>
            <a:r>
              <a:rPr sz="1950" spc="110" dirty="0">
                <a:solidFill>
                  <a:srgbClr val="231F20"/>
                </a:solidFill>
                <a:latin typeface="Arial"/>
                <a:cs typeface="Arial"/>
              </a:rPr>
              <a:t>satisfied </a:t>
            </a:r>
            <a:r>
              <a:rPr sz="1950" spc="60" dirty="0">
                <a:solidFill>
                  <a:srgbClr val="231F20"/>
                </a:solidFill>
                <a:latin typeface="Arial"/>
                <a:cs typeface="Arial"/>
              </a:rPr>
              <a:t>clauses  </a:t>
            </a:r>
            <a:r>
              <a:rPr sz="1950" spc="140" dirty="0">
                <a:solidFill>
                  <a:srgbClr val="231F20"/>
                </a:solidFill>
                <a:latin typeface="Arial"/>
                <a:cs typeface="Arial"/>
              </a:rPr>
              <a:t>(i.e., </a:t>
            </a:r>
            <a:r>
              <a:rPr sz="1950" spc="280" dirty="0">
                <a:solidFill>
                  <a:srgbClr val="0000FF"/>
                </a:solidFill>
                <a:latin typeface="Arial"/>
                <a:cs typeface="Arial"/>
              </a:rPr>
              <a:t>MaxSMT</a:t>
            </a:r>
            <a:r>
              <a:rPr sz="1950" spc="280" dirty="0">
                <a:solidFill>
                  <a:srgbClr val="231F20"/>
                </a:solidFill>
                <a:latin typeface="Arial"/>
                <a:cs typeface="Arial"/>
              </a:rPr>
              <a:t>) </a:t>
            </a:r>
            <a:r>
              <a:rPr sz="1950" spc="130" dirty="0">
                <a:solidFill>
                  <a:srgbClr val="231F20"/>
                </a:solidFill>
                <a:latin typeface="Arial"/>
                <a:cs typeface="Arial"/>
              </a:rPr>
              <a:t>or, </a:t>
            </a:r>
            <a:r>
              <a:rPr sz="1950" spc="95" dirty="0">
                <a:solidFill>
                  <a:srgbClr val="231F20"/>
                </a:solidFill>
                <a:latin typeface="Arial"/>
                <a:cs typeface="Arial"/>
              </a:rPr>
              <a:t>dually, </a:t>
            </a:r>
            <a:r>
              <a:rPr sz="1950" spc="160" dirty="0">
                <a:solidFill>
                  <a:srgbClr val="231F20"/>
                </a:solidFill>
                <a:latin typeface="Arial"/>
                <a:cs typeface="Arial"/>
              </a:rPr>
              <a:t>find </a:t>
            </a:r>
            <a:r>
              <a:rPr sz="1950" spc="85" dirty="0">
                <a:solidFill>
                  <a:srgbClr val="231F20"/>
                </a:solidFill>
                <a:latin typeface="Arial"/>
                <a:cs typeface="Arial"/>
              </a:rPr>
              <a:t>a </a:t>
            </a:r>
            <a:r>
              <a:rPr sz="1950" spc="170" dirty="0">
                <a:solidFill>
                  <a:srgbClr val="231F20"/>
                </a:solidFill>
                <a:latin typeface="Arial"/>
                <a:cs typeface="Arial"/>
              </a:rPr>
              <a:t>minimal </a:t>
            </a:r>
            <a:r>
              <a:rPr sz="1950" spc="110" dirty="0">
                <a:solidFill>
                  <a:srgbClr val="231F20"/>
                </a:solidFill>
                <a:latin typeface="Arial"/>
                <a:cs typeface="Arial"/>
              </a:rPr>
              <a:t>set </a:t>
            </a:r>
            <a:r>
              <a:rPr sz="1950" spc="185" dirty="0">
                <a:solidFill>
                  <a:srgbClr val="231F20"/>
                </a:solidFill>
                <a:latin typeface="Arial"/>
                <a:cs typeface="Arial"/>
              </a:rPr>
              <a:t>of </a:t>
            </a:r>
            <a:r>
              <a:rPr sz="1950" spc="114" dirty="0">
                <a:solidFill>
                  <a:srgbClr val="231F20"/>
                </a:solidFill>
                <a:latin typeface="Arial"/>
                <a:cs typeface="Arial"/>
              </a:rPr>
              <a:t>unsatisfiable  </a:t>
            </a:r>
            <a:r>
              <a:rPr sz="1950" spc="60" dirty="0">
                <a:solidFill>
                  <a:srgbClr val="231F20"/>
                </a:solidFill>
                <a:latin typeface="Arial"/>
                <a:cs typeface="Arial"/>
              </a:rPr>
              <a:t>clauses </a:t>
            </a:r>
            <a:r>
              <a:rPr sz="1950" spc="204" dirty="0">
                <a:solidFill>
                  <a:srgbClr val="231F20"/>
                </a:solidFill>
                <a:latin typeface="Arial"/>
                <a:cs typeface="Arial"/>
              </a:rPr>
              <a:t>(the </a:t>
            </a:r>
            <a:r>
              <a:rPr sz="1950" spc="140" dirty="0">
                <a:solidFill>
                  <a:srgbClr val="0000FF"/>
                </a:solidFill>
                <a:latin typeface="Arial"/>
                <a:cs typeface="Arial"/>
              </a:rPr>
              <a:t>unsat</a:t>
            </a:r>
            <a:r>
              <a:rPr sz="1950" spc="550" dirty="0">
                <a:solidFill>
                  <a:srgbClr val="0000FF"/>
                </a:solidFill>
                <a:latin typeface="Arial"/>
                <a:cs typeface="Arial"/>
              </a:rPr>
              <a:t> </a:t>
            </a:r>
            <a:r>
              <a:rPr sz="1950" spc="140" dirty="0">
                <a:solidFill>
                  <a:srgbClr val="0000FF"/>
                </a:solidFill>
                <a:latin typeface="Arial"/>
                <a:cs typeface="Arial"/>
              </a:rPr>
              <a:t>core</a:t>
            </a:r>
            <a:r>
              <a:rPr sz="1950" spc="140" dirty="0">
                <a:solidFill>
                  <a:srgbClr val="231F20"/>
                </a:solidFill>
                <a:latin typeface="Arial"/>
                <a:cs typeface="Arial"/>
              </a:rPr>
              <a:t>)</a:t>
            </a:r>
            <a:endParaRPr sz="1950">
              <a:latin typeface="Arial"/>
              <a:cs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933829" y="475981"/>
            <a:ext cx="6193155" cy="314960"/>
          </a:xfrm>
          <a:prstGeom prst="rect">
            <a:avLst/>
          </a:prstGeom>
        </p:spPr>
        <p:txBody>
          <a:bodyPr vert="horz" wrap="square" lIns="0" tIns="0" rIns="0" bIns="0" rtlCol="0">
            <a:spAutoFit/>
          </a:bodyPr>
          <a:lstStyle/>
          <a:p>
            <a:pPr marL="12700">
              <a:lnSpc>
                <a:spcPct val="100000"/>
              </a:lnSpc>
            </a:pPr>
            <a:r>
              <a:rPr sz="1950" spc="235" dirty="0">
                <a:solidFill>
                  <a:srgbClr val="231F20"/>
                </a:solidFill>
                <a:latin typeface="Arial"/>
                <a:cs typeface="Arial"/>
              </a:rPr>
              <a:t>Infinite </a:t>
            </a:r>
            <a:r>
              <a:rPr sz="1950" spc="280" dirty="0">
                <a:solidFill>
                  <a:srgbClr val="231F20"/>
                </a:solidFill>
                <a:latin typeface="Arial"/>
                <a:cs typeface="Arial"/>
              </a:rPr>
              <a:t>Bounded </a:t>
            </a:r>
            <a:r>
              <a:rPr sz="1950" spc="305" dirty="0">
                <a:solidFill>
                  <a:srgbClr val="231F20"/>
                </a:solidFill>
                <a:latin typeface="Arial"/>
                <a:cs typeface="Arial"/>
              </a:rPr>
              <a:t>Model </a:t>
            </a:r>
            <a:r>
              <a:rPr sz="1950" spc="245" dirty="0">
                <a:solidFill>
                  <a:srgbClr val="231F20"/>
                </a:solidFill>
                <a:latin typeface="Arial"/>
                <a:cs typeface="Arial"/>
              </a:rPr>
              <a:t>Checking </a:t>
            </a:r>
            <a:r>
              <a:rPr sz="1950" spc="310" dirty="0">
                <a:solidFill>
                  <a:srgbClr val="231F20"/>
                </a:solidFill>
                <a:latin typeface="Arial"/>
                <a:cs typeface="Arial"/>
              </a:rPr>
              <a:t>with</a:t>
            </a:r>
            <a:r>
              <a:rPr sz="1950" spc="785" dirty="0">
                <a:solidFill>
                  <a:srgbClr val="231F20"/>
                </a:solidFill>
                <a:latin typeface="Arial"/>
                <a:cs typeface="Arial"/>
              </a:rPr>
              <a:t> </a:t>
            </a:r>
            <a:r>
              <a:rPr sz="1950" spc="375" dirty="0">
                <a:solidFill>
                  <a:srgbClr val="231F20"/>
                </a:solidFill>
                <a:latin typeface="Arial"/>
                <a:cs typeface="Arial"/>
              </a:rPr>
              <a:t>SAL</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76498" rIns="0" bIns="0" rtlCol="0">
            <a:spAutoFit/>
          </a:bodyPr>
          <a:lstStyle/>
          <a:p>
            <a:pPr marL="300990" indent="-288290">
              <a:lnSpc>
                <a:spcPct val="100000"/>
              </a:lnSpc>
              <a:buSzPct val="105128"/>
              <a:buFont typeface="Lucida Sans Unicode"/>
              <a:buChar char="•"/>
              <a:tabLst>
                <a:tab pos="301625" algn="l"/>
              </a:tabLst>
            </a:pPr>
            <a:r>
              <a:rPr sz="1950" spc="170" dirty="0">
                <a:solidFill>
                  <a:srgbClr val="231F20"/>
                </a:solidFill>
                <a:latin typeface="Arial"/>
                <a:cs typeface="Arial"/>
              </a:rPr>
              <a:t>We’ll </a:t>
            </a:r>
            <a:r>
              <a:rPr sz="1950" spc="45" dirty="0">
                <a:solidFill>
                  <a:srgbClr val="231F20"/>
                </a:solidFill>
                <a:latin typeface="Arial"/>
                <a:cs typeface="Arial"/>
              </a:rPr>
              <a:t>use</a:t>
            </a:r>
            <a:r>
              <a:rPr sz="1950" spc="330" dirty="0">
                <a:solidFill>
                  <a:srgbClr val="231F20"/>
                </a:solidFill>
                <a:latin typeface="Arial"/>
                <a:cs typeface="Arial"/>
              </a:rPr>
              <a:t> </a:t>
            </a:r>
            <a:r>
              <a:rPr spc="55" dirty="0"/>
              <a:t>sal-inf-bmc</a:t>
            </a:r>
            <a:endParaRPr sz="1950">
              <a:latin typeface="Arial"/>
              <a:cs typeface="Arial"/>
            </a:endParaRPr>
          </a:p>
        </p:txBody>
      </p:sp>
      <p:sp>
        <p:nvSpPr>
          <p:cNvPr id="4" name="object 4"/>
          <p:cNvSpPr txBox="1"/>
          <p:nvPr/>
        </p:nvSpPr>
        <p:spPr>
          <a:xfrm>
            <a:off x="896440" y="1471193"/>
            <a:ext cx="8201025" cy="760730"/>
          </a:xfrm>
          <a:prstGeom prst="rect">
            <a:avLst/>
          </a:prstGeom>
        </p:spPr>
        <p:txBody>
          <a:bodyPr vert="horz" wrap="square" lIns="0" tIns="0" rIns="0" bIns="0" rtlCol="0">
            <a:spAutoFit/>
          </a:bodyPr>
          <a:lstStyle/>
          <a:p>
            <a:pPr marL="300990" marR="5080" indent="-288290">
              <a:lnSpc>
                <a:spcPct val="125000"/>
              </a:lnSpc>
              <a:buSzPct val="105128"/>
              <a:buFont typeface="Lucida Sans Unicode"/>
              <a:buChar char="•"/>
              <a:tabLst>
                <a:tab pos="301625" algn="l"/>
              </a:tabLst>
            </a:pPr>
            <a:r>
              <a:rPr sz="1950" spc="135" dirty="0">
                <a:solidFill>
                  <a:srgbClr val="231F20"/>
                </a:solidFill>
                <a:latin typeface="Arial"/>
                <a:cs typeface="Arial"/>
              </a:rPr>
              <a:t>Can </a:t>
            </a:r>
            <a:r>
              <a:rPr sz="1950" spc="140" dirty="0">
                <a:solidFill>
                  <a:srgbClr val="231F20"/>
                </a:solidFill>
                <a:latin typeface="Arial"/>
                <a:cs typeface="Arial"/>
              </a:rPr>
              <a:t>repeat </a:t>
            </a:r>
            <a:r>
              <a:rPr sz="1950" spc="175" dirty="0">
                <a:solidFill>
                  <a:srgbClr val="231F20"/>
                </a:solidFill>
                <a:latin typeface="Arial"/>
                <a:cs typeface="Arial"/>
              </a:rPr>
              <a:t>the </a:t>
            </a:r>
            <a:r>
              <a:rPr sz="1950" spc="95" dirty="0">
                <a:solidFill>
                  <a:srgbClr val="231F20"/>
                </a:solidFill>
                <a:latin typeface="Arial"/>
                <a:cs typeface="Arial"/>
              </a:rPr>
              <a:t>examples we </a:t>
            </a:r>
            <a:r>
              <a:rPr sz="1950" spc="140" dirty="0">
                <a:solidFill>
                  <a:srgbClr val="231F20"/>
                </a:solidFill>
                <a:latin typeface="Arial"/>
                <a:cs typeface="Arial"/>
              </a:rPr>
              <a:t>did </a:t>
            </a:r>
            <a:r>
              <a:rPr sz="1950" spc="215" dirty="0">
                <a:solidFill>
                  <a:srgbClr val="231F20"/>
                </a:solidFill>
                <a:latin typeface="Arial"/>
                <a:cs typeface="Arial"/>
              </a:rPr>
              <a:t>with </a:t>
            </a:r>
            <a:r>
              <a:rPr sz="1950" spc="300" dirty="0">
                <a:solidFill>
                  <a:srgbClr val="231F20"/>
                </a:solidFill>
                <a:latin typeface="Arial"/>
                <a:cs typeface="Arial"/>
              </a:rPr>
              <a:t>BMC </a:t>
            </a:r>
            <a:r>
              <a:rPr sz="1950" spc="110" dirty="0">
                <a:solidFill>
                  <a:srgbClr val="231F20"/>
                </a:solidFill>
                <a:latin typeface="Arial"/>
                <a:cs typeface="Arial"/>
              </a:rPr>
              <a:t>using </a:t>
            </a:r>
            <a:r>
              <a:rPr sz="1950" spc="175" dirty="0">
                <a:solidFill>
                  <a:srgbClr val="231F20"/>
                </a:solidFill>
                <a:latin typeface="Arial"/>
                <a:cs typeface="Arial"/>
              </a:rPr>
              <a:t>the </a:t>
            </a:r>
            <a:r>
              <a:rPr sz="1950" spc="120" dirty="0">
                <a:solidFill>
                  <a:srgbClr val="FF0000"/>
                </a:solidFill>
                <a:latin typeface="Arial"/>
                <a:cs typeface="Arial"/>
              </a:rPr>
              <a:t>original  </a:t>
            </a:r>
            <a:r>
              <a:rPr sz="1950" spc="135" dirty="0">
                <a:solidFill>
                  <a:srgbClr val="231F20"/>
                </a:solidFill>
                <a:latin typeface="Arial"/>
                <a:cs typeface="Arial"/>
              </a:rPr>
              <a:t>specification</a:t>
            </a:r>
            <a:endParaRPr sz="1950">
              <a:latin typeface="Arial"/>
              <a:cs typeface="Arial"/>
            </a:endParaRPr>
          </a:p>
        </p:txBody>
      </p:sp>
      <p:graphicFrame>
        <p:nvGraphicFramePr>
          <p:cNvPr id="5" name="object 5"/>
          <p:cNvGraphicFramePr>
            <a:graphicFrameLocks noGrp="1"/>
          </p:cNvGraphicFramePr>
          <p:nvPr/>
        </p:nvGraphicFramePr>
        <p:xfrm>
          <a:off x="886915" y="2626523"/>
          <a:ext cx="5705994" cy="1504181"/>
        </p:xfrm>
        <a:graphic>
          <a:graphicData uri="http://schemas.openxmlformats.org/drawingml/2006/table">
            <a:tbl>
              <a:tblPr firstRow="1" bandRow="1">
                <a:tableStyleId>{2D5ABB26-0587-4C30-8999-92F81FD0307C}</a:tableStyleId>
              </a:tblPr>
              <a:tblGrid>
                <a:gridCol w="1895053"/>
                <a:gridCol w="413425"/>
                <a:gridCol w="275577"/>
                <a:gridCol w="964290"/>
                <a:gridCol w="1791024"/>
                <a:gridCol w="366625"/>
              </a:tblGrid>
              <a:tr h="380750">
                <a:tc>
                  <a:txBody>
                    <a:bodyPr/>
                    <a:lstStyle/>
                    <a:p>
                      <a:pPr marL="310515" marR="60960" indent="-288290" algn="r">
                        <a:lnSpc>
                          <a:spcPct val="100000"/>
                        </a:lnSpc>
                        <a:buClr>
                          <a:srgbClr val="231F20"/>
                        </a:buClr>
                        <a:buFont typeface="Lucida Sans Unicode"/>
                        <a:buChar char="•"/>
                        <a:tabLst>
                          <a:tab pos="311150" algn="l"/>
                        </a:tabLst>
                      </a:pPr>
                      <a:r>
                        <a:rPr sz="2050" spc="-5" dirty="0">
                          <a:solidFill>
                            <a:srgbClr val="0000FF"/>
                          </a:solidFill>
                          <a:latin typeface="SimSun"/>
                          <a:cs typeface="SimSun"/>
                        </a:rPr>
                        <a:t>sal-inf-bm</a:t>
                      </a:r>
                      <a:r>
                        <a:rPr sz="2050" dirty="0">
                          <a:solidFill>
                            <a:srgbClr val="0000FF"/>
                          </a:solidFill>
                          <a:latin typeface="SimSun"/>
                          <a:cs typeface="SimSun"/>
                        </a:rPr>
                        <a:t>c</a:t>
                      </a:r>
                      <a:endParaRPr sz="2050">
                        <a:latin typeface="SimSun"/>
                        <a:cs typeface="SimSun"/>
                      </a:endParaRPr>
                    </a:p>
                  </a:txBody>
                  <a:tcPr marL="0" marR="0" marT="0" marB="0"/>
                </a:tc>
                <a:tc>
                  <a:txBody>
                    <a:bodyPr/>
                    <a:lstStyle/>
                    <a:p>
                      <a:pPr algn="ctr">
                        <a:lnSpc>
                          <a:spcPct val="100000"/>
                        </a:lnSpc>
                      </a:pPr>
                      <a:r>
                        <a:rPr sz="2050" spc="55" dirty="0">
                          <a:solidFill>
                            <a:srgbClr val="0000FF"/>
                          </a:solidFill>
                          <a:latin typeface="SimSun"/>
                          <a:cs typeface="SimSun"/>
                        </a:rPr>
                        <a:t>-v</a:t>
                      </a:r>
                      <a:endParaRPr sz="2050">
                        <a:latin typeface="SimSun"/>
                        <a:cs typeface="SimSun"/>
                      </a:endParaRPr>
                    </a:p>
                  </a:txBody>
                  <a:tcPr marL="0" marR="0" marT="0" marB="0"/>
                </a:tc>
                <a:tc>
                  <a:txBody>
                    <a:bodyPr/>
                    <a:lstStyle/>
                    <a:p>
                      <a:pPr algn="ctr">
                        <a:lnSpc>
                          <a:spcPct val="100000"/>
                        </a:lnSpc>
                      </a:pPr>
                      <a:r>
                        <a:rPr sz="2050" dirty="0">
                          <a:solidFill>
                            <a:srgbClr val="0000FF"/>
                          </a:solidFill>
                          <a:latin typeface="SimSun"/>
                          <a:cs typeface="SimSun"/>
                        </a:rPr>
                        <a:t>3</a:t>
                      </a:r>
                      <a:endParaRPr sz="2050">
                        <a:latin typeface="SimSun"/>
                        <a:cs typeface="SimSun"/>
                      </a:endParaRPr>
                    </a:p>
                  </a:txBody>
                  <a:tcPr marL="0" marR="0" marT="0" marB="0"/>
                </a:tc>
                <a:tc>
                  <a:txBody>
                    <a:bodyPr/>
                    <a:lstStyle/>
                    <a:p>
                      <a:pPr marR="60960" algn="r">
                        <a:lnSpc>
                          <a:spcPct val="100000"/>
                        </a:lnSpc>
                      </a:pPr>
                      <a:r>
                        <a:rPr sz="2050" spc="-5" dirty="0">
                          <a:solidFill>
                            <a:srgbClr val="0000FF"/>
                          </a:solidFill>
                          <a:latin typeface="SimSun"/>
                          <a:cs typeface="SimSun"/>
                        </a:rPr>
                        <a:t>baker</a:t>
                      </a:r>
                      <a:r>
                        <a:rPr sz="2050" dirty="0">
                          <a:solidFill>
                            <a:srgbClr val="0000FF"/>
                          </a:solidFill>
                          <a:latin typeface="SimSun"/>
                          <a:cs typeface="SimSun"/>
                        </a:rPr>
                        <a:t>y</a:t>
                      </a:r>
                      <a:endParaRPr sz="2050">
                        <a:latin typeface="SimSun"/>
                        <a:cs typeface="SimSun"/>
                      </a:endParaRPr>
                    </a:p>
                  </a:txBody>
                  <a:tcPr marL="0" marR="0" marT="0" marB="0"/>
                </a:tc>
                <a:tc>
                  <a:txBody>
                    <a:bodyPr/>
                    <a:lstStyle/>
                    <a:p>
                      <a:pPr marL="68580">
                        <a:lnSpc>
                          <a:spcPct val="100000"/>
                        </a:lnSpc>
                      </a:pPr>
                      <a:r>
                        <a:rPr sz="2050" spc="55" dirty="0">
                          <a:solidFill>
                            <a:srgbClr val="0000FF"/>
                          </a:solidFill>
                          <a:latin typeface="SimSun"/>
                          <a:cs typeface="SimSun"/>
                        </a:rPr>
                        <a:t>bounded -d</a:t>
                      </a:r>
                      <a:r>
                        <a:rPr sz="2050" spc="-25" dirty="0">
                          <a:solidFill>
                            <a:srgbClr val="0000FF"/>
                          </a:solidFill>
                          <a:latin typeface="SimSun"/>
                          <a:cs typeface="SimSun"/>
                        </a:rPr>
                        <a:t> </a:t>
                      </a:r>
                      <a:r>
                        <a:rPr sz="2050" spc="55" dirty="0">
                          <a:solidFill>
                            <a:srgbClr val="0000FF"/>
                          </a:solidFill>
                          <a:latin typeface="SimSun"/>
                          <a:cs typeface="SimSun"/>
                        </a:rPr>
                        <a:t>3</a:t>
                      </a:r>
                      <a:endParaRPr sz="2050">
                        <a:latin typeface="SimSun"/>
                        <a:cs typeface="SimSun"/>
                      </a:endParaRPr>
                    </a:p>
                  </a:txBody>
                  <a:tcPr marL="0" marR="0" marT="0" marB="0"/>
                </a:tc>
                <a:tc>
                  <a:txBody>
                    <a:bodyPr/>
                    <a:lstStyle/>
                    <a:p>
                      <a:endParaRPr sz="2050">
                        <a:latin typeface="SimSun"/>
                        <a:cs typeface="SimSun"/>
                      </a:endParaRPr>
                    </a:p>
                  </a:txBody>
                  <a:tcPr marL="0" marR="0" marT="0" marB="0"/>
                </a:tc>
              </a:tr>
              <a:tr h="371340">
                <a:tc>
                  <a:txBody>
                    <a:bodyPr/>
                    <a:lstStyle/>
                    <a:p>
                      <a:pPr marR="60960" algn="r">
                        <a:lnSpc>
                          <a:spcPts val="2390"/>
                        </a:lnSpc>
                      </a:pPr>
                      <a:r>
                        <a:rPr sz="2050" spc="-5" dirty="0">
                          <a:solidFill>
                            <a:srgbClr val="0000FF"/>
                          </a:solidFill>
                          <a:latin typeface="SimSun"/>
                          <a:cs typeface="SimSun"/>
                        </a:rPr>
                        <a:t>sal-inf-bm</a:t>
                      </a:r>
                      <a:r>
                        <a:rPr sz="2050" dirty="0">
                          <a:solidFill>
                            <a:srgbClr val="0000FF"/>
                          </a:solidFill>
                          <a:latin typeface="SimSun"/>
                          <a:cs typeface="SimSun"/>
                        </a:rPr>
                        <a:t>c</a:t>
                      </a:r>
                      <a:endParaRPr sz="2050">
                        <a:latin typeface="SimSun"/>
                        <a:cs typeface="SimSun"/>
                      </a:endParaRPr>
                    </a:p>
                  </a:txBody>
                  <a:tcPr marL="0" marR="0" marT="0" marB="0"/>
                </a:tc>
                <a:tc>
                  <a:txBody>
                    <a:bodyPr/>
                    <a:lstStyle/>
                    <a:p>
                      <a:pPr algn="ctr">
                        <a:lnSpc>
                          <a:spcPts val="2390"/>
                        </a:lnSpc>
                      </a:pPr>
                      <a:r>
                        <a:rPr sz="2050" spc="55" dirty="0">
                          <a:solidFill>
                            <a:srgbClr val="0000FF"/>
                          </a:solidFill>
                          <a:latin typeface="SimSun"/>
                          <a:cs typeface="SimSun"/>
                        </a:rPr>
                        <a:t>-v</a:t>
                      </a:r>
                      <a:endParaRPr sz="2050">
                        <a:latin typeface="SimSun"/>
                        <a:cs typeface="SimSun"/>
                      </a:endParaRPr>
                    </a:p>
                  </a:txBody>
                  <a:tcPr marL="0" marR="0" marT="0" marB="0"/>
                </a:tc>
                <a:tc>
                  <a:txBody>
                    <a:bodyPr/>
                    <a:lstStyle/>
                    <a:p>
                      <a:pPr algn="ctr">
                        <a:lnSpc>
                          <a:spcPts val="2390"/>
                        </a:lnSpc>
                      </a:pPr>
                      <a:r>
                        <a:rPr sz="2050" dirty="0">
                          <a:solidFill>
                            <a:srgbClr val="0000FF"/>
                          </a:solidFill>
                          <a:latin typeface="SimSun"/>
                          <a:cs typeface="SimSun"/>
                        </a:rPr>
                        <a:t>3</a:t>
                      </a:r>
                      <a:endParaRPr sz="2050">
                        <a:latin typeface="SimSun"/>
                        <a:cs typeface="SimSun"/>
                      </a:endParaRPr>
                    </a:p>
                  </a:txBody>
                  <a:tcPr marL="0" marR="0" marT="0" marB="0"/>
                </a:tc>
                <a:tc>
                  <a:txBody>
                    <a:bodyPr/>
                    <a:lstStyle/>
                    <a:p>
                      <a:pPr marR="60960" algn="r">
                        <a:lnSpc>
                          <a:spcPts val="2390"/>
                        </a:lnSpc>
                      </a:pPr>
                      <a:r>
                        <a:rPr sz="2050" spc="-5" dirty="0">
                          <a:solidFill>
                            <a:srgbClr val="0000FF"/>
                          </a:solidFill>
                          <a:latin typeface="SimSun"/>
                          <a:cs typeface="SimSun"/>
                        </a:rPr>
                        <a:t>baker</a:t>
                      </a:r>
                      <a:r>
                        <a:rPr sz="2050" dirty="0">
                          <a:solidFill>
                            <a:srgbClr val="0000FF"/>
                          </a:solidFill>
                          <a:latin typeface="SimSun"/>
                          <a:cs typeface="SimSun"/>
                        </a:rPr>
                        <a:t>y</a:t>
                      </a:r>
                      <a:endParaRPr sz="2050">
                        <a:latin typeface="SimSun"/>
                        <a:cs typeface="SimSun"/>
                      </a:endParaRPr>
                    </a:p>
                  </a:txBody>
                  <a:tcPr marL="0" marR="0" marT="0" marB="0"/>
                </a:tc>
                <a:tc>
                  <a:txBody>
                    <a:bodyPr/>
                    <a:lstStyle/>
                    <a:p>
                      <a:pPr marL="68580">
                        <a:lnSpc>
                          <a:spcPts val="2390"/>
                        </a:lnSpc>
                      </a:pPr>
                      <a:r>
                        <a:rPr sz="2050" spc="55" dirty="0">
                          <a:solidFill>
                            <a:srgbClr val="0000FF"/>
                          </a:solidFill>
                          <a:latin typeface="SimSun"/>
                          <a:cs typeface="SimSun"/>
                        </a:rPr>
                        <a:t>liveness</a:t>
                      </a:r>
                      <a:endParaRPr sz="2050">
                        <a:latin typeface="SimSun"/>
                        <a:cs typeface="SimSun"/>
                      </a:endParaRPr>
                    </a:p>
                  </a:txBody>
                  <a:tcPr marL="0" marR="0" marT="0" marB="0"/>
                </a:tc>
                <a:tc>
                  <a:txBody>
                    <a:bodyPr/>
                    <a:lstStyle/>
                    <a:p>
                      <a:endParaRPr sz="2050">
                        <a:latin typeface="SimSun"/>
                        <a:cs typeface="SimSun"/>
                      </a:endParaRPr>
                    </a:p>
                  </a:txBody>
                  <a:tcPr marL="0" marR="0" marT="0" marB="0"/>
                </a:tc>
              </a:tr>
              <a:tr h="371589">
                <a:tc>
                  <a:txBody>
                    <a:bodyPr/>
                    <a:lstStyle/>
                    <a:p>
                      <a:pPr marR="60960" algn="r">
                        <a:lnSpc>
                          <a:spcPts val="2395"/>
                        </a:lnSpc>
                      </a:pPr>
                      <a:r>
                        <a:rPr sz="2050" spc="-5" dirty="0">
                          <a:solidFill>
                            <a:srgbClr val="0000FF"/>
                          </a:solidFill>
                          <a:latin typeface="SimSun"/>
                          <a:cs typeface="SimSun"/>
                        </a:rPr>
                        <a:t>sal-inf-bm</a:t>
                      </a:r>
                      <a:r>
                        <a:rPr sz="2050" dirty="0">
                          <a:solidFill>
                            <a:srgbClr val="0000FF"/>
                          </a:solidFill>
                          <a:latin typeface="SimSun"/>
                          <a:cs typeface="SimSun"/>
                        </a:rPr>
                        <a:t>c</a:t>
                      </a:r>
                      <a:endParaRPr sz="2050">
                        <a:latin typeface="SimSun"/>
                        <a:cs typeface="SimSun"/>
                      </a:endParaRPr>
                    </a:p>
                  </a:txBody>
                  <a:tcPr marL="0" marR="0" marT="0" marB="0"/>
                </a:tc>
                <a:tc>
                  <a:txBody>
                    <a:bodyPr/>
                    <a:lstStyle/>
                    <a:p>
                      <a:pPr algn="ctr">
                        <a:lnSpc>
                          <a:spcPts val="2395"/>
                        </a:lnSpc>
                      </a:pPr>
                      <a:r>
                        <a:rPr sz="2050" spc="55" dirty="0">
                          <a:solidFill>
                            <a:srgbClr val="0000FF"/>
                          </a:solidFill>
                          <a:latin typeface="SimSun"/>
                          <a:cs typeface="SimSun"/>
                        </a:rPr>
                        <a:t>-v</a:t>
                      </a:r>
                      <a:endParaRPr sz="2050">
                        <a:latin typeface="SimSun"/>
                        <a:cs typeface="SimSun"/>
                      </a:endParaRPr>
                    </a:p>
                  </a:txBody>
                  <a:tcPr marL="0" marR="0" marT="0" marB="0"/>
                </a:tc>
                <a:tc>
                  <a:txBody>
                    <a:bodyPr/>
                    <a:lstStyle/>
                    <a:p>
                      <a:pPr algn="ctr">
                        <a:lnSpc>
                          <a:spcPts val="2395"/>
                        </a:lnSpc>
                      </a:pPr>
                      <a:r>
                        <a:rPr sz="2050" dirty="0">
                          <a:solidFill>
                            <a:srgbClr val="0000FF"/>
                          </a:solidFill>
                          <a:latin typeface="SimSun"/>
                          <a:cs typeface="SimSun"/>
                        </a:rPr>
                        <a:t>3</a:t>
                      </a:r>
                      <a:endParaRPr sz="2050">
                        <a:latin typeface="SimSun"/>
                        <a:cs typeface="SimSun"/>
                      </a:endParaRPr>
                    </a:p>
                  </a:txBody>
                  <a:tcPr marL="0" marR="0" marT="0" marB="0"/>
                </a:tc>
                <a:tc>
                  <a:txBody>
                    <a:bodyPr/>
                    <a:lstStyle/>
                    <a:p>
                      <a:pPr marR="60960" algn="r">
                        <a:lnSpc>
                          <a:spcPts val="2395"/>
                        </a:lnSpc>
                      </a:pPr>
                      <a:r>
                        <a:rPr sz="2050" spc="-5" dirty="0">
                          <a:solidFill>
                            <a:srgbClr val="0000FF"/>
                          </a:solidFill>
                          <a:latin typeface="SimSun"/>
                          <a:cs typeface="SimSun"/>
                        </a:rPr>
                        <a:t>baker</a:t>
                      </a:r>
                      <a:r>
                        <a:rPr sz="2050" dirty="0">
                          <a:solidFill>
                            <a:srgbClr val="0000FF"/>
                          </a:solidFill>
                          <a:latin typeface="SimSun"/>
                          <a:cs typeface="SimSun"/>
                        </a:rPr>
                        <a:t>y</a:t>
                      </a:r>
                      <a:endParaRPr sz="2050">
                        <a:latin typeface="SimSun"/>
                        <a:cs typeface="SimSun"/>
                      </a:endParaRPr>
                    </a:p>
                  </a:txBody>
                  <a:tcPr marL="0" marR="0" marT="0" marB="0"/>
                </a:tc>
                <a:tc>
                  <a:txBody>
                    <a:bodyPr/>
                    <a:lstStyle/>
                    <a:p>
                      <a:pPr marL="68580">
                        <a:lnSpc>
                          <a:spcPts val="2395"/>
                        </a:lnSpc>
                      </a:pPr>
                      <a:r>
                        <a:rPr sz="2050" spc="55" dirty="0">
                          <a:solidFill>
                            <a:srgbClr val="0000FF"/>
                          </a:solidFill>
                          <a:latin typeface="SimSun"/>
                          <a:cs typeface="SimSun"/>
                        </a:rPr>
                        <a:t>liveness</a:t>
                      </a:r>
                      <a:r>
                        <a:rPr sz="2050" spc="-35" dirty="0">
                          <a:solidFill>
                            <a:srgbClr val="0000FF"/>
                          </a:solidFill>
                          <a:latin typeface="SimSun"/>
                          <a:cs typeface="SimSun"/>
                        </a:rPr>
                        <a:t> </a:t>
                      </a:r>
                      <a:r>
                        <a:rPr sz="2050" spc="55" dirty="0">
                          <a:solidFill>
                            <a:srgbClr val="FF0000"/>
                          </a:solidFill>
                          <a:latin typeface="SimSun"/>
                          <a:cs typeface="SimSun"/>
                        </a:rPr>
                        <a:t>-it</a:t>
                      </a:r>
                      <a:endParaRPr sz="2050">
                        <a:latin typeface="SimSun"/>
                        <a:cs typeface="SimSun"/>
                      </a:endParaRPr>
                    </a:p>
                  </a:txBody>
                  <a:tcPr marL="0" marR="0" marT="0" marB="0"/>
                </a:tc>
                <a:tc>
                  <a:txBody>
                    <a:bodyPr/>
                    <a:lstStyle/>
                    <a:p>
                      <a:endParaRPr sz="2050">
                        <a:latin typeface="SimSun"/>
                        <a:cs typeface="SimSun"/>
                      </a:endParaRPr>
                    </a:p>
                  </a:txBody>
                  <a:tcPr marL="0" marR="0" marT="0" marB="0"/>
                </a:tc>
              </a:tr>
              <a:tr h="380502">
                <a:tc>
                  <a:txBody>
                    <a:bodyPr/>
                    <a:lstStyle/>
                    <a:p>
                      <a:pPr marR="60960" algn="r">
                        <a:lnSpc>
                          <a:spcPts val="2395"/>
                        </a:lnSpc>
                      </a:pPr>
                      <a:r>
                        <a:rPr sz="2050" spc="-5" dirty="0">
                          <a:solidFill>
                            <a:srgbClr val="0000FF"/>
                          </a:solidFill>
                          <a:latin typeface="SimSun"/>
                          <a:cs typeface="SimSun"/>
                        </a:rPr>
                        <a:t>sal-inf-bm</a:t>
                      </a:r>
                      <a:r>
                        <a:rPr sz="2050" dirty="0">
                          <a:solidFill>
                            <a:srgbClr val="0000FF"/>
                          </a:solidFill>
                          <a:latin typeface="SimSun"/>
                          <a:cs typeface="SimSun"/>
                        </a:rPr>
                        <a:t>c</a:t>
                      </a:r>
                      <a:endParaRPr sz="2050">
                        <a:latin typeface="SimSun"/>
                        <a:cs typeface="SimSun"/>
                      </a:endParaRPr>
                    </a:p>
                  </a:txBody>
                  <a:tcPr marL="0" marR="0" marT="0" marB="0"/>
                </a:tc>
                <a:tc>
                  <a:txBody>
                    <a:bodyPr/>
                    <a:lstStyle/>
                    <a:p>
                      <a:pPr algn="ctr">
                        <a:lnSpc>
                          <a:spcPts val="2395"/>
                        </a:lnSpc>
                      </a:pPr>
                      <a:r>
                        <a:rPr sz="2050" spc="55" dirty="0">
                          <a:solidFill>
                            <a:srgbClr val="0000FF"/>
                          </a:solidFill>
                          <a:latin typeface="SimSun"/>
                          <a:cs typeface="SimSun"/>
                        </a:rPr>
                        <a:t>-v</a:t>
                      </a:r>
                      <a:endParaRPr sz="2050">
                        <a:latin typeface="SimSun"/>
                        <a:cs typeface="SimSun"/>
                      </a:endParaRPr>
                    </a:p>
                  </a:txBody>
                  <a:tcPr marL="0" marR="0" marT="0" marB="0"/>
                </a:tc>
                <a:tc>
                  <a:txBody>
                    <a:bodyPr/>
                    <a:lstStyle/>
                    <a:p>
                      <a:pPr algn="ctr">
                        <a:lnSpc>
                          <a:spcPts val="2395"/>
                        </a:lnSpc>
                      </a:pPr>
                      <a:r>
                        <a:rPr sz="2050" dirty="0">
                          <a:solidFill>
                            <a:srgbClr val="0000FF"/>
                          </a:solidFill>
                          <a:latin typeface="SimSun"/>
                          <a:cs typeface="SimSun"/>
                        </a:rPr>
                        <a:t>3</a:t>
                      </a:r>
                      <a:endParaRPr sz="2050">
                        <a:latin typeface="SimSun"/>
                        <a:cs typeface="SimSun"/>
                      </a:endParaRPr>
                    </a:p>
                  </a:txBody>
                  <a:tcPr marL="0" marR="0" marT="0" marB="0"/>
                </a:tc>
                <a:tc>
                  <a:txBody>
                    <a:bodyPr/>
                    <a:lstStyle/>
                    <a:p>
                      <a:pPr marR="60960" algn="r">
                        <a:lnSpc>
                          <a:spcPts val="2395"/>
                        </a:lnSpc>
                      </a:pPr>
                      <a:r>
                        <a:rPr sz="2050" spc="-5" dirty="0">
                          <a:solidFill>
                            <a:srgbClr val="0000FF"/>
                          </a:solidFill>
                          <a:latin typeface="SimSun"/>
                          <a:cs typeface="SimSun"/>
                        </a:rPr>
                        <a:t>baker</a:t>
                      </a:r>
                      <a:r>
                        <a:rPr sz="2050" dirty="0">
                          <a:solidFill>
                            <a:srgbClr val="0000FF"/>
                          </a:solidFill>
                          <a:latin typeface="SimSun"/>
                          <a:cs typeface="SimSun"/>
                        </a:rPr>
                        <a:t>y</a:t>
                      </a:r>
                      <a:endParaRPr sz="2050">
                        <a:latin typeface="SimSun"/>
                        <a:cs typeface="SimSun"/>
                      </a:endParaRPr>
                    </a:p>
                  </a:txBody>
                  <a:tcPr marL="0" marR="0" marT="0" marB="0"/>
                </a:tc>
                <a:tc>
                  <a:txBody>
                    <a:bodyPr/>
                    <a:lstStyle/>
                    <a:p>
                      <a:pPr marL="68580">
                        <a:lnSpc>
                          <a:spcPts val="2395"/>
                        </a:lnSpc>
                      </a:pPr>
                      <a:r>
                        <a:rPr sz="2050" spc="55" dirty="0">
                          <a:solidFill>
                            <a:srgbClr val="0000FF"/>
                          </a:solidFill>
                          <a:latin typeface="SimSun"/>
                          <a:cs typeface="SimSun"/>
                        </a:rPr>
                        <a:t>unbounded</a:t>
                      </a:r>
                      <a:r>
                        <a:rPr sz="2050" spc="-35" dirty="0">
                          <a:solidFill>
                            <a:srgbClr val="0000FF"/>
                          </a:solidFill>
                          <a:latin typeface="SimSun"/>
                          <a:cs typeface="SimSun"/>
                        </a:rPr>
                        <a:t> </a:t>
                      </a:r>
                      <a:r>
                        <a:rPr sz="2050" spc="55" dirty="0">
                          <a:solidFill>
                            <a:srgbClr val="FF0000"/>
                          </a:solidFill>
                          <a:latin typeface="SimSun"/>
                          <a:cs typeface="SimSun"/>
                        </a:rPr>
                        <a:t>-d</a:t>
                      </a:r>
                      <a:endParaRPr sz="2050">
                        <a:latin typeface="SimSun"/>
                        <a:cs typeface="SimSun"/>
                      </a:endParaRPr>
                    </a:p>
                  </a:txBody>
                  <a:tcPr marL="0" marR="0" marT="0" marB="0"/>
                </a:tc>
                <a:tc>
                  <a:txBody>
                    <a:bodyPr/>
                    <a:lstStyle/>
                    <a:p>
                      <a:pPr marL="68580">
                        <a:lnSpc>
                          <a:spcPts val="2395"/>
                        </a:lnSpc>
                      </a:pPr>
                      <a:r>
                        <a:rPr sz="2050" spc="55" dirty="0">
                          <a:solidFill>
                            <a:srgbClr val="FF0000"/>
                          </a:solidFill>
                          <a:latin typeface="SimSun"/>
                          <a:cs typeface="SimSun"/>
                        </a:rPr>
                        <a:t>20</a:t>
                      </a:r>
                      <a:endParaRPr sz="2050">
                        <a:latin typeface="SimSun"/>
                        <a:cs typeface="SimSun"/>
                      </a:endParaRPr>
                    </a:p>
                  </a:txBody>
                  <a:tcPr marL="0" marR="0" marT="0" marB="0"/>
                </a:tc>
              </a:tr>
            </a:tbl>
          </a:graphicData>
        </a:graphic>
      </p:graphicFrame>
      <p:graphicFrame>
        <p:nvGraphicFramePr>
          <p:cNvPr id="6" name="object 6"/>
          <p:cNvGraphicFramePr>
            <a:graphicFrameLocks noGrp="1"/>
          </p:cNvGraphicFramePr>
          <p:nvPr/>
        </p:nvGraphicFramePr>
        <p:xfrm>
          <a:off x="1175637" y="4856059"/>
          <a:ext cx="6243784" cy="761004"/>
        </p:xfrm>
        <a:graphic>
          <a:graphicData uri="http://schemas.openxmlformats.org/drawingml/2006/table">
            <a:tbl>
              <a:tblPr firstRow="1" bandRow="1">
                <a:tableStyleId>{2D5ABB26-0587-4C30-8999-92F81FD0307C}</a:tableStyleId>
              </a:tblPr>
              <a:tblGrid>
                <a:gridCol w="1606331"/>
                <a:gridCol w="413425"/>
                <a:gridCol w="275577"/>
                <a:gridCol w="3948451"/>
              </a:tblGrid>
              <a:tr h="380502">
                <a:tc>
                  <a:txBody>
                    <a:bodyPr/>
                    <a:lstStyle/>
                    <a:p>
                      <a:pPr marL="22225">
                        <a:lnSpc>
                          <a:spcPct val="100000"/>
                        </a:lnSpc>
                      </a:pPr>
                      <a:r>
                        <a:rPr sz="2050" spc="55" dirty="0">
                          <a:solidFill>
                            <a:srgbClr val="0000FF"/>
                          </a:solidFill>
                          <a:latin typeface="SimSun"/>
                          <a:cs typeface="SimSun"/>
                        </a:rPr>
                        <a:t>sal-inf-bmc</a:t>
                      </a:r>
                      <a:endParaRPr sz="2050">
                        <a:latin typeface="SimSun"/>
                        <a:cs typeface="SimSun"/>
                      </a:endParaRPr>
                    </a:p>
                  </a:txBody>
                  <a:tcPr marL="0" marR="0" marT="0" marB="0"/>
                </a:tc>
                <a:tc>
                  <a:txBody>
                    <a:bodyPr/>
                    <a:lstStyle/>
                    <a:p>
                      <a:pPr algn="ctr">
                        <a:lnSpc>
                          <a:spcPct val="100000"/>
                        </a:lnSpc>
                      </a:pPr>
                      <a:r>
                        <a:rPr sz="2050" spc="55" dirty="0">
                          <a:solidFill>
                            <a:srgbClr val="0000FF"/>
                          </a:solidFill>
                          <a:latin typeface="SimSun"/>
                          <a:cs typeface="SimSun"/>
                        </a:rPr>
                        <a:t>-v</a:t>
                      </a:r>
                      <a:endParaRPr sz="2050">
                        <a:latin typeface="SimSun"/>
                        <a:cs typeface="SimSun"/>
                      </a:endParaRPr>
                    </a:p>
                  </a:txBody>
                  <a:tcPr marL="0" marR="0" marT="0" marB="0"/>
                </a:tc>
                <a:tc>
                  <a:txBody>
                    <a:bodyPr/>
                    <a:lstStyle/>
                    <a:p>
                      <a:pPr algn="ctr">
                        <a:lnSpc>
                          <a:spcPct val="100000"/>
                        </a:lnSpc>
                      </a:pPr>
                      <a:r>
                        <a:rPr sz="2050" dirty="0">
                          <a:solidFill>
                            <a:srgbClr val="0000FF"/>
                          </a:solidFill>
                          <a:latin typeface="SimSun"/>
                          <a:cs typeface="SimSun"/>
                        </a:rPr>
                        <a:t>3</a:t>
                      </a:r>
                      <a:endParaRPr sz="2050">
                        <a:latin typeface="SimSun"/>
                        <a:cs typeface="SimSun"/>
                      </a:endParaRPr>
                    </a:p>
                  </a:txBody>
                  <a:tcPr marL="0" marR="0" marT="0" marB="0"/>
                </a:tc>
                <a:tc>
                  <a:txBody>
                    <a:bodyPr/>
                    <a:lstStyle/>
                    <a:p>
                      <a:pPr marL="68580">
                        <a:lnSpc>
                          <a:spcPct val="100000"/>
                        </a:lnSpc>
                      </a:pPr>
                      <a:r>
                        <a:rPr sz="2050" spc="55" dirty="0">
                          <a:solidFill>
                            <a:srgbClr val="0000FF"/>
                          </a:solidFill>
                          <a:latin typeface="SimSun"/>
                          <a:cs typeface="SimSun"/>
                        </a:rPr>
                        <a:t>-d 1 -i bakery</a:t>
                      </a:r>
                      <a:r>
                        <a:rPr sz="2050" spc="-10" dirty="0">
                          <a:solidFill>
                            <a:srgbClr val="0000FF"/>
                          </a:solidFill>
                          <a:latin typeface="SimSun"/>
                          <a:cs typeface="SimSun"/>
                        </a:rPr>
                        <a:t> </a:t>
                      </a:r>
                      <a:r>
                        <a:rPr sz="2050" spc="55" dirty="0">
                          <a:solidFill>
                            <a:srgbClr val="0000FF"/>
                          </a:solidFill>
                          <a:latin typeface="SimSun"/>
                          <a:cs typeface="SimSun"/>
                        </a:rPr>
                        <a:t>aux</a:t>
                      </a:r>
                      <a:endParaRPr sz="2050">
                        <a:latin typeface="SimSun"/>
                        <a:cs typeface="SimSun"/>
                      </a:endParaRPr>
                    </a:p>
                  </a:txBody>
                  <a:tcPr marL="0" marR="0" marT="0" marB="0"/>
                </a:tc>
              </a:tr>
              <a:tr h="380502">
                <a:tc>
                  <a:txBody>
                    <a:bodyPr/>
                    <a:lstStyle/>
                    <a:p>
                      <a:pPr marL="22225">
                        <a:lnSpc>
                          <a:spcPts val="2395"/>
                        </a:lnSpc>
                      </a:pPr>
                      <a:r>
                        <a:rPr sz="2050" spc="55" dirty="0">
                          <a:solidFill>
                            <a:srgbClr val="0000FF"/>
                          </a:solidFill>
                          <a:latin typeface="SimSun"/>
                          <a:cs typeface="SimSun"/>
                        </a:rPr>
                        <a:t>sal-inf-bmc</a:t>
                      </a:r>
                      <a:endParaRPr sz="2050">
                        <a:latin typeface="SimSun"/>
                        <a:cs typeface="SimSun"/>
                      </a:endParaRPr>
                    </a:p>
                  </a:txBody>
                  <a:tcPr marL="0" marR="0" marT="0" marB="0"/>
                </a:tc>
                <a:tc>
                  <a:txBody>
                    <a:bodyPr/>
                    <a:lstStyle/>
                    <a:p>
                      <a:pPr algn="ctr">
                        <a:lnSpc>
                          <a:spcPts val="2395"/>
                        </a:lnSpc>
                      </a:pPr>
                      <a:r>
                        <a:rPr sz="2050" spc="55" dirty="0">
                          <a:solidFill>
                            <a:srgbClr val="0000FF"/>
                          </a:solidFill>
                          <a:latin typeface="SimSun"/>
                          <a:cs typeface="SimSun"/>
                        </a:rPr>
                        <a:t>-v</a:t>
                      </a:r>
                      <a:endParaRPr sz="2050">
                        <a:latin typeface="SimSun"/>
                        <a:cs typeface="SimSun"/>
                      </a:endParaRPr>
                    </a:p>
                  </a:txBody>
                  <a:tcPr marL="0" marR="0" marT="0" marB="0"/>
                </a:tc>
                <a:tc>
                  <a:txBody>
                    <a:bodyPr/>
                    <a:lstStyle/>
                    <a:p>
                      <a:pPr algn="ctr">
                        <a:lnSpc>
                          <a:spcPts val="2395"/>
                        </a:lnSpc>
                      </a:pPr>
                      <a:r>
                        <a:rPr sz="2050" dirty="0">
                          <a:solidFill>
                            <a:srgbClr val="0000FF"/>
                          </a:solidFill>
                          <a:latin typeface="SimSun"/>
                          <a:cs typeface="SimSun"/>
                        </a:rPr>
                        <a:t>3</a:t>
                      </a:r>
                      <a:endParaRPr sz="2050">
                        <a:latin typeface="SimSun"/>
                        <a:cs typeface="SimSun"/>
                      </a:endParaRPr>
                    </a:p>
                  </a:txBody>
                  <a:tcPr marL="0" marR="0" marT="0" marB="0"/>
                </a:tc>
                <a:tc>
                  <a:txBody>
                    <a:bodyPr/>
                    <a:lstStyle/>
                    <a:p>
                      <a:pPr marL="68580">
                        <a:lnSpc>
                          <a:spcPts val="2395"/>
                        </a:lnSpc>
                      </a:pPr>
                      <a:r>
                        <a:rPr sz="2050" spc="55" dirty="0">
                          <a:solidFill>
                            <a:srgbClr val="0000FF"/>
                          </a:solidFill>
                          <a:latin typeface="SimSun"/>
                          <a:cs typeface="SimSun"/>
                        </a:rPr>
                        <a:t>-d 2 -i bakery safety -l</a:t>
                      </a:r>
                      <a:r>
                        <a:rPr sz="2050" spc="10" dirty="0">
                          <a:solidFill>
                            <a:srgbClr val="0000FF"/>
                          </a:solidFill>
                          <a:latin typeface="SimSun"/>
                          <a:cs typeface="SimSun"/>
                        </a:rPr>
                        <a:t> </a:t>
                      </a:r>
                      <a:r>
                        <a:rPr sz="2050" spc="55" dirty="0">
                          <a:solidFill>
                            <a:srgbClr val="0000FF"/>
                          </a:solidFill>
                          <a:latin typeface="SimSun"/>
                          <a:cs typeface="SimSun"/>
                        </a:rPr>
                        <a:t>aux</a:t>
                      </a:r>
                      <a:endParaRPr sz="2050">
                        <a:latin typeface="SimSun"/>
                        <a:cs typeface="SimSun"/>
                      </a:endParaRPr>
                    </a:p>
                  </a:txBody>
                  <a:tcPr marL="0" marR="0" marT="0" marB="0"/>
                </a:tc>
              </a:tr>
            </a:tbl>
          </a:graphicData>
        </a:graphic>
      </p:graphicFrame>
      <p:sp>
        <p:nvSpPr>
          <p:cNvPr id="7" name="object 7"/>
          <p:cNvSpPr txBox="1"/>
          <p:nvPr/>
        </p:nvSpPr>
        <p:spPr>
          <a:xfrm>
            <a:off x="896440" y="5543816"/>
            <a:ext cx="7769859" cy="760730"/>
          </a:xfrm>
          <a:prstGeom prst="rect">
            <a:avLst/>
          </a:prstGeom>
        </p:spPr>
        <p:txBody>
          <a:bodyPr vert="horz" wrap="square" lIns="0" tIns="0" rIns="0" bIns="0" rtlCol="0">
            <a:spAutoFit/>
          </a:bodyPr>
          <a:lstStyle/>
          <a:p>
            <a:pPr marL="300990" marR="5080" indent="-288290">
              <a:lnSpc>
                <a:spcPct val="125000"/>
              </a:lnSpc>
              <a:buSzPct val="105128"/>
              <a:buFont typeface="Lucida Sans Unicode"/>
              <a:buChar char="•"/>
              <a:tabLst>
                <a:tab pos="301625" algn="l"/>
              </a:tabLst>
            </a:pPr>
            <a:r>
              <a:rPr sz="1950" spc="150" dirty="0">
                <a:solidFill>
                  <a:srgbClr val="231F20"/>
                </a:solidFill>
                <a:latin typeface="Arial"/>
                <a:cs typeface="Arial"/>
              </a:rPr>
              <a:t>Infinite </a:t>
            </a:r>
            <a:r>
              <a:rPr sz="1950" spc="300" dirty="0">
                <a:solidFill>
                  <a:srgbClr val="231F20"/>
                </a:solidFill>
                <a:latin typeface="Arial"/>
                <a:cs typeface="Arial"/>
              </a:rPr>
              <a:t>BMC </a:t>
            </a:r>
            <a:r>
              <a:rPr sz="1950" spc="130" dirty="0">
                <a:solidFill>
                  <a:srgbClr val="231F20"/>
                </a:solidFill>
                <a:latin typeface="Arial"/>
                <a:cs typeface="Arial"/>
              </a:rPr>
              <a:t>and </a:t>
            </a:r>
            <a:r>
              <a:rPr sz="1950" spc="165" dirty="0">
                <a:solidFill>
                  <a:srgbClr val="231F20"/>
                </a:solidFill>
                <a:latin typeface="Arial"/>
                <a:cs typeface="Arial"/>
              </a:rPr>
              <a:t>k-induction </a:t>
            </a:r>
            <a:r>
              <a:rPr sz="1950" spc="150" dirty="0">
                <a:solidFill>
                  <a:srgbClr val="231F20"/>
                </a:solidFill>
                <a:latin typeface="Arial"/>
                <a:cs typeface="Arial"/>
              </a:rPr>
              <a:t>blur </a:t>
            </a:r>
            <a:r>
              <a:rPr sz="1950" spc="175" dirty="0">
                <a:solidFill>
                  <a:srgbClr val="231F20"/>
                </a:solidFill>
                <a:latin typeface="Arial"/>
                <a:cs typeface="Arial"/>
              </a:rPr>
              <a:t>the </a:t>
            </a:r>
            <a:r>
              <a:rPr sz="1950" spc="100" dirty="0">
                <a:solidFill>
                  <a:srgbClr val="231F20"/>
                </a:solidFill>
                <a:latin typeface="Arial"/>
                <a:cs typeface="Arial"/>
              </a:rPr>
              <a:t>line </a:t>
            </a:r>
            <a:r>
              <a:rPr sz="1950" spc="120" dirty="0">
                <a:solidFill>
                  <a:srgbClr val="231F20"/>
                </a:solidFill>
                <a:latin typeface="Arial"/>
                <a:cs typeface="Arial"/>
              </a:rPr>
              <a:t>between </a:t>
            </a:r>
            <a:r>
              <a:rPr sz="1950" spc="160" dirty="0">
                <a:solidFill>
                  <a:srgbClr val="231F20"/>
                </a:solidFill>
                <a:latin typeface="Arial"/>
                <a:cs typeface="Arial"/>
              </a:rPr>
              <a:t>model  </a:t>
            </a:r>
            <a:r>
              <a:rPr sz="1950" spc="125" dirty="0">
                <a:solidFill>
                  <a:srgbClr val="231F20"/>
                </a:solidFill>
                <a:latin typeface="Arial"/>
                <a:cs typeface="Arial"/>
              </a:rPr>
              <a:t>checking </a:t>
            </a:r>
            <a:r>
              <a:rPr sz="1950" spc="130" dirty="0">
                <a:solidFill>
                  <a:srgbClr val="231F20"/>
                </a:solidFill>
                <a:latin typeface="Arial"/>
                <a:cs typeface="Arial"/>
              </a:rPr>
              <a:t>and </a:t>
            </a:r>
            <a:r>
              <a:rPr sz="1950" spc="155" dirty="0">
                <a:solidFill>
                  <a:srgbClr val="231F20"/>
                </a:solidFill>
                <a:latin typeface="Arial"/>
                <a:cs typeface="Arial"/>
              </a:rPr>
              <a:t>theorem</a:t>
            </a:r>
            <a:r>
              <a:rPr sz="1950" spc="555" dirty="0">
                <a:solidFill>
                  <a:srgbClr val="231F20"/>
                </a:solidFill>
                <a:latin typeface="Arial"/>
                <a:cs typeface="Arial"/>
              </a:rPr>
              <a:t> </a:t>
            </a:r>
            <a:r>
              <a:rPr sz="1950" spc="135" dirty="0">
                <a:solidFill>
                  <a:srgbClr val="231F20"/>
                </a:solidFill>
                <a:latin typeface="Arial"/>
                <a:cs typeface="Arial"/>
              </a:rPr>
              <a:t>proving</a:t>
            </a:r>
            <a:endParaRPr sz="1950">
              <a:latin typeface="Arial"/>
              <a:cs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1171270"/>
            <a:ext cx="8138795" cy="4540885"/>
          </a:xfrm>
          <a:prstGeom prst="rect">
            <a:avLst/>
          </a:prstGeom>
        </p:spPr>
        <p:txBody>
          <a:bodyPr vert="horz" wrap="square" lIns="0" tIns="0" rIns="0" bIns="0" rtlCol="0">
            <a:spAutoFit/>
          </a:bodyPr>
          <a:lstStyle/>
          <a:p>
            <a:pPr marL="471805">
              <a:lnSpc>
                <a:spcPct val="100000"/>
              </a:lnSpc>
            </a:pPr>
            <a:r>
              <a:rPr sz="1950" spc="240" dirty="0">
                <a:solidFill>
                  <a:srgbClr val="231F20"/>
                </a:solidFill>
                <a:latin typeface="Arial"/>
                <a:cs typeface="Arial"/>
              </a:rPr>
              <a:t>Analyzing </a:t>
            </a:r>
            <a:r>
              <a:rPr sz="1950" spc="285" dirty="0">
                <a:solidFill>
                  <a:srgbClr val="231F20"/>
                </a:solidFill>
                <a:latin typeface="Arial"/>
                <a:cs typeface="Arial"/>
              </a:rPr>
              <a:t>the </a:t>
            </a:r>
            <a:r>
              <a:rPr sz="1950" spc="240" dirty="0">
                <a:solidFill>
                  <a:srgbClr val="231F20"/>
                </a:solidFill>
                <a:latin typeface="Arial"/>
                <a:cs typeface="Arial"/>
              </a:rPr>
              <a:t>Specification </a:t>
            </a:r>
            <a:r>
              <a:rPr sz="1950" spc="220" dirty="0">
                <a:solidFill>
                  <a:srgbClr val="231F20"/>
                </a:solidFill>
                <a:latin typeface="Arial"/>
                <a:cs typeface="Arial"/>
              </a:rPr>
              <a:t>Using </a:t>
            </a:r>
            <a:r>
              <a:rPr sz="1950" spc="320" dirty="0">
                <a:solidFill>
                  <a:srgbClr val="231F20"/>
                </a:solidFill>
                <a:latin typeface="Arial"/>
                <a:cs typeface="Arial"/>
              </a:rPr>
              <a:t>Theorem</a:t>
            </a:r>
            <a:r>
              <a:rPr sz="1950" spc="865" dirty="0">
                <a:solidFill>
                  <a:srgbClr val="231F20"/>
                </a:solidFill>
                <a:latin typeface="Arial"/>
                <a:cs typeface="Arial"/>
              </a:rPr>
              <a:t> </a:t>
            </a:r>
            <a:r>
              <a:rPr sz="1950" spc="260" dirty="0">
                <a:solidFill>
                  <a:srgbClr val="231F20"/>
                </a:solidFill>
                <a:latin typeface="Arial"/>
                <a:cs typeface="Arial"/>
              </a:rPr>
              <a:t>Proving</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70" dirty="0">
                <a:solidFill>
                  <a:srgbClr val="231F20"/>
                </a:solidFill>
                <a:latin typeface="Arial"/>
                <a:cs typeface="Arial"/>
              </a:rPr>
              <a:t>We’ll </a:t>
            </a:r>
            <a:r>
              <a:rPr sz="1950" spc="45" dirty="0">
                <a:solidFill>
                  <a:srgbClr val="231F20"/>
                </a:solidFill>
                <a:latin typeface="Arial"/>
                <a:cs typeface="Arial"/>
              </a:rPr>
              <a:t>use</a:t>
            </a:r>
            <a:r>
              <a:rPr sz="1950" spc="335" dirty="0">
                <a:solidFill>
                  <a:srgbClr val="231F20"/>
                </a:solidFill>
                <a:latin typeface="Arial"/>
                <a:cs typeface="Arial"/>
              </a:rPr>
              <a:t> </a:t>
            </a:r>
            <a:r>
              <a:rPr sz="1950" spc="204" dirty="0">
                <a:solidFill>
                  <a:srgbClr val="0000FF"/>
                </a:solidFill>
                <a:latin typeface="Arial"/>
                <a:cs typeface="Arial"/>
              </a:rPr>
              <a:t>PVS</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204" dirty="0">
                <a:solidFill>
                  <a:srgbClr val="231F20"/>
                </a:solidFill>
                <a:latin typeface="Arial"/>
                <a:cs typeface="Arial"/>
              </a:rPr>
              <a:t>PVS </a:t>
            </a:r>
            <a:r>
              <a:rPr sz="1950" spc="40" dirty="0">
                <a:solidFill>
                  <a:srgbClr val="231F20"/>
                </a:solidFill>
                <a:latin typeface="Arial"/>
                <a:cs typeface="Arial"/>
              </a:rPr>
              <a:t>is </a:t>
            </a:r>
            <a:r>
              <a:rPr sz="1950" spc="85" dirty="0">
                <a:solidFill>
                  <a:srgbClr val="231F20"/>
                </a:solidFill>
                <a:latin typeface="Arial"/>
                <a:cs typeface="Arial"/>
              </a:rPr>
              <a:t>a </a:t>
            </a:r>
            <a:r>
              <a:rPr sz="1950" spc="130" dirty="0">
                <a:solidFill>
                  <a:srgbClr val="FF0000"/>
                </a:solidFill>
                <a:latin typeface="Arial"/>
                <a:cs typeface="Arial"/>
              </a:rPr>
              <a:t>logic</a:t>
            </a:r>
            <a:r>
              <a:rPr sz="1950" spc="130" dirty="0">
                <a:solidFill>
                  <a:srgbClr val="231F20"/>
                </a:solidFill>
                <a:latin typeface="Arial"/>
                <a:cs typeface="Arial"/>
              </a:rPr>
              <a:t>, </a:t>
            </a:r>
            <a:r>
              <a:rPr sz="1950" spc="229" dirty="0">
                <a:solidFill>
                  <a:srgbClr val="231F20"/>
                </a:solidFill>
                <a:latin typeface="Arial"/>
                <a:cs typeface="Arial"/>
              </a:rPr>
              <a:t>it </a:t>
            </a:r>
            <a:r>
              <a:rPr sz="1950" spc="90" dirty="0">
                <a:solidFill>
                  <a:srgbClr val="231F20"/>
                </a:solidFill>
                <a:latin typeface="Arial"/>
                <a:cs typeface="Arial"/>
              </a:rPr>
              <a:t>does </a:t>
            </a:r>
            <a:r>
              <a:rPr sz="1950" spc="220" dirty="0">
                <a:solidFill>
                  <a:srgbClr val="231F20"/>
                </a:solidFill>
                <a:latin typeface="Arial"/>
                <a:cs typeface="Arial"/>
              </a:rPr>
              <a:t>not </a:t>
            </a:r>
            <a:r>
              <a:rPr sz="1950" spc="95" dirty="0">
                <a:solidFill>
                  <a:srgbClr val="231F20"/>
                </a:solidFill>
                <a:latin typeface="Arial"/>
                <a:cs typeface="Arial"/>
              </a:rPr>
              <a:t>have </a:t>
            </a:r>
            <a:r>
              <a:rPr sz="1950" spc="85" dirty="0">
                <a:solidFill>
                  <a:srgbClr val="231F20"/>
                </a:solidFill>
                <a:latin typeface="Arial"/>
                <a:cs typeface="Arial"/>
              </a:rPr>
              <a:t>a </a:t>
            </a:r>
            <a:r>
              <a:rPr sz="1950" spc="180" dirty="0">
                <a:solidFill>
                  <a:srgbClr val="231F20"/>
                </a:solidFill>
                <a:latin typeface="Arial"/>
                <a:cs typeface="Arial"/>
              </a:rPr>
              <a:t>notion </a:t>
            </a:r>
            <a:r>
              <a:rPr sz="1950" spc="185" dirty="0">
                <a:solidFill>
                  <a:srgbClr val="231F20"/>
                </a:solidFill>
                <a:latin typeface="Arial"/>
                <a:cs typeface="Arial"/>
              </a:rPr>
              <a:t>of </a:t>
            </a:r>
            <a:r>
              <a:rPr sz="1950" spc="150" dirty="0">
                <a:solidFill>
                  <a:srgbClr val="231F20"/>
                </a:solidFill>
                <a:latin typeface="Arial"/>
                <a:cs typeface="Arial"/>
              </a:rPr>
              <a:t>state, </a:t>
            </a:r>
            <a:r>
              <a:rPr sz="1950" spc="135" dirty="0">
                <a:solidFill>
                  <a:srgbClr val="231F20"/>
                </a:solidFill>
                <a:latin typeface="Arial"/>
                <a:cs typeface="Arial"/>
              </a:rPr>
              <a:t>nor </a:t>
            </a:r>
            <a:r>
              <a:rPr sz="1950" spc="185" dirty="0">
                <a:solidFill>
                  <a:srgbClr val="231F20"/>
                </a:solidFill>
                <a:latin typeface="Arial"/>
                <a:cs typeface="Arial"/>
              </a:rPr>
              <a:t>of </a:t>
            </a:r>
            <a:r>
              <a:rPr sz="1950" spc="910" dirty="0">
                <a:solidFill>
                  <a:srgbClr val="231F20"/>
                </a:solidFill>
                <a:latin typeface="Arial"/>
                <a:cs typeface="Arial"/>
              </a:rPr>
              <a:t> </a:t>
            </a:r>
            <a:r>
              <a:rPr sz="1950" spc="155" dirty="0">
                <a:solidFill>
                  <a:srgbClr val="231F20"/>
                </a:solidFill>
                <a:latin typeface="Arial"/>
                <a:cs typeface="Arial"/>
              </a:rPr>
              <a:t>concurrent </a:t>
            </a:r>
            <a:r>
              <a:rPr sz="1950" spc="135" dirty="0">
                <a:solidFill>
                  <a:srgbClr val="231F20"/>
                </a:solidFill>
                <a:latin typeface="Arial"/>
                <a:cs typeface="Arial"/>
              </a:rPr>
              <a:t>programs, </a:t>
            </a:r>
            <a:r>
              <a:rPr sz="1950" spc="175" dirty="0">
                <a:solidFill>
                  <a:srgbClr val="231F20"/>
                </a:solidFill>
                <a:latin typeface="Arial"/>
                <a:cs typeface="Arial"/>
              </a:rPr>
              <a:t>built </a:t>
            </a:r>
            <a:r>
              <a:rPr sz="1950" spc="195" dirty="0">
                <a:solidFill>
                  <a:srgbClr val="231F20"/>
                </a:solidFill>
                <a:latin typeface="Arial"/>
                <a:cs typeface="Arial"/>
              </a:rPr>
              <a:t>in—we must </a:t>
            </a:r>
            <a:r>
              <a:rPr sz="1950" spc="110" dirty="0">
                <a:solidFill>
                  <a:srgbClr val="231F20"/>
                </a:solidFill>
                <a:latin typeface="Arial"/>
                <a:cs typeface="Arial"/>
              </a:rPr>
              <a:t>specify </a:t>
            </a:r>
            <a:r>
              <a:rPr sz="1950" spc="175" dirty="0">
                <a:solidFill>
                  <a:srgbClr val="231F20"/>
                </a:solidFill>
                <a:latin typeface="Arial"/>
                <a:cs typeface="Arial"/>
              </a:rPr>
              <a:t>the </a:t>
            </a:r>
            <a:r>
              <a:rPr sz="1950" spc="160" dirty="0">
                <a:solidFill>
                  <a:srgbClr val="231F20"/>
                </a:solidFill>
                <a:latin typeface="Arial"/>
                <a:cs typeface="Arial"/>
              </a:rPr>
              <a:t>program  </a:t>
            </a:r>
            <a:r>
              <a:rPr sz="1950" spc="110" dirty="0">
                <a:solidFill>
                  <a:srgbClr val="231F20"/>
                </a:solidFill>
                <a:latin typeface="Arial"/>
                <a:cs typeface="Arial"/>
              </a:rPr>
              <a:t>using </a:t>
            </a:r>
            <a:r>
              <a:rPr sz="1950" spc="175" dirty="0">
                <a:solidFill>
                  <a:srgbClr val="231F20"/>
                </a:solidFill>
                <a:latin typeface="Arial"/>
                <a:cs typeface="Arial"/>
              </a:rPr>
              <a:t>the </a:t>
            </a:r>
            <a:r>
              <a:rPr sz="1950" spc="160" dirty="0">
                <a:solidFill>
                  <a:srgbClr val="231F20"/>
                </a:solidFill>
                <a:latin typeface="Arial"/>
                <a:cs typeface="Arial"/>
              </a:rPr>
              <a:t>transition </a:t>
            </a:r>
            <a:r>
              <a:rPr sz="1950" spc="145" dirty="0">
                <a:solidFill>
                  <a:srgbClr val="231F20"/>
                </a:solidFill>
                <a:latin typeface="Arial"/>
                <a:cs typeface="Arial"/>
              </a:rPr>
              <a:t>relation </a:t>
            </a:r>
            <a:r>
              <a:rPr sz="1950" spc="120" dirty="0">
                <a:solidFill>
                  <a:srgbClr val="231F20"/>
                </a:solidFill>
                <a:latin typeface="Arial"/>
                <a:cs typeface="Arial"/>
              </a:rPr>
              <a:t>semantics </a:t>
            </a:r>
            <a:r>
              <a:rPr sz="1950" spc="185" dirty="0">
                <a:solidFill>
                  <a:srgbClr val="231F20"/>
                </a:solidFill>
                <a:latin typeface="Arial"/>
                <a:cs typeface="Arial"/>
              </a:rPr>
              <a:t>of </a:t>
            </a:r>
            <a:r>
              <a:rPr sz="1950" spc="225" dirty="0">
                <a:solidFill>
                  <a:srgbClr val="231F20"/>
                </a:solidFill>
                <a:latin typeface="Arial"/>
                <a:cs typeface="Arial"/>
              </a:rPr>
              <a:t> SAL</a:t>
            </a:r>
            <a:endParaRPr sz="1950">
              <a:latin typeface="Arial"/>
              <a:cs typeface="Arial"/>
            </a:endParaRPr>
          </a:p>
          <a:p>
            <a:pPr>
              <a:lnSpc>
                <a:spcPct val="100000"/>
              </a:lnSpc>
              <a:spcBef>
                <a:spcPts val="26"/>
              </a:spcBef>
            </a:pPr>
            <a:endParaRPr sz="2000">
              <a:latin typeface="Times New Roman"/>
              <a:cs typeface="Times New Roman"/>
            </a:endParaRPr>
          </a:p>
          <a:p>
            <a:pPr marL="300990" marR="5900420">
              <a:lnSpc>
                <a:spcPct val="118900"/>
              </a:lnSpc>
            </a:pPr>
            <a:r>
              <a:rPr sz="2050" spc="55" dirty="0">
                <a:solidFill>
                  <a:srgbClr val="0000FF"/>
                </a:solidFill>
                <a:latin typeface="SimSun"/>
                <a:cs typeface="SimSun"/>
              </a:rPr>
              <a:t>bakery:</a:t>
            </a:r>
            <a:r>
              <a:rPr sz="2050" spc="-30" dirty="0">
                <a:solidFill>
                  <a:srgbClr val="0000FF"/>
                </a:solidFill>
                <a:latin typeface="SimSun"/>
                <a:cs typeface="SimSun"/>
              </a:rPr>
              <a:t> </a:t>
            </a:r>
            <a:r>
              <a:rPr sz="2050" spc="55" dirty="0">
                <a:solidFill>
                  <a:srgbClr val="0000FF"/>
                </a:solidFill>
                <a:latin typeface="SimSun"/>
                <a:cs typeface="SimSun"/>
              </a:rPr>
              <a:t>THEORY  BEGIN</a:t>
            </a:r>
            <a:endParaRPr sz="2050">
              <a:latin typeface="SimSun"/>
              <a:cs typeface="SimSun"/>
            </a:endParaRPr>
          </a:p>
          <a:p>
            <a:pPr marL="576580">
              <a:lnSpc>
                <a:spcPct val="100000"/>
              </a:lnSpc>
              <a:spcBef>
                <a:spcPts val="465"/>
              </a:spcBef>
            </a:pPr>
            <a:r>
              <a:rPr sz="2050" spc="55" dirty="0">
                <a:solidFill>
                  <a:srgbClr val="0000FF"/>
                </a:solidFill>
                <a:latin typeface="SimSun"/>
                <a:cs typeface="SimSun"/>
              </a:rPr>
              <a:t>phase : TYPE = </a:t>
            </a:r>
            <a:r>
              <a:rPr sz="2050" spc="105" dirty="0">
                <a:solidFill>
                  <a:srgbClr val="0000FF"/>
                </a:solidFill>
                <a:latin typeface="Lucida Sans Unicode"/>
                <a:cs typeface="Lucida Sans Unicode"/>
              </a:rPr>
              <a:t>{</a:t>
            </a:r>
            <a:r>
              <a:rPr sz="2050" spc="105" dirty="0">
                <a:solidFill>
                  <a:srgbClr val="0000FF"/>
                </a:solidFill>
                <a:latin typeface="SimSun"/>
                <a:cs typeface="SimSun"/>
              </a:rPr>
              <a:t>idle, </a:t>
            </a:r>
            <a:r>
              <a:rPr sz="2050" spc="55" dirty="0">
                <a:solidFill>
                  <a:srgbClr val="0000FF"/>
                </a:solidFill>
                <a:latin typeface="SimSun"/>
                <a:cs typeface="SimSun"/>
              </a:rPr>
              <a:t>trying,</a:t>
            </a:r>
            <a:r>
              <a:rPr sz="2050" spc="10" dirty="0">
                <a:solidFill>
                  <a:srgbClr val="0000FF"/>
                </a:solidFill>
                <a:latin typeface="SimSun"/>
                <a:cs typeface="SimSun"/>
              </a:rPr>
              <a:t> </a:t>
            </a:r>
            <a:r>
              <a:rPr sz="2050" spc="85" dirty="0">
                <a:solidFill>
                  <a:srgbClr val="0000FF"/>
                </a:solidFill>
                <a:latin typeface="SimSun"/>
                <a:cs typeface="SimSun"/>
              </a:rPr>
              <a:t>critical</a:t>
            </a:r>
            <a:r>
              <a:rPr sz="2050" spc="85" dirty="0">
                <a:solidFill>
                  <a:srgbClr val="0000FF"/>
                </a:solidFill>
                <a:latin typeface="Lucida Sans Unicode"/>
                <a:cs typeface="Lucida Sans Unicode"/>
              </a:rPr>
              <a:t>}</a:t>
            </a:r>
            <a:endParaRPr sz="2050">
              <a:latin typeface="Lucida Sans Unicode"/>
              <a:cs typeface="Lucida Sans Unicode"/>
            </a:endParaRPr>
          </a:p>
          <a:p>
            <a:pPr marL="576580" marR="940435">
              <a:lnSpc>
                <a:spcPct val="156900"/>
              </a:lnSpc>
            </a:pPr>
            <a:r>
              <a:rPr sz="2050" spc="55" dirty="0">
                <a:solidFill>
                  <a:srgbClr val="0000FF"/>
                </a:solidFill>
                <a:latin typeface="SimSun"/>
                <a:cs typeface="SimSun"/>
              </a:rPr>
              <a:t>state: TYPE = [# pc1, pc2: phase, t1, t2: nat #]  s, pre, post: VAR</a:t>
            </a:r>
            <a:r>
              <a:rPr sz="2050" spc="-5" dirty="0">
                <a:solidFill>
                  <a:srgbClr val="0000FF"/>
                </a:solidFill>
                <a:latin typeface="SimSun"/>
                <a:cs typeface="SimSun"/>
              </a:rPr>
              <a:t> </a:t>
            </a:r>
            <a:r>
              <a:rPr sz="2050" spc="55" dirty="0">
                <a:solidFill>
                  <a:srgbClr val="0000FF"/>
                </a:solidFill>
                <a:latin typeface="SimSun"/>
                <a:cs typeface="SimSun"/>
              </a:rPr>
              <a:t>state</a:t>
            </a:r>
            <a:endParaRPr sz="2050">
              <a:latin typeface="SimSun"/>
              <a:cs typeface="SimSun"/>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37775" y="475981"/>
            <a:ext cx="3384550" cy="31496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40" dirty="0">
                <a:solidFill>
                  <a:srgbClr val="231F20"/>
                </a:solidFill>
                <a:latin typeface="Arial"/>
                <a:cs typeface="Arial"/>
              </a:rPr>
              <a:t>Transitions </a:t>
            </a:r>
            <a:r>
              <a:rPr sz="1950" spc="210" dirty="0">
                <a:solidFill>
                  <a:srgbClr val="231F20"/>
                </a:solidFill>
                <a:latin typeface="Arial"/>
                <a:cs typeface="Arial"/>
              </a:rPr>
              <a:t>in</a:t>
            </a:r>
            <a:r>
              <a:rPr sz="1950" spc="425" dirty="0">
                <a:solidFill>
                  <a:srgbClr val="231F20"/>
                </a:solidFill>
                <a:latin typeface="Arial"/>
                <a:cs typeface="Arial"/>
              </a:rPr>
              <a:t> </a:t>
            </a:r>
            <a:r>
              <a:rPr sz="1950" spc="360" dirty="0">
                <a:solidFill>
                  <a:srgbClr val="231F20"/>
                </a:solidFill>
                <a:latin typeface="Arial"/>
                <a:cs typeface="Arial"/>
              </a:rPr>
              <a:t>PVS</a:t>
            </a:r>
            <a:endParaRPr sz="1950">
              <a:latin typeface="Arial"/>
              <a:cs typeface="Arial"/>
            </a:endParaRPr>
          </a:p>
        </p:txBody>
      </p:sp>
      <p:sp>
        <p:nvSpPr>
          <p:cNvPr id="3" name="object 3"/>
          <p:cNvSpPr txBox="1">
            <a:spLocks noGrp="1"/>
          </p:cNvSpPr>
          <p:nvPr>
            <p:ph type="title"/>
          </p:nvPr>
        </p:nvSpPr>
        <p:spPr>
          <a:xfrm>
            <a:off x="901700" y="1010597"/>
            <a:ext cx="8428990" cy="1486535"/>
          </a:xfrm>
          <a:prstGeom prst="rect">
            <a:avLst/>
          </a:prstGeom>
        </p:spPr>
        <p:txBody>
          <a:bodyPr vert="horz" wrap="square" lIns="0" tIns="0" rIns="0" bIns="0" rtlCol="0">
            <a:spAutoFit/>
          </a:bodyPr>
          <a:lstStyle/>
          <a:p>
            <a:pPr marL="149860" marR="3999865" indent="-137795">
              <a:lnSpc>
                <a:spcPct val="118900"/>
              </a:lnSpc>
            </a:pPr>
            <a:r>
              <a:rPr spc="55" dirty="0"/>
              <a:t>P1_transition(pre, post): bool =  IF </a:t>
            </a:r>
            <a:r>
              <a:rPr spc="-95" dirty="0"/>
              <a:t>pre‘pc1 </a:t>
            </a:r>
            <a:r>
              <a:rPr spc="55" dirty="0"/>
              <a:t>=</a:t>
            </a:r>
            <a:r>
              <a:rPr spc="155" dirty="0"/>
              <a:t> </a:t>
            </a:r>
            <a:r>
              <a:rPr spc="55" dirty="0"/>
              <a:t>idle</a:t>
            </a:r>
          </a:p>
          <a:p>
            <a:pPr marL="149860" marR="5080" indent="275590">
              <a:lnSpc>
                <a:spcPct val="118900"/>
              </a:lnSpc>
            </a:pPr>
            <a:r>
              <a:rPr spc="55" dirty="0"/>
              <a:t>THEN post = pre WITH [(t1) := </a:t>
            </a:r>
            <a:r>
              <a:rPr spc="-120" dirty="0"/>
              <a:t>pre‘t2 </a:t>
            </a:r>
            <a:r>
              <a:rPr spc="55" dirty="0"/>
              <a:t>+ 1, (pc1) := trying]  ELSIF </a:t>
            </a:r>
            <a:r>
              <a:rPr spc="-95" dirty="0"/>
              <a:t>pre‘pc1 </a:t>
            </a:r>
            <a:r>
              <a:rPr spc="55" dirty="0"/>
              <a:t>= trying AND </a:t>
            </a:r>
            <a:r>
              <a:rPr spc="-95" dirty="0"/>
              <a:t>(pre‘t2 </a:t>
            </a:r>
            <a:r>
              <a:rPr spc="55" dirty="0"/>
              <a:t>= 0 OR </a:t>
            </a:r>
            <a:r>
              <a:rPr spc="-120" dirty="0"/>
              <a:t>pre‘t1 </a:t>
            </a:r>
            <a:r>
              <a:rPr spc="55" dirty="0"/>
              <a:t>&lt;</a:t>
            </a:r>
            <a:r>
              <a:rPr spc="620" dirty="0"/>
              <a:t> </a:t>
            </a:r>
            <a:r>
              <a:rPr spc="-95" dirty="0"/>
              <a:t>pre‘t2)</a:t>
            </a:r>
          </a:p>
        </p:txBody>
      </p:sp>
      <p:sp>
        <p:nvSpPr>
          <p:cNvPr id="4" name="object 4"/>
          <p:cNvSpPr txBox="1"/>
          <p:nvPr/>
        </p:nvSpPr>
        <p:spPr>
          <a:xfrm>
            <a:off x="901700" y="2496840"/>
            <a:ext cx="7465059" cy="3741420"/>
          </a:xfrm>
          <a:prstGeom prst="rect">
            <a:avLst/>
          </a:prstGeom>
        </p:spPr>
        <p:txBody>
          <a:bodyPr vert="horz" wrap="square" lIns="0" tIns="0" rIns="0" bIns="0" rtlCol="0">
            <a:spAutoFit/>
          </a:bodyPr>
          <a:lstStyle/>
          <a:p>
            <a:pPr marL="149860" marR="1520190" indent="275590">
              <a:lnSpc>
                <a:spcPct val="118900"/>
              </a:lnSpc>
            </a:pPr>
            <a:r>
              <a:rPr sz="2050" spc="55" dirty="0">
                <a:solidFill>
                  <a:srgbClr val="0000FF"/>
                </a:solidFill>
                <a:latin typeface="SimSun"/>
                <a:cs typeface="SimSun"/>
              </a:rPr>
              <a:t>THEN post = pre WITH [(pc1) := critical]  ELSIF </a:t>
            </a:r>
            <a:r>
              <a:rPr sz="2050" spc="-95" dirty="0">
                <a:solidFill>
                  <a:srgbClr val="0000FF"/>
                </a:solidFill>
                <a:latin typeface="SimSun"/>
                <a:cs typeface="SimSun"/>
              </a:rPr>
              <a:t>pre‘pc1 </a:t>
            </a:r>
            <a:r>
              <a:rPr sz="2050" spc="55" dirty="0">
                <a:solidFill>
                  <a:srgbClr val="0000FF"/>
                </a:solidFill>
                <a:latin typeface="SimSun"/>
                <a:cs typeface="SimSun"/>
              </a:rPr>
              <a:t>=</a:t>
            </a:r>
            <a:r>
              <a:rPr sz="2050" spc="155"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marL="149860" marR="555625" indent="275590">
              <a:lnSpc>
                <a:spcPct val="118900"/>
              </a:lnSpc>
            </a:pPr>
            <a:r>
              <a:rPr sz="2050" spc="55" dirty="0">
                <a:solidFill>
                  <a:srgbClr val="0000FF"/>
                </a:solidFill>
                <a:latin typeface="SimSun"/>
                <a:cs typeface="SimSun"/>
              </a:rPr>
              <a:t>THEN post = pre WITH [(t1) := 0, (pc1) := idle]  ELSE post =</a:t>
            </a:r>
            <a:r>
              <a:rPr sz="2050" spc="-15" dirty="0">
                <a:solidFill>
                  <a:srgbClr val="0000FF"/>
                </a:solidFill>
                <a:latin typeface="SimSun"/>
                <a:cs typeface="SimSun"/>
              </a:rPr>
              <a:t> </a:t>
            </a:r>
            <a:r>
              <a:rPr sz="2050" spc="55" dirty="0">
                <a:solidFill>
                  <a:srgbClr val="0000FF"/>
                </a:solidFill>
                <a:latin typeface="SimSun"/>
                <a:cs typeface="SimSun"/>
              </a:rPr>
              <a:t>pre</a:t>
            </a:r>
            <a:endParaRPr sz="2050">
              <a:latin typeface="SimSun"/>
              <a:cs typeface="SimSun"/>
            </a:endParaRPr>
          </a:p>
          <a:p>
            <a:pPr marL="149860">
              <a:lnSpc>
                <a:spcPct val="100000"/>
              </a:lnSpc>
              <a:spcBef>
                <a:spcPts val="465"/>
              </a:spcBef>
            </a:pPr>
            <a:r>
              <a:rPr sz="2050" spc="55" dirty="0">
                <a:solidFill>
                  <a:srgbClr val="0000FF"/>
                </a:solidFill>
                <a:latin typeface="SimSun"/>
                <a:cs typeface="SimSun"/>
              </a:rPr>
              <a:t>ENDIF</a:t>
            </a:r>
            <a:endParaRPr sz="2050">
              <a:latin typeface="SimSun"/>
              <a:cs typeface="SimSun"/>
            </a:endParaRPr>
          </a:p>
          <a:p>
            <a:pPr marL="12700" marR="1382395">
              <a:lnSpc>
                <a:spcPts val="5850"/>
              </a:lnSpc>
              <a:spcBef>
                <a:spcPts val="760"/>
              </a:spcBef>
            </a:pPr>
            <a:r>
              <a:rPr sz="2050" spc="55" dirty="0">
                <a:solidFill>
                  <a:srgbClr val="0000FF"/>
                </a:solidFill>
                <a:latin typeface="SimSun"/>
                <a:cs typeface="SimSun"/>
              </a:rPr>
              <a:t>P2_transition(pre, post): bool = ... similar  transitions(pre, post): bool</a:t>
            </a:r>
            <a:r>
              <a:rPr sz="2050" spc="-20"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287655">
              <a:lnSpc>
                <a:spcPts val="2165"/>
              </a:lnSpc>
            </a:pPr>
            <a:r>
              <a:rPr sz="2050" spc="55" dirty="0">
                <a:solidFill>
                  <a:srgbClr val="0000FF"/>
                </a:solidFill>
                <a:latin typeface="SimSun"/>
                <a:cs typeface="SimSun"/>
              </a:rPr>
              <a:t>P1_transition(pre, post) OR P2_transition(pre,</a:t>
            </a:r>
            <a:r>
              <a:rPr sz="2050" spc="-10" dirty="0">
                <a:solidFill>
                  <a:srgbClr val="0000FF"/>
                </a:solidFill>
                <a:latin typeface="SimSun"/>
                <a:cs typeface="SimSun"/>
              </a:rPr>
              <a:t> </a:t>
            </a:r>
            <a:r>
              <a:rPr sz="2050" spc="55" dirty="0">
                <a:solidFill>
                  <a:srgbClr val="0000FF"/>
                </a:solidFill>
                <a:latin typeface="SimSun"/>
                <a:cs typeface="SimSun"/>
              </a:rPr>
              <a:t>post)</a:t>
            </a:r>
            <a:endParaRPr sz="2050">
              <a:latin typeface="SimSun"/>
              <a:cs typeface="SimSun"/>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30144" y="475981"/>
            <a:ext cx="4800600" cy="314960"/>
          </a:xfrm>
          <a:prstGeom prst="rect">
            <a:avLst/>
          </a:prstGeom>
        </p:spPr>
        <p:txBody>
          <a:bodyPr vert="horz" wrap="square" lIns="0" tIns="0" rIns="0" bIns="0" rtlCol="0">
            <a:spAutoFit/>
          </a:bodyPr>
          <a:lstStyle/>
          <a:p>
            <a:pPr marL="12700">
              <a:lnSpc>
                <a:spcPct val="100000"/>
              </a:lnSpc>
            </a:pPr>
            <a:r>
              <a:rPr sz="1950" spc="225" dirty="0">
                <a:solidFill>
                  <a:srgbClr val="231F20"/>
                </a:solidFill>
                <a:latin typeface="Arial"/>
                <a:cs typeface="Arial"/>
              </a:rPr>
              <a:t>Initialization </a:t>
            </a:r>
            <a:r>
              <a:rPr sz="1950" spc="240" dirty="0">
                <a:solidFill>
                  <a:srgbClr val="231F20"/>
                </a:solidFill>
                <a:latin typeface="Arial"/>
                <a:cs typeface="Arial"/>
              </a:rPr>
              <a:t>and </a:t>
            </a:r>
            <a:r>
              <a:rPr sz="1950" spc="229" dirty="0">
                <a:solidFill>
                  <a:srgbClr val="231F20"/>
                </a:solidFill>
                <a:latin typeface="Arial"/>
                <a:cs typeface="Arial"/>
              </a:rPr>
              <a:t>Invariant </a:t>
            </a:r>
            <a:r>
              <a:rPr sz="1950" spc="210" dirty="0">
                <a:solidFill>
                  <a:srgbClr val="231F20"/>
                </a:solidFill>
                <a:latin typeface="Arial"/>
                <a:cs typeface="Arial"/>
              </a:rPr>
              <a:t>in</a:t>
            </a:r>
            <a:r>
              <a:rPr sz="1950" spc="770" dirty="0">
                <a:solidFill>
                  <a:srgbClr val="231F20"/>
                </a:solidFill>
                <a:latin typeface="Arial"/>
                <a:cs typeface="Arial"/>
              </a:rPr>
              <a:t> </a:t>
            </a:r>
            <a:r>
              <a:rPr sz="1950" spc="360" dirty="0">
                <a:solidFill>
                  <a:srgbClr val="231F20"/>
                </a:solidFill>
                <a:latin typeface="Arial"/>
                <a:cs typeface="Arial"/>
              </a:rPr>
              <a:t>PVS</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78442" rIns="0" bIns="0" rtlCol="0">
            <a:spAutoFit/>
          </a:bodyPr>
          <a:lstStyle/>
          <a:p>
            <a:pPr marL="17780">
              <a:lnSpc>
                <a:spcPct val="100000"/>
              </a:lnSpc>
            </a:pPr>
            <a:r>
              <a:rPr spc="55" dirty="0"/>
              <a:t>init(s): bool = </a:t>
            </a:r>
            <a:r>
              <a:rPr spc="-150" dirty="0"/>
              <a:t>s‘pc1 </a:t>
            </a:r>
            <a:r>
              <a:rPr spc="55" dirty="0"/>
              <a:t>= idle AND </a:t>
            </a:r>
            <a:r>
              <a:rPr spc="-150" dirty="0"/>
              <a:t>s‘pc2 </a:t>
            </a:r>
            <a:r>
              <a:rPr spc="55" dirty="0"/>
              <a:t>=</a:t>
            </a:r>
            <a:r>
              <a:rPr spc="440" dirty="0"/>
              <a:t> </a:t>
            </a:r>
            <a:r>
              <a:rPr spc="55" dirty="0"/>
              <a:t>idle</a:t>
            </a:r>
          </a:p>
          <a:p>
            <a:pPr marL="2497455">
              <a:lnSpc>
                <a:spcPct val="100000"/>
              </a:lnSpc>
              <a:spcBef>
                <a:spcPts val="465"/>
              </a:spcBef>
            </a:pPr>
            <a:r>
              <a:rPr spc="55" dirty="0"/>
              <a:t>AND </a:t>
            </a:r>
            <a:r>
              <a:rPr spc="-204" dirty="0"/>
              <a:t>s‘t1 </a:t>
            </a:r>
            <a:r>
              <a:rPr spc="55" dirty="0"/>
              <a:t>= 0 AND </a:t>
            </a:r>
            <a:r>
              <a:rPr spc="-204" dirty="0"/>
              <a:t>s‘t2 </a:t>
            </a:r>
            <a:r>
              <a:rPr spc="55" dirty="0"/>
              <a:t>=</a:t>
            </a:r>
            <a:r>
              <a:rPr spc="570" dirty="0"/>
              <a:t> </a:t>
            </a:r>
            <a:r>
              <a:rPr spc="55" dirty="0"/>
              <a:t>0</a:t>
            </a:r>
          </a:p>
        </p:txBody>
      </p:sp>
      <p:sp>
        <p:nvSpPr>
          <p:cNvPr id="4" name="object 4"/>
          <p:cNvSpPr txBox="1"/>
          <p:nvPr/>
        </p:nvSpPr>
        <p:spPr>
          <a:xfrm>
            <a:off x="901698" y="2114689"/>
            <a:ext cx="8055609" cy="4193540"/>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safe(s): bool = </a:t>
            </a:r>
            <a:r>
              <a:rPr sz="2050" spc="-60" dirty="0">
                <a:solidFill>
                  <a:srgbClr val="0000FF"/>
                </a:solidFill>
                <a:latin typeface="SimSun"/>
                <a:cs typeface="SimSun"/>
              </a:rPr>
              <a:t>NOT(s‘pc1 </a:t>
            </a:r>
            <a:r>
              <a:rPr sz="2050" spc="55" dirty="0">
                <a:solidFill>
                  <a:srgbClr val="0000FF"/>
                </a:solidFill>
                <a:latin typeface="SimSun"/>
                <a:cs typeface="SimSun"/>
              </a:rPr>
              <a:t>= critical AND </a:t>
            </a:r>
            <a:r>
              <a:rPr sz="2050" spc="-150" dirty="0">
                <a:solidFill>
                  <a:srgbClr val="0000FF"/>
                </a:solidFill>
                <a:latin typeface="SimSun"/>
                <a:cs typeface="SimSun"/>
              </a:rPr>
              <a:t>s‘pc2 </a:t>
            </a:r>
            <a:r>
              <a:rPr sz="2050" spc="55" dirty="0">
                <a:solidFill>
                  <a:srgbClr val="0000FF"/>
                </a:solidFill>
                <a:latin typeface="SimSun"/>
                <a:cs typeface="SimSun"/>
              </a:rPr>
              <a:t>=</a:t>
            </a:r>
            <a:r>
              <a:rPr sz="2050" spc="360"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a:lnSpc>
                <a:spcPct val="100000"/>
              </a:lnSpc>
              <a:spcBef>
                <a:spcPts val="19"/>
              </a:spcBef>
            </a:pPr>
            <a:endParaRPr sz="2750">
              <a:latin typeface="Times New Roman"/>
              <a:cs typeface="Times New Roman"/>
            </a:endParaRPr>
          </a:p>
          <a:p>
            <a:pPr marL="12700">
              <a:lnSpc>
                <a:spcPct val="100000"/>
              </a:lnSpc>
            </a:pPr>
            <a:r>
              <a:rPr sz="1650" spc="-775" dirty="0">
                <a:solidFill>
                  <a:srgbClr val="0000FF"/>
                </a:solidFill>
                <a:latin typeface="Arial"/>
                <a:cs typeface="Arial"/>
              </a:rPr>
              <a:t></a:t>
            </a:r>
            <a:r>
              <a:rPr sz="1650" spc="415" dirty="0">
                <a:solidFill>
                  <a:srgbClr val="0000FF"/>
                </a:solidFill>
                <a:latin typeface="Arial"/>
                <a:cs typeface="Arial"/>
              </a:rPr>
              <a:t> </a:t>
            </a:r>
            <a:r>
              <a:rPr sz="1650" spc="-85" dirty="0">
                <a:solidFill>
                  <a:srgbClr val="0000FF"/>
                </a:solidFill>
                <a:latin typeface="Arial"/>
                <a:cs typeface="Arial"/>
              </a:rPr>
              <a:t>To  </a:t>
            </a:r>
            <a:r>
              <a:rPr sz="1650" spc="50" dirty="0">
                <a:solidFill>
                  <a:srgbClr val="0000FF"/>
                </a:solidFill>
                <a:latin typeface="Arial"/>
                <a:cs typeface="Arial"/>
              </a:rPr>
              <a:t>prove  </a:t>
            </a:r>
            <a:r>
              <a:rPr sz="1650" spc="185" dirty="0">
                <a:solidFill>
                  <a:srgbClr val="0000FF"/>
                </a:solidFill>
                <a:latin typeface="Arial"/>
                <a:cs typeface="Arial"/>
              </a:rPr>
              <a:t>that </a:t>
            </a:r>
            <a:r>
              <a:rPr sz="1650" spc="-40" dirty="0">
                <a:solidFill>
                  <a:srgbClr val="0000FF"/>
                </a:solidFill>
                <a:latin typeface="Arial"/>
                <a:cs typeface="Arial"/>
              </a:rPr>
              <a:t>a  </a:t>
            </a:r>
            <a:r>
              <a:rPr sz="1650" spc="120" dirty="0">
                <a:solidFill>
                  <a:srgbClr val="0000FF"/>
                </a:solidFill>
                <a:latin typeface="Arial"/>
                <a:cs typeface="Arial"/>
              </a:rPr>
              <a:t>property  </a:t>
            </a:r>
            <a:r>
              <a:rPr sz="1650" spc="-225" dirty="0">
                <a:solidFill>
                  <a:srgbClr val="0000FF"/>
                </a:solidFill>
                <a:latin typeface="Arial"/>
                <a:cs typeface="Arial"/>
              </a:rPr>
              <a:t>P    </a:t>
            </a:r>
            <a:r>
              <a:rPr sz="1650" spc="280" dirty="0">
                <a:solidFill>
                  <a:srgbClr val="0000FF"/>
                </a:solidFill>
                <a:latin typeface="Arial"/>
                <a:cs typeface="Arial"/>
              </a:rPr>
              <a:t>is </a:t>
            </a:r>
            <a:r>
              <a:rPr sz="1650" spc="-40" dirty="0">
                <a:solidFill>
                  <a:srgbClr val="0000FF"/>
                </a:solidFill>
                <a:latin typeface="Arial"/>
                <a:cs typeface="Arial"/>
              </a:rPr>
              <a:t>an  </a:t>
            </a:r>
            <a:r>
              <a:rPr sz="1650" spc="204" dirty="0">
                <a:solidFill>
                  <a:srgbClr val="0000FF"/>
                </a:solidFill>
                <a:latin typeface="Arial"/>
                <a:cs typeface="Arial"/>
              </a:rPr>
              <a:t>invariant, </a:t>
            </a:r>
            <a:r>
              <a:rPr sz="1650" spc="-180" dirty="0">
                <a:solidFill>
                  <a:srgbClr val="0000FF"/>
                </a:solidFill>
                <a:latin typeface="Arial"/>
                <a:cs typeface="Arial"/>
              </a:rPr>
              <a:t>we   </a:t>
            </a:r>
            <a:r>
              <a:rPr sz="1650" spc="50" dirty="0">
                <a:solidFill>
                  <a:srgbClr val="0000FF"/>
                </a:solidFill>
                <a:latin typeface="Arial"/>
                <a:cs typeface="Arial"/>
              </a:rPr>
              <a:t>prove  </a:t>
            </a:r>
            <a:r>
              <a:rPr sz="1650" spc="465" dirty="0">
                <a:solidFill>
                  <a:srgbClr val="0000FF"/>
                </a:solidFill>
                <a:latin typeface="Arial"/>
                <a:cs typeface="Arial"/>
              </a:rPr>
              <a:t>it </a:t>
            </a:r>
            <a:r>
              <a:rPr sz="1650" spc="280" dirty="0">
                <a:solidFill>
                  <a:srgbClr val="0000FF"/>
                </a:solidFill>
                <a:latin typeface="Arial"/>
                <a:cs typeface="Arial"/>
              </a:rPr>
              <a:t>is</a:t>
            </a:r>
            <a:r>
              <a:rPr sz="1650" spc="595" dirty="0">
                <a:solidFill>
                  <a:srgbClr val="0000FF"/>
                </a:solidFill>
                <a:latin typeface="Arial"/>
                <a:cs typeface="Arial"/>
              </a:rPr>
              <a:t> </a:t>
            </a:r>
            <a:r>
              <a:rPr sz="1650" spc="170" dirty="0">
                <a:solidFill>
                  <a:srgbClr val="0000FF"/>
                </a:solidFill>
                <a:latin typeface="Arial"/>
                <a:cs typeface="Arial"/>
              </a:rPr>
              <a:t>*inductive*</a:t>
            </a:r>
            <a:endParaRPr sz="1650">
              <a:latin typeface="Arial"/>
              <a:cs typeface="Arial"/>
            </a:endParaRPr>
          </a:p>
          <a:p>
            <a:pPr marL="12700">
              <a:lnSpc>
                <a:spcPct val="100000"/>
              </a:lnSpc>
              <a:spcBef>
                <a:spcPts val="335"/>
              </a:spcBef>
            </a:pPr>
            <a:r>
              <a:rPr sz="1650" spc="-775" dirty="0">
                <a:solidFill>
                  <a:srgbClr val="0000FF"/>
                </a:solidFill>
                <a:latin typeface="Arial"/>
                <a:cs typeface="Arial"/>
              </a:rPr>
              <a:t></a:t>
            </a:r>
            <a:r>
              <a:rPr sz="1650" spc="420" dirty="0">
                <a:solidFill>
                  <a:srgbClr val="0000FF"/>
                </a:solidFill>
                <a:latin typeface="Arial"/>
                <a:cs typeface="Arial"/>
              </a:rPr>
              <a:t> </a:t>
            </a:r>
            <a:r>
              <a:rPr sz="1650" spc="95" dirty="0">
                <a:solidFill>
                  <a:srgbClr val="0000FF"/>
                </a:solidFill>
                <a:latin typeface="Arial"/>
                <a:cs typeface="Arial"/>
              </a:rPr>
              <a:t>This  </a:t>
            </a:r>
            <a:r>
              <a:rPr sz="1650" spc="280" dirty="0">
                <a:solidFill>
                  <a:srgbClr val="0000FF"/>
                </a:solidFill>
                <a:latin typeface="Arial"/>
                <a:cs typeface="Arial"/>
              </a:rPr>
              <a:t>is </a:t>
            </a:r>
            <a:r>
              <a:rPr sz="1650" spc="195" dirty="0">
                <a:solidFill>
                  <a:srgbClr val="0000FF"/>
                </a:solidFill>
                <a:latin typeface="Arial"/>
                <a:cs typeface="Arial"/>
              </a:rPr>
              <a:t>similar </a:t>
            </a:r>
            <a:r>
              <a:rPr sz="1650" spc="185" dirty="0">
                <a:solidFill>
                  <a:srgbClr val="0000FF"/>
                </a:solidFill>
                <a:latin typeface="Arial"/>
                <a:cs typeface="Arial"/>
              </a:rPr>
              <a:t>to </a:t>
            </a:r>
            <a:r>
              <a:rPr sz="1650" spc="30" dirty="0">
                <a:solidFill>
                  <a:srgbClr val="0000FF"/>
                </a:solidFill>
                <a:latin typeface="Arial"/>
                <a:cs typeface="Arial"/>
              </a:rPr>
              <a:t>Amir  </a:t>
            </a:r>
            <a:r>
              <a:rPr sz="1650" spc="155" dirty="0">
                <a:solidFill>
                  <a:srgbClr val="0000FF"/>
                </a:solidFill>
                <a:latin typeface="Arial"/>
                <a:cs typeface="Arial"/>
              </a:rPr>
              <a:t>Pnueli’s </a:t>
            </a:r>
            <a:r>
              <a:rPr sz="1650" spc="190" dirty="0">
                <a:solidFill>
                  <a:srgbClr val="0000FF"/>
                </a:solidFill>
                <a:latin typeface="Arial"/>
                <a:cs typeface="Arial"/>
              </a:rPr>
              <a:t>rule </a:t>
            </a:r>
            <a:r>
              <a:rPr sz="1650" spc="235" dirty="0">
                <a:solidFill>
                  <a:srgbClr val="0000FF"/>
                </a:solidFill>
                <a:latin typeface="Arial"/>
                <a:cs typeface="Arial"/>
              </a:rPr>
              <a:t>for </a:t>
            </a:r>
            <a:r>
              <a:rPr sz="1650" spc="110" dirty="0">
                <a:solidFill>
                  <a:srgbClr val="0000FF"/>
                </a:solidFill>
                <a:latin typeface="Arial"/>
                <a:cs typeface="Arial"/>
              </a:rPr>
              <a:t>Universal  </a:t>
            </a:r>
            <a:r>
              <a:rPr sz="1650" spc="229" dirty="0">
                <a:solidFill>
                  <a:srgbClr val="0000FF"/>
                </a:solidFill>
                <a:latin typeface="Arial"/>
                <a:cs typeface="Arial"/>
              </a:rPr>
              <a:t> </a:t>
            </a:r>
            <a:r>
              <a:rPr sz="1650" spc="114" dirty="0">
                <a:solidFill>
                  <a:srgbClr val="0000FF"/>
                </a:solidFill>
                <a:latin typeface="Arial"/>
                <a:cs typeface="Arial"/>
              </a:rPr>
              <a:t>Invariance</a:t>
            </a:r>
            <a:endParaRPr sz="1650">
              <a:latin typeface="Arial"/>
              <a:cs typeface="Arial"/>
            </a:endParaRPr>
          </a:p>
          <a:p>
            <a:pPr marL="12700">
              <a:lnSpc>
                <a:spcPct val="100000"/>
              </a:lnSpc>
              <a:spcBef>
                <a:spcPts val="335"/>
              </a:spcBef>
            </a:pPr>
            <a:r>
              <a:rPr sz="1650" spc="-775" dirty="0">
                <a:solidFill>
                  <a:srgbClr val="0000FF"/>
                </a:solidFill>
                <a:latin typeface="Arial"/>
                <a:cs typeface="Arial"/>
              </a:rPr>
              <a:t></a:t>
            </a:r>
            <a:r>
              <a:rPr sz="1650" spc="420" dirty="0">
                <a:solidFill>
                  <a:srgbClr val="0000FF"/>
                </a:solidFill>
                <a:latin typeface="Arial"/>
                <a:cs typeface="Arial"/>
              </a:rPr>
              <a:t> </a:t>
            </a:r>
            <a:r>
              <a:rPr sz="1650" spc="35" dirty="0">
                <a:solidFill>
                  <a:srgbClr val="0000FF"/>
                </a:solidFill>
                <a:latin typeface="Arial"/>
                <a:cs typeface="Arial"/>
              </a:rPr>
              <a:t>Except  </a:t>
            </a:r>
            <a:r>
              <a:rPr sz="1650" spc="-180" dirty="0">
                <a:solidFill>
                  <a:srgbClr val="0000FF"/>
                </a:solidFill>
                <a:latin typeface="Arial"/>
                <a:cs typeface="Arial"/>
              </a:rPr>
              <a:t>we   </a:t>
            </a:r>
            <a:r>
              <a:rPr sz="1650" spc="95" dirty="0">
                <a:solidFill>
                  <a:srgbClr val="0000FF"/>
                </a:solidFill>
                <a:latin typeface="Arial"/>
                <a:cs typeface="Arial"/>
              </a:rPr>
              <a:t>strengthen  </a:t>
            </a:r>
            <a:r>
              <a:rPr sz="1650" spc="110" dirty="0">
                <a:solidFill>
                  <a:srgbClr val="0000FF"/>
                </a:solidFill>
                <a:latin typeface="Arial"/>
                <a:cs typeface="Arial"/>
              </a:rPr>
              <a:t>the  </a:t>
            </a:r>
            <a:r>
              <a:rPr sz="1650" spc="140" dirty="0">
                <a:solidFill>
                  <a:srgbClr val="0000FF"/>
                </a:solidFill>
                <a:latin typeface="Arial"/>
                <a:cs typeface="Arial"/>
              </a:rPr>
              <a:t>actual </a:t>
            </a:r>
            <a:r>
              <a:rPr sz="1650" spc="120" dirty="0">
                <a:solidFill>
                  <a:srgbClr val="0000FF"/>
                </a:solidFill>
                <a:latin typeface="Arial"/>
                <a:cs typeface="Arial"/>
              </a:rPr>
              <a:t>property  </a:t>
            </a:r>
            <a:r>
              <a:rPr sz="1650" spc="155" dirty="0">
                <a:solidFill>
                  <a:srgbClr val="0000FF"/>
                </a:solidFill>
                <a:latin typeface="Arial"/>
                <a:cs typeface="Arial"/>
              </a:rPr>
              <a:t>rather </a:t>
            </a:r>
            <a:r>
              <a:rPr sz="1650" spc="70" dirty="0">
                <a:solidFill>
                  <a:srgbClr val="0000FF"/>
                </a:solidFill>
                <a:latin typeface="Arial"/>
                <a:cs typeface="Arial"/>
              </a:rPr>
              <a:t>than  </a:t>
            </a:r>
            <a:r>
              <a:rPr sz="1650" spc="-20" dirty="0">
                <a:solidFill>
                  <a:srgbClr val="0000FF"/>
                </a:solidFill>
                <a:latin typeface="Arial"/>
                <a:cs typeface="Arial"/>
              </a:rPr>
              <a:t>have  </a:t>
            </a:r>
            <a:r>
              <a:rPr sz="1650" spc="-30" dirty="0">
                <a:solidFill>
                  <a:srgbClr val="0000FF"/>
                </a:solidFill>
                <a:latin typeface="Arial"/>
                <a:cs typeface="Arial"/>
              </a:rPr>
              <a:t>an</a:t>
            </a:r>
            <a:r>
              <a:rPr sz="1650" spc="-15" dirty="0">
                <a:solidFill>
                  <a:srgbClr val="0000FF"/>
                </a:solidFill>
                <a:latin typeface="Arial"/>
                <a:cs typeface="Arial"/>
              </a:rPr>
              <a:t> </a:t>
            </a:r>
            <a:r>
              <a:rPr sz="1650" spc="204" dirty="0">
                <a:solidFill>
                  <a:srgbClr val="0000FF"/>
                </a:solidFill>
                <a:latin typeface="Arial"/>
                <a:cs typeface="Arial"/>
              </a:rPr>
              <a:t>auxiliary</a:t>
            </a:r>
            <a:endParaRPr sz="1650">
              <a:latin typeface="Arial"/>
              <a:cs typeface="Arial"/>
            </a:endParaRPr>
          </a:p>
          <a:p>
            <a:pPr>
              <a:lnSpc>
                <a:spcPct val="100000"/>
              </a:lnSpc>
            </a:pPr>
            <a:endParaRPr sz="1600">
              <a:latin typeface="Times New Roman"/>
              <a:cs typeface="Times New Roman"/>
            </a:endParaRPr>
          </a:p>
          <a:p>
            <a:pPr marL="149860" marR="3625850" indent="-137795">
              <a:lnSpc>
                <a:spcPct val="118900"/>
              </a:lnSpc>
              <a:spcBef>
                <a:spcPts val="1165"/>
              </a:spcBef>
            </a:pPr>
            <a:r>
              <a:rPr sz="2050" spc="55" dirty="0">
                <a:solidFill>
                  <a:srgbClr val="0000FF"/>
                </a:solidFill>
                <a:latin typeface="SimSun"/>
                <a:cs typeface="SimSun"/>
              </a:rPr>
              <a:t>indinv(inv: pred[state]): bool =  FORALL s: init(s) =&gt;</a:t>
            </a:r>
            <a:r>
              <a:rPr sz="2050" spc="-5" dirty="0">
                <a:solidFill>
                  <a:srgbClr val="0000FF"/>
                </a:solidFill>
                <a:latin typeface="SimSun"/>
                <a:cs typeface="SimSun"/>
              </a:rPr>
              <a:t> </a:t>
            </a:r>
            <a:r>
              <a:rPr sz="2050" spc="55" dirty="0">
                <a:solidFill>
                  <a:srgbClr val="0000FF"/>
                </a:solidFill>
                <a:latin typeface="SimSun"/>
                <a:cs typeface="SimSun"/>
              </a:rPr>
              <a:t>inv(s)</a:t>
            </a:r>
            <a:endParaRPr sz="2050">
              <a:latin typeface="SimSun"/>
              <a:cs typeface="SimSun"/>
            </a:endParaRPr>
          </a:p>
          <a:p>
            <a:pPr marL="287655">
              <a:lnSpc>
                <a:spcPct val="100000"/>
              </a:lnSpc>
              <a:spcBef>
                <a:spcPts val="465"/>
              </a:spcBef>
            </a:pPr>
            <a:r>
              <a:rPr sz="2050" spc="55" dirty="0">
                <a:solidFill>
                  <a:srgbClr val="0000FF"/>
                </a:solidFill>
                <a:latin typeface="SimSun"/>
                <a:cs typeface="SimSun"/>
              </a:rPr>
              <a:t>AND FORALL pre,</a:t>
            </a:r>
            <a:r>
              <a:rPr sz="2050" spc="-740" dirty="0">
                <a:solidFill>
                  <a:srgbClr val="0000FF"/>
                </a:solidFill>
                <a:latin typeface="SimSun"/>
                <a:cs typeface="SimSun"/>
              </a:rPr>
              <a:t> </a:t>
            </a:r>
            <a:r>
              <a:rPr sz="2050" spc="55" dirty="0">
                <a:solidFill>
                  <a:srgbClr val="0000FF"/>
                </a:solidFill>
                <a:latin typeface="SimSun"/>
                <a:cs typeface="SimSun"/>
              </a:rPr>
              <a:t>post:</a:t>
            </a:r>
            <a:endParaRPr sz="2050">
              <a:latin typeface="SimSun"/>
              <a:cs typeface="SimSun"/>
            </a:endParaRPr>
          </a:p>
          <a:p>
            <a:pPr marL="701040">
              <a:lnSpc>
                <a:spcPct val="100000"/>
              </a:lnSpc>
              <a:spcBef>
                <a:spcPts val="465"/>
              </a:spcBef>
            </a:pPr>
            <a:r>
              <a:rPr sz="2050" spc="55" dirty="0">
                <a:solidFill>
                  <a:srgbClr val="0000FF"/>
                </a:solidFill>
                <a:latin typeface="SimSun"/>
                <a:cs typeface="SimSun"/>
              </a:rPr>
              <a:t>inv(pre) AND transitions(pre,</a:t>
            </a:r>
            <a:r>
              <a:rPr sz="2050" spc="-720" dirty="0">
                <a:solidFill>
                  <a:srgbClr val="0000FF"/>
                </a:solidFill>
                <a:latin typeface="SimSun"/>
                <a:cs typeface="SimSun"/>
              </a:rPr>
              <a:t> </a:t>
            </a:r>
            <a:r>
              <a:rPr sz="2050" spc="55" dirty="0">
                <a:solidFill>
                  <a:srgbClr val="0000FF"/>
                </a:solidFill>
                <a:latin typeface="SimSun"/>
                <a:cs typeface="SimSun"/>
              </a:rPr>
              <a:t>post) =&gt; inv(post)</a:t>
            </a:r>
            <a:endParaRPr sz="2050">
              <a:latin typeface="SimSun"/>
              <a:cs typeface="SimSun"/>
            </a:endParaRPr>
          </a:p>
          <a:p>
            <a:pPr>
              <a:lnSpc>
                <a:spcPct val="100000"/>
              </a:lnSpc>
              <a:spcBef>
                <a:spcPts val="57"/>
              </a:spcBef>
            </a:pPr>
            <a:endParaRPr sz="2900">
              <a:latin typeface="Times New Roman"/>
              <a:cs typeface="Times New Roman"/>
            </a:endParaRPr>
          </a:p>
          <a:p>
            <a:pPr marL="12700">
              <a:lnSpc>
                <a:spcPct val="100000"/>
              </a:lnSpc>
            </a:pPr>
            <a:r>
              <a:rPr sz="2050" spc="55" dirty="0">
                <a:solidFill>
                  <a:srgbClr val="0000FF"/>
                </a:solidFill>
                <a:latin typeface="SimSun"/>
                <a:cs typeface="SimSun"/>
              </a:rPr>
              <a:t>first_try: LEMMA</a:t>
            </a:r>
            <a:r>
              <a:rPr sz="2050" spc="-30" dirty="0">
                <a:solidFill>
                  <a:srgbClr val="0000FF"/>
                </a:solidFill>
                <a:latin typeface="SimSun"/>
                <a:cs typeface="SimSun"/>
              </a:rPr>
              <a:t> </a:t>
            </a:r>
            <a:r>
              <a:rPr sz="2050" spc="55" dirty="0">
                <a:solidFill>
                  <a:srgbClr val="0000FF"/>
                </a:solidFill>
                <a:latin typeface="SimSun"/>
                <a:cs typeface="SimSun"/>
              </a:rPr>
              <a:t>indinv(safe)</a:t>
            </a:r>
            <a:endParaRPr sz="2050">
              <a:latin typeface="SimSun"/>
              <a:cs typeface="SimSun"/>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86271"/>
            <a:ext cx="8041640" cy="5805170"/>
          </a:xfrm>
          <a:prstGeom prst="rect">
            <a:avLst/>
          </a:prstGeom>
        </p:spPr>
        <p:txBody>
          <a:bodyPr vert="horz" wrap="square" lIns="0" tIns="0" rIns="0" bIns="0" rtlCol="0">
            <a:spAutoFit/>
          </a:bodyPr>
          <a:lstStyle/>
          <a:p>
            <a:pPr marL="1942464">
              <a:lnSpc>
                <a:spcPct val="100000"/>
              </a:lnSpc>
              <a:tabLst>
                <a:tab pos="5387975" algn="l"/>
              </a:tabLst>
            </a:pPr>
            <a:r>
              <a:rPr sz="1950" spc="265" dirty="0">
                <a:solidFill>
                  <a:srgbClr val="231F20"/>
                </a:solidFill>
                <a:latin typeface="Arial"/>
                <a:cs typeface="Arial"/>
              </a:rPr>
              <a:t>First</a:t>
            </a:r>
            <a:r>
              <a:rPr sz="1950" spc="944" dirty="0">
                <a:solidFill>
                  <a:srgbClr val="231F20"/>
                </a:solidFill>
                <a:latin typeface="Arial"/>
                <a:cs typeface="Arial"/>
              </a:rPr>
              <a:t> </a:t>
            </a:r>
            <a:r>
              <a:rPr sz="1950" spc="335" dirty="0">
                <a:solidFill>
                  <a:srgbClr val="231F20"/>
                </a:solidFill>
                <a:latin typeface="Arial"/>
                <a:cs typeface="Arial"/>
              </a:rPr>
              <a:t>Attempted</a:t>
            </a:r>
            <a:r>
              <a:rPr sz="1950" spc="944" dirty="0">
                <a:solidFill>
                  <a:srgbClr val="231F20"/>
                </a:solidFill>
                <a:latin typeface="Arial"/>
                <a:cs typeface="Arial"/>
              </a:rPr>
              <a:t> </a:t>
            </a:r>
            <a:r>
              <a:rPr sz="1950" spc="300" dirty="0">
                <a:solidFill>
                  <a:srgbClr val="231F20"/>
                </a:solidFill>
                <a:latin typeface="Arial"/>
                <a:cs typeface="Arial"/>
              </a:rPr>
              <a:t>Proof:	</a:t>
            </a:r>
            <a:r>
              <a:rPr sz="1950" spc="265" dirty="0">
                <a:solidFill>
                  <a:srgbClr val="231F20"/>
                </a:solidFill>
                <a:latin typeface="Arial"/>
                <a:cs typeface="Arial"/>
              </a:rPr>
              <a:t>Step</a:t>
            </a:r>
            <a:r>
              <a:rPr sz="1950" spc="280" dirty="0">
                <a:solidFill>
                  <a:srgbClr val="231F20"/>
                </a:solidFill>
                <a:latin typeface="Arial"/>
                <a:cs typeface="Arial"/>
              </a:rPr>
              <a:t> 1</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ts val="2275"/>
              </a:lnSpc>
              <a:buSzPct val="105128"/>
              <a:buFont typeface="Lucida Sans Unicode"/>
              <a:buChar char="•"/>
              <a:tabLst>
                <a:tab pos="301625" algn="l"/>
              </a:tabLst>
            </a:pPr>
            <a:r>
              <a:rPr sz="1950" spc="170" dirty="0">
                <a:solidFill>
                  <a:srgbClr val="231F20"/>
                </a:solidFill>
                <a:latin typeface="Arial"/>
                <a:cs typeface="Arial"/>
              </a:rPr>
              <a:t>Starting </a:t>
            </a:r>
            <a:r>
              <a:rPr sz="1950" spc="175" dirty="0">
                <a:solidFill>
                  <a:srgbClr val="231F20"/>
                </a:solidFill>
                <a:latin typeface="Arial"/>
                <a:cs typeface="Arial"/>
              </a:rPr>
              <a:t>the </a:t>
            </a:r>
            <a:r>
              <a:rPr sz="1950" spc="204" dirty="0">
                <a:solidFill>
                  <a:srgbClr val="231F20"/>
                </a:solidFill>
                <a:latin typeface="Arial"/>
                <a:cs typeface="Arial"/>
              </a:rPr>
              <a:t>PVS </a:t>
            </a:r>
            <a:r>
              <a:rPr sz="1950" spc="155" dirty="0">
                <a:solidFill>
                  <a:srgbClr val="231F20"/>
                </a:solidFill>
                <a:latin typeface="Arial"/>
                <a:cs typeface="Arial"/>
              </a:rPr>
              <a:t>theorem </a:t>
            </a:r>
            <a:r>
              <a:rPr sz="1950" spc="120" dirty="0">
                <a:solidFill>
                  <a:srgbClr val="231F20"/>
                </a:solidFill>
                <a:latin typeface="Arial"/>
                <a:cs typeface="Arial"/>
              </a:rPr>
              <a:t>prover </a:t>
            </a:r>
            <a:r>
              <a:rPr sz="1950" spc="75" dirty="0">
                <a:solidFill>
                  <a:srgbClr val="231F20"/>
                </a:solidFill>
                <a:latin typeface="Arial"/>
                <a:cs typeface="Arial"/>
              </a:rPr>
              <a:t>gives </a:t>
            </a:r>
            <a:r>
              <a:rPr sz="1950" spc="65" dirty="0">
                <a:solidFill>
                  <a:srgbClr val="231F20"/>
                </a:solidFill>
                <a:latin typeface="Arial"/>
                <a:cs typeface="Arial"/>
              </a:rPr>
              <a:t>us </a:t>
            </a:r>
            <a:r>
              <a:rPr sz="1950" spc="145" dirty="0">
                <a:solidFill>
                  <a:srgbClr val="231F20"/>
                </a:solidFill>
                <a:latin typeface="Arial"/>
                <a:cs typeface="Arial"/>
              </a:rPr>
              <a:t>this </a:t>
            </a:r>
            <a:r>
              <a:rPr sz="1950" spc="600" dirty="0">
                <a:solidFill>
                  <a:srgbClr val="231F20"/>
                </a:solidFill>
                <a:latin typeface="Arial"/>
                <a:cs typeface="Arial"/>
              </a:rPr>
              <a:t> </a:t>
            </a:r>
            <a:r>
              <a:rPr sz="1950" spc="114" dirty="0">
                <a:solidFill>
                  <a:srgbClr val="FF0000"/>
                </a:solidFill>
                <a:latin typeface="Arial"/>
                <a:cs typeface="Arial"/>
              </a:rPr>
              <a:t>sequent</a:t>
            </a:r>
            <a:endParaRPr sz="1950">
              <a:latin typeface="Arial"/>
              <a:cs typeface="Arial"/>
            </a:endParaRPr>
          </a:p>
          <a:p>
            <a:pPr marL="300990">
              <a:lnSpc>
                <a:spcPts val="2395"/>
              </a:lnSpc>
            </a:pPr>
            <a:r>
              <a:rPr sz="2050" spc="55" dirty="0">
                <a:solidFill>
                  <a:srgbClr val="0000FF"/>
                </a:solidFill>
                <a:latin typeface="SimSun"/>
                <a:cs typeface="SimSun"/>
              </a:rPr>
              <a:t>first_try</a:t>
            </a:r>
            <a:r>
              <a:rPr sz="2050" spc="-3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576580">
              <a:lnSpc>
                <a:spcPct val="100000"/>
              </a:lnSpc>
              <a:spcBef>
                <a:spcPts val="465"/>
              </a:spcBef>
            </a:pPr>
            <a:r>
              <a:rPr sz="2050" spc="55" dirty="0">
                <a:solidFill>
                  <a:srgbClr val="0000FF"/>
                </a:solidFill>
                <a:latin typeface="SimSun"/>
                <a:cs typeface="SimSun"/>
              </a:rPr>
              <a:t>|-------</a:t>
            </a:r>
            <a:endParaRPr sz="2050">
              <a:latin typeface="SimSun"/>
              <a:cs typeface="SimSun"/>
            </a:endParaRPr>
          </a:p>
          <a:p>
            <a:pPr marL="300990" marR="5265420">
              <a:lnSpc>
                <a:spcPct val="118900"/>
              </a:lnSpc>
              <a:tabLst>
                <a:tab pos="1114425" algn="l"/>
              </a:tabLst>
            </a:pPr>
            <a:r>
              <a:rPr sz="2050" spc="365" dirty="0">
                <a:solidFill>
                  <a:srgbClr val="0000FF"/>
                </a:solidFill>
                <a:latin typeface="Lucida Sans Unicode"/>
                <a:cs typeface="Lucida Sans Unicode"/>
              </a:rPr>
              <a:t>{</a:t>
            </a:r>
            <a:r>
              <a:rPr sz="2050" spc="50" dirty="0">
                <a:solidFill>
                  <a:srgbClr val="0000FF"/>
                </a:solidFill>
                <a:latin typeface="SimSun"/>
                <a:cs typeface="SimSun"/>
              </a:rPr>
              <a:t>1</a:t>
            </a:r>
            <a:r>
              <a:rPr sz="2050" spc="365" dirty="0">
                <a:solidFill>
                  <a:srgbClr val="0000FF"/>
                </a:solidFill>
                <a:latin typeface="Lucida Sans Unicode"/>
                <a:cs typeface="Lucida Sans Unicode"/>
              </a:rPr>
              <a:t>}</a:t>
            </a:r>
            <a:r>
              <a:rPr sz="2050" dirty="0">
                <a:solidFill>
                  <a:srgbClr val="0000FF"/>
                </a:solidFill>
                <a:latin typeface="Lucida Sans Unicode"/>
                <a:cs typeface="Lucida Sans Unicode"/>
              </a:rPr>
              <a:t>	</a:t>
            </a:r>
            <a:r>
              <a:rPr sz="2050" spc="50" dirty="0">
                <a:solidFill>
                  <a:srgbClr val="0000FF"/>
                </a:solidFill>
                <a:latin typeface="SimSun"/>
                <a:cs typeface="SimSun"/>
              </a:rPr>
              <a:t>indinv(safe</a:t>
            </a:r>
            <a:r>
              <a:rPr sz="2050" spc="55" dirty="0">
                <a:solidFill>
                  <a:srgbClr val="0000FF"/>
                </a:solidFill>
                <a:latin typeface="SimSun"/>
                <a:cs typeface="SimSun"/>
              </a:rPr>
              <a:t>)  Rule?</a:t>
            </a:r>
            <a:endParaRPr sz="2050">
              <a:latin typeface="SimSun"/>
              <a:cs typeface="SimSun"/>
            </a:endParaRPr>
          </a:p>
          <a:p>
            <a:pPr marL="300990" marR="5080" indent="-288290">
              <a:lnSpc>
                <a:spcPct val="118900"/>
              </a:lnSpc>
              <a:spcBef>
                <a:spcPts val="414"/>
              </a:spcBef>
              <a:buSzPct val="105128"/>
              <a:buFont typeface="Lucida Sans Unicode"/>
              <a:buChar char="•"/>
              <a:tabLst>
                <a:tab pos="301625" algn="l"/>
              </a:tabLst>
            </a:pPr>
            <a:r>
              <a:rPr sz="1950" spc="250" dirty="0">
                <a:solidFill>
                  <a:srgbClr val="231F20"/>
                </a:solidFill>
                <a:latin typeface="Arial"/>
                <a:cs typeface="Arial"/>
              </a:rPr>
              <a:t>The </a:t>
            </a:r>
            <a:r>
              <a:rPr sz="1950" spc="170" dirty="0">
                <a:solidFill>
                  <a:srgbClr val="231F20"/>
                </a:solidFill>
                <a:latin typeface="Arial"/>
                <a:cs typeface="Arial"/>
              </a:rPr>
              <a:t>proof </a:t>
            </a:r>
            <a:r>
              <a:rPr sz="1950" spc="155" dirty="0">
                <a:solidFill>
                  <a:srgbClr val="231F20"/>
                </a:solidFill>
                <a:latin typeface="Arial"/>
                <a:cs typeface="Arial"/>
              </a:rPr>
              <a:t>commands </a:t>
            </a:r>
            <a:r>
              <a:rPr sz="2050" spc="55" dirty="0">
                <a:solidFill>
                  <a:srgbClr val="0000FF"/>
                </a:solidFill>
                <a:latin typeface="SimSun"/>
                <a:cs typeface="SimSun"/>
              </a:rPr>
              <a:t>(EXPAND "indinv") </a:t>
            </a:r>
            <a:r>
              <a:rPr sz="1950" spc="130" dirty="0">
                <a:solidFill>
                  <a:srgbClr val="231F20"/>
                </a:solidFill>
                <a:latin typeface="Arial"/>
                <a:cs typeface="Arial"/>
              </a:rPr>
              <a:t>and </a:t>
            </a:r>
            <a:r>
              <a:rPr sz="2050" spc="55" dirty="0">
                <a:solidFill>
                  <a:srgbClr val="0000FF"/>
                </a:solidFill>
                <a:latin typeface="SimSun"/>
                <a:cs typeface="SimSun"/>
              </a:rPr>
              <a:t>(GROUND) </a:t>
            </a:r>
            <a:r>
              <a:rPr sz="1950" spc="135" dirty="0">
                <a:solidFill>
                  <a:srgbClr val="231F20"/>
                </a:solidFill>
                <a:latin typeface="Arial"/>
                <a:cs typeface="Arial"/>
              </a:rPr>
              <a:t>open  </a:t>
            </a:r>
            <a:r>
              <a:rPr sz="1950" spc="155" dirty="0">
                <a:solidFill>
                  <a:srgbClr val="231F20"/>
                </a:solidFill>
                <a:latin typeface="Arial"/>
                <a:cs typeface="Arial"/>
              </a:rPr>
              <a:t>up </a:t>
            </a:r>
            <a:r>
              <a:rPr sz="1950" spc="175" dirty="0">
                <a:solidFill>
                  <a:srgbClr val="231F20"/>
                </a:solidFill>
                <a:latin typeface="Arial"/>
                <a:cs typeface="Arial"/>
              </a:rPr>
              <a:t>the </a:t>
            </a:r>
            <a:r>
              <a:rPr sz="1950" spc="150" dirty="0">
                <a:solidFill>
                  <a:srgbClr val="231F20"/>
                </a:solidFill>
                <a:latin typeface="Arial"/>
                <a:cs typeface="Arial"/>
              </a:rPr>
              <a:t>definition </a:t>
            </a:r>
            <a:r>
              <a:rPr sz="1950" spc="185" dirty="0">
                <a:solidFill>
                  <a:srgbClr val="231F20"/>
                </a:solidFill>
                <a:latin typeface="Arial"/>
                <a:cs typeface="Arial"/>
              </a:rPr>
              <a:t>of </a:t>
            </a:r>
            <a:r>
              <a:rPr sz="2050" spc="55" dirty="0">
                <a:solidFill>
                  <a:srgbClr val="0000FF"/>
                </a:solidFill>
                <a:latin typeface="SimSun"/>
                <a:cs typeface="SimSun"/>
              </a:rPr>
              <a:t>invariant </a:t>
            </a:r>
            <a:r>
              <a:rPr sz="1950" spc="130" dirty="0">
                <a:solidFill>
                  <a:srgbClr val="231F20"/>
                </a:solidFill>
                <a:latin typeface="Arial"/>
                <a:cs typeface="Arial"/>
              </a:rPr>
              <a:t>and </a:t>
            </a:r>
            <a:r>
              <a:rPr sz="1950" spc="140" dirty="0">
                <a:solidFill>
                  <a:srgbClr val="231F20"/>
                </a:solidFill>
                <a:latin typeface="Arial"/>
                <a:cs typeface="Arial"/>
              </a:rPr>
              <a:t>split </a:t>
            </a:r>
            <a:r>
              <a:rPr sz="1950" spc="229" dirty="0">
                <a:solidFill>
                  <a:srgbClr val="231F20"/>
                </a:solidFill>
                <a:latin typeface="Arial"/>
                <a:cs typeface="Arial"/>
              </a:rPr>
              <a:t>it </a:t>
            </a:r>
            <a:r>
              <a:rPr sz="1950" spc="190" dirty="0">
                <a:solidFill>
                  <a:srgbClr val="231F20"/>
                </a:solidFill>
                <a:latin typeface="Arial"/>
                <a:cs typeface="Arial"/>
              </a:rPr>
              <a:t>into</a:t>
            </a:r>
            <a:r>
              <a:rPr sz="1950" spc="850" dirty="0">
                <a:solidFill>
                  <a:srgbClr val="231F20"/>
                </a:solidFill>
                <a:latin typeface="Arial"/>
                <a:cs typeface="Arial"/>
              </a:rPr>
              <a:t> </a:t>
            </a:r>
            <a:r>
              <a:rPr sz="1950" spc="30" dirty="0">
                <a:solidFill>
                  <a:srgbClr val="231F20"/>
                </a:solidFill>
                <a:latin typeface="Arial"/>
                <a:cs typeface="Arial"/>
              </a:rPr>
              <a:t>cases</a:t>
            </a:r>
            <a:endParaRPr sz="1950">
              <a:latin typeface="Arial"/>
              <a:cs typeface="Arial"/>
            </a:endParaRPr>
          </a:p>
          <a:p>
            <a:pPr>
              <a:lnSpc>
                <a:spcPct val="100000"/>
              </a:lnSpc>
              <a:spcBef>
                <a:spcPts val="12"/>
              </a:spcBef>
              <a:buClr>
                <a:srgbClr val="231F20"/>
              </a:buClr>
              <a:buFont typeface="Lucida Sans Unicode"/>
              <a:buChar char="•"/>
            </a:pPr>
            <a:endParaRPr sz="1650">
              <a:latin typeface="Times New Roman"/>
              <a:cs typeface="Times New Roman"/>
            </a:endParaRPr>
          </a:p>
          <a:p>
            <a:pPr marL="300990" indent="-288290">
              <a:lnSpc>
                <a:spcPts val="2275"/>
              </a:lnSpc>
              <a:buSzPct val="105128"/>
              <a:buFont typeface="Lucida Sans Unicode"/>
              <a:buChar char="•"/>
              <a:tabLst>
                <a:tab pos="301625" algn="l"/>
              </a:tabLst>
            </a:pPr>
            <a:r>
              <a:rPr sz="1950" spc="195" dirty="0">
                <a:solidFill>
                  <a:srgbClr val="231F20"/>
                </a:solidFill>
                <a:latin typeface="Arial"/>
                <a:cs typeface="Arial"/>
              </a:rPr>
              <a:t>We </a:t>
            </a:r>
            <a:r>
              <a:rPr sz="1950" spc="65" dirty="0">
                <a:solidFill>
                  <a:srgbClr val="231F20"/>
                </a:solidFill>
                <a:latin typeface="Arial"/>
                <a:cs typeface="Arial"/>
              </a:rPr>
              <a:t>are </a:t>
            </a:r>
            <a:r>
              <a:rPr sz="1950" spc="165" dirty="0">
                <a:solidFill>
                  <a:srgbClr val="231F20"/>
                </a:solidFill>
                <a:latin typeface="Arial"/>
                <a:cs typeface="Arial"/>
              </a:rPr>
              <a:t>then </a:t>
            </a:r>
            <a:r>
              <a:rPr sz="1950" spc="100" dirty="0">
                <a:solidFill>
                  <a:srgbClr val="231F20"/>
                </a:solidFill>
                <a:latin typeface="Arial"/>
                <a:cs typeface="Arial"/>
              </a:rPr>
              <a:t>presented </a:t>
            </a:r>
            <a:r>
              <a:rPr sz="1950" spc="215" dirty="0">
                <a:solidFill>
                  <a:srgbClr val="231F20"/>
                </a:solidFill>
                <a:latin typeface="Arial"/>
                <a:cs typeface="Arial"/>
              </a:rPr>
              <a:t>with </a:t>
            </a:r>
            <a:r>
              <a:rPr sz="1950" spc="175" dirty="0">
                <a:solidFill>
                  <a:srgbClr val="231F20"/>
                </a:solidFill>
                <a:latin typeface="Arial"/>
                <a:cs typeface="Arial"/>
              </a:rPr>
              <a:t>the </a:t>
            </a:r>
            <a:r>
              <a:rPr sz="1950" spc="165" dirty="0">
                <a:solidFill>
                  <a:srgbClr val="231F20"/>
                </a:solidFill>
                <a:latin typeface="Arial"/>
                <a:cs typeface="Arial"/>
              </a:rPr>
              <a:t>first </a:t>
            </a:r>
            <a:r>
              <a:rPr sz="1950" spc="185" dirty="0">
                <a:solidFill>
                  <a:srgbClr val="231F20"/>
                </a:solidFill>
                <a:latin typeface="Arial"/>
                <a:cs typeface="Arial"/>
              </a:rPr>
              <a:t>of </a:t>
            </a:r>
            <a:r>
              <a:rPr sz="1950" spc="175" dirty="0">
                <a:solidFill>
                  <a:srgbClr val="231F20"/>
                </a:solidFill>
                <a:latin typeface="Arial"/>
                <a:cs typeface="Arial"/>
              </a:rPr>
              <a:t>the </a:t>
            </a:r>
            <a:r>
              <a:rPr sz="1950" spc="200" dirty="0">
                <a:solidFill>
                  <a:srgbClr val="231F20"/>
                </a:solidFill>
                <a:latin typeface="Arial"/>
                <a:cs typeface="Arial"/>
              </a:rPr>
              <a:t>two </a:t>
            </a:r>
            <a:r>
              <a:rPr sz="1950" spc="660" dirty="0">
                <a:solidFill>
                  <a:srgbClr val="231F20"/>
                </a:solidFill>
                <a:latin typeface="Arial"/>
                <a:cs typeface="Arial"/>
              </a:rPr>
              <a:t> </a:t>
            </a:r>
            <a:r>
              <a:rPr sz="1950" spc="30" dirty="0">
                <a:solidFill>
                  <a:srgbClr val="231F20"/>
                </a:solidFill>
                <a:latin typeface="Arial"/>
                <a:cs typeface="Arial"/>
              </a:rPr>
              <a:t>cases</a:t>
            </a:r>
            <a:endParaRPr sz="1950">
              <a:latin typeface="Arial"/>
              <a:cs typeface="Arial"/>
            </a:endParaRPr>
          </a:p>
          <a:p>
            <a:pPr marL="300990">
              <a:lnSpc>
                <a:spcPts val="2395"/>
              </a:lnSpc>
              <a:tabLst>
                <a:tab pos="2091689" algn="l"/>
              </a:tabLst>
            </a:pPr>
            <a:r>
              <a:rPr sz="2050" spc="55" dirty="0">
                <a:solidFill>
                  <a:srgbClr val="0000FF"/>
                </a:solidFill>
                <a:latin typeface="SimSun"/>
                <a:cs typeface="SimSun"/>
              </a:rPr>
              <a:t>This </a:t>
            </a:r>
            <a:r>
              <a:rPr sz="2050" spc="325" dirty="0">
                <a:solidFill>
                  <a:srgbClr val="0000FF"/>
                </a:solidFill>
                <a:latin typeface="SimSun"/>
                <a:cs typeface="SimSun"/>
              </a:rPr>
              <a:t> </a:t>
            </a:r>
            <a:r>
              <a:rPr sz="2050" spc="55" dirty="0">
                <a:solidFill>
                  <a:srgbClr val="0000FF"/>
                </a:solidFill>
                <a:latin typeface="SimSun"/>
                <a:cs typeface="SimSun"/>
              </a:rPr>
              <a:t>yields	2</a:t>
            </a:r>
            <a:r>
              <a:rPr sz="2050" spc="-35" dirty="0">
                <a:solidFill>
                  <a:srgbClr val="0000FF"/>
                </a:solidFill>
                <a:latin typeface="SimSun"/>
                <a:cs typeface="SimSun"/>
              </a:rPr>
              <a:t> </a:t>
            </a:r>
            <a:r>
              <a:rPr sz="2050" spc="55" dirty="0">
                <a:solidFill>
                  <a:srgbClr val="0000FF"/>
                </a:solidFill>
                <a:latin typeface="SimSun"/>
                <a:cs typeface="SimSun"/>
              </a:rPr>
              <a:t>subgoals:</a:t>
            </a:r>
            <a:endParaRPr sz="2050">
              <a:latin typeface="SimSun"/>
              <a:cs typeface="SimSun"/>
            </a:endParaRPr>
          </a:p>
          <a:p>
            <a:pPr marL="300990">
              <a:lnSpc>
                <a:spcPct val="100000"/>
              </a:lnSpc>
              <a:spcBef>
                <a:spcPts val="465"/>
              </a:spcBef>
            </a:pPr>
            <a:r>
              <a:rPr sz="2050" spc="55" dirty="0">
                <a:solidFill>
                  <a:srgbClr val="0000FF"/>
                </a:solidFill>
                <a:latin typeface="SimSun"/>
                <a:cs typeface="SimSun"/>
              </a:rPr>
              <a:t>first_try.1</a:t>
            </a:r>
            <a:r>
              <a:rPr sz="2050" spc="-3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576580">
              <a:lnSpc>
                <a:spcPct val="100000"/>
              </a:lnSpc>
              <a:spcBef>
                <a:spcPts val="465"/>
              </a:spcBef>
            </a:pPr>
            <a:r>
              <a:rPr sz="2050" spc="55" dirty="0">
                <a:solidFill>
                  <a:srgbClr val="0000FF"/>
                </a:solidFill>
                <a:latin typeface="SimSun"/>
                <a:cs typeface="SimSun"/>
              </a:rPr>
              <a:t>|-------</a:t>
            </a:r>
            <a:endParaRPr sz="2050">
              <a:latin typeface="SimSun"/>
              <a:cs typeface="SimSun"/>
            </a:endParaRPr>
          </a:p>
          <a:p>
            <a:pPr marL="300990">
              <a:lnSpc>
                <a:spcPct val="100000"/>
              </a:lnSpc>
              <a:spcBef>
                <a:spcPts val="465"/>
              </a:spcBef>
              <a:tabLst>
                <a:tab pos="1114425" algn="l"/>
              </a:tabLst>
            </a:pPr>
            <a:r>
              <a:rPr sz="2050" spc="260" dirty="0">
                <a:solidFill>
                  <a:srgbClr val="0000FF"/>
                </a:solidFill>
                <a:latin typeface="Lucida Sans Unicode"/>
                <a:cs typeface="Lucida Sans Unicode"/>
              </a:rPr>
              <a:t>{</a:t>
            </a:r>
            <a:r>
              <a:rPr sz="2050" spc="260" dirty="0">
                <a:solidFill>
                  <a:srgbClr val="0000FF"/>
                </a:solidFill>
                <a:latin typeface="SimSun"/>
                <a:cs typeface="SimSun"/>
              </a:rPr>
              <a:t>1</a:t>
            </a:r>
            <a:r>
              <a:rPr sz="2050" spc="260" dirty="0">
                <a:solidFill>
                  <a:srgbClr val="0000FF"/>
                </a:solidFill>
                <a:latin typeface="Lucida Sans Unicode"/>
                <a:cs typeface="Lucida Sans Unicode"/>
              </a:rPr>
              <a:t>}	</a:t>
            </a:r>
            <a:r>
              <a:rPr sz="2050" spc="55" dirty="0">
                <a:solidFill>
                  <a:srgbClr val="0000FF"/>
                </a:solidFill>
                <a:latin typeface="SimSun"/>
                <a:cs typeface="SimSun"/>
              </a:rPr>
              <a:t>FORALL s: init(s) =&gt;</a:t>
            </a:r>
            <a:r>
              <a:rPr sz="2050" spc="-10" dirty="0">
                <a:solidFill>
                  <a:srgbClr val="0000FF"/>
                </a:solidFill>
                <a:latin typeface="SimSun"/>
                <a:cs typeface="SimSun"/>
              </a:rPr>
              <a:t> </a:t>
            </a:r>
            <a:r>
              <a:rPr sz="2050" spc="55" dirty="0">
                <a:solidFill>
                  <a:srgbClr val="0000FF"/>
                </a:solidFill>
                <a:latin typeface="SimSun"/>
                <a:cs typeface="SimSun"/>
              </a:rPr>
              <a:t>safe(s)</a:t>
            </a:r>
            <a:endParaRPr sz="2050">
              <a:latin typeface="SimSun"/>
              <a:cs typeface="SimSun"/>
            </a:endParaRPr>
          </a:p>
          <a:p>
            <a:pPr marL="300990" marR="371475" indent="-288290">
              <a:lnSpc>
                <a:spcPct val="123000"/>
              </a:lnSpc>
              <a:spcBef>
                <a:spcPts val="310"/>
              </a:spcBef>
              <a:buSzPct val="105128"/>
              <a:buFont typeface="Lucida Sans Unicode"/>
              <a:buChar char="•"/>
              <a:tabLst>
                <a:tab pos="301625" algn="l"/>
              </a:tabLst>
            </a:pPr>
            <a:r>
              <a:rPr sz="1950" spc="204" dirty="0">
                <a:solidFill>
                  <a:srgbClr val="231F20"/>
                </a:solidFill>
                <a:latin typeface="Arial"/>
                <a:cs typeface="Arial"/>
              </a:rPr>
              <a:t>This </a:t>
            </a:r>
            <a:r>
              <a:rPr sz="1950" spc="40" dirty="0">
                <a:solidFill>
                  <a:srgbClr val="231F20"/>
                </a:solidFill>
                <a:latin typeface="Arial"/>
                <a:cs typeface="Arial"/>
              </a:rPr>
              <a:t>is </a:t>
            </a:r>
            <a:r>
              <a:rPr sz="1950" spc="100" dirty="0">
                <a:solidFill>
                  <a:srgbClr val="231F20"/>
                </a:solidFill>
                <a:latin typeface="Arial"/>
                <a:cs typeface="Arial"/>
              </a:rPr>
              <a:t>discharged </a:t>
            </a:r>
            <a:r>
              <a:rPr sz="1950" spc="105" dirty="0">
                <a:solidFill>
                  <a:srgbClr val="231F20"/>
                </a:solidFill>
                <a:latin typeface="Arial"/>
                <a:cs typeface="Arial"/>
              </a:rPr>
              <a:t>by </a:t>
            </a:r>
            <a:r>
              <a:rPr sz="1950" spc="175" dirty="0">
                <a:solidFill>
                  <a:srgbClr val="231F20"/>
                </a:solidFill>
                <a:latin typeface="Arial"/>
                <a:cs typeface="Arial"/>
              </a:rPr>
              <a:t>the </a:t>
            </a:r>
            <a:r>
              <a:rPr sz="1950" spc="170" dirty="0">
                <a:solidFill>
                  <a:srgbClr val="231F20"/>
                </a:solidFill>
                <a:latin typeface="Arial"/>
                <a:cs typeface="Arial"/>
              </a:rPr>
              <a:t>proof </a:t>
            </a:r>
            <a:r>
              <a:rPr sz="1950" spc="180" dirty="0">
                <a:solidFill>
                  <a:srgbClr val="231F20"/>
                </a:solidFill>
                <a:latin typeface="Arial"/>
                <a:cs typeface="Arial"/>
              </a:rPr>
              <a:t>command </a:t>
            </a:r>
            <a:r>
              <a:rPr sz="2050" spc="65" dirty="0">
                <a:solidFill>
                  <a:srgbClr val="0000FF"/>
                </a:solidFill>
                <a:latin typeface="SimSun"/>
                <a:cs typeface="SimSun"/>
              </a:rPr>
              <a:t>(GRIND)</a:t>
            </a:r>
            <a:r>
              <a:rPr sz="1950" spc="65" dirty="0">
                <a:solidFill>
                  <a:srgbClr val="231F20"/>
                </a:solidFill>
                <a:latin typeface="Arial"/>
                <a:cs typeface="Arial"/>
              </a:rPr>
              <a:t>, </a:t>
            </a:r>
            <a:r>
              <a:rPr sz="1950" spc="155" dirty="0">
                <a:solidFill>
                  <a:srgbClr val="231F20"/>
                </a:solidFill>
                <a:latin typeface="Arial"/>
                <a:cs typeface="Arial"/>
              </a:rPr>
              <a:t>which  </a:t>
            </a:r>
            <a:r>
              <a:rPr sz="1950" spc="90" dirty="0">
                <a:solidFill>
                  <a:srgbClr val="231F20"/>
                </a:solidFill>
                <a:latin typeface="Arial"/>
                <a:cs typeface="Arial"/>
              </a:rPr>
              <a:t>expands </a:t>
            </a:r>
            <a:r>
              <a:rPr sz="1950" spc="135" dirty="0">
                <a:solidFill>
                  <a:srgbClr val="231F20"/>
                </a:solidFill>
                <a:latin typeface="Arial"/>
                <a:cs typeface="Arial"/>
              </a:rPr>
              <a:t>definitions </a:t>
            </a:r>
            <a:r>
              <a:rPr sz="1950" spc="130" dirty="0">
                <a:solidFill>
                  <a:srgbClr val="231F20"/>
                </a:solidFill>
                <a:latin typeface="Arial"/>
                <a:cs typeface="Arial"/>
              </a:rPr>
              <a:t>and </a:t>
            </a:r>
            <a:r>
              <a:rPr sz="1950" spc="145" dirty="0">
                <a:solidFill>
                  <a:srgbClr val="231F20"/>
                </a:solidFill>
                <a:latin typeface="Arial"/>
                <a:cs typeface="Arial"/>
              </a:rPr>
              <a:t>performs </a:t>
            </a:r>
            <a:r>
              <a:rPr sz="1950" spc="114" dirty="0">
                <a:solidFill>
                  <a:srgbClr val="231F20"/>
                </a:solidFill>
                <a:latin typeface="Arial"/>
                <a:cs typeface="Arial"/>
              </a:rPr>
              <a:t>obvious </a:t>
            </a:r>
            <a:r>
              <a:rPr sz="1950" spc="260" dirty="0">
                <a:solidFill>
                  <a:srgbClr val="231F20"/>
                </a:solidFill>
                <a:latin typeface="Arial"/>
                <a:cs typeface="Arial"/>
              </a:rPr>
              <a:t> </a:t>
            </a:r>
            <a:r>
              <a:rPr sz="1950" spc="135" dirty="0">
                <a:solidFill>
                  <a:srgbClr val="231F20"/>
                </a:solidFill>
                <a:latin typeface="Arial"/>
                <a:cs typeface="Arial"/>
              </a:rPr>
              <a:t>deductions</a:t>
            </a:r>
            <a:endParaRPr sz="1950">
              <a:latin typeface="Arial"/>
              <a:cs typeface="Aria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26397" y="484098"/>
            <a:ext cx="4407535" cy="297180"/>
          </a:xfrm>
          <a:prstGeom prst="rect">
            <a:avLst/>
          </a:prstGeom>
        </p:spPr>
        <p:txBody>
          <a:bodyPr vert="horz" wrap="square" lIns="0" tIns="0" rIns="0" bIns="0" rtlCol="0">
            <a:spAutoFit/>
          </a:bodyPr>
          <a:lstStyle/>
          <a:p>
            <a:pPr marL="12700">
              <a:lnSpc>
                <a:spcPct val="100000"/>
              </a:lnSpc>
              <a:tabLst>
                <a:tab pos="3458210" algn="l"/>
              </a:tabLst>
            </a:pPr>
            <a:r>
              <a:rPr sz="1950" spc="265" dirty="0">
                <a:solidFill>
                  <a:srgbClr val="231F20"/>
                </a:solidFill>
                <a:latin typeface="Arial"/>
                <a:cs typeface="Arial"/>
              </a:rPr>
              <a:t>First</a:t>
            </a:r>
            <a:r>
              <a:rPr sz="1950" spc="944" dirty="0">
                <a:solidFill>
                  <a:srgbClr val="231F20"/>
                </a:solidFill>
                <a:latin typeface="Arial"/>
                <a:cs typeface="Arial"/>
              </a:rPr>
              <a:t> </a:t>
            </a:r>
            <a:r>
              <a:rPr sz="1950" spc="335" dirty="0">
                <a:solidFill>
                  <a:srgbClr val="231F20"/>
                </a:solidFill>
                <a:latin typeface="Arial"/>
                <a:cs typeface="Arial"/>
              </a:rPr>
              <a:t>Attempted</a:t>
            </a:r>
            <a:r>
              <a:rPr sz="1950" spc="944" dirty="0">
                <a:solidFill>
                  <a:srgbClr val="231F20"/>
                </a:solidFill>
                <a:latin typeface="Arial"/>
                <a:cs typeface="Arial"/>
              </a:rPr>
              <a:t> </a:t>
            </a:r>
            <a:r>
              <a:rPr sz="1950" spc="300" dirty="0">
                <a:solidFill>
                  <a:srgbClr val="231F20"/>
                </a:solidFill>
                <a:latin typeface="Arial"/>
                <a:cs typeface="Arial"/>
              </a:rPr>
              <a:t>Proof:	</a:t>
            </a:r>
            <a:r>
              <a:rPr sz="1950" spc="265" dirty="0">
                <a:solidFill>
                  <a:srgbClr val="231F20"/>
                </a:solidFill>
                <a:latin typeface="Arial"/>
                <a:cs typeface="Arial"/>
              </a:rPr>
              <a:t>Step</a:t>
            </a:r>
            <a:r>
              <a:rPr sz="1950" spc="280" dirty="0">
                <a:solidFill>
                  <a:srgbClr val="231F20"/>
                </a:solidFill>
                <a:latin typeface="Arial"/>
                <a:cs typeface="Arial"/>
              </a:rPr>
              <a:t> 2</a:t>
            </a:r>
            <a:endParaRPr sz="1950">
              <a:latin typeface="Arial"/>
              <a:cs typeface="Arial"/>
            </a:endParaRPr>
          </a:p>
        </p:txBody>
      </p:sp>
      <p:sp>
        <p:nvSpPr>
          <p:cNvPr id="3" name="object 3"/>
          <p:cNvSpPr txBox="1">
            <a:spLocks noGrp="1"/>
          </p:cNvSpPr>
          <p:nvPr>
            <p:ph type="title"/>
          </p:nvPr>
        </p:nvSpPr>
        <p:spPr>
          <a:xfrm>
            <a:off x="896442" y="849549"/>
            <a:ext cx="5824855" cy="1115060"/>
          </a:xfrm>
          <a:prstGeom prst="rect">
            <a:avLst/>
          </a:prstGeom>
        </p:spPr>
        <p:txBody>
          <a:bodyPr vert="horz" wrap="square" lIns="0" tIns="0" rIns="0" bIns="0" rtlCol="0">
            <a:spAutoFit/>
          </a:bodyPr>
          <a:lstStyle/>
          <a:p>
            <a:pPr marL="300990" marR="5080" indent="-288290">
              <a:lnSpc>
                <a:spcPct val="118900"/>
              </a:lnSpc>
              <a:buClr>
                <a:srgbClr val="231F20"/>
              </a:buClr>
              <a:buFont typeface="Lucida Sans Unicode"/>
              <a:buChar char="•"/>
              <a:tabLst>
                <a:tab pos="301625" algn="l"/>
              </a:tabLst>
            </a:pPr>
            <a:r>
              <a:rPr spc="55" dirty="0"/>
              <a:t>This completes the proof of first_try.1.  first_try.2</a:t>
            </a:r>
            <a:r>
              <a:rPr spc="-35" dirty="0"/>
              <a:t> </a:t>
            </a:r>
            <a:r>
              <a:rPr spc="55" dirty="0"/>
              <a:t>:</a:t>
            </a:r>
          </a:p>
          <a:p>
            <a:pPr marL="576580">
              <a:lnSpc>
                <a:spcPct val="100000"/>
              </a:lnSpc>
              <a:spcBef>
                <a:spcPts val="465"/>
              </a:spcBef>
            </a:pPr>
            <a:r>
              <a:rPr spc="55" dirty="0"/>
              <a:t>|-------</a:t>
            </a:r>
          </a:p>
        </p:txBody>
      </p:sp>
      <p:sp>
        <p:nvSpPr>
          <p:cNvPr id="4" name="object 4"/>
          <p:cNvSpPr txBox="1"/>
          <p:nvPr/>
        </p:nvSpPr>
        <p:spPr>
          <a:xfrm>
            <a:off x="896440" y="2023364"/>
            <a:ext cx="7880984" cy="2078989"/>
          </a:xfrm>
          <a:prstGeom prst="rect">
            <a:avLst/>
          </a:prstGeom>
        </p:spPr>
        <p:txBody>
          <a:bodyPr vert="horz" wrap="square" lIns="0" tIns="0" rIns="0" bIns="0" rtlCol="0">
            <a:spAutoFit/>
          </a:bodyPr>
          <a:lstStyle/>
          <a:p>
            <a:pPr marL="300990">
              <a:lnSpc>
                <a:spcPct val="100000"/>
              </a:lnSpc>
              <a:tabLst>
                <a:tab pos="838835" algn="l"/>
              </a:tabLst>
            </a:pPr>
            <a:r>
              <a:rPr sz="2050" spc="260" dirty="0">
                <a:solidFill>
                  <a:srgbClr val="0000FF"/>
                </a:solidFill>
                <a:latin typeface="Lucida Sans Unicode"/>
                <a:cs typeface="Lucida Sans Unicode"/>
              </a:rPr>
              <a:t>{</a:t>
            </a:r>
            <a:r>
              <a:rPr sz="2050" spc="260" dirty="0">
                <a:solidFill>
                  <a:srgbClr val="0000FF"/>
                </a:solidFill>
                <a:latin typeface="SimSun"/>
                <a:cs typeface="SimSun"/>
              </a:rPr>
              <a:t>1</a:t>
            </a:r>
            <a:r>
              <a:rPr sz="2050" spc="260" dirty="0">
                <a:solidFill>
                  <a:srgbClr val="0000FF"/>
                </a:solidFill>
                <a:latin typeface="Lucida Sans Unicode"/>
                <a:cs typeface="Lucida Sans Unicode"/>
              </a:rPr>
              <a:t>}	</a:t>
            </a:r>
            <a:r>
              <a:rPr sz="2050" spc="55" dirty="0">
                <a:solidFill>
                  <a:srgbClr val="0000FF"/>
                </a:solidFill>
                <a:latin typeface="SimSun"/>
                <a:cs typeface="SimSun"/>
              </a:rPr>
              <a:t>FORALL pre,</a:t>
            </a:r>
            <a:r>
              <a:rPr sz="2050" spc="-25" dirty="0">
                <a:solidFill>
                  <a:srgbClr val="0000FF"/>
                </a:solidFill>
                <a:latin typeface="SimSun"/>
                <a:cs typeface="SimSun"/>
              </a:rPr>
              <a:t> </a:t>
            </a:r>
            <a:r>
              <a:rPr sz="2050" spc="55" dirty="0">
                <a:solidFill>
                  <a:srgbClr val="0000FF"/>
                </a:solidFill>
                <a:latin typeface="SimSun"/>
                <a:cs typeface="SimSun"/>
              </a:rPr>
              <a:t>post:</a:t>
            </a:r>
            <a:endParaRPr sz="2050">
              <a:latin typeface="SimSun"/>
              <a:cs typeface="SimSun"/>
            </a:endParaRPr>
          </a:p>
          <a:p>
            <a:pPr marL="852169">
              <a:lnSpc>
                <a:spcPct val="100000"/>
              </a:lnSpc>
              <a:spcBef>
                <a:spcPts val="465"/>
              </a:spcBef>
            </a:pPr>
            <a:r>
              <a:rPr sz="2050" spc="55" dirty="0">
                <a:solidFill>
                  <a:srgbClr val="0000FF"/>
                </a:solidFill>
                <a:latin typeface="SimSun"/>
                <a:cs typeface="SimSun"/>
              </a:rPr>
              <a:t>safe(pre) AND transitions(pre, post) =&gt;</a:t>
            </a:r>
            <a:r>
              <a:rPr sz="2050" dirty="0">
                <a:solidFill>
                  <a:srgbClr val="0000FF"/>
                </a:solidFill>
                <a:latin typeface="SimSun"/>
                <a:cs typeface="SimSun"/>
              </a:rPr>
              <a:t> </a:t>
            </a:r>
            <a:r>
              <a:rPr sz="2050" spc="55" dirty="0">
                <a:solidFill>
                  <a:srgbClr val="0000FF"/>
                </a:solidFill>
                <a:latin typeface="SimSun"/>
                <a:cs typeface="SimSun"/>
              </a:rPr>
              <a:t>safe(post)</a:t>
            </a:r>
            <a:endParaRPr sz="2050">
              <a:latin typeface="SimSun"/>
              <a:cs typeface="SimSun"/>
            </a:endParaRPr>
          </a:p>
          <a:p>
            <a:pPr marL="300990" marR="5080" indent="-288290">
              <a:lnSpc>
                <a:spcPts val="2930"/>
              </a:lnSpc>
              <a:spcBef>
                <a:spcPts val="65"/>
              </a:spcBef>
              <a:buSzPct val="105128"/>
              <a:buFont typeface="Lucida Sans Unicode"/>
              <a:buChar char="•"/>
              <a:tabLst>
                <a:tab pos="301625" algn="l"/>
              </a:tabLst>
            </a:pPr>
            <a:r>
              <a:rPr sz="1950" spc="250" dirty="0">
                <a:solidFill>
                  <a:srgbClr val="231F20"/>
                </a:solidFill>
                <a:latin typeface="Arial"/>
                <a:cs typeface="Arial"/>
              </a:rPr>
              <a:t>The </a:t>
            </a:r>
            <a:r>
              <a:rPr sz="1950" spc="155" dirty="0">
                <a:solidFill>
                  <a:srgbClr val="231F20"/>
                </a:solidFill>
                <a:latin typeface="Arial"/>
                <a:cs typeface="Arial"/>
              </a:rPr>
              <a:t>commands </a:t>
            </a:r>
            <a:r>
              <a:rPr sz="2050" spc="60" dirty="0">
                <a:solidFill>
                  <a:srgbClr val="0000FF"/>
                </a:solidFill>
                <a:latin typeface="SimSun"/>
                <a:cs typeface="SimSun"/>
              </a:rPr>
              <a:t>(SKOSIMP)</a:t>
            </a:r>
            <a:r>
              <a:rPr sz="1950" spc="60" dirty="0">
                <a:solidFill>
                  <a:srgbClr val="231F20"/>
                </a:solidFill>
                <a:latin typeface="Arial"/>
                <a:cs typeface="Arial"/>
              </a:rPr>
              <a:t>, </a:t>
            </a:r>
            <a:r>
              <a:rPr sz="2050" spc="55" dirty="0">
                <a:solidFill>
                  <a:srgbClr val="0000FF"/>
                </a:solidFill>
                <a:latin typeface="SimSun"/>
                <a:cs typeface="SimSun"/>
              </a:rPr>
              <a:t>(EXPAND </a:t>
            </a:r>
            <a:r>
              <a:rPr sz="2050" spc="60" dirty="0">
                <a:solidFill>
                  <a:srgbClr val="0000FF"/>
                </a:solidFill>
                <a:latin typeface="SimSun"/>
                <a:cs typeface="SimSun"/>
              </a:rPr>
              <a:t>"transitions")</a:t>
            </a:r>
            <a:r>
              <a:rPr sz="1950" spc="60" dirty="0">
                <a:solidFill>
                  <a:srgbClr val="231F20"/>
                </a:solidFill>
                <a:latin typeface="Arial"/>
                <a:cs typeface="Arial"/>
              </a:rPr>
              <a:t>, </a:t>
            </a:r>
            <a:r>
              <a:rPr sz="1950" spc="130" dirty="0">
                <a:solidFill>
                  <a:srgbClr val="231F20"/>
                </a:solidFill>
                <a:latin typeface="Arial"/>
                <a:cs typeface="Arial"/>
              </a:rPr>
              <a:t>and  </a:t>
            </a:r>
            <a:r>
              <a:rPr sz="2050" spc="55" dirty="0">
                <a:solidFill>
                  <a:srgbClr val="0000FF"/>
                </a:solidFill>
                <a:latin typeface="SimSun"/>
                <a:cs typeface="SimSun"/>
              </a:rPr>
              <a:t>(GROUND) </a:t>
            </a:r>
            <a:r>
              <a:rPr sz="1950" spc="140" dirty="0">
                <a:solidFill>
                  <a:srgbClr val="231F20"/>
                </a:solidFill>
                <a:latin typeface="Arial"/>
                <a:cs typeface="Arial"/>
              </a:rPr>
              <a:t>eliminate </a:t>
            </a:r>
            <a:r>
              <a:rPr sz="1950" spc="175" dirty="0">
                <a:solidFill>
                  <a:srgbClr val="231F20"/>
                </a:solidFill>
                <a:latin typeface="Arial"/>
                <a:cs typeface="Arial"/>
              </a:rPr>
              <a:t>the </a:t>
            </a:r>
            <a:r>
              <a:rPr sz="1950" spc="165" dirty="0">
                <a:solidFill>
                  <a:srgbClr val="231F20"/>
                </a:solidFill>
                <a:latin typeface="Arial"/>
                <a:cs typeface="Arial"/>
              </a:rPr>
              <a:t>quantification </a:t>
            </a:r>
            <a:r>
              <a:rPr sz="1950" spc="130" dirty="0">
                <a:solidFill>
                  <a:srgbClr val="231F20"/>
                </a:solidFill>
                <a:latin typeface="Arial"/>
                <a:cs typeface="Arial"/>
              </a:rPr>
              <a:t>and </a:t>
            </a:r>
            <a:r>
              <a:rPr sz="1950" spc="140" dirty="0">
                <a:solidFill>
                  <a:srgbClr val="231F20"/>
                </a:solidFill>
                <a:latin typeface="Arial"/>
                <a:cs typeface="Arial"/>
              </a:rPr>
              <a:t>split </a:t>
            </a:r>
            <a:r>
              <a:rPr sz="2050" spc="55" dirty="0">
                <a:solidFill>
                  <a:srgbClr val="0000FF"/>
                </a:solidFill>
                <a:latin typeface="SimSun"/>
                <a:cs typeface="SimSun"/>
              </a:rPr>
              <a:t>transitions  </a:t>
            </a:r>
            <a:r>
              <a:rPr sz="1950" spc="190" dirty="0">
                <a:solidFill>
                  <a:srgbClr val="231F20"/>
                </a:solidFill>
                <a:latin typeface="Arial"/>
                <a:cs typeface="Arial"/>
              </a:rPr>
              <a:t>into </a:t>
            </a:r>
            <a:r>
              <a:rPr sz="1950" spc="95" dirty="0">
                <a:solidFill>
                  <a:srgbClr val="231F20"/>
                </a:solidFill>
                <a:latin typeface="Arial"/>
                <a:cs typeface="Arial"/>
              </a:rPr>
              <a:t>separate </a:t>
            </a:r>
            <a:r>
              <a:rPr sz="1950" spc="30" dirty="0">
                <a:solidFill>
                  <a:srgbClr val="231F20"/>
                </a:solidFill>
                <a:latin typeface="Arial"/>
                <a:cs typeface="Arial"/>
              </a:rPr>
              <a:t>cases </a:t>
            </a:r>
            <a:r>
              <a:rPr sz="1950" spc="155" dirty="0">
                <a:solidFill>
                  <a:srgbClr val="231F20"/>
                </a:solidFill>
                <a:latin typeface="Arial"/>
                <a:cs typeface="Arial"/>
              </a:rPr>
              <a:t>for </a:t>
            </a:r>
            <a:r>
              <a:rPr sz="1950" spc="60" dirty="0">
                <a:solidFill>
                  <a:srgbClr val="231F20"/>
                </a:solidFill>
                <a:latin typeface="Arial"/>
                <a:cs typeface="Arial"/>
              </a:rPr>
              <a:t>processes </a:t>
            </a:r>
            <a:r>
              <a:rPr sz="1950" spc="155" dirty="0">
                <a:solidFill>
                  <a:srgbClr val="231F20"/>
                </a:solidFill>
                <a:latin typeface="Arial"/>
                <a:cs typeface="Arial"/>
              </a:rPr>
              <a:t>1 </a:t>
            </a:r>
            <a:r>
              <a:rPr sz="1950" spc="130" dirty="0">
                <a:solidFill>
                  <a:srgbClr val="231F20"/>
                </a:solidFill>
                <a:latin typeface="Arial"/>
                <a:cs typeface="Arial"/>
              </a:rPr>
              <a:t>and </a:t>
            </a:r>
            <a:r>
              <a:rPr sz="1950" spc="615" dirty="0">
                <a:solidFill>
                  <a:srgbClr val="231F20"/>
                </a:solidFill>
                <a:latin typeface="Arial"/>
                <a:cs typeface="Arial"/>
              </a:rPr>
              <a:t> </a:t>
            </a:r>
            <a:r>
              <a:rPr sz="1950" spc="155" dirty="0">
                <a:solidFill>
                  <a:srgbClr val="231F20"/>
                </a:solidFill>
                <a:latin typeface="Arial"/>
                <a:cs typeface="Arial"/>
              </a:rPr>
              <a:t>2</a:t>
            </a:r>
            <a:endParaRPr sz="1950">
              <a:latin typeface="Arial"/>
              <a:cs typeface="Arial"/>
            </a:endParaRPr>
          </a:p>
          <a:p>
            <a:pPr marL="300990">
              <a:lnSpc>
                <a:spcPts val="2130"/>
              </a:lnSpc>
            </a:pPr>
            <a:r>
              <a:rPr sz="2050" spc="55" dirty="0">
                <a:solidFill>
                  <a:srgbClr val="0000FF"/>
                </a:solidFill>
                <a:latin typeface="SimSun"/>
                <a:cs typeface="SimSun"/>
              </a:rPr>
              <a:t>first_try.2.1</a:t>
            </a:r>
            <a:r>
              <a:rPr sz="2050" spc="-3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p:txBody>
      </p:sp>
      <p:sp>
        <p:nvSpPr>
          <p:cNvPr id="5" name="object 5"/>
          <p:cNvSpPr txBox="1"/>
          <p:nvPr/>
        </p:nvSpPr>
        <p:spPr>
          <a:xfrm>
            <a:off x="1185162" y="4160888"/>
            <a:ext cx="576580" cy="709930"/>
          </a:xfrm>
          <a:prstGeom prst="rect">
            <a:avLst/>
          </a:prstGeom>
        </p:spPr>
        <p:txBody>
          <a:bodyPr vert="horz" wrap="square" lIns="0" tIns="0" rIns="0" bIns="0" rtlCol="0">
            <a:spAutoFit/>
          </a:bodyPr>
          <a:lstStyle/>
          <a:p>
            <a:pPr marL="12700">
              <a:lnSpc>
                <a:spcPct val="100000"/>
              </a:lnSpc>
            </a:pPr>
            <a:r>
              <a:rPr sz="2050" spc="210" dirty="0">
                <a:solidFill>
                  <a:srgbClr val="0000FF"/>
                </a:solidFill>
                <a:latin typeface="Lucida Sans Unicode"/>
                <a:cs typeface="Lucida Sans Unicode"/>
              </a:rPr>
              <a:t>{</a:t>
            </a:r>
            <a:r>
              <a:rPr sz="2050" spc="210" dirty="0">
                <a:solidFill>
                  <a:srgbClr val="0000FF"/>
                </a:solidFill>
                <a:latin typeface="SimSun"/>
                <a:cs typeface="SimSun"/>
              </a:rPr>
              <a:t>-1</a:t>
            </a:r>
            <a:r>
              <a:rPr sz="2050" spc="210"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pPr>
            <a:r>
              <a:rPr sz="2050" spc="50" dirty="0">
                <a:solidFill>
                  <a:srgbClr val="0000FF"/>
                </a:solidFill>
                <a:latin typeface="SimSun"/>
                <a:cs typeface="SimSun"/>
              </a:rPr>
              <a:t>[-2</a:t>
            </a:r>
            <a:r>
              <a:rPr sz="2050" spc="55" dirty="0">
                <a:solidFill>
                  <a:srgbClr val="0000FF"/>
                </a:solidFill>
                <a:latin typeface="SimSun"/>
                <a:cs typeface="SimSun"/>
              </a:rPr>
              <a:t>]</a:t>
            </a:r>
            <a:endParaRPr sz="2050">
              <a:latin typeface="SimSun"/>
              <a:cs typeface="SimSun"/>
            </a:endParaRPr>
          </a:p>
        </p:txBody>
      </p:sp>
      <p:sp>
        <p:nvSpPr>
          <p:cNvPr id="6" name="object 6"/>
          <p:cNvSpPr txBox="1"/>
          <p:nvPr/>
        </p:nvSpPr>
        <p:spPr>
          <a:xfrm>
            <a:off x="1998637" y="4101840"/>
            <a:ext cx="3883025" cy="768985"/>
          </a:xfrm>
          <a:prstGeom prst="rect">
            <a:avLst/>
          </a:prstGeom>
        </p:spPr>
        <p:txBody>
          <a:bodyPr vert="horz" wrap="square" lIns="0" tIns="0" rIns="0" bIns="0" rtlCol="0">
            <a:spAutoFit/>
          </a:bodyPr>
          <a:lstStyle/>
          <a:p>
            <a:pPr marL="25400" marR="5080" indent="-13335">
              <a:lnSpc>
                <a:spcPct val="118900"/>
              </a:lnSpc>
            </a:pPr>
            <a:r>
              <a:rPr sz="2050" spc="55" dirty="0">
                <a:solidFill>
                  <a:srgbClr val="0000FF"/>
                </a:solidFill>
                <a:latin typeface="SimSun"/>
                <a:cs typeface="SimSun"/>
              </a:rPr>
              <a:t>P1_transition(pre!1, post!1)  safe(pre!1)</a:t>
            </a:r>
            <a:endParaRPr sz="2050">
              <a:latin typeface="SimSun"/>
              <a:cs typeface="SimSun"/>
            </a:endParaRPr>
          </a:p>
        </p:txBody>
      </p:sp>
      <p:sp>
        <p:nvSpPr>
          <p:cNvPr id="7" name="object 7"/>
          <p:cNvSpPr txBox="1"/>
          <p:nvPr/>
        </p:nvSpPr>
        <p:spPr>
          <a:xfrm>
            <a:off x="896440" y="4904066"/>
            <a:ext cx="8213725" cy="1389380"/>
          </a:xfrm>
          <a:prstGeom prst="rect">
            <a:avLst/>
          </a:prstGeom>
        </p:spPr>
        <p:txBody>
          <a:bodyPr vert="horz" wrap="square" lIns="0" tIns="0" rIns="0" bIns="0" rtlCol="0">
            <a:spAutoFit/>
          </a:bodyPr>
          <a:lstStyle/>
          <a:p>
            <a:pPr marL="576580">
              <a:lnSpc>
                <a:spcPct val="100000"/>
              </a:lnSpc>
            </a:pPr>
            <a:r>
              <a:rPr sz="2050" spc="55" dirty="0">
                <a:solidFill>
                  <a:srgbClr val="0000FF"/>
                </a:solidFill>
                <a:latin typeface="SimSun"/>
                <a:cs typeface="SimSun"/>
              </a:rPr>
              <a:t>|-------</a:t>
            </a:r>
            <a:endParaRPr sz="2050">
              <a:latin typeface="SimSun"/>
              <a:cs typeface="SimSun"/>
            </a:endParaRPr>
          </a:p>
          <a:p>
            <a:pPr marL="300990">
              <a:lnSpc>
                <a:spcPct val="100000"/>
              </a:lnSpc>
              <a:spcBef>
                <a:spcPts val="465"/>
              </a:spcBef>
              <a:tabLst>
                <a:tab pos="1127760" algn="l"/>
              </a:tabLst>
            </a:pPr>
            <a:r>
              <a:rPr sz="2050" spc="55" dirty="0">
                <a:solidFill>
                  <a:srgbClr val="0000FF"/>
                </a:solidFill>
                <a:latin typeface="SimSun"/>
                <a:cs typeface="SimSun"/>
              </a:rPr>
              <a:t>[1]	safe(post!1)</a:t>
            </a:r>
            <a:endParaRPr sz="2050">
              <a:latin typeface="SimSun"/>
              <a:cs typeface="SimSun"/>
            </a:endParaRPr>
          </a:p>
          <a:p>
            <a:pPr marL="300990" indent="-288290">
              <a:lnSpc>
                <a:spcPct val="100000"/>
              </a:lnSpc>
              <a:spcBef>
                <a:spcPts val="50"/>
              </a:spcBef>
              <a:buClr>
                <a:srgbClr val="231F20"/>
              </a:buClr>
              <a:buFont typeface="Lucida Sans Unicode"/>
              <a:buChar char="•"/>
              <a:tabLst>
                <a:tab pos="301625" algn="l"/>
              </a:tabLst>
            </a:pPr>
            <a:r>
              <a:rPr sz="2050" spc="55" dirty="0">
                <a:solidFill>
                  <a:srgbClr val="0000FF"/>
                </a:solidFill>
                <a:latin typeface="SimSun"/>
                <a:cs typeface="SimSun"/>
              </a:rPr>
              <a:t>(EXPAND </a:t>
            </a:r>
            <a:r>
              <a:rPr sz="2050" spc="95" dirty="0">
                <a:solidFill>
                  <a:srgbClr val="0000FF"/>
                </a:solidFill>
                <a:latin typeface="SimSun"/>
                <a:cs typeface="SimSun"/>
              </a:rPr>
              <a:t>"P1 </a:t>
            </a:r>
            <a:r>
              <a:rPr sz="2050" spc="55" dirty="0">
                <a:solidFill>
                  <a:srgbClr val="0000FF"/>
                </a:solidFill>
                <a:latin typeface="SimSun"/>
                <a:cs typeface="SimSun"/>
              </a:rPr>
              <a:t>transition") </a:t>
            </a:r>
            <a:r>
              <a:rPr sz="1950" spc="130" dirty="0">
                <a:solidFill>
                  <a:srgbClr val="231F20"/>
                </a:solidFill>
                <a:latin typeface="Arial"/>
                <a:cs typeface="Arial"/>
              </a:rPr>
              <a:t>and </a:t>
            </a:r>
            <a:r>
              <a:rPr sz="2050" spc="55" dirty="0">
                <a:solidFill>
                  <a:srgbClr val="0000FF"/>
                </a:solidFill>
                <a:latin typeface="SimSun"/>
                <a:cs typeface="SimSun"/>
              </a:rPr>
              <a:t>(BDDSIMP)</a:t>
            </a:r>
            <a:r>
              <a:rPr sz="2050" spc="-450" dirty="0">
                <a:solidFill>
                  <a:srgbClr val="0000FF"/>
                </a:solidFill>
                <a:latin typeface="SimSun"/>
                <a:cs typeface="SimSun"/>
              </a:rPr>
              <a:t> </a:t>
            </a:r>
            <a:r>
              <a:rPr sz="1950" spc="140" dirty="0">
                <a:solidFill>
                  <a:srgbClr val="231F20"/>
                </a:solidFill>
                <a:latin typeface="Arial"/>
                <a:cs typeface="Arial"/>
              </a:rPr>
              <a:t>split </a:t>
            </a:r>
            <a:r>
              <a:rPr sz="1950" spc="175" dirty="0">
                <a:solidFill>
                  <a:srgbClr val="231F20"/>
                </a:solidFill>
                <a:latin typeface="Arial"/>
                <a:cs typeface="Arial"/>
              </a:rPr>
              <a:t>the </a:t>
            </a:r>
            <a:r>
              <a:rPr sz="1950" spc="170" dirty="0">
                <a:solidFill>
                  <a:srgbClr val="231F20"/>
                </a:solidFill>
                <a:latin typeface="Arial"/>
                <a:cs typeface="Arial"/>
              </a:rPr>
              <a:t>proof </a:t>
            </a:r>
            <a:r>
              <a:rPr sz="1950" spc="190" dirty="0">
                <a:solidFill>
                  <a:srgbClr val="231F20"/>
                </a:solidFill>
                <a:latin typeface="Arial"/>
                <a:cs typeface="Arial"/>
              </a:rPr>
              <a:t>into</a:t>
            </a:r>
            <a:endParaRPr sz="1950">
              <a:latin typeface="Arial"/>
              <a:cs typeface="Arial"/>
            </a:endParaRPr>
          </a:p>
          <a:p>
            <a:pPr marL="300990">
              <a:lnSpc>
                <a:spcPct val="100000"/>
              </a:lnSpc>
              <a:spcBef>
                <a:spcPts val="565"/>
              </a:spcBef>
            </a:pPr>
            <a:r>
              <a:rPr sz="1950" spc="175" dirty="0">
                <a:solidFill>
                  <a:srgbClr val="231F20"/>
                </a:solidFill>
                <a:latin typeface="Arial"/>
                <a:cs typeface="Arial"/>
              </a:rPr>
              <a:t>four </a:t>
            </a:r>
            <a:r>
              <a:rPr sz="1950" spc="30" dirty="0">
                <a:solidFill>
                  <a:srgbClr val="231F20"/>
                </a:solidFill>
                <a:latin typeface="Arial"/>
                <a:cs typeface="Arial"/>
              </a:rPr>
              <a:t>cases </a:t>
            </a:r>
            <a:r>
              <a:rPr sz="1950" spc="125" dirty="0">
                <a:solidFill>
                  <a:srgbClr val="231F20"/>
                </a:solidFill>
                <a:latin typeface="Arial"/>
                <a:cs typeface="Arial"/>
              </a:rPr>
              <a:t>according </a:t>
            </a:r>
            <a:r>
              <a:rPr sz="1950" spc="250" dirty="0">
                <a:solidFill>
                  <a:srgbClr val="231F20"/>
                </a:solidFill>
                <a:latin typeface="Arial"/>
                <a:cs typeface="Arial"/>
              </a:rPr>
              <a:t>to </a:t>
            </a:r>
            <a:r>
              <a:rPr sz="1950" spc="175" dirty="0">
                <a:solidFill>
                  <a:srgbClr val="231F20"/>
                </a:solidFill>
                <a:latin typeface="Arial"/>
                <a:cs typeface="Arial"/>
              </a:rPr>
              <a:t>the </a:t>
            </a:r>
            <a:r>
              <a:rPr sz="1950" spc="150" dirty="0">
                <a:solidFill>
                  <a:srgbClr val="231F20"/>
                </a:solidFill>
                <a:latin typeface="Arial"/>
                <a:cs typeface="Arial"/>
              </a:rPr>
              <a:t>kind </a:t>
            </a:r>
            <a:r>
              <a:rPr sz="1950" spc="185" dirty="0">
                <a:solidFill>
                  <a:srgbClr val="231F20"/>
                </a:solidFill>
                <a:latin typeface="Arial"/>
                <a:cs typeface="Arial"/>
              </a:rPr>
              <a:t>of </a:t>
            </a:r>
            <a:r>
              <a:rPr sz="1950" spc="120" dirty="0">
                <a:solidFill>
                  <a:srgbClr val="231F20"/>
                </a:solidFill>
                <a:latin typeface="Arial"/>
                <a:cs typeface="Arial"/>
              </a:rPr>
              <a:t>step </a:t>
            </a:r>
            <a:r>
              <a:rPr sz="1950" spc="140" dirty="0">
                <a:solidFill>
                  <a:srgbClr val="231F20"/>
                </a:solidFill>
                <a:latin typeface="Arial"/>
                <a:cs typeface="Arial"/>
              </a:rPr>
              <a:t>made </a:t>
            </a:r>
            <a:r>
              <a:rPr sz="1950" spc="105" dirty="0">
                <a:solidFill>
                  <a:srgbClr val="231F20"/>
                </a:solidFill>
                <a:latin typeface="Arial"/>
                <a:cs typeface="Arial"/>
              </a:rPr>
              <a:t>by </a:t>
            </a:r>
            <a:r>
              <a:rPr sz="1950" spc="175" dirty="0">
                <a:solidFill>
                  <a:srgbClr val="231F20"/>
                </a:solidFill>
                <a:latin typeface="Arial"/>
                <a:cs typeface="Arial"/>
              </a:rPr>
              <a:t>the  </a:t>
            </a:r>
            <a:r>
              <a:rPr sz="1950" spc="240" dirty="0">
                <a:solidFill>
                  <a:srgbClr val="231F20"/>
                </a:solidFill>
                <a:latin typeface="Arial"/>
                <a:cs typeface="Arial"/>
              </a:rPr>
              <a:t> </a:t>
            </a:r>
            <a:r>
              <a:rPr sz="1950" spc="80" dirty="0">
                <a:solidFill>
                  <a:srgbClr val="231F20"/>
                </a:solidFill>
                <a:latin typeface="Arial"/>
                <a:cs typeface="Arial"/>
              </a:rPr>
              <a:t>process</a:t>
            </a:r>
            <a:endParaRPr sz="1950">
              <a:latin typeface="Arial"/>
              <a:cs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26397" y="658862"/>
            <a:ext cx="4407535" cy="297180"/>
          </a:xfrm>
          <a:prstGeom prst="rect">
            <a:avLst/>
          </a:prstGeom>
        </p:spPr>
        <p:txBody>
          <a:bodyPr vert="horz" wrap="square" lIns="0" tIns="0" rIns="0" bIns="0" rtlCol="0">
            <a:spAutoFit/>
          </a:bodyPr>
          <a:lstStyle/>
          <a:p>
            <a:pPr marL="12700">
              <a:lnSpc>
                <a:spcPct val="100000"/>
              </a:lnSpc>
              <a:tabLst>
                <a:tab pos="3458210" algn="l"/>
              </a:tabLst>
            </a:pPr>
            <a:r>
              <a:rPr sz="1950" spc="265" dirty="0">
                <a:solidFill>
                  <a:srgbClr val="231F20"/>
                </a:solidFill>
                <a:latin typeface="Arial"/>
                <a:cs typeface="Arial"/>
              </a:rPr>
              <a:t>First</a:t>
            </a:r>
            <a:r>
              <a:rPr sz="1950" spc="944" dirty="0">
                <a:solidFill>
                  <a:srgbClr val="231F20"/>
                </a:solidFill>
                <a:latin typeface="Arial"/>
                <a:cs typeface="Arial"/>
              </a:rPr>
              <a:t> </a:t>
            </a:r>
            <a:r>
              <a:rPr sz="1950" spc="335" dirty="0">
                <a:solidFill>
                  <a:srgbClr val="231F20"/>
                </a:solidFill>
                <a:latin typeface="Arial"/>
                <a:cs typeface="Arial"/>
              </a:rPr>
              <a:t>Attempted</a:t>
            </a:r>
            <a:r>
              <a:rPr sz="1950" spc="944" dirty="0">
                <a:solidFill>
                  <a:srgbClr val="231F20"/>
                </a:solidFill>
                <a:latin typeface="Arial"/>
                <a:cs typeface="Arial"/>
              </a:rPr>
              <a:t> </a:t>
            </a:r>
            <a:r>
              <a:rPr sz="1950" spc="300" dirty="0">
                <a:solidFill>
                  <a:srgbClr val="231F20"/>
                </a:solidFill>
                <a:latin typeface="Arial"/>
                <a:cs typeface="Arial"/>
              </a:rPr>
              <a:t>Proof:	</a:t>
            </a:r>
            <a:r>
              <a:rPr sz="1950" spc="265" dirty="0">
                <a:solidFill>
                  <a:srgbClr val="231F20"/>
                </a:solidFill>
                <a:latin typeface="Arial"/>
                <a:cs typeface="Arial"/>
              </a:rPr>
              <a:t>Step</a:t>
            </a:r>
            <a:r>
              <a:rPr sz="1950" spc="280" dirty="0">
                <a:solidFill>
                  <a:srgbClr val="231F20"/>
                </a:solidFill>
                <a:latin typeface="Arial"/>
                <a:cs typeface="Arial"/>
              </a:rPr>
              <a:t> 3</a:t>
            </a:r>
            <a:endParaRPr sz="1950">
              <a:latin typeface="Arial"/>
              <a:cs typeface="Arial"/>
            </a:endParaRPr>
          </a:p>
        </p:txBody>
      </p:sp>
      <p:sp>
        <p:nvSpPr>
          <p:cNvPr id="3" name="object 3"/>
          <p:cNvSpPr txBox="1">
            <a:spLocks noGrp="1"/>
          </p:cNvSpPr>
          <p:nvPr>
            <p:ph type="title"/>
          </p:nvPr>
        </p:nvSpPr>
        <p:spPr>
          <a:xfrm>
            <a:off x="896442" y="1116431"/>
            <a:ext cx="8161020" cy="1049020"/>
          </a:xfrm>
          <a:prstGeom prst="rect">
            <a:avLst/>
          </a:prstGeom>
        </p:spPr>
        <p:txBody>
          <a:bodyPr vert="horz" wrap="square" lIns="0" tIns="0" rIns="0" bIns="0" rtlCol="0">
            <a:spAutoFit/>
          </a:bodyPr>
          <a:lstStyle/>
          <a:p>
            <a:pPr marL="300990" marR="5080" indent="-288290">
              <a:lnSpc>
                <a:spcPct val="123000"/>
              </a:lnSpc>
              <a:buSzPct val="105128"/>
              <a:buFont typeface="Lucida Sans Unicode"/>
              <a:buChar char="•"/>
              <a:tabLst>
                <a:tab pos="301625" algn="l"/>
              </a:tabLst>
            </a:pPr>
            <a:r>
              <a:rPr sz="1950" spc="250" dirty="0">
                <a:solidFill>
                  <a:srgbClr val="231F20"/>
                </a:solidFill>
                <a:latin typeface="Arial"/>
                <a:cs typeface="Arial"/>
              </a:rPr>
              <a:t>The </a:t>
            </a:r>
            <a:r>
              <a:rPr sz="1950" spc="165" dirty="0">
                <a:solidFill>
                  <a:srgbClr val="231F20"/>
                </a:solidFill>
                <a:latin typeface="Arial"/>
                <a:cs typeface="Arial"/>
              </a:rPr>
              <a:t>first </a:t>
            </a:r>
            <a:r>
              <a:rPr sz="1950" spc="105" dirty="0">
                <a:solidFill>
                  <a:srgbClr val="231F20"/>
                </a:solidFill>
                <a:latin typeface="Arial"/>
                <a:cs typeface="Arial"/>
              </a:rPr>
              <a:t>one </a:t>
            </a:r>
            <a:r>
              <a:rPr sz="1950" spc="40" dirty="0">
                <a:solidFill>
                  <a:srgbClr val="231F20"/>
                </a:solidFill>
                <a:latin typeface="Arial"/>
                <a:cs typeface="Arial"/>
              </a:rPr>
              <a:t>is </a:t>
            </a:r>
            <a:r>
              <a:rPr sz="1950" spc="100" dirty="0">
                <a:solidFill>
                  <a:srgbClr val="231F20"/>
                </a:solidFill>
                <a:latin typeface="Arial"/>
                <a:cs typeface="Arial"/>
              </a:rPr>
              <a:t>discharged </a:t>
            </a:r>
            <a:r>
              <a:rPr sz="1950" spc="105" dirty="0">
                <a:solidFill>
                  <a:srgbClr val="231F20"/>
                </a:solidFill>
                <a:latin typeface="Arial"/>
                <a:cs typeface="Arial"/>
              </a:rPr>
              <a:t>by </a:t>
            </a:r>
            <a:r>
              <a:rPr spc="65" dirty="0"/>
              <a:t>(GRIND)</a:t>
            </a:r>
            <a:r>
              <a:rPr sz="1950" spc="65" dirty="0">
                <a:solidFill>
                  <a:srgbClr val="231F20"/>
                </a:solidFill>
                <a:latin typeface="Arial"/>
                <a:cs typeface="Arial"/>
              </a:rPr>
              <a:t>, </a:t>
            </a:r>
            <a:r>
              <a:rPr sz="1950" spc="220" dirty="0">
                <a:solidFill>
                  <a:srgbClr val="231F20"/>
                </a:solidFill>
                <a:latin typeface="Arial"/>
                <a:cs typeface="Arial"/>
              </a:rPr>
              <a:t>but </a:t>
            </a:r>
            <a:r>
              <a:rPr sz="1950" spc="175" dirty="0">
                <a:solidFill>
                  <a:srgbClr val="231F20"/>
                </a:solidFill>
                <a:latin typeface="Arial"/>
                <a:cs typeface="Arial"/>
              </a:rPr>
              <a:t>the </a:t>
            </a:r>
            <a:r>
              <a:rPr sz="1950" spc="95" dirty="0">
                <a:solidFill>
                  <a:srgbClr val="231F20"/>
                </a:solidFill>
                <a:latin typeface="Arial"/>
                <a:cs typeface="Arial"/>
              </a:rPr>
              <a:t>second </a:t>
            </a:r>
            <a:r>
              <a:rPr sz="1950" spc="40" dirty="0">
                <a:solidFill>
                  <a:srgbClr val="231F20"/>
                </a:solidFill>
                <a:latin typeface="Arial"/>
                <a:cs typeface="Arial"/>
              </a:rPr>
              <a:t>is </a:t>
            </a:r>
            <a:r>
              <a:rPr sz="1950" spc="220" dirty="0">
                <a:solidFill>
                  <a:srgbClr val="231F20"/>
                </a:solidFill>
                <a:latin typeface="Arial"/>
                <a:cs typeface="Arial"/>
              </a:rPr>
              <a:t>not  </a:t>
            </a:r>
            <a:r>
              <a:rPr sz="1950" spc="130" dirty="0">
                <a:solidFill>
                  <a:srgbClr val="231F20"/>
                </a:solidFill>
                <a:latin typeface="Arial"/>
                <a:cs typeface="Arial"/>
              </a:rPr>
              <a:t>and </a:t>
            </a:r>
            <a:r>
              <a:rPr sz="1950" spc="95" dirty="0">
                <a:solidFill>
                  <a:srgbClr val="231F20"/>
                </a:solidFill>
                <a:latin typeface="Arial"/>
                <a:cs typeface="Arial"/>
              </a:rPr>
              <a:t>we </a:t>
            </a:r>
            <a:r>
              <a:rPr sz="1950" spc="65" dirty="0">
                <a:solidFill>
                  <a:srgbClr val="231F20"/>
                </a:solidFill>
                <a:latin typeface="Arial"/>
                <a:cs typeface="Arial"/>
              </a:rPr>
              <a:t>are </a:t>
            </a:r>
            <a:r>
              <a:rPr sz="1950" spc="100" dirty="0">
                <a:solidFill>
                  <a:srgbClr val="231F20"/>
                </a:solidFill>
                <a:latin typeface="Arial"/>
                <a:cs typeface="Arial"/>
              </a:rPr>
              <a:t>presented </a:t>
            </a:r>
            <a:r>
              <a:rPr sz="1950" spc="215" dirty="0">
                <a:solidFill>
                  <a:srgbClr val="231F20"/>
                </a:solidFill>
                <a:latin typeface="Arial"/>
                <a:cs typeface="Arial"/>
              </a:rPr>
              <a:t>with </a:t>
            </a:r>
            <a:r>
              <a:rPr sz="1950" spc="175" dirty="0">
                <a:solidFill>
                  <a:srgbClr val="231F20"/>
                </a:solidFill>
                <a:latin typeface="Arial"/>
                <a:cs typeface="Arial"/>
              </a:rPr>
              <a:t>the </a:t>
            </a:r>
            <a:r>
              <a:rPr sz="1950" spc="345" dirty="0">
                <a:solidFill>
                  <a:srgbClr val="231F20"/>
                </a:solidFill>
                <a:latin typeface="Arial"/>
                <a:cs typeface="Arial"/>
              </a:rPr>
              <a:t> </a:t>
            </a:r>
            <a:r>
              <a:rPr sz="1950" spc="114" dirty="0">
                <a:solidFill>
                  <a:srgbClr val="231F20"/>
                </a:solidFill>
                <a:latin typeface="Arial"/>
                <a:cs typeface="Arial"/>
              </a:rPr>
              <a:t>sequent</a:t>
            </a:r>
            <a:endParaRPr sz="1950">
              <a:latin typeface="Arial"/>
              <a:cs typeface="Arial"/>
            </a:endParaRPr>
          </a:p>
          <a:p>
            <a:pPr marL="300990">
              <a:lnSpc>
                <a:spcPts val="2325"/>
              </a:lnSpc>
            </a:pPr>
            <a:r>
              <a:rPr spc="55" dirty="0"/>
              <a:t>first_try.2.1.2</a:t>
            </a:r>
            <a:r>
              <a:rPr spc="-35" dirty="0"/>
              <a:t> </a:t>
            </a:r>
            <a:r>
              <a:rPr spc="55" dirty="0"/>
              <a:t>:</a:t>
            </a:r>
          </a:p>
        </p:txBody>
      </p:sp>
      <p:sp>
        <p:nvSpPr>
          <p:cNvPr id="4" name="object 4"/>
          <p:cNvSpPr txBox="1"/>
          <p:nvPr/>
        </p:nvSpPr>
        <p:spPr>
          <a:xfrm>
            <a:off x="1185162" y="2224303"/>
            <a:ext cx="576580" cy="1825625"/>
          </a:xfrm>
          <a:prstGeom prst="rect">
            <a:avLst/>
          </a:prstGeom>
        </p:spPr>
        <p:txBody>
          <a:bodyPr vert="horz" wrap="square" lIns="0" tIns="0" rIns="0" bIns="0" rtlCol="0">
            <a:spAutoFit/>
          </a:bodyPr>
          <a:lstStyle/>
          <a:p>
            <a:pPr marL="12700">
              <a:lnSpc>
                <a:spcPct val="100000"/>
              </a:lnSpc>
            </a:pPr>
            <a:r>
              <a:rPr sz="2050" spc="50" dirty="0">
                <a:solidFill>
                  <a:srgbClr val="0000FF"/>
                </a:solidFill>
                <a:latin typeface="SimSun"/>
                <a:cs typeface="SimSun"/>
              </a:rPr>
              <a:t>[-1</a:t>
            </a:r>
            <a:r>
              <a:rPr sz="2050" spc="55" dirty="0">
                <a:solidFill>
                  <a:srgbClr val="0000FF"/>
                </a:solidFill>
                <a:latin typeface="SimSun"/>
                <a:cs typeface="SimSun"/>
              </a:rPr>
              <a:t>]</a:t>
            </a:r>
            <a:endParaRPr sz="2050">
              <a:latin typeface="SimSun"/>
              <a:cs typeface="SimSun"/>
            </a:endParaRPr>
          </a:p>
          <a:p>
            <a:pPr marL="12700">
              <a:lnSpc>
                <a:spcPct val="100000"/>
              </a:lnSpc>
              <a:spcBef>
                <a:spcPts val="465"/>
              </a:spcBef>
            </a:pPr>
            <a:r>
              <a:rPr sz="2050" spc="210" dirty="0">
                <a:solidFill>
                  <a:srgbClr val="0000FF"/>
                </a:solidFill>
                <a:latin typeface="Lucida Sans Unicode"/>
                <a:cs typeface="Lucida Sans Unicode"/>
              </a:rPr>
              <a:t>{</a:t>
            </a:r>
            <a:r>
              <a:rPr sz="2050" spc="210" dirty="0">
                <a:solidFill>
                  <a:srgbClr val="0000FF"/>
                </a:solidFill>
                <a:latin typeface="SimSun"/>
                <a:cs typeface="SimSun"/>
              </a:rPr>
              <a:t>-2</a:t>
            </a:r>
            <a:r>
              <a:rPr sz="2050" spc="210"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pPr>
            <a:r>
              <a:rPr sz="2050" spc="50" dirty="0">
                <a:solidFill>
                  <a:srgbClr val="0000FF"/>
                </a:solidFill>
                <a:latin typeface="SimSun"/>
                <a:cs typeface="SimSun"/>
              </a:rPr>
              <a:t>[-3</a:t>
            </a:r>
            <a:r>
              <a:rPr sz="2050" spc="55" dirty="0">
                <a:solidFill>
                  <a:srgbClr val="0000FF"/>
                </a:solidFill>
                <a:latin typeface="SimSun"/>
                <a:cs typeface="SimSun"/>
              </a:rPr>
              <a:t>]</a:t>
            </a:r>
            <a:endParaRPr sz="2050">
              <a:latin typeface="SimSun"/>
              <a:cs typeface="SimSun"/>
            </a:endParaRPr>
          </a:p>
          <a:p>
            <a:pPr marL="12700">
              <a:lnSpc>
                <a:spcPct val="100000"/>
              </a:lnSpc>
              <a:spcBef>
                <a:spcPts val="465"/>
              </a:spcBef>
            </a:pPr>
            <a:r>
              <a:rPr sz="2050" spc="50" dirty="0">
                <a:solidFill>
                  <a:srgbClr val="0000FF"/>
                </a:solidFill>
                <a:latin typeface="SimSun"/>
                <a:cs typeface="SimSun"/>
              </a:rPr>
              <a:t>[-4</a:t>
            </a:r>
            <a:r>
              <a:rPr sz="2050" spc="55" dirty="0">
                <a:solidFill>
                  <a:srgbClr val="0000FF"/>
                </a:solidFill>
                <a:latin typeface="SimSun"/>
                <a:cs typeface="SimSun"/>
              </a:rPr>
              <a:t>]</a:t>
            </a:r>
            <a:endParaRPr sz="2050">
              <a:latin typeface="SimSun"/>
              <a:cs typeface="SimSun"/>
            </a:endParaRPr>
          </a:p>
          <a:p>
            <a:pPr marL="12700">
              <a:lnSpc>
                <a:spcPct val="100000"/>
              </a:lnSpc>
              <a:spcBef>
                <a:spcPts val="465"/>
              </a:spcBef>
            </a:pPr>
            <a:r>
              <a:rPr sz="2050" spc="210" dirty="0">
                <a:solidFill>
                  <a:srgbClr val="0000FF"/>
                </a:solidFill>
                <a:latin typeface="Lucida Sans Unicode"/>
                <a:cs typeface="Lucida Sans Unicode"/>
              </a:rPr>
              <a:t>{</a:t>
            </a:r>
            <a:r>
              <a:rPr sz="2050" spc="210" dirty="0">
                <a:solidFill>
                  <a:srgbClr val="0000FF"/>
                </a:solidFill>
                <a:latin typeface="SimSun"/>
                <a:cs typeface="SimSun"/>
              </a:rPr>
              <a:t>-5</a:t>
            </a:r>
            <a:r>
              <a:rPr sz="2050" spc="210" dirty="0">
                <a:solidFill>
                  <a:srgbClr val="0000FF"/>
                </a:solidFill>
                <a:latin typeface="Lucida Sans Unicode"/>
                <a:cs typeface="Lucida Sans Unicode"/>
              </a:rPr>
              <a:t>}</a:t>
            </a:r>
            <a:endParaRPr sz="2050">
              <a:latin typeface="Lucida Sans Unicode"/>
              <a:cs typeface="Lucida Sans Unicode"/>
            </a:endParaRPr>
          </a:p>
        </p:txBody>
      </p:sp>
      <p:sp>
        <p:nvSpPr>
          <p:cNvPr id="5" name="object 5"/>
          <p:cNvSpPr txBox="1"/>
          <p:nvPr/>
        </p:nvSpPr>
        <p:spPr>
          <a:xfrm>
            <a:off x="1998637" y="2165256"/>
            <a:ext cx="5411470" cy="1884045"/>
          </a:xfrm>
          <a:prstGeom prst="rect">
            <a:avLst/>
          </a:prstGeom>
        </p:spPr>
        <p:txBody>
          <a:bodyPr vert="horz" wrap="square" lIns="0" tIns="0" rIns="0" bIns="0" rtlCol="0">
            <a:spAutoFit/>
          </a:bodyPr>
          <a:lstStyle/>
          <a:p>
            <a:pPr marL="12700" marR="2911475" indent="12700">
              <a:lnSpc>
                <a:spcPct val="118900"/>
              </a:lnSpc>
            </a:pPr>
            <a:r>
              <a:rPr sz="2050" spc="-75" dirty="0">
                <a:solidFill>
                  <a:srgbClr val="0000FF"/>
                </a:solidFill>
                <a:latin typeface="SimSun"/>
                <a:cs typeface="SimSun"/>
              </a:rPr>
              <a:t>pre!1‘t2 </a:t>
            </a:r>
            <a:r>
              <a:rPr sz="2050" spc="55" dirty="0">
                <a:solidFill>
                  <a:srgbClr val="0000FF"/>
                </a:solidFill>
                <a:latin typeface="SimSun"/>
                <a:cs typeface="SimSun"/>
              </a:rPr>
              <a:t>= 0  </a:t>
            </a:r>
            <a:r>
              <a:rPr sz="2050" spc="-5" dirty="0">
                <a:solidFill>
                  <a:srgbClr val="0000FF"/>
                </a:solidFill>
                <a:latin typeface="SimSun"/>
                <a:cs typeface="SimSun"/>
              </a:rPr>
              <a:t>trying?(pre!1‘pc1)</a:t>
            </a:r>
            <a:endParaRPr sz="2050">
              <a:latin typeface="SimSun"/>
              <a:cs typeface="SimSun"/>
            </a:endParaRPr>
          </a:p>
          <a:p>
            <a:pPr marL="25400" marR="5080">
              <a:lnSpc>
                <a:spcPct val="118900"/>
              </a:lnSpc>
            </a:pPr>
            <a:r>
              <a:rPr sz="2050" spc="55" dirty="0">
                <a:solidFill>
                  <a:srgbClr val="0000FF"/>
                </a:solidFill>
                <a:latin typeface="SimSun"/>
                <a:cs typeface="SimSun"/>
              </a:rPr>
              <a:t>post!1 = pre!1 WITH [(pc1) := critical]  safe(pre!1)</a:t>
            </a:r>
            <a:endParaRPr sz="2050">
              <a:latin typeface="SimSun"/>
              <a:cs typeface="SimSun"/>
            </a:endParaRPr>
          </a:p>
          <a:p>
            <a:pPr marL="12700">
              <a:lnSpc>
                <a:spcPct val="100000"/>
              </a:lnSpc>
              <a:spcBef>
                <a:spcPts val="465"/>
              </a:spcBef>
            </a:pPr>
            <a:r>
              <a:rPr sz="2050" dirty="0">
                <a:solidFill>
                  <a:srgbClr val="0000FF"/>
                </a:solidFill>
                <a:latin typeface="SimSun"/>
                <a:cs typeface="SimSun"/>
              </a:rPr>
              <a:t>critical?(pre!1‘pc2)</a:t>
            </a:r>
            <a:endParaRPr sz="2050">
              <a:latin typeface="SimSun"/>
              <a:cs typeface="SimSun"/>
            </a:endParaRPr>
          </a:p>
        </p:txBody>
      </p:sp>
      <p:sp>
        <p:nvSpPr>
          <p:cNvPr id="6" name="object 6"/>
          <p:cNvSpPr txBox="1"/>
          <p:nvPr/>
        </p:nvSpPr>
        <p:spPr>
          <a:xfrm>
            <a:off x="896440" y="4082275"/>
            <a:ext cx="8260080" cy="2036445"/>
          </a:xfrm>
          <a:prstGeom prst="rect">
            <a:avLst/>
          </a:prstGeom>
        </p:spPr>
        <p:txBody>
          <a:bodyPr vert="horz" wrap="square" lIns="0" tIns="0" rIns="0" bIns="0" rtlCol="0">
            <a:spAutoFit/>
          </a:bodyPr>
          <a:lstStyle/>
          <a:p>
            <a:pPr marL="576580">
              <a:lnSpc>
                <a:spcPct val="100000"/>
              </a:lnSpc>
            </a:pPr>
            <a:r>
              <a:rPr sz="2050" spc="55" dirty="0">
                <a:solidFill>
                  <a:srgbClr val="0000FF"/>
                </a:solidFill>
                <a:latin typeface="SimSun"/>
                <a:cs typeface="SimSun"/>
              </a:rPr>
              <a:t>|-------</a:t>
            </a:r>
            <a:endParaRPr sz="2050">
              <a:latin typeface="SimSun"/>
              <a:cs typeface="SimSun"/>
            </a:endParaRPr>
          </a:p>
          <a:p>
            <a:pPr marL="300990" marR="89535" indent="-288290">
              <a:lnSpc>
                <a:spcPct val="125000"/>
              </a:lnSpc>
              <a:spcBef>
                <a:spcPts val="390"/>
              </a:spcBef>
              <a:buSzPct val="105128"/>
              <a:buFont typeface="Lucida Sans Unicode"/>
              <a:buChar char="•"/>
              <a:tabLst>
                <a:tab pos="301625" algn="l"/>
              </a:tabLst>
            </a:pPr>
            <a:r>
              <a:rPr sz="1950" spc="190" dirty="0">
                <a:solidFill>
                  <a:srgbClr val="231F20"/>
                </a:solidFill>
                <a:latin typeface="Arial"/>
                <a:cs typeface="Arial"/>
              </a:rPr>
              <a:t>When </a:t>
            </a:r>
            <a:r>
              <a:rPr sz="1950" spc="140" dirty="0">
                <a:solidFill>
                  <a:srgbClr val="231F20"/>
                </a:solidFill>
                <a:latin typeface="Arial"/>
                <a:cs typeface="Arial"/>
              </a:rPr>
              <a:t>there </a:t>
            </a:r>
            <a:r>
              <a:rPr sz="1950" spc="65" dirty="0">
                <a:solidFill>
                  <a:srgbClr val="231F20"/>
                </a:solidFill>
                <a:latin typeface="Arial"/>
                <a:cs typeface="Arial"/>
              </a:rPr>
              <a:t>are </a:t>
            </a:r>
            <a:r>
              <a:rPr sz="1950" spc="155" dirty="0">
                <a:solidFill>
                  <a:srgbClr val="231F20"/>
                </a:solidFill>
                <a:latin typeface="Arial"/>
                <a:cs typeface="Arial"/>
              </a:rPr>
              <a:t>no </a:t>
            </a:r>
            <a:r>
              <a:rPr sz="1950" spc="135" dirty="0">
                <a:solidFill>
                  <a:srgbClr val="231F20"/>
                </a:solidFill>
                <a:latin typeface="Arial"/>
                <a:cs typeface="Arial"/>
              </a:rPr>
              <a:t>formulas below </a:t>
            </a:r>
            <a:r>
              <a:rPr sz="1950" spc="175" dirty="0">
                <a:solidFill>
                  <a:srgbClr val="231F20"/>
                </a:solidFill>
                <a:latin typeface="Arial"/>
                <a:cs typeface="Arial"/>
              </a:rPr>
              <a:t>the </a:t>
            </a:r>
            <a:r>
              <a:rPr sz="1950" spc="105" dirty="0">
                <a:solidFill>
                  <a:srgbClr val="231F20"/>
                </a:solidFill>
                <a:latin typeface="Arial"/>
                <a:cs typeface="Arial"/>
              </a:rPr>
              <a:t>line, </a:t>
            </a:r>
            <a:r>
              <a:rPr sz="1950" spc="85" dirty="0">
                <a:solidFill>
                  <a:srgbClr val="231F20"/>
                </a:solidFill>
                <a:latin typeface="Arial"/>
                <a:cs typeface="Arial"/>
              </a:rPr>
              <a:t>a </a:t>
            </a:r>
            <a:r>
              <a:rPr sz="1950" spc="114" dirty="0">
                <a:solidFill>
                  <a:srgbClr val="231F20"/>
                </a:solidFill>
                <a:latin typeface="Arial"/>
                <a:cs typeface="Arial"/>
              </a:rPr>
              <a:t>sequent </a:t>
            </a:r>
            <a:r>
              <a:rPr sz="1950" spc="40" dirty="0">
                <a:solidFill>
                  <a:srgbClr val="231F20"/>
                </a:solidFill>
                <a:latin typeface="Arial"/>
                <a:cs typeface="Arial"/>
              </a:rPr>
              <a:t>is </a:t>
            </a:r>
            <a:r>
              <a:rPr sz="1950" spc="170" dirty="0">
                <a:solidFill>
                  <a:srgbClr val="231F20"/>
                </a:solidFill>
                <a:latin typeface="Arial"/>
                <a:cs typeface="Arial"/>
              </a:rPr>
              <a:t>true  </a:t>
            </a:r>
            <a:r>
              <a:rPr sz="1950" spc="160" dirty="0">
                <a:solidFill>
                  <a:srgbClr val="231F20"/>
                </a:solidFill>
                <a:latin typeface="Arial"/>
                <a:cs typeface="Arial"/>
              </a:rPr>
              <a:t>if </a:t>
            </a:r>
            <a:r>
              <a:rPr sz="1950" spc="140" dirty="0">
                <a:solidFill>
                  <a:srgbClr val="231F20"/>
                </a:solidFill>
                <a:latin typeface="Arial"/>
                <a:cs typeface="Arial"/>
              </a:rPr>
              <a:t>there </a:t>
            </a:r>
            <a:r>
              <a:rPr sz="1950" spc="40" dirty="0">
                <a:solidFill>
                  <a:srgbClr val="231F20"/>
                </a:solidFill>
                <a:latin typeface="Arial"/>
                <a:cs typeface="Arial"/>
              </a:rPr>
              <a:t>is </a:t>
            </a:r>
            <a:r>
              <a:rPr sz="1950" spc="85" dirty="0">
                <a:solidFill>
                  <a:srgbClr val="231F20"/>
                </a:solidFill>
                <a:latin typeface="Arial"/>
                <a:cs typeface="Arial"/>
              </a:rPr>
              <a:t>a </a:t>
            </a:r>
            <a:r>
              <a:rPr sz="1950" spc="170" dirty="0">
                <a:solidFill>
                  <a:srgbClr val="231F20"/>
                </a:solidFill>
                <a:latin typeface="Arial"/>
                <a:cs typeface="Arial"/>
              </a:rPr>
              <a:t>contradiction among </a:t>
            </a:r>
            <a:r>
              <a:rPr sz="1950" spc="130" dirty="0">
                <a:solidFill>
                  <a:srgbClr val="231F20"/>
                </a:solidFill>
                <a:latin typeface="Arial"/>
                <a:cs typeface="Arial"/>
              </a:rPr>
              <a:t>those </a:t>
            </a:r>
            <a:r>
              <a:rPr sz="1950" spc="120" dirty="0">
                <a:solidFill>
                  <a:srgbClr val="231F20"/>
                </a:solidFill>
                <a:latin typeface="Arial"/>
                <a:cs typeface="Arial"/>
              </a:rPr>
              <a:t>above </a:t>
            </a:r>
            <a:r>
              <a:rPr sz="1950" spc="175" dirty="0">
                <a:solidFill>
                  <a:srgbClr val="231F20"/>
                </a:solidFill>
                <a:latin typeface="Arial"/>
                <a:cs typeface="Arial"/>
              </a:rPr>
              <a:t>the </a:t>
            </a:r>
            <a:r>
              <a:rPr sz="1950" spc="755" dirty="0">
                <a:solidFill>
                  <a:srgbClr val="231F20"/>
                </a:solidFill>
                <a:latin typeface="Arial"/>
                <a:cs typeface="Arial"/>
              </a:rPr>
              <a:t> </a:t>
            </a:r>
            <a:r>
              <a:rPr sz="1950" spc="100" dirty="0">
                <a:solidFill>
                  <a:srgbClr val="231F20"/>
                </a:solidFill>
                <a:latin typeface="Arial"/>
                <a:cs typeface="Arial"/>
              </a:rPr>
              <a:t>line</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110" dirty="0">
                <a:solidFill>
                  <a:srgbClr val="231F20"/>
                </a:solidFill>
                <a:latin typeface="Arial"/>
                <a:cs typeface="Arial"/>
              </a:rPr>
              <a:t>Here, </a:t>
            </a:r>
            <a:r>
              <a:rPr sz="1950" spc="105" dirty="0">
                <a:solidFill>
                  <a:srgbClr val="231F20"/>
                </a:solidFill>
                <a:latin typeface="Arial"/>
                <a:cs typeface="Arial"/>
              </a:rPr>
              <a:t>Process </a:t>
            </a:r>
            <a:r>
              <a:rPr sz="1950" spc="155" dirty="0">
                <a:solidFill>
                  <a:srgbClr val="231F20"/>
                </a:solidFill>
                <a:latin typeface="Arial"/>
                <a:cs typeface="Arial"/>
              </a:rPr>
              <a:t>1 </a:t>
            </a:r>
            <a:r>
              <a:rPr sz="1950" spc="110" dirty="0">
                <a:solidFill>
                  <a:srgbClr val="231F20"/>
                </a:solidFill>
                <a:latin typeface="Arial"/>
                <a:cs typeface="Arial"/>
              </a:rPr>
              <a:t>enters </a:t>
            </a:r>
            <a:r>
              <a:rPr sz="1950" spc="145" dirty="0">
                <a:solidFill>
                  <a:srgbClr val="231F20"/>
                </a:solidFill>
                <a:latin typeface="Arial"/>
                <a:cs typeface="Arial"/>
              </a:rPr>
              <a:t>its </a:t>
            </a:r>
            <a:r>
              <a:rPr sz="1950" spc="150" dirty="0">
                <a:solidFill>
                  <a:srgbClr val="231F20"/>
                </a:solidFill>
                <a:latin typeface="Arial"/>
                <a:cs typeface="Arial"/>
              </a:rPr>
              <a:t>critical </a:t>
            </a:r>
            <a:r>
              <a:rPr sz="1950" spc="125" dirty="0">
                <a:solidFill>
                  <a:srgbClr val="231F20"/>
                </a:solidFill>
                <a:latin typeface="Arial"/>
                <a:cs typeface="Arial"/>
              </a:rPr>
              <a:t>section </a:t>
            </a:r>
            <a:r>
              <a:rPr sz="1950" spc="80" dirty="0">
                <a:solidFill>
                  <a:srgbClr val="231F20"/>
                </a:solidFill>
                <a:latin typeface="Arial"/>
                <a:cs typeface="Arial"/>
              </a:rPr>
              <a:t>because </a:t>
            </a:r>
            <a:r>
              <a:rPr sz="1950" spc="105" dirty="0">
                <a:solidFill>
                  <a:srgbClr val="231F20"/>
                </a:solidFill>
                <a:latin typeface="Arial"/>
                <a:cs typeface="Arial"/>
              </a:rPr>
              <a:t>Process </a:t>
            </a:r>
            <a:r>
              <a:rPr sz="1950" spc="120" dirty="0">
                <a:solidFill>
                  <a:srgbClr val="231F20"/>
                </a:solidFill>
                <a:latin typeface="Arial"/>
                <a:cs typeface="Arial"/>
              </a:rPr>
              <a:t>2’s  </a:t>
            </a:r>
            <a:r>
              <a:rPr sz="1950" spc="180" dirty="0">
                <a:solidFill>
                  <a:srgbClr val="231F20"/>
                </a:solidFill>
                <a:latin typeface="Arial"/>
                <a:cs typeface="Arial"/>
              </a:rPr>
              <a:t>ticket </a:t>
            </a:r>
            <a:r>
              <a:rPr sz="1950" spc="40" dirty="0">
                <a:solidFill>
                  <a:srgbClr val="231F20"/>
                </a:solidFill>
                <a:latin typeface="Arial"/>
                <a:cs typeface="Arial"/>
              </a:rPr>
              <a:t>is </a:t>
            </a:r>
            <a:r>
              <a:rPr sz="1950" spc="200" dirty="0">
                <a:solidFill>
                  <a:srgbClr val="231F20"/>
                </a:solidFill>
                <a:latin typeface="Arial"/>
                <a:cs typeface="Arial"/>
              </a:rPr>
              <a:t>zero—but </a:t>
            </a:r>
            <a:r>
              <a:rPr sz="1950" spc="105" dirty="0">
                <a:solidFill>
                  <a:srgbClr val="231F20"/>
                </a:solidFill>
                <a:latin typeface="Arial"/>
                <a:cs typeface="Arial"/>
              </a:rPr>
              <a:t>Process </a:t>
            </a:r>
            <a:r>
              <a:rPr sz="1950" spc="155" dirty="0">
                <a:solidFill>
                  <a:srgbClr val="231F20"/>
                </a:solidFill>
                <a:latin typeface="Arial"/>
                <a:cs typeface="Arial"/>
              </a:rPr>
              <a:t>2 </a:t>
            </a:r>
            <a:r>
              <a:rPr sz="1950" spc="40" dirty="0">
                <a:solidFill>
                  <a:srgbClr val="231F20"/>
                </a:solidFill>
                <a:latin typeface="Arial"/>
                <a:cs typeface="Arial"/>
              </a:rPr>
              <a:t>is </a:t>
            </a:r>
            <a:r>
              <a:rPr sz="1950" spc="105" dirty="0">
                <a:solidFill>
                  <a:srgbClr val="231F20"/>
                </a:solidFill>
                <a:latin typeface="Arial"/>
                <a:cs typeface="Arial"/>
              </a:rPr>
              <a:t>already </a:t>
            </a:r>
            <a:r>
              <a:rPr sz="1950" spc="130" dirty="0">
                <a:solidFill>
                  <a:srgbClr val="231F20"/>
                </a:solidFill>
                <a:latin typeface="Arial"/>
                <a:cs typeface="Arial"/>
              </a:rPr>
              <a:t>in </a:t>
            </a:r>
            <a:r>
              <a:rPr sz="1950" spc="145" dirty="0">
                <a:solidFill>
                  <a:srgbClr val="231F20"/>
                </a:solidFill>
                <a:latin typeface="Arial"/>
                <a:cs typeface="Arial"/>
              </a:rPr>
              <a:t>its </a:t>
            </a:r>
            <a:r>
              <a:rPr sz="1950" spc="150" dirty="0">
                <a:solidFill>
                  <a:srgbClr val="231F20"/>
                </a:solidFill>
                <a:latin typeface="Arial"/>
                <a:cs typeface="Arial"/>
              </a:rPr>
              <a:t>critical  </a:t>
            </a:r>
            <a:r>
              <a:rPr sz="1950" spc="325" dirty="0">
                <a:solidFill>
                  <a:srgbClr val="231F20"/>
                </a:solidFill>
                <a:latin typeface="Arial"/>
                <a:cs typeface="Arial"/>
              </a:rPr>
              <a:t> </a:t>
            </a:r>
            <a:r>
              <a:rPr sz="1950" spc="125" dirty="0">
                <a:solidFill>
                  <a:srgbClr val="231F20"/>
                </a:solidFill>
                <a:latin typeface="Arial"/>
                <a:cs typeface="Arial"/>
              </a:rPr>
              <a:t>section</a:t>
            </a:r>
            <a:endParaRPr sz="1950">
              <a:latin typeface="Arial"/>
              <a:cs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65729" y="813971"/>
            <a:ext cx="4128770" cy="297180"/>
          </a:xfrm>
          <a:prstGeom prst="rect">
            <a:avLst/>
          </a:prstGeom>
        </p:spPr>
        <p:txBody>
          <a:bodyPr vert="horz" wrap="square" lIns="0" tIns="0" rIns="0" bIns="0" rtlCol="0">
            <a:spAutoFit/>
          </a:bodyPr>
          <a:lstStyle/>
          <a:p>
            <a:pPr marL="12700">
              <a:lnSpc>
                <a:spcPct val="100000"/>
              </a:lnSpc>
              <a:tabLst>
                <a:tab pos="3458210" algn="l"/>
              </a:tabLst>
            </a:pPr>
            <a:r>
              <a:rPr sz="1950" spc="420" dirty="0">
                <a:solidFill>
                  <a:srgbClr val="231F20"/>
                </a:solidFill>
                <a:latin typeface="Arial"/>
                <a:cs typeface="Arial"/>
              </a:rPr>
              <a:t>F</a:t>
            </a:r>
            <a:r>
              <a:rPr sz="1950" spc="150" dirty="0">
                <a:solidFill>
                  <a:srgbClr val="231F20"/>
                </a:solidFill>
                <a:latin typeface="Arial"/>
                <a:cs typeface="Arial"/>
              </a:rPr>
              <a:t>i</a:t>
            </a:r>
            <a:r>
              <a:rPr sz="1950" spc="250" dirty="0">
                <a:solidFill>
                  <a:srgbClr val="231F20"/>
                </a:solidFill>
                <a:latin typeface="Arial"/>
                <a:cs typeface="Arial"/>
              </a:rPr>
              <a:t>r</a:t>
            </a:r>
            <a:r>
              <a:rPr sz="1950" spc="70" dirty="0">
                <a:solidFill>
                  <a:srgbClr val="231F20"/>
                </a:solidFill>
                <a:latin typeface="Arial"/>
                <a:cs typeface="Arial"/>
              </a:rPr>
              <a:t>s</a:t>
            </a:r>
            <a:r>
              <a:rPr sz="1950" spc="440" dirty="0">
                <a:solidFill>
                  <a:srgbClr val="231F20"/>
                </a:solidFill>
                <a:latin typeface="Arial"/>
                <a:cs typeface="Arial"/>
              </a:rPr>
              <a:t>t</a:t>
            </a:r>
            <a:r>
              <a:rPr sz="1950" dirty="0">
                <a:solidFill>
                  <a:srgbClr val="231F20"/>
                </a:solidFill>
                <a:latin typeface="Arial"/>
                <a:cs typeface="Arial"/>
              </a:rPr>
              <a:t> </a:t>
            </a:r>
            <a:r>
              <a:rPr sz="1950" spc="-175" dirty="0">
                <a:solidFill>
                  <a:srgbClr val="231F20"/>
                </a:solidFill>
                <a:latin typeface="Arial"/>
                <a:cs typeface="Arial"/>
              </a:rPr>
              <a:t> </a:t>
            </a:r>
            <a:r>
              <a:rPr sz="1950" spc="380" dirty="0">
                <a:solidFill>
                  <a:srgbClr val="231F20"/>
                </a:solidFill>
                <a:latin typeface="Arial"/>
                <a:cs typeface="Arial"/>
              </a:rPr>
              <a:t>A</a:t>
            </a:r>
            <a:r>
              <a:rPr sz="1950" spc="434" dirty="0">
                <a:solidFill>
                  <a:srgbClr val="231F20"/>
                </a:solidFill>
                <a:latin typeface="Arial"/>
                <a:cs typeface="Arial"/>
              </a:rPr>
              <a:t>tt</a:t>
            </a:r>
            <a:r>
              <a:rPr sz="1950" spc="150" dirty="0">
                <a:solidFill>
                  <a:srgbClr val="231F20"/>
                </a:solidFill>
                <a:latin typeface="Arial"/>
                <a:cs typeface="Arial"/>
              </a:rPr>
              <a:t>e</a:t>
            </a:r>
            <a:r>
              <a:rPr sz="1950" spc="480" dirty="0">
                <a:solidFill>
                  <a:srgbClr val="231F20"/>
                </a:solidFill>
                <a:latin typeface="Arial"/>
                <a:cs typeface="Arial"/>
              </a:rPr>
              <a:t>m</a:t>
            </a:r>
            <a:r>
              <a:rPr sz="1950" spc="470" dirty="0">
                <a:solidFill>
                  <a:srgbClr val="231F20"/>
                </a:solidFill>
                <a:latin typeface="Arial"/>
                <a:cs typeface="Arial"/>
              </a:rPr>
              <a:t>p</a:t>
            </a:r>
            <a:r>
              <a:rPr sz="1950" spc="229" dirty="0">
                <a:solidFill>
                  <a:srgbClr val="231F20"/>
                </a:solidFill>
                <a:latin typeface="Arial"/>
                <a:cs typeface="Arial"/>
              </a:rPr>
              <a:t>t</a:t>
            </a:r>
            <a:r>
              <a:rPr sz="1950" spc="150" dirty="0">
                <a:solidFill>
                  <a:srgbClr val="231F20"/>
                </a:solidFill>
                <a:latin typeface="Arial"/>
                <a:cs typeface="Arial"/>
              </a:rPr>
              <a:t>e</a:t>
            </a:r>
            <a:r>
              <a:rPr sz="1950" spc="265" dirty="0">
                <a:solidFill>
                  <a:srgbClr val="231F20"/>
                </a:solidFill>
                <a:latin typeface="Arial"/>
                <a:cs typeface="Arial"/>
              </a:rPr>
              <a:t>d</a:t>
            </a:r>
            <a:r>
              <a:rPr sz="1950" dirty="0">
                <a:solidFill>
                  <a:srgbClr val="231F20"/>
                </a:solidFill>
                <a:latin typeface="Arial"/>
                <a:cs typeface="Arial"/>
              </a:rPr>
              <a:t> </a:t>
            </a:r>
            <a:r>
              <a:rPr sz="1950" spc="-175" dirty="0">
                <a:solidFill>
                  <a:srgbClr val="231F20"/>
                </a:solidFill>
                <a:latin typeface="Arial"/>
                <a:cs typeface="Arial"/>
              </a:rPr>
              <a:t> </a:t>
            </a:r>
            <a:r>
              <a:rPr sz="1950" spc="415" dirty="0">
                <a:solidFill>
                  <a:srgbClr val="231F20"/>
                </a:solidFill>
                <a:latin typeface="Arial"/>
                <a:cs typeface="Arial"/>
              </a:rPr>
              <a:t>P</a:t>
            </a:r>
            <a:r>
              <a:rPr sz="1950" spc="250" dirty="0">
                <a:solidFill>
                  <a:srgbClr val="231F20"/>
                </a:solidFill>
                <a:latin typeface="Arial"/>
                <a:cs typeface="Arial"/>
              </a:rPr>
              <a:t>r</a:t>
            </a:r>
            <a:r>
              <a:rPr sz="1950" spc="355" dirty="0">
                <a:solidFill>
                  <a:srgbClr val="231F20"/>
                </a:solidFill>
                <a:latin typeface="Arial"/>
                <a:cs typeface="Arial"/>
              </a:rPr>
              <a:t>o</a:t>
            </a:r>
            <a:r>
              <a:rPr sz="1950" spc="275" dirty="0">
                <a:solidFill>
                  <a:srgbClr val="231F20"/>
                </a:solidFill>
                <a:latin typeface="Arial"/>
                <a:cs typeface="Arial"/>
              </a:rPr>
              <a:t>o</a:t>
            </a:r>
            <a:r>
              <a:rPr sz="1950" spc="250" dirty="0">
                <a:solidFill>
                  <a:srgbClr val="231F20"/>
                </a:solidFill>
                <a:latin typeface="Arial"/>
                <a:cs typeface="Arial"/>
              </a:rPr>
              <a:t>f:</a:t>
            </a:r>
            <a:r>
              <a:rPr sz="1950" dirty="0">
                <a:solidFill>
                  <a:srgbClr val="231F20"/>
                </a:solidFill>
                <a:latin typeface="Arial"/>
                <a:cs typeface="Arial"/>
              </a:rPr>
              <a:t>	</a:t>
            </a:r>
            <a:r>
              <a:rPr sz="1950" spc="455" dirty="0">
                <a:solidFill>
                  <a:srgbClr val="231F20"/>
                </a:solidFill>
                <a:latin typeface="Arial"/>
                <a:cs typeface="Arial"/>
              </a:rPr>
              <a:t>A</a:t>
            </a:r>
            <a:r>
              <a:rPr sz="1950" spc="229" dirty="0">
                <a:solidFill>
                  <a:srgbClr val="231F20"/>
                </a:solidFill>
                <a:latin typeface="Arial"/>
                <a:cs typeface="Arial"/>
              </a:rPr>
              <a:t>h</a:t>
            </a:r>
            <a:r>
              <a:rPr sz="1950" spc="225" dirty="0">
                <a:solidFill>
                  <a:srgbClr val="231F20"/>
                </a:solidFill>
                <a:latin typeface="Arial"/>
                <a:cs typeface="Arial"/>
              </a:rPr>
              <a:t>a</a:t>
            </a:r>
            <a:r>
              <a:rPr sz="1950" spc="235" dirty="0">
                <a:solidFill>
                  <a:srgbClr val="231F20"/>
                </a:solidFill>
                <a:latin typeface="Arial"/>
                <a:cs typeface="Arial"/>
              </a:rPr>
              <a:t>!</a:t>
            </a:r>
            <a:endParaRPr sz="1950">
              <a:latin typeface="Arial"/>
              <a:cs typeface="Arial"/>
            </a:endParaRPr>
          </a:p>
        </p:txBody>
      </p:sp>
      <p:sp>
        <p:nvSpPr>
          <p:cNvPr id="3" name="object 3"/>
          <p:cNvSpPr txBox="1">
            <a:spLocks noGrp="1"/>
          </p:cNvSpPr>
          <p:nvPr>
            <p:ph type="title"/>
          </p:nvPr>
        </p:nvSpPr>
        <p:spPr>
          <a:xfrm>
            <a:off x="896442" y="1288039"/>
            <a:ext cx="7910195" cy="1111250"/>
          </a:xfrm>
          <a:prstGeom prst="rect">
            <a:avLst/>
          </a:prstGeom>
        </p:spPr>
        <p:txBody>
          <a:bodyPr vert="horz" wrap="square" lIns="0" tIns="0" rIns="0" bIns="0" rtlCol="0">
            <a:spAutoFit/>
          </a:bodyPr>
          <a:lstStyle/>
          <a:p>
            <a:pPr marL="300990" marR="5080" indent="-288290">
              <a:lnSpc>
                <a:spcPct val="122900"/>
              </a:lnSpc>
              <a:buSzPct val="105128"/>
              <a:buFont typeface="Lucida Sans Unicode"/>
              <a:buChar char="•"/>
              <a:tabLst>
                <a:tab pos="301625" algn="l"/>
              </a:tabLst>
            </a:pPr>
            <a:r>
              <a:rPr sz="1950" spc="204" dirty="0">
                <a:solidFill>
                  <a:srgbClr val="231F20"/>
                </a:solidFill>
                <a:latin typeface="Arial"/>
                <a:cs typeface="Arial"/>
              </a:rPr>
              <a:t>This </a:t>
            </a:r>
            <a:r>
              <a:rPr sz="1950" spc="40" dirty="0">
                <a:solidFill>
                  <a:srgbClr val="231F20"/>
                </a:solidFill>
                <a:latin typeface="Arial"/>
                <a:cs typeface="Arial"/>
              </a:rPr>
              <a:t>is </a:t>
            </a:r>
            <a:r>
              <a:rPr sz="1950" spc="85" dirty="0">
                <a:solidFill>
                  <a:srgbClr val="231F20"/>
                </a:solidFill>
                <a:latin typeface="Arial"/>
                <a:cs typeface="Arial"/>
              </a:rPr>
              <a:t>a </a:t>
            </a:r>
            <a:r>
              <a:rPr sz="1950" spc="170" dirty="0">
                <a:solidFill>
                  <a:srgbClr val="231F20"/>
                </a:solidFill>
                <a:latin typeface="Arial"/>
                <a:cs typeface="Arial"/>
              </a:rPr>
              <a:t>contradiction </a:t>
            </a:r>
            <a:r>
              <a:rPr sz="1950" spc="80" dirty="0">
                <a:solidFill>
                  <a:srgbClr val="231F20"/>
                </a:solidFill>
                <a:latin typeface="Arial"/>
                <a:cs typeface="Arial"/>
              </a:rPr>
              <a:t>because </a:t>
            </a:r>
            <a:r>
              <a:rPr sz="1950" spc="105" dirty="0">
                <a:solidFill>
                  <a:srgbClr val="231F20"/>
                </a:solidFill>
                <a:latin typeface="Arial"/>
                <a:cs typeface="Arial"/>
              </a:rPr>
              <a:t>Process </a:t>
            </a:r>
            <a:r>
              <a:rPr sz="1950" spc="155" dirty="0">
                <a:solidFill>
                  <a:srgbClr val="231F20"/>
                </a:solidFill>
                <a:latin typeface="Arial"/>
                <a:cs typeface="Arial"/>
              </a:rPr>
              <a:t>2 </a:t>
            </a:r>
            <a:r>
              <a:rPr sz="1950" spc="195" dirty="0">
                <a:solidFill>
                  <a:srgbClr val="231F20"/>
                </a:solidFill>
                <a:latin typeface="Arial"/>
                <a:cs typeface="Arial"/>
              </a:rPr>
              <a:t>must </a:t>
            </a:r>
            <a:r>
              <a:rPr sz="1950" spc="95" dirty="0">
                <a:solidFill>
                  <a:srgbClr val="231F20"/>
                </a:solidFill>
                <a:latin typeface="Arial"/>
                <a:cs typeface="Arial"/>
              </a:rPr>
              <a:t>have  </a:t>
            </a:r>
            <a:r>
              <a:rPr sz="1950" spc="140" dirty="0">
                <a:solidFill>
                  <a:srgbClr val="231F20"/>
                </a:solidFill>
                <a:latin typeface="Arial"/>
                <a:cs typeface="Arial"/>
              </a:rPr>
              <a:t>incremented </a:t>
            </a:r>
            <a:r>
              <a:rPr sz="1950" spc="145" dirty="0">
                <a:solidFill>
                  <a:srgbClr val="231F20"/>
                </a:solidFill>
                <a:latin typeface="Arial"/>
                <a:cs typeface="Arial"/>
              </a:rPr>
              <a:t>its </a:t>
            </a:r>
            <a:r>
              <a:rPr sz="1950" spc="180" dirty="0">
                <a:solidFill>
                  <a:srgbClr val="231F20"/>
                </a:solidFill>
                <a:latin typeface="Arial"/>
                <a:cs typeface="Arial"/>
              </a:rPr>
              <a:t>ticket </a:t>
            </a:r>
            <a:r>
              <a:rPr sz="1950" spc="185" dirty="0">
                <a:solidFill>
                  <a:srgbClr val="231F20"/>
                </a:solidFill>
                <a:latin typeface="Arial"/>
                <a:cs typeface="Arial"/>
              </a:rPr>
              <a:t>(making </a:t>
            </a:r>
            <a:r>
              <a:rPr sz="1950" spc="229" dirty="0">
                <a:solidFill>
                  <a:srgbClr val="231F20"/>
                </a:solidFill>
                <a:latin typeface="Arial"/>
                <a:cs typeface="Arial"/>
              </a:rPr>
              <a:t>it </a:t>
            </a:r>
            <a:r>
              <a:rPr sz="1950" spc="150" dirty="0">
                <a:solidFill>
                  <a:srgbClr val="231F20"/>
                </a:solidFill>
                <a:latin typeface="Arial"/>
                <a:cs typeface="Arial"/>
              </a:rPr>
              <a:t>nonzero) </a:t>
            </a:r>
            <a:r>
              <a:rPr sz="1950" spc="140" dirty="0">
                <a:solidFill>
                  <a:srgbClr val="231F20"/>
                </a:solidFill>
                <a:latin typeface="Arial"/>
                <a:cs typeface="Arial"/>
              </a:rPr>
              <a:t>when </a:t>
            </a:r>
            <a:r>
              <a:rPr sz="1950" spc="229" dirty="0">
                <a:solidFill>
                  <a:srgbClr val="231F20"/>
                </a:solidFill>
                <a:latin typeface="Arial"/>
                <a:cs typeface="Arial"/>
              </a:rPr>
              <a:t>it </a:t>
            </a:r>
            <a:r>
              <a:rPr sz="1950" spc="125" dirty="0">
                <a:solidFill>
                  <a:srgbClr val="231F20"/>
                </a:solidFill>
                <a:latin typeface="Arial"/>
                <a:cs typeface="Arial"/>
              </a:rPr>
              <a:t>entered  </a:t>
            </a:r>
            <a:r>
              <a:rPr sz="1950" spc="145" dirty="0">
                <a:solidFill>
                  <a:srgbClr val="231F20"/>
                </a:solidFill>
                <a:latin typeface="Arial"/>
                <a:cs typeface="Arial"/>
              </a:rPr>
              <a:t>its </a:t>
            </a:r>
            <a:r>
              <a:rPr spc="55" dirty="0"/>
              <a:t>trying</a:t>
            </a:r>
            <a:r>
              <a:rPr spc="-140" dirty="0"/>
              <a:t> </a:t>
            </a:r>
            <a:r>
              <a:rPr sz="1950" spc="75" dirty="0">
                <a:solidFill>
                  <a:srgbClr val="231F20"/>
                </a:solidFill>
                <a:latin typeface="Arial"/>
                <a:cs typeface="Arial"/>
              </a:rPr>
              <a:t>phase</a:t>
            </a:r>
            <a:endParaRPr sz="1950">
              <a:latin typeface="Arial"/>
              <a:cs typeface="Arial"/>
            </a:endParaRPr>
          </a:p>
        </p:txBody>
      </p:sp>
      <p:sp>
        <p:nvSpPr>
          <p:cNvPr id="4" name="object 4"/>
          <p:cNvSpPr txBox="1"/>
          <p:nvPr/>
        </p:nvSpPr>
        <p:spPr>
          <a:xfrm>
            <a:off x="896442" y="2567101"/>
            <a:ext cx="7928609" cy="3396615"/>
          </a:xfrm>
          <a:prstGeom prst="rect">
            <a:avLst/>
          </a:prstGeom>
        </p:spPr>
        <p:txBody>
          <a:bodyPr vert="horz" wrap="square" lIns="0" tIns="0" rIns="0" bIns="0" rtlCol="0">
            <a:spAutoFit/>
          </a:bodyPr>
          <a:lstStyle/>
          <a:p>
            <a:pPr marL="300990" marR="5080" indent="-288290">
              <a:lnSpc>
                <a:spcPct val="125000"/>
              </a:lnSpc>
              <a:buSzPct val="105128"/>
              <a:buFont typeface="Lucida Sans Unicode"/>
              <a:buChar char="•"/>
              <a:tabLst>
                <a:tab pos="301625" algn="l"/>
              </a:tabLst>
            </a:pPr>
            <a:r>
              <a:rPr sz="1950" spc="275" dirty="0">
                <a:solidFill>
                  <a:srgbClr val="231F20"/>
                </a:solidFill>
                <a:latin typeface="Arial"/>
                <a:cs typeface="Arial"/>
              </a:rPr>
              <a:t>But </a:t>
            </a:r>
            <a:r>
              <a:rPr sz="1950" spc="170" dirty="0">
                <a:solidFill>
                  <a:srgbClr val="231F20"/>
                </a:solidFill>
                <a:latin typeface="Arial"/>
                <a:cs typeface="Arial"/>
              </a:rPr>
              <a:t>contemplation, </a:t>
            </a:r>
            <a:r>
              <a:rPr sz="1950" spc="130" dirty="0">
                <a:solidFill>
                  <a:srgbClr val="231F20"/>
                </a:solidFill>
                <a:latin typeface="Arial"/>
                <a:cs typeface="Arial"/>
              </a:rPr>
              <a:t>or </a:t>
            </a:r>
            <a:r>
              <a:rPr sz="1950" spc="155" dirty="0">
                <a:solidFill>
                  <a:srgbClr val="231F20"/>
                </a:solidFill>
                <a:latin typeface="Arial"/>
                <a:cs typeface="Arial"/>
              </a:rPr>
              <a:t>experimentation </a:t>
            </a:r>
            <a:r>
              <a:rPr sz="1950" spc="215" dirty="0">
                <a:solidFill>
                  <a:srgbClr val="231F20"/>
                </a:solidFill>
                <a:latin typeface="Arial"/>
                <a:cs typeface="Arial"/>
              </a:rPr>
              <a:t>with </a:t>
            </a:r>
            <a:r>
              <a:rPr sz="1950" spc="175" dirty="0">
                <a:solidFill>
                  <a:srgbClr val="231F20"/>
                </a:solidFill>
                <a:latin typeface="Arial"/>
                <a:cs typeface="Arial"/>
              </a:rPr>
              <a:t>the </a:t>
            </a:r>
            <a:r>
              <a:rPr sz="1950" spc="120" dirty="0">
                <a:solidFill>
                  <a:srgbClr val="231F20"/>
                </a:solidFill>
                <a:latin typeface="Arial"/>
                <a:cs typeface="Arial"/>
              </a:rPr>
              <a:t>prover,  </a:t>
            </a:r>
            <a:r>
              <a:rPr sz="1950" spc="114" dirty="0">
                <a:solidFill>
                  <a:srgbClr val="231F20"/>
                </a:solidFill>
                <a:latin typeface="Arial"/>
                <a:cs typeface="Arial"/>
              </a:rPr>
              <a:t>should </a:t>
            </a:r>
            <a:r>
              <a:rPr sz="1950" spc="120" dirty="0">
                <a:solidFill>
                  <a:srgbClr val="231F20"/>
                </a:solidFill>
                <a:latin typeface="Arial"/>
                <a:cs typeface="Arial"/>
              </a:rPr>
              <a:t>convince you </a:t>
            </a:r>
            <a:r>
              <a:rPr sz="1950" spc="235" dirty="0">
                <a:solidFill>
                  <a:srgbClr val="231F20"/>
                </a:solidFill>
                <a:latin typeface="Arial"/>
                <a:cs typeface="Arial"/>
              </a:rPr>
              <a:t>that </a:t>
            </a:r>
            <a:r>
              <a:rPr sz="1950" spc="145" dirty="0">
                <a:solidFill>
                  <a:srgbClr val="231F20"/>
                </a:solidFill>
                <a:latin typeface="Arial"/>
                <a:cs typeface="Arial"/>
              </a:rPr>
              <a:t>this </a:t>
            </a:r>
            <a:r>
              <a:rPr sz="1950" spc="190" dirty="0">
                <a:solidFill>
                  <a:srgbClr val="231F20"/>
                </a:solidFill>
                <a:latin typeface="Arial"/>
                <a:cs typeface="Arial"/>
              </a:rPr>
              <a:t>fact </a:t>
            </a:r>
            <a:r>
              <a:rPr sz="1950" spc="40" dirty="0">
                <a:solidFill>
                  <a:srgbClr val="231F20"/>
                </a:solidFill>
                <a:latin typeface="Arial"/>
                <a:cs typeface="Arial"/>
              </a:rPr>
              <a:t>is </a:t>
            </a:r>
            <a:r>
              <a:rPr sz="1950" spc="220" dirty="0">
                <a:solidFill>
                  <a:srgbClr val="231F20"/>
                </a:solidFill>
                <a:latin typeface="Arial"/>
                <a:cs typeface="Arial"/>
              </a:rPr>
              <a:t>not </a:t>
            </a:r>
            <a:r>
              <a:rPr sz="1950" spc="110" dirty="0">
                <a:solidFill>
                  <a:srgbClr val="231F20"/>
                </a:solidFill>
                <a:latin typeface="Arial"/>
                <a:cs typeface="Arial"/>
              </a:rPr>
              <a:t>provable </a:t>
            </a:r>
            <a:r>
              <a:rPr sz="1950" spc="210" dirty="0">
                <a:solidFill>
                  <a:srgbClr val="231F20"/>
                </a:solidFill>
                <a:latin typeface="Arial"/>
                <a:cs typeface="Arial"/>
              </a:rPr>
              <a:t>from </a:t>
            </a:r>
            <a:r>
              <a:rPr sz="1950" spc="175" dirty="0">
                <a:solidFill>
                  <a:srgbClr val="231F20"/>
                </a:solidFill>
                <a:latin typeface="Arial"/>
                <a:cs typeface="Arial"/>
              </a:rPr>
              <a:t>the  </a:t>
            </a:r>
            <a:r>
              <a:rPr sz="1950" spc="170" dirty="0">
                <a:solidFill>
                  <a:srgbClr val="231F20"/>
                </a:solidFill>
                <a:latin typeface="Arial"/>
                <a:cs typeface="Arial"/>
              </a:rPr>
              <a:t>information</a:t>
            </a:r>
            <a:r>
              <a:rPr sz="1950" spc="229" dirty="0">
                <a:solidFill>
                  <a:srgbClr val="231F20"/>
                </a:solidFill>
                <a:latin typeface="Arial"/>
                <a:cs typeface="Arial"/>
              </a:rPr>
              <a:t> </a:t>
            </a:r>
            <a:r>
              <a:rPr sz="1950" spc="120" dirty="0">
                <a:solidFill>
                  <a:srgbClr val="231F20"/>
                </a:solidFill>
                <a:latin typeface="Arial"/>
                <a:cs typeface="Arial"/>
              </a:rPr>
              <a:t>provided</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25" dirty="0">
                <a:solidFill>
                  <a:srgbClr val="231F20"/>
                </a:solidFill>
                <a:latin typeface="Arial"/>
                <a:cs typeface="Arial"/>
              </a:rPr>
              <a:t>Similarly </a:t>
            </a:r>
            <a:r>
              <a:rPr sz="1950" spc="155" dirty="0">
                <a:solidFill>
                  <a:srgbClr val="231F20"/>
                </a:solidFill>
                <a:latin typeface="Arial"/>
                <a:cs typeface="Arial"/>
              </a:rPr>
              <a:t>for </a:t>
            </a:r>
            <a:r>
              <a:rPr sz="1950" spc="175" dirty="0">
                <a:solidFill>
                  <a:srgbClr val="231F20"/>
                </a:solidFill>
                <a:latin typeface="Arial"/>
                <a:cs typeface="Arial"/>
              </a:rPr>
              <a:t>the </a:t>
            </a:r>
            <a:r>
              <a:rPr sz="1950" spc="170" dirty="0">
                <a:solidFill>
                  <a:srgbClr val="231F20"/>
                </a:solidFill>
                <a:latin typeface="Arial"/>
                <a:cs typeface="Arial"/>
              </a:rPr>
              <a:t>other </a:t>
            </a:r>
            <a:r>
              <a:rPr sz="1950" spc="120" dirty="0">
                <a:solidFill>
                  <a:srgbClr val="231F20"/>
                </a:solidFill>
                <a:latin typeface="Arial"/>
                <a:cs typeface="Arial"/>
              </a:rPr>
              <a:t>unprovable</a:t>
            </a:r>
            <a:r>
              <a:rPr sz="1950" spc="755" dirty="0">
                <a:solidFill>
                  <a:srgbClr val="231F20"/>
                </a:solidFill>
                <a:latin typeface="Arial"/>
                <a:cs typeface="Arial"/>
              </a:rPr>
              <a:t> </a:t>
            </a:r>
            <a:r>
              <a:rPr sz="1950" spc="95" dirty="0">
                <a:solidFill>
                  <a:srgbClr val="231F20"/>
                </a:solidFill>
                <a:latin typeface="Arial"/>
                <a:cs typeface="Arial"/>
              </a:rPr>
              <a:t>subgoals</a:t>
            </a:r>
            <a:endParaRPr sz="1950">
              <a:latin typeface="Arial"/>
              <a:cs typeface="Arial"/>
            </a:endParaRPr>
          </a:p>
          <a:p>
            <a:pPr marL="300990" marR="234950" indent="-288290">
              <a:lnSpc>
                <a:spcPct val="123000"/>
              </a:lnSpc>
              <a:spcBef>
                <a:spcPts val="1260"/>
              </a:spcBef>
              <a:buSzPct val="105128"/>
              <a:buFont typeface="Lucida Sans Unicode"/>
              <a:buChar char="•"/>
              <a:tabLst>
                <a:tab pos="301625" algn="l"/>
              </a:tabLst>
            </a:pPr>
            <a:r>
              <a:rPr sz="1950" spc="250" dirty="0">
                <a:solidFill>
                  <a:srgbClr val="231F20"/>
                </a:solidFill>
                <a:latin typeface="Arial"/>
                <a:cs typeface="Arial"/>
              </a:rPr>
              <a:t>The </a:t>
            </a:r>
            <a:r>
              <a:rPr sz="1950" spc="140" dirty="0">
                <a:solidFill>
                  <a:srgbClr val="231F20"/>
                </a:solidFill>
                <a:latin typeface="Arial"/>
                <a:cs typeface="Arial"/>
              </a:rPr>
              <a:t>problem </a:t>
            </a:r>
            <a:r>
              <a:rPr sz="1950" spc="40" dirty="0">
                <a:solidFill>
                  <a:srgbClr val="231F20"/>
                </a:solidFill>
                <a:latin typeface="Arial"/>
                <a:cs typeface="Arial"/>
              </a:rPr>
              <a:t>is </a:t>
            </a:r>
            <a:r>
              <a:rPr sz="1950" spc="220" dirty="0">
                <a:solidFill>
                  <a:srgbClr val="231F20"/>
                </a:solidFill>
                <a:latin typeface="Arial"/>
                <a:cs typeface="Arial"/>
              </a:rPr>
              <a:t>not </a:t>
            </a:r>
            <a:r>
              <a:rPr sz="1950" spc="235" dirty="0">
                <a:solidFill>
                  <a:srgbClr val="231F20"/>
                </a:solidFill>
                <a:latin typeface="Arial"/>
                <a:cs typeface="Arial"/>
              </a:rPr>
              <a:t>that </a:t>
            </a:r>
            <a:r>
              <a:rPr sz="2050" spc="55" dirty="0">
                <a:solidFill>
                  <a:srgbClr val="0000FF"/>
                </a:solidFill>
                <a:latin typeface="SimSun"/>
                <a:cs typeface="SimSun"/>
              </a:rPr>
              <a:t>safe </a:t>
            </a:r>
            <a:r>
              <a:rPr sz="1950" spc="40" dirty="0">
                <a:solidFill>
                  <a:srgbClr val="231F20"/>
                </a:solidFill>
                <a:latin typeface="Arial"/>
                <a:cs typeface="Arial"/>
              </a:rPr>
              <a:t>is </a:t>
            </a:r>
            <a:r>
              <a:rPr sz="1950" spc="160" dirty="0">
                <a:solidFill>
                  <a:srgbClr val="231F20"/>
                </a:solidFill>
                <a:latin typeface="Arial"/>
                <a:cs typeface="Arial"/>
              </a:rPr>
              <a:t>untrue, </a:t>
            </a:r>
            <a:r>
              <a:rPr sz="1950" spc="220" dirty="0">
                <a:solidFill>
                  <a:srgbClr val="231F20"/>
                </a:solidFill>
                <a:latin typeface="Arial"/>
                <a:cs typeface="Arial"/>
              </a:rPr>
              <a:t>but </a:t>
            </a:r>
            <a:r>
              <a:rPr sz="1950" spc="235" dirty="0">
                <a:solidFill>
                  <a:srgbClr val="231F20"/>
                </a:solidFill>
                <a:latin typeface="Arial"/>
                <a:cs typeface="Arial"/>
              </a:rPr>
              <a:t>that </a:t>
            </a:r>
            <a:r>
              <a:rPr sz="1950" spc="229" dirty="0">
                <a:solidFill>
                  <a:srgbClr val="231F20"/>
                </a:solidFill>
                <a:latin typeface="Arial"/>
                <a:cs typeface="Arial"/>
              </a:rPr>
              <a:t>it </a:t>
            </a:r>
            <a:r>
              <a:rPr sz="1950" spc="40" dirty="0">
                <a:solidFill>
                  <a:srgbClr val="231F20"/>
                </a:solidFill>
                <a:latin typeface="Arial"/>
                <a:cs typeface="Arial"/>
              </a:rPr>
              <a:t>is </a:t>
            </a:r>
            <a:r>
              <a:rPr sz="1950" spc="220" dirty="0">
                <a:solidFill>
                  <a:srgbClr val="231F20"/>
                </a:solidFill>
                <a:latin typeface="Arial"/>
                <a:cs typeface="Arial"/>
              </a:rPr>
              <a:t>not  </a:t>
            </a:r>
            <a:r>
              <a:rPr sz="1950" spc="145" dirty="0">
                <a:solidFill>
                  <a:srgbClr val="FF0000"/>
                </a:solidFill>
                <a:latin typeface="Arial"/>
                <a:cs typeface="Arial"/>
              </a:rPr>
              <a:t>inductive</a:t>
            </a:r>
            <a:endParaRPr sz="1950">
              <a:latin typeface="Arial"/>
              <a:cs typeface="Arial"/>
            </a:endParaRPr>
          </a:p>
          <a:p>
            <a:pPr marL="741680" marR="645160" lvl="1" indent="-288290">
              <a:lnSpc>
                <a:spcPct val="125000"/>
              </a:lnSpc>
              <a:spcBef>
                <a:spcPts val="515"/>
              </a:spcBef>
              <a:buSzPct val="105128"/>
              <a:buFont typeface="Lucida Sans Unicode"/>
              <a:buChar char="◦"/>
              <a:tabLst>
                <a:tab pos="742315" algn="l"/>
              </a:tabLst>
            </a:pPr>
            <a:r>
              <a:rPr sz="1950" spc="220" dirty="0">
                <a:solidFill>
                  <a:srgbClr val="231F20"/>
                </a:solidFill>
                <a:latin typeface="Arial"/>
                <a:cs typeface="Arial"/>
              </a:rPr>
              <a:t>It </a:t>
            </a:r>
            <a:r>
              <a:rPr sz="1950" spc="90" dirty="0">
                <a:solidFill>
                  <a:srgbClr val="231F20"/>
                </a:solidFill>
                <a:latin typeface="Arial"/>
                <a:cs typeface="Arial"/>
              </a:rPr>
              <a:t>does </a:t>
            </a:r>
            <a:r>
              <a:rPr sz="1950" spc="220" dirty="0">
                <a:solidFill>
                  <a:srgbClr val="231F20"/>
                </a:solidFill>
                <a:latin typeface="Arial"/>
                <a:cs typeface="Arial"/>
              </a:rPr>
              <a:t>not </a:t>
            </a:r>
            <a:r>
              <a:rPr sz="1950" spc="114" dirty="0">
                <a:solidFill>
                  <a:srgbClr val="231F20"/>
                </a:solidFill>
                <a:latin typeface="Arial"/>
                <a:cs typeface="Arial"/>
              </a:rPr>
              <a:t>provide </a:t>
            </a:r>
            <a:r>
              <a:rPr sz="1950" spc="85" dirty="0">
                <a:solidFill>
                  <a:srgbClr val="231F20"/>
                </a:solidFill>
                <a:latin typeface="Arial"/>
                <a:cs typeface="Arial"/>
              </a:rPr>
              <a:t>a </a:t>
            </a:r>
            <a:r>
              <a:rPr sz="1950" spc="160" dirty="0">
                <a:solidFill>
                  <a:srgbClr val="231F20"/>
                </a:solidFill>
                <a:latin typeface="Arial"/>
                <a:cs typeface="Arial"/>
              </a:rPr>
              <a:t>strong </a:t>
            </a:r>
            <a:r>
              <a:rPr sz="1950" spc="130" dirty="0">
                <a:solidFill>
                  <a:srgbClr val="231F20"/>
                </a:solidFill>
                <a:latin typeface="Arial"/>
                <a:cs typeface="Arial"/>
              </a:rPr>
              <a:t>enough </a:t>
            </a:r>
            <a:r>
              <a:rPr sz="1950" spc="140" dirty="0">
                <a:solidFill>
                  <a:srgbClr val="231F20"/>
                </a:solidFill>
                <a:latin typeface="Arial"/>
                <a:cs typeface="Arial"/>
              </a:rPr>
              <a:t>antecedent </a:t>
            </a:r>
            <a:r>
              <a:rPr sz="1950" spc="250" dirty="0">
                <a:solidFill>
                  <a:srgbClr val="231F20"/>
                </a:solidFill>
                <a:latin typeface="Arial"/>
                <a:cs typeface="Arial"/>
              </a:rPr>
              <a:t>to  </a:t>
            </a:r>
            <a:r>
              <a:rPr sz="1950" spc="155" dirty="0">
                <a:solidFill>
                  <a:srgbClr val="231F20"/>
                </a:solidFill>
                <a:latin typeface="Arial"/>
                <a:cs typeface="Arial"/>
              </a:rPr>
              <a:t>support </a:t>
            </a:r>
            <a:r>
              <a:rPr sz="1950" spc="175" dirty="0">
                <a:solidFill>
                  <a:srgbClr val="231F20"/>
                </a:solidFill>
                <a:latin typeface="Arial"/>
                <a:cs typeface="Arial"/>
              </a:rPr>
              <a:t>the </a:t>
            </a:r>
            <a:r>
              <a:rPr sz="1950" spc="170" dirty="0">
                <a:solidFill>
                  <a:srgbClr val="231F20"/>
                </a:solidFill>
                <a:latin typeface="Arial"/>
                <a:cs typeface="Arial"/>
              </a:rPr>
              <a:t>proof </a:t>
            </a:r>
            <a:r>
              <a:rPr sz="1950" spc="185" dirty="0">
                <a:solidFill>
                  <a:srgbClr val="231F20"/>
                </a:solidFill>
                <a:latin typeface="Arial"/>
                <a:cs typeface="Arial"/>
              </a:rPr>
              <a:t>of </a:t>
            </a:r>
            <a:r>
              <a:rPr sz="1950" spc="145" dirty="0">
                <a:solidFill>
                  <a:srgbClr val="231F20"/>
                </a:solidFill>
                <a:latin typeface="Arial"/>
                <a:cs typeface="Arial"/>
              </a:rPr>
              <a:t>its </a:t>
            </a:r>
            <a:r>
              <a:rPr sz="1950" spc="160" dirty="0">
                <a:solidFill>
                  <a:srgbClr val="231F20"/>
                </a:solidFill>
                <a:latin typeface="Arial"/>
                <a:cs typeface="Arial"/>
              </a:rPr>
              <a:t>own</a:t>
            </a:r>
            <a:r>
              <a:rPr sz="1950" spc="830" dirty="0">
                <a:solidFill>
                  <a:srgbClr val="231F20"/>
                </a:solidFill>
                <a:latin typeface="Arial"/>
                <a:cs typeface="Arial"/>
              </a:rPr>
              <a:t> </a:t>
            </a:r>
            <a:r>
              <a:rPr sz="1950" spc="105" dirty="0">
                <a:solidFill>
                  <a:srgbClr val="231F20"/>
                </a:solidFill>
                <a:latin typeface="Arial"/>
                <a:cs typeface="Arial"/>
              </a:rPr>
              <a:t>invariance</a:t>
            </a:r>
            <a:endParaRPr sz="1950">
              <a:latin typeface="Arial"/>
              <a:cs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1371523"/>
            <a:ext cx="8206740" cy="3390265"/>
          </a:xfrm>
          <a:prstGeom prst="rect">
            <a:avLst/>
          </a:prstGeom>
        </p:spPr>
        <p:txBody>
          <a:bodyPr vert="horz" wrap="square" lIns="0" tIns="0" rIns="0" bIns="0" rtlCol="0">
            <a:spAutoFit/>
          </a:bodyPr>
          <a:lstStyle/>
          <a:p>
            <a:pPr marL="2351405">
              <a:lnSpc>
                <a:spcPct val="100000"/>
              </a:lnSpc>
            </a:pPr>
            <a:r>
              <a:rPr sz="1950" spc="235" dirty="0">
                <a:solidFill>
                  <a:srgbClr val="231F20"/>
                </a:solidFill>
                <a:latin typeface="Arial"/>
                <a:cs typeface="Arial"/>
              </a:rPr>
              <a:t>Second </a:t>
            </a:r>
            <a:r>
              <a:rPr sz="1950" spc="335" dirty="0">
                <a:solidFill>
                  <a:srgbClr val="231F20"/>
                </a:solidFill>
                <a:latin typeface="Arial"/>
                <a:cs typeface="Arial"/>
              </a:rPr>
              <a:t>Attempted</a:t>
            </a:r>
            <a:r>
              <a:rPr sz="1950" spc="425" dirty="0">
                <a:solidFill>
                  <a:srgbClr val="231F20"/>
                </a:solidFill>
                <a:latin typeface="Arial"/>
                <a:cs typeface="Arial"/>
              </a:rPr>
              <a:t> </a:t>
            </a:r>
            <a:r>
              <a:rPr sz="1950" spc="315" dirty="0">
                <a:solidFill>
                  <a:srgbClr val="231F20"/>
                </a:solidFill>
                <a:latin typeface="Arial"/>
                <a:cs typeface="Arial"/>
              </a:rPr>
              <a:t>Proof</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250" dirty="0">
                <a:solidFill>
                  <a:srgbClr val="231F20"/>
                </a:solidFill>
                <a:latin typeface="Arial"/>
                <a:cs typeface="Arial"/>
              </a:rPr>
              <a:t>The </a:t>
            </a:r>
            <a:r>
              <a:rPr sz="1950" spc="145" dirty="0">
                <a:solidFill>
                  <a:srgbClr val="231F20"/>
                </a:solidFill>
                <a:latin typeface="Arial"/>
                <a:cs typeface="Arial"/>
              </a:rPr>
              <a:t>solution </a:t>
            </a:r>
            <a:r>
              <a:rPr sz="1950" spc="40" dirty="0">
                <a:solidFill>
                  <a:srgbClr val="231F20"/>
                </a:solidFill>
                <a:latin typeface="Arial"/>
                <a:cs typeface="Arial"/>
              </a:rPr>
              <a:t>is </a:t>
            </a:r>
            <a:r>
              <a:rPr sz="1950" spc="250" dirty="0">
                <a:solidFill>
                  <a:srgbClr val="231F20"/>
                </a:solidFill>
                <a:latin typeface="Arial"/>
                <a:cs typeface="Arial"/>
              </a:rPr>
              <a:t>to </a:t>
            </a:r>
            <a:r>
              <a:rPr sz="1950" spc="110" dirty="0">
                <a:solidFill>
                  <a:srgbClr val="231F20"/>
                </a:solidFill>
                <a:latin typeface="Arial"/>
                <a:cs typeface="Arial"/>
              </a:rPr>
              <a:t>prove </a:t>
            </a:r>
            <a:r>
              <a:rPr sz="1950" spc="85" dirty="0">
                <a:solidFill>
                  <a:srgbClr val="231F20"/>
                </a:solidFill>
                <a:latin typeface="Arial"/>
                <a:cs typeface="Arial"/>
              </a:rPr>
              <a:t>a </a:t>
            </a:r>
            <a:r>
              <a:rPr sz="1950" spc="140" dirty="0">
                <a:solidFill>
                  <a:srgbClr val="231F20"/>
                </a:solidFill>
                <a:latin typeface="Arial"/>
                <a:cs typeface="Arial"/>
              </a:rPr>
              <a:t>stronger </a:t>
            </a:r>
            <a:r>
              <a:rPr sz="1950" spc="150" dirty="0">
                <a:solidFill>
                  <a:srgbClr val="231F20"/>
                </a:solidFill>
                <a:latin typeface="Arial"/>
                <a:cs typeface="Arial"/>
              </a:rPr>
              <a:t>property </a:t>
            </a:r>
            <a:r>
              <a:rPr sz="1950" spc="185" dirty="0">
                <a:solidFill>
                  <a:srgbClr val="231F20"/>
                </a:solidFill>
                <a:latin typeface="Arial"/>
                <a:cs typeface="Arial"/>
              </a:rPr>
              <a:t>than </a:t>
            </a:r>
            <a:r>
              <a:rPr sz="1950" spc="175" dirty="0">
                <a:solidFill>
                  <a:srgbClr val="231F20"/>
                </a:solidFill>
                <a:latin typeface="Arial"/>
                <a:cs typeface="Arial"/>
              </a:rPr>
              <a:t>the </a:t>
            </a:r>
            <a:r>
              <a:rPr sz="1950" spc="105" dirty="0">
                <a:solidFill>
                  <a:srgbClr val="231F20"/>
                </a:solidFill>
                <a:latin typeface="Arial"/>
                <a:cs typeface="Arial"/>
              </a:rPr>
              <a:t>one </a:t>
            </a:r>
            <a:r>
              <a:rPr sz="1950" spc="95" dirty="0">
                <a:solidFill>
                  <a:srgbClr val="231F20"/>
                </a:solidFill>
                <a:latin typeface="Arial"/>
                <a:cs typeface="Arial"/>
              </a:rPr>
              <a:t>we  </a:t>
            </a:r>
            <a:r>
              <a:rPr sz="1950" spc="65" dirty="0">
                <a:solidFill>
                  <a:srgbClr val="231F20"/>
                </a:solidFill>
                <a:latin typeface="Arial"/>
                <a:cs typeface="Arial"/>
              </a:rPr>
              <a:t>are </a:t>
            </a:r>
            <a:r>
              <a:rPr sz="1950" spc="100" dirty="0">
                <a:solidFill>
                  <a:srgbClr val="231F20"/>
                </a:solidFill>
                <a:latin typeface="Arial"/>
                <a:cs typeface="Arial"/>
              </a:rPr>
              <a:t>really </a:t>
            </a:r>
            <a:r>
              <a:rPr sz="1950" spc="130" dirty="0">
                <a:solidFill>
                  <a:srgbClr val="231F20"/>
                </a:solidFill>
                <a:latin typeface="Arial"/>
                <a:cs typeface="Arial"/>
              </a:rPr>
              <a:t>interested</a:t>
            </a:r>
            <a:r>
              <a:rPr sz="1950" spc="645" dirty="0">
                <a:solidFill>
                  <a:srgbClr val="231F20"/>
                </a:solidFill>
                <a:latin typeface="Arial"/>
                <a:cs typeface="Arial"/>
              </a:rPr>
              <a:t> </a:t>
            </a:r>
            <a:r>
              <a:rPr sz="1950" spc="130" dirty="0">
                <a:solidFill>
                  <a:srgbClr val="231F20"/>
                </a:solidFill>
                <a:latin typeface="Arial"/>
                <a:cs typeface="Arial"/>
              </a:rPr>
              <a:t>in</a:t>
            </a:r>
            <a:endParaRPr sz="1950">
              <a:latin typeface="Arial"/>
              <a:cs typeface="Arial"/>
            </a:endParaRPr>
          </a:p>
          <a:p>
            <a:pPr>
              <a:lnSpc>
                <a:spcPct val="100000"/>
              </a:lnSpc>
              <a:spcBef>
                <a:spcPts val="26"/>
              </a:spcBef>
            </a:pPr>
            <a:endParaRPr sz="2000">
              <a:latin typeface="Times New Roman"/>
              <a:cs typeface="Times New Roman"/>
            </a:endParaRPr>
          </a:p>
          <a:p>
            <a:pPr marL="576580" marR="3488690" indent="-275590">
              <a:lnSpc>
                <a:spcPct val="118900"/>
              </a:lnSpc>
            </a:pPr>
            <a:r>
              <a:rPr sz="2050" spc="55" dirty="0">
                <a:solidFill>
                  <a:srgbClr val="0000FF"/>
                </a:solidFill>
                <a:latin typeface="SimSun"/>
                <a:cs typeface="SimSun"/>
              </a:rPr>
              <a:t>strong_safe(s): bool = safe(s)  AND </a:t>
            </a:r>
            <a:r>
              <a:rPr sz="2050" spc="-150" dirty="0">
                <a:solidFill>
                  <a:srgbClr val="0000FF"/>
                </a:solidFill>
                <a:latin typeface="SimSun"/>
                <a:cs typeface="SimSun"/>
              </a:rPr>
              <a:t>(s‘t1 </a:t>
            </a:r>
            <a:r>
              <a:rPr sz="2050" spc="55" dirty="0">
                <a:solidFill>
                  <a:srgbClr val="0000FF"/>
                </a:solidFill>
                <a:latin typeface="SimSun"/>
                <a:cs typeface="SimSun"/>
              </a:rPr>
              <a:t>= 0 =&gt; </a:t>
            </a:r>
            <a:r>
              <a:rPr sz="2050" spc="-150" dirty="0">
                <a:solidFill>
                  <a:srgbClr val="0000FF"/>
                </a:solidFill>
                <a:latin typeface="SimSun"/>
                <a:cs typeface="SimSun"/>
              </a:rPr>
              <a:t>s‘pc1 </a:t>
            </a:r>
            <a:r>
              <a:rPr sz="2050" spc="55" dirty="0">
                <a:solidFill>
                  <a:srgbClr val="0000FF"/>
                </a:solidFill>
                <a:latin typeface="SimSun"/>
                <a:cs typeface="SimSun"/>
              </a:rPr>
              <a:t>= idle)  AND </a:t>
            </a:r>
            <a:r>
              <a:rPr sz="2050" spc="-150" dirty="0">
                <a:solidFill>
                  <a:srgbClr val="0000FF"/>
                </a:solidFill>
                <a:latin typeface="SimSun"/>
                <a:cs typeface="SimSun"/>
              </a:rPr>
              <a:t>(s‘t2 </a:t>
            </a:r>
            <a:r>
              <a:rPr sz="2050" spc="55" dirty="0">
                <a:solidFill>
                  <a:srgbClr val="0000FF"/>
                </a:solidFill>
                <a:latin typeface="SimSun"/>
                <a:cs typeface="SimSun"/>
              </a:rPr>
              <a:t>= 0 =&gt; </a:t>
            </a:r>
            <a:r>
              <a:rPr sz="2050" spc="-150" dirty="0">
                <a:solidFill>
                  <a:srgbClr val="0000FF"/>
                </a:solidFill>
                <a:latin typeface="SimSun"/>
                <a:cs typeface="SimSun"/>
              </a:rPr>
              <a:t>s‘pc2 </a:t>
            </a:r>
            <a:r>
              <a:rPr sz="2050" spc="55" dirty="0">
                <a:solidFill>
                  <a:srgbClr val="0000FF"/>
                </a:solidFill>
                <a:latin typeface="SimSun"/>
                <a:cs typeface="SimSun"/>
              </a:rPr>
              <a:t>=</a:t>
            </a:r>
            <a:r>
              <a:rPr sz="2050" spc="430" dirty="0">
                <a:solidFill>
                  <a:srgbClr val="0000FF"/>
                </a:solidFill>
                <a:latin typeface="SimSun"/>
                <a:cs typeface="SimSun"/>
              </a:rPr>
              <a:t> </a:t>
            </a:r>
            <a:r>
              <a:rPr sz="2050" spc="55" dirty="0">
                <a:solidFill>
                  <a:srgbClr val="0000FF"/>
                </a:solidFill>
                <a:latin typeface="SimSun"/>
                <a:cs typeface="SimSun"/>
              </a:rPr>
              <a:t>idle)</a:t>
            </a:r>
            <a:endParaRPr sz="2050">
              <a:latin typeface="SimSun"/>
              <a:cs typeface="SimSun"/>
            </a:endParaRPr>
          </a:p>
          <a:p>
            <a:pPr>
              <a:lnSpc>
                <a:spcPct val="100000"/>
              </a:lnSpc>
              <a:spcBef>
                <a:spcPts val="57"/>
              </a:spcBef>
            </a:pPr>
            <a:endParaRPr sz="2900">
              <a:latin typeface="Times New Roman"/>
              <a:cs typeface="Times New Roman"/>
            </a:endParaRPr>
          </a:p>
          <a:p>
            <a:pPr marL="300990">
              <a:lnSpc>
                <a:spcPct val="100000"/>
              </a:lnSpc>
            </a:pPr>
            <a:r>
              <a:rPr sz="2050" spc="55" dirty="0">
                <a:solidFill>
                  <a:srgbClr val="0000FF"/>
                </a:solidFill>
                <a:latin typeface="SimSun"/>
                <a:cs typeface="SimSun"/>
              </a:rPr>
              <a:t>second_try: LEMMA</a:t>
            </a:r>
            <a:r>
              <a:rPr sz="2050" spc="-30" dirty="0">
                <a:solidFill>
                  <a:srgbClr val="0000FF"/>
                </a:solidFill>
                <a:latin typeface="SimSun"/>
                <a:cs typeface="SimSun"/>
              </a:rPr>
              <a:t> </a:t>
            </a:r>
            <a:r>
              <a:rPr sz="2050" spc="55" dirty="0">
                <a:solidFill>
                  <a:srgbClr val="0000FF"/>
                </a:solidFill>
                <a:latin typeface="SimSun"/>
                <a:cs typeface="SimSun"/>
              </a:rPr>
              <a:t>indinv(strong_safe)</a:t>
            </a:r>
            <a:endParaRPr sz="2050">
              <a:latin typeface="SimSun"/>
              <a:cs typeface="SimSun"/>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056245" cy="1706880"/>
          </a:xfrm>
          <a:prstGeom prst="rect">
            <a:avLst/>
          </a:prstGeom>
        </p:spPr>
        <p:txBody>
          <a:bodyPr vert="horz" wrap="square" lIns="0" tIns="0" rIns="0" bIns="0" rtlCol="0">
            <a:spAutoFit/>
          </a:bodyPr>
          <a:lstStyle/>
          <a:p>
            <a:pPr marL="1418590">
              <a:lnSpc>
                <a:spcPct val="100000"/>
              </a:lnSpc>
              <a:tabLst>
                <a:tab pos="5231765" algn="l"/>
                <a:tab pos="6042660" algn="l"/>
              </a:tabLst>
            </a:pPr>
            <a:r>
              <a:rPr sz="1950" spc="235" dirty="0">
                <a:solidFill>
                  <a:srgbClr val="231F20"/>
                </a:solidFill>
                <a:latin typeface="Arial"/>
                <a:cs typeface="Arial"/>
              </a:rPr>
              <a:t>Second</a:t>
            </a:r>
            <a:r>
              <a:rPr sz="1950" spc="935" dirty="0">
                <a:solidFill>
                  <a:srgbClr val="231F20"/>
                </a:solidFill>
                <a:latin typeface="Arial"/>
                <a:cs typeface="Arial"/>
              </a:rPr>
              <a:t> </a:t>
            </a:r>
            <a:r>
              <a:rPr sz="1950" spc="335" dirty="0">
                <a:solidFill>
                  <a:srgbClr val="231F20"/>
                </a:solidFill>
                <a:latin typeface="Arial"/>
                <a:cs typeface="Arial"/>
              </a:rPr>
              <a:t>Attempted</a:t>
            </a:r>
            <a:r>
              <a:rPr sz="1950" spc="935" dirty="0">
                <a:solidFill>
                  <a:srgbClr val="231F20"/>
                </a:solidFill>
                <a:latin typeface="Arial"/>
                <a:cs typeface="Arial"/>
              </a:rPr>
              <a:t> </a:t>
            </a:r>
            <a:r>
              <a:rPr sz="1950" spc="300" dirty="0">
                <a:solidFill>
                  <a:srgbClr val="231F20"/>
                </a:solidFill>
                <a:latin typeface="Arial"/>
                <a:cs typeface="Arial"/>
              </a:rPr>
              <a:t>Proof:	</a:t>
            </a:r>
            <a:r>
              <a:rPr sz="1950" spc="285" dirty="0">
                <a:solidFill>
                  <a:srgbClr val="231F20"/>
                </a:solidFill>
                <a:latin typeface="Arial"/>
                <a:cs typeface="Arial"/>
              </a:rPr>
              <a:t>Aha!	</a:t>
            </a:r>
            <a:r>
              <a:rPr sz="1950" spc="265" dirty="0">
                <a:solidFill>
                  <a:srgbClr val="231F20"/>
                </a:solidFill>
                <a:latin typeface="Arial"/>
                <a:cs typeface="Arial"/>
              </a:rPr>
              <a:t>Again</a:t>
            </a:r>
            <a:endParaRPr sz="1950">
              <a:latin typeface="Arial"/>
              <a:cs typeface="Arial"/>
            </a:endParaRPr>
          </a:p>
          <a:p>
            <a:pPr marL="300990" marR="5080" indent="-288290">
              <a:lnSpc>
                <a:spcPct val="125000"/>
              </a:lnSpc>
              <a:buSzPct val="105128"/>
              <a:buFont typeface="Lucida Sans Unicode"/>
              <a:buChar char="•"/>
              <a:tabLst>
                <a:tab pos="301625" algn="l"/>
              </a:tabLst>
            </a:pPr>
            <a:r>
              <a:rPr sz="1950" spc="250" dirty="0">
                <a:solidFill>
                  <a:srgbClr val="231F20"/>
                </a:solidFill>
                <a:latin typeface="Arial"/>
                <a:cs typeface="Arial"/>
              </a:rPr>
              <a:t>The </a:t>
            </a:r>
            <a:r>
              <a:rPr sz="1950" spc="140" dirty="0">
                <a:solidFill>
                  <a:srgbClr val="231F20"/>
                </a:solidFill>
                <a:latin typeface="Arial"/>
                <a:cs typeface="Arial"/>
              </a:rPr>
              <a:t>stronger </a:t>
            </a:r>
            <a:r>
              <a:rPr sz="1950" spc="160" dirty="0">
                <a:solidFill>
                  <a:srgbClr val="231F20"/>
                </a:solidFill>
                <a:latin typeface="Arial"/>
                <a:cs typeface="Arial"/>
              </a:rPr>
              <a:t>formula </a:t>
            </a:r>
            <a:r>
              <a:rPr sz="1950" spc="65" dirty="0">
                <a:solidFill>
                  <a:srgbClr val="231F20"/>
                </a:solidFill>
                <a:latin typeface="Arial"/>
                <a:cs typeface="Arial"/>
              </a:rPr>
              <a:t>deals </a:t>
            </a:r>
            <a:r>
              <a:rPr sz="1950" spc="215" dirty="0">
                <a:solidFill>
                  <a:srgbClr val="231F20"/>
                </a:solidFill>
                <a:latin typeface="Arial"/>
                <a:cs typeface="Arial"/>
              </a:rPr>
              <a:t>with </a:t>
            </a:r>
            <a:r>
              <a:rPr sz="1950" spc="175" dirty="0">
                <a:solidFill>
                  <a:srgbClr val="231F20"/>
                </a:solidFill>
                <a:latin typeface="Arial"/>
                <a:cs typeface="Arial"/>
              </a:rPr>
              <a:t>the </a:t>
            </a:r>
            <a:r>
              <a:rPr sz="1950" spc="50" dirty="0">
                <a:solidFill>
                  <a:srgbClr val="231F20"/>
                </a:solidFill>
                <a:latin typeface="Arial"/>
                <a:cs typeface="Arial"/>
              </a:rPr>
              <a:t>case </a:t>
            </a:r>
            <a:r>
              <a:rPr sz="1950" spc="95" dirty="0">
                <a:solidFill>
                  <a:srgbClr val="231F20"/>
                </a:solidFill>
                <a:latin typeface="Arial"/>
                <a:cs typeface="Arial"/>
              </a:rPr>
              <a:t>we </a:t>
            </a:r>
            <a:r>
              <a:rPr sz="1950" spc="165" dirty="0">
                <a:solidFill>
                  <a:srgbClr val="231F20"/>
                </a:solidFill>
                <a:latin typeface="Arial"/>
                <a:cs typeface="Arial"/>
              </a:rPr>
              <a:t>just </a:t>
            </a:r>
            <a:r>
              <a:rPr sz="1950" spc="120" dirty="0">
                <a:solidFill>
                  <a:srgbClr val="231F20"/>
                </a:solidFill>
                <a:latin typeface="Arial"/>
                <a:cs typeface="Arial"/>
              </a:rPr>
              <a:t>examined,  </a:t>
            </a:r>
            <a:r>
              <a:rPr sz="1950" spc="130" dirty="0">
                <a:solidFill>
                  <a:srgbClr val="231F20"/>
                </a:solidFill>
                <a:latin typeface="Arial"/>
                <a:cs typeface="Arial"/>
              </a:rPr>
              <a:t>and </a:t>
            </a:r>
            <a:r>
              <a:rPr sz="1950" spc="175" dirty="0">
                <a:solidFill>
                  <a:srgbClr val="231F20"/>
                </a:solidFill>
                <a:latin typeface="Arial"/>
                <a:cs typeface="Arial"/>
              </a:rPr>
              <a:t>the </a:t>
            </a:r>
            <a:r>
              <a:rPr sz="1950" spc="165" dirty="0">
                <a:solidFill>
                  <a:srgbClr val="231F20"/>
                </a:solidFill>
                <a:latin typeface="Arial"/>
                <a:cs typeface="Arial"/>
              </a:rPr>
              <a:t>symmetric </a:t>
            </a:r>
            <a:r>
              <a:rPr sz="1950" spc="50" dirty="0">
                <a:solidFill>
                  <a:srgbClr val="231F20"/>
                </a:solidFill>
                <a:latin typeface="Arial"/>
                <a:cs typeface="Arial"/>
              </a:rPr>
              <a:t>case </a:t>
            </a:r>
            <a:r>
              <a:rPr sz="1950" spc="155" dirty="0">
                <a:solidFill>
                  <a:srgbClr val="231F20"/>
                </a:solidFill>
                <a:latin typeface="Arial"/>
                <a:cs typeface="Arial"/>
              </a:rPr>
              <a:t>for </a:t>
            </a:r>
            <a:r>
              <a:rPr sz="1950" spc="105" dirty="0">
                <a:solidFill>
                  <a:srgbClr val="231F20"/>
                </a:solidFill>
                <a:latin typeface="Arial"/>
                <a:cs typeface="Arial"/>
              </a:rPr>
              <a:t>Process </a:t>
            </a:r>
            <a:r>
              <a:rPr sz="1950" spc="150" dirty="0">
                <a:solidFill>
                  <a:srgbClr val="231F20"/>
                </a:solidFill>
                <a:latin typeface="Arial"/>
                <a:cs typeface="Arial"/>
              </a:rPr>
              <a:t>2, </a:t>
            </a:r>
            <a:r>
              <a:rPr sz="1950" spc="220" dirty="0">
                <a:solidFill>
                  <a:srgbClr val="231F20"/>
                </a:solidFill>
                <a:latin typeface="Arial"/>
                <a:cs typeface="Arial"/>
              </a:rPr>
              <a:t>but </a:t>
            </a:r>
            <a:r>
              <a:rPr sz="1950" spc="130" dirty="0">
                <a:solidFill>
                  <a:srgbClr val="231F20"/>
                </a:solidFill>
                <a:latin typeface="Arial"/>
                <a:cs typeface="Arial"/>
              </a:rPr>
              <a:t>still </a:t>
            </a:r>
            <a:r>
              <a:rPr sz="1950" spc="70" dirty="0">
                <a:solidFill>
                  <a:srgbClr val="231F20"/>
                </a:solidFill>
                <a:latin typeface="Arial"/>
                <a:cs typeface="Arial"/>
              </a:rPr>
              <a:t>has </a:t>
            </a:r>
            <a:r>
              <a:rPr sz="1950" spc="200" dirty="0">
                <a:solidFill>
                  <a:srgbClr val="231F20"/>
                </a:solidFill>
                <a:latin typeface="Arial"/>
                <a:cs typeface="Arial"/>
              </a:rPr>
              <a:t>two  </a:t>
            </a:r>
            <a:r>
              <a:rPr sz="1950" spc="125" dirty="0">
                <a:solidFill>
                  <a:srgbClr val="231F20"/>
                </a:solidFill>
                <a:latin typeface="Arial"/>
                <a:cs typeface="Arial"/>
              </a:rPr>
              <a:t>unproved </a:t>
            </a:r>
            <a:r>
              <a:rPr sz="1950" spc="100" dirty="0">
                <a:solidFill>
                  <a:srgbClr val="231F20"/>
                </a:solidFill>
                <a:latin typeface="Arial"/>
                <a:cs typeface="Arial"/>
              </a:rPr>
              <a:t>subgoals; </a:t>
            </a:r>
            <a:r>
              <a:rPr sz="1950" spc="95" dirty="0">
                <a:solidFill>
                  <a:srgbClr val="231F20"/>
                </a:solidFill>
                <a:latin typeface="Arial"/>
                <a:cs typeface="Arial"/>
              </a:rPr>
              <a:t>here’s </a:t>
            </a:r>
            <a:r>
              <a:rPr sz="1950" spc="105" dirty="0">
                <a:solidFill>
                  <a:srgbClr val="231F20"/>
                </a:solidFill>
                <a:latin typeface="Arial"/>
                <a:cs typeface="Arial"/>
              </a:rPr>
              <a:t>one </a:t>
            </a:r>
            <a:r>
              <a:rPr sz="1950" spc="185" dirty="0">
                <a:solidFill>
                  <a:srgbClr val="231F20"/>
                </a:solidFill>
                <a:latin typeface="Arial"/>
                <a:cs typeface="Arial"/>
              </a:rPr>
              <a:t>of </a:t>
            </a:r>
            <a:r>
              <a:rPr sz="1950" spc="220" dirty="0">
                <a:solidFill>
                  <a:srgbClr val="231F20"/>
                </a:solidFill>
                <a:latin typeface="Arial"/>
                <a:cs typeface="Arial"/>
              </a:rPr>
              <a:t> </a:t>
            </a:r>
            <a:r>
              <a:rPr sz="1950" spc="204" dirty="0">
                <a:solidFill>
                  <a:srgbClr val="231F20"/>
                </a:solidFill>
                <a:latin typeface="Arial"/>
                <a:cs typeface="Arial"/>
              </a:rPr>
              <a:t>them</a:t>
            </a:r>
            <a:endParaRPr sz="1950">
              <a:latin typeface="Arial"/>
              <a:cs typeface="Arial"/>
            </a:endParaRPr>
          </a:p>
          <a:p>
            <a:pPr marL="300990">
              <a:lnSpc>
                <a:spcPts val="2120"/>
              </a:lnSpc>
            </a:pPr>
            <a:r>
              <a:rPr sz="2050" spc="55" dirty="0">
                <a:solidFill>
                  <a:srgbClr val="0000FF"/>
                </a:solidFill>
                <a:latin typeface="SimSun"/>
                <a:cs typeface="SimSun"/>
              </a:rPr>
              <a:t>second_try.2</a:t>
            </a:r>
            <a:r>
              <a:rPr sz="2050" spc="-3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p:txBody>
      </p:sp>
      <p:sp>
        <p:nvSpPr>
          <p:cNvPr id="3" name="object 3"/>
          <p:cNvSpPr txBox="1"/>
          <p:nvPr/>
        </p:nvSpPr>
        <p:spPr>
          <a:xfrm>
            <a:off x="1185162" y="2216187"/>
            <a:ext cx="563880" cy="1453515"/>
          </a:xfrm>
          <a:prstGeom prst="rect">
            <a:avLst/>
          </a:prstGeom>
        </p:spPr>
        <p:txBody>
          <a:bodyPr vert="horz" wrap="square" lIns="0" tIns="0" rIns="0" bIns="0" rtlCol="0">
            <a:spAutoFit/>
          </a:bodyPr>
          <a:lstStyle/>
          <a:p>
            <a:pPr marL="12700">
              <a:lnSpc>
                <a:spcPct val="100000"/>
              </a:lnSpc>
            </a:pPr>
            <a:r>
              <a:rPr sz="2050" spc="365" dirty="0">
                <a:solidFill>
                  <a:srgbClr val="0000FF"/>
                </a:solidFill>
                <a:latin typeface="Lucida Sans Unicode"/>
                <a:cs typeface="Lucida Sans Unicode"/>
              </a:rPr>
              <a:t>{</a:t>
            </a:r>
            <a:r>
              <a:rPr sz="2050" spc="50" dirty="0">
                <a:solidFill>
                  <a:srgbClr val="0000FF"/>
                </a:solidFill>
                <a:latin typeface="SimSun"/>
                <a:cs typeface="SimSun"/>
              </a:rPr>
              <a:t>-1</a:t>
            </a: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pPr>
            <a:r>
              <a:rPr sz="2050" spc="365" dirty="0">
                <a:solidFill>
                  <a:srgbClr val="0000FF"/>
                </a:solidFill>
                <a:latin typeface="Lucida Sans Unicode"/>
                <a:cs typeface="Lucida Sans Unicode"/>
              </a:rPr>
              <a:t>{</a:t>
            </a:r>
            <a:r>
              <a:rPr sz="2050" spc="50" dirty="0">
                <a:solidFill>
                  <a:srgbClr val="0000FF"/>
                </a:solidFill>
                <a:latin typeface="SimSun"/>
                <a:cs typeface="SimSun"/>
              </a:rPr>
              <a:t>-2</a:t>
            </a: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pPr>
            <a:r>
              <a:rPr sz="2050" spc="365" dirty="0">
                <a:solidFill>
                  <a:srgbClr val="0000FF"/>
                </a:solidFill>
                <a:latin typeface="Lucida Sans Unicode"/>
                <a:cs typeface="Lucida Sans Unicode"/>
              </a:rPr>
              <a:t>{</a:t>
            </a:r>
            <a:r>
              <a:rPr sz="2050" spc="50" dirty="0">
                <a:solidFill>
                  <a:srgbClr val="0000FF"/>
                </a:solidFill>
                <a:latin typeface="SimSun"/>
                <a:cs typeface="SimSun"/>
              </a:rPr>
              <a:t>-3</a:t>
            </a: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4"/>
              </a:spcBef>
            </a:pPr>
            <a:r>
              <a:rPr sz="2050" spc="365" dirty="0">
                <a:solidFill>
                  <a:srgbClr val="0000FF"/>
                </a:solidFill>
                <a:latin typeface="Lucida Sans Unicode"/>
                <a:cs typeface="Lucida Sans Unicode"/>
              </a:rPr>
              <a:t>{</a:t>
            </a:r>
            <a:r>
              <a:rPr sz="2050" spc="50" dirty="0">
                <a:solidFill>
                  <a:srgbClr val="0000FF"/>
                </a:solidFill>
                <a:latin typeface="SimSun"/>
                <a:cs typeface="SimSun"/>
              </a:rPr>
              <a:t>-4</a:t>
            </a:r>
            <a:r>
              <a:rPr sz="2050" spc="365" dirty="0">
                <a:solidFill>
                  <a:srgbClr val="0000FF"/>
                </a:solidFill>
                <a:latin typeface="Lucida Sans Unicode"/>
                <a:cs typeface="Lucida Sans Unicode"/>
              </a:rPr>
              <a:t>}</a:t>
            </a:r>
            <a:endParaRPr sz="2050">
              <a:latin typeface="Lucida Sans Unicode"/>
              <a:cs typeface="Lucida Sans Unicode"/>
            </a:endParaRPr>
          </a:p>
        </p:txBody>
      </p:sp>
      <p:sp>
        <p:nvSpPr>
          <p:cNvPr id="4" name="object 4"/>
          <p:cNvSpPr txBox="1"/>
          <p:nvPr/>
        </p:nvSpPr>
        <p:spPr>
          <a:xfrm>
            <a:off x="1998637" y="2157140"/>
            <a:ext cx="5398135" cy="1511935"/>
          </a:xfrm>
          <a:prstGeom prst="rect">
            <a:avLst/>
          </a:prstGeom>
        </p:spPr>
        <p:txBody>
          <a:bodyPr vert="horz" wrap="square" lIns="0" tIns="0" rIns="0" bIns="0" rtlCol="0">
            <a:spAutoFit/>
          </a:bodyPr>
          <a:lstStyle/>
          <a:p>
            <a:pPr marL="12700" marR="2760345">
              <a:lnSpc>
                <a:spcPct val="118900"/>
              </a:lnSpc>
            </a:pPr>
            <a:r>
              <a:rPr sz="2050" spc="-5" dirty="0">
                <a:solidFill>
                  <a:srgbClr val="0000FF"/>
                </a:solidFill>
                <a:latin typeface="SimSun"/>
                <a:cs typeface="SimSun"/>
              </a:rPr>
              <a:t>trying?(pre!1‘pc1)  </a:t>
            </a:r>
            <a:r>
              <a:rPr sz="2050" spc="-75" dirty="0">
                <a:solidFill>
                  <a:srgbClr val="0000FF"/>
                </a:solidFill>
                <a:latin typeface="SimSun"/>
                <a:cs typeface="SimSun"/>
              </a:rPr>
              <a:t>pre!1‘t1 </a:t>
            </a:r>
            <a:r>
              <a:rPr sz="2050" spc="55" dirty="0">
                <a:solidFill>
                  <a:srgbClr val="0000FF"/>
                </a:solidFill>
                <a:latin typeface="SimSun"/>
                <a:cs typeface="SimSun"/>
              </a:rPr>
              <a:t>&lt;</a:t>
            </a:r>
            <a:r>
              <a:rPr sz="2050" spc="135" dirty="0">
                <a:solidFill>
                  <a:srgbClr val="0000FF"/>
                </a:solidFill>
                <a:latin typeface="SimSun"/>
                <a:cs typeface="SimSun"/>
              </a:rPr>
              <a:t> </a:t>
            </a:r>
            <a:r>
              <a:rPr sz="2050" spc="-75" dirty="0">
                <a:solidFill>
                  <a:srgbClr val="0000FF"/>
                </a:solidFill>
                <a:latin typeface="SimSun"/>
                <a:cs typeface="SimSun"/>
              </a:rPr>
              <a:t>pre!1‘t2</a:t>
            </a:r>
            <a:endParaRPr sz="2050">
              <a:latin typeface="SimSun"/>
              <a:cs typeface="SimSun"/>
            </a:endParaRPr>
          </a:p>
          <a:p>
            <a:pPr marL="12700" marR="5080">
              <a:lnSpc>
                <a:spcPct val="118900"/>
              </a:lnSpc>
            </a:pPr>
            <a:r>
              <a:rPr sz="2050" spc="55" dirty="0">
                <a:solidFill>
                  <a:srgbClr val="0000FF"/>
                </a:solidFill>
                <a:latin typeface="SimSun"/>
                <a:cs typeface="SimSun"/>
              </a:rPr>
              <a:t>post!1 = pre!1 WITH [(pc1) := critical]  </a:t>
            </a:r>
            <a:r>
              <a:rPr sz="2050" dirty="0">
                <a:solidFill>
                  <a:srgbClr val="0000FF"/>
                </a:solidFill>
                <a:latin typeface="SimSun"/>
                <a:cs typeface="SimSun"/>
              </a:rPr>
              <a:t>critical?(pre!1‘pc2)</a:t>
            </a:r>
            <a:endParaRPr sz="2050">
              <a:latin typeface="SimSun"/>
              <a:cs typeface="SimSun"/>
            </a:endParaRPr>
          </a:p>
        </p:txBody>
      </p:sp>
      <p:sp>
        <p:nvSpPr>
          <p:cNvPr id="5" name="object 5"/>
          <p:cNvSpPr txBox="1"/>
          <p:nvPr/>
        </p:nvSpPr>
        <p:spPr>
          <a:xfrm>
            <a:off x="896440" y="3702430"/>
            <a:ext cx="8260715" cy="2901950"/>
          </a:xfrm>
          <a:prstGeom prst="rect">
            <a:avLst/>
          </a:prstGeom>
        </p:spPr>
        <p:txBody>
          <a:bodyPr vert="horz" wrap="square" lIns="0" tIns="0" rIns="0" bIns="0" rtlCol="0">
            <a:spAutoFit/>
          </a:bodyPr>
          <a:lstStyle/>
          <a:p>
            <a:pPr marL="576580">
              <a:lnSpc>
                <a:spcPct val="100000"/>
              </a:lnSpc>
            </a:pPr>
            <a:r>
              <a:rPr sz="2050" spc="55" dirty="0">
                <a:solidFill>
                  <a:srgbClr val="0000FF"/>
                </a:solidFill>
                <a:latin typeface="SimSun"/>
                <a:cs typeface="SimSun"/>
              </a:rPr>
              <a:t>|-------</a:t>
            </a:r>
            <a:endParaRPr sz="2050">
              <a:latin typeface="SimSun"/>
              <a:cs typeface="SimSun"/>
            </a:endParaRPr>
          </a:p>
          <a:p>
            <a:pPr marL="300990">
              <a:lnSpc>
                <a:spcPts val="2435"/>
              </a:lnSpc>
              <a:spcBef>
                <a:spcPts val="465"/>
              </a:spcBef>
              <a:tabLst>
                <a:tab pos="1114425" algn="l"/>
              </a:tabLst>
            </a:pPr>
            <a:r>
              <a:rPr sz="2050" spc="260" dirty="0">
                <a:solidFill>
                  <a:srgbClr val="0000FF"/>
                </a:solidFill>
                <a:latin typeface="Lucida Sans Unicode"/>
                <a:cs typeface="Lucida Sans Unicode"/>
              </a:rPr>
              <a:t>{</a:t>
            </a:r>
            <a:r>
              <a:rPr sz="2050" spc="260" dirty="0">
                <a:solidFill>
                  <a:srgbClr val="0000FF"/>
                </a:solidFill>
                <a:latin typeface="SimSun"/>
                <a:cs typeface="SimSun"/>
              </a:rPr>
              <a:t>1</a:t>
            </a:r>
            <a:r>
              <a:rPr sz="2050" spc="260" dirty="0">
                <a:solidFill>
                  <a:srgbClr val="0000FF"/>
                </a:solidFill>
                <a:latin typeface="Lucida Sans Unicode"/>
                <a:cs typeface="Lucida Sans Unicode"/>
              </a:rPr>
              <a:t>}	</a:t>
            </a:r>
            <a:r>
              <a:rPr sz="2050" spc="-60" dirty="0">
                <a:solidFill>
                  <a:srgbClr val="0000FF"/>
                </a:solidFill>
                <a:latin typeface="SimSun"/>
                <a:cs typeface="SimSun"/>
              </a:rPr>
              <a:t>(pre!1‘t1 </a:t>
            </a:r>
            <a:r>
              <a:rPr sz="2050" spc="55" dirty="0">
                <a:solidFill>
                  <a:srgbClr val="0000FF"/>
                </a:solidFill>
                <a:latin typeface="SimSun"/>
                <a:cs typeface="SimSun"/>
              </a:rPr>
              <a:t>=</a:t>
            </a:r>
            <a:r>
              <a:rPr sz="2050" spc="95" dirty="0">
                <a:solidFill>
                  <a:srgbClr val="0000FF"/>
                </a:solidFill>
                <a:latin typeface="SimSun"/>
                <a:cs typeface="SimSun"/>
              </a:rPr>
              <a:t> </a:t>
            </a:r>
            <a:r>
              <a:rPr sz="2050" spc="55" dirty="0">
                <a:solidFill>
                  <a:srgbClr val="0000FF"/>
                </a:solidFill>
                <a:latin typeface="SimSun"/>
                <a:cs typeface="SimSun"/>
              </a:rPr>
              <a:t>0)</a:t>
            </a:r>
            <a:endParaRPr sz="2050">
              <a:latin typeface="SimSun"/>
              <a:cs typeface="SimSun"/>
            </a:endParaRPr>
          </a:p>
          <a:p>
            <a:pPr marL="300990" indent="-288290">
              <a:lnSpc>
                <a:spcPts val="2315"/>
              </a:lnSpc>
              <a:buSzPct val="105128"/>
              <a:buFont typeface="Lucida Sans Unicode"/>
              <a:buChar char="•"/>
              <a:tabLst>
                <a:tab pos="301625" algn="l"/>
              </a:tabLst>
            </a:pPr>
            <a:r>
              <a:rPr sz="1950" spc="250" dirty="0">
                <a:solidFill>
                  <a:srgbClr val="231F20"/>
                </a:solidFill>
                <a:latin typeface="Arial"/>
                <a:cs typeface="Arial"/>
              </a:rPr>
              <a:t>The </a:t>
            </a:r>
            <a:r>
              <a:rPr sz="1950" spc="160" dirty="0">
                <a:solidFill>
                  <a:srgbClr val="231F20"/>
                </a:solidFill>
                <a:latin typeface="Arial"/>
                <a:cs typeface="Arial"/>
              </a:rPr>
              <a:t>situation </a:t>
            </a:r>
            <a:r>
              <a:rPr sz="1950" spc="90" dirty="0">
                <a:solidFill>
                  <a:srgbClr val="231F20"/>
                </a:solidFill>
                <a:latin typeface="Arial"/>
                <a:cs typeface="Arial"/>
              </a:rPr>
              <a:t>here </a:t>
            </a:r>
            <a:r>
              <a:rPr sz="1950" spc="40" dirty="0">
                <a:solidFill>
                  <a:srgbClr val="231F20"/>
                </a:solidFill>
                <a:latin typeface="Arial"/>
                <a:cs typeface="Arial"/>
              </a:rPr>
              <a:t>is </a:t>
            </a:r>
            <a:r>
              <a:rPr sz="1950" spc="235" dirty="0">
                <a:solidFill>
                  <a:srgbClr val="231F20"/>
                </a:solidFill>
                <a:latin typeface="Arial"/>
                <a:cs typeface="Arial"/>
              </a:rPr>
              <a:t>that </a:t>
            </a:r>
            <a:r>
              <a:rPr sz="1950" spc="105" dirty="0">
                <a:solidFill>
                  <a:srgbClr val="231F20"/>
                </a:solidFill>
                <a:latin typeface="Arial"/>
                <a:cs typeface="Arial"/>
              </a:rPr>
              <a:t>Process </a:t>
            </a:r>
            <a:r>
              <a:rPr sz="1950" spc="155" dirty="0">
                <a:solidFill>
                  <a:srgbClr val="231F20"/>
                </a:solidFill>
                <a:latin typeface="Arial"/>
                <a:cs typeface="Arial"/>
              </a:rPr>
              <a:t>1 </a:t>
            </a:r>
            <a:r>
              <a:rPr sz="1950" spc="70" dirty="0">
                <a:solidFill>
                  <a:srgbClr val="231F20"/>
                </a:solidFill>
                <a:latin typeface="Arial"/>
                <a:cs typeface="Arial"/>
              </a:rPr>
              <a:t>has </a:t>
            </a:r>
            <a:r>
              <a:rPr sz="1950" spc="85" dirty="0">
                <a:solidFill>
                  <a:srgbClr val="231F20"/>
                </a:solidFill>
                <a:latin typeface="Arial"/>
                <a:cs typeface="Arial"/>
              </a:rPr>
              <a:t>a </a:t>
            </a:r>
            <a:r>
              <a:rPr sz="1950" spc="110" dirty="0">
                <a:solidFill>
                  <a:srgbClr val="231F20"/>
                </a:solidFill>
                <a:latin typeface="Arial"/>
                <a:cs typeface="Arial"/>
              </a:rPr>
              <a:t>smaller </a:t>
            </a:r>
            <a:r>
              <a:rPr sz="1950" spc="180" dirty="0">
                <a:solidFill>
                  <a:srgbClr val="231F20"/>
                </a:solidFill>
                <a:latin typeface="Arial"/>
                <a:cs typeface="Arial"/>
              </a:rPr>
              <a:t>ticket </a:t>
            </a:r>
            <a:r>
              <a:rPr sz="1950" spc="860" dirty="0">
                <a:solidFill>
                  <a:srgbClr val="231F20"/>
                </a:solidFill>
                <a:latin typeface="Arial"/>
                <a:cs typeface="Arial"/>
              </a:rPr>
              <a:t> </a:t>
            </a:r>
            <a:r>
              <a:rPr sz="1950" spc="185" dirty="0">
                <a:solidFill>
                  <a:srgbClr val="231F20"/>
                </a:solidFill>
                <a:latin typeface="Arial"/>
                <a:cs typeface="Arial"/>
              </a:rPr>
              <a:t>than</a:t>
            </a:r>
            <a:endParaRPr sz="1950">
              <a:latin typeface="Arial"/>
              <a:cs typeface="Arial"/>
            </a:endParaRPr>
          </a:p>
          <a:p>
            <a:pPr marL="300990" marR="412750">
              <a:lnSpc>
                <a:spcPct val="125000"/>
              </a:lnSpc>
            </a:pPr>
            <a:r>
              <a:rPr sz="1950" spc="105" dirty="0">
                <a:solidFill>
                  <a:srgbClr val="231F20"/>
                </a:solidFill>
                <a:latin typeface="Arial"/>
                <a:cs typeface="Arial"/>
              </a:rPr>
              <a:t>Process </a:t>
            </a:r>
            <a:r>
              <a:rPr sz="1950" spc="155" dirty="0">
                <a:solidFill>
                  <a:srgbClr val="231F20"/>
                </a:solidFill>
                <a:latin typeface="Arial"/>
                <a:cs typeface="Arial"/>
              </a:rPr>
              <a:t>2 </a:t>
            </a:r>
            <a:r>
              <a:rPr sz="1950" spc="130" dirty="0">
                <a:solidFill>
                  <a:srgbClr val="231F20"/>
                </a:solidFill>
                <a:latin typeface="Arial"/>
                <a:cs typeface="Arial"/>
              </a:rPr>
              <a:t>and </a:t>
            </a:r>
            <a:r>
              <a:rPr sz="1950" spc="40" dirty="0">
                <a:solidFill>
                  <a:srgbClr val="231F20"/>
                </a:solidFill>
                <a:latin typeface="Arial"/>
                <a:cs typeface="Arial"/>
              </a:rPr>
              <a:t>is </a:t>
            </a:r>
            <a:r>
              <a:rPr sz="1950" spc="140" dirty="0">
                <a:solidFill>
                  <a:srgbClr val="231F20"/>
                </a:solidFill>
                <a:latin typeface="Arial"/>
                <a:cs typeface="Arial"/>
              </a:rPr>
              <a:t>entering </a:t>
            </a:r>
            <a:r>
              <a:rPr sz="1950" spc="145" dirty="0">
                <a:solidFill>
                  <a:srgbClr val="231F20"/>
                </a:solidFill>
                <a:latin typeface="Arial"/>
                <a:cs typeface="Arial"/>
              </a:rPr>
              <a:t>its </a:t>
            </a:r>
            <a:r>
              <a:rPr sz="1950" spc="150" dirty="0">
                <a:solidFill>
                  <a:srgbClr val="231F20"/>
                </a:solidFill>
                <a:latin typeface="Arial"/>
                <a:cs typeface="Arial"/>
              </a:rPr>
              <a:t>critical </a:t>
            </a:r>
            <a:r>
              <a:rPr sz="1950" spc="140" dirty="0">
                <a:solidFill>
                  <a:srgbClr val="231F20"/>
                </a:solidFill>
                <a:latin typeface="Arial"/>
                <a:cs typeface="Arial"/>
              </a:rPr>
              <a:t>section—even </a:t>
            </a:r>
            <a:r>
              <a:rPr sz="1950" spc="185" dirty="0">
                <a:solidFill>
                  <a:srgbClr val="231F20"/>
                </a:solidFill>
                <a:latin typeface="Arial"/>
                <a:cs typeface="Arial"/>
              </a:rPr>
              <a:t>though  </a:t>
            </a:r>
            <a:r>
              <a:rPr sz="1950" spc="105" dirty="0">
                <a:solidFill>
                  <a:srgbClr val="231F20"/>
                </a:solidFill>
                <a:latin typeface="Arial"/>
                <a:cs typeface="Arial"/>
              </a:rPr>
              <a:t>Process </a:t>
            </a:r>
            <a:r>
              <a:rPr sz="1950" spc="155" dirty="0">
                <a:solidFill>
                  <a:srgbClr val="231F20"/>
                </a:solidFill>
                <a:latin typeface="Arial"/>
                <a:cs typeface="Arial"/>
              </a:rPr>
              <a:t>2 </a:t>
            </a:r>
            <a:r>
              <a:rPr sz="1950" spc="40" dirty="0">
                <a:solidFill>
                  <a:srgbClr val="231F20"/>
                </a:solidFill>
                <a:latin typeface="Arial"/>
                <a:cs typeface="Arial"/>
              </a:rPr>
              <a:t>is </a:t>
            </a:r>
            <a:r>
              <a:rPr sz="1950" spc="105" dirty="0">
                <a:solidFill>
                  <a:srgbClr val="231F20"/>
                </a:solidFill>
                <a:latin typeface="Arial"/>
                <a:cs typeface="Arial"/>
              </a:rPr>
              <a:t>already </a:t>
            </a:r>
            <a:r>
              <a:rPr sz="1950" spc="130" dirty="0">
                <a:solidFill>
                  <a:srgbClr val="231F20"/>
                </a:solidFill>
                <a:latin typeface="Arial"/>
                <a:cs typeface="Arial"/>
              </a:rPr>
              <a:t>in </a:t>
            </a:r>
            <a:r>
              <a:rPr sz="1950" spc="145" dirty="0">
                <a:solidFill>
                  <a:srgbClr val="231F20"/>
                </a:solidFill>
                <a:latin typeface="Arial"/>
                <a:cs typeface="Arial"/>
              </a:rPr>
              <a:t>its </a:t>
            </a:r>
            <a:r>
              <a:rPr sz="1950" spc="150" dirty="0">
                <a:solidFill>
                  <a:srgbClr val="231F20"/>
                </a:solidFill>
                <a:latin typeface="Arial"/>
                <a:cs typeface="Arial"/>
              </a:rPr>
              <a:t>critical </a:t>
            </a:r>
            <a:r>
              <a:rPr sz="1950" spc="555" dirty="0">
                <a:solidFill>
                  <a:srgbClr val="231F20"/>
                </a:solidFill>
                <a:latin typeface="Arial"/>
                <a:cs typeface="Arial"/>
              </a:rPr>
              <a:t> </a:t>
            </a:r>
            <a:r>
              <a:rPr sz="1950" spc="125" dirty="0">
                <a:solidFill>
                  <a:srgbClr val="231F20"/>
                </a:solidFill>
                <a:latin typeface="Arial"/>
                <a:cs typeface="Arial"/>
              </a:rPr>
              <a:t>section</a:t>
            </a:r>
            <a:endParaRPr sz="1950">
              <a:latin typeface="Arial"/>
              <a:cs typeface="Arial"/>
            </a:endParaRPr>
          </a:p>
          <a:p>
            <a:pPr marL="300990" marR="212090" indent="-288290">
              <a:lnSpc>
                <a:spcPct val="125000"/>
              </a:lnSpc>
              <a:spcBef>
                <a:spcPts val="409"/>
              </a:spcBef>
              <a:buSzPct val="105128"/>
              <a:buFont typeface="Lucida Sans Unicode"/>
              <a:buChar char="•"/>
              <a:tabLst>
                <a:tab pos="301625" algn="l"/>
              </a:tabLst>
            </a:pPr>
            <a:r>
              <a:rPr sz="1950" spc="275" dirty="0">
                <a:solidFill>
                  <a:srgbClr val="231F20"/>
                </a:solidFill>
                <a:latin typeface="Arial"/>
                <a:cs typeface="Arial"/>
              </a:rPr>
              <a:t>But </a:t>
            </a:r>
            <a:r>
              <a:rPr sz="1950" spc="145" dirty="0">
                <a:solidFill>
                  <a:srgbClr val="231F20"/>
                </a:solidFill>
                <a:latin typeface="Arial"/>
                <a:cs typeface="Arial"/>
              </a:rPr>
              <a:t>this </a:t>
            </a:r>
            <a:r>
              <a:rPr sz="1950" spc="170" dirty="0">
                <a:solidFill>
                  <a:srgbClr val="231F20"/>
                </a:solidFill>
                <a:latin typeface="Arial"/>
                <a:cs typeface="Arial"/>
              </a:rPr>
              <a:t>cannot </a:t>
            </a:r>
            <a:r>
              <a:rPr sz="1950" spc="130" dirty="0">
                <a:solidFill>
                  <a:srgbClr val="231F20"/>
                </a:solidFill>
                <a:latin typeface="Arial"/>
                <a:cs typeface="Arial"/>
              </a:rPr>
              <a:t>happen </a:t>
            </a:r>
            <a:r>
              <a:rPr sz="1950" spc="80" dirty="0">
                <a:solidFill>
                  <a:srgbClr val="231F20"/>
                </a:solidFill>
                <a:latin typeface="Arial"/>
                <a:cs typeface="Arial"/>
              </a:rPr>
              <a:t>because </a:t>
            </a:r>
            <a:r>
              <a:rPr sz="1950" spc="105" dirty="0">
                <a:solidFill>
                  <a:srgbClr val="231F20"/>
                </a:solidFill>
                <a:latin typeface="Arial"/>
                <a:cs typeface="Arial"/>
              </a:rPr>
              <a:t>Process </a:t>
            </a:r>
            <a:r>
              <a:rPr sz="1950" spc="155" dirty="0">
                <a:solidFill>
                  <a:srgbClr val="231F20"/>
                </a:solidFill>
                <a:latin typeface="Arial"/>
                <a:cs typeface="Arial"/>
              </a:rPr>
              <a:t>2 </a:t>
            </a:r>
            <a:r>
              <a:rPr sz="1950" spc="195" dirty="0">
                <a:solidFill>
                  <a:srgbClr val="231F20"/>
                </a:solidFill>
                <a:latin typeface="Arial"/>
                <a:cs typeface="Arial"/>
              </a:rPr>
              <a:t>must </a:t>
            </a:r>
            <a:r>
              <a:rPr sz="1950" spc="95" dirty="0">
                <a:solidFill>
                  <a:srgbClr val="231F20"/>
                </a:solidFill>
                <a:latin typeface="Arial"/>
                <a:cs typeface="Arial"/>
              </a:rPr>
              <a:t>have </a:t>
            </a:r>
            <a:r>
              <a:rPr sz="1950" spc="130" dirty="0">
                <a:solidFill>
                  <a:srgbClr val="231F20"/>
                </a:solidFill>
                <a:latin typeface="Arial"/>
                <a:cs typeface="Arial"/>
              </a:rPr>
              <a:t>had  </a:t>
            </a:r>
            <a:r>
              <a:rPr sz="1950" spc="175" dirty="0">
                <a:solidFill>
                  <a:srgbClr val="231F20"/>
                </a:solidFill>
                <a:latin typeface="Arial"/>
                <a:cs typeface="Arial"/>
              </a:rPr>
              <a:t>the </a:t>
            </a:r>
            <a:r>
              <a:rPr sz="1950" spc="110" dirty="0">
                <a:solidFill>
                  <a:srgbClr val="231F20"/>
                </a:solidFill>
                <a:latin typeface="Arial"/>
                <a:cs typeface="Arial"/>
              </a:rPr>
              <a:t>smaller </a:t>
            </a:r>
            <a:r>
              <a:rPr sz="1950" spc="180" dirty="0">
                <a:solidFill>
                  <a:srgbClr val="231F20"/>
                </a:solidFill>
                <a:latin typeface="Arial"/>
                <a:cs typeface="Arial"/>
              </a:rPr>
              <a:t>ticket </a:t>
            </a:r>
            <a:r>
              <a:rPr sz="1950" spc="140" dirty="0">
                <a:solidFill>
                  <a:srgbClr val="231F20"/>
                </a:solidFill>
                <a:latin typeface="Arial"/>
                <a:cs typeface="Arial"/>
              </a:rPr>
              <a:t>when </a:t>
            </a:r>
            <a:r>
              <a:rPr sz="1950" spc="229" dirty="0">
                <a:solidFill>
                  <a:srgbClr val="231F20"/>
                </a:solidFill>
                <a:latin typeface="Arial"/>
                <a:cs typeface="Arial"/>
              </a:rPr>
              <a:t>it </a:t>
            </a:r>
            <a:r>
              <a:rPr sz="1950" spc="125" dirty="0">
                <a:solidFill>
                  <a:srgbClr val="231F20"/>
                </a:solidFill>
                <a:latin typeface="Arial"/>
                <a:cs typeface="Arial"/>
              </a:rPr>
              <a:t>entered </a:t>
            </a:r>
            <a:r>
              <a:rPr sz="1950" spc="110" dirty="0">
                <a:solidFill>
                  <a:srgbClr val="231F20"/>
                </a:solidFill>
                <a:latin typeface="Arial"/>
                <a:cs typeface="Arial"/>
              </a:rPr>
              <a:t>(because </a:t>
            </a:r>
            <a:r>
              <a:rPr sz="1950" spc="105" dirty="0">
                <a:solidFill>
                  <a:srgbClr val="231F20"/>
                </a:solidFill>
                <a:latin typeface="Arial"/>
                <a:cs typeface="Arial"/>
              </a:rPr>
              <a:t>Process </a:t>
            </a:r>
            <a:r>
              <a:rPr sz="1950" spc="155" dirty="0">
                <a:solidFill>
                  <a:srgbClr val="231F20"/>
                </a:solidFill>
                <a:latin typeface="Arial"/>
                <a:cs typeface="Arial"/>
              </a:rPr>
              <a:t>1 </a:t>
            </a:r>
            <a:r>
              <a:rPr sz="1950" spc="70" dirty="0">
                <a:solidFill>
                  <a:srgbClr val="231F20"/>
                </a:solidFill>
                <a:latin typeface="Arial"/>
                <a:cs typeface="Arial"/>
              </a:rPr>
              <a:t>has </a:t>
            </a:r>
            <a:r>
              <a:rPr sz="1950" spc="85" dirty="0">
                <a:solidFill>
                  <a:srgbClr val="231F20"/>
                </a:solidFill>
                <a:latin typeface="Arial"/>
                <a:cs typeface="Arial"/>
              </a:rPr>
              <a:t>a </a:t>
            </a:r>
            <a:r>
              <a:rPr sz="1950" spc="710" dirty="0">
                <a:solidFill>
                  <a:srgbClr val="231F20"/>
                </a:solidFill>
                <a:latin typeface="Arial"/>
                <a:cs typeface="Arial"/>
              </a:rPr>
              <a:t> </a:t>
            </a:r>
            <a:r>
              <a:rPr sz="1950" spc="125" dirty="0">
                <a:solidFill>
                  <a:srgbClr val="231F20"/>
                </a:solidFill>
                <a:latin typeface="Arial"/>
                <a:cs typeface="Arial"/>
              </a:rPr>
              <a:t>nonzero </a:t>
            </a:r>
            <a:r>
              <a:rPr sz="1950" spc="190" dirty="0">
                <a:solidFill>
                  <a:srgbClr val="231F20"/>
                </a:solidFill>
                <a:latin typeface="Arial"/>
                <a:cs typeface="Arial"/>
              </a:rPr>
              <a:t>ticket), </a:t>
            </a:r>
            <a:r>
              <a:rPr sz="1950" spc="170" dirty="0">
                <a:solidFill>
                  <a:srgbClr val="231F20"/>
                </a:solidFill>
                <a:latin typeface="Arial"/>
                <a:cs typeface="Arial"/>
              </a:rPr>
              <a:t>contradicting </a:t>
            </a:r>
            <a:r>
              <a:rPr sz="1950" spc="160" dirty="0">
                <a:solidFill>
                  <a:srgbClr val="231F20"/>
                </a:solidFill>
                <a:latin typeface="Arial"/>
                <a:cs typeface="Arial"/>
              </a:rPr>
              <a:t>formula</a:t>
            </a:r>
            <a:r>
              <a:rPr sz="1950" spc="600" dirty="0">
                <a:solidFill>
                  <a:srgbClr val="231F20"/>
                </a:solidFill>
                <a:latin typeface="Arial"/>
                <a:cs typeface="Arial"/>
              </a:rPr>
              <a:t> </a:t>
            </a:r>
            <a:r>
              <a:rPr sz="1950" spc="160" dirty="0">
                <a:solidFill>
                  <a:srgbClr val="231F20"/>
                </a:solidFill>
                <a:latin typeface="Arial"/>
                <a:cs typeface="Arial"/>
              </a:rPr>
              <a:t>-2</a:t>
            </a:r>
            <a:endParaRPr sz="1950">
              <a:latin typeface="Arial"/>
              <a:cs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1480794"/>
            <a:ext cx="8442325" cy="3840479"/>
          </a:xfrm>
          <a:prstGeom prst="rect">
            <a:avLst/>
          </a:prstGeom>
        </p:spPr>
        <p:txBody>
          <a:bodyPr vert="horz" wrap="square" lIns="0" tIns="0" rIns="0" bIns="0" rtlCol="0">
            <a:spAutoFit/>
          </a:bodyPr>
          <a:lstStyle/>
          <a:p>
            <a:pPr marL="2471420">
              <a:lnSpc>
                <a:spcPct val="100000"/>
              </a:lnSpc>
            </a:pPr>
            <a:r>
              <a:rPr sz="1950" spc="335" dirty="0">
                <a:solidFill>
                  <a:srgbClr val="231F20"/>
                </a:solidFill>
                <a:latin typeface="Arial"/>
                <a:cs typeface="Arial"/>
              </a:rPr>
              <a:t>Third Attempted</a:t>
            </a:r>
            <a:r>
              <a:rPr sz="1950" spc="345" dirty="0">
                <a:solidFill>
                  <a:srgbClr val="231F20"/>
                </a:solidFill>
                <a:latin typeface="Arial"/>
                <a:cs typeface="Arial"/>
              </a:rPr>
              <a:t> </a:t>
            </a:r>
            <a:r>
              <a:rPr sz="1950" spc="315" dirty="0">
                <a:solidFill>
                  <a:srgbClr val="231F20"/>
                </a:solidFill>
                <a:latin typeface="Arial"/>
                <a:cs typeface="Arial"/>
              </a:rPr>
              <a:t>Proof</a:t>
            </a:r>
            <a:endParaRPr sz="1950">
              <a:latin typeface="Arial"/>
              <a:cs typeface="Arial"/>
            </a:endParaRPr>
          </a:p>
          <a:p>
            <a:pPr marL="300990" marR="208915" indent="-288290">
              <a:lnSpc>
                <a:spcPct val="125000"/>
              </a:lnSpc>
              <a:spcBef>
                <a:spcPts val="1340"/>
              </a:spcBef>
              <a:buSzPct val="105128"/>
              <a:buFont typeface="Lucida Sans Unicode"/>
              <a:buChar char="•"/>
              <a:tabLst>
                <a:tab pos="301625" algn="l"/>
              </a:tabLst>
            </a:pPr>
            <a:r>
              <a:rPr sz="1950" spc="160" dirty="0">
                <a:solidFill>
                  <a:srgbClr val="231F20"/>
                </a:solidFill>
                <a:latin typeface="Arial"/>
                <a:cs typeface="Arial"/>
              </a:rPr>
              <a:t>Again </a:t>
            </a:r>
            <a:r>
              <a:rPr sz="1950" spc="95" dirty="0">
                <a:solidFill>
                  <a:srgbClr val="231F20"/>
                </a:solidFill>
                <a:latin typeface="Arial"/>
                <a:cs typeface="Arial"/>
              </a:rPr>
              <a:t>we </a:t>
            </a:r>
            <a:r>
              <a:rPr sz="1950" spc="80" dirty="0">
                <a:solidFill>
                  <a:srgbClr val="231F20"/>
                </a:solidFill>
                <a:latin typeface="Arial"/>
                <a:cs typeface="Arial"/>
              </a:rPr>
              <a:t>need </a:t>
            </a:r>
            <a:r>
              <a:rPr sz="1950" spc="250" dirty="0">
                <a:solidFill>
                  <a:srgbClr val="231F20"/>
                </a:solidFill>
                <a:latin typeface="Arial"/>
                <a:cs typeface="Arial"/>
              </a:rPr>
              <a:t>to </a:t>
            </a:r>
            <a:r>
              <a:rPr sz="1950" spc="150" dirty="0">
                <a:solidFill>
                  <a:srgbClr val="231F20"/>
                </a:solidFill>
                <a:latin typeface="Arial"/>
                <a:cs typeface="Arial"/>
              </a:rPr>
              <a:t>strengthen </a:t>
            </a:r>
            <a:r>
              <a:rPr sz="1950" spc="175" dirty="0">
                <a:solidFill>
                  <a:srgbClr val="231F20"/>
                </a:solidFill>
                <a:latin typeface="Arial"/>
                <a:cs typeface="Arial"/>
              </a:rPr>
              <a:t>the </a:t>
            </a:r>
            <a:r>
              <a:rPr sz="1950" spc="140" dirty="0">
                <a:solidFill>
                  <a:srgbClr val="231F20"/>
                </a:solidFill>
                <a:latin typeface="Arial"/>
                <a:cs typeface="Arial"/>
              </a:rPr>
              <a:t>invariant </a:t>
            </a:r>
            <a:r>
              <a:rPr sz="1950" spc="250" dirty="0">
                <a:solidFill>
                  <a:srgbClr val="231F20"/>
                </a:solidFill>
                <a:latin typeface="Arial"/>
                <a:cs typeface="Arial"/>
              </a:rPr>
              <a:t>to </a:t>
            </a:r>
            <a:r>
              <a:rPr sz="1950" spc="120" dirty="0">
                <a:solidFill>
                  <a:srgbClr val="231F20"/>
                </a:solidFill>
                <a:latin typeface="Arial"/>
                <a:cs typeface="Arial"/>
              </a:rPr>
              <a:t>carry </a:t>
            </a:r>
            <a:r>
              <a:rPr sz="1950" spc="130" dirty="0">
                <a:solidFill>
                  <a:srgbClr val="231F20"/>
                </a:solidFill>
                <a:latin typeface="Arial"/>
                <a:cs typeface="Arial"/>
              </a:rPr>
              <a:t>along </a:t>
            </a:r>
            <a:r>
              <a:rPr sz="1950" spc="145" dirty="0">
                <a:solidFill>
                  <a:srgbClr val="231F20"/>
                </a:solidFill>
                <a:latin typeface="Arial"/>
                <a:cs typeface="Arial"/>
              </a:rPr>
              <a:t>this  </a:t>
            </a:r>
            <a:r>
              <a:rPr sz="1950" spc="190" dirty="0">
                <a:solidFill>
                  <a:srgbClr val="231F20"/>
                </a:solidFill>
                <a:latin typeface="Arial"/>
                <a:cs typeface="Arial"/>
              </a:rPr>
              <a:t>fact</a:t>
            </a:r>
            <a:endParaRPr sz="1950">
              <a:latin typeface="Arial"/>
              <a:cs typeface="Arial"/>
            </a:endParaRPr>
          </a:p>
          <a:p>
            <a:pPr marL="300990" indent="-288290">
              <a:lnSpc>
                <a:spcPct val="100000"/>
              </a:lnSpc>
              <a:spcBef>
                <a:spcPts val="380"/>
              </a:spcBef>
              <a:buClr>
                <a:srgbClr val="231F20"/>
              </a:buClr>
              <a:buFont typeface="Lucida Sans Unicode"/>
              <a:buChar char="•"/>
              <a:tabLst>
                <a:tab pos="301625" algn="l"/>
              </a:tabLst>
            </a:pPr>
            <a:r>
              <a:rPr sz="2050" spc="55" dirty="0">
                <a:solidFill>
                  <a:srgbClr val="0000FF"/>
                </a:solidFill>
                <a:latin typeface="SimSun"/>
                <a:cs typeface="SimSun"/>
              </a:rPr>
              <a:t>inductive_safe(s):bool =</a:t>
            </a:r>
            <a:r>
              <a:rPr sz="2050" spc="-30" dirty="0">
                <a:solidFill>
                  <a:srgbClr val="0000FF"/>
                </a:solidFill>
                <a:latin typeface="SimSun"/>
                <a:cs typeface="SimSun"/>
              </a:rPr>
              <a:t> </a:t>
            </a:r>
            <a:r>
              <a:rPr sz="2050" spc="55" dirty="0">
                <a:solidFill>
                  <a:srgbClr val="0000FF"/>
                </a:solidFill>
                <a:latin typeface="SimSun"/>
                <a:cs typeface="SimSun"/>
              </a:rPr>
              <a:t>strong_safe(s)</a:t>
            </a:r>
            <a:endParaRPr sz="2050">
              <a:latin typeface="SimSun"/>
              <a:cs typeface="SimSun"/>
            </a:endParaRPr>
          </a:p>
          <a:p>
            <a:pPr marL="300990" marR="5080" indent="137160">
              <a:lnSpc>
                <a:spcPct val="118900"/>
              </a:lnSpc>
            </a:pPr>
            <a:r>
              <a:rPr sz="2050" spc="55" dirty="0">
                <a:solidFill>
                  <a:srgbClr val="0000FF"/>
                </a:solidFill>
                <a:latin typeface="SimSun"/>
                <a:cs typeface="SimSun"/>
              </a:rPr>
              <a:t>AND </a:t>
            </a:r>
            <a:r>
              <a:rPr sz="2050" spc="-95" dirty="0">
                <a:solidFill>
                  <a:srgbClr val="0000FF"/>
                </a:solidFill>
                <a:latin typeface="SimSun"/>
                <a:cs typeface="SimSun"/>
              </a:rPr>
              <a:t>((s‘pc1 </a:t>
            </a:r>
            <a:r>
              <a:rPr sz="2050" spc="55" dirty="0">
                <a:solidFill>
                  <a:srgbClr val="0000FF"/>
                </a:solidFill>
                <a:latin typeface="SimSun"/>
                <a:cs typeface="SimSun"/>
              </a:rPr>
              <a:t>= critical AND </a:t>
            </a:r>
            <a:r>
              <a:rPr sz="2050" spc="-150" dirty="0">
                <a:solidFill>
                  <a:srgbClr val="0000FF"/>
                </a:solidFill>
                <a:latin typeface="SimSun"/>
                <a:cs typeface="SimSun"/>
              </a:rPr>
              <a:t>s‘pc2 </a:t>
            </a:r>
            <a:r>
              <a:rPr sz="2050" spc="55" dirty="0">
                <a:solidFill>
                  <a:srgbClr val="0000FF"/>
                </a:solidFill>
                <a:latin typeface="SimSun"/>
                <a:cs typeface="SimSun"/>
              </a:rPr>
              <a:t>= trying) =&gt; </a:t>
            </a:r>
            <a:r>
              <a:rPr sz="2050" spc="-204" dirty="0">
                <a:solidFill>
                  <a:srgbClr val="0000FF"/>
                </a:solidFill>
                <a:latin typeface="SimSun"/>
                <a:cs typeface="SimSun"/>
              </a:rPr>
              <a:t>s‘t1 </a:t>
            </a:r>
            <a:r>
              <a:rPr sz="2050" spc="55" dirty="0">
                <a:solidFill>
                  <a:srgbClr val="0000FF"/>
                </a:solidFill>
                <a:latin typeface="SimSun"/>
                <a:cs typeface="SimSun"/>
              </a:rPr>
              <a:t>&lt; </a:t>
            </a:r>
            <a:r>
              <a:rPr sz="2050" spc="-150" dirty="0">
                <a:solidFill>
                  <a:srgbClr val="0000FF"/>
                </a:solidFill>
                <a:latin typeface="SimSun"/>
                <a:cs typeface="SimSun"/>
              </a:rPr>
              <a:t>s‘t2)  </a:t>
            </a:r>
            <a:r>
              <a:rPr sz="2050" spc="55" dirty="0">
                <a:solidFill>
                  <a:srgbClr val="0000FF"/>
                </a:solidFill>
                <a:latin typeface="SimSun"/>
                <a:cs typeface="SimSun"/>
              </a:rPr>
              <a:t>AND </a:t>
            </a:r>
            <a:r>
              <a:rPr sz="2050" spc="-95" dirty="0">
                <a:solidFill>
                  <a:srgbClr val="0000FF"/>
                </a:solidFill>
                <a:latin typeface="SimSun"/>
                <a:cs typeface="SimSun"/>
              </a:rPr>
              <a:t>((s‘pc2 </a:t>
            </a:r>
            <a:r>
              <a:rPr sz="2050" spc="55" dirty="0">
                <a:solidFill>
                  <a:srgbClr val="0000FF"/>
                </a:solidFill>
                <a:latin typeface="SimSun"/>
                <a:cs typeface="SimSun"/>
              </a:rPr>
              <a:t>= critical AND </a:t>
            </a:r>
            <a:r>
              <a:rPr sz="2050" spc="-150" dirty="0">
                <a:solidFill>
                  <a:srgbClr val="0000FF"/>
                </a:solidFill>
                <a:latin typeface="SimSun"/>
                <a:cs typeface="SimSun"/>
              </a:rPr>
              <a:t>s‘pc1 </a:t>
            </a:r>
            <a:r>
              <a:rPr sz="2050" spc="55" dirty="0">
                <a:solidFill>
                  <a:srgbClr val="0000FF"/>
                </a:solidFill>
                <a:latin typeface="SimSun"/>
                <a:cs typeface="SimSun"/>
              </a:rPr>
              <a:t>= trying) =&gt; </a:t>
            </a:r>
            <a:r>
              <a:rPr sz="2050" spc="-204" dirty="0">
                <a:solidFill>
                  <a:srgbClr val="0000FF"/>
                </a:solidFill>
                <a:latin typeface="SimSun"/>
                <a:cs typeface="SimSun"/>
              </a:rPr>
              <a:t>s‘t1 </a:t>
            </a:r>
            <a:r>
              <a:rPr sz="2050" spc="55" dirty="0">
                <a:solidFill>
                  <a:srgbClr val="0000FF"/>
                </a:solidFill>
                <a:latin typeface="SimSun"/>
                <a:cs typeface="SimSun"/>
              </a:rPr>
              <a:t>&gt;</a:t>
            </a:r>
            <a:r>
              <a:rPr sz="2050" spc="705" dirty="0">
                <a:solidFill>
                  <a:srgbClr val="0000FF"/>
                </a:solidFill>
                <a:latin typeface="SimSun"/>
                <a:cs typeface="SimSun"/>
              </a:rPr>
              <a:t> </a:t>
            </a:r>
            <a:r>
              <a:rPr sz="2050" spc="-150" dirty="0">
                <a:solidFill>
                  <a:srgbClr val="0000FF"/>
                </a:solidFill>
                <a:latin typeface="SimSun"/>
                <a:cs typeface="SimSun"/>
              </a:rPr>
              <a:t>s‘t2)</a:t>
            </a:r>
            <a:endParaRPr sz="2050">
              <a:latin typeface="SimSun"/>
              <a:cs typeface="SimSun"/>
            </a:endParaRPr>
          </a:p>
          <a:p>
            <a:pPr>
              <a:lnSpc>
                <a:spcPct val="100000"/>
              </a:lnSpc>
              <a:spcBef>
                <a:spcPts val="56"/>
              </a:spcBef>
            </a:pPr>
            <a:endParaRPr sz="2900">
              <a:latin typeface="Times New Roman"/>
              <a:cs typeface="Times New Roman"/>
            </a:endParaRPr>
          </a:p>
          <a:p>
            <a:pPr marL="300990">
              <a:lnSpc>
                <a:spcPct val="100000"/>
              </a:lnSpc>
            </a:pPr>
            <a:r>
              <a:rPr sz="2050" spc="55" dirty="0">
                <a:solidFill>
                  <a:srgbClr val="0000FF"/>
                </a:solidFill>
                <a:latin typeface="SimSun"/>
                <a:cs typeface="SimSun"/>
              </a:rPr>
              <a:t>third_try: LEMMA</a:t>
            </a:r>
            <a:r>
              <a:rPr sz="2050" spc="-30" dirty="0">
                <a:solidFill>
                  <a:srgbClr val="0000FF"/>
                </a:solidFill>
                <a:latin typeface="SimSun"/>
                <a:cs typeface="SimSun"/>
              </a:rPr>
              <a:t> </a:t>
            </a:r>
            <a:r>
              <a:rPr sz="2050" spc="55" dirty="0">
                <a:solidFill>
                  <a:srgbClr val="0000FF"/>
                </a:solidFill>
                <a:latin typeface="SimSun"/>
                <a:cs typeface="SimSun"/>
              </a:rPr>
              <a:t>indinv(inductive_safe)</a:t>
            </a:r>
            <a:endParaRPr sz="2050">
              <a:latin typeface="SimSun"/>
              <a:cs typeface="SimSun"/>
            </a:endParaRPr>
          </a:p>
          <a:p>
            <a:pPr marL="300990" marR="417195" indent="-288290">
              <a:lnSpc>
                <a:spcPct val="120800"/>
              </a:lnSpc>
              <a:spcBef>
                <a:spcPts val="180"/>
              </a:spcBef>
              <a:buSzPct val="105128"/>
              <a:buFont typeface="Lucida Sans Unicode"/>
              <a:buChar char="•"/>
              <a:tabLst>
                <a:tab pos="301625" algn="l"/>
              </a:tabLst>
            </a:pPr>
            <a:r>
              <a:rPr sz="1950" spc="114" dirty="0">
                <a:solidFill>
                  <a:srgbClr val="231F20"/>
                </a:solidFill>
                <a:latin typeface="Arial"/>
                <a:cs typeface="Arial"/>
              </a:rPr>
              <a:t>Finally, </a:t>
            </a:r>
            <a:r>
              <a:rPr sz="1950" spc="95" dirty="0">
                <a:solidFill>
                  <a:srgbClr val="231F20"/>
                </a:solidFill>
                <a:latin typeface="Arial"/>
                <a:cs typeface="Arial"/>
              </a:rPr>
              <a:t>we have </a:t>
            </a:r>
            <a:r>
              <a:rPr sz="1950" spc="85" dirty="0">
                <a:solidFill>
                  <a:srgbClr val="231F20"/>
                </a:solidFill>
                <a:latin typeface="Arial"/>
                <a:cs typeface="Arial"/>
              </a:rPr>
              <a:t>a </a:t>
            </a:r>
            <a:r>
              <a:rPr sz="1950" spc="140" dirty="0">
                <a:solidFill>
                  <a:srgbClr val="231F20"/>
                </a:solidFill>
                <a:latin typeface="Arial"/>
                <a:cs typeface="Arial"/>
              </a:rPr>
              <a:t>invariant </a:t>
            </a:r>
            <a:r>
              <a:rPr sz="1950" spc="235" dirty="0">
                <a:solidFill>
                  <a:srgbClr val="231F20"/>
                </a:solidFill>
                <a:latin typeface="Arial"/>
                <a:cs typeface="Arial"/>
              </a:rPr>
              <a:t>that </a:t>
            </a:r>
            <a:r>
              <a:rPr sz="1950" spc="40" dirty="0">
                <a:solidFill>
                  <a:srgbClr val="231F20"/>
                </a:solidFill>
                <a:latin typeface="Arial"/>
                <a:cs typeface="Arial"/>
              </a:rPr>
              <a:t>is </a:t>
            </a:r>
            <a:r>
              <a:rPr sz="1950" spc="170" dirty="0">
                <a:solidFill>
                  <a:srgbClr val="231F20"/>
                </a:solidFill>
                <a:latin typeface="Arial"/>
                <a:cs typeface="Arial"/>
              </a:rPr>
              <a:t>inductive—and </a:t>
            </a:r>
            <a:r>
              <a:rPr sz="1950" spc="40" dirty="0">
                <a:solidFill>
                  <a:srgbClr val="231F20"/>
                </a:solidFill>
                <a:latin typeface="Arial"/>
                <a:cs typeface="Arial"/>
              </a:rPr>
              <a:t>is </a:t>
            </a:r>
            <a:r>
              <a:rPr sz="1950" spc="114" dirty="0">
                <a:solidFill>
                  <a:srgbClr val="231F20"/>
                </a:solidFill>
                <a:latin typeface="Arial"/>
                <a:cs typeface="Arial"/>
              </a:rPr>
              <a:t>proved  </a:t>
            </a:r>
            <a:r>
              <a:rPr sz="1950" spc="215" dirty="0">
                <a:solidFill>
                  <a:srgbClr val="231F20"/>
                </a:solidFill>
                <a:latin typeface="Arial"/>
                <a:cs typeface="Arial"/>
              </a:rPr>
              <a:t>with</a:t>
            </a:r>
            <a:r>
              <a:rPr sz="1950" spc="190" dirty="0">
                <a:solidFill>
                  <a:srgbClr val="231F20"/>
                </a:solidFill>
                <a:latin typeface="Arial"/>
                <a:cs typeface="Arial"/>
              </a:rPr>
              <a:t> </a:t>
            </a:r>
            <a:r>
              <a:rPr sz="2050" spc="55" dirty="0">
                <a:solidFill>
                  <a:srgbClr val="0000FF"/>
                </a:solidFill>
                <a:latin typeface="SimSun"/>
                <a:cs typeface="SimSun"/>
              </a:rPr>
              <a:t>(GRIND)</a:t>
            </a:r>
            <a:endParaRPr sz="2050">
              <a:latin typeface="SimSun"/>
              <a:cs typeface="SimSun"/>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649014" y="736470"/>
            <a:ext cx="2761615" cy="314960"/>
          </a:xfrm>
          <a:prstGeom prst="rect">
            <a:avLst/>
          </a:prstGeom>
        </p:spPr>
        <p:txBody>
          <a:bodyPr vert="horz" wrap="square" lIns="0" tIns="0" rIns="0" bIns="0" rtlCol="0">
            <a:spAutoFit/>
          </a:bodyPr>
          <a:lstStyle/>
          <a:p>
            <a:pPr marL="12700">
              <a:lnSpc>
                <a:spcPct val="100000"/>
              </a:lnSpc>
            </a:pPr>
            <a:r>
              <a:rPr sz="1950" spc="240" dirty="0">
                <a:solidFill>
                  <a:srgbClr val="231F20"/>
                </a:solidFill>
                <a:latin typeface="Arial"/>
                <a:cs typeface="Arial"/>
              </a:rPr>
              <a:t>Inductive</a:t>
            </a:r>
            <a:r>
              <a:rPr sz="1950" spc="300" dirty="0">
                <a:solidFill>
                  <a:srgbClr val="231F20"/>
                </a:solidFill>
                <a:latin typeface="Arial"/>
                <a:cs typeface="Arial"/>
              </a:rPr>
              <a:t> </a:t>
            </a:r>
            <a:r>
              <a:rPr sz="1950" spc="215" dirty="0">
                <a:solidFill>
                  <a:srgbClr val="231F20"/>
                </a:solidFill>
                <a:latin typeface="Arial"/>
                <a:cs typeface="Arial"/>
              </a:rPr>
              <a:t>Invariants</a:t>
            </a:r>
            <a:endParaRPr sz="1950">
              <a:latin typeface="Arial"/>
              <a:cs typeface="Arial"/>
            </a:endParaRPr>
          </a:p>
        </p:txBody>
      </p:sp>
      <p:sp>
        <p:nvSpPr>
          <p:cNvPr id="3" name="object 3"/>
          <p:cNvSpPr txBox="1">
            <a:spLocks noGrp="1"/>
          </p:cNvSpPr>
          <p:nvPr>
            <p:ph type="title"/>
          </p:nvPr>
        </p:nvSpPr>
        <p:spPr>
          <a:xfrm>
            <a:off x="896442" y="1200602"/>
            <a:ext cx="8216265" cy="1518920"/>
          </a:xfrm>
          <a:prstGeom prst="rect">
            <a:avLst/>
          </a:prstGeom>
        </p:spPr>
        <p:txBody>
          <a:bodyPr vert="horz" wrap="square" lIns="0" tIns="0" rIns="0" bIns="0" rtlCol="0">
            <a:spAutoFit/>
          </a:bodyPr>
          <a:lstStyle/>
          <a:p>
            <a:pPr marL="300990" marR="5080" indent="-288290">
              <a:lnSpc>
                <a:spcPct val="120900"/>
              </a:lnSpc>
              <a:buSzPct val="105128"/>
              <a:buFont typeface="Lucida Sans Unicode"/>
              <a:buChar char="•"/>
              <a:tabLst>
                <a:tab pos="301625" algn="l"/>
                <a:tab pos="1783080" algn="l"/>
              </a:tabLst>
            </a:pPr>
            <a:r>
              <a:rPr sz="1950" spc="265" dirty="0">
                <a:solidFill>
                  <a:srgbClr val="231F20"/>
                </a:solidFill>
                <a:latin typeface="Arial"/>
                <a:cs typeface="Arial"/>
              </a:rPr>
              <a:t>To </a:t>
            </a:r>
            <a:r>
              <a:rPr sz="1950" spc="100" dirty="0">
                <a:solidFill>
                  <a:srgbClr val="231F20"/>
                </a:solidFill>
                <a:latin typeface="Arial"/>
                <a:cs typeface="Arial"/>
              </a:rPr>
              <a:t>establish </a:t>
            </a:r>
            <a:r>
              <a:rPr sz="1950" spc="120" dirty="0">
                <a:solidFill>
                  <a:srgbClr val="231F20"/>
                </a:solidFill>
                <a:latin typeface="Arial"/>
                <a:cs typeface="Arial"/>
              </a:rPr>
              <a:t>an </a:t>
            </a:r>
            <a:r>
              <a:rPr sz="1950" spc="140" dirty="0">
                <a:solidFill>
                  <a:srgbClr val="231F20"/>
                </a:solidFill>
                <a:latin typeface="Arial"/>
                <a:cs typeface="Arial"/>
              </a:rPr>
              <a:t>invariant </a:t>
            </a:r>
            <a:r>
              <a:rPr sz="1950" spc="130" dirty="0">
                <a:solidFill>
                  <a:srgbClr val="231F20"/>
                </a:solidFill>
                <a:latin typeface="Arial"/>
                <a:cs typeface="Arial"/>
              </a:rPr>
              <a:t>or </a:t>
            </a:r>
            <a:r>
              <a:rPr sz="1950" spc="114" dirty="0">
                <a:solidFill>
                  <a:srgbClr val="231F20"/>
                </a:solidFill>
                <a:latin typeface="Arial"/>
                <a:cs typeface="Arial"/>
              </a:rPr>
              <a:t>safety </a:t>
            </a:r>
            <a:r>
              <a:rPr sz="1950" spc="150" dirty="0">
                <a:solidFill>
                  <a:srgbClr val="231F20"/>
                </a:solidFill>
                <a:latin typeface="Arial"/>
                <a:cs typeface="Arial"/>
              </a:rPr>
              <a:t>property </a:t>
            </a:r>
            <a:r>
              <a:rPr i="1" spc="-35" dirty="0">
                <a:solidFill>
                  <a:srgbClr val="231F20"/>
                </a:solidFill>
                <a:latin typeface="Meiryo"/>
                <a:cs typeface="Meiryo"/>
              </a:rPr>
              <a:t>S </a:t>
            </a:r>
            <a:r>
              <a:rPr sz="1950" spc="155" dirty="0">
                <a:solidFill>
                  <a:srgbClr val="231F20"/>
                </a:solidFill>
                <a:latin typeface="Arial"/>
                <a:cs typeface="Arial"/>
              </a:rPr>
              <a:t>(one </a:t>
            </a:r>
            <a:r>
              <a:rPr sz="1950" spc="170" dirty="0">
                <a:solidFill>
                  <a:srgbClr val="231F20"/>
                </a:solidFill>
                <a:latin typeface="Arial"/>
                <a:cs typeface="Arial"/>
              </a:rPr>
              <a:t>true </a:t>
            </a:r>
            <a:r>
              <a:rPr sz="1950" spc="185" dirty="0">
                <a:solidFill>
                  <a:srgbClr val="231F20"/>
                </a:solidFill>
                <a:latin typeface="Arial"/>
                <a:cs typeface="Arial"/>
              </a:rPr>
              <a:t>of </a:t>
            </a:r>
            <a:r>
              <a:rPr sz="1950" spc="105" dirty="0">
                <a:solidFill>
                  <a:srgbClr val="231F20"/>
                </a:solidFill>
                <a:latin typeface="Arial"/>
                <a:cs typeface="Arial"/>
              </a:rPr>
              <a:t>all  </a:t>
            </a:r>
            <a:r>
              <a:rPr sz="1950" spc="100" dirty="0">
                <a:solidFill>
                  <a:srgbClr val="231F20"/>
                </a:solidFill>
                <a:latin typeface="Arial"/>
                <a:cs typeface="Arial"/>
              </a:rPr>
              <a:t>reachable </a:t>
            </a:r>
            <a:r>
              <a:rPr sz="1950" spc="150" dirty="0">
                <a:solidFill>
                  <a:srgbClr val="231F20"/>
                </a:solidFill>
                <a:latin typeface="Arial"/>
                <a:cs typeface="Arial"/>
              </a:rPr>
              <a:t>states) </a:t>
            </a:r>
            <a:r>
              <a:rPr sz="1950" spc="105" dirty="0">
                <a:solidFill>
                  <a:srgbClr val="231F20"/>
                </a:solidFill>
                <a:latin typeface="Arial"/>
                <a:cs typeface="Arial"/>
              </a:rPr>
              <a:t>by </a:t>
            </a:r>
            <a:r>
              <a:rPr sz="1950" spc="155" dirty="0">
                <a:solidFill>
                  <a:srgbClr val="231F20"/>
                </a:solidFill>
                <a:latin typeface="Arial"/>
                <a:cs typeface="Arial"/>
              </a:rPr>
              <a:t>theorem </a:t>
            </a:r>
            <a:r>
              <a:rPr sz="1950" spc="135" dirty="0">
                <a:solidFill>
                  <a:srgbClr val="231F20"/>
                </a:solidFill>
                <a:latin typeface="Arial"/>
                <a:cs typeface="Arial"/>
              </a:rPr>
              <a:t>proving, </a:t>
            </a:r>
            <a:r>
              <a:rPr sz="1950" spc="95" dirty="0">
                <a:solidFill>
                  <a:srgbClr val="231F20"/>
                </a:solidFill>
                <a:latin typeface="Arial"/>
                <a:cs typeface="Arial"/>
              </a:rPr>
              <a:t>we </a:t>
            </a:r>
            <a:r>
              <a:rPr sz="1950" spc="150" dirty="0">
                <a:solidFill>
                  <a:srgbClr val="231F20"/>
                </a:solidFill>
                <a:latin typeface="Arial"/>
                <a:cs typeface="Arial"/>
              </a:rPr>
              <a:t>invent </a:t>
            </a:r>
            <a:r>
              <a:rPr sz="1950" spc="155" dirty="0">
                <a:solidFill>
                  <a:srgbClr val="231F20"/>
                </a:solidFill>
                <a:latin typeface="Arial"/>
                <a:cs typeface="Arial"/>
              </a:rPr>
              <a:t>another  </a:t>
            </a:r>
            <a:r>
              <a:rPr sz="1950" spc="150" dirty="0">
                <a:solidFill>
                  <a:srgbClr val="231F20"/>
                </a:solidFill>
                <a:latin typeface="Arial"/>
                <a:cs typeface="Arial"/>
              </a:rPr>
              <a:t>property </a:t>
            </a:r>
            <a:r>
              <a:rPr sz="1950" spc="745" dirty="0">
                <a:solidFill>
                  <a:srgbClr val="231F20"/>
                </a:solidFill>
                <a:latin typeface="Arial"/>
                <a:cs typeface="Arial"/>
              </a:rPr>
              <a:t> </a:t>
            </a:r>
            <a:r>
              <a:rPr i="1" spc="65" dirty="0">
                <a:solidFill>
                  <a:srgbClr val="231F20"/>
                </a:solidFill>
                <a:latin typeface="Meiryo"/>
                <a:cs typeface="Meiryo"/>
              </a:rPr>
              <a:t>P	</a:t>
            </a:r>
            <a:r>
              <a:rPr sz="1950" spc="235" dirty="0">
                <a:solidFill>
                  <a:srgbClr val="231F20"/>
                </a:solidFill>
                <a:latin typeface="Arial"/>
                <a:cs typeface="Arial"/>
              </a:rPr>
              <a:t>that </a:t>
            </a:r>
            <a:r>
              <a:rPr sz="1950" spc="110" dirty="0">
                <a:solidFill>
                  <a:srgbClr val="231F20"/>
                </a:solidFill>
                <a:latin typeface="Arial"/>
                <a:cs typeface="Arial"/>
              </a:rPr>
              <a:t>implies </a:t>
            </a:r>
            <a:r>
              <a:rPr i="1" spc="-35" dirty="0">
                <a:solidFill>
                  <a:srgbClr val="231F20"/>
                </a:solidFill>
                <a:latin typeface="Meiryo"/>
                <a:cs typeface="Meiryo"/>
              </a:rPr>
              <a:t>S </a:t>
            </a:r>
            <a:r>
              <a:rPr sz="1950" spc="130" dirty="0">
                <a:solidFill>
                  <a:srgbClr val="231F20"/>
                </a:solidFill>
                <a:latin typeface="Arial"/>
                <a:cs typeface="Arial"/>
              </a:rPr>
              <a:t>and </a:t>
            </a:r>
            <a:r>
              <a:rPr sz="1950" spc="235" dirty="0">
                <a:solidFill>
                  <a:srgbClr val="231F20"/>
                </a:solidFill>
                <a:latin typeface="Arial"/>
                <a:cs typeface="Arial"/>
              </a:rPr>
              <a:t>that </a:t>
            </a:r>
            <a:r>
              <a:rPr sz="1950" spc="40" dirty="0">
                <a:solidFill>
                  <a:srgbClr val="231F20"/>
                </a:solidFill>
                <a:latin typeface="Arial"/>
                <a:cs typeface="Arial"/>
              </a:rPr>
              <a:t>is </a:t>
            </a:r>
            <a:r>
              <a:rPr sz="1950" spc="145" dirty="0">
                <a:solidFill>
                  <a:srgbClr val="FF0000"/>
                </a:solidFill>
                <a:latin typeface="Arial"/>
                <a:cs typeface="Arial"/>
              </a:rPr>
              <a:t>inductive </a:t>
            </a:r>
            <a:r>
              <a:rPr sz="1950" spc="525" dirty="0">
                <a:solidFill>
                  <a:srgbClr val="FF0000"/>
                </a:solidFill>
                <a:latin typeface="Arial"/>
                <a:cs typeface="Arial"/>
              </a:rPr>
              <a:t> </a:t>
            </a:r>
            <a:r>
              <a:rPr sz="1950" spc="204" dirty="0">
                <a:solidFill>
                  <a:srgbClr val="231F20"/>
                </a:solidFill>
                <a:latin typeface="Arial"/>
                <a:cs typeface="Arial"/>
              </a:rPr>
              <a:t>(on</a:t>
            </a:r>
            <a:r>
              <a:rPr sz="1950" spc="280" dirty="0">
                <a:solidFill>
                  <a:srgbClr val="231F20"/>
                </a:solidFill>
                <a:latin typeface="Arial"/>
                <a:cs typeface="Arial"/>
              </a:rPr>
              <a:t> </a:t>
            </a:r>
            <a:r>
              <a:rPr sz="1950" spc="160" dirty="0">
                <a:solidFill>
                  <a:srgbClr val="231F20"/>
                </a:solidFill>
                <a:latin typeface="Arial"/>
                <a:cs typeface="Arial"/>
              </a:rPr>
              <a:t>transition </a:t>
            </a:r>
            <a:r>
              <a:rPr sz="1950" spc="75" dirty="0">
                <a:solidFill>
                  <a:srgbClr val="231F20"/>
                </a:solidFill>
                <a:latin typeface="Arial"/>
                <a:cs typeface="Arial"/>
              </a:rPr>
              <a:t> </a:t>
            </a:r>
            <a:r>
              <a:rPr sz="1950" spc="145" dirty="0">
                <a:solidFill>
                  <a:srgbClr val="231F20"/>
                </a:solidFill>
                <a:latin typeface="Arial"/>
                <a:cs typeface="Arial"/>
              </a:rPr>
              <a:t>relation </a:t>
            </a:r>
            <a:r>
              <a:rPr i="1" spc="-100" dirty="0">
                <a:solidFill>
                  <a:srgbClr val="231F20"/>
                </a:solidFill>
                <a:latin typeface="Meiryo"/>
                <a:cs typeface="Meiryo"/>
              </a:rPr>
              <a:t>T </a:t>
            </a:r>
            <a:r>
              <a:rPr sz="1950" spc="145" dirty="0">
                <a:solidFill>
                  <a:srgbClr val="231F20"/>
                </a:solidFill>
                <a:latin typeface="Arial"/>
                <a:cs typeface="Arial"/>
              </a:rPr>
              <a:t>, </a:t>
            </a:r>
            <a:r>
              <a:rPr sz="1950" spc="215" dirty="0">
                <a:solidFill>
                  <a:srgbClr val="231F20"/>
                </a:solidFill>
                <a:latin typeface="Arial"/>
                <a:cs typeface="Arial"/>
              </a:rPr>
              <a:t>with </a:t>
            </a:r>
            <a:r>
              <a:rPr sz="1950" spc="150" dirty="0">
                <a:solidFill>
                  <a:srgbClr val="231F20"/>
                </a:solidFill>
                <a:latin typeface="Arial"/>
                <a:cs typeface="Arial"/>
              </a:rPr>
              <a:t>initial </a:t>
            </a:r>
            <a:r>
              <a:rPr sz="1950" spc="125" dirty="0">
                <a:solidFill>
                  <a:srgbClr val="231F20"/>
                </a:solidFill>
                <a:latin typeface="Arial"/>
                <a:cs typeface="Arial"/>
              </a:rPr>
              <a:t>states</a:t>
            </a:r>
            <a:r>
              <a:rPr sz="1950" spc="370" dirty="0">
                <a:solidFill>
                  <a:srgbClr val="231F20"/>
                </a:solidFill>
                <a:latin typeface="Arial"/>
                <a:cs typeface="Arial"/>
              </a:rPr>
              <a:t> </a:t>
            </a:r>
            <a:r>
              <a:rPr i="1" spc="275" dirty="0">
                <a:solidFill>
                  <a:srgbClr val="231F20"/>
                </a:solidFill>
                <a:latin typeface="Meiryo"/>
                <a:cs typeface="Meiryo"/>
              </a:rPr>
              <a:t>I</a:t>
            </a:r>
            <a:r>
              <a:rPr sz="1950" spc="275" dirty="0">
                <a:solidFill>
                  <a:srgbClr val="231F20"/>
                </a:solidFill>
                <a:latin typeface="Arial"/>
                <a:cs typeface="Arial"/>
              </a:rPr>
              <a:t>)</a:t>
            </a:r>
            <a:endParaRPr sz="1950">
              <a:latin typeface="Arial"/>
              <a:cs typeface="Arial"/>
            </a:endParaRPr>
          </a:p>
        </p:txBody>
      </p:sp>
      <p:sp>
        <p:nvSpPr>
          <p:cNvPr id="4" name="object 4"/>
          <p:cNvSpPr txBox="1"/>
          <p:nvPr/>
        </p:nvSpPr>
        <p:spPr>
          <a:xfrm>
            <a:off x="896435" y="2817748"/>
            <a:ext cx="8260715" cy="3223260"/>
          </a:xfrm>
          <a:prstGeom prst="rect">
            <a:avLst/>
          </a:prstGeom>
        </p:spPr>
        <p:txBody>
          <a:bodyPr vert="horz" wrap="square" lIns="0" tIns="0" rIns="0" bIns="0" rtlCol="0">
            <a:spAutoFit/>
          </a:bodyPr>
          <a:lstStyle/>
          <a:p>
            <a:pPr marL="741680" indent="-288290">
              <a:lnSpc>
                <a:spcPct val="100000"/>
              </a:lnSpc>
              <a:buClr>
                <a:srgbClr val="231F20"/>
              </a:buClr>
              <a:buSzPct val="105128"/>
              <a:buFont typeface="Lucida Sans Unicode"/>
              <a:buChar char="◦"/>
              <a:tabLst>
                <a:tab pos="742315" algn="l"/>
                <a:tab pos="4569460" algn="l"/>
              </a:tabLst>
            </a:pPr>
            <a:r>
              <a:rPr sz="1950" spc="95" dirty="0">
                <a:solidFill>
                  <a:srgbClr val="0000FF"/>
                </a:solidFill>
                <a:latin typeface="Arial"/>
                <a:cs typeface="Arial"/>
              </a:rPr>
              <a:t>Includes  </a:t>
            </a:r>
            <a:r>
              <a:rPr sz="1950" spc="105" dirty="0">
                <a:solidFill>
                  <a:srgbClr val="0000FF"/>
                </a:solidFill>
                <a:latin typeface="Arial"/>
                <a:cs typeface="Arial"/>
              </a:rPr>
              <a:t>all  </a:t>
            </a:r>
            <a:r>
              <a:rPr sz="1950" spc="175" dirty="0">
                <a:solidFill>
                  <a:srgbClr val="0000FF"/>
                </a:solidFill>
                <a:latin typeface="Arial"/>
                <a:cs typeface="Arial"/>
              </a:rPr>
              <a:t>the</a:t>
            </a:r>
            <a:r>
              <a:rPr sz="1950" spc="260" dirty="0">
                <a:solidFill>
                  <a:srgbClr val="0000FF"/>
                </a:solidFill>
                <a:latin typeface="Arial"/>
                <a:cs typeface="Arial"/>
              </a:rPr>
              <a:t> </a:t>
            </a:r>
            <a:r>
              <a:rPr sz="1950" spc="150" dirty="0">
                <a:solidFill>
                  <a:srgbClr val="0000FF"/>
                </a:solidFill>
                <a:latin typeface="Arial"/>
                <a:cs typeface="Arial"/>
              </a:rPr>
              <a:t>initial</a:t>
            </a:r>
            <a:r>
              <a:rPr sz="1950" spc="580" dirty="0">
                <a:solidFill>
                  <a:srgbClr val="0000FF"/>
                </a:solidFill>
                <a:latin typeface="Arial"/>
                <a:cs typeface="Arial"/>
              </a:rPr>
              <a:t> </a:t>
            </a:r>
            <a:r>
              <a:rPr sz="1950" spc="125" dirty="0">
                <a:solidFill>
                  <a:srgbClr val="0000FF"/>
                </a:solidFill>
                <a:latin typeface="Arial"/>
                <a:cs typeface="Arial"/>
              </a:rPr>
              <a:t>states</a:t>
            </a:r>
            <a:r>
              <a:rPr sz="1950" spc="125" dirty="0">
                <a:solidFill>
                  <a:srgbClr val="231F20"/>
                </a:solidFill>
                <a:latin typeface="Arial"/>
                <a:cs typeface="Arial"/>
              </a:rPr>
              <a:t>:	</a:t>
            </a:r>
            <a:r>
              <a:rPr sz="2050" i="1" spc="55" dirty="0">
                <a:solidFill>
                  <a:srgbClr val="231F20"/>
                </a:solidFill>
                <a:latin typeface="Meiryo"/>
                <a:cs typeface="Meiryo"/>
              </a:rPr>
              <a:t>I</a:t>
            </a:r>
            <a:r>
              <a:rPr sz="2050" spc="55" dirty="0">
                <a:solidFill>
                  <a:srgbClr val="231F20"/>
                </a:solidFill>
                <a:latin typeface="Tahoma"/>
                <a:cs typeface="Tahoma"/>
              </a:rPr>
              <a:t>(</a:t>
            </a:r>
            <a:r>
              <a:rPr sz="2050" i="1" spc="55" dirty="0">
                <a:solidFill>
                  <a:srgbClr val="231F20"/>
                </a:solidFill>
                <a:latin typeface="Meiryo"/>
                <a:cs typeface="Meiryo"/>
              </a:rPr>
              <a:t>s</a:t>
            </a:r>
            <a:r>
              <a:rPr sz="2050" spc="55" dirty="0">
                <a:solidFill>
                  <a:srgbClr val="231F20"/>
                </a:solidFill>
                <a:latin typeface="Tahoma"/>
                <a:cs typeface="Tahoma"/>
              </a:rPr>
              <a:t>)</a:t>
            </a:r>
            <a:r>
              <a:rPr sz="2050" spc="-105" dirty="0">
                <a:solidFill>
                  <a:srgbClr val="231F20"/>
                </a:solidFill>
                <a:latin typeface="Tahoma"/>
                <a:cs typeface="Tahoma"/>
              </a:rPr>
              <a:t> </a:t>
            </a:r>
            <a:r>
              <a:rPr sz="2050" spc="-25" dirty="0">
                <a:solidFill>
                  <a:srgbClr val="231F20"/>
                </a:solidFill>
                <a:latin typeface="Lucida Sans Unicode"/>
                <a:cs typeface="Lucida Sans Unicode"/>
              </a:rPr>
              <a:t>⊃</a:t>
            </a:r>
            <a:r>
              <a:rPr sz="2050" spc="-110" dirty="0">
                <a:solidFill>
                  <a:srgbClr val="231F20"/>
                </a:solidFill>
                <a:latin typeface="Lucida Sans Unicode"/>
                <a:cs typeface="Lucida Sans Unicode"/>
              </a:rPr>
              <a:t> </a:t>
            </a:r>
            <a:r>
              <a:rPr sz="2050" i="1" spc="65" dirty="0">
                <a:solidFill>
                  <a:srgbClr val="231F20"/>
                </a:solidFill>
                <a:latin typeface="Meiryo"/>
                <a:cs typeface="Meiryo"/>
              </a:rPr>
              <a:t>P</a:t>
            </a:r>
            <a:r>
              <a:rPr sz="2050" i="1" spc="-430" dirty="0">
                <a:solidFill>
                  <a:srgbClr val="231F20"/>
                </a:solidFill>
                <a:latin typeface="Meiryo"/>
                <a:cs typeface="Meiryo"/>
              </a:rPr>
              <a:t> </a:t>
            </a:r>
            <a:r>
              <a:rPr sz="2050" spc="-10" dirty="0">
                <a:solidFill>
                  <a:srgbClr val="231F20"/>
                </a:solidFill>
                <a:latin typeface="Tahoma"/>
                <a:cs typeface="Tahoma"/>
              </a:rPr>
              <a:t>(</a:t>
            </a:r>
            <a:r>
              <a:rPr sz="2050" i="1" spc="-10" dirty="0">
                <a:solidFill>
                  <a:srgbClr val="231F20"/>
                </a:solidFill>
                <a:latin typeface="Meiryo"/>
                <a:cs typeface="Meiryo"/>
              </a:rPr>
              <a:t>s</a:t>
            </a:r>
            <a:r>
              <a:rPr sz="2050" spc="-10" dirty="0">
                <a:solidFill>
                  <a:srgbClr val="231F20"/>
                </a:solidFill>
                <a:latin typeface="Tahoma"/>
                <a:cs typeface="Tahoma"/>
              </a:rPr>
              <a:t>)</a:t>
            </a:r>
            <a:endParaRPr sz="2050">
              <a:latin typeface="Tahoma"/>
              <a:cs typeface="Tahoma"/>
            </a:endParaRPr>
          </a:p>
          <a:p>
            <a:pPr marL="741680" indent="-288290">
              <a:lnSpc>
                <a:spcPct val="100000"/>
              </a:lnSpc>
              <a:spcBef>
                <a:spcPts val="725"/>
              </a:spcBef>
              <a:buClr>
                <a:srgbClr val="231F20"/>
              </a:buClr>
              <a:buSzPct val="105128"/>
              <a:buFont typeface="Lucida Sans Unicode"/>
              <a:buChar char="◦"/>
              <a:tabLst>
                <a:tab pos="742315" algn="l"/>
                <a:tab pos="4436745" algn="l"/>
              </a:tabLst>
            </a:pPr>
            <a:r>
              <a:rPr sz="1950" spc="30" dirty="0">
                <a:solidFill>
                  <a:srgbClr val="0000FF"/>
                </a:solidFill>
                <a:latin typeface="Arial"/>
                <a:cs typeface="Arial"/>
              </a:rPr>
              <a:t>Is  </a:t>
            </a:r>
            <a:r>
              <a:rPr sz="1950" spc="85" dirty="0">
                <a:solidFill>
                  <a:srgbClr val="0000FF"/>
                </a:solidFill>
                <a:latin typeface="Arial"/>
                <a:cs typeface="Arial"/>
              </a:rPr>
              <a:t>closed  </a:t>
            </a:r>
            <a:r>
              <a:rPr sz="1950" spc="155" dirty="0">
                <a:solidFill>
                  <a:srgbClr val="0000FF"/>
                </a:solidFill>
                <a:latin typeface="Arial"/>
                <a:cs typeface="Arial"/>
              </a:rPr>
              <a:t>on</a:t>
            </a:r>
            <a:r>
              <a:rPr sz="1950" spc="415" dirty="0">
                <a:solidFill>
                  <a:srgbClr val="0000FF"/>
                </a:solidFill>
                <a:latin typeface="Arial"/>
                <a:cs typeface="Arial"/>
              </a:rPr>
              <a:t> </a:t>
            </a:r>
            <a:r>
              <a:rPr sz="1950" spc="175" dirty="0">
                <a:solidFill>
                  <a:srgbClr val="0000FF"/>
                </a:solidFill>
                <a:latin typeface="Arial"/>
                <a:cs typeface="Arial"/>
              </a:rPr>
              <a:t>the</a:t>
            </a:r>
            <a:r>
              <a:rPr sz="1950" spc="575" dirty="0">
                <a:solidFill>
                  <a:srgbClr val="0000FF"/>
                </a:solidFill>
                <a:latin typeface="Arial"/>
                <a:cs typeface="Arial"/>
              </a:rPr>
              <a:t> </a:t>
            </a:r>
            <a:r>
              <a:rPr sz="1950" spc="145" dirty="0">
                <a:solidFill>
                  <a:srgbClr val="0000FF"/>
                </a:solidFill>
                <a:latin typeface="Arial"/>
                <a:cs typeface="Arial"/>
              </a:rPr>
              <a:t>transitions</a:t>
            </a:r>
            <a:r>
              <a:rPr sz="1950" spc="145" dirty="0">
                <a:solidFill>
                  <a:srgbClr val="231F20"/>
                </a:solidFill>
                <a:latin typeface="Arial"/>
                <a:cs typeface="Arial"/>
              </a:rPr>
              <a:t>:	</a:t>
            </a:r>
            <a:r>
              <a:rPr sz="2050" i="1" spc="65" dirty="0">
                <a:solidFill>
                  <a:srgbClr val="231F20"/>
                </a:solidFill>
                <a:latin typeface="Meiryo"/>
                <a:cs typeface="Meiryo"/>
              </a:rPr>
              <a:t>P</a:t>
            </a:r>
            <a:r>
              <a:rPr sz="2050" i="1" spc="-420" dirty="0">
                <a:solidFill>
                  <a:srgbClr val="231F20"/>
                </a:solidFill>
                <a:latin typeface="Meiryo"/>
                <a:cs typeface="Meiryo"/>
              </a:rPr>
              <a:t> </a:t>
            </a:r>
            <a:r>
              <a:rPr sz="2050" spc="-10" dirty="0">
                <a:solidFill>
                  <a:srgbClr val="231F20"/>
                </a:solidFill>
                <a:latin typeface="Tahoma"/>
                <a:cs typeface="Tahoma"/>
              </a:rPr>
              <a:t>(</a:t>
            </a:r>
            <a:r>
              <a:rPr sz="2050" i="1" spc="-10" dirty="0">
                <a:solidFill>
                  <a:srgbClr val="231F20"/>
                </a:solidFill>
                <a:latin typeface="Meiryo"/>
                <a:cs typeface="Meiryo"/>
              </a:rPr>
              <a:t>s</a:t>
            </a:r>
            <a:r>
              <a:rPr sz="2050" spc="-10" dirty="0">
                <a:solidFill>
                  <a:srgbClr val="231F20"/>
                </a:solidFill>
                <a:latin typeface="Tahoma"/>
                <a:cs typeface="Tahoma"/>
              </a:rPr>
              <a:t>)</a:t>
            </a:r>
            <a:r>
              <a:rPr sz="2050" spc="-195" dirty="0">
                <a:solidFill>
                  <a:srgbClr val="231F20"/>
                </a:solidFill>
                <a:latin typeface="Tahoma"/>
                <a:cs typeface="Tahoma"/>
              </a:rPr>
              <a:t> </a:t>
            </a:r>
            <a:r>
              <a:rPr sz="2050" spc="-254" dirty="0">
                <a:solidFill>
                  <a:srgbClr val="231F20"/>
                </a:solidFill>
                <a:latin typeface="Lucida Sans Unicode"/>
                <a:cs typeface="Lucida Sans Unicode"/>
              </a:rPr>
              <a:t>∧</a:t>
            </a:r>
            <a:r>
              <a:rPr sz="2050" spc="-200" dirty="0">
                <a:solidFill>
                  <a:srgbClr val="231F20"/>
                </a:solidFill>
                <a:latin typeface="Lucida Sans Unicode"/>
                <a:cs typeface="Lucida Sans Unicode"/>
              </a:rPr>
              <a:t> </a:t>
            </a:r>
            <a:r>
              <a:rPr sz="2050" i="1" spc="-100" dirty="0">
                <a:solidFill>
                  <a:srgbClr val="231F20"/>
                </a:solidFill>
                <a:latin typeface="Meiryo"/>
                <a:cs typeface="Meiryo"/>
              </a:rPr>
              <a:t>T</a:t>
            </a:r>
            <a:r>
              <a:rPr sz="2050" i="1" spc="-420" dirty="0">
                <a:solidFill>
                  <a:srgbClr val="231F20"/>
                </a:solidFill>
                <a:latin typeface="Meiryo"/>
                <a:cs typeface="Meiryo"/>
              </a:rPr>
              <a:t> </a:t>
            </a:r>
            <a:r>
              <a:rPr sz="2050" spc="-60" dirty="0">
                <a:solidFill>
                  <a:srgbClr val="231F20"/>
                </a:solidFill>
                <a:latin typeface="Tahoma"/>
                <a:cs typeface="Tahoma"/>
              </a:rPr>
              <a:t>(</a:t>
            </a:r>
            <a:r>
              <a:rPr sz="2050" i="1" spc="-60" dirty="0">
                <a:solidFill>
                  <a:srgbClr val="231F20"/>
                </a:solidFill>
                <a:latin typeface="Meiryo"/>
                <a:cs typeface="Meiryo"/>
              </a:rPr>
              <a:t>s,</a:t>
            </a:r>
            <a:r>
              <a:rPr sz="2050" i="1" spc="-365" dirty="0">
                <a:solidFill>
                  <a:srgbClr val="231F20"/>
                </a:solidFill>
                <a:latin typeface="Meiryo"/>
                <a:cs typeface="Meiryo"/>
              </a:rPr>
              <a:t> </a:t>
            </a:r>
            <a:r>
              <a:rPr sz="2050" i="1" spc="-10" dirty="0">
                <a:solidFill>
                  <a:srgbClr val="231F20"/>
                </a:solidFill>
                <a:latin typeface="Meiryo"/>
                <a:cs typeface="Meiryo"/>
              </a:rPr>
              <a:t>t</a:t>
            </a:r>
            <a:r>
              <a:rPr sz="2050" spc="-10" dirty="0">
                <a:solidFill>
                  <a:srgbClr val="231F20"/>
                </a:solidFill>
                <a:latin typeface="Tahoma"/>
                <a:cs typeface="Tahoma"/>
              </a:rPr>
              <a:t>)</a:t>
            </a:r>
            <a:r>
              <a:rPr sz="2050" spc="-85" dirty="0">
                <a:solidFill>
                  <a:srgbClr val="231F20"/>
                </a:solidFill>
                <a:latin typeface="Tahoma"/>
                <a:cs typeface="Tahoma"/>
              </a:rPr>
              <a:t> </a:t>
            </a:r>
            <a:r>
              <a:rPr sz="2050" spc="-25" dirty="0">
                <a:solidFill>
                  <a:srgbClr val="231F20"/>
                </a:solidFill>
                <a:latin typeface="Lucida Sans Unicode"/>
                <a:cs typeface="Lucida Sans Unicode"/>
              </a:rPr>
              <a:t>⊃</a:t>
            </a:r>
            <a:r>
              <a:rPr sz="2050" spc="-90" dirty="0">
                <a:solidFill>
                  <a:srgbClr val="231F20"/>
                </a:solidFill>
                <a:latin typeface="Lucida Sans Unicode"/>
                <a:cs typeface="Lucida Sans Unicode"/>
              </a:rPr>
              <a:t> </a:t>
            </a:r>
            <a:r>
              <a:rPr sz="2050" i="1" spc="65" dirty="0">
                <a:solidFill>
                  <a:srgbClr val="231F20"/>
                </a:solidFill>
                <a:latin typeface="Meiryo"/>
                <a:cs typeface="Meiryo"/>
              </a:rPr>
              <a:t>P</a:t>
            </a:r>
            <a:r>
              <a:rPr sz="2050" i="1" spc="-420" dirty="0">
                <a:solidFill>
                  <a:srgbClr val="231F20"/>
                </a:solidFill>
                <a:latin typeface="Meiryo"/>
                <a:cs typeface="Meiryo"/>
              </a:rPr>
              <a:t> </a:t>
            </a:r>
            <a:r>
              <a:rPr sz="2050" dirty="0">
                <a:solidFill>
                  <a:srgbClr val="231F20"/>
                </a:solidFill>
                <a:latin typeface="Tahoma"/>
                <a:cs typeface="Tahoma"/>
              </a:rPr>
              <a:t>(</a:t>
            </a:r>
            <a:r>
              <a:rPr sz="2050" i="1" dirty="0">
                <a:solidFill>
                  <a:srgbClr val="231F20"/>
                </a:solidFill>
                <a:latin typeface="Meiryo"/>
                <a:cs typeface="Meiryo"/>
              </a:rPr>
              <a:t>t</a:t>
            </a:r>
            <a:r>
              <a:rPr sz="2050" dirty="0">
                <a:solidFill>
                  <a:srgbClr val="231F20"/>
                </a:solidFill>
                <a:latin typeface="Tahoma"/>
                <a:cs typeface="Tahoma"/>
              </a:rPr>
              <a:t>)</a:t>
            </a:r>
            <a:endParaRPr sz="2050">
              <a:latin typeface="Tahoma"/>
              <a:cs typeface="Tahoma"/>
            </a:endParaRPr>
          </a:p>
          <a:p>
            <a:pPr marL="300990" marR="5080" indent="-288290">
              <a:lnSpc>
                <a:spcPct val="125000"/>
              </a:lnSpc>
              <a:spcBef>
                <a:spcPts val="495"/>
              </a:spcBef>
              <a:buSzPct val="105128"/>
              <a:buFont typeface="Lucida Sans Unicode"/>
              <a:buChar char="•"/>
              <a:tabLst>
                <a:tab pos="301625" algn="l"/>
              </a:tabLst>
            </a:pPr>
            <a:r>
              <a:rPr sz="1950" spc="250" dirty="0">
                <a:solidFill>
                  <a:srgbClr val="231F20"/>
                </a:solidFill>
                <a:latin typeface="Arial"/>
                <a:cs typeface="Arial"/>
              </a:rPr>
              <a:t>The </a:t>
            </a:r>
            <a:r>
              <a:rPr sz="1950" spc="100" dirty="0">
                <a:solidFill>
                  <a:srgbClr val="231F20"/>
                </a:solidFill>
                <a:latin typeface="Arial"/>
                <a:cs typeface="Arial"/>
              </a:rPr>
              <a:t>reachable </a:t>
            </a:r>
            <a:r>
              <a:rPr sz="1950" spc="125" dirty="0">
                <a:solidFill>
                  <a:srgbClr val="231F20"/>
                </a:solidFill>
                <a:latin typeface="Arial"/>
                <a:cs typeface="Arial"/>
              </a:rPr>
              <a:t>states </a:t>
            </a:r>
            <a:r>
              <a:rPr sz="1950" spc="65" dirty="0">
                <a:solidFill>
                  <a:srgbClr val="231F20"/>
                </a:solidFill>
                <a:latin typeface="Arial"/>
                <a:cs typeface="Arial"/>
              </a:rPr>
              <a:t>are </a:t>
            </a:r>
            <a:r>
              <a:rPr sz="1950" spc="175" dirty="0">
                <a:solidFill>
                  <a:srgbClr val="231F20"/>
                </a:solidFill>
                <a:latin typeface="Arial"/>
                <a:cs typeface="Arial"/>
              </a:rPr>
              <a:t>the </a:t>
            </a:r>
            <a:r>
              <a:rPr sz="1950" spc="114" dirty="0">
                <a:solidFill>
                  <a:srgbClr val="231F20"/>
                </a:solidFill>
                <a:latin typeface="Arial"/>
                <a:cs typeface="Arial"/>
              </a:rPr>
              <a:t>smallest </a:t>
            </a:r>
            <a:r>
              <a:rPr sz="1950" spc="110" dirty="0">
                <a:solidFill>
                  <a:srgbClr val="231F20"/>
                </a:solidFill>
                <a:latin typeface="Arial"/>
                <a:cs typeface="Arial"/>
              </a:rPr>
              <a:t>set </a:t>
            </a:r>
            <a:r>
              <a:rPr sz="1950" spc="235" dirty="0">
                <a:solidFill>
                  <a:srgbClr val="231F20"/>
                </a:solidFill>
                <a:latin typeface="Arial"/>
                <a:cs typeface="Arial"/>
              </a:rPr>
              <a:t>that </a:t>
            </a:r>
            <a:r>
              <a:rPr sz="1950" spc="40" dirty="0">
                <a:solidFill>
                  <a:srgbClr val="231F20"/>
                </a:solidFill>
                <a:latin typeface="Arial"/>
                <a:cs typeface="Arial"/>
              </a:rPr>
              <a:t>is </a:t>
            </a:r>
            <a:r>
              <a:rPr sz="1950" spc="145" dirty="0">
                <a:solidFill>
                  <a:srgbClr val="231F20"/>
                </a:solidFill>
                <a:latin typeface="Arial"/>
                <a:cs typeface="Arial"/>
              </a:rPr>
              <a:t>inductive, </a:t>
            </a:r>
            <a:r>
              <a:rPr sz="1950" spc="65" dirty="0">
                <a:solidFill>
                  <a:srgbClr val="231F20"/>
                </a:solidFill>
                <a:latin typeface="Arial"/>
                <a:cs typeface="Arial"/>
              </a:rPr>
              <a:t>so  </a:t>
            </a:r>
            <a:r>
              <a:rPr sz="1950" spc="145" dirty="0">
                <a:solidFill>
                  <a:srgbClr val="231F20"/>
                </a:solidFill>
                <a:latin typeface="Arial"/>
                <a:cs typeface="Arial"/>
              </a:rPr>
              <a:t>inductive </a:t>
            </a:r>
            <a:r>
              <a:rPr sz="1950" spc="125" dirty="0">
                <a:solidFill>
                  <a:srgbClr val="231F20"/>
                </a:solidFill>
                <a:latin typeface="Arial"/>
                <a:cs typeface="Arial"/>
              </a:rPr>
              <a:t>properties </a:t>
            </a:r>
            <a:r>
              <a:rPr sz="1950" spc="65" dirty="0">
                <a:solidFill>
                  <a:srgbClr val="231F20"/>
                </a:solidFill>
                <a:latin typeface="Arial"/>
                <a:cs typeface="Arial"/>
              </a:rPr>
              <a:t>are</a:t>
            </a:r>
            <a:r>
              <a:rPr sz="1950" spc="525" dirty="0">
                <a:solidFill>
                  <a:srgbClr val="231F20"/>
                </a:solidFill>
                <a:latin typeface="Arial"/>
                <a:cs typeface="Arial"/>
              </a:rPr>
              <a:t> </a:t>
            </a:r>
            <a:r>
              <a:rPr sz="1950" spc="125" dirty="0">
                <a:solidFill>
                  <a:srgbClr val="231F20"/>
                </a:solidFill>
                <a:latin typeface="Arial"/>
                <a:cs typeface="Arial"/>
              </a:rPr>
              <a:t>invariants</a:t>
            </a:r>
            <a:endParaRPr sz="1950">
              <a:latin typeface="Arial"/>
              <a:cs typeface="Arial"/>
            </a:endParaRPr>
          </a:p>
          <a:p>
            <a:pPr marL="300990" indent="-288290">
              <a:lnSpc>
                <a:spcPct val="100000"/>
              </a:lnSpc>
              <a:spcBef>
                <a:spcPts val="1100"/>
              </a:spcBef>
              <a:buSzPct val="105128"/>
              <a:buFont typeface="Lucida Sans Unicode"/>
              <a:buChar char="•"/>
              <a:tabLst>
                <a:tab pos="301625" algn="l"/>
              </a:tabLst>
            </a:pPr>
            <a:r>
              <a:rPr sz="1950" spc="160" dirty="0">
                <a:solidFill>
                  <a:srgbClr val="231F20"/>
                </a:solidFill>
                <a:latin typeface="Arial"/>
                <a:cs typeface="Arial"/>
              </a:rPr>
              <a:t>Trouble </a:t>
            </a:r>
            <a:r>
              <a:rPr sz="1950" spc="75" dirty="0">
                <a:solidFill>
                  <a:srgbClr val="231F20"/>
                </a:solidFill>
                <a:latin typeface="Arial"/>
                <a:cs typeface="Arial"/>
              </a:rPr>
              <a:t>is, </a:t>
            </a:r>
            <a:r>
              <a:rPr sz="1950" spc="150" dirty="0">
                <a:solidFill>
                  <a:srgbClr val="FF0000"/>
                </a:solidFill>
                <a:latin typeface="Arial"/>
                <a:cs typeface="Arial"/>
              </a:rPr>
              <a:t>naturally </a:t>
            </a:r>
            <a:r>
              <a:rPr sz="1950" spc="155" dirty="0">
                <a:solidFill>
                  <a:srgbClr val="FF0000"/>
                </a:solidFill>
                <a:latin typeface="Arial"/>
                <a:cs typeface="Arial"/>
              </a:rPr>
              <a:t>stated </a:t>
            </a:r>
            <a:r>
              <a:rPr sz="1950" spc="125" dirty="0">
                <a:solidFill>
                  <a:srgbClr val="FF0000"/>
                </a:solidFill>
                <a:latin typeface="Arial"/>
                <a:cs typeface="Arial"/>
              </a:rPr>
              <a:t>invariants </a:t>
            </a:r>
            <a:r>
              <a:rPr sz="1950" spc="65" dirty="0">
                <a:solidFill>
                  <a:srgbClr val="FF0000"/>
                </a:solidFill>
                <a:latin typeface="Arial"/>
                <a:cs typeface="Arial"/>
              </a:rPr>
              <a:t>are </a:t>
            </a:r>
            <a:r>
              <a:rPr sz="1950" spc="114" dirty="0">
                <a:solidFill>
                  <a:srgbClr val="FF0000"/>
                </a:solidFill>
                <a:latin typeface="Arial"/>
                <a:cs typeface="Arial"/>
              </a:rPr>
              <a:t>seldom </a:t>
            </a:r>
            <a:r>
              <a:rPr sz="1950" spc="590" dirty="0">
                <a:solidFill>
                  <a:srgbClr val="FF0000"/>
                </a:solidFill>
                <a:latin typeface="Arial"/>
                <a:cs typeface="Arial"/>
              </a:rPr>
              <a:t> </a:t>
            </a:r>
            <a:r>
              <a:rPr sz="1950" spc="145" dirty="0">
                <a:solidFill>
                  <a:srgbClr val="FF0000"/>
                </a:solidFill>
                <a:latin typeface="Arial"/>
                <a:cs typeface="Arial"/>
              </a:rPr>
              <a:t>inductive</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250" dirty="0">
                <a:solidFill>
                  <a:srgbClr val="231F20"/>
                </a:solidFill>
                <a:latin typeface="Arial"/>
                <a:cs typeface="Arial"/>
              </a:rPr>
              <a:t>The </a:t>
            </a:r>
            <a:r>
              <a:rPr sz="1950" spc="95" dirty="0">
                <a:solidFill>
                  <a:srgbClr val="231F20"/>
                </a:solidFill>
                <a:latin typeface="Arial"/>
                <a:cs typeface="Arial"/>
              </a:rPr>
              <a:t>second </a:t>
            </a:r>
            <a:r>
              <a:rPr sz="1950" spc="160" dirty="0">
                <a:solidFill>
                  <a:srgbClr val="231F20"/>
                </a:solidFill>
                <a:latin typeface="Arial"/>
                <a:cs typeface="Arial"/>
              </a:rPr>
              <a:t>condition </a:t>
            </a:r>
            <a:r>
              <a:rPr sz="1950" spc="40" dirty="0">
                <a:solidFill>
                  <a:srgbClr val="231F20"/>
                </a:solidFill>
                <a:latin typeface="Arial"/>
                <a:cs typeface="Arial"/>
              </a:rPr>
              <a:t>is</a:t>
            </a:r>
            <a:r>
              <a:rPr sz="1950" spc="610" dirty="0">
                <a:solidFill>
                  <a:srgbClr val="231F20"/>
                </a:solidFill>
                <a:latin typeface="Arial"/>
                <a:cs typeface="Arial"/>
              </a:rPr>
              <a:t> </a:t>
            </a:r>
            <a:r>
              <a:rPr sz="1950" spc="135" dirty="0">
                <a:solidFill>
                  <a:srgbClr val="231F20"/>
                </a:solidFill>
                <a:latin typeface="Arial"/>
                <a:cs typeface="Arial"/>
              </a:rPr>
              <a:t>violated</a:t>
            </a:r>
            <a:endParaRPr sz="1950">
              <a:latin typeface="Arial"/>
              <a:cs typeface="Arial"/>
            </a:endParaRPr>
          </a:p>
          <a:p>
            <a:pPr marL="300990" marR="177800" indent="-288290">
              <a:lnSpc>
                <a:spcPct val="125000"/>
              </a:lnSpc>
              <a:spcBef>
                <a:spcPts val="515"/>
              </a:spcBef>
              <a:buSzPct val="105128"/>
              <a:buFont typeface="Lucida Sans Unicode"/>
              <a:buChar char="•"/>
              <a:tabLst>
                <a:tab pos="301625" algn="l"/>
              </a:tabLst>
            </a:pPr>
            <a:r>
              <a:rPr sz="1950" spc="95" dirty="0">
                <a:solidFill>
                  <a:srgbClr val="231F20"/>
                </a:solidFill>
                <a:latin typeface="Arial"/>
                <a:cs typeface="Arial"/>
              </a:rPr>
              <a:t>Need </a:t>
            </a:r>
            <a:r>
              <a:rPr sz="1950" spc="250" dirty="0">
                <a:solidFill>
                  <a:srgbClr val="231F20"/>
                </a:solidFill>
                <a:latin typeface="Arial"/>
                <a:cs typeface="Arial"/>
              </a:rPr>
              <a:t>to </a:t>
            </a:r>
            <a:r>
              <a:rPr sz="1950" spc="130" dirty="0">
                <a:solidFill>
                  <a:srgbClr val="231F20"/>
                </a:solidFill>
                <a:latin typeface="Arial"/>
                <a:cs typeface="Arial"/>
              </a:rPr>
              <a:t>make </a:t>
            </a:r>
            <a:r>
              <a:rPr sz="1950" spc="204" dirty="0">
                <a:solidFill>
                  <a:srgbClr val="231F20"/>
                </a:solidFill>
                <a:latin typeface="Arial"/>
                <a:cs typeface="Arial"/>
              </a:rPr>
              <a:t>them </a:t>
            </a:r>
            <a:r>
              <a:rPr sz="1950" spc="110" dirty="0">
                <a:solidFill>
                  <a:srgbClr val="231F20"/>
                </a:solidFill>
                <a:latin typeface="Arial"/>
                <a:cs typeface="Arial"/>
              </a:rPr>
              <a:t>smaller </a:t>
            </a:r>
            <a:r>
              <a:rPr sz="1950" spc="175" dirty="0">
                <a:solidFill>
                  <a:srgbClr val="231F20"/>
                </a:solidFill>
                <a:latin typeface="Arial"/>
                <a:cs typeface="Arial"/>
              </a:rPr>
              <a:t>(stronger) </a:t>
            </a:r>
            <a:r>
              <a:rPr sz="1950" spc="250" dirty="0">
                <a:solidFill>
                  <a:srgbClr val="231F20"/>
                </a:solidFill>
                <a:latin typeface="Arial"/>
                <a:cs typeface="Arial"/>
              </a:rPr>
              <a:t>to </a:t>
            </a:r>
            <a:r>
              <a:rPr sz="1950" spc="100" dirty="0">
                <a:solidFill>
                  <a:srgbClr val="231F20"/>
                </a:solidFill>
                <a:latin typeface="Arial"/>
                <a:cs typeface="Arial"/>
              </a:rPr>
              <a:t>exclude </a:t>
            </a:r>
            <a:r>
              <a:rPr sz="1950" spc="175" dirty="0">
                <a:solidFill>
                  <a:srgbClr val="231F20"/>
                </a:solidFill>
                <a:latin typeface="Arial"/>
                <a:cs typeface="Arial"/>
              </a:rPr>
              <a:t>the </a:t>
            </a:r>
            <a:r>
              <a:rPr sz="1950" spc="125" dirty="0">
                <a:solidFill>
                  <a:srgbClr val="231F20"/>
                </a:solidFill>
                <a:latin typeface="Arial"/>
                <a:cs typeface="Arial"/>
              </a:rPr>
              <a:t>states  </a:t>
            </a:r>
            <a:r>
              <a:rPr sz="1950" spc="235" dirty="0">
                <a:solidFill>
                  <a:srgbClr val="231F20"/>
                </a:solidFill>
                <a:latin typeface="Arial"/>
                <a:cs typeface="Arial"/>
              </a:rPr>
              <a:t>that </a:t>
            </a:r>
            <a:r>
              <a:rPr sz="1950" spc="145" dirty="0">
                <a:solidFill>
                  <a:srgbClr val="231F20"/>
                </a:solidFill>
                <a:latin typeface="Arial"/>
                <a:cs typeface="Arial"/>
              </a:rPr>
              <a:t>take </a:t>
            </a:r>
            <a:r>
              <a:rPr sz="1950" spc="120" dirty="0">
                <a:solidFill>
                  <a:srgbClr val="231F20"/>
                </a:solidFill>
                <a:latin typeface="Arial"/>
                <a:cs typeface="Arial"/>
              </a:rPr>
              <a:t>you </a:t>
            </a:r>
            <a:r>
              <a:rPr sz="1950" spc="130" dirty="0">
                <a:solidFill>
                  <a:srgbClr val="231F20"/>
                </a:solidFill>
                <a:latin typeface="Arial"/>
                <a:cs typeface="Arial"/>
              </a:rPr>
              <a:t>outside </a:t>
            </a:r>
            <a:r>
              <a:rPr sz="1950" spc="175" dirty="0">
                <a:solidFill>
                  <a:srgbClr val="231F20"/>
                </a:solidFill>
                <a:latin typeface="Arial"/>
                <a:cs typeface="Arial"/>
              </a:rPr>
              <a:t>the</a:t>
            </a:r>
            <a:r>
              <a:rPr sz="1950" spc="740" dirty="0">
                <a:solidFill>
                  <a:srgbClr val="231F20"/>
                </a:solidFill>
                <a:latin typeface="Arial"/>
                <a:cs typeface="Arial"/>
              </a:rPr>
              <a:t> </a:t>
            </a:r>
            <a:r>
              <a:rPr sz="1950" spc="140" dirty="0">
                <a:solidFill>
                  <a:srgbClr val="231F20"/>
                </a:solidFill>
                <a:latin typeface="Arial"/>
                <a:cs typeface="Arial"/>
              </a:rPr>
              <a:t>invariant</a:t>
            </a:r>
            <a:endParaRPr sz="1950">
              <a:latin typeface="Arial"/>
              <a:cs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50248" y="475981"/>
            <a:ext cx="4959985" cy="314960"/>
          </a:xfrm>
          <a:prstGeom prst="rect">
            <a:avLst/>
          </a:prstGeom>
        </p:spPr>
        <p:txBody>
          <a:bodyPr vert="horz" wrap="square" lIns="0" tIns="0" rIns="0" bIns="0" rtlCol="0">
            <a:spAutoFit/>
          </a:bodyPr>
          <a:lstStyle/>
          <a:p>
            <a:pPr marL="12700">
              <a:lnSpc>
                <a:spcPct val="100000"/>
              </a:lnSpc>
            </a:pPr>
            <a:r>
              <a:rPr sz="1950" spc="254" dirty="0">
                <a:solidFill>
                  <a:srgbClr val="231F20"/>
                </a:solidFill>
                <a:latin typeface="Arial"/>
                <a:cs typeface="Arial"/>
              </a:rPr>
              <a:t>Noninductive </a:t>
            </a:r>
            <a:r>
              <a:rPr sz="1950" spc="215" dirty="0">
                <a:solidFill>
                  <a:srgbClr val="231F20"/>
                </a:solidFill>
                <a:latin typeface="Arial"/>
                <a:cs typeface="Arial"/>
              </a:rPr>
              <a:t>Invariants </a:t>
            </a:r>
            <a:r>
              <a:rPr sz="1950" spc="220" dirty="0">
                <a:solidFill>
                  <a:srgbClr val="231F20"/>
                </a:solidFill>
                <a:latin typeface="Arial"/>
                <a:cs typeface="Arial"/>
              </a:rPr>
              <a:t>In</a:t>
            </a:r>
            <a:r>
              <a:rPr sz="1950" spc="590" dirty="0">
                <a:solidFill>
                  <a:srgbClr val="231F20"/>
                </a:solidFill>
                <a:latin typeface="Arial"/>
                <a:cs typeface="Arial"/>
              </a:rPr>
              <a:t> </a:t>
            </a:r>
            <a:r>
              <a:rPr sz="1950" spc="245" dirty="0">
                <a:solidFill>
                  <a:srgbClr val="231F20"/>
                </a:solidFill>
                <a:latin typeface="Arial"/>
                <a:cs typeface="Arial"/>
              </a:rPr>
              <a:t>Pictures</a:t>
            </a:r>
            <a:endParaRPr sz="1950">
              <a:latin typeface="Arial"/>
              <a:cs typeface="Arial"/>
            </a:endParaRPr>
          </a:p>
        </p:txBody>
      </p:sp>
      <p:sp>
        <p:nvSpPr>
          <p:cNvPr id="3" name="object 3"/>
          <p:cNvSpPr/>
          <p:nvPr/>
        </p:nvSpPr>
        <p:spPr>
          <a:xfrm>
            <a:off x="1557277" y="1285573"/>
            <a:ext cx="6942309" cy="4850250"/>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383082" y="1946214"/>
            <a:ext cx="5290699" cy="3528968"/>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098790" y="2496759"/>
            <a:ext cx="3859282" cy="2317769"/>
          </a:xfrm>
          <a:prstGeom prst="rect">
            <a:avLst/>
          </a:prstGeom>
          <a:blipFill>
            <a:blip r:embed="rId4" cstate="print"/>
            <a:stretch>
              <a:fillRect/>
            </a:stretch>
          </a:blipFill>
        </p:spPr>
        <p:txBody>
          <a:bodyPr wrap="square" lIns="0" tIns="0" rIns="0" bIns="0" rtlCol="0"/>
          <a:lstStyle/>
          <a:p>
            <a:endParaRPr/>
          </a:p>
        </p:txBody>
      </p:sp>
      <p:sp>
        <p:nvSpPr>
          <p:cNvPr id="6" name="object 6"/>
          <p:cNvSpPr/>
          <p:nvPr/>
        </p:nvSpPr>
        <p:spPr>
          <a:xfrm>
            <a:off x="3376813" y="2664669"/>
            <a:ext cx="3302000" cy="2092325"/>
          </a:xfrm>
          <a:custGeom>
            <a:avLst/>
            <a:gdLst/>
            <a:ahLst/>
            <a:cxnLst/>
            <a:rect l="l" t="t" r="r" b="b"/>
            <a:pathLst>
              <a:path w="3302000" h="2092325">
                <a:moveTo>
                  <a:pt x="12700" y="1177792"/>
                </a:moveTo>
                <a:lnTo>
                  <a:pt x="12700" y="914265"/>
                </a:lnTo>
                <a:lnTo>
                  <a:pt x="0" y="917863"/>
                </a:lnTo>
                <a:lnTo>
                  <a:pt x="0" y="1174193"/>
                </a:lnTo>
                <a:lnTo>
                  <a:pt x="12700" y="1177792"/>
                </a:lnTo>
                <a:close/>
              </a:path>
              <a:path w="3302000" h="2092325">
                <a:moveTo>
                  <a:pt x="25400" y="1231301"/>
                </a:moveTo>
                <a:lnTo>
                  <a:pt x="25400" y="860755"/>
                </a:lnTo>
                <a:lnTo>
                  <a:pt x="12700" y="864295"/>
                </a:lnTo>
                <a:lnTo>
                  <a:pt x="12700" y="1227762"/>
                </a:lnTo>
                <a:lnTo>
                  <a:pt x="25400" y="1231301"/>
                </a:lnTo>
                <a:close/>
              </a:path>
              <a:path w="3302000" h="2092325">
                <a:moveTo>
                  <a:pt x="38100" y="1273447"/>
                </a:moveTo>
                <a:lnTo>
                  <a:pt x="38100" y="818610"/>
                </a:lnTo>
                <a:lnTo>
                  <a:pt x="25400" y="822098"/>
                </a:lnTo>
                <a:lnTo>
                  <a:pt x="25400" y="1269958"/>
                </a:lnTo>
                <a:lnTo>
                  <a:pt x="38100" y="1273447"/>
                </a:lnTo>
                <a:close/>
              </a:path>
              <a:path w="3302000" h="2092325">
                <a:moveTo>
                  <a:pt x="50800" y="1304646"/>
                </a:moveTo>
                <a:lnTo>
                  <a:pt x="50800" y="787411"/>
                </a:lnTo>
                <a:lnTo>
                  <a:pt x="38100" y="790859"/>
                </a:lnTo>
                <a:lnTo>
                  <a:pt x="38100" y="1301197"/>
                </a:lnTo>
                <a:lnTo>
                  <a:pt x="50800" y="1304646"/>
                </a:lnTo>
                <a:close/>
              </a:path>
              <a:path w="3302000" h="2092325">
                <a:moveTo>
                  <a:pt x="63500" y="1335476"/>
                </a:moveTo>
                <a:lnTo>
                  <a:pt x="63500" y="756580"/>
                </a:lnTo>
                <a:lnTo>
                  <a:pt x="50800" y="759987"/>
                </a:lnTo>
                <a:lnTo>
                  <a:pt x="50800" y="1332069"/>
                </a:lnTo>
                <a:lnTo>
                  <a:pt x="63500" y="1335476"/>
                </a:lnTo>
                <a:close/>
              </a:path>
              <a:path w="3302000" h="2092325">
                <a:moveTo>
                  <a:pt x="76200" y="1362558"/>
                </a:moveTo>
                <a:lnTo>
                  <a:pt x="76200" y="729498"/>
                </a:lnTo>
                <a:lnTo>
                  <a:pt x="63500" y="732866"/>
                </a:lnTo>
                <a:lnTo>
                  <a:pt x="63500" y="1359190"/>
                </a:lnTo>
                <a:lnTo>
                  <a:pt x="76200" y="1362558"/>
                </a:lnTo>
                <a:close/>
              </a:path>
              <a:path w="3302000" h="2092325">
                <a:moveTo>
                  <a:pt x="88900" y="1385997"/>
                </a:moveTo>
                <a:lnTo>
                  <a:pt x="88900" y="706059"/>
                </a:lnTo>
                <a:lnTo>
                  <a:pt x="76200" y="709392"/>
                </a:lnTo>
                <a:lnTo>
                  <a:pt x="76200" y="1382664"/>
                </a:lnTo>
                <a:lnTo>
                  <a:pt x="88900" y="1385997"/>
                </a:lnTo>
                <a:close/>
              </a:path>
              <a:path w="3302000" h="2092325">
                <a:moveTo>
                  <a:pt x="101600" y="1409188"/>
                </a:moveTo>
                <a:lnTo>
                  <a:pt x="101600" y="682867"/>
                </a:lnTo>
                <a:lnTo>
                  <a:pt x="88900" y="686165"/>
                </a:lnTo>
                <a:lnTo>
                  <a:pt x="88900" y="1405891"/>
                </a:lnTo>
                <a:lnTo>
                  <a:pt x="101600" y="1409188"/>
                </a:lnTo>
                <a:close/>
              </a:path>
              <a:path w="3302000" h="2092325">
                <a:moveTo>
                  <a:pt x="114300" y="1432124"/>
                </a:moveTo>
                <a:lnTo>
                  <a:pt x="114300" y="659932"/>
                </a:lnTo>
                <a:lnTo>
                  <a:pt x="101600" y="663192"/>
                </a:lnTo>
                <a:lnTo>
                  <a:pt x="101600" y="1428863"/>
                </a:lnTo>
                <a:lnTo>
                  <a:pt x="114300" y="1432124"/>
                </a:lnTo>
                <a:close/>
              </a:path>
              <a:path w="3302000" h="2092325">
                <a:moveTo>
                  <a:pt x="127000" y="1451574"/>
                </a:moveTo>
                <a:lnTo>
                  <a:pt x="127000" y="640481"/>
                </a:lnTo>
                <a:lnTo>
                  <a:pt x="114300" y="643709"/>
                </a:lnTo>
                <a:lnTo>
                  <a:pt x="114300" y="1448346"/>
                </a:lnTo>
                <a:lnTo>
                  <a:pt x="127000" y="1451574"/>
                </a:lnTo>
                <a:close/>
              </a:path>
              <a:path w="3302000" h="2092325">
                <a:moveTo>
                  <a:pt x="139700" y="1470826"/>
                </a:moveTo>
                <a:lnTo>
                  <a:pt x="139700" y="621229"/>
                </a:lnTo>
                <a:lnTo>
                  <a:pt x="127000" y="624424"/>
                </a:lnTo>
                <a:lnTo>
                  <a:pt x="127000" y="1467631"/>
                </a:lnTo>
                <a:lnTo>
                  <a:pt x="139700" y="1470826"/>
                </a:lnTo>
                <a:close/>
              </a:path>
              <a:path w="3302000" h="2092325">
                <a:moveTo>
                  <a:pt x="152400" y="1486716"/>
                </a:moveTo>
                <a:lnTo>
                  <a:pt x="152400" y="605339"/>
                </a:lnTo>
                <a:lnTo>
                  <a:pt x="139700" y="608506"/>
                </a:lnTo>
                <a:lnTo>
                  <a:pt x="139700" y="1483549"/>
                </a:lnTo>
                <a:lnTo>
                  <a:pt x="152400" y="1486716"/>
                </a:lnTo>
                <a:close/>
              </a:path>
              <a:path w="3302000" h="2092325">
                <a:moveTo>
                  <a:pt x="165100" y="1502462"/>
                </a:moveTo>
                <a:lnTo>
                  <a:pt x="165100" y="589593"/>
                </a:lnTo>
                <a:lnTo>
                  <a:pt x="152400" y="592730"/>
                </a:lnTo>
                <a:lnTo>
                  <a:pt x="152400" y="1499324"/>
                </a:lnTo>
                <a:lnTo>
                  <a:pt x="165100" y="1502462"/>
                </a:lnTo>
                <a:close/>
              </a:path>
              <a:path w="3302000" h="2092325">
                <a:moveTo>
                  <a:pt x="177800" y="1521165"/>
                </a:moveTo>
                <a:lnTo>
                  <a:pt x="177800" y="570890"/>
                </a:lnTo>
                <a:lnTo>
                  <a:pt x="165100" y="573992"/>
                </a:lnTo>
                <a:lnTo>
                  <a:pt x="165100" y="1518063"/>
                </a:lnTo>
                <a:lnTo>
                  <a:pt x="177800" y="1521165"/>
                </a:lnTo>
                <a:close/>
              </a:path>
              <a:path w="3302000" h="2092325">
                <a:moveTo>
                  <a:pt x="190500" y="1536587"/>
                </a:moveTo>
                <a:lnTo>
                  <a:pt x="190500" y="555467"/>
                </a:lnTo>
                <a:lnTo>
                  <a:pt x="177800" y="558540"/>
                </a:lnTo>
                <a:lnTo>
                  <a:pt x="177800" y="1533515"/>
                </a:lnTo>
                <a:lnTo>
                  <a:pt x="190500" y="1536587"/>
                </a:lnTo>
                <a:close/>
              </a:path>
              <a:path w="3302000" h="2092325">
                <a:moveTo>
                  <a:pt x="203200" y="1551857"/>
                </a:moveTo>
                <a:lnTo>
                  <a:pt x="203200" y="540197"/>
                </a:lnTo>
                <a:lnTo>
                  <a:pt x="190500" y="543239"/>
                </a:lnTo>
                <a:lnTo>
                  <a:pt x="190500" y="1548816"/>
                </a:lnTo>
                <a:lnTo>
                  <a:pt x="203200" y="1551857"/>
                </a:lnTo>
                <a:close/>
              </a:path>
              <a:path w="3302000" h="2092325">
                <a:moveTo>
                  <a:pt x="215900" y="1563963"/>
                </a:moveTo>
                <a:lnTo>
                  <a:pt x="215900" y="528091"/>
                </a:lnTo>
                <a:lnTo>
                  <a:pt x="203200" y="531108"/>
                </a:lnTo>
                <a:lnTo>
                  <a:pt x="203200" y="1560946"/>
                </a:lnTo>
                <a:lnTo>
                  <a:pt x="215900" y="1563963"/>
                </a:lnTo>
                <a:close/>
              </a:path>
              <a:path w="3302000" h="2092325">
                <a:moveTo>
                  <a:pt x="228600" y="1578954"/>
                </a:moveTo>
                <a:lnTo>
                  <a:pt x="228600" y="513100"/>
                </a:lnTo>
                <a:lnTo>
                  <a:pt x="215900" y="516086"/>
                </a:lnTo>
                <a:lnTo>
                  <a:pt x="215900" y="1575968"/>
                </a:lnTo>
                <a:lnTo>
                  <a:pt x="228600" y="1578954"/>
                </a:lnTo>
                <a:close/>
              </a:path>
              <a:path w="3302000" h="2092325">
                <a:moveTo>
                  <a:pt x="241300" y="1590832"/>
                </a:moveTo>
                <a:lnTo>
                  <a:pt x="241300" y="501222"/>
                </a:lnTo>
                <a:lnTo>
                  <a:pt x="228600" y="504182"/>
                </a:lnTo>
                <a:lnTo>
                  <a:pt x="228600" y="1587872"/>
                </a:lnTo>
                <a:lnTo>
                  <a:pt x="241300" y="1590832"/>
                </a:lnTo>
                <a:close/>
              </a:path>
              <a:path w="3302000" h="2092325">
                <a:moveTo>
                  <a:pt x="254000" y="1605534"/>
                </a:moveTo>
                <a:lnTo>
                  <a:pt x="254000" y="486519"/>
                </a:lnTo>
                <a:lnTo>
                  <a:pt x="241300" y="489447"/>
                </a:lnTo>
                <a:lnTo>
                  <a:pt x="241300" y="1602607"/>
                </a:lnTo>
                <a:lnTo>
                  <a:pt x="254000" y="1605534"/>
                </a:lnTo>
                <a:close/>
              </a:path>
              <a:path w="3302000" h="2092325">
                <a:moveTo>
                  <a:pt x="266700" y="1617178"/>
                </a:moveTo>
                <a:lnTo>
                  <a:pt x="266700" y="474875"/>
                </a:lnTo>
                <a:lnTo>
                  <a:pt x="254000" y="477776"/>
                </a:lnTo>
                <a:lnTo>
                  <a:pt x="254000" y="1614277"/>
                </a:lnTo>
                <a:lnTo>
                  <a:pt x="266700" y="1617178"/>
                </a:lnTo>
                <a:close/>
              </a:path>
              <a:path w="3302000" h="2092325">
                <a:moveTo>
                  <a:pt x="279400" y="1628716"/>
                </a:moveTo>
                <a:lnTo>
                  <a:pt x="279400" y="463337"/>
                </a:lnTo>
                <a:lnTo>
                  <a:pt x="266700" y="466211"/>
                </a:lnTo>
                <a:lnTo>
                  <a:pt x="266700" y="1625842"/>
                </a:lnTo>
                <a:lnTo>
                  <a:pt x="279400" y="1628716"/>
                </a:lnTo>
                <a:close/>
              </a:path>
              <a:path w="3302000" h="2092325">
                <a:moveTo>
                  <a:pt x="292100" y="1642987"/>
                </a:moveTo>
                <a:lnTo>
                  <a:pt x="292100" y="449066"/>
                </a:lnTo>
                <a:lnTo>
                  <a:pt x="279400" y="451906"/>
                </a:lnTo>
                <a:lnTo>
                  <a:pt x="279400" y="1640147"/>
                </a:lnTo>
                <a:lnTo>
                  <a:pt x="292100" y="1642987"/>
                </a:lnTo>
                <a:close/>
              </a:path>
              <a:path w="3302000" h="2092325">
                <a:moveTo>
                  <a:pt x="304800" y="1654281"/>
                </a:moveTo>
                <a:lnTo>
                  <a:pt x="304800" y="437772"/>
                </a:lnTo>
                <a:lnTo>
                  <a:pt x="292100" y="440585"/>
                </a:lnTo>
                <a:lnTo>
                  <a:pt x="292100" y="1651468"/>
                </a:lnTo>
                <a:lnTo>
                  <a:pt x="304800" y="1654281"/>
                </a:lnTo>
                <a:close/>
              </a:path>
              <a:path w="3302000" h="2092325">
                <a:moveTo>
                  <a:pt x="317500" y="1665464"/>
                </a:moveTo>
                <a:lnTo>
                  <a:pt x="317500" y="426588"/>
                </a:lnTo>
                <a:lnTo>
                  <a:pt x="304800" y="429374"/>
                </a:lnTo>
                <a:lnTo>
                  <a:pt x="304800" y="1662679"/>
                </a:lnTo>
                <a:lnTo>
                  <a:pt x="317500" y="1665464"/>
                </a:lnTo>
                <a:close/>
              </a:path>
              <a:path w="3302000" h="2092325">
                <a:moveTo>
                  <a:pt x="330200" y="1673778"/>
                </a:moveTo>
                <a:lnTo>
                  <a:pt x="330200" y="418274"/>
                </a:lnTo>
                <a:lnTo>
                  <a:pt x="317500" y="421039"/>
                </a:lnTo>
                <a:lnTo>
                  <a:pt x="317500" y="1671014"/>
                </a:lnTo>
                <a:lnTo>
                  <a:pt x="330200" y="1673778"/>
                </a:lnTo>
                <a:close/>
              </a:path>
              <a:path w="3302000" h="2092325">
                <a:moveTo>
                  <a:pt x="342900" y="1684765"/>
                </a:moveTo>
                <a:lnTo>
                  <a:pt x="342900" y="407288"/>
                </a:lnTo>
                <a:lnTo>
                  <a:pt x="330200" y="410024"/>
                </a:lnTo>
                <a:lnTo>
                  <a:pt x="330200" y="1682029"/>
                </a:lnTo>
                <a:lnTo>
                  <a:pt x="342900" y="1684765"/>
                </a:lnTo>
                <a:close/>
              </a:path>
              <a:path w="3302000" h="2092325">
                <a:moveTo>
                  <a:pt x="355600" y="1695636"/>
                </a:moveTo>
                <a:lnTo>
                  <a:pt x="355600" y="396416"/>
                </a:lnTo>
                <a:lnTo>
                  <a:pt x="342900" y="399123"/>
                </a:lnTo>
                <a:lnTo>
                  <a:pt x="342900" y="1692929"/>
                </a:lnTo>
                <a:lnTo>
                  <a:pt x="355600" y="1695636"/>
                </a:lnTo>
                <a:close/>
              </a:path>
              <a:path w="3302000" h="2092325">
                <a:moveTo>
                  <a:pt x="368300" y="1706393"/>
                </a:moveTo>
                <a:lnTo>
                  <a:pt x="368300" y="385659"/>
                </a:lnTo>
                <a:lnTo>
                  <a:pt x="355600" y="388338"/>
                </a:lnTo>
                <a:lnTo>
                  <a:pt x="355600" y="1703714"/>
                </a:lnTo>
                <a:lnTo>
                  <a:pt x="368300" y="1706393"/>
                </a:lnTo>
                <a:close/>
              </a:path>
              <a:path w="3302000" h="2092325">
                <a:moveTo>
                  <a:pt x="381000" y="1714383"/>
                </a:moveTo>
                <a:lnTo>
                  <a:pt x="381000" y="377669"/>
                </a:lnTo>
                <a:lnTo>
                  <a:pt x="368300" y="380325"/>
                </a:lnTo>
                <a:lnTo>
                  <a:pt x="368300" y="1711727"/>
                </a:lnTo>
                <a:lnTo>
                  <a:pt x="381000" y="1714383"/>
                </a:lnTo>
                <a:close/>
              </a:path>
              <a:path w="3302000" h="2092325">
                <a:moveTo>
                  <a:pt x="393700" y="1724933"/>
                </a:moveTo>
                <a:lnTo>
                  <a:pt x="393700" y="367119"/>
                </a:lnTo>
                <a:lnTo>
                  <a:pt x="381000" y="369745"/>
                </a:lnTo>
                <a:lnTo>
                  <a:pt x="381000" y="1722307"/>
                </a:lnTo>
                <a:lnTo>
                  <a:pt x="393700" y="1724933"/>
                </a:lnTo>
                <a:close/>
              </a:path>
              <a:path w="3302000" h="2092325">
                <a:moveTo>
                  <a:pt x="406400" y="1735364"/>
                </a:moveTo>
                <a:lnTo>
                  <a:pt x="406400" y="356688"/>
                </a:lnTo>
                <a:lnTo>
                  <a:pt x="393700" y="359284"/>
                </a:lnTo>
                <a:lnTo>
                  <a:pt x="393700" y="1732767"/>
                </a:lnTo>
                <a:lnTo>
                  <a:pt x="406400" y="1735364"/>
                </a:lnTo>
                <a:close/>
              </a:path>
              <a:path w="3302000" h="2092325">
                <a:moveTo>
                  <a:pt x="419100" y="1743107"/>
                </a:moveTo>
                <a:lnTo>
                  <a:pt x="419100" y="348944"/>
                </a:lnTo>
                <a:lnTo>
                  <a:pt x="406400" y="351518"/>
                </a:lnTo>
                <a:lnTo>
                  <a:pt x="406400" y="1740534"/>
                </a:lnTo>
                <a:lnTo>
                  <a:pt x="419100" y="1743107"/>
                </a:lnTo>
                <a:close/>
              </a:path>
              <a:path w="3302000" h="2092325">
                <a:moveTo>
                  <a:pt x="431800" y="1753326"/>
                </a:moveTo>
                <a:lnTo>
                  <a:pt x="431800" y="338726"/>
                </a:lnTo>
                <a:lnTo>
                  <a:pt x="419100" y="341269"/>
                </a:lnTo>
                <a:lnTo>
                  <a:pt x="419100" y="1750783"/>
                </a:lnTo>
                <a:lnTo>
                  <a:pt x="431800" y="1753326"/>
                </a:lnTo>
                <a:close/>
              </a:path>
              <a:path w="3302000" h="2092325">
                <a:moveTo>
                  <a:pt x="444500" y="1760909"/>
                </a:moveTo>
                <a:lnTo>
                  <a:pt x="444500" y="331143"/>
                </a:lnTo>
                <a:lnTo>
                  <a:pt x="431800" y="333663"/>
                </a:lnTo>
                <a:lnTo>
                  <a:pt x="431800" y="1758389"/>
                </a:lnTo>
                <a:lnTo>
                  <a:pt x="444500" y="1760909"/>
                </a:lnTo>
                <a:close/>
              </a:path>
              <a:path w="3302000" h="2092325">
                <a:moveTo>
                  <a:pt x="457200" y="1770910"/>
                </a:moveTo>
                <a:lnTo>
                  <a:pt x="457200" y="321141"/>
                </a:lnTo>
                <a:lnTo>
                  <a:pt x="444500" y="323630"/>
                </a:lnTo>
                <a:lnTo>
                  <a:pt x="444500" y="1768421"/>
                </a:lnTo>
                <a:lnTo>
                  <a:pt x="457200" y="1770910"/>
                </a:lnTo>
                <a:close/>
              </a:path>
              <a:path w="3302000" h="2092325">
                <a:moveTo>
                  <a:pt x="469900" y="1778329"/>
                </a:moveTo>
                <a:lnTo>
                  <a:pt x="469900" y="313722"/>
                </a:lnTo>
                <a:lnTo>
                  <a:pt x="457200" y="316187"/>
                </a:lnTo>
                <a:lnTo>
                  <a:pt x="457200" y="1775864"/>
                </a:lnTo>
                <a:lnTo>
                  <a:pt x="469900" y="1778329"/>
                </a:lnTo>
                <a:close/>
              </a:path>
              <a:path w="3302000" h="2092325">
                <a:moveTo>
                  <a:pt x="482600" y="1785677"/>
                </a:moveTo>
                <a:lnTo>
                  <a:pt x="482600" y="306374"/>
                </a:lnTo>
                <a:lnTo>
                  <a:pt x="469900" y="308815"/>
                </a:lnTo>
                <a:lnTo>
                  <a:pt x="469900" y="1783235"/>
                </a:lnTo>
                <a:lnTo>
                  <a:pt x="482600" y="1785677"/>
                </a:lnTo>
                <a:close/>
              </a:path>
              <a:path w="3302000" h="2092325">
                <a:moveTo>
                  <a:pt x="495300" y="1792952"/>
                </a:moveTo>
                <a:lnTo>
                  <a:pt x="495300" y="299098"/>
                </a:lnTo>
                <a:lnTo>
                  <a:pt x="482600" y="301516"/>
                </a:lnTo>
                <a:lnTo>
                  <a:pt x="482600" y="1790535"/>
                </a:lnTo>
                <a:lnTo>
                  <a:pt x="495300" y="1792952"/>
                </a:lnTo>
                <a:close/>
              </a:path>
              <a:path w="3302000" h="2092325">
                <a:moveTo>
                  <a:pt x="508000" y="1802541"/>
                </a:moveTo>
                <a:lnTo>
                  <a:pt x="508000" y="289510"/>
                </a:lnTo>
                <a:lnTo>
                  <a:pt x="495300" y="291895"/>
                </a:lnTo>
                <a:lnTo>
                  <a:pt x="495300" y="1800156"/>
                </a:lnTo>
                <a:lnTo>
                  <a:pt x="508000" y="1802541"/>
                </a:lnTo>
                <a:close/>
              </a:path>
              <a:path w="3302000" h="2092325">
                <a:moveTo>
                  <a:pt x="520700" y="1809647"/>
                </a:moveTo>
                <a:lnTo>
                  <a:pt x="520700" y="282404"/>
                </a:lnTo>
                <a:lnTo>
                  <a:pt x="508000" y="284764"/>
                </a:lnTo>
                <a:lnTo>
                  <a:pt x="508000" y="1807286"/>
                </a:lnTo>
                <a:lnTo>
                  <a:pt x="520700" y="1809647"/>
                </a:lnTo>
                <a:close/>
              </a:path>
              <a:path w="3302000" h="2092325">
                <a:moveTo>
                  <a:pt x="533400" y="1816679"/>
                </a:moveTo>
                <a:lnTo>
                  <a:pt x="533400" y="275372"/>
                </a:lnTo>
                <a:lnTo>
                  <a:pt x="520700" y="277707"/>
                </a:lnTo>
                <a:lnTo>
                  <a:pt x="520700" y="1814343"/>
                </a:lnTo>
                <a:lnTo>
                  <a:pt x="533400" y="1816679"/>
                </a:lnTo>
                <a:close/>
              </a:path>
              <a:path w="3302000" h="2092325">
                <a:moveTo>
                  <a:pt x="546100" y="1823637"/>
                </a:moveTo>
                <a:lnTo>
                  <a:pt x="546100" y="268414"/>
                </a:lnTo>
                <a:lnTo>
                  <a:pt x="533400" y="270725"/>
                </a:lnTo>
                <a:lnTo>
                  <a:pt x="533400" y="1821326"/>
                </a:lnTo>
                <a:lnTo>
                  <a:pt x="546100" y="1823637"/>
                </a:lnTo>
                <a:close/>
              </a:path>
              <a:path w="3302000" h="2092325">
                <a:moveTo>
                  <a:pt x="558800" y="1830520"/>
                </a:moveTo>
                <a:lnTo>
                  <a:pt x="558800" y="261530"/>
                </a:lnTo>
                <a:lnTo>
                  <a:pt x="546100" y="263816"/>
                </a:lnTo>
                <a:lnTo>
                  <a:pt x="546100" y="1828234"/>
                </a:lnTo>
                <a:lnTo>
                  <a:pt x="558800" y="1830520"/>
                </a:lnTo>
                <a:close/>
              </a:path>
              <a:path w="3302000" h="2092325">
                <a:moveTo>
                  <a:pt x="571500" y="1839579"/>
                </a:moveTo>
                <a:lnTo>
                  <a:pt x="571500" y="252470"/>
                </a:lnTo>
                <a:lnTo>
                  <a:pt x="558800" y="254723"/>
                </a:lnTo>
                <a:lnTo>
                  <a:pt x="558800" y="1837327"/>
                </a:lnTo>
                <a:lnTo>
                  <a:pt x="571500" y="1839579"/>
                </a:lnTo>
                <a:close/>
              </a:path>
              <a:path w="3302000" h="2092325">
                <a:moveTo>
                  <a:pt x="584200" y="1846285"/>
                </a:moveTo>
                <a:lnTo>
                  <a:pt x="584200" y="245764"/>
                </a:lnTo>
                <a:lnTo>
                  <a:pt x="571500" y="247991"/>
                </a:lnTo>
                <a:lnTo>
                  <a:pt x="571500" y="1844059"/>
                </a:lnTo>
                <a:lnTo>
                  <a:pt x="584200" y="1846285"/>
                </a:lnTo>
                <a:close/>
              </a:path>
              <a:path w="3302000" h="2092325">
                <a:moveTo>
                  <a:pt x="596900" y="1852915"/>
                </a:moveTo>
                <a:lnTo>
                  <a:pt x="596900" y="239135"/>
                </a:lnTo>
                <a:lnTo>
                  <a:pt x="584200" y="241336"/>
                </a:lnTo>
                <a:lnTo>
                  <a:pt x="584200" y="1850713"/>
                </a:lnTo>
                <a:lnTo>
                  <a:pt x="596900" y="1852915"/>
                </a:lnTo>
                <a:close/>
              </a:path>
              <a:path w="3302000" h="2092325">
                <a:moveTo>
                  <a:pt x="609600" y="1859466"/>
                </a:moveTo>
                <a:lnTo>
                  <a:pt x="609600" y="232583"/>
                </a:lnTo>
                <a:lnTo>
                  <a:pt x="596900" y="234758"/>
                </a:lnTo>
                <a:lnTo>
                  <a:pt x="596900" y="1857291"/>
                </a:lnTo>
                <a:lnTo>
                  <a:pt x="609600" y="1859466"/>
                </a:lnTo>
                <a:close/>
              </a:path>
              <a:path w="3302000" h="2092325">
                <a:moveTo>
                  <a:pt x="622300" y="1865940"/>
                </a:moveTo>
                <a:lnTo>
                  <a:pt x="622300" y="226109"/>
                </a:lnTo>
                <a:lnTo>
                  <a:pt x="609600" y="228258"/>
                </a:lnTo>
                <a:lnTo>
                  <a:pt x="609600" y="1863791"/>
                </a:lnTo>
                <a:lnTo>
                  <a:pt x="622300" y="1865940"/>
                </a:lnTo>
                <a:close/>
              </a:path>
              <a:path w="3302000" h="2092325">
                <a:moveTo>
                  <a:pt x="635000" y="1872335"/>
                </a:moveTo>
                <a:lnTo>
                  <a:pt x="635000" y="219714"/>
                </a:lnTo>
                <a:lnTo>
                  <a:pt x="622300" y="221837"/>
                </a:lnTo>
                <a:lnTo>
                  <a:pt x="622300" y="1870212"/>
                </a:lnTo>
                <a:lnTo>
                  <a:pt x="635000" y="1872335"/>
                </a:lnTo>
                <a:close/>
              </a:path>
              <a:path w="3302000" h="2092325">
                <a:moveTo>
                  <a:pt x="647700" y="1878652"/>
                </a:moveTo>
                <a:lnTo>
                  <a:pt x="647700" y="213397"/>
                </a:lnTo>
                <a:lnTo>
                  <a:pt x="635000" y="215494"/>
                </a:lnTo>
                <a:lnTo>
                  <a:pt x="635000" y="1876555"/>
                </a:lnTo>
                <a:lnTo>
                  <a:pt x="647700" y="1878652"/>
                </a:lnTo>
                <a:close/>
              </a:path>
              <a:path w="3302000" h="2092325">
                <a:moveTo>
                  <a:pt x="660400" y="1882818"/>
                </a:moveTo>
                <a:lnTo>
                  <a:pt x="660400" y="209231"/>
                </a:lnTo>
                <a:lnTo>
                  <a:pt x="647700" y="211310"/>
                </a:lnTo>
                <a:lnTo>
                  <a:pt x="647700" y="1880739"/>
                </a:lnTo>
                <a:lnTo>
                  <a:pt x="660400" y="1882818"/>
                </a:lnTo>
                <a:close/>
              </a:path>
              <a:path w="3302000" h="2092325">
                <a:moveTo>
                  <a:pt x="673100" y="1889001"/>
                </a:moveTo>
                <a:lnTo>
                  <a:pt x="673100" y="203048"/>
                </a:lnTo>
                <a:lnTo>
                  <a:pt x="660400" y="205100"/>
                </a:lnTo>
                <a:lnTo>
                  <a:pt x="660400" y="1886949"/>
                </a:lnTo>
                <a:lnTo>
                  <a:pt x="673100" y="1889001"/>
                </a:lnTo>
                <a:close/>
              </a:path>
              <a:path w="3302000" h="2092325">
                <a:moveTo>
                  <a:pt x="685800" y="1895104"/>
                </a:moveTo>
                <a:lnTo>
                  <a:pt x="685800" y="196945"/>
                </a:lnTo>
                <a:lnTo>
                  <a:pt x="673100" y="198970"/>
                </a:lnTo>
                <a:lnTo>
                  <a:pt x="673100" y="1893079"/>
                </a:lnTo>
                <a:lnTo>
                  <a:pt x="685800" y="1895104"/>
                </a:lnTo>
                <a:close/>
              </a:path>
              <a:path w="3302000" h="2092325">
                <a:moveTo>
                  <a:pt x="698500" y="1901125"/>
                </a:moveTo>
                <a:lnTo>
                  <a:pt x="698500" y="190924"/>
                </a:lnTo>
                <a:lnTo>
                  <a:pt x="685800" y="192922"/>
                </a:lnTo>
                <a:lnTo>
                  <a:pt x="685800" y="1899127"/>
                </a:lnTo>
                <a:lnTo>
                  <a:pt x="698500" y="1901125"/>
                </a:lnTo>
                <a:close/>
              </a:path>
              <a:path w="3302000" h="2092325">
                <a:moveTo>
                  <a:pt x="711200" y="1907064"/>
                </a:moveTo>
                <a:lnTo>
                  <a:pt x="711200" y="184984"/>
                </a:lnTo>
                <a:lnTo>
                  <a:pt x="698500" y="186955"/>
                </a:lnTo>
                <a:lnTo>
                  <a:pt x="698500" y="1905094"/>
                </a:lnTo>
                <a:lnTo>
                  <a:pt x="711200" y="1907064"/>
                </a:lnTo>
                <a:close/>
              </a:path>
              <a:path w="3302000" h="2092325">
                <a:moveTo>
                  <a:pt x="723900" y="1912921"/>
                </a:moveTo>
                <a:lnTo>
                  <a:pt x="723900" y="179127"/>
                </a:lnTo>
                <a:lnTo>
                  <a:pt x="711200" y="181070"/>
                </a:lnTo>
                <a:lnTo>
                  <a:pt x="711200" y="1910978"/>
                </a:lnTo>
                <a:lnTo>
                  <a:pt x="723900" y="1912921"/>
                </a:lnTo>
                <a:close/>
              </a:path>
              <a:path w="3302000" h="2092325">
                <a:moveTo>
                  <a:pt x="736600" y="1918696"/>
                </a:moveTo>
                <a:lnTo>
                  <a:pt x="736600" y="173353"/>
                </a:lnTo>
                <a:lnTo>
                  <a:pt x="723900" y="175268"/>
                </a:lnTo>
                <a:lnTo>
                  <a:pt x="723900" y="1916780"/>
                </a:lnTo>
                <a:lnTo>
                  <a:pt x="736600" y="1918696"/>
                </a:lnTo>
                <a:close/>
              </a:path>
              <a:path w="3302000" h="2092325">
                <a:moveTo>
                  <a:pt x="749300" y="1922499"/>
                </a:moveTo>
                <a:lnTo>
                  <a:pt x="749300" y="169550"/>
                </a:lnTo>
                <a:lnTo>
                  <a:pt x="736600" y="171446"/>
                </a:lnTo>
                <a:lnTo>
                  <a:pt x="736600" y="1920602"/>
                </a:lnTo>
                <a:lnTo>
                  <a:pt x="749300" y="1922499"/>
                </a:lnTo>
                <a:close/>
              </a:path>
              <a:path w="3302000" h="2092325">
                <a:moveTo>
                  <a:pt x="762000" y="1928133"/>
                </a:moveTo>
                <a:lnTo>
                  <a:pt x="762000" y="163915"/>
                </a:lnTo>
                <a:lnTo>
                  <a:pt x="749300" y="165784"/>
                </a:lnTo>
                <a:lnTo>
                  <a:pt x="749300" y="1926264"/>
                </a:lnTo>
                <a:lnTo>
                  <a:pt x="762000" y="1928133"/>
                </a:lnTo>
                <a:close/>
              </a:path>
              <a:path w="3302000" h="2092325">
                <a:moveTo>
                  <a:pt x="774700" y="1933683"/>
                </a:moveTo>
                <a:lnTo>
                  <a:pt x="774700" y="158365"/>
                </a:lnTo>
                <a:lnTo>
                  <a:pt x="762000" y="160205"/>
                </a:lnTo>
                <a:lnTo>
                  <a:pt x="762000" y="1931843"/>
                </a:lnTo>
                <a:lnTo>
                  <a:pt x="774700" y="1933683"/>
                </a:lnTo>
                <a:close/>
              </a:path>
              <a:path w="3302000" h="2092325">
                <a:moveTo>
                  <a:pt x="787400" y="1939149"/>
                </a:moveTo>
                <a:lnTo>
                  <a:pt x="787400" y="152899"/>
                </a:lnTo>
                <a:lnTo>
                  <a:pt x="774700" y="154712"/>
                </a:lnTo>
                <a:lnTo>
                  <a:pt x="774700" y="1937336"/>
                </a:lnTo>
                <a:lnTo>
                  <a:pt x="787400" y="1939149"/>
                </a:lnTo>
                <a:close/>
              </a:path>
              <a:path w="3302000" h="2092325">
                <a:moveTo>
                  <a:pt x="800100" y="1942744"/>
                </a:moveTo>
                <a:lnTo>
                  <a:pt x="800100" y="149303"/>
                </a:lnTo>
                <a:lnTo>
                  <a:pt x="787400" y="151097"/>
                </a:lnTo>
                <a:lnTo>
                  <a:pt x="787400" y="1940951"/>
                </a:lnTo>
                <a:lnTo>
                  <a:pt x="800100" y="1942744"/>
                </a:lnTo>
                <a:close/>
              </a:path>
              <a:path w="3302000" h="2092325">
                <a:moveTo>
                  <a:pt x="812800" y="1948067"/>
                </a:moveTo>
                <a:lnTo>
                  <a:pt x="812800" y="143981"/>
                </a:lnTo>
                <a:lnTo>
                  <a:pt x="800100" y="145746"/>
                </a:lnTo>
                <a:lnTo>
                  <a:pt x="800100" y="1946302"/>
                </a:lnTo>
                <a:lnTo>
                  <a:pt x="812800" y="1948067"/>
                </a:lnTo>
                <a:close/>
              </a:path>
              <a:path w="3302000" h="2092325">
                <a:moveTo>
                  <a:pt x="825500" y="1953302"/>
                </a:moveTo>
                <a:lnTo>
                  <a:pt x="825500" y="138746"/>
                </a:lnTo>
                <a:lnTo>
                  <a:pt x="812800" y="140481"/>
                </a:lnTo>
                <a:lnTo>
                  <a:pt x="812800" y="1951567"/>
                </a:lnTo>
                <a:lnTo>
                  <a:pt x="825500" y="1953302"/>
                </a:lnTo>
                <a:close/>
              </a:path>
              <a:path w="3302000" h="2092325">
                <a:moveTo>
                  <a:pt x="838200" y="1956744"/>
                </a:moveTo>
                <a:lnTo>
                  <a:pt x="838200" y="135303"/>
                </a:lnTo>
                <a:lnTo>
                  <a:pt x="825500" y="137020"/>
                </a:lnTo>
                <a:lnTo>
                  <a:pt x="825500" y="1955028"/>
                </a:lnTo>
                <a:lnTo>
                  <a:pt x="838200" y="1956744"/>
                </a:lnTo>
                <a:close/>
              </a:path>
              <a:path w="3302000" h="2092325">
                <a:moveTo>
                  <a:pt x="850900" y="1961834"/>
                </a:moveTo>
                <a:lnTo>
                  <a:pt x="850900" y="130213"/>
                </a:lnTo>
                <a:lnTo>
                  <a:pt x="838200" y="131900"/>
                </a:lnTo>
                <a:lnTo>
                  <a:pt x="838200" y="1960147"/>
                </a:lnTo>
                <a:lnTo>
                  <a:pt x="850900" y="1961834"/>
                </a:lnTo>
                <a:close/>
              </a:path>
              <a:path w="3302000" h="2092325">
                <a:moveTo>
                  <a:pt x="863600" y="1966836"/>
                </a:moveTo>
                <a:lnTo>
                  <a:pt x="863600" y="125211"/>
                </a:lnTo>
                <a:lnTo>
                  <a:pt x="850900" y="126869"/>
                </a:lnTo>
                <a:lnTo>
                  <a:pt x="850900" y="1965178"/>
                </a:lnTo>
                <a:lnTo>
                  <a:pt x="863600" y="1966836"/>
                </a:lnTo>
                <a:close/>
              </a:path>
              <a:path w="3302000" h="2092325">
                <a:moveTo>
                  <a:pt x="876300" y="1970121"/>
                </a:moveTo>
                <a:lnTo>
                  <a:pt x="876300" y="121926"/>
                </a:lnTo>
                <a:lnTo>
                  <a:pt x="863600" y="123564"/>
                </a:lnTo>
                <a:lnTo>
                  <a:pt x="863600" y="1968483"/>
                </a:lnTo>
                <a:lnTo>
                  <a:pt x="876300" y="1970121"/>
                </a:lnTo>
                <a:close/>
              </a:path>
              <a:path w="3302000" h="2092325">
                <a:moveTo>
                  <a:pt x="889000" y="1974975"/>
                </a:moveTo>
                <a:lnTo>
                  <a:pt x="889000" y="117072"/>
                </a:lnTo>
                <a:lnTo>
                  <a:pt x="876300" y="118680"/>
                </a:lnTo>
                <a:lnTo>
                  <a:pt x="876300" y="1973367"/>
                </a:lnTo>
                <a:lnTo>
                  <a:pt x="889000" y="1974975"/>
                </a:lnTo>
                <a:close/>
              </a:path>
              <a:path w="3302000" h="2092325">
                <a:moveTo>
                  <a:pt x="901700" y="1979739"/>
                </a:moveTo>
                <a:lnTo>
                  <a:pt x="901700" y="112308"/>
                </a:lnTo>
                <a:lnTo>
                  <a:pt x="889000" y="113886"/>
                </a:lnTo>
                <a:lnTo>
                  <a:pt x="889000" y="1978161"/>
                </a:lnTo>
                <a:lnTo>
                  <a:pt x="901700" y="1979739"/>
                </a:lnTo>
                <a:close/>
              </a:path>
              <a:path w="3302000" h="2092325">
                <a:moveTo>
                  <a:pt x="914400" y="1982865"/>
                </a:moveTo>
                <a:lnTo>
                  <a:pt x="914400" y="109182"/>
                </a:lnTo>
                <a:lnTo>
                  <a:pt x="901700" y="110740"/>
                </a:lnTo>
                <a:lnTo>
                  <a:pt x="901700" y="1981307"/>
                </a:lnTo>
                <a:lnTo>
                  <a:pt x="914400" y="1982865"/>
                </a:lnTo>
                <a:close/>
              </a:path>
              <a:path w="3302000" h="2092325">
                <a:moveTo>
                  <a:pt x="927100" y="1987478"/>
                </a:moveTo>
                <a:lnTo>
                  <a:pt x="927100" y="104569"/>
                </a:lnTo>
                <a:lnTo>
                  <a:pt x="914400" y="106096"/>
                </a:lnTo>
                <a:lnTo>
                  <a:pt x="914400" y="1985951"/>
                </a:lnTo>
                <a:lnTo>
                  <a:pt x="927100" y="1987478"/>
                </a:lnTo>
                <a:close/>
              </a:path>
              <a:path w="3302000" h="2092325">
                <a:moveTo>
                  <a:pt x="939800" y="1990503"/>
                </a:moveTo>
                <a:lnTo>
                  <a:pt x="939800" y="101544"/>
                </a:lnTo>
                <a:lnTo>
                  <a:pt x="927100" y="103051"/>
                </a:lnTo>
                <a:lnTo>
                  <a:pt x="927100" y="1988996"/>
                </a:lnTo>
                <a:lnTo>
                  <a:pt x="939800" y="1990503"/>
                </a:lnTo>
                <a:close/>
              </a:path>
              <a:path w="3302000" h="2092325">
                <a:moveTo>
                  <a:pt x="952500" y="1994964"/>
                </a:moveTo>
                <a:lnTo>
                  <a:pt x="952500" y="97082"/>
                </a:lnTo>
                <a:lnTo>
                  <a:pt x="939800" y="98559"/>
                </a:lnTo>
                <a:lnTo>
                  <a:pt x="939800" y="1993488"/>
                </a:lnTo>
                <a:lnTo>
                  <a:pt x="952500" y="1994964"/>
                </a:lnTo>
                <a:close/>
              </a:path>
              <a:path w="3302000" h="2092325">
                <a:moveTo>
                  <a:pt x="965200" y="1997887"/>
                </a:moveTo>
                <a:lnTo>
                  <a:pt x="965200" y="94159"/>
                </a:lnTo>
                <a:lnTo>
                  <a:pt x="952500" y="95616"/>
                </a:lnTo>
                <a:lnTo>
                  <a:pt x="952500" y="1996431"/>
                </a:lnTo>
                <a:lnTo>
                  <a:pt x="965200" y="1997887"/>
                </a:lnTo>
                <a:close/>
              </a:path>
              <a:path w="3302000" h="2092325">
                <a:moveTo>
                  <a:pt x="977900" y="2002195"/>
                </a:moveTo>
                <a:lnTo>
                  <a:pt x="977900" y="89852"/>
                </a:lnTo>
                <a:lnTo>
                  <a:pt x="965200" y="91277"/>
                </a:lnTo>
                <a:lnTo>
                  <a:pt x="965200" y="2000769"/>
                </a:lnTo>
                <a:lnTo>
                  <a:pt x="977900" y="2002195"/>
                </a:lnTo>
                <a:close/>
              </a:path>
              <a:path w="3302000" h="2092325">
                <a:moveTo>
                  <a:pt x="990600" y="2005014"/>
                </a:moveTo>
                <a:lnTo>
                  <a:pt x="990600" y="87032"/>
                </a:lnTo>
                <a:lnTo>
                  <a:pt x="977900" y="88437"/>
                </a:lnTo>
                <a:lnTo>
                  <a:pt x="977900" y="2003610"/>
                </a:lnTo>
                <a:lnTo>
                  <a:pt x="990600" y="2005014"/>
                </a:lnTo>
                <a:close/>
              </a:path>
              <a:path w="3302000" h="2092325">
                <a:moveTo>
                  <a:pt x="1003300" y="2009166"/>
                </a:moveTo>
                <a:lnTo>
                  <a:pt x="1003300" y="82880"/>
                </a:lnTo>
                <a:lnTo>
                  <a:pt x="990600" y="84254"/>
                </a:lnTo>
                <a:lnTo>
                  <a:pt x="990600" y="2007793"/>
                </a:lnTo>
                <a:lnTo>
                  <a:pt x="1003300" y="2009166"/>
                </a:lnTo>
                <a:close/>
              </a:path>
              <a:path w="3302000" h="2092325">
                <a:moveTo>
                  <a:pt x="1016000" y="2011882"/>
                </a:moveTo>
                <a:lnTo>
                  <a:pt x="1016000" y="80165"/>
                </a:lnTo>
                <a:lnTo>
                  <a:pt x="1003300" y="81517"/>
                </a:lnTo>
                <a:lnTo>
                  <a:pt x="1003300" y="2010529"/>
                </a:lnTo>
                <a:lnTo>
                  <a:pt x="1016000" y="2011882"/>
                </a:lnTo>
                <a:close/>
              </a:path>
              <a:path w="3302000" h="2092325">
                <a:moveTo>
                  <a:pt x="1028700" y="2015877"/>
                </a:moveTo>
                <a:lnTo>
                  <a:pt x="1028700" y="76170"/>
                </a:lnTo>
                <a:lnTo>
                  <a:pt x="1016000" y="77491"/>
                </a:lnTo>
                <a:lnTo>
                  <a:pt x="1016000" y="2014556"/>
                </a:lnTo>
                <a:lnTo>
                  <a:pt x="1028700" y="2015877"/>
                </a:lnTo>
                <a:close/>
              </a:path>
              <a:path w="3302000" h="2092325">
                <a:moveTo>
                  <a:pt x="1041400" y="2018487"/>
                </a:moveTo>
                <a:lnTo>
                  <a:pt x="1041400" y="73559"/>
                </a:lnTo>
                <a:lnTo>
                  <a:pt x="1028700" y="74859"/>
                </a:lnTo>
                <a:lnTo>
                  <a:pt x="1028700" y="2017187"/>
                </a:lnTo>
                <a:lnTo>
                  <a:pt x="1041400" y="2018487"/>
                </a:lnTo>
                <a:close/>
              </a:path>
              <a:path w="3302000" h="2092325">
                <a:moveTo>
                  <a:pt x="1054100" y="2022323"/>
                </a:moveTo>
                <a:lnTo>
                  <a:pt x="1054100" y="69723"/>
                </a:lnTo>
                <a:lnTo>
                  <a:pt x="1041400" y="70991"/>
                </a:lnTo>
                <a:lnTo>
                  <a:pt x="1041400" y="2021055"/>
                </a:lnTo>
                <a:lnTo>
                  <a:pt x="1054100" y="2022323"/>
                </a:lnTo>
                <a:close/>
              </a:path>
              <a:path w="3302000" h="2092325">
                <a:moveTo>
                  <a:pt x="1066800" y="2024827"/>
                </a:moveTo>
                <a:lnTo>
                  <a:pt x="1066800" y="67219"/>
                </a:lnTo>
                <a:lnTo>
                  <a:pt x="1054100" y="68466"/>
                </a:lnTo>
                <a:lnTo>
                  <a:pt x="1054100" y="2023580"/>
                </a:lnTo>
                <a:lnTo>
                  <a:pt x="1066800" y="2024827"/>
                </a:lnTo>
                <a:close/>
              </a:path>
              <a:path w="3302000" h="2092325">
                <a:moveTo>
                  <a:pt x="1079500" y="2028503"/>
                </a:moveTo>
                <a:lnTo>
                  <a:pt x="1079500" y="63543"/>
                </a:lnTo>
                <a:lnTo>
                  <a:pt x="1066800" y="64758"/>
                </a:lnTo>
                <a:lnTo>
                  <a:pt x="1066800" y="2027288"/>
                </a:lnTo>
                <a:lnTo>
                  <a:pt x="1079500" y="2028503"/>
                </a:lnTo>
                <a:close/>
              </a:path>
              <a:path w="3302000" h="2092325">
                <a:moveTo>
                  <a:pt x="1092200" y="2030900"/>
                </a:moveTo>
                <a:lnTo>
                  <a:pt x="1092200" y="61146"/>
                </a:lnTo>
                <a:lnTo>
                  <a:pt x="1079500" y="62339"/>
                </a:lnTo>
                <a:lnTo>
                  <a:pt x="1079500" y="2029707"/>
                </a:lnTo>
                <a:lnTo>
                  <a:pt x="1092200" y="2030900"/>
                </a:lnTo>
                <a:close/>
              </a:path>
              <a:path w="3302000" h="2092325">
                <a:moveTo>
                  <a:pt x="1104900" y="2034414"/>
                </a:moveTo>
                <a:lnTo>
                  <a:pt x="1104900" y="57632"/>
                </a:lnTo>
                <a:lnTo>
                  <a:pt x="1092200" y="58793"/>
                </a:lnTo>
                <a:lnTo>
                  <a:pt x="1092200" y="2033253"/>
                </a:lnTo>
                <a:lnTo>
                  <a:pt x="1104900" y="2034414"/>
                </a:lnTo>
                <a:close/>
              </a:path>
              <a:path w="3302000" h="2092325">
                <a:moveTo>
                  <a:pt x="1117600" y="2036702"/>
                </a:moveTo>
                <a:lnTo>
                  <a:pt x="1117600" y="55344"/>
                </a:lnTo>
                <a:lnTo>
                  <a:pt x="1104900" y="56483"/>
                </a:lnTo>
                <a:lnTo>
                  <a:pt x="1104900" y="2035563"/>
                </a:lnTo>
                <a:lnTo>
                  <a:pt x="1117600" y="2036702"/>
                </a:lnTo>
                <a:close/>
              </a:path>
              <a:path w="3302000" h="2092325">
                <a:moveTo>
                  <a:pt x="1130300" y="2038946"/>
                </a:moveTo>
                <a:lnTo>
                  <a:pt x="1130300" y="53099"/>
                </a:lnTo>
                <a:lnTo>
                  <a:pt x="1117600" y="54216"/>
                </a:lnTo>
                <a:lnTo>
                  <a:pt x="1117600" y="2037830"/>
                </a:lnTo>
                <a:lnTo>
                  <a:pt x="1130300" y="2038946"/>
                </a:lnTo>
                <a:close/>
              </a:path>
              <a:path w="3302000" h="2092325">
                <a:moveTo>
                  <a:pt x="1143000" y="2042231"/>
                </a:moveTo>
                <a:lnTo>
                  <a:pt x="1143000" y="49815"/>
                </a:lnTo>
                <a:lnTo>
                  <a:pt x="1130300" y="50898"/>
                </a:lnTo>
                <a:lnTo>
                  <a:pt x="1130300" y="2041147"/>
                </a:lnTo>
                <a:lnTo>
                  <a:pt x="1143000" y="2042231"/>
                </a:lnTo>
                <a:close/>
              </a:path>
              <a:path w="3302000" h="2092325">
                <a:moveTo>
                  <a:pt x="1155700" y="2044366"/>
                </a:moveTo>
                <a:lnTo>
                  <a:pt x="1155700" y="47680"/>
                </a:lnTo>
                <a:lnTo>
                  <a:pt x="1143000" y="48742"/>
                </a:lnTo>
                <a:lnTo>
                  <a:pt x="1143000" y="2043304"/>
                </a:lnTo>
                <a:lnTo>
                  <a:pt x="1155700" y="2044366"/>
                </a:lnTo>
                <a:close/>
              </a:path>
              <a:path w="3302000" h="2092325">
                <a:moveTo>
                  <a:pt x="1168400" y="2047485"/>
                </a:moveTo>
                <a:lnTo>
                  <a:pt x="1168400" y="44561"/>
                </a:lnTo>
                <a:lnTo>
                  <a:pt x="1155700" y="45589"/>
                </a:lnTo>
                <a:lnTo>
                  <a:pt x="1155700" y="2046456"/>
                </a:lnTo>
                <a:lnTo>
                  <a:pt x="1168400" y="2047485"/>
                </a:lnTo>
                <a:close/>
              </a:path>
              <a:path w="3302000" h="2092325">
                <a:moveTo>
                  <a:pt x="1181100" y="2049509"/>
                </a:moveTo>
                <a:lnTo>
                  <a:pt x="1181100" y="42537"/>
                </a:lnTo>
                <a:lnTo>
                  <a:pt x="1168400" y="43543"/>
                </a:lnTo>
                <a:lnTo>
                  <a:pt x="1168400" y="2048502"/>
                </a:lnTo>
                <a:lnTo>
                  <a:pt x="1181100" y="2049509"/>
                </a:lnTo>
                <a:close/>
              </a:path>
              <a:path w="3302000" h="2092325">
                <a:moveTo>
                  <a:pt x="1193800" y="2051488"/>
                </a:moveTo>
                <a:lnTo>
                  <a:pt x="1193800" y="40558"/>
                </a:lnTo>
                <a:lnTo>
                  <a:pt x="1181100" y="41542"/>
                </a:lnTo>
                <a:lnTo>
                  <a:pt x="1181100" y="2050504"/>
                </a:lnTo>
                <a:lnTo>
                  <a:pt x="1193800" y="2051488"/>
                </a:lnTo>
                <a:close/>
              </a:path>
              <a:path w="3302000" h="2092325">
                <a:moveTo>
                  <a:pt x="1206500" y="2054372"/>
                </a:moveTo>
                <a:lnTo>
                  <a:pt x="1206500" y="37673"/>
                </a:lnTo>
                <a:lnTo>
                  <a:pt x="1193800" y="38624"/>
                </a:lnTo>
                <a:lnTo>
                  <a:pt x="1193800" y="2053422"/>
                </a:lnTo>
                <a:lnTo>
                  <a:pt x="1206500" y="2054372"/>
                </a:lnTo>
                <a:close/>
              </a:path>
              <a:path w="3302000" h="2092325">
                <a:moveTo>
                  <a:pt x="1219200" y="2056238"/>
                </a:moveTo>
                <a:lnTo>
                  <a:pt x="1219200" y="35807"/>
                </a:lnTo>
                <a:lnTo>
                  <a:pt x="1206500" y="36735"/>
                </a:lnTo>
                <a:lnTo>
                  <a:pt x="1206500" y="2055311"/>
                </a:lnTo>
                <a:lnTo>
                  <a:pt x="1219200" y="2056238"/>
                </a:lnTo>
                <a:close/>
              </a:path>
              <a:path w="3302000" h="2092325">
                <a:moveTo>
                  <a:pt x="1231900" y="2058060"/>
                </a:moveTo>
                <a:lnTo>
                  <a:pt x="1231900" y="33986"/>
                </a:lnTo>
                <a:lnTo>
                  <a:pt x="1219200" y="34891"/>
                </a:lnTo>
                <a:lnTo>
                  <a:pt x="1219200" y="2057155"/>
                </a:lnTo>
                <a:lnTo>
                  <a:pt x="1231900" y="2058060"/>
                </a:lnTo>
                <a:close/>
              </a:path>
              <a:path w="3302000" h="2092325">
                <a:moveTo>
                  <a:pt x="1244600" y="2060706"/>
                </a:moveTo>
                <a:lnTo>
                  <a:pt x="1244600" y="31339"/>
                </a:lnTo>
                <a:lnTo>
                  <a:pt x="1231900" y="32210"/>
                </a:lnTo>
                <a:lnTo>
                  <a:pt x="1231900" y="2059835"/>
                </a:lnTo>
                <a:lnTo>
                  <a:pt x="1244600" y="2060706"/>
                </a:lnTo>
                <a:close/>
              </a:path>
              <a:path w="3302000" h="2092325">
                <a:moveTo>
                  <a:pt x="1257300" y="2062413"/>
                </a:moveTo>
                <a:lnTo>
                  <a:pt x="1257300" y="29632"/>
                </a:lnTo>
                <a:lnTo>
                  <a:pt x="1244600" y="30480"/>
                </a:lnTo>
                <a:lnTo>
                  <a:pt x="1244600" y="2061566"/>
                </a:lnTo>
                <a:lnTo>
                  <a:pt x="1257300" y="2062413"/>
                </a:lnTo>
                <a:close/>
              </a:path>
              <a:path w="3302000" h="2092325">
                <a:moveTo>
                  <a:pt x="1270000" y="2064075"/>
                </a:moveTo>
                <a:lnTo>
                  <a:pt x="1270000" y="27970"/>
                </a:lnTo>
                <a:lnTo>
                  <a:pt x="1257300" y="28795"/>
                </a:lnTo>
                <a:lnTo>
                  <a:pt x="1257300" y="2063250"/>
                </a:lnTo>
                <a:lnTo>
                  <a:pt x="1270000" y="2064075"/>
                </a:lnTo>
                <a:close/>
              </a:path>
              <a:path w="3302000" h="2092325">
                <a:moveTo>
                  <a:pt x="1282700" y="2066481"/>
                </a:moveTo>
                <a:lnTo>
                  <a:pt x="1282700" y="25564"/>
                </a:lnTo>
                <a:lnTo>
                  <a:pt x="1270000" y="26355"/>
                </a:lnTo>
                <a:lnTo>
                  <a:pt x="1270000" y="2065690"/>
                </a:lnTo>
                <a:lnTo>
                  <a:pt x="1282700" y="2066481"/>
                </a:lnTo>
                <a:close/>
              </a:path>
              <a:path w="3302000" h="2092325">
                <a:moveTo>
                  <a:pt x="1295400" y="2068026"/>
                </a:moveTo>
                <a:lnTo>
                  <a:pt x="1295400" y="24019"/>
                </a:lnTo>
                <a:lnTo>
                  <a:pt x="1282700" y="24786"/>
                </a:lnTo>
                <a:lnTo>
                  <a:pt x="1282700" y="2067259"/>
                </a:lnTo>
                <a:lnTo>
                  <a:pt x="1295400" y="2068026"/>
                </a:lnTo>
                <a:close/>
              </a:path>
              <a:path w="3302000" h="2092325">
                <a:moveTo>
                  <a:pt x="1308100" y="2069526"/>
                </a:moveTo>
                <a:lnTo>
                  <a:pt x="1308100" y="22519"/>
                </a:lnTo>
                <a:lnTo>
                  <a:pt x="1295400" y="23263"/>
                </a:lnTo>
                <a:lnTo>
                  <a:pt x="1295400" y="2068782"/>
                </a:lnTo>
                <a:lnTo>
                  <a:pt x="1308100" y="2069526"/>
                </a:lnTo>
                <a:close/>
              </a:path>
              <a:path w="3302000" h="2092325">
                <a:moveTo>
                  <a:pt x="1320800" y="2071688"/>
                </a:moveTo>
                <a:lnTo>
                  <a:pt x="1320800" y="20357"/>
                </a:lnTo>
                <a:lnTo>
                  <a:pt x="1308100" y="21066"/>
                </a:lnTo>
                <a:lnTo>
                  <a:pt x="1308100" y="2070979"/>
                </a:lnTo>
                <a:lnTo>
                  <a:pt x="1320800" y="2071688"/>
                </a:lnTo>
                <a:close/>
              </a:path>
              <a:path w="3302000" h="2092325">
                <a:moveTo>
                  <a:pt x="1333500" y="2073070"/>
                </a:moveTo>
                <a:lnTo>
                  <a:pt x="1333500" y="18975"/>
                </a:lnTo>
                <a:lnTo>
                  <a:pt x="1320800" y="19660"/>
                </a:lnTo>
                <a:lnTo>
                  <a:pt x="1320800" y="2072385"/>
                </a:lnTo>
                <a:lnTo>
                  <a:pt x="1333500" y="2073070"/>
                </a:lnTo>
                <a:close/>
              </a:path>
              <a:path w="3302000" h="2092325">
                <a:moveTo>
                  <a:pt x="1346200" y="2074406"/>
                </a:moveTo>
                <a:lnTo>
                  <a:pt x="1346200" y="17639"/>
                </a:lnTo>
                <a:lnTo>
                  <a:pt x="1333500" y="18301"/>
                </a:lnTo>
                <a:lnTo>
                  <a:pt x="1333500" y="2073744"/>
                </a:lnTo>
                <a:lnTo>
                  <a:pt x="1346200" y="2074406"/>
                </a:lnTo>
                <a:close/>
              </a:path>
              <a:path w="3302000" h="2092325">
                <a:moveTo>
                  <a:pt x="1358900" y="2075694"/>
                </a:moveTo>
                <a:lnTo>
                  <a:pt x="1358900" y="16351"/>
                </a:lnTo>
                <a:lnTo>
                  <a:pt x="1346200" y="16989"/>
                </a:lnTo>
                <a:lnTo>
                  <a:pt x="1346200" y="2075056"/>
                </a:lnTo>
                <a:lnTo>
                  <a:pt x="1358900" y="2075694"/>
                </a:lnTo>
                <a:close/>
              </a:path>
              <a:path w="3302000" h="2092325">
                <a:moveTo>
                  <a:pt x="1371600" y="2077537"/>
                </a:moveTo>
                <a:lnTo>
                  <a:pt x="1371600" y="14508"/>
                </a:lnTo>
                <a:lnTo>
                  <a:pt x="1358900" y="15110"/>
                </a:lnTo>
                <a:lnTo>
                  <a:pt x="1358900" y="2076934"/>
                </a:lnTo>
                <a:lnTo>
                  <a:pt x="1371600" y="2077537"/>
                </a:lnTo>
                <a:close/>
              </a:path>
              <a:path w="3302000" h="2092325">
                <a:moveTo>
                  <a:pt x="1384300" y="2078706"/>
                </a:moveTo>
                <a:lnTo>
                  <a:pt x="1384300" y="13338"/>
                </a:lnTo>
                <a:lnTo>
                  <a:pt x="1371600" y="13917"/>
                </a:lnTo>
                <a:lnTo>
                  <a:pt x="1371600" y="2078128"/>
                </a:lnTo>
                <a:lnTo>
                  <a:pt x="1384300" y="2078706"/>
                </a:lnTo>
                <a:close/>
              </a:path>
              <a:path w="3302000" h="2092325">
                <a:moveTo>
                  <a:pt x="1397000" y="2079828"/>
                </a:moveTo>
                <a:lnTo>
                  <a:pt x="1397000" y="12217"/>
                </a:lnTo>
                <a:lnTo>
                  <a:pt x="1384300" y="12772"/>
                </a:lnTo>
                <a:lnTo>
                  <a:pt x="1384300" y="2079273"/>
                </a:lnTo>
                <a:lnTo>
                  <a:pt x="1397000" y="2079828"/>
                </a:lnTo>
                <a:close/>
              </a:path>
              <a:path w="3302000" h="2092325">
                <a:moveTo>
                  <a:pt x="1409700" y="2081420"/>
                </a:moveTo>
                <a:lnTo>
                  <a:pt x="1409700" y="10625"/>
                </a:lnTo>
                <a:lnTo>
                  <a:pt x="1397000" y="11143"/>
                </a:lnTo>
                <a:lnTo>
                  <a:pt x="1397000" y="2080901"/>
                </a:lnTo>
                <a:lnTo>
                  <a:pt x="1409700" y="2081420"/>
                </a:lnTo>
                <a:close/>
              </a:path>
              <a:path w="3302000" h="2092325">
                <a:moveTo>
                  <a:pt x="1422400" y="2082421"/>
                </a:moveTo>
                <a:lnTo>
                  <a:pt x="1422400" y="9624"/>
                </a:lnTo>
                <a:lnTo>
                  <a:pt x="1409700" y="10118"/>
                </a:lnTo>
                <a:lnTo>
                  <a:pt x="1409700" y="2081927"/>
                </a:lnTo>
                <a:lnTo>
                  <a:pt x="1422400" y="2082421"/>
                </a:lnTo>
                <a:close/>
              </a:path>
              <a:path w="3302000" h="2092325">
                <a:moveTo>
                  <a:pt x="1435100" y="2083374"/>
                </a:moveTo>
                <a:lnTo>
                  <a:pt x="1435100" y="8671"/>
                </a:lnTo>
                <a:lnTo>
                  <a:pt x="1422400" y="9141"/>
                </a:lnTo>
                <a:lnTo>
                  <a:pt x="1422400" y="2082903"/>
                </a:lnTo>
                <a:lnTo>
                  <a:pt x="1435100" y="2083374"/>
                </a:lnTo>
                <a:close/>
              </a:path>
              <a:path w="3302000" h="2092325">
                <a:moveTo>
                  <a:pt x="1447800" y="2084278"/>
                </a:moveTo>
                <a:lnTo>
                  <a:pt x="1447800" y="7767"/>
                </a:lnTo>
                <a:lnTo>
                  <a:pt x="1435100" y="8213"/>
                </a:lnTo>
                <a:lnTo>
                  <a:pt x="1435100" y="2083832"/>
                </a:lnTo>
                <a:lnTo>
                  <a:pt x="1447800" y="2084278"/>
                </a:lnTo>
                <a:close/>
              </a:path>
              <a:path w="3302000" h="2092325">
                <a:moveTo>
                  <a:pt x="1460500" y="2085133"/>
                </a:moveTo>
                <a:lnTo>
                  <a:pt x="1460500" y="6911"/>
                </a:lnTo>
                <a:lnTo>
                  <a:pt x="1447800" y="7333"/>
                </a:lnTo>
                <a:lnTo>
                  <a:pt x="1447800" y="2084712"/>
                </a:lnTo>
                <a:lnTo>
                  <a:pt x="1460500" y="2085133"/>
                </a:lnTo>
                <a:close/>
              </a:path>
              <a:path w="3302000" h="2092325">
                <a:moveTo>
                  <a:pt x="1473200" y="2086324"/>
                </a:moveTo>
                <a:lnTo>
                  <a:pt x="1473200" y="5720"/>
                </a:lnTo>
                <a:lnTo>
                  <a:pt x="1460500" y="6105"/>
                </a:lnTo>
                <a:lnTo>
                  <a:pt x="1460500" y="2085939"/>
                </a:lnTo>
                <a:lnTo>
                  <a:pt x="1473200" y="2086324"/>
                </a:lnTo>
                <a:close/>
              </a:path>
              <a:path w="3302000" h="2092325">
                <a:moveTo>
                  <a:pt x="1485900" y="2087057"/>
                </a:moveTo>
                <a:lnTo>
                  <a:pt x="1485900" y="4988"/>
                </a:lnTo>
                <a:lnTo>
                  <a:pt x="1473200" y="5348"/>
                </a:lnTo>
                <a:lnTo>
                  <a:pt x="1473200" y="2086697"/>
                </a:lnTo>
                <a:lnTo>
                  <a:pt x="1485900" y="2087057"/>
                </a:lnTo>
                <a:close/>
              </a:path>
              <a:path w="3302000" h="2092325">
                <a:moveTo>
                  <a:pt x="1498600" y="2087740"/>
                </a:moveTo>
                <a:lnTo>
                  <a:pt x="1498600" y="4304"/>
                </a:lnTo>
                <a:lnTo>
                  <a:pt x="1485900" y="4640"/>
                </a:lnTo>
                <a:lnTo>
                  <a:pt x="1485900" y="2087405"/>
                </a:lnTo>
                <a:lnTo>
                  <a:pt x="1498600" y="2087740"/>
                </a:lnTo>
                <a:close/>
              </a:path>
              <a:path w="3302000" h="2092325">
                <a:moveTo>
                  <a:pt x="1511300" y="2088374"/>
                </a:moveTo>
                <a:lnTo>
                  <a:pt x="1511300" y="3671"/>
                </a:lnTo>
                <a:lnTo>
                  <a:pt x="1498600" y="3981"/>
                </a:lnTo>
                <a:lnTo>
                  <a:pt x="1498600" y="2088063"/>
                </a:lnTo>
                <a:lnTo>
                  <a:pt x="1511300" y="2088374"/>
                </a:lnTo>
                <a:close/>
              </a:path>
              <a:path w="3302000" h="2092325">
                <a:moveTo>
                  <a:pt x="1524000" y="2089231"/>
                </a:moveTo>
                <a:lnTo>
                  <a:pt x="1524000" y="2813"/>
                </a:lnTo>
                <a:lnTo>
                  <a:pt x="1511300" y="3087"/>
                </a:lnTo>
                <a:lnTo>
                  <a:pt x="1511300" y="2088958"/>
                </a:lnTo>
                <a:lnTo>
                  <a:pt x="1524000" y="2089231"/>
                </a:lnTo>
                <a:close/>
              </a:path>
              <a:path w="3302000" h="2092325">
                <a:moveTo>
                  <a:pt x="1536700" y="2089740"/>
                </a:moveTo>
                <a:lnTo>
                  <a:pt x="1536700" y="2304"/>
                </a:lnTo>
                <a:lnTo>
                  <a:pt x="1524000" y="2553"/>
                </a:lnTo>
                <a:lnTo>
                  <a:pt x="1524000" y="2089492"/>
                </a:lnTo>
                <a:lnTo>
                  <a:pt x="1536700" y="2089740"/>
                </a:lnTo>
                <a:close/>
              </a:path>
              <a:path w="3302000" h="2092325">
                <a:moveTo>
                  <a:pt x="1549400" y="2090199"/>
                </a:moveTo>
                <a:lnTo>
                  <a:pt x="1549400" y="1845"/>
                </a:lnTo>
                <a:lnTo>
                  <a:pt x="1536700" y="2069"/>
                </a:lnTo>
                <a:lnTo>
                  <a:pt x="1536700" y="2089976"/>
                </a:lnTo>
                <a:lnTo>
                  <a:pt x="1549400" y="2090199"/>
                </a:lnTo>
                <a:close/>
              </a:path>
              <a:path w="3302000" h="2092325">
                <a:moveTo>
                  <a:pt x="1562100" y="2090608"/>
                </a:moveTo>
                <a:lnTo>
                  <a:pt x="1562100" y="1437"/>
                </a:lnTo>
                <a:lnTo>
                  <a:pt x="1549400" y="1635"/>
                </a:lnTo>
                <a:lnTo>
                  <a:pt x="1549400" y="2090410"/>
                </a:lnTo>
                <a:lnTo>
                  <a:pt x="1562100" y="2090608"/>
                </a:lnTo>
                <a:close/>
              </a:path>
              <a:path w="3302000" h="2092325">
                <a:moveTo>
                  <a:pt x="1574800" y="2090966"/>
                </a:moveTo>
                <a:lnTo>
                  <a:pt x="1574800" y="1079"/>
                </a:lnTo>
                <a:lnTo>
                  <a:pt x="1562100" y="1251"/>
                </a:lnTo>
                <a:lnTo>
                  <a:pt x="1562100" y="2090793"/>
                </a:lnTo>
                <a:lnTo>
                  <a:pt x="1574800" y="2090966"/>
                </a:lnTo>
                <a:close/>
              </a:path>
              <a:path w="3302000" h="2092325">
                <a:moveTo>
                  <a:pt x="1587500" y="2091408"/>
                </a:moveTo>
                <a:lnTo>
                  <a:pt x="1587500" y="636"/>
                </a:lnTo>
                <a:lnTo>
                  <a:pt x="1574800" y="771"/>
                </a:lnTo>
                <a:lnTo>
                  <a:pt x="1574800" y="2091273"/>
                </a:lnTo>
                <a:lnTo>
                  <a:pt x="1587500" y="2091408"/>
                </a:lnTo>
                <a:close/>
              </a:path>
              <a:path w="3302000" h="2092325">
                <a:moveTo>
                  <a:pt x="1600200" y="2091639"/>
                </a:moveTo>
                <a:lnTo>
                  <a:pt x="1600200" y="405"/>
                </a:lnTo>
                <a:lnTo>
                  <a:pt x="1587500" y="515"/>
                </a:lnTo>
                <a:lnTo>
                  <a:pt x="1587500" y="2091530"/>
                </a:lnTo>
                <a:lnTo>
                  <a:pt x="1600200" y="2091639"/>
                </a:lnTo>
                <a:close/>
              </a:path>
              <a:path w="3302000" h="2092325">
                <a:moveTo>
                  <a:pt x="1612900" y="2091819"/>
                </a:moveTo>
                <a:lnTo>
                  <a:pt x="1612900" y="225"/>
                </a:lnTo>
                <a:lnTo>
                  <a:pt x="1600200" y="309"/>
                </a:lnTo>
                <a:lnTo>
                  <a:pt x="1600200" y="2091736"/>
                </a:lnTo>
                <a:lnTo>
                  <a:pt x="1612900" y="2091819"/>
                </a:lnTo>
                <a:close/>
              </a:path>
              <a:path w="3302000" h="2092325">
                <a:moveTo>
                  <a:pt x="1625600" y="2091948"/>
                </a:moveTo>
                <a:lnTo>
                  <a:pt x="1625600" y="96"/>
                </a:lnTo>
                <a:lnTo>
                  <a:pt x="1612900" y="154"/>
                </a:lnTo>
                <a:lnTo>
                  <a:pt x="1612900" y="2091890"/>
                </a:lnTo>
                <a:lnTo>
                  <a:pt x="1625600" y="2091948"/>
                </a:lnTo>
                <a:close/>
              </a:path>
              <a:path w="3302000" h="2092325">
                <a:moveTo>
                  <a:pt x="1638300" y="2092026"/>
                </a:moveTo>
                <a:lnTo>
                  <a:pt x="1638300" y="19"/>
                </a:lnTo>
                <a:lnTo>
                  <a:pt x="1625600" y="51"/>
                </a:lnTo>
                <a:lnTo>
                  <a:pt x="1625600" y="2091993"/>
                </a:lnTo>
                <a:lnTo>
                  <a:pt x="1638300" y="2092026"/>
                </a:lnTo>
                <a:close/>
              </a:path>
              <a:path w="3302000" h="2092325">
                <a:moveTo>
                  <a:pt x="1651000" y="2092045"/>
                </a:moveTo>
                <a:lnTo>
                  <a:pt x="1651000" y="0"/>
                </a:lnTo>
                <a:lnTo>
                  <a:pt x="1638300" y="0"/>
                </a:lnTo>
                <a:lnTo>
                  <a:pt x="1638300" y="2092045"/>
                </a:lnTo>
                <a:lnTo>
                  <a:pt x="1651000" y="2092045"/>
                </a:lnTo>
                <a:close/>
              </a:path>
              <a:path w="3302000" h="2092325">
                <a:moveTo>
                  <a:pt x="1663700" y="2091993"/>
                </a:moveTo>
                <a:lnTo>
                  <a:pt x="1663700" y="51"/>
                </a:lnTo>
                <a:lnTo>
                  <a:pt x="1651000" y="19"/>
                </a:lnTo>
                <a:lnTo>
                  <a:pt x="1651000" y="2092026"/>
                </a:lnTo>
                <a:lnTo>
                  <a:pt x="1663700" y="2091993"/>
                </a:lnTo>
                <a:close/>
              </a:path>
              <a:path w="3302000" h="2092325">
                <a:moveTo>
                  <a:pt x="1676400" y="2091890"/>
                </a:moveTo>
                <a:lnTo>
                  <a:pt x="1676400" y="154"/>
                </a:lnTo>
                <a:lnTo>
                  <a:pt x="1663700" y="96"/>
                </a:lnTo>
                <a:lnTo>
                  <a:pt x="1663700" y="2091948"/>
                </a:lnTo>
                <a:lnTo>
                  <a:pt x="1676400" y="2091890"/>
                </a:lnTo>
                <a:close/>
              </a:path>
              <a:path w="3302000" h="2092325">
                <a:moveTo>
                  <a:pt x="1689100" y="2091736"/>
                </a:moveTo>
                <a:lnTo>
                  <a:pt x="1689100" y="309"/>
                </a:lnTo>
                <a:lnTo>
                  <a:pt x="1676400" y="225"/>
                </a:lnTo>
                <a:lnTo>
                  <a:pt x="1676400" y="2091819"/>
                </a:lnTo>
                <a:lnTo>
                  <a:pt x="1689100" y="2091736"/>
                </a:lnTo>
                <a:close/>
              </a:path>
              <a:path w="3302000" h="2092325">
                <a:moveTo>
                  <a:pt x="1701800" y="2091530"/>
                </a:moveTo>
                <a:lnTo>
                  <a:pt x="1701800" y="515"/>
                </a:lnTo>
                <a:lnTo>
                  <a:pt x="1689100" y="405"/>
                </a:lnTo>
                <a:lnTo>
                  <a:pt x="1689100" y="2091639"/>
                </a:lnTo>
                <a:lnTo>
                  <a:pt x="1701800" y="2091530"/>
                </a:lnTo>
                <a:close/>
              </a:path>
              <a:path w="3302000" h="2092325">
                <a:moveTo>
                  <a:pt x="1714500" y="2091273"/>
                </a:moveTo>
                <a:lnTo>
                  <a:pt x="1714500" y="771"/>
                </a:lnTo>
                <a:lnTo>
                  <a:pt x="1701800" y="636"/>
                </a:lnTo>
                <a:lnTo>
                  <a:pt x="1701800" y="2091408"/>
                </a:lnTo>
                <a:lnTo>
                  <a:pt x="1714500" y="2091273"/>
                </a:lnTo>
                <a:close/>
              </a:path>
              <a:path w="3302000" h="2092325">
                <a:moveTo>
                  <a:pt x="1727200" y="2090966"/>
                </a:moveTo>
                <a:lnTo>
                  <a:pt x="1727200" y="1079"/>
                </a:lnTo>
                <a:lnTo>
                  <a:pt x="1714500" y="919"/>
                </a:lnTo>
                <a:lnTo>
                  <a:pt x="1714500" y="2091126"/>
                </a:lnTo>
                <a:lnTo>
                  <a:pt x="1727200" y="2090966"/>
                </a:lnTo>
                <a:close/>
              </a:path>
              <a:path w="3302000" h="2092325">
                <a:moveTo>
                  <a:pt x="1739900" y="2090410"/>
                </a:moveTo>
                <a:lnTo>
                  <a:pt x="1739900" y="1635"/>
                </a:lnTo>
                <a:lnTo>
                  <a:pt x="1727200" y="1437"/>
                </a:lnTo>
                <a:lnTo>
                  <a:pt x="1727200" y="2090608"/>
                </a:lnTo>
                <a:lnTo>
                  <a:pt x="1739900" y="2090410"/>
                </a:lnTo>
                <a:close/>
              </a:path>
              <a:path w="3302000" h="2092325">
                <a:moveTo>
                  <a:pt x="1752600" y="2089976"/>
                </a:moveTo>
                <a:lnTo>
                  <a:pt x="1752600" y="2069"/>
                </a:lnTo>
                <a:lnTo>
                  <a:pt x="1739900" y="1845"/>
                </a:lnTo>
                <a:lnTo>
                  <a:pt x="1739900" y="2090199"/>
                </a:lnTo>
                <a:lnTo>
                  <a:pt x="1752600" y="2089976"/>
                </a:lnTo>
                <a:close/>
              </a:path>
              <a:path w="3302000" h="2092325">
                <a:moveTo>
                  <a:pt x="1765300" y="2089492"/>
                </a:moveTo>
                <a:lnTo>
                  <a:pt x="1765300" y="2553"/>
                </a:lnTo>
                <a:lnTo>
                  <a:pt x="1752600" y="2304"/>
                </a:lnTo>
                <a:lnTo>
                  <a:pt x="1752600" y="2089740"/>
                </a:lnTo>
                <a:lnTo>
                  <a:pt x="1765300" y="2089492"/>
                </a:lnTo>
                <a:close/>
              </a:path>
              <a:path w="3302000" h="2092325">
                <a:moveTo>
                  <a:pt x="1778000" y="2088958"/>
                </a:moveTo>
                <a:lnTo>
                  <a:pt x="1778000" y="3087"/>
                </a:lnTo>
                <a:lnTo>
                  <a:pt x="1765300" y="2813"/>
                </a:lnTo>
                <a:lnTo>
                  <a:pt x="1765300" y="2089231"/>
                </a:lnTo>
                <a:lnTo>
                  <a:pt x="1778000" y="2088958"/>
                </a:lnTo>
                <a:close/>
              </a:path>
              <a:path w="3302000" h="2092325">
                <a:moveTo>
                  <a:pt x="1790700" y="2088374"/>
                </a:moveTo>
                <a:lnTo>
                  <a:pt x="1790700" y="3671"/>
                </a:lnTo>
                <a:lnTo>
                  <a:pt x="1778000" y="3373"/>
                </a:lnTo>
                <a:lnTo>
                  <a:pt x="1778000" y="2088672"/>
                </a:lnTo>
                <a:lnTo>
                  <a:pt x="1790700" y="2088374"/>
                </a:lnTo>
                <a:close/>
              </a:path>
              <a:path w="3302000" h="2092325">
                <a:moveTo>
                  <a:pt x="1803400" y="2087405"/>
                </a:moveTo>
                <a:lnTo>
                  <a:pt x="1803400" y="4640"/>
                </a:lnTo>
                <a:lnTo>
                  <a:pt x="1790700" y="4304"/>
                </a:lnTo>
                <a:lnTo>
                  <a:pt x="1790700" y="2087740"/>
                </a:lnTo>
                <a:lnTo>
                  <a:pt x="1803400" y="2087405"/>
                </a:lnTo>
                <a:close/>
              </a:path>
              <a:path w="3302000" h="2092325">
                <a:moveTo>
                  <a:pt x="1816100" y="2086697"/>
                </a:moveTo>
                <a:lnTo>
                  <a:pt x="1816100" y="5348"/>
                </a:lnTo>
                <a:lnTo>
                  <a:pt x="1803400" y="4988"/>
                </a:lnTo>
                <a:lnTo>
                  <a:pt x="1803400" y="2087057"/>
                </a:lnTo>
                <a:lnTo>
                  <a:pt x="1816100" y="2086697"/>
                </a:lnTo>
                <a:close/>
              </a:path>
              <a:path w="3302000" h="2092325">
                <a:moveTo>
                  <a:pt x="1828800" y="2085939"/>
                </a:moveTo>
                <a:lnTo>
                  <a:pt x="1828800" y="6105"/>
                </a:lnTo>
                <a:lnTo>
                  <a:pt x="1816100" y="5720"/>
                </a:lnTo>
                <a:lnTo>
                  <a:pt x="1816100" y="2086324"/>
                </a:lnTo>
                <a:lnTo>
                  <a:pt x="1828800" y="2085939"/>
                </a:lnTo>
                <a:close/>
              </a:path>
              <a:path w="3302000" h="2092325">
                <a:moveTo>
                  <a:pt x="1841500" y="2085133"/>
                </a:moveTo>
                <a:lnTo>
                  <a:pt x="1841500" y="6911"/>
                </a:lnTo>
                <a:lnTo>
                  <a:pt x="1828800" y="6502"/>
                </a:lnTo>
                <a:lnTo>
                  <a:pt x="1828800" y="2085542"/>
                </a:lnTo>
                <a:lnTo>
                  <a:pt x="1841500" y="2085133"/>
                </a:lnTo>
                <a:close/>
              </a:path>
              <a:path w="3302000" h="2092325">
                <a:moveTo>
                  <a:pt x="1854200" y="2083832"/>
                </a:moveTo>
                <a:lnTo>
                  <a:pt x="1854200" y="8213"/>
                </a:lnTo>
                <a:lnTo>
                  <a:pt x="1841500" y="7767"/>
                </a:lnTo>
                <a:lnTo>
                  <a:pt x="1841500" y="2084278"/>
                </a:lnTo>
                <a:lnTo>
                  <a:pt x="1854200" y="2083832"/>
                </a:lnTo>
                <a:close/>
              </a:path>
              <a:path w="3302000" h="2092325">
                <a:moveTo>
                  <a:pt x="1866900" y="2082903"/>
                </a:moveTo>
                <a:lnTo>
                  <a:pt x="1866900" y="9141"/>
                </a:lnTo>
                <a:lnTo>
                  <a:pt x="1854200" y="8671"/>
                </a:lnTo>
                <a:lnTo>
                  <a:pt x="1854200" y="2083374"/>
                </a:lnTo>
                <a:lnTo>
                  <a:pt x="1866900" y="2082903"/>
                </a:lnTo>
                <a:close/>
              </a:path>
              <a:path w="3302000" h="2092325">
                <a:moveTo>
                  <a:pt x="1879600" y="2081927"/>
                </a:moveTo>
                <a:lnTo>
                  <a:pt x="1879600" y="10118"/>
                </a:lnTo>
                <a:lnTo>
                  <a:pt x="1866900" y="9624"/>
                </a:lnTo>
                <a:lnTo>
                  <a:pt x="1866900" y="2082421"/>
                </a:lnTo>
                <a:lnTo>
                  <a:pt x="1879600" y="2081927"/>
                </a:lnTo>
                <a:close/>
              </a:path>
              <a:path w="3302000" h="2092325">
                <a:moveTo>
                  <a:pt x="1892300" y="2080901"/>
                </a:moveTo>
                <a:lnTo>
                  <a:pt x="1892300" y="11143"/>
                </a:lnTo>
                <a:lnTo>
                  <a:pt x="1879600" y="10625"/>
                </a:lnTo>
                <a:lnTo>
                  <a:pt x="1879600" y="2081420"/>
                </a:lnTo>
                <a:lnTo>
                  <a:pt x="1892300" y="2080901"/>
                </a:lnTo>
                <a:close/>
              </a:path>
              <a:path w="3302000" h="2092325">
                <a:moveTo>
                  <a:pt x="1905000" y="2079273"/>
                </a:moveTo>
                <a:lnTo>
                  <a:pt x="1905000" y="12772"/>
                </a:lnTo>
                <a:lnTo>
                  <a:pt x="1892300" y="12217"/>
                </a:lnTo>
                <a:lnTo>
                  <a:pt x="1892300" y="2079828"/>
                </a:lnTo>
                <a:lnTo>
                  <a:pt x="1905000" y="2079273"/>
                </a:lnTo>
                <a:close/>
              </a:path>
              <a:path w="3302000" h="2092325">
                <a:moveTo>
                  <a:pt x="1917700" y="2078128"/>
                </a:moveTo>
                <a:lnTo>
                  <a:pt x="1917700" y="13917"/>
                </a:lnTo>
                <a:lnTo>
                  <a:pt x="1905000" y="13338"/>
                </a:lnTo>
                <a:lnTo>
                  <a:pt x="1905000" y="2078706"/>
                </a:lnTo>
                <a:lnTo>
                  <a:pt x="1917700" y="2078128"/>
                </a:lnTo>
                <a:close/>
              </a:path>
              <a:path w="3302000" h="2092325">
                <a:moveTo>
                  <a:pt x="1930400" y="2076934"/>
                </a:moveTo>
                <a:lnTo>
                  <a:pt x="1930400" y="15110"/>
                </a:lnTo>
                <a:lnTo>
                  <a:pt x="1917700" y="14508"/>
                </a:lnTo>
                <a:lnTo>
                  <a:pt x="1917700" y="2077537"/>
                </a:lnTo>
                <a:lnTo>
                  <a:pt x="1930400" y="2076934"/>
                </a:lnTo>
                <a:close/>
              </a:path>
              <a:path w="3302000" h="2092325">
                <a:moveTo>
                  <a:pt x="1943100" y="2075694"/>
                </a:moveTo>
                <a:lnTo>
                  <a:pt x="1943100" y="16351"/>
                </a:lnTo>
                <a:lnTo>
                  <a:pt x="1930400" y="15725"/>
                </a:lnTo>
                <a:lnTo>
                  <a:pt x="1930400" y="2076320"/>
                </a:lnTo>
                <a:lnTo>
                  <a:pt x="1943100" y="2075694"/>
                </a:lnTo>
                <a:close/>
              </a:path>
              <a:path w="3302000" h="2092325">
                <a:moveTo>
                  <a:pt x="1955800" y="2073744"/>
                </a:moveTo>
                <a:lnTo>
                  <a:pt x="1955800" y="18301"/>
                </a:lnTo>
                <a:lnTo>
                  <a:pt x="1943100" y="17639"/>
                </a:lnTo>
                <a:lnTo>
                  <a:pt x="1943100" y="2074406"/>
                </a:lnTo>
                <a:lnTo>
                  <a:pt x="1955800" y="2073744"/>
                </a:lnTo>
                <a:close/>
              </a:path>
              <a:path w="3302000" h="2092325">
                <a:moveTo>
                  <a:pt x="1968500" y="2072385"/>
                </a:moveTo>
                <a:lnTo>
                  <a:pt x="1968500" y="19660"/>
                </a:lnTo>
                <a:lnTo>
                  <a:pt x="1955800" y="18975"/>
                </a:lnTo>
                <a:lnTo>
                  <a:pt x="1955800" y="2073070"/>
                </a:lnTo>
                <a:lnTo>
                  <a:pt x="1968500" y="2072385"/>
                </a:lnTo>
                <a:close/>
              </a:path>
              <a:path w="3302000" h="2092325">
                <a:moveTo>
                  <a:pt x="1981200" y="2070979"/>
                </a:moveTo>
                <a:lnTo>
                  <a:pt x="1981200" y="21066"/>
                </a:lnTo>
                <a:lnTo>
                  <a:pt x="1968500" y="20357"/>
                </a:lnTo>
                <a:lnTo>
                  <a:pt x="1968500" y="2071688"/>
                </a:lnTo>
                <a:lnTo>
                  <a:pt x="1981200" y="2070979"/>
                </a:lnTo>
                <a:close/>
              </a:path>
              <a:path w="3302000" h="2092325">
                <a:moveTo>
                  <a:pt x="1993900" y="2069526"/>
                </a:moveTo>
                <a:lnTo>
                  <a:pt x="1993900" y="22519"/>
                </a:lnTo>
                <a:lnTo>
                  <a:pt x="1981200" y="21787"/>
                </a:lnTo>
                <a:lnTo>
                  <a:pt x="1981200" y="2070258"/>
                </a:lnTo>
                <a:lnTo>
                  <a:pt x="1993900" y="2069526"/>
                </a:lnTo>
                <a:close/>
              </a:path>
              <a:path w="3302000" h="2092325">
                <a:moveTo>
                  <a:pt x="2006600" y="2067259"/>
                </a:moveTo>
                <a:lnTo>
                  <a:pt x="2006600" y="24786"/>
                </a:lnTo>
                <a:lnTo>
                  <a:pt x="1993900" y="24019"/>
                </a:lnTo>
                <a:lnTo>
                  <a:pt x="1993900" y="2068026"/>
                </a:lnTo>
                <a:lnTo>
                  <a:pt x="2006600" y="2067259"/>
                </a:lnTo>
                <a:close/>
              </a:path>
              <a:path w="3302000" h="2092325">
                <a:moveTo>
                  <a:pt x="2019300" y="2065690"/>
                </a:moveTo>
                <a:lnTo>
                  <a:pt x="2019300" y="26355"/>
                </a:lnTo>
                <a:lnTo>
                  <a:pt x="2006600" y="25564"/>
                </a:lnTo>
                <a:lnTo>
                  <a:pt x="2006600" y="2066481"/>
                </a:lnTo>
                <a:lnTo>
                  <a:pt x="2019300" y="2065690"/>
                </a:lnTo>
                <a:close/>
              </a:path>
              <a:path w="3302000" h="2092325">
                <a:moveTo>
                  <a:pt x="2032000" y="2064075"/>
                </a:moveTo>
                <a:lnTo>
                  <a:pt x="2032000" y="27970"/>
                </a:lnTo>
                <a:lnTo>
                  <a:pt x="2019300" y="27157"/>
                </a:lnTo>
                <a:lnTo>
                  <a:pt x="2019300" y="2064888"/>
                </a:lnTo>
                <a:lnTo>
                  <a:pt x="2032000" y="2064075"/>
                </a:lnTo>
                <a:close/>
              </a:path>
              <a:path w="3302000" h="2092325">
                <a:moveTo>
                  <a:pt x="2044700" y="2061566"/>
                </a:moveTo>
                <a:lnTo>
                  <a:pt x="2044700" y="30480"/>
                </a:lnTo>
                <a:lnTo>
                  <a:pt x="2032000" y="29632"/>
                </a:lnTo>
                <a:lnTo>
                  <a:pt x="2032000" y="2062413"/>
                </a:lnTo>
                <a:lnTo>
                  <a:pt x="2044700" y="2061566"/>
                </a:lnTo>
                <a:close/>
              </a:path>
              <a:path w="3302000" h="2092325">
                <a:moveTo>
                  <a:pt x="2057400" y="2059835"/>
                </a:moveTo>
                <a:lnTo>
                  <a:pt x="2057400" y="32210"/>
                </a:lnTo>
                <a:lnTo>
                  <a:pt x="2044700" y="31339"/>
                </a:lnTo>
                <a:lnTo>
                  <a:pt x="2044700" y="2060706"/>
                </a:lnTo>
                <a:lnTo>
                  <a:pt x="2057400" y="2059835"/>
                </a:lnTo>
                <a:close/>
              </a:path>
              <a:path w="3302000" h="2092325">
                <a:moveTo>
                  <a:pt x="2070100" y="2058060"/>
                </a:moveTo>
                <a:lnTo>
                  <a:pt x="2070100" y="33986"/>
                </a:lnTo>
                <a:lnTo>
                  <a:pt x="2057400" y="33092"/>
                </a:lnTo>
                <a:lnTo>
                  <a:pt x="2057400" y="2058953"/>
                </a:lnTo>
                <a:lnTo>
                  <a:pt x="2070100" y="2058060"/>
                </a:lnTo>
                <a:close/>
              </a:path>
              <a:path w="3302000" h="2092325">
                <a:moveTo>
                  <a:pt x="2082800" y="2055311"/>
                </a:moveTo>
                <a:lnTo>
                  <a:pt x="2082800" y="36735"/>
                </a:lnTo>
                <a:lnTo>
                  <a:pt x="2070100" y="35807"/>
                </a:lnTo>
                <a:lnTo>
                  <a:pt x="2070100" y="2056238"/>
                </a:lnTo>
                <a:lnTo>
                  <a:pt x="2082800" y="2055311"/>
                </a:lnTo>
                <a:close/>
              </a:path>
              <a:path w="3302000" h="2092325">
                <a:moveTo>
                  <a:pt x="2095500" y="2053422"/>
                </a:moveTo>
                <a:lnTo>
                  <a:pt x="2095500" y="38624"/>
                </a:lnTo>
                <a:lnTo>
                  <a:pt x="2082800" y="37673"/>
                </a:lnTo>
                <a:lnTo>
                  <a:pt x="2082800" y="2054372"/>
                </a:lnTo>
                <a:lnTo>
                  <a:pt x="2095500" y="2053422"/>
                </a:lnTo>
                <a:close/>
              </a:path>
              <a:path w="3302000" h="2092325">
                <a:moveTo>
                  <a:pt x="2108200" y="2051488"/>
                </a:moveTo>
                <a:lnTo>
                  <a:pt x="2108200" y="40558"/>
                </a:lnTo>
                <a:lnTo>
                  <a:pt x="2095500" y="39585"/>
                </a:lnTo>
                <a:lnTo>
                  <a:pt x="2095500" y="2052460"/>
                </a:lnTo>
                <a:lnTo>
                  <a:pt x="2108200" y="2051488"/>
                </a:lnTo>
                <a:close/>
              </a:path>
              <a:path w="3302000" h="2092325">
                <a:moveTo>
                  <a:pt x="2120900" y="2048502"/>
                </a:moveTo>
                <a:lnTo>
                  <a:pt x="2120900" y="43543"/>
                </a:lnTo>
                <a:lnTo>
                  <a:pt x="2108200" y="42537"/>
                </a:lnTo>
                <a:lnTo>
                  <a:pt x="2108200" y="2049509"/>
                </a:lnTo>
                <a:lnTo>
                  <a:pt x="2120900" y="2048502"/>
                </a:lnTo>
                <a:close/>
              </a:path>
              <a:path w="3302000" h="2092325">
                <a:moveTo>
                  <a:pt x="2133600" y="2046456"/>
                </a:moveTo>
                <a:lnTo>
                  <a:pt x="2133600" y="45589"/>
                </a:lnTo>
                <a:lnTo>
                  <a:pt x="2120900" y="44561"/>
                </a:lnTo>
                <a:lnTo>
                  <a:pt x="2120900" y="2047485"/>
                </a:lnTo>
                <a:lnTo>
                  <a:pt x="2133600" y="2046456"/>
                </a:lnTo>
                <a:close/>
              </a:path>
              <a:path w="3302000" h="2092325">
                <a:moveTo>
                  <a:pt x="2146300" y="2043304"/>
                </a:moveTo>
                <a:lnTo>
                  <a:pt x="2146300" y="48742"/>
                </a:lnTo>
                <a:lnTo>
                  <a:pt x="2133600" y="47680"/>
                </a:lnTo>
                <a:lnTo>
                  <a:pt x="2133600" y="2044366"/>
                </a:lnTo>
                <a:lnTo>
                  <a:pt x="2146300" y="2043304"/>
                </a:lnTo>
                <a:close/>
              </a:path>
              <a:path w="3302000" h="2092325">
                <a:moveTo>
                  <a:pt x="2159000" y="2041147"/>
                </a:moveTo>
                <a:lnTo>
                  <a:pt x="2159000" y="50898"/>
                </a:lnTo>
                <a:lnTo>
                  <a:pt x="2146300" y="49815"/>
                </a:lnTo>
                <a:lnTo>
                  <a:pt x="2146300" y="2042231"/>
                </a:lnTo>
                <a:lnTo>
                  <a:pt x="2159000" y="2041147"/>
                </a:lnTo>
                <a:close/>
              </a:path>
              <a:path w="3302000" h="2092325">
                <a:moveTo>
                  <a:pt x="2171700" y="2038946"/>
                </a:moveTo>
                <a:lnTo>
                  <a:pt x="2171700" y="53099"/>
                </a:lnTo>
                <a:lnTo>
                  <a:pt x="2159000" y="51993"/>
                </a:lnTo>
                <a:lnTo>
                  <a:pt x="2159000" y="2040052"/>
                </a:lnTo>
                <a:lnTo>
                  <a:pt x="2171700" y="2038946"/>
                </a:lnTo>
                <a:close/>
              </a:path>
              <a:path w="3302000" h="2092325">
                <a:moveTo>
                  <a:pt x="2184400" y="2035563"/>
                </a:moveTo>
                <a:lnTo>
                  <a:pt x="2184400" y="56483"/>
                </a:lnTo>
                <a:lnTo>
                  <a:pt x="2171700" y="55344"/>
                </a:lnTo>
                <a:lnTo>
                  <a:pt x="2171700" y="2036702"/>
                </a:lnTo>
                <a:lnTo>
                  <a:pt x="2184400" y="2035563"/>
                </a:lnTo>
                <a:close/>
              </a:path>
              <a:path w="3302000" h="2092325">
                <a:moveTo>
                  <a:pt x="2197100" y="2033253"/>
                </a:moveTo>
                <a:lnTo>
                  <a:pt x="2197100" y="58793"/>
                </a:lnTo>
                <a:lnTo>
                  <a:pt x="2184400" y="57632"/>
                </a:lnTo>
                <a:lnTo>
                  <a:pt x="2184400" y="2034414"/>
                </a:lnTo>
                <a:lnTo>
                  <a:pt x="2197100" y="2033253"/>
                </a:lnTo>
                <a:close/>
              </a:path>
              <a:path w="3302000" h="2092325">
                <a:moveTo>
                  <a:pt x="2209800" y="2029707"/>
                </a:moveTo>
                <a:lnTo>
                  <a:pt x="2209800" y="62339"/>
                </a:lnTo>
                <a:lnTo>
                  <a:pt x="2197100" y="61146"/>
                </a:lnTo>
                <a:lnTo>
                  <a:pt x="2197100" y="2030900"/>
                </a:lnTo>
                <a:lnTo>
                  <a:pt x="2209800" y="2029707"/>
                </a:lnTo>
                <a:close/>
              </a:path>
              <a:path w="3302000" h="2092325">
                <a:moveTo>
                  <a:pt x="2222500" y="2027288"/>
                </a:moveTo>
                <a:lnTo>
                  <a:pt x="2222500" y="64758"/>
                </a:lnTo>
                <a:lnTo>
                  <a:pt x="2209800" y="63543"/>
                </a:lnTo>
                <a:lnTo>
                  <a:pt x="2209800" y="2028503"/>
                </a:lnTo>
                <a:lnTo>
                  <a:pt x="2222500" y="2027288"/>
                </a:lnTo>
                <a:close/>
              </a:path>
              <a:path w="3302000" h="2092325">
                <a:moveTo>
                  <a:pt x="2235200" y="2024827"/>
                </a:moveTo>
                <a:lnTo>
                  <a:pt x="2235200" y="67219"/>
                </a:lnTo>
                <a:lnTo>
                  <a:pt x="2222500" y="65983"/>
                </a:lnTo>
                <a:lnTo>
                  <a:pt x="2222500" y="2026063"/>
                </a:lnTo>
                <a:lnTo>
                  <a:pt x="2235200" y="2024827"/>
                </a:lnTo>
                <a:close/>
              </a:path>
              <a:path w="3302000" h="2092325">
                <a:moveTo>
                  <a:pt x="2247900" y="2021055"/>
                </a:moveTo>
                <a:lnTo>
                  <a:pt x="2247900" y="70991"/>
                </a:lnTo>
                <a:lnTo>
                  <a:pt x="2235200" y="69723"/>
                </a:lnTo>
                <a:lnTo>
                  <a:pt x="2235200" y="2022323"/>
                </a:lnTo>
                <a:lnTo>
                  <a:pt x="2247900" y="2021055"/>
                </a:lnTo>
                <a:close/>
              </a:path>
              <a:path w="3302000" h="2092325">
                <a:moveTo>
                  <a:pt x="2260600" y="2018487"/>
                </a:moveTo>
                <a:lnTo>
                  <a:pt x="2260600" y="73559"/>
                </a:lnTo>
                <a:lnTo>
                  <a:pt x="2247900" y="72270"/>
                </a:lnTo>
                <a:lnTo>
                  <a:pt x="2247900" y="2019776"/>
                </a:lnTo>
                <a:lnTo>
                  <a:pt x="2260600" y="2018487"/>
                </a:lnTo>
                <a:close/>
              </a:path>
              <a:path w="3302000" h="2092325">
                <a:moveTo>
                  <a:pt x="2273300" y="2014556"/>
                </a:moveTo>
                <a:lnTo>
                  <a:pt x="2273300" y="77491"/>
                </a:lnTo>
                <a:lnTo>
                  <a:pt x="2260600" y="76170"/>
                </a:lnTo>
                <a:lnTo>
                  <a:pt x="2260600" y="2015877"/>
                </a:lnTo>
                <a:lnTo>
                  <a:pt x="2273300" y="2014556"/>
                </a:lnTo>
                <a:close/>
              </a:path>
              <a:path w="3302000" h="2092325">
                <a:moveTo>
                  <a:pt x="2286000" y="2011882"/>
                </a:moveTo>
                <a:lnTo>
                  <a:pt x="2286000" y="80165"/>
                </a:lnTo>
                <a:lnTo>
                  <a:pt x="2273300" y="78822"/>
                </a:lnTo>
                <a:lnTo>
                  <a:pt x="2273300" y="2013224"/>
                </a:lnTo>
                <a:lnTo>
                  <a:pt x="2286000" y="2011882"/>
                </a:lnTo>
                <a:close/>
              </a:path>
              <a:path w="3302000" h="2092325">
                <a:moveTo>
                  <a:pt x="2298700" y="2007793"/>
                </a:moveTo>
                <a:lnTo>
                  <a:pt x="2298700" y="84254"/>
                </a:lnTo>
                <a:lnTo>
                  <a:pt x="2286000" y="82880"/>
                </a:lnTo>
                <a:lnTo>
                  <a:pt x="2286000" y="2009166"/>
                </a:lnTo>
                <a:lnTo>
                  <a:pt x="2298700" y="2007793"/>
                </a:lnTo>
                <a:close/>
              </a:path>
              <a:path w="3302000" h="2092325">
                <a:moveTo>
                  <a:pt x="2311400" y="2005014"/>
                </a:moveTo>
                <a:lnTo>
                  <a:pt x="2311400" y="87032"/>
                </a:lnTo>
                <a:lnTo>
                  <a:pt x="2298700" y="85638"/>
                </a:lnTo>
                <a:lnTo>
                  <a:pt x="2298700" y="2006409"/>
                </a:lnTo>
                <a:lnTo>
                  <a:pt x="2311400" y="2005014"/>
                </a:lnTo>
                <a:close/>
              </a:path>
              <a:path w="3302000" h="2092325">
                <a:moveTo>
                  <a:pt x="2324100" y="2000769"/>
                </a:moveTo>
                <a:lnTo>
                  <a:pt x="2324100" y="91277"/>
                </a:lnTo>
                <a:lnTo>
                  <a:pt x="2311400" y="89852"/>
                </a:lnTo>
                <a:lnTo>
                  <a:pt x="2311400" y="2002195"/>
                </a:lnTo>
                <a:lnTo>
                  <a:pt x="2324100" y="2000769"/>
                </a:lnTo>
                <a:close/>
              </a:path>
              <a:path w="3302000" h="2092325">
                <a:moveTo>
                  <a:pt x="2336800" y="1997887"/>
                </a:moveTo>
                <a:lnTo>
                  <a:pt x="2336800" y="94159"/>
                </a:lnTo>
                <a:lnTo>
                  <a:pt x="2324100" y="92713"/>
                </a:lnTo>
                <a:lnTo>
                  <a:pt x="2324100" y="1999333"/>
                </a:lnTo>
                <a:lnTo>
                  <a:pt x="2336800" y="1997887"/>
                </a:lnTo>
                <a:close/>
              </a:path>
              <a:path w="3302000" h="2092325">
                <a:moveTo>
                  <a:pt x="2349500" y="1993488"/>
                </a:moveTo>
                <a:lnTo>
                  <a:pt x="2349500" y="98559"/>
                </a:lnTo>
                <a:lnTo>
                  <a:pt x="2336800" y="97082"/>
                </a:lnTo>
                <a:lnTo>
                  <a:pt x="2336800" y="1994964"/>
                </a:lnTo>
                <a:lnTo>
                  <a:pt x="2349500" y="1993488"/>
                </a:lnTo>
                <a:close/>
              </a:path>
              <a:path w="3302000" h="2092325">
                <a:moveTo>
                  <a:pt x="2362200" y="1990503"/>
                </a:moveTo>
                <a:lnTo>
                  <a:pt x="2362200" y="101544"/>
                </a:lnTo>
                <a:lnTo>
                  <a:pt x="2349500" y="100046"/>
                </a:lnTo>
                <a:lnTo>
                  <a:pt x="2349500" y="1992001"/>
                </a:lnTo>
                <a:lnTo>
                  <a:pt x="2362200" y="1990503"/>
                </a:lnTo>
                <a:close/>
              </a:path>
              <a:path w="3302000" h="2092325">
                <a:moveTo>
                  <a:pt x="2374900" y="1985951"/>
                </a:moveTo>
                <a:lnTo>
                  <a:pt x="2374900" y="106096"/>
                </a:lnTo>
                <a:lnTo>
                  <a:pt x="2362200" y="104569"/>
                </a:lnTo>
                <a:lnTo>
                  <a:pt x="2362200" y="1987478"/>
                </a:lnTo>
                <a:lnTo>
                  <a:pt x="2374900" y="1985951"/>
                </a:lnTo>
                <a:close/>
              </a:path>
              <a:path w="3302000" h="2092325">
                <a:moveTo>
                  <a:pt x="2387600" y="1981307"/>
                </a:moveTo>
                <a:lnTo>
                  <a:pt x="2387600" y="110740"/>
                </a:lnTo>
                <a:lnTo>
                  <a:pt x="2374900" y="109182"/>
                </a:lnTo>
                <a:lnTo>
                  <a:pt x="2374900" y="1982865"/>
                </a:lnTo>
                <a:lnTo>
                  <a:pt x="2387600" y="1981307"/>
                </a:lnTo>
                <a:close/>
              </a:path>
              <a:path w="3302000" h="2092325">
                <a:moveTo>
                  <a:pt x="2400300" y="1978161"/>
                </a:moveTo>
                <a:lnTo>
                  <a:pt x="2400300" y="113886"/>
                </a:lnTo>
                <a:lnTo>
                  <a:pt x="2387600" y="112308"/>
                </a:lnTo>
                <a:lnTo>
                  <a:pt x="2387600" y="1979739"/>
                </a:lnTo>
                <a:lnTo>
                  <a:pt x="2400300" y="1978161"/>
                </a:lnTo>
                <a:close/>
              </a:path>
              <a:path w="3302000" h="2092325">
                <a:moveTo>
                  <a:pt x="2413000" y="1973367"/>
                </a:moveTo>
                <a:lnTo>
                  <a:pt x="2413000" y="118680"/>
                </a:lnTo>
                <a:lnTo>
                  <a:pt x="2400300" y="117072"/>
                </a:lnTo>
                <a:lnTo>
                  <a:pt x="2400300" y="1974975"/>
                </a:lnTo>
                <a:lnTo>
                  <a:pt x="2413000" y="1973367"/>
                </a:lnTo>
                <a:close/>
              </a:path>
              <a:path w="3302000" h="2092325">
                <a:moveTo>
                  <a:pt x="2425700" y="1970121"/>
                </a:moveTo>
                <a:lnTo>
                  <a:pt x="2425700" y="121926"/>
                </a:lnTo>
                <a:lnTo>
                  <a:pt x="2413000" y="120298"/>
                </a:lnTo>
                <a:lnTo>
                  <a:pt x="2413000" y="1971749"/>
                </a:lnTo>
                <a:lnTo>
                  <a:pt x="2425700" y="1970121"/>
                </a:lnTo>
                <a:close/>
              </a:path>
              <a:path w="3302000" h="2092325">
                <a:moveTo>
                  <a:pt x="2438400" y="1965178"/>
                </a:moveTo>
                <a:lnTo>
                  <a:pt x="2438400" y="126869"/>
                </a:lnTo>
                <a:lnTo>
                  <a:pt x="2425700" y="125211"/>
                </a:lnTo>
                <a:lnTo>
                  <a:pt x="2425700" y="1966836"/>
                </a:lnTo>
                <a:lnTo>
                  <a:pt x="2438400" y="1965178"/>
                </a:lnTo>
                <a:close/>
              </a:path>
              <a:path w="3302000" h="2092325">
                <a:moveTo>
                  <a:pt x="2451100" y="1960147"/>
                </a:moveTo>
                <a:lnTo>
                  <a:pt x="2451100" y="131900"/>
                </a:lnTo>
                <a:lnTo>
                  <a:pt x="2438400" y="130213"/>
                </a:lnTo>
                <a:lnTo>
                  <a:pt x="2438400" y="1961834"/>
                </a:lnTo>
                <a:lnTo>
                  <a:pt x="2451100" y="1960147"/>
                </a:lnTo>
                <a:close/>
              </a:path>
              <a:path w="3302000" h="2092325">
                <a:moveTo>
                  <a:pt x="2463800" y="1956744"/>
                </a:moveTo>
                <a:lnTo>
                  <a:pt x="2463800" y="135303"/>
                </a:lnTo>
                <a:lnTo>
                  <a:pt x="2451100" y="133597"/>
                </a:lnTo>
                <a:lnTo>
                  <a:pt x="2451100" y="1958450"/>
                </a:lnTo>
                <a:lnTo>
                  <a:pt x="2463800" y="1956744"/>
                </a:lnTo>
                <a:close/>
              </a:path>
              <a:path w="3302000" h="2092325">
                <a:moveTo>
                  <a:pt x="2476500" y="1951567"/>
                </a:moveTo>
                <a:lnTo>
                  <a:pt x="2476500" y="140481"/>
                </a:lnTo>
                <a:lnTo>
                  <a:pt x="2463800" y="138746"/>
                </a:lnTo>
                <a:lnTo>
                  <a:pt x="2463800" y="1953302"/>
                </a:lnTo>
                <a:lnTo>
                  <a:pt x="2476500" y="1951567"/>
                </a:lnTo>
                <a:close/>
              </a:path>
              <a:path w="3302000" h="2092325">
                <a:moveTo>
                  <a:pt x="2489200" y="1946302"/>
                </a:moveTo>
                <a:lnTo>
                  <a:pt x="2489200" y="145746"/>
                </a:lnTo>
                <a:lnTo>
                  <a:pt x="2476500" y="143981"/>
                </a:lnTo>
                <a:lnTo>
                  <a:pt x="2476500" y="1948067"/>
                </a:lnTo>
                <a:lnTo>
                  <a:pt x="2489200" y="1946302"/>
                </a:lnTo>
                <a:close/>
              </a:path>
              <a:path w="3302000" h="2092325">
                <a:moveTo>
                  <a:pt x="2501900" y="1942744"/>
                </a:moveTo>
                <a:lnTo>
                  <a:pt x="2501900" y="149303"/>
                </a:lnTo>
                <a:lnTo>
                  <a:pt x="2489200" y="147520"/>
                </a:lnTo>
                <a:lnTo>
                  <a:pt x="2489200" y="1944528"/>
                </a:lnTo>
                <a:lnTo>
                  <a:pt x="2501900" y="1942744"/>
                </a:lnTo>
                <a:close/>
              </a:path>
              <a:path w="3302000" h="2092325">
                <a:moveTo>
                  <a:pt x="2514600" y="1937336"/>
                </a:moveTo>
                <a:lnTo>
                  <a:pt x="2514600" y="154712"/>
                </a:lnTo>
                <a:lnTo>
                  <a:pt x="2501900" y="152899"/>
                </a:lnTo>
                <a:lnTo>
                  <a:pt x="2501900" y="1939149"/>
                </a:lnTo>
                <a:lnTo>
                  <a:pt x="2514600" y="1937336"/>
                </a:lnTo>
                <a:close/>
              </a:path>
              <a:path w="3302000" h="2092325">
                <a:moveTo>
                  <a:pt x="2527300" y="1931843"/>
                </a:moveTo>
                <a:lnTo>
                  <a:pt x="2527300" y="160205"/>
                </a:lnTo>
                <a:lnTo>
                  <a:pt x="2514600" y="158365"/>
                </a:lnTo>
                <a:lnTo>
                  <a:pt x="2514600" y="1933683"/>
                </a:lnTo>
                <a:lnTo>
                  <a:pt x="2527300" y="1931843"/>
                </a:lnTo>
                <a:close/>
              </a:path>
              <a:path w="3302000" h="2092325">
                <a:moveTo>
                  <a:pt x="2540000" y="1926264"/>
                </a:moveTo>
                <a:lnTo>
                  <a:pt x="2540000" y="165784"/>
                </a:lnTo>
                <a:lnTo>
                  <a:pt x="2527300" y="163915"/>
                </a:lnTo>
                <a:lnTo>
                  <a:pt x="2527300" y="1928133"/>
                </a:lnTo>
                <a:lnTo>
                  <a:pt x="2540000" y="1926264"/>
                </a:lnTo>
                <a:close/>
              </a:path>
              <a:path w="3302000" h="2092325">
                <a:moveTo>
                  <a:pt x="2552700" y="1922499"/>
                </a:moveTo>
                <a:lnTo>
                  <a:pt x="2552700" y="169550"/>
                </a:lnTo>
                <a:lnTo>
                  <a:pt x="2540000" y="167662"/>
                </a:lnTo>
                <a:lnTo>
                  <a:pt x="2540000" y="1924386"/>
                </a:lnTo>
                <a:lnTo>
                  <a:pt x="2552700" y="1922499"/>
                </a:lnTo>
                <a:close/>
              </a:path>
              <a:path w="3302000" h="2092325">
                <a:moveTo>
                  <a:pt x="2565400" y="1916780"/>
                </a:moveTo>
                <a:lnTo>
                  <a:pt x="2565400" y="175268"/>
                </a:lnTo>
                <a:lnTo>
                  <a:pt x="2552700" y="173353"/>
                </a:lnTo>
                <a:lnTo>
                  <a:pt x="2552700" y="1918696"/>
                </a:lnTo>
                <a:lnTo>
                  <a:pt x="2565400" y="1916780"/>
                </a:lnTo>
                <a:close/>
              </a:path>
              <a:path w="3302000" h="2092325">
                <a:moveTo>
                  <a:pt x="2578100" y="1910978"/>
                </a:moveTo>
                <a:lnTo>
                  <a:pt x="2578100" y="181070"/>
                </a:lnTo>
                <a:lnTo>
                  <a:pt x="2565400" y="179127"/>
                </a:lnTo>
                <a:lnTo>
                  <a:pt x="2565400" y="1912921"/>
                </a:lnTo>
                <a:lnTo>
                  <a:pt x="2578100" y="1910978"/>
                </a:lnTo>
                <a:close/>
              </a:path>
              <a:path w="3302000" h="2092325">
                <a:moveTo>
                  <a:pt x="2590800" y="1905094"/>
                </a:moveTo>
                <a:lnTo>
                  <a:pt x="2590800" y="186955"/>
                </a:lnTo>
                <a:lnTo>
                  <a:pt x="2578100" y="184984"/>
                </a:lnTo>
                <a:lnTo>
                  <a:pt x="2578100" y="1907064"/>
                </a:lnTo>
                <a:lnTo>
                  <a:pt x="2590800" y="1905094"/>
                </a:lnTo>
                <a:close/>
              </a:path>
              <a:path w="3302000" h="2092325">
                <a:moveTo>
                  <a:pt x="2603500" y="1899127"/>
                </a:moveTo>
                <a:lnTo>
                  <a:pt x="2603500" y="192922"/>
                </a:lnTo>
                <a:lnTo>
                  <a:pt x="2590800" y="190924"/>
                </a:lnTo>
                <a:lnTo>
                  <a:pt x="2590800" y="1901125"/>
                </a:lnTo>
                <a:lnTo>
                  <a:pt x="2603500" y="1899127"/>
                </a:lnTo>
                <a:close/>
              </a:path>
              <a:path w="3302000" h="2092325">
                <a:moveTo>
                  <a:pt x="2616200" y="1895104"/>
                </a:moveTo>
                <a:lnTo>
                  <a:pt x="2616200" y="196945"/>
                </a:lnTo>
                <a:lnTo>
                  <a:pt x="2603500" y="194929"/>
                </a:lnTo>
                <a:lnTo>
                  <a:pt x="2603500" y="1897120"/>
                </a:lnTo>
                <a:lnTo>
                  <a:pt x="2616200" y="1895104"/>
                </a:lnTo>
                <a:close/>
              </a:path>
              <a:path w="3302000" h="2092325">
                <a:moveTo>
                  <a:pt x="2628900" y="1889001"/>
                </a:moveTo>
                <a:lnTo>
                  <a:pt x="2628900" y="203048"/>
                </a:lnTo>
                <a:lnTo>
                  <a:pt x="2616200" y="201004"/>
                </a:lnTo>
                <a:lnTo>
                  <a:pt x="2616200" y="1891044"/>
                </a:lnTo>
                <a:lnTo>
                  <a:pt x="2628900" y="1889001"/>
                </a:lnTo>
                <a:close/>
              </a:path>
              <a:path w="3302000" h="2092325">
                <a:moveTo>
                  <a:pt x="2641600" y="1882818"/>
                </a:moveTo>
                <a:lnTo>
                  <a:pt x="2641600" y="209231"/>
                </a:lnTo>
                <a:lnTo>
                  <a:pt x="2628900" y="207161"/>
                </a:lnTo>
                <a:lnTo>
                  <a:pt x="2628900" y="1884888"/>
                </a:lnTo>
                <a:lnTo>
                  <a:pt x="2641600" y="1882818"/>
                </a:lnTo>
                <a:close/>
              </a:path>
              <a:path w="3302000" h="2092325">
                <a:moveTo>
                  <a:pt x="2654300" y="1876555"/>
                </a:moveTo>
                <a:lnTo>
                  <a:pt x="2654300" y="215494"/>
                </a:lnTo>
                <a:lnTo>
                  <a:pt x="2641600" y="213397"/>
                </a:lnTo>
                <a:lnTo>
                  <a:pt x="2641600" y="1878652"/>
                </a:lnTo>
                <a:lnTo>
                  <a:pt x="2654300" y="1876555"/>
                </a:lnTo>
                <a:close/>
              </a:path>
              <a:path w="3302000" h="2092325">
                <a:moveTo>
                  <a:pt x="2667000" y="1870212"/>
                </a:moveTo>
                <a:lnTo>
                  <a:pt x="2667000" y="221837"/>
                </a:lnTo>
                <a:lnTo>
                  <a:pt x="2654300" y="219714"/>
                </a:lnTo>
                <a:lnTo>
                  <a:pt x="2654300" y="1872335"/>
                </a:lnTo>
                <a:lnTo>
                  <a:pt x="2667000" y="1870212"/>
                </a:lnTo>
                <a:close/>
              </a:path>
              <a:path w="3302000" h="2092325">
                <a:moveTo>
                  <a:pt x="2679700" y="1863791"/>
                </a:moveTo>
                <a:lnTo>
                  <a:pt x="2679700" y="228258"/>
                </a:lnTo>
                <a:lnTo>
                  <a:pt x="2667000" y="226109"/>
                </a:lnTo>
                <a:lnTo>
                  <a:pt x="2667000" y="1865940"/>
                </a:lnTo>
                <a:lnTo>
                  <a:pt x="2679700" y="1863791"/>
                </a:lnTo>
                <a:close/>
              </a:path>
              <a:path w="3302000" h="2092325">
                <a:moveTo>
                  <a:pt x="2692400" y="1857291"/>
                </a:moveTo>
                <a:lnTo>
                  <a:pt x="2692400" y="234758"/>
                </a:lnTo>
                <a:lnTo>
                  <a:pt x="2679700" y="232583"/>
                </a:lnTo>
                <a:lnTo>
                  <a:pt x="2679700" y="1859466"/>
                </a:lnTo>
                <a:lnTo>
                  <a:pt x="2692400" y="1857291"/>
                </a:lnTo>
                <a:close/>
              </a:path>
              <a:path w="3302000" h="2092325">
                <a:moveTo>
                  <a:pt x="2705100" y="1850713"/>
                </a:moveTo>
                <a:lnTo>
                  <a:pt x="2705100" y="241336"/>
                </a:lnTo>
                <a:lnTo>
                  <a:pt x="2692400" y="239135"/>
                </a:lnTo>
                <a:lnTo>
                  <a:pt x="2692400" y="1852915"/>
                </a:lnTo>
                <a:lnTo>
                  <a:pt x="2705100" y="1850713"/>
                </a:lnTo>
                <a:close/>
              </a:path>
              <a:path w="3302000" h="2092325">
                <a:moveTo>
                  <a:pt x="2717800" y="1844059"/>
                </a:moveTo>
                <a:lnTo>
                  <a:pt x="2717800" y="247991"/>
                </a:lnTo>
                <a:lnTo>
                  <a:pt x="2705100" y="245764"/>
                </a:lnTo>
                <a:lnTo>
                  <a:pt x="2705100" y="1846285"/>
                </a:lnTo>
                <a:lnTo>
                  <a:pt x="2717800" y="1844059"/>
                </a:lnTo>
                <a:close/>
              </a:path>
              <a:path w="3302000" h="2092325">
                <a:moveTo>
                  <a:pt x="2730500" y="1837327"/>
                </a:moveTo>
                <a:lnTo>
                  <a:pt x="2730500" y="254723"/>
                </a:lnTo>
                <a:lnTo>
                  <a:pt x="2717800" y="252470"/>
                </a:lnTo>
                <a:lnTo>
                  <a:pt x="2717800" y="1839579"/>
                </a:lnTo>
                <a:lnTo>
                  <a:pt x="2730500" y="1837327"/>
                </a:lnTo>
                <a:close/>
              </a:path>
              <a:path w="3302000" h="2092325">
                <a:moveTo>
                  <a:pt x="2743200" y="1830520"/>
                </a:moveTo>
                <a:lnTo>
                  <a:pt x="2743200" y="261530"/>
                </a:lnTo>
                <a:lnTo>
                  <a:pt x="2730500" y="259253"/>
                </a:lnTo>
                <a:lnTo>
                  <a:pt x="2730500" y="1832797"/>
                </a:lnTo>
                <a:lnTo>
                  <a:pt x="2743200" y="1830520"/>
                </a:lnTo>
                <a:close/>
              </a:path>
              <a:path w="3302000" h="2092325">
                <a:moveTo>
                  <a:pt x="2755900" y="1823637"/>
                </a:moveTo>
                <a:lnTo>
                  <a:pt x="2755900" y="268414"/>
                </a:lnTo>
                <a:lnTo>
                  <a:pt x="2743200" y="266111"/>
                </a:lnTo>
                <a:lnTo>
                  <a:pt x="2743200" y="1825939"/>
                </a:lnTo>
                <a:lnTo>
                  <a:pt x="2755900" y="1823637"/>
                </a:lnTo>
                <a:close/>
              </a:path>
              <a:path w="3302000" h="2092325">
                <a:moveTo>
                  <a:pt x="2768600" y="1814343"/>
                </a:moveTo>
                <a:lnTo>
                  <a:pt x="2768600" y="277707"/>
                </a:lnTo>
                <a:lnTo>
                  <a:pt x="2755900" y="275372"/>
                </a:lnTo>
                <a:lnTo>
                  <a:pt x="2755900" y="1816679"/>
                </a:lnTo>
                <a:lnTo>
                  <a:pt x="2768600" y="1814343"/>
                </a:lnTo>
                <a:close/>
              </a:path>
              <a:path w="3302000" h="2092325">
                <a:moveTo>
                  <a:pt x="2781300" y="1807286"/>
                </a:moveTo>
                <a:lnTo>
                  <a:pt x="2781300" y="284764"/>
                </a:lnTo>
                <a:lnTo>
                  <a:pt x="2768600" y="282404"/>
                </a:lnTo>
                <a:lnTo>
                  <a:pt x="2768600" y="1809647"/>
                </a:lnTo>
                <a:lnTo>
                  <a:pt x="2781300" y="1807286"/>
                </a:lnTo>
                <a:close/>
              </a:path>
              <a:path w="3302000" h="2092325">
                <a:moveTo>
                  <a:pt x="2794000" y="1800156"/>
                </a:moveTo>
                <a:lnTo>
                  <a:pt x="2794000" y="291895"/>
                </a:lnTo>
                <a:lnTo>
                  <a:pt x="2781300" y="289510"/>
                </a:lnTo>
                <a:lnTo>
                  <a:pt x="2781300" y="1802541"/>
                </a:lnTo>
                <a:lnTo>
                  <a:pt x="2794000" y="1800156"/>
                </a:lnTo>
                <a:close/>
              </a:path>
              <a:path w="3302000" h="2092325">
                <a:moveTo>
                  <a:pt x="2806700" y="1792952"/>
                </a:moveTo>
                <a:lnTo>
                  <a:pt x="2806700" y="299098"/>
                </a:lnTo>
                <a:lnTo>
                  <a:pt x="2794000" y="296689"/>
                </a:lnTo>
                <a:lnTo>
                  <a:pt x="2794000" y="1795362"/>
                </a:lnTo>
                <a:lnTo>
                  <a:pt x="2806700" y="1792952"/>
                </a:lnTo>
                <a:close/>
              </a:path>
              <a:path w="3302000" h="2092325">
                <a:moveTo>
                  <a:pt x="2819400" y="1785677"/>
                </a:moveTo>
                <a:lnTo>
                  <a:pt x="2819400" y="306374"/>
                </a:lnTo>
                <a:lnTo>
                  <a:pt x="2806700" y="303941"/>
                </a:lnTo>
                <a:lnTo>
                  <a:pt x="2806700" y="1788110"/>
                </a:lnTo>
                <a:lnTo>
                  <a:pt x="2819400" y="1785677"/>
                </a:lnTo>
                <a:close/>
              </a:path>
              <a:path w="3302000" h="2092325">
                <a:moveTo>
                  <a:pt x="2832100" y="1775864"/>
                </a:moveTo>
                <a:lnTo>
                  <a:pt x="2832100" y="316187"/>
                </a:lnTo>
                <a:lnTo>
                  <a:pt x="2819400" y="313722"/>
                </a:lnTo>
                <a:lnTo>
                  <a:pt x="2819400" y="1778329"/>
                </a:lnTo>
                <a:lnTo>
                  <a:pt x="2832100" y="1775864"/>
                </a:lnTo>
                <a:close/>
              </a:path>
              <a:path w="3302000" h="2092325">
                <a:moveTo>
                  <a:pt x="2844800" y="1768421"/>
                </a:moveTo>
                <a:lnTo>
                  <a:pt x="2844800" y="323630"/>
                </a:lnTo>
                <a:lnTo>
                  <a:pt x="2832100" y="321141"/>
                </a:lnTo>
                <a:lnTo>
                  <a:pt x="2832100" y="1770910"/>
                </a:lnTo>
                <a:lnTo>
                  <a:pt x="2844800" y="1768421"/>
                </a:lnTo>
                <a:close/>
              </a:path>
              <a:path w="3302000" h="2092325">
                <a:moveTo>
                  <a:pt x="2857500" y="1758389"/>
                </a:moveTo>
                <a:lnTo>
                  <a:pt x="2857500" y="333663"/>
                </a:lnTo>
                <a:lnTo>
                  <a:pt x="2844800" y="331143"/>
                </a:lnTo>
                <a:lnTo>
                  <a:pt x="2844800" y="1760909"/>
                </a:lnTo>
                <a:lnTo>
                  <a:pt x="2857500" y="1758389"/>
                </a:lnTo>
                <a:close/>
              </a:path>
              <a:path w="3302000" h="2092325">
                <a:moveTo>
                  <a:pt x="2870200" y="1750783"/>
                </a:moveTo>
                <a:lnTo>
                  <a:pt x="2870200" y="341269"/>
                </a:lnTo>
                <a:lnTo>
                  <a:pt x="2857500" y="338726"/>
                </a:lnTo>
                <a:lnTo>
                  <a:pt x="2857500" y="1753326"/>
                </a:lnTo>
                <a:lnTo>
                  <a:pt x="2870200" y="1750783"/>
                </a:lnTo>
                <a:close/>
              </a:path>
              <a:path w="3302000" h="2092325">
                <a:moveTo>
                  <a:pt x="2882900" y="1743107"/>
                </a:moveTo>
                <a:lnTo>
                  <a:pt x="2882900" y="348944"/>
                </a:lnTo>
                <a:lnTo>
                  <a:pt x="2870200" y="346378"/>
                </a:lnTo>
                <a:lnTo>
                  <a:pt x="2870200" y="1745673"/>
                </a:lnTo>
                <a:lnTo>
                  <a:pt x="2882900" y="1743107"/>
                </a:lnTo>
                <a:close/>
              </a:path>
              <a:path w="3302000" h="2092325">
                <a:moveTo>
                  <a:pt x="2895600" y="1732767"/>
                </a:moveTo>
                <a:lnTo>
                  <a:pt x="2895600" y="359284"/>
                </a:lnTo>
                <a:lnTo>
                  <a:pt x="2882900" y="356688"/>
                </a:lnTo>
                <a:lnTo>
                  <a:pt x="2882900" y="1735364"/>
                </a:lnTo>
                <a:lnTo>
                  <a:pt x="2895600" y="1732767"/>
                </a:lnTo>
                <a:close/>
              </a:path>
              <a:path w="3302000" h="2092325">
                <a:moveTo>
                  <a:pt x="2908300" y="1722307"/>
                </a:moveTo>
                <a:lnTo>
                  <a:pt x="2908300" y="369745"/>
                </a:lnTo>
                <a:lnTo>
                  <a:pt x="2895600" y="367119"/>
                </a:lnTo>
                <a:lnTo>
                  <a:pt x="2895600" y="1724933"/>
                </a:lnTo>
                <a:lnTo>
                  <a:pt x="2908300" y="1722307"/>
                </a:lnTo>
                <a:close/>
              </a:path>
              <a:path w="3302000" h="2092325">
                <a:moveTo>
                  <a:pt x="2921000" y="1714383"/>
                </a:moveTo>
                <a:lnTo>
                  <a:pt x="2921000" y="377669"/>
                </a:lnTo>
                <a:lnTo>
                  <a:pt x="2908300" y="375020"/>
                </a:lnTo>
                <a:lnTo>
                  <a:pt x="2908300" y="1717031"/>
                </a:lnTo>
                <a:lnTo>
                  <a:pt x="2921000" y="1714383"/>
                </a:lnTo>
                <a:close/>
              </a:path>
              <a:path w="3302000" h="2092325">
                <a:moveTo>
                  <a:pt x="2933700" y="1703714"/>
                </a:moveTo>
                <a:lnTo>
                  <a:pt x="2933700" y="388338"/>
                </a:lnTo>
                <a:lnTo>
                  <a:pt x="2921000" y="385659"/>
                </a:lnTo>
                <a:lnTo>
                  <a:pt x="2921000" y="1706393"/>
                </a:lnTo>
                <a:lnTo>
                  <a:pt x="2933700" y="1703714"/>
                </a:lnTo>
                <a:close/>
              </a:path>
              <a:path w="3302000" h="2092325">
                <a:moveTo>
                  <a:pt x="2946400" y="1692929"/>
                </a:moveTo>
                <a:lnTo>
                  <a:pt x="2946400" y="399123"/>
                </a:lnTo>
                <a:lnTo>
                  <a:pt x="2933700" y="396416"/>
                </a:lnTo>
                <a:lnTo>
                  <a:pt x="2933700" y="1695636"/>
                </a:lnTo>
                <a:lnTo>
                  <a:pt x="2946400" y="1692929"/>
                </a:lnTo>
                <a:close/>
              </a:path>
              <a:path w="3302000" h="2092325">
                <a:moveTo>
                  <a:pt x="2959100" y="1684765"/>
                </a:moveTo>
                <a:lnTo>
                  <a:pt x="2959100" y="407288"/>
                </a:lnTo>
                <a:lnTo>
                  <a:pt x="2946400" y="404559"/>
                </a:lnTo>
                <a:lnTo>
                  <a:pt x="2946400" y="1687493"/>
                </a:lnTo>
                <a:lnTo>
                  <a:pt x="2959100" y="1684765"/>
                </a:lnTo>
                <a:close/>
              </a:path>
              <a:path w="3302000" h="2092325">
                <a:moveTo>
                  <a:pt x="2971800" y="1673778"/>
                </a:moveTo>
                <a:lnTo>
                  <a:pt x="2971800" y="418274"/>
                </a:lnTo>
                <a:lnTo>
                  <a:pt x="2959100" y="415517"/>
                </a:lnTo>
                <a:lnTo>
                  <a:pt x="2959100" y="1676536"/>
                </a:lnTo>
                <a:lnTo>
                  <a:pt x="2971800" y="1673778"/>
                </a:lnTo>
                <a:close/>
              </a:path>
              <a:path w="3302000" h="2092325">
                <a:moveTo>
                  <a:pt x="2984500" y="1662679"/>
                </a:moveTo>
                <a:lnTo>
                  <a:pt x="2984500" y="429374"/>
                </a:lnTo>
                <a:lnTo>
                  <a:pt x="2971800" y="426588"/>
                </a:lnTo>
                <a:lnTo>
                  <a:pt x="2971800" y="1665464"/>
                </a:lnTo>
                <a:lnTo>
                  <a:pt x="2984500" y="1662679"/>
                </a:lnTo>
                <a:close/>
              </a:path>
              <a:path w="3302000" h="2092325">
                <a:moveTo>
                  <a:pt x="2997200" y="1651468"/>
                </a:moveTo>
                <a:lnTo>
                  <a:pt x="2997200" y="440585"/>
                </a:lnTo>
                <a:lnTo>
                  <a:pt x="2984500" y="437772"/>
                </a:lnTo>
                <a:lnTo>
                  <a:pt x="2984500" y="1654281"/>
                </a:lnTo>
                <a:lnTo>
                  <a:pt x="2997200" y="1651468"/>
                </a:lnTo>
                <a:close/>
              </a:path>
              <a:path w="3302000" h="2092325">
                <a:moveTo>
                  <a:pt x="3009900" y="1640147"/>
                </a:moveTo>
                <a:lnTo>
                  <a:pt x="3009900" y="451906"/>
                </a:lnTo>
                <a:lnTo>
                  <a:pt x="2997200" y="449066"/>
                </a:lnTo>
                <a:lnTo>
                  <a:pt x="2997200" y="1642987"/>
                </a:lnTo>
                <a:lnTo>
                  <a:pt x="3009900" y="1640147"/>
                </a:lnTo>
                <a:close/>
              </a:path>
              <a:path w="3302000" h="2092325">
                <a:moveTo>
                  <a:pt x="3022600" y="1628716"/>
                </a:moveTo>
                <a:lnTo>
                  <a:pt x="3022600" y="463337"/>
                </a:lnTo>
                <a:lnTo>
                  <a:pt x="3009900" y="460469"/>
                </a:lnTo>
                <a:lnTo>
                  <a:pt x="3009900" y="1631584"/>
                </a:lnTo>
                <a:lnTo>
                  <a:pt x="3022600" y="1628716"/>
                </a:lnTo>
                <a:close/>
              </a:path>
              <a:path w="3302000" h="2092325">
                <a:moveTo>
                  <a:pt x="3035300" y="1617178"/>
                </a:moveTo>
                <a:lnTo>
                  <a:pt x="3035300" y="474875"/>
                </a:lnTo>
                <a:lnTo>
                  <a:pt x="3022600" y="471980"/>
                </a:lnTo>
                <a:lnTo>
                  <a:pt x="3022600" y="1620073"/>
                </a:lnTo>
                <a:lnTo>
                  <a:pt x="3035300" y="1617178"/>
                </a:lnTo>
                <a:close/>
              </a:path>
              <a:path w="3302000" h="2092325">
                <a:moveTo>
                  <a:pt x="3048000" y="1602607"/>
                </a:moveTo>
                <a:lnTo>
                  <a:pt x="3048000" y="489447"/>
                </a:lnTo>
                <a:lnTo>
                  <a:pt x="3035300" y="486519"/>
                </a:lnTo>
                <a:lnTo>
                  <a:pt x="3035300" y="1605534"/>
                </a:lnTo>
                <a:lnTo>
                  <a:pt x="3048000" y="1602607"/>
                </a:lnTo>
                <a:close/>
              </a:path>
              <a:path w="3302000" h="2092325">
                <a:moveTo>
                  <a:pt x="3060700" y="1590832"/>
                </a:moveTo>
                <a:lnTo>
                  <a:pt x="3060700" y="501222"/>
                </a:lnTo>
                <a:lnTo>
                  <a:pt x="3048000" y="498268"/>
                </a:lnTo>
                <a:lnTo>
                  <a:pt x="3048000" y="1593785"/>
                </a:lnTo>
                <a:lnTo>
                  <a:pt x="3060700" y="1590832"/>
                </a:lnTo>
                <a:close/>
              </a:path>
              <a:path w="3302000" h="2092325">
                <a:moveTo>
                  <a:pt x="3073400" y="1575968"/>
                </a:moveTo>
                <a:lnTo>
                  <a:pt x="3073400" y="516086"/>
                </a:lnTo>
                <a:lnTo>
                  <a:pt x="3060700" y="513100"/>
                </a:lnTo>
                <a:lnTo>
                  <a:pt x="3060700" y="1578954"/>
                </a:lnTo>
                <a:lnTo>
                  <a:pt x="3073400" y="1575968"/>
                </a:lnTo>
                <a:close/>
              </a:path>
              <a:path w="3302000" h="2092325">
                <a:moveTo>
                  <a:pt x="3086100" y="1563963"/>
                </a:moveTo>
                <a:lnTo>
                  <a:pt x="3086100" y="528091"/>
                </a:lnTo>
                <a:lnTo>
                  <a:pt x="3073400" y="525080"/>
                </a:lnTo>
                <a:lnTo>
                  <a:pt x="3073400" y="1566973"/>
                </a:lnTo>
                <a:lnTo>
                  <a:pt x="3086100" y="1563963"/>
                </a:lnTo>
                <a:close/>
              </a:path>
              <a:path w="3302000" h="2092325">
                <a:moveTo>
                  <a:pt x="3098800" y="1548816"/>
                </a:moveTo>
                <a:lnTo>
                  <a:pt x="3098800" y="543239"/>
                </a:lnTo>
                <a:lnTo>
                  <a:pt x="3086100" y="540197"/>
                </a:lnTo>
                <a:lnTo>
                  <a:pt x="3086100" y="1551857"/>
                </a:lnTo>
                <a:lnTo>
                  <a:pt x="3098800" y="1548816"/>
                </a:lnTo>
                <a:close/>
              </a:path>
              <a:path w="3302000" h="2092325">
                <a:moveTo>
                  <a:pt x="3111500" y="1533515"/>
                </a:moveTo>
                <a:lnTo>
                  <a:pt x="3111500" y="558540"/>
                </a:lnTo>
                <a:lnTo>
                  <a:pt x="3098800" y="555467"/>
                </a:lnTo>
                <a:lnTo>
                  <a:pt x="3098800" y="1536587"/>
                </a:lnTo>
                <a:lnTo>
                  <a:pt x="3111500" y="1533515"/>
                </a:lnTo>
                <a:close/>
              </a:path>
              <a:path w="3302000" h="2092325">
                <a:moveTo>
                  <a:pt x="3124200" y="1518063"/>
                </a:moveTo>
                <a:lnTo>
                  <a:pt x="3124200" y="573992"/>
                </a:lnTo>
                <a:lnTo>
                  <a:pt x="3111500" y="570890"/>
                </a:lnTo>
                <a:lnTo>
                  <a:pt x="3111500" y="1521165"/>
                </a:lnTo>
                <a:lnTo>
                  <a:pt x="3124200" y="1518063"/>
                </a:lnTo>
                <a:close/>
              </a:path>
              <a:path w="3302000" h="2092325">
                <a:moveTo>
                  <a:pt x="3136900" y="1502462"/>
                </a:moveTo>
                <a:lnTo>
                  <a:pt x="3136900" y="589593"/>
                </a:lnTo>
                <a:lnTo>
                  <a:pt x="3124200" y="586461"/>
                </a:lnTo>
                <a:lnTo>
                  <a:pt x="3124200" y="1505594"/>
                </a:lnTo>
                <a:lnTo>
                  <a:pt x="3136900" y="1502462"/>
                </a:lnTo>
                <a:close/>
              </a:path>
              <a:path w="3302000" h="2092325">
                <a:moveTo>
                  <a:pt x="3149600" y="1486716"/>
                </a:moveTo>
                <a:lnTo>
                  <a:pt x="3149600" y="605339"/>
                </a:lnTo>
                <a:lnTo>
                  <a:pt x="3136900" y="602178"/>
                </a:lnTo>
                <a:lnTo>
                  <a:pt x="3136900" y="1489876"/>
                </a:lnTo>
                <a:lnTo>
                  <a:pt x="3149600" y="1486716"/>
                </a:lnTo>
                <a:close/>
              </a:path>
              <a:path w="3302000" h="2092325">
                <a:moveTo>
                  <a:pt x="3162300" y="1467631"/>
                </a:moveTo>
                <a:lnTo>
                  <a:pt x="3162300" y="624424"/>
                </a:lnTo>
                <a:lnTo>
                  <a:pt x="3149600" y="621229"/>
                </a:lnTo>
                <a:lnTo>
                  <a:pt x="3149600" y="1470826"/>
                </a:lnTo>
                <a:lnTo>
                  <a:pt x="3162300" y="1467631"/>
                </a:lnTo>
                <a:close/>
              </a:path>
              <a:path w="3302000" h="2092325">
                <a:moveTo>
                  <a:pt x="3175000" y="1448346"/>
                </a:moveTo>
                <a:lnTo>
                  <a:pt x="3175000" y="643709"/>
                </a:lnTo>
                <a:lnTo>
                  <a:pt x="3162300" y="640481"/>
                </a:lnTo>
                <a:lnTo>
                  <a:pt x="3162300" y="1451574"/>
                </a:lnTo>
                <a:lnTo>
                  <a:pt x="3175000" y="1448346"/>
                </a:lnTo>
                <a:close/>
              </a:path>
              <a:path w="3302000" h="2092325">
                <a:moveTo>
                  <a:pt x="3187700" y="1428863"/>
                </a:moveTo>
                <a:lnTo>
                  <a:pt x="3187700" y="663192"/>
                </a:lnTo>
                <a:lnTo>
                  <a:pt x="3175000" y="659932"/>
                </a:lnTo>
                <a:lnTo>
                  <a:pt x="3175000" y="1432124"/>
                </a:lnTo>
                <a:lnTo>
                  <a:pt x="3187700" y="1428863"/>
                </a:lnTo>
                <a:close/>
              </a:path>
              <a:path w="3302000" h="2092325">
                <a:moveTo>
                  <a:pt x="3200400" y="1409188"/>
                </a:moveTo>
                <a:lnTo>
                  <a:pt x="3200400" y="682867"/>
                </a:lnTo>
                <a:lnTo>
                  <a:pt x="3187700" y="679575"/>
                </a:lnTo>
                <a:lnTo>
                  <a:pt x="3187700" y="1412480"/>
                </a:lnTo>
                <a:lnTo>
                  <a:pt x="3200400" y="1409188"/>
                </a:lnTo>
                <a:close/>
              </a:path>
              <a:path w="3302000" h="2092325">
                <a:moveTo>
                  <a:pt x="3213100" y="1385997"/>
                </a:moveTo>
                <a:lnTo>
                  <a:pt x="3213100" y="706059"/>
                </a:lnTo>
                <a:lnTo>
                  <a:pt x="3200400" y="702730"/>
                </a:lnTo>
                <a:lnTo>
                  <a:pt x="3200400" y="1389325"/>
                </a:lnTo>
                <a:lnTo>
                  <a:pt x="3213100" y="1385997"/>
                </a:lnTo>
                <a:close/>
              </a:path>
              <a:path w="3302000" h="2092325">
                <a:moveTo>
                  <a:pt x="3225800" y="1362558"/>
                </a:moveTo>
                <a:lnTo>
                  <a:pt x="3225800" y="729498"/>
                </a:lnTo>
                <a:lnTo>
                  <a:pt x="3213100" y="726135"/>
                </a:lnTo>
                <a:lnTo>
                  <a:pt x="3213100" y="1365921"/>
                </a:lnTo>
                <a:lnTo>
                  <a:pt x="3225800" y="1362558"/>
                </a:lnTo>
                <a:close/>
              </a:path>
              <a:path w="3302000" h="2092325">
                <a:moveTo>
                  <a:pt x="3238500" y="1335476"/>
                </a:moveTo>
                <a:lnTo>
                  <a:pt x="3238500" y="756580"/>
                </a:lnTo>
                <a:lnTo>
                  <a:pt x="3225800" y="753178"/>
                </a:lnTo>
                <a:lnTo>
                  <a:pt x="3225800" y="1338878"/>
                </a:lnTo>
                <a:lnTo>
                  <a:pt x="3238500" y="1335476"/>
                </a:lnTo>
                <a:close/>
              </a:path>
              <a:path w="3302000" h="2092325">
                <a:moveTo>
                  <a:pt x="3251200" y="1304646"/>
                </a:moveTo>
                <a:lnTo>
                  <a:pt x="3251200" y="787411"/>
                </a:lnTo>
                <a:lnTo>
                  <a:pt x="3238500" y="783967"/>
                </a:lnTo>
                <a:lnTo>
                  <a:pt x="3238500" y="1308090"/>
                </a:lnTo>
                <a:lnTo>
                  <a:pt x="3251200" y="1304646"/>
                </a:lnTo>
                <a:close/>
              </a:path>
              <a:path w="3302000" h="2092325">
                <a:moveTo>
                  <a:pt x="3263900" y="1273447"/>
                </a:moveTo>
                <a:lnTo>
                  <a:pt x="3263900" y="818610"/>
                </a:lnTo>
                <a:lnTo>
                  <a:pt x="3251200" y="815125"/>
                </a:lnTo>
                <a:lnTo>
                  <a:pt x="3251200" y="1276931"/>
                </a:lnTo>
                <a:lnTo>
                  <a:pt x="3263900" y="1273447"/>
                </a:lnTo>
                <a:close/>
              </a:path>
              <a:path w="3302000" h="2092325">
                <a:moveTo>
                  <a:pt x="3276600" y="1231301"/>
                </a:moveTo>
                <a:lnTo>
                  <a:pt x="3276600" y="860755"/>
                </a:lnTo>
                <a:lnTo>
                  <a:pt x="3263900" y="857220"/>
                </a:lnTo>
                <a:lnTo>
                  <a:pt x="3263900" y="1234836"/>
                </a:lnTo>
                <a:lnTo>
                  <a:pt x="3276600" y="1231301"/>
                </a:lnTo>
                <a:close/>
              </a:path>
              <a:path w="3302000" h="2092325">
                <a:moveTo>
                  <a:pt x="3289300" y="1181386"/>
                </a:moveTo>
                <a:lnTo>
                  <a:pt x="3289300" y="910670"/>
                </a:lnTo>
                <a:lnTo>
                  <a:pt x="3276600" y="907080"/>
                </a:lnTo>
                <a:lnTo>
                  <a:pt x="3276600" y="1184977"/>
                </a:lnTo>
                <a:lnTo>
                  <a:pt x="3289300" y="1181386"/>
                </a:lnTo>
                <a:close/>
              </a:path>
              <a:path w="3302000" h="2092325">
                <a:moveTo>
                  <a:pt x="3302000" y="1086751"/>
                </a:moveTo>
                <a:lnTo>
                  <a:pt x="3302000" y="1005306"/>
                </a:lnTo>
                <a:lnTo>
                  <a:pt x="3289300" y="1001623"/>
                </a:lnTo>
                <a:lnTo>
                  <a:pt x="3289300" y="1090434"/>
                </a:lnTo>
                <a:lnTo>
                  <a:pt x="3302000" y="1086751"/>
                </a:lnTo>
                <a:close/>
              </a:path>
            </a:pathLst>
          </a:custGeom>
          <a:solidFill>
            <a:srgbClr val="00B100"/>
          </a:solidFill>
        </p:spPr>
        <p:txBody>
          <a:bodyPr wrap="square" lIns="0" tIns="0" rIns="0" bIns="0" rtlCol="0"/>
          <a:lstStyle/>
          <a:p>
            <a:endParaRPr/>
          </a:p>
        </p:txBody>
      </p:sp>
      <p:sp>
        <p:nvSpPr>
          <p:cNvPr id="7" name="object 7"/>
          <p:cNvSpPr/>
          <p:nvPr/>
        </p:nvSpPr>
        <p:spPr>
          <a:xfrm>
            <a:off x="3374050" y="2661910"/>
            <a:ext cx="4248153" cy="2253732"/>
          </a:xfrm>
          <a:prstGeom prst="rect">
            <a:avLst/>
          </a:prstGeom>
          <a:blipFill>
            <a:blip r:embed="rId5" cstate="print"/>
            <a:stretch>
              <a:fillRect/>
            </a:stretch>
          </a:blipFill>
        </p:spPr>
        <p:txBody>
          <a:bodyPr wrap="square" lIns="0" tIns="0" rIns="0" bIns="0" rtlCol="0"/>
          <a:lstStyle/>
          <a:p>
            <a:endParaRPr/>
          </a:p>
        </p:txBody>
      </p:sp>
      <p:sp>
        <p:nvSpPr>
          <p:cNvPr id="8" name="object 8"/>
          <p:cNvSpPr txBox="1"/>
          <p:nvPr/>
        </p:nvSpPr>
        <p:spPr>
          <a:xfrm>
            <a:off x="7619822" y="5893104"/>
            <a:ext cx="763270" cy="467995"/>
          </a:xfrm>
          <a:prstGeom prst="rect">
            <a:avLst/>
          </a:prstGeom>
        </p:spPr>
        <p:txBody>
          <a:bodyPr vert="horz" wrap="square" lIns="0" tIns="0" rIns="0" bIns="0" rtlCol="0">
            <a:spAutoFit/>
          </a:bodyPr>
          <a:lstStyle/>
          <a:p>
            <a:pPr marL="29209" marR="5080" indent="-17145">
              <a:lnSpc>
                <a:spcPts val="1820"/>
              </a:lnSpc>
            </a:pPr>
            <a:r>
              <a:rPr sz="1550" dirty="0">
                <a:latin typeface="Times New Roman"/>
                <a:cs typeface="Times New Roman"/>
              </a:rPr>
              <a:t>inductive  invariant</a:t>
            </a:r>
            <a:endParaRPr sz="1550">
              <a:latin typeface="Times New Roman"/>
              <a:cs typeface="Times New Roman"/>
            </a:endParaRPr>
          </a:p>
        </p:txBody>
      </p:sp>
      <p:sp>
        <p:nvSpPr>
          <p:cNvPr id="9" name="object 9"/>
          <p:cNvSpPr/>
          <p:nvPr/>
        </p:nvSpPr>
        <p:spPr>
          <a:xfrm>
            <a:off x="6514884" y="2177986"/>
            <a:ext cx="161290" cy="321945"/>
          </a:xfrm>
          <a:custGeom>
            <a:avLst/>
            <a:gdLst/>
            <a:ahLst/>
            <a:cxnLst/>
            <a:rect l="l" t="t" r="r" b="b"/>
            <a:pathLst>
              <a:path w="161290" h="321944">
                <a:moveTo>
                  <a:pt x="0" y="321525"/>
                </a:moveTo>
                <a:lnTo>
                  <a:pt x="160762" y="0"/>
                </a:lnTo>
              </a:path>
            </a:pathLst>
          </a:custGeom>
          <a:ln w="33032">
            <a:solidFill>
              <a:srgbClr val="FFA0A0"/>
            </a:solidFill>
          </a:ln>
        </p:spPr>
        <p:txBody>
          <a:bodyPr wrap="square" lIns="0" tIns="0" rIns="0" bIns="0" rtlCol="0"/>
          <a:lstStyle/>
          <a:p>
            <a:endParaRPr/>
          </a:p>
        </p:txBody>
      </p:sp>
      <p:sp>
        <p:nvSpPr>
          <p:cNvPr id="10" name="object 10"/>
          <p:cNvSpPr/>
          <p:nvPr/>
        </p:nvSpPr>
        <p:spPr>
          <a:xfrm>
            <a:off x="6675646" y="1903769"/>
            <a:ext cx="137160" cy="274320"/>
          </a:xfrm>
          <a:custGeom>
            <a:avLst/>
            <a:gdLst/>
            <a:ahLst/>
            <a:cxnLst/>
            <a:rect l="l" t="t" r="r" b="b"/>
            <a:pathLst>
              <a:path w="137159" h="274319">
                <a:moveTo>
                  <a:pt x="0" y="274216"/>
                </a:moveTo>
                <a:lnTo>
                  <a:pt x="137108" y="0"/>
                </a:lnTo>
              </a:path>
            </a:pathLst>
          </a:custGeom>
          <a:ln w="33032">
            <a:solidFill>
              <a:srgbClr val="FFA0A0"/>
            </a:solidFill>
          </a:ln>
        </p:spPr>
        <p:txBody>
          <a:bodyPr wrap="square" lIns="0" tIns="0" rIns="0" bIns="0" rtlCol="0"/>
          <a:lstStyle/>
          <a:p>
            <a:endParaRPr/>
          </a:p>
        </p:txBody>
      </p:sp>
      <p:sp>
        <p:nvSpPr>
          <p:cNvPr id="11" name="object 11"/>
          <p:cNvSpPr/>
          <p:nvPr/>
        </p:nvSpPr>
        <p:spPr>
          <a:xfrm>
            <a:off x="6577279" y="1902726"/>
            <a:ext cx="236854" cy="354330"/>
          </a:xfrm>
          <a:custGeom>
            <a:avLst/>
            <a:gdLst/>
            <a:ahLst/>
            <a:cxnLst/>
            <a:rect l="l" t="t" r="r" b="b"/>
            <a:pathLst>
              <a:path w="236854" h="354330">
                <a:moveTo>
                  <a:pt x="236372" y="0"/>
                </a:moveTo>
                <a:lnTo>
                  <a:pt x="0" y="275259"/>
                </a:lnTo>
                <a:lnTo>
                  <a:pt x="157086" y="353809"/>
                </a:lnTo>
                <a:lnTo>
                  <a:pt x="236372" y="0"/>
                </a:lnTo>
                <a:close/>
              </a:path>
            </a:pathLst>
          </a:custGeom>
          <a:solidFill>
            <a:srgbClr val="FFA0A0"/>
          </a:solidFill>
        </p:spPr>
        <p:txBody>
          <a:bodyPr wrap="square" lIns="0" tIns="0" rIns="0" bIns="0" rtlCol="0"/>
          <a:lstStyle/>
          <a:p>
            <a:endParaRPr/>
          </a:p>
        </p:txBody>
      </p:sp>
      <p:sp>
        <p:nvSpPr>
          <p:cNvPr id="12" name="object 12"/>
          <p:cNvSpPr/>
          <p:nvPr/>
        </p:nvSpPr>
        <p:spPr>
          <a:xfrm>
            <a:off x="6577279" y="1902726"/>
            <a:ext cx="236854" cy="354330"/>
          </a:xfrm>
          <a:custGeom>
            <a:avLst/>
            <a:gdLst/>
            <a:ahLst/>
            <a:cxnLst/>
            <a:rect l="l" t="t" r="r" b="b"/>
            <a:pathLst>
              <a:path w="236854" h="354330">
                <a:moveTo>
                  <a:pt x="157086" y="353809"/>
                </a:moveTo>
                <a:lnTo>
                  <a:pt x="236372" y="0"/>
                </a:lnTo>
                <a:lnTo>
                  <a:pt x="0" y="275259"/>
                </a:lnTo>
                <a:lnTo>
                  <a:pt x="157086" y="353809"/>
                </a:lnTo>
                <a:close/>
              </a:path>
            </a:pathLst>
          </a:custGeom>
          <a:ln w="33032">
            <a:solidFill>
              <a:srgbClr val="FFA0A0"/>
            </a:solidFill>
          </a:ln>
        </p:spPr>
        <p:txBody>
          <a:bodyPr wrap="square" lIns="0" tIns="0" rIns="0" bIns="0" rtlCol="0"/>
          <a:lstStyle/>
          <a:p>
            <a:endParaRPr/>
          </a:p>
        </p:txBody>
      </p:sp>
      <p:sp>
        <p:nvSpPr>
          <p:cNvPr id="13" name="object 13"/>
          <p:cNvSpPr txBox="1"/>
          <p:nvPr/>
        </p:nvSpPr>
        <p:spPr>
          <a:xfrm>
            <a:off x="4266565" y="1457794"/>
            <a:ext cx="1524000" cy="2308860"/>
          </a:xfrm>
          <a:prstGeom prst="rect">
            <a:avLst/>
          </a:prstGeom>
        </p:spPr>
        <p:txBody>
          <a:bodyPr vert="horz" wrap="square" lIns="0" tIns="0" rIns="0" bIns="0" rtlCol="0">
            <a:spAutoFit/>
          </a:bodyPr>
          <a:lstStyle/>
          <a:p>
            <a:pPr algn="ctr">
              <a:lnSpc>
                <a:spcPct val="100000"/>
              </a:lnSpc>
            </a:pPr>
            <a:r>
              <a:rPr sz="1700" b="1" spc="10" dirty="0">
                <a:solidFill>
                  <a:srgbClr val="FFE0E0"/>
                </a:solidFill>
                <a:latin typeface="Times New Roman"/>
                <a:cs typeface="Times New Roman"/>
              </a:rPr>
              <a:t>all</a:t>
            </a:r>
            <a:r>
              <a:rPr sz="1700" b="1" spc="-70" dirty="0">
                <a:solidFill>
                  <a:srgbClr val="FFE0E0"/>
                </a:solidFill>
                <a:latin typeface="Times New Roman"/>
                <a:cs typeface="Times New Roman"/>
              </a:rPr>
              <a:t> </a:t>
            </a:r>
            <a:r>
              <a:rPr sz="1700" b="1" spc="10" dirty="0">
                <a:solidFill>
                  <a:srgbClr val="FFE0E0"/>
                </a:solidFill>
                <a:latin typeface="Times New Roman"/>
                <a:cs typeface="Times New Roman"/>
              </a:rPr>
              <a:t>states</a:t>
            </a:r>
            <a:endParaRPr sz="1700">
              <a:latin typeface="Times New Roman"/>
              <a:cs typeface="Times New Roman"/>
            </a:endParaRPr>
          </a:p>
          <a:p>
            <a:pPr>
              <a:lnSpc>
                <a:spcPct val="100000"/>
              </a:lnSpc>
              <a:spcBef>
                <a:spcPts val="26"/>
              </a:spcBef>
            </a:pPr>
            <a:endParaRPr sz="2350">
              <a:latin typeface="Times New Roman"/>
              <a:cs typeface="Times New Roman"/>
            </a:endParaRPr>
          </a:p>
          <a:p>
            <a:pPr algn="ctr">
              <a:lnSpc>
                <a:spcPct val="100000"/>
              </a:lnSpc>
            </a:pPr>
            <a:r>
              <a:rPr sz="1700" b="1" spc="15" dirty="0">
                <a:latin typeface="Times New Roman"/>
                <a:cs typeface="Times New Roman"/>
              </a:rPr>
              <a:t>invariant</a:t>
            </a:r>
            <a:endParaRPr sz="1700">
              <a:latin typeface="Times New Roman"/>
              <a:cs typeface="Times New Roman"/>
            </a:endParaRPr>
          </a:p>
          <a:p>
            <a:pPr>
              <a:lnSpc>
                <a:spcPct val="100000"/>
              </a:lnSpc>
              <a:spcBef>
                <a:spcPts val="10"/>
              </a:spcBef>
            </a:pPr>
            <a:endParaRPr sz="1500">
              <a:latin typeface="Times New Roman"/>
              <a:cs typeface="Times New Roman"/>
            </a:endParaRPr>
          </a:p>
          <a:p>
            <a:pPr marL="12065" marR="5080" algn="ctr">
              <a:lnSpc>
                <a:spcPct val="233700"/>
              </a:lnSpc>
            </a:pPr>
            <a:r>
              <a:rPr sz="1700" b="1" spc="15" dirty="0">
                <a:solidFill>
                  <a:srgbClr val="FFE0E0"/>
                </a:solidFill>
                <a:latin typeface="Times New Roman"/>
                <a:cs typeface="Times New Roman"/>
              </a:rPr>
              <a:t>reachable</a:t>
            </a:r>
            <a:r>
              <a:rPr sz="1700" b="1" spc="-70" dirty="0">
                <a:solidFill>
                  <a:srgbClr val="FFE0E0"/>
                </a:solidFill>
                <a:latin typeface="Times New Roman"/>
                <a:cs typeface="Times New Roman"/>
              </a:rPr>
              <a:t> </a:t>
            </a:r>
            <a:r>
              <a:rPr sz="1700" b="1" spc="10" dirty="0">
                <a:solidFill>
                  <a:srgbClr val="FFE0E0"/>
                </a:solidFill>
                <a:latin typeface="Times New Roman"/>
                <a:cs typeface="Times New Roman"/>
              </a:rPr>
              <a:t>states </a:t>
            </a:r>
            <a:r>
              <a:rPr sz="1700" b="1" spc="5" dirty="0">
                <a:solidFill>
                  <a:srgbClr val="FFE0E0"/>
                </a:solidFill>
                <a:latin typeface="Times New Roman"/>
                <a:cs typeface="Times New Roman"/>
              </a:rPr>
              <a:t> </a:t>
            </a:r>
            <a:r>
              <a:rPr sz="1700" b="1" spc="10" dirty="0">
                <a:solidFill>
                  <a:srgbClr val="FFE0E0"/>
                </a:solidFill>
                <a:latin typeface="Times New Roman"/>
                <a:cs typeface="Times New Roman"/>
              </a:rPr>
              <a:t>initial</a:t>
            </a:r>
            <a:r>
              <a:rPr sz="1700" b="1" spc="-60" dirty="0">
                <a:solidFill>
                  <a:srgbClr val="FFE0E0"/>
                </a:solidFill>
                <a:latin typeface="Times New Roman"/>
                <a:cs typeface="Times New Roman"/>
              </a:rPr>
              <a:t> </a:t>
            </a:r>
            <a:r>
              <a:rPr sz="1700" b="1" spc="10" dirty="0">
                <a:solidFill>
                  <a:srgbClr val="FFE0E0"/>
                </a:solidFill>
                <a:latin typeface="Times New Roman"/>
                <a:cs typeface="Times New Roman"/>
              </a:rPr>
              <a:t>states</a:t>
            </a:r>
            <a:endParaRPr sz="1700">
              <a:latin typeface="Times New Roman"/>
              <a:cs typeface="Times New Roman"/>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2046808"/>
            <a:ext cx="7736840" cy="2695575"/>
          </a:xfrm>
          <a:prstGeom prst="rect">
            <a:avLst/>
          </a:prstGeom>
        </p:spPr>
        <p:txBody>
          <a:bodyPr vert="horz" wrap="square" lIns="0" tIns="0" rIns="0" bIns="0" rtlCol="0">
            <a:spAutoFit/>
          </a:bodyPr>
          <a:lstStyle/>
          <a:p>
            <a:pPr marL="548640">
              <a:lnSpc>
                <a:spcPct val="100000"/>
              </a:lnSpc>
            </a:pPr>
            <a:r>
              <a:rPr sz="1950" spc="260" dirty="0">
                <a:solidFill>
                  <a:srgbClr val="231F20"/>
                </a:solidFill>
                <a:latin typeface="Arial"/>
                <a:cs typeface="Arial"/>
              </a:rPr>
              <a:t>Strengthening </a:t>
            </a:r>
            <a:r>
              <a:rPr sz="1950" spc="215" dirty="0">
                <a:solidFill>
                  <a:srgbClr val="231F20"/>
                </a:solidFill>
                <a:latin typeface="Arial"/>
                <a:cs typeface="Arial"/>
              </a:rPr>
              <a:t>Invariants </a:t>
            </a:r>
            <a:r>
              <a:rPr sz="1950" spc="400" dirty="0">
                <a:solidFill>
                  <a:srgbClr val="231F20"/>
                </a:solidFill>
                <a:latin typeface="Arial"/>
                <a:cs typeface="Arial"/>
              </a:rPr>
              <a:t>To </a:t>
            </a:r>
            <a:r>
              <a:rPr sz="1950" spc="290" dirty="0">
                <a:solidFill>
                  <a:srgbClr val="231F20"/>
                </a:solidFill>
                <a:latin typeface="Arial"/>
                <a:cs typeface="Arial"/>
              </a:rPr>
              <a:t>Make </a:t>
            </a:r>
            <a:r>
              <a:rPr sz="1950" spc="415" dirty="0">
                <a:solidFill>
                  <a:srgbClr val="231F20"/>
                </a:solidFill>
                <a:latin typeface="Arial"/>
                <a:cs typeface="Arial"/>
              </a:rPr>
              <a:t>Them</a:t>
            </a:r>
            <a:r>
              <a:rPr sz="1950" spc="660" dirty="0">
                <a:solidFill>
                  <a:srgbClr val="231F20"/>
                </a:solidFill>
                <a:latin typeface="Arial"/>
                <a:cs typeface="Arial"/>
              </a:rPr>
              <a:t> </a:t>
            </a:r>
            <a:r>
              <a:rPr sz="1950" spc="240" dirty="0">
                <a:solidFill>
                  <a:srgbClr val="231F20"/>
                </a:solidFill>
                <a:latin typeface="Arial"/>
                <a:cs typeface="Arial"/>
              </a:rPr>
              <a:t>Inductive</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155" dirty="0">
                <a:solidFill>
                  <a:srgbClr val="231F20"/>
                </a:solidFill>
                <a:latin typeface="Arial"/>
                <a:cs typeface="Arial"/>
              </a:rPr>
              <a:t>Postulate </a:t>
            </a:r>
            <a:r>
              <a:rPr sz="1950" spc="85" dirty="0">
                <a:solidFill>
                  <a:srgbClr val="231F20"/>
                </a:solidFill>
                <a:latin typeface="Arial"/>
                <a:cs typeface="Arial"/>
              </a:rPr>
              <a:t>a </a:t>
            </a:r>
            <a:r>
              <a:rPr sz="1950" spc="135" dirty="0">
                <a:solidFill>
                  <a:srgbClr val="231F20"/>
                </a:solidFill>
                <a:latin typeface="Arial"/>
                <a:cs typeface="Arial"/>
              </a:rPr>
              <a:t>new </a:t>
            </a:r>
            <a:r>
              <a:rPr sz="1950" spc="140" dirty="0">
                <a:solidFill>
                  <a:srgbClr val="231F20"/>
                </a:solidFill>
                <a:latin typeface="Arial"/>
                <a:cs typeface="Arial"/>
              </a:rPr>
              <a:t>invariant </a:t>
            </a:r>
            <a:r>
              <a:rPr sz="1950" spc="235" dirty="0">
                <a:solidFill>
                  <a:srgbClr val="231F20"/>
                </a:solidFill>
                <a:latin typeface="Arial"/>
                <a:cs typeface="Arial"/>
              </a:rPr>
              <a:t>that </a:t>
            </a:r>
            <a:r>
              <a:rPr sz="1950" spc="80" dirty="0">
                <a:solidFill>
                  <a:srgbClr val="231F20"/>
                </a:solidFill>
                <a:latin typeface="Arial"/>
                <a:cs typeface="Arial"/>
              </a:rPr>
              <a:t>excludes </a:t>
            </a:r>
            <a:r>
              <a:rPr sz="1950" spc="175" dirty="0">
                <a:solidFill>
                  <a:srgbClr val="231F20"/>
                </a:solidFill>
                <a:latin typeface="Arial"/>
                <a:cs typeface="Arial"/>
              </a:rPr>
              <a:t>the </a:t>
            </a:r>
            <a:r>
              <a:rPr sz="1950" spc="125" dirty="0">
                <a:solidFill>
                  <a:srgbClr val="231F20"/>
                </a:solidFill>
                <a:latin typeface="Arial"/>
                <a:cs typeface="Arial"/>
              </a:rPr>
              <a:t>states </a:t>
            </a:r>
            <a:r>
              <a:rPr sz="1950" spc="145" dirty="0">
                <a:solidFill>
                  <a:srgbClr val="231F20"/>
                </a:solidFill>
                <a:latin typeface="Arial"/>
                <a:cs typeface="Arial"/>
              </a:rPr>
              <a:t>(so </a:t>
            </a:r>
            <a:r>
              <a:rPr sz="1950" spc="135" dirty="0">
                <a:solidFill>
                  <a:srgbClr val="231F20"/>
                </a:solidFill>
                <a:latin typeface="Arial"/>
                <a:cs typeface="Arial"/>
              </a:rPr>
              <a:t>far  </a:t>
            </a:r>
            <a:r>
              <a:rPr sz="1950" spc="114" dirty="0">
                <a:solidFill>
                  <a:srgbClr val="231F20"/>
                </a:solidFill>
                <a:latin typeface="Arial"/>
                <a:cs typeface="Arial"/>
              </a:rPr>
              <a:t>discovered) </a:t>
            </a:r>
            <a:r>
              <a:rPr sz="1950" spc="235" dirty="0">
                <a:solidFill>
                  <a:srgbClr val="231F20"/>
                </a:solidFill>
                <a:latin typeface="Arial"/>
                <a:cs typeface="Arial"/>
              </a:rPr>
              <a:t>that </a:t>
            </a:r>
            <a:r>
              <a:rPr sz="1950" spc="145" dirty="0">
                <a:solidFill>
                  <a:srgbClr val="231F20"/>
                </a:solidFill>
                <a:latin typeface="Arial"/>
                <a:cs typeface="Arial"/>
              </a:rPr>
              <a:t>take </a:t>
            </a:r>
            <a:r>
              <a:rPr sz="1950" spc="120" dirty="0">
                <a:solidFill>
                  <a:srgbClr val="231F20"/>
                </a:solidFill>
                <a:latin typeface="Arial"/>
                <a:cs typeface="Arial"/>
              </a:rPr>
              <a:t>you </a:t>
            </a:r>
            <a:r>
              <a:rPr sz="1950" spc="130" dirty="0">
                <a:solidFill>
                  <a:srgbClr val="231F20"/>
                </a:solidFill>
                <a:latin typeface="Arial"/>
                <a:cs typeface="Arial"/>
              </a:rPr>
              <a:t>outside </a:t>
            </a:r>
            <a:r>
              <a:rPr sz="1950" spc="175" dirty="0">
                <a:solidFill>
                  <a:srgbClr val="231F20"/>
                </a:solidFill>
                <a:latin typeface="Arial"/>
                <a:cs typeface="Arial"/>
              </a:rPr>
              <a:t>the </a:t>
            </a:r>
            <a:r>
              <a:rPr sz="1950" spc="85" dirty="0">
                <a:solidFill>
                  <a:srgbClr val="231F20"/>
                </a:solidFill>
                <a:latin typeface="Arial"/>
                <a:cs typeface="Arial"/>
              </a:rPr>
              <a:t>desired </a:t>
            </a:r>
            <a:r>
              <a:rPr sz="1950" spc="440" dirty="0">
                <a:solidFill>
                  <a:srgbClr val="231F20"/>
                </a:solidFill>
                <a:latin typeface="Arial"/>
                <a:cs typeface="Arial"/>
              </a:rPr>
              <a:t> </a:t>
            </a:r>
            <a:r>
              <a:rPr sz="1950" spc="140" dirty="0">
                <a:solidFill>
                  <a:srgbClr val="231F20"/>
                </a:solidFill>
                <a:latin typeface="Arial"/>
                <a:cs typeface="Arial"/>
              </a:rPr>
              <a:t>invariant</a:t>
            </a:r>
            <a:endParaRPr sz="1950">
              <a:latin typeface="Arial"/>
              <a:cs typeface="Arial"/>
            </a:endParaRPr>
          </a:p>
          <a:p>
            <a:pPr marL="300990" marR="422275" indent="-288290">
              <a:lnSpc>
                <a:spcPct val="125000"/>
              </a:lnSpc>
              <a:spcBef>
                <a:spcPts val="1340"/>
              </a:spcBef>
              <a:buSzPct val="105128"/>
              <a:buFont typeface="Lucida Sans Unicode"/>
              <a:buChar char="•"/>
              <a:tabLst>
                <a:tab pos="301625" algn="l"/>
              </a:tabLst>
            </a:pPr>
            <a:r>
              <a:rPr sz="1950" spc="140" dirty="0">
                <a:solidFill>
                  <a:srgbClr val="231F20"/>
                </a:solidFill>
                <a:latin typeface="Arial"/>
                <a:cs typeface="Arial"/>
              </a:rPr>
              <a:t>Show </a:t>
            </a:r>
            <a:r>
              <a:rPr sz="1950" spc="235" dirty="0">
                <a:solidFill>
                  <a:srgbClr val="231F20"/>
                </a:solidFill>
                <a:latin typeface="Arial"/>
                <a:cs typeface="Arial"/>
              </a:rPr>
              <a:t>that </a:t>
            </a:r>
            <a:r>
              <a:rPr sz="1950" spc="175" dirty="0">
                <a:solidFill>
                  <a:srgbClr val="231F20"/>
                </a:solidFill>
                <a:latin typeface="Arial"/>
                <a:cs typeface="Arial"/>
              </a:rPr>
              <a:t>the </a:t>
            </a:r>
            <a:r>
              <a:rPr sz="1950" spc="165" dirty="0">
                <a:solidFill>
                  <a:srgbClr val="FF0000"/>
                </a:solidFill>
                <a:latin typeface="Arial"/>
                <a:cs typeface="Arial"/>
              </a:rPr>
              <a:t>conjunction </a:t>
            </a:r>
            <a:r>
              <a:rPr sz="1950" spc="185" dirty="0">
                <a:solidFill>
                  <a:srgbClr val="231F20"/>
                </a:solidFill>
                <a:latin typeface="Arial"/>
                <a:cs typeface="Arial"/>
              </a:rPr>
              <a:t>of </a:t>
            </a:r>
            <a:r>
              <a:rPr sz="1950" spc="175" dirty="0">
                <a:solidFill>
                  <a:srgbClr val="231F20"/>
                </a:solidFill>
                <a:latin typeface="Arial"/>
                <a:cs typeface="Arial"/>
              </a:rPr>
              <a:t>the </a:t>
            </a:r>
            <a:r>
              <a:rPr sz="1950" spc="135" dirty="0">
                <a:solidFill>
                  <a:srgbClr val="231F20"/>
                </a:solidFill>
                <a:latin typeface="Arial"/>
                <a:cs typeface="Arial"/>
              </a:rPr>
              <a:t>new </a:t>
            </a:r>
            <a:r>
              <a:rPr sz="1950" spc="130" dirty="0">
                <a:solidFill>
                  <a:srgbClr val="231F20"/>
                </a:solidFill>
                <a:latin typeface="Arial"/>
                <a:cs typeface="Arial"/>
              </a:rPr>
              <a:t>and </a:t>
            </a:r>
            <a:r>
              <a:rPr sz="1950" spc="175" dirty="0">
                <a:solidFill>
                  <a:srgbClr val="231F20"/>
                </a:solidFill>
                <a:latin typeface="Arial"/>
                <a:cs typeface="Arial"/>
              </a:rPr>
              <a:t>the </a:t>
            </a:r>
            <a:r>
              <a:rPr sz="1950" spc="85" dirty="0">
                <a:solidFill>
                  <a:srgbClr val="231F20"/>
                </a:solidFill>
                <a:latin typeface="Arial"/>
                <a:cs typeface="Arial"/>
              </a:rPr>
              <a:t>desired  </a:t>
            </a:r>
            <a:r>
              <a:rPr sz="1950" spc="140" dirty="0">
                <a:solidFill>
                  <a:srgbClr val="231F20"/>
                </a:solidFill>
                <a:latin typeface="Arial"/>
                <a:cs typeface="Arial"/>
              </a:rPr>
              <a:t>invariant </a:t>
            </a:r>
            <a:r>
              <a:rPr sz="1950" spc="40" dirty="0">
                <a:solidFill>
                  <a:srgbClr val="231F20"/>
                </a:solidFill>
                <a:latin typeface="Arial"/>
                <a:cs typeface="Arial"/>
              </a:rPr>
              <a:t>is</a:t>
            </a:r>
            <a:r>
              <a:rPr sz="1950" spc="360" dirty="0">
                <a:solidFill>
                  <a:srgbClr val="231F20"/>
                </a:solidFill>
                <a:latin typeface="Arial"/>
                <a:cs typeface="Arial"/>
              </a:rPr>
              <a:t> </a:t>
            </a:r>
            <a:r>
              <a:rPr sz="1950" spc="145" dirty="0">
                <a:solidFill>
                  <a:srgbClr val="231F20"/>
                </a:solidFill>
                <a:latin typeface="Arial"/>
                <a:cs typeface="Arial"/>
              </a:rPr>
              <a:t>inductive</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55" dirty="0">
                <a:solidFill>
                  <a:srgbClr val="0000FF"/>
                </a:solidFill>
                <a:latin typeface="Arial"/>
                <a:cs typeface="Arial"/>
              </a:rPr>
              <a:t>Iterate </a:t>
            </a:r>
            <a:r>
              <a:rPr sz="1950" spc="175" dirty="0">
                <a:solidFill>
                  <a:srgbClr val="0000FF"/>
                </a:solidFill>
                <a:latin typeface="Arial"/>
                <a:cs typeface="Arial"/>
              </a:rPr>
              <a:t>until </a:t>
            </a:r>
            <a:r>
              <a:rPr sz="1950" spc="45" dirty="0">
                <a:solidFill>
                  <a:srgbClr val="0000FF"/>
                </a:solidFill>
                <a:latin typeface="Arial"/>
                <a:cs typeface="Arial"/>
              </a:rPr>
              <a:t>success </a:t>
            </a:r>
            <a:r>
              <a:rPr sz="1950" spc="130" dirty="0">
                <a:solidFill>
                  <a:srgbClr val="0000FF"/>
                </a:solidFill>
                <a:latin typeface="Arial"/>
                <a:cs typeface="Arial"/>
              </a:rPr>
              <a:t>or</a:t>
            </a:r>
            <a:r>
              <a:rPr sz="1950" spc="725" dirty="0">
                <a:solidFill>
                  <a:srgbClr val="0000FF"/>
                </a:solidFill>
                <a:latin typeface="Arial"/>
                <a:cs typeface="Arial"/>
              </a:rPr>
              <a:t> </a:t>
            </a:r>
            <a:r>
              <a:rPr sz="1950" spc="120" dirty="0">
                <a:solidFill>
                  <a:srgbClr val="0000FF"/>
                </a:solidFill>
                <a:latin typeface="Arial"/>
                <a:cs typeface="Arial"/>
              </a:rPr>
              <a:t>exasperation</a:t>
            </a:r>
            <a:endParaRPr sz="1950">
              <a:latin typeface="Arial"/>
              <a:cs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27997" y="475981"/>
            <a:ext cx="4403725" cy="314960"/>
          </a:xfrm>
          <a:prstGeom prst="rect">
            <a:avLst/>
          </a:prstGeom>
        </p:spPr>
        <p:txBody>
          <a:bodyPr vert="horz" wrap="square" lIns="0" tIns="0" rIns="0" bIns="0" rtlCol="0">
            <a:spAutoFit/>
          </a:bodyPr>
          <a:lstStyle/>
          <a:p>
            <a:pPr marL="12700">
              <a:lnSpc>
                <a:spcPct val="100000"/>
              </a:lnSpc>
            </a:pPr>
            <a:r>
              <a:rPr sz="1950" spc="240" dirty="0">
                <a:solidFill>
                  <a:srgbClr val="231F20"/>
                </a:solidFill>
                <a:latin typeface="Arial"/>
                <a:cs typeface="Arial"/>
              </a:rPr>
              <a:t>Inductive </a:t>
            </a:r>
            <a:r>
              <a:rPr sz="1950" spc="215" dirty="0">
                <a:solidFill>
                  <a:srgbClr val="231F20"/>
                </a:solidFill>
                <a:latin typeface="Arial"/>
                <a:cs typeface="Arial"/>
              </a:rPr>
              <a:t>Invariants </a:t>
            </a:r>
            <a:r>
              <a:rPr sz="1950" spc="220" dirty="0">
                <a:solidFill>
                  <a:srgbClr val="231F20"/>
                </a:solidFill>
                <a:latin typeface="Arial"/>
                <a:cs typeface="Arial"/>
              </a:rPr>
              <a:t>In</a:t>
            </a:r>
            <a:r>
              <a:rPr sz="1950" spc="605" dirty="0">
                <a:solidFill>
                  <a:srgbClr val="231F20"/>
                </a:solidFill>
                <a:latin typeface="Arial"/>
                <a:cs typeface="Arial"/>
              </a:rPr>
              <a:t> </a:t>
            </a:r>
            <a:r>
              <a:rPr sz="1950" spc="245" dirty="0">
                <a:solidFill>
                  <a:srgbClr val="231F20"/>
                </a:solidFill>
                <a:latin typeface="Arial"/>
                <a:cs typeface="Arial"/>
              </a:rPr>
              <a:t>Pictures</a:t>
            </a:r>
            <a:endParaRPr sz="1950">
              <a:latin typeface="Arial"/>
              <a:cs typeface="Arial"/>
            </a:endParaRPr>
          </a:p>
        </p:txBody>
      </p:sp>
      <p:sp>
        <p:nvSpPr>
          <p:cNvPr id="3" name="object 3"/>
          <p:cNvSpPr/>
          <p:nvPr/>
        </p:nvSpPr>
        <p:spPr>
          <a:xfrm>
            <a:off x="1443877" y="1290766"/>
            <a:ext cx="7169069" cy="5008685"/>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2296670" y="1972997"/>
            <a:ext cx="5463497" cy="3772909"/>
          </a:xfrm>
          <a:prstGeom prst="rect">
            <a:avLst/>
          </a:prstGeom>
          <a:blipFill>
            <a:blip r:embed="rId3" cstate="print"/>
            <a:stretch>
              <a:fillRect/>
            </a:stretch>
          </a:blipFill>
        </p:spPr>
        <p:txBody>
          <a:bodyPr wrap="square" lIns="0" tIns="0" rIns="0" bIns="0" rtlCol="0"/>
          <a:lstStyle/>
          <a:p>
            <a:endParaRPr/>
          </a:p>
        </p:txBody>
      </p:sp>
      <p:sp>
        <p:nvSpPr>
          <p:cNvPr id="5" name="object 5"/>
          <p:cNvSpPr/>
          <p:nvPr/>
        </p:nvSpPr>
        <p:spPr>
          <a:xfrm>
            <a:off x="3322863" y="2714923"/>
            <a:ext cx="3403600" cy="2160905"/>
          </a:xfrm>
          <a:custGeom>
            <a:avLst/>
            <a:gdLst/>
            <a:ahLst/>
            <a:cxnLst/>
            <a:rect l="l" t="t" r="r" b="b"/>
            <a:pathLst>
              <a:path w="3403600" h="2160904">
                <a:moveTo>
                  <a:pt x="12700" y="1215688"/>
                </a:moveTo>
                <a:lnTo>
                  <a:pt x="12700" y="944695"/>
                </a:lnTo>
                <a:lnTo>
                  <a:pt x="0" y="948296"/>
                </a:lnTo>
                <a:lnTo>
                  <a:pt x="0" y="1212087"/>
                </a:lnTo>
                <a:lnTo>
                  <a:pt x="12700" y="1215688"/>
                </a:lnTo>
                <a:close/>
              </a:path>
              <a:path w="3403600" h="2160904">
                <a:moveTo>
                  <a:pt x="25400" y="1269245"/>
                </a:moveTo>
                <a:lnTo>
                  <a:pt x="25400" y="891138"/>
                </a:lnTo>
                <a:lnTo>
                  <a:pt x="12700" y="894681"/>
                </a:lnTo>
                <a:lnTo>
                  <a:pt x="12700" y="1265702"/>
                </a:lnTo>
                <a:lnTo>
                  <a:pt x="25400" y="1269245"/>
                </a:lnTo>
                <a:close/>
              </a:path>
              <a:path w="3403600" h="2160904">
                <a:moveTo>
                  <a:pt x="38100" y="1311451"/>
                </a:moveTo>
                <a:lnTo>
                  <a:pt x="38100" y="848932"/>
                </a:lnTo>
                <a:lnTo>
                  <a:pt x="25400" y="852426"/>
                </a:lnTo>
                <a:lnTo>
                  <a:pt x="25400" y="1307957"/>
                </a:lnTo>
                <a:lnTo>
                  <a:pt x="38100" y="1311451"/>
                </a:lnTo>
                <a:close/>
              </a:path>
              <a:path w="3403600" h="2160904">
                <a:moveTo>
                  <a:pt x="50800" y="1346162"/>
                </a:moveTo>
                <a:lnTo>
                  <a:pt x="50800" y="814221"/>
                </a:lnTo>
                <a:lnTo>
                  <a:pt x="38100" y="817673"/>
                </a:lnTo>
                <a:lnTo>
                  <a:pt x="38100" y="1342710"/>
                </a:lnTo>
                <a:lnTo>
                  <a:pt x="50800" y="1346162"/>
                </a:lnTo>
                <a:close/>
              </a:path>
              <a:path w="3403600" h="2160904">
                <a:moveTo>
                  <a:pt x="63500" y="1373613"/>
                </a:moveTo>
                <a:lnTo>
                  <a:pt x="63500" y="786769"/>
                </a:lnTo>
                <a:lnTo>
                  <a:pt x="50800" y="790185"/>
                </a:lnTo>
                <a:lnTo>
                  <a:pt x="50800" y="1370198"/>
                </a:lnTo>
                <a:lnTo>
                  <a:pt x="63500" y="1373613"/>
                </a:lnTo>
                <a:close/>
              </a:path>
              <a:path w="3403600" h="2160904">
                <a:moveTo>
                  <a:pt x="76200" y="1400773"/>
                </a:moveTo>
                <a:lnTo>
                  <a:pt x="76200" y="759609"/>
                </a:lnTo>
                <a:lnTo>
                  <a:pt x="63500" y="762988"/>
                </a:lnTo>
                <a:lnTo>
                  <a:pt x="63500" y="1397394"/>
                </a:lnTo>
                <a:lnTo>
                  <a:pt x="76200" y="1400773"/>
                </a:lnTo>
                <a:close/>
              </a:path>
              <a:path w="3403600" h="2160904">
                <a:moveTo>
                  <a:pt x="88900" y="1427630"/>
                </a:moveTo>
                <a:lnTo>
                  <a:pt x="88900" y="732752"/>
                </a:lnTo>
                <a:lnTo>
                  <a:pt x="76200" y="736093"/>
                </a:lnTo>
                <a:lnTo>
                  <a:pt x="76200" y="1424290"/>
                </a:lnTo>
                <a:lnTo>
                  <a:pt x="88900" y="1427630"/>
                </a:lnTo>
                <a:close/>
              </a:path>
              <a:path w="3403600" h="2160904">
                <a:moveTo>
                  <a:pt x="101600" y="1450873"/>
                </a:moveTo>
                <a:lnTo>
                  <a:pt x="101600" y="709509"/>
                </a:lnTo>
                <a:lnTo>
                  <a:pt x="88900" y="712814"/>
                </a:lnTo>
                <a:lnTo>
                  <a:pt x="88900" y="1447568"/>
                </a:lnTo>
                <a:lnTo>
                  <a:pt x="101600" y="1450873"/>
                </a:lnTo>
                <a:close/>
              </a:path>
              <a:path w="3403600" h="2160904">
                <a:moveTo>
                  <a:pt x="114300" y="1470600"/>
                </a:moveTo>
                <a:lnTo>
                  <a:pt x="114300" y="689781"/>
                </a:lnTo>
                <a:lnTo>
                  <a:pt x="101600" y="693056"/>
                </a:lnTo>
                <a:lnTo>
                  <a:pt x="101600" y="1467325"/>
                </a:lnTo>
                <a:lnTo>
                  <a:pt x="114300" y="1470600"/>
                </a:lnTo>
                <a:close/>
              </a:path>
              <a:path w="3403600" h="2160904">
                <a:moveTo>
                  <a:pt x="127000" y="1490142"/>
                </a:moveTo>
                <a:lnTo>
                  <a:pt x="127000" y="670239"/>
                </a:lnTo>
                <a:lnTo>
                  <a:pt x="114300" y="673483"/>
                </a:lnTo>
                <a:lnTo>
                  <a:pt x="114300" y="1486898"/>
                </a:lnTo>
                <a:lnTo>
                  <a:pt x="127000" y="1490142"/>
                </a:lnTo>
                <a:close/>
              </a:path>
              <a:path w="3403600" h="2160904">
                <a:moveTo>
                  <a:pt x="139700" y="1509495"/>
                </a:moveTo>
                <a:lnTo>
                  <a:pt x="139700" y="650887"/>
                </a:lnTo>
                <a:lnTo>
                  <a:pt x="127000" y="654099"/>
                </a:lnTo>
                <a:lnTo>
                  <a:pt x="127000" y="1506283"/>
                </a:lnTo>
                <a:lnTo>
                  <a:pt x="139700" y="1509495"/>
                </a:lnTo>
                <a:close/>
              </a:path>
              <a:path w="3403600" h="2160904">
                <a:moveTo>
                  <a:pt x="152400" y="1528653"/>
                </a:moveTo>
                <a:lnTo>
                  <a:pt x="152400" y="631728"/>
                </a:lnTo>
                <a:lnTo>
                  <a:pt x="139700" y="634908"/>
                </a:lnTo>
                <a:lnTo>
                  <a:pt x="139700" y="1525474"/>
                </a:lnTo>
                <a:lnTo>
                  <a:pt x="152400" y="1528653"/>
                </a:lnTo>
                <a:close/>
              </a:path>
              <a:path w="3403600" h="2160904">
                <a:moveTo>
                  <a:pt x="165100" y="1544467"/>
                </a:moveTo>
                <a:lnTo>
                  <a:pt x="165100" y="615914"/>
                </a:lnTo>
                <a:lnTo>
                  <a:pt x="152400" y="619066"/>
                </a:lnTo>
                <a:lnTo>
                  <a:pt x="152400" y="1541315"/>
                </a:lnTo>
                <a:lnTo>
                  <a:pt x="165100" y="1544467"/>
                </a:lnTo>
                <a:close/>
              </a:path>
              <a:path w="3403600" h="2160904">
                <a:moveTo>
                  <a:pt x="177800" y="1563258"/>
                </a:moveTo>
                <a:lnTo>
                  <a:pt x="177800" y="597122"/>
                </a:lnTo>
                <a:lnTo>
                  <a:pt x="165100" y="600240"/>
                </a:lnTo>
                <a:lnTo>
                  <a:pt x="165100" y="1560141"/>
                </a:lnTo>
                <a:lnTo>
                  <a:pt x="177800" y="1563258"/>
                </a:lnTo>
                <a:close/>
              </a:path>
              <a:path w="3403600" h="2160904">
                <a:moveTo>
                  <a:pt x="190500" y="1578761"/>
                </a:moveTo>
                <a:lnTo>
                  <a:pt x="190500" y="581620"/>
                </a:lnTo>
                <a:lnTo>
                  <a:pt x="177800" y="584709"/>
                </a:lnTo>
                <a:lnTo>
                  <a:pt x="177800" y="1575672"/>
                </a:lnTo>
                <a:lnTo>
                  <a:pt x="190500" y="1578761"/>
                </a:lnTo>
                <a:close/>
              </a:path>
              <a:path w="3403600" h="2160904">
                <a:moveTo>
                  <a:pt x="203200" y="1594117"/>
                </a:moveTo>
                <a:lnTo>
                  <a:pt x="203200" y="566263"/>
                </a:lnTo>
                <a:lnTo>
                  <a:pt x="190500" y="569323"/>
                </a:lnTo>
                <a:lnTo>
                  <a:pt x="190500" y="1591058"/>
                </a:lnTo>
                <a:lnTo>
                  <a:pt x="203200" y="1594117"/>
                </a:lnTo>
                <a:close/>
              </a:path>
              <a:path w="3403600" h="2160904">
                <a:moveTo>
                  <a:pt x="215900" y="1609326"/>
                </a:moveTo>
                <a:lnTo>
                  <a:pt x="215900" y="551055"/>
                </a:lnTo>
                <a:lnTo>
                  <a:pt x="203200" y="554084"/>
                </a:lnTo>
                <a:lnTo>
                  <a:pt x="203200" y="1606296"/>
                </a:lnTo>
                <a:lnTo>
                  <a:pt x="215900" y="1609326"/>
                </a:lnTo>
                <a:close/>
              </a:path>
              <a:path w="3403600" h="2160904">
                <a:moveTo>
                  <a:pt x="228600" y="1621384"/>
                </a:moveTo>
                <a:lnTo>
                  <a:pt x="228600" y="538996"/>
                </a:lnTo>
                <a:lnTo>
                  <a:pt x="215900" y="542002"/>
                </a:lnTo>
                <a:lnTo>
                  <a:pt x="215900" y="1618379"/>
                </a:lnTo>
                <a:lnTo>
                  <a:pt x="228600" y="1621384"/>
                </a:lnTo>
                <a:close/>
              </a:path>
              <a:path w="3403600" h="2160904">
                <a:moveTo>
                  <a:pt x="241300" y="1636320"/>
                </a:moveTo>
                <a:lnTo>
                  <a:pt x="241300" y="524060"/>
                </a:lnTo>
                <a:lnTo>
                  <a:pt x="228600" y="527035"/>
                </a:lnTo>
                <a:lnTo>
                  <a:pt x="228600" y="1633345"/>
                </a:lnTo>
                <a:lnTo>
                  <a:pt x="241300" y="1636320"/>
                </a:lnTo>
                <a:close/>
              </a:path>
              <a:path w="3403600" h="2160904">
                <a:moveTo>
                  <a:pt x="254000" y="1648156"/>
                </a:moveTo>
                <a:lnTo>
                  <a:pt x="254000" y="512223"/>
                </a:lnTo>
                <a:lnTo>
                  <a:pt x="241300" y="515173"/>
                </a:lnTo>
                <a:lnTo>
                  <a:pt x="241300" y="1645207"/>
                </a:lnTo>
                <a:lnTo>
                  <a:pt x="254000" y="1648156"/>
                </a:lnTo>
                <a:close/>
              </a:path>
              <a:path w="3403600" h="2160904">
                <a:moveTo>
                  <a:pt x="266700" y="1662811"/>
                </a:moveTo>
                <a:lnTo>
                  <a:pt x="266700" y="497569"/>
                </a:lnTo>
                <a:lnTo>
                  <a:pt x="254000" y="500487"/>
                </a:lnTo>
                <a:lnTo>
                  <a:pt x="254000" y="1659893"/>
                </a:lnTo>
                <a:lnTo>
                  <a:pt x="266700" y="1662811"/>
                </a:lnTo>
                <a:close/>
              </a:path>
              <a:path w="3403600" h="2160904">
                <a:moveTo>
                  <a:pt x="279400" y="1674419"/>
                </a:moveTo>
                <a:lnTo>
                  <a:pt x="279400" y="485960"/>
                </a:lnTo>
                <a:lnTo>
                  <a:pt x="266700" y="488853"/>
                </a:lnTo>
                <a:lnTo>
                  <a:pt x="266700" y="1671527"/>
                </a:lnTo>
                <a:lnTo>
                  <a:pt x="279400" y="1674419"/>
                </a:lnTo>
                <a:close/>
              </a:path>
              <a:path w="3403600" h="2160904">
                <a:moveTo>
                  <a:pt x="292100" y="1685925"/>
                </a:moveTo>
                <a:lnTo>
                  <a:pt x="292100" y="474455"/>
                </a:lnTo>
                <a:lnTo>
                  <a:pt x="279400" y="477321"/>
                </a:lnTo>
                <a:lnTo>
                  <a:pt x="279400" y="1683058"/>
                </a:lnTo>
                <a:lnTo>
                  <a:pt x="292100" y="1685925"/>
                </a:lnTo>
                <a:close/>
              </a:path>
              <a:path w="3403600" h="2160904">
                <a:moveTo>
                  <a:pt x="304800" y="1697325"/>
                </a:moveTo>
                <a:lnTo>
                  <a:pt x="304800" y="463054"/>
                </a:lnTo>
                <a:lnTo>
                  <a:pt x="292100" y="465895"/>
                </a:lnTo>
                <a:lnTo>
                  <a:pt x="292100" y="1694485"/>
                </a:lnTo>
                <a:lnTo>
                  <a:pt x="304800" y="1697325"/>
                </a:lnTo>
                <a:close/>
              </a:path>
              <a:path w="3403600" h="2160904">
                <a:moveTo>
                  <a:pt x="317500" y="1708619"/>
                </a:moveTo>
                <a:lnTo>
                  <a:pt x="317500" y="451760"/>
                </a:lnTo>
                <a:lnTo>
                  <a:pt x="304800" y="454573"/>
                </a:lnTo>
                <a:lnTo>
                  <a:pt x="304800" y="1705806"/>
                </a:lnTo>
                <a:lnTo>
                  <a:pt x="317500" y="1708619"/>
                </a:lnTo>
                <a:close/>
              </a:path>
              <a:path w="3403600" h="2160904">
                <a:moveTo>
                  <a:pt x="330200" y="1719806"/>
                </a:moveTo>
                <a:lnTo>
                  <a:pt x="330200" y="440573"/>
                </a:lnTo>
                <a:lnTo>
                  <a:pt x="317500" y="443359"/>
                </a:lnTo>
                <a:lnTo>
                  <a:pt x="317500" y="1717020"/>
                </a:lnTo>
                <a:lnTo>
                  <a:pt x="330200" y="1719806"/>
                </a:lnTo>
                <a:close/>
              </a:path>
              <a:path w="3403600" h="2160904">
                <a:moveTo>
                  <a:pt x="342900" y="1730885"/>
                </a:moveTo>
                <a:lnTo>
                  <a:pt x="342900" y="429494"/>
                </a:lnTo>
                <a:lnTo>
                  <a:pt x="330200" y="432253"/>
                </a:lnTo>
                <a:lnTo>
                  <a:pt x="330200" y="1728126"/>
                </a:lnTo>
                <a:lnTo>
                  <a:pt x="342900" y="1730885"/>
                </a:lnTo>
                <a:close/>
              </a:path>
              <a:path w="3403600" h="2160904">
                <a:moveTo>
                  <a:pt x="355600" y="1741854"/>
                </a:moveTo>
                <a:lnTo>
                  <a:pt x="355600" y="418525"/>
                </a:lnTo>
                <a:lnTo>
                  <a:pt x="342900" y="421257"/>
                </a:lnTo>
                <a:lnTo>
                  <a:pt x="342900" y="1739122"/>
                </a:lnTo>
                <a:lnTo>
                  <a:pt x="355600" y="1741854"/>
                </a:lnTo>
                <a:close/>
              </a:path>
              <a:path w="3403600" h="2160904">
                <a:moveTo>
                  <a:pt x="368300" y="1752711"/>
                </a:moveTo>
                <a:lnTo>
                  <a:pt x="368300" y="407667"/>
                </a:lnTo>
                <a:lnTo>
                  <a:pt x="355600" y="410371"/>
                </a:lnTo>
                <a:lnTo>
                  <a:pt x="355600" y="1750007"/>
                </a:lnTo>
                <a:lnTo>
                  <a:pt x="368300" y="1752711"/>
                </a:lnTo>
                <a:close/>
              </a:path>
              <a:path w="3403600" h="2160904">
                <a:moveTo>
                  <a:pt x="381000" y="1760781"/>
                </a:moveTo>
                <a:lnTo>
                  <a:pt x="381000" y="399598"/>
                </a:lnTo>
                <a:lnTo>
                  <a:pt x="368300" y="402281"/>
                </a:lnTo>
                <a:lnTo>
                  <a:pt x="368300" y="1758098"/>
                </a:lnTo>
                <a:lnTo>
                  <a:pt x="381000" y="1760781"/>
                </a:lnTo>
                <a:close/>
              </a:path>
              <a:path w="3403600" h="2160904">
                <a:moveTo>
                  <a:pt x="393700" y="1771441"/>
                </a:moveTo>
                <a:lnTo>
                  <a:pt x="393700" y="388938"/>
                </a:lnTo>
                <a:lnTo>
                  <a:pt x="381000" y="391592"/>
                </a:lnTo>
                <a:lnTo>
                  <a:pt x="381000" y="1768786"/>
                </a:lnTo>
                <a:lnTo>
                  <a:pt x="393700" y="1771441"/>
                </a:lnTo>
                <a:close/>
              </a:path>
              <a:path w="3403600" h="2160904">
                <a:moveTo>
                  <a:pt x="406400" y="1781986"/>
                </a:moveTo>
                <a:lnTo>
                  <a:pt x="406400" y="378392"/>
                </a:lnTo>
                <a:lnTo>
                  <a:pt x="393700" y="381018"/>
                </a:lnTo>
                <a:lnTo>
                  <a:pt x="393700" y="1779360"/>
                </a:lnTo>
                <a:lnTo>
                  <a:pt x="406400" y="1781986"/>
                </a:lnTo>
                <a:close/>
              </a:path>
              <a:path w="3403600" h="2160904">
                <a:moveTo>
                  <a:pt x="419100" y="1789819"/>
                </a:moveTo>
                <a:lnTo>
                  <a:pt x="419100" y="370559"/>
                </a:lnTo>
                <a:lnTo>
                  <a:pt x="406400" y="373163"/>
                </a:lnTo>
                <a:lnTo>
                  <a:pt x="406400" y="1787215"/>
                </a:lnTo>
                <a:lnTo>
                  <a:pt x="419100" y="1789819"/>
                </a:lnTo>
                <a:close/>
              </a:path>
              <a:path w="3403600" h="2160904">
                <a:moveTo>
                  <a:pt x="431800" y="1800160"/>
                </a:moveTo>
                <a:lnTo>
                  <a:pt x="431800" y="360217"/>
                </a:lnTo>
                <a:lnTo>
                  <a:pt x="419100" y="362792"/>
                </a:lnTo>
                <a:lnTo>
                  <a:pt x="419100" y="1797586"/>
                </a:lnTo>
                <a:lnTo>
                  <a:pt x="431800" y="1800160"/>
                </a:lnTo>
                <a:close/>
              </a:path>
              <a:path w="3403600" h="2160904">
                <a:moveTo>
                  <a:pt x="444500" y="1807839"/>
                </a:moveTo>
                <a:lnTo>
                  <a:pt x="444500" y="352539"/>
                </a:lnTo>
                <a:lnTo>
                  <a:pt x="431800" y="355091"/>
                </a:lnTo>
                <a:lnTo>
                  <a:pt x="431800" y="1805287"/>
                </a:lnTo>
                <a:lnTo>
                  <a:pt x="444500" y="1807839"/>
                </a:lnTo>
                <a:close/>
              </a:path>
              <a:path w="3403600" h="2160904">
                <a:moveTo>
                  <a:pt x="457200" y="1817973"/>
                </a:moveTo>
                <a:lnTo>
                  <a:pt x="457200" y="342405"/>
                </a:lnTo>
                <a:lnTo>
                  <a:pt x="444500" y="344927"/>
                </a:lnTo>
                <a:lnTo>
                  <a:pt x="444500" y="1815451"/>
                </a:lnTo>
                <a:lnTo>
                  <a:pt x="457200" y="1817973"/>
                </a:lnTo>
                <a:close/>
              </a:path>
              <a:path w="3403600" h="2160904">
                <a:moveTo>
                  <a:pt x="469900" y="1825494"/>
                </a:moveTo>
                <a:lnTo>
                  <a:pt x="469900" y="334883"/>
                </a:lnTo>
                <a:lnTo>
                  <a:pt x="457200" y="337383"/>
                </a:lnTo>
                <a:lnTo>
                  <a:pt x="457200" y="1822995"/>
                </a:lnTo>
                <a:lnTo>
                  <a:pt x="469900" y="1825494"/>
                </a:lnTo>
                <a:close/>
              </a:path>
              <a:path w="3403600" h="2160904">
                <a:moveTo>
                  <a:pt x="482600" y="1835417"/>
                </a:moveTo>
                <a:lnTo>
                  <a:pt x="482600" y="324960"/>
                </a:lnTo>
                <a:lnTo>
                  <a:pt x="469900" y="327430"/>
                </a:lnTo>
                <a:lnTo>
                  <a:pt x="469900" y="1832948"/>
                </a:lnTo>
                <a:lnTo>
                  <a:pt x="482600" y="1835417"/>
                </a:lnTo>
                <a:close/>
              </a:path>
              <a:path w="3403600" h="2160904">
                <a:moveTo>
                  <a:pt x="495300" y="1842778"/>
                </a:moveTo>
                <a:lnTo>
                  <a:pt x="495300" y="317599"/>
                </a:lnTo>
                <a:lnTo>
                  <a:pt x="482600" y="320045"/>
                </a:lnTo>
                <a:lnTo>
                  <a:pt x="482600" y="1840332"/>
                </a:lnTo>
                <a:lnTo>
                  <a:pt x="495300" y="1842778"/>
                </a:lnTo>
                <a:close/>
              </a:path>
              <a:path w="3403600" h="2160904">
                <a:moveTo>
                  <a:pt x="508000" y="1850070"/>
                </a:moveTo>
                <a:lnTo>
                  <a:pt x="508000" y="310307"/>
                </a:lnTo>
                <a:lnTo>
                  <a:pt x="495300" y="312730"/>
                </a:lnTo>
                <a:lnTo>
                  <a:pt x="495300" y="1847647"/>
                </a:lnTo>
                <a:lnTo>
                  <a:pt x="508000" y="1850070"/>
                </a:lnTo>
                <a:close/>
              </a:path>
              <a:path w="3403600" h="2160904">
                <a:moveTo>
                  <a:pt x="520700" y="1857292"/>
                </a:moveTo>
                <a:lnTo>
                  <a:pt x="520700" y="303085"/>
                </a:lnTo>
                <a:lnTo>
                  <a:pt x="508000" y="305485"/>
                </a:lnTo>
                <a:lnTo>
                  <a:pt x="508000" y="1854892"/>
                </a:lnTo>
                <a:lnTo>
                  <a:pt x="520700" y="1857292"/>
                </a:lnTo>
                <a:close/>
              </a:path>
              <a:path w="3403600" h="2160904">
                <a:moveTo>
                  <a:pt x="533400" y="1866811"/>
                </a:moveTo>
                <a:lnTo>
                  <a:pt x="533400" y="293566"/>
                </a:lnTo>
                <a:lnTo>
                  <a:pt x="520700" y="295934"/>
                </a:lnTo>
                <a:lnTo>
                  <a:pt x="520700" y="1864443"/>
                </a:lnTo>
                <a:lnTo>
                  <a:pt x="533400" y="1866811"/>
                </a:lnTo>
                <a:close/>
              </a:path>
              <a:path w="3403600" h="2160904">
                <a:moveTo>
                  <a:pt x="546100" y="1873867"/>
                </a:moveTo>
                <a:lnTo>
                  <a:pt x="546100" y="286510"/>
                </a:lnTo>
                <a:lnTo>
                  <a:pt x="533400" y="288854"/>
                </a:lnTo>
                <a:lnTo>
                  <a:pt x="533400" y="1871523"/>
                </a:lnTo>
                <a:lnTo>
                  <a:pt x="546100" y="1873867"/>
                </a:lnTo>
                <a:close/>
              </a:path>
              <a:path w="3403600" h="2160904">
                <a:moveTo>
                  <a:pt x="558800" y="1880851"/>
                </a:moveTo>
                <a:lnTo>
                  <a:pt x="558800" y="279525"/>
                </a:lnTo>
                <a:lnTo>
                  <a:pt x="546100" y="281845"/>
                </a:lnTo>
                <a:lnTo>
                  <a:pt x="546100" y="1878531"/>
                </a:lnTo>
                <a:lnTo>
                  <a:pt x="558800" y="1880851"/>
                </a:lnTo>
                <a:close/>
              </a:path>
              <a:path w="3403600" h="2160904">
                <a:moveTo>
                  <a:pt x="571500" y="1887763"/>
                </a:moveTo>
                <a:lnTo>
                  <a:pt x="571500" y="272613"/>
                </a:lnTo>
                <a:lnTo>
                  <a:pt x="558800" y="274909"/>
                </a:lnTo>
                <a:lnTo>
                  <a:pt x="558800" y="1885467"/>
                </a:lnTo>
                <a:lnTo>
                  <a:pt x="571500" y="1887763"/>
                </a:lnTo>
                <a:close/>
              </a:path>
              <a:path w="3403600" h="2160904">
                <a:moveTo>
                  <a:pt x="584200" y="1894602"/>
                </a:moveTo>
                <a:lnTo>
                  <a:pt x="584200" y="265774"/>
                </a:lnTo>
                <a:lnTo>
                  <a:pt x="571500" y="268046"/>
                </a:lnTo>
                <a:lnTo>
                  <a:pt x="571500" y="1892331"/>
                </a:lnTo>
                <a:lnTo>
                  <a:pt x="584200" y="1894602"/>
                </a:lnTo>
                <a:close/>
              </a:path>
              <a:path w="3403600" h="2160904">
                <a:moveTo>
                  <a:pt x="596900" y="1901368"/>
                </a:moveTo>
                <a:lnTo>
                  <a:pt x="596900" y="259009"/>
                </a:lnTo>
                <a:lnTo>
                  <a:pt x="584200" y="261256"/>
                </a:lnTo>
                <a:lnTo>
                  <a:pt x="584200" y="1899121"/>
                </a:lnTo>
                <a:lnTo>
                  <a:pt x="596900" y="1901368"/>
                </a:lnTo>
                <a:close/>
              </a:path>
              <a:path w="3403600" h="2160904">
                <a:moveTo>
                  <a:pt x="609600" y="1908059"/>
                </a:moveTo>
                <a:lnTo>
                  <a:pt x="609600" y="252317"/>
                </a:lnTo>
                <a:lnTo>
                  <a:pt x="596900" y="254539"/>
                </a:lnTo>
                <a:lnTo>
                  <a:pt x="596900" y="1905837"/>
                </a:lnTo>
                <a:lnTo>
                  <a:pt x="609600" y="1908059"/>
                </a:lnTo>
                <a:close/>
              </a:path>
              <a:path w="3403600" h="2160904">
                <a:moveTo>
                  <a:pt x="622300" y="1914676"/>
                </a:moveTo>
                <a:lnTo>
                  <a:pt x="622300" y="245700"/>
                </a:lnTo>
                <a:lnTo>
                  <a:pt x="609600" y="247897"/>
                </a:lnTo>
                <a:lnTo>
                  <a:pt x="609600" y="1912479"/>
                </a:lnTo>
                <a:lnTo>
                  <a:pt x="622300" y="1914676"/>
                </a:lnTo>
                <a:close/>
              </a:path>
              <a:path w="3403600" h="2160904">
                <a:moveTo>
                  <a:pt x="635000" y="1921218"/>
                </a:moveTo>
                <a:lnTo>
                  <a:pt x="635000" y="239158"/>
                </a:lnTo>
                <a:lnTo>
                  <a:pt x="622300" y="241331"/>
                </a:lnTo>
                <a:lnTo>
                  <a:pt x="622300" y="1919045"/>
                </a:lnTo>
                <a:lnTo>
                  <a:pt x="635000" y="1921218"/>
                </a:lnTo>
                <a:close/>
              </a:path>
              <a:path w="3403600" h="2160904">
                <a:moveTo>
                  <a:pt x="647700" y="1927684"/>
                </a:moveTo>
                <a:lnTo>
                  <a:pt x="647700" y="232692"/>
                </a:lnTo>
                <a:lnTo>
                  <a:pt x="635000" y="234839"/>
                </a:lnTo>
                <a:lnTo>
                  <a:pt x="635000" y="1925537"/>
                </a:lnTo>
                <a:lnTo>
                  <a:pt x="647700" y="1927684"/>
                </a:lnTo>
                <a:close/>
              </a:path>
              <a:path w="3403600" h="2160904">
                <a:moveTo>
                  <a:pt x="660400" y="1934074"/>
                </a:moveTo>
                <a:lnTo>
                  <a:pt x="660400" y="226302"/>
                </a:lnTo>
                <a:lnTo>
                  <a:pt x="647700" y="228424"/>
                </a:lnTo>
                <a:lnTo>
                  <a:pt x="647700" y="1931952"/>
                </a:lnTo>
                <a:lnTo>
                  <a:pt x="660400" y="1934074"/>
                </a:lnTo>
                <a:close/>
              </a:path>
              <a:path w="3403600" h="2160904">
                <a:moveTo>
                  <a:pt x="673100" y="1940387"/>
                </a:moveTo>
                <a:lnTo>
                  <a:pt x="673100" y="219989"/>
                </a:lnTo>
                <a:lnTo>
                  <a:pt x="660400" y="222085"/>
                </a:lnTo>
                <a:lnTo>
                  <a:pt x="660400" y="1938291"/>
                </a:lnTo>
                <a:lnTo>
                  <a:pt x="673100" y="1940387"/>
                </a:lnTo>
                <a:close/>
              </a:path>
              <a:path w="3403600" h="2160904">
                <a:moveTo>
                  <a:pt x="685800" y="1946623"/>
                </a:moveTo>
                <a:lnTo>
                  <a:pt x="685800" y="213753"/>
                </a:lnTo>
                <a:lnTo>
                  <a:pt x="673100" y="215823"/>
                </a:lnTo>
                <a:lnTo>
                  <a:pt x="673100" y="1944553"/>
                </a:lnTo>
                <a:lnTo>
                  <a:pt x="685800" y="1946623"/>
                </a:lnTo>
                <a:close/>
              </a:path>
              <a:path w="3403600" h="2160904">
                <a:moveTo>
                  <a:pt x="698500" y="1952781"/>
                </a:moveTo>
                <a:lnTo>
                  <a:pt x="698500" y="207594"/>
                </a:lnTo>
                <a:lnTo>
                  <a:pt x="685800" y="209638"/>
                </a:lnTo>
                <a:lnTo>
                  <a:pt x="685800" y="1950737"/>
                </a:lnTo>
                <a:lnTo>
                  <a:pt x="698500" y="1952781"/>
                </a:lnTo>
                <a:close/>
              </a:path>
              <a:path w="3403600" h="2160904">
                <a:moveTo>
                  <a:pt x="711200" y="1958861"/>
                </a:moveTo>
                <a:lnTo>
                  <a:pt x="711200" y="201515"/>
                </a:lnTo>
                <a:lnTo>
                  <a:pt x="698500" y="203532"/>
                </a:lnTo>
                <a:lnTo>
                  <a:pt x="698500" y="1956843"/>
                </a:lnTo>
                <a:lnTo>
                  <a:pt x="711200" y="1958861"/>
                </a:lnTo>
                <a:close/>
              </a:path>
              <a:path w="3403600" h="2160904">
                <a:moveTo>
                  <a:pt x="723900" y="1964862"/>
                </a:moveTo>
                <a:lnTo>
                  <a:pt x="723900" y="195514"/>
                </a:lnTo>
                <a:lnTo>
                  <a:pt x="711200" y="197505"/>
                </a:lnTo>
                <a:lnTo>
                  <a:pt x="711200" y="1962870"/>
                </a:lnTo>
                <a:lnTo>
                  <a:pt x="723900" y="1964862"/>
                </a:lnTo>
                <a:close/>
              </a:path>
              <a:path w="3403600" h="2160904">
                <a:moveTo>
                  <a:pt x="736600" y="1970783"/>
                </a:moveTo>
                <a:lnTo>
                  <a:pt x="736600" y="189592"/>
                </a:lnTo>
                <a:lnTo>
                  <a:pt x="723900" y="191557"/>
                </a:lnTo>
                <a:lnTo>
                  <a:pt x="723900" y="1968818"/>
                </a:lnTo>
                <a:lnTo>
                  <a:pt x="736600" y="1970783"/>
                </a:lnTo>
                <a:close/>
              </a:path>
              <a:path w="3403600" h="2160904">
                <a:moveTo>
                  <a:pt x="749300" y="1976624"/>
                </a:moveTo>
                <a:lnTo>
                  <a:pt x="749300" y="183750"/>
                </a:lnTo>
                <a:lnTo>
                  <a:pt x="736600" y="185689"/>
                </a:lnTo>
                <a:lnTo>
                  <a:pt x="736600" y="1974686"/>
                </a:lnTo>
                <a:lnTo>
                  <a:pt x="749300" y="1976624"/>
                </a:lnTo>
                <a:close/>
              </a:path>
              <a:path w="3403600" h="2160904">
                <a:moveTo>
                  <a:pt x="762000" y="1980474"/>
                </a:moveTo>
                <a:lnTo>
                  <a:pt x="762000" y="179901"/>
                </a:lnTo>
                <a:lnTo>
                  <a:pt x="749300" y="181821"/>
                </a:lnTo>
                <a:lnTo>
                  <a:pt x="749300" y="1978554"/>
                </a:lnTo>
                <a:lnTo>
                  <a:pt x="762000" y="1980474"/>
                </a:lnTo>
                <a:close/>
              </a:path>
              <a:path w="3403600" h="2160904">
                <a:moveTo>
                  <a:pt x="774700" y="1986181"/>
                </a:moveTo>
                <a:lnTo>
                  <a:pt x="774700" y="174193"/>
                </a:lnTo>
                <a:lnTo>
                  <a:pt x="762000" y="176087"/>
                </a:lnTo>
                <a:lnTo>
                  <a:pt x="762000" y="1984288"/>
                </a:lnTo>
                <a:lnTo>
                  <a:pt x="774700" y="1986181"/>
                </a:lnTo>
                <a:close/>
              </a:path>
              <a:path w="3403600" h="2160904">
                <a:moveTo>
                  <a:pt x="787400" y="1991807"/>
                </a:moveTo>
                <a:lnTo>
                  <a:pt x="787400" y="168568"/>
                </a:lnTo>
                <a:lnTo>
                  <a:pt x="774700" y="170434"/>
                </a:lnTo>
                <a:lnTo>
                  <a:pt x="774700" y="1989941"/>
                </a:lnTo>
                <a:lnTo>
                  <a:pt x="787400" y="1991807"/>
                </a:lnTo>
                <a:close/>
              </a:path>
              <a:path w="3403600" h="2160904">
                <a:moveTo>
                  <a:pt x="800100" y="1997351"/>
                </a:moveTo>
                <a:lnTo>
                  <a:pt x="800100" y="163024"/>
                </a:lnTo>
                <a:lnTo>
                  <a:pt x="787400" y="164863"/>
                </a:lnTo>
                <a:lnTo>
                  <a:pt x="787400" y="1995512"/>
                </a:lnTo>
                <a:lnTo>
                  <a:pt x="800100" y="1997351"/>
                </a:lnTo>
                <a:close/>
              </a:path>
              <a:path w="3403600" h="2160904">
                <a:moveTo>
                  <a:pt x="812800" y="2001001"/>
                </a:moveTo>
                <a:lnTo>
                  <a:pt x="812800" y="159374"/>
                </a:lnTo>
                <a:lnTo>
                  <a:pt x="800100" y="161194"/>
                </a:lnTo>
                <a:lnTo>
                  <a:pt x="800100" y="1999180"/>
                </a:lnTo>
                <a:lnTo>
                  <a:pt x="812800" y="2001001"/>
                </a:lnTo>
                <a:close/>
              </a:path>
              <a:path w="3403600" h="2160904">
                <a:moveTo>
                  <a:pt x="825500" y="2006406"/>
                </a:moveTo>
                <a:lnTo>
                  <a:pt x="825500" y="153968"/>
                </a:lnTo>
                <a:lnTo>
                  <a:pt x="812800" y="155761"/>
                </a:lnTo>
                <a:lnTo>
                  <a:pt x="812800" y="2004614"/>
                </a:lnTo>
                <a:lnTo>
                  <a:pt x="825500" y="2006406"/>
                </a:lnTo>
                <a:close/>
              </a:path>
              <a:path w="3403600" h="2160904">
                <a:moveTo>
                  <a:pt x="838200" y="2011729"/>
                </a:moveTo>
                <a:lnTo>
                  <a:pt x="838200" y="148645"/>
                </a:lnTo>
                <a:lnTo>
                  <a:pt x="825500" y="150410"/>
                </a:lnTo>
                <a:lnTo>
                  <a:pt x="825500" y="2009964"/>
                </a:lnTo>
                <a:lnTo>
                  <a:pt x="838200" y="2011729"/>
                </a:lnTo>
                <a:close/>
              </a:path>
              <a:path w="3403600" h="2160904">
                <a:moveTo>
                  <a:pt x="850900" y="2015231"/>
                </a:moveTo>
                <a:lnTo>
                  <a:pt x="850900" y="145143"/>
                </a:lnTo>
                <a:lnTo>
                  <a:pt x="838200" y="146889"/>
                </a:lnTo>
                <a:lnTo>
                  <a:pt x="838200" y="2013485"/>
                </a:lnTo>
                <a:lnTo>
                  <a:pt x="850900" y="2015231"/>
                </a:lnTo>
                <a:close/>
              </a:path>
              <a:path w="3403600" h="2160904">
                <a:moveTo>
                  <a:pt x="863600" y="2020413"/>
                </a:moveTo>
                <a:lnTo>
                  <a:pt x="863600" y="139961"/>
                </a:lnTo>
                <a:lnTo>
                  <a:pt x="850900" y="141679"/>
                </a:lnTo>
                <a:lnTo>
                  <a:pt x="850900" y="2018695"/>
                </a:lnTo>
                <a:lnTo>
                  <a:pt x="863600" y="2020413"/>
                </a:lnTo>
                <a:close/>
              </a:path>
              <a:path w="3403600" h="2160904">
                <a:moveTo>
                  <a:pt x="876300" y="2025511"/>
                </a:moveTo>
                <a:lnTo>
                  <a:pt x="876300" y="134863"/>
                </a:lnTo>
                <a:lnTo>
                  <a:pt x="863600" y="136553"/>
                </a:lnTo>
                <a:lnTo>
                  <a:pt x="863600" y="2023821"/>
                </a:lnTo>
                <a:lnTo>
                  <a:pt x="876300" y="2025511"/>
                </a:lnTo>
                <a:close/>
              </a:path>
              <a:path w="3403600" h="2160904">
                <a:moveTo>
                  <a:pt x="889000" y="2028862"/>
                </a:moveTo>
                <a:lnTo>
                  <a:pt x="889000" y="131512"/>
                </a:lnTo>
                <a:lnTo>
                  <a:pt x="876300" y="133183"/>
                </a:lnTo>
                <a:lnTo>
                  <a:pt x="876300" y="2027191"/>
                </a:lnTo>
                <a:lnTo>
                  <a:pt x="889000" y="2028862"/>
                </a:lnTo>
                <a:close/>
              </a:path>
              <a:path w="3403600" h="2160904">
                <a:moveTo>
                  <a:pt x="901700" y="2033817"/>
                </a:moveTo>
                <a:lnTo>
                  <a:pt x="901700" y="126557"/>
                </a:lnTo>
                <a:lnTo>
                  <a:pt x="889000" y="128199"/>
                </a:lnTo>
                <a:lnTo>
                  <a:pt x="889000" y="2032175"/>
                </a:lnTo>
                <a:lnTo>
                  <a:pt x="901700" y="2033817"/>
                </a:lnTo>
                <a:close/>
              </a:path>
              <a:path w="3403600" h="2160904">
                <a:moveTo>
                  <a:pt x="914400" y="2038686"/>
                </a:moveTo>
                <a:lnTo>
                  <a:pt x="914400" y="121688"/>
                </a:lnTo>
                <a:lnTo>
                  <a:pt x="901700" y="123301"/>
                </a:lnTo>
                <a:lnTo>
                  <a:pt x="901700" y="2037072"/>
                </a:lnTo>
                <a:lnTo>
                  <a:pt x="914400" y="2038686"/>
                </a:lnTo>
                <a:close/>
              </a:path>
              <a:path w="3403600" h="2160904">
                <a:moveTo>
                  <a:pt x="927100" y="2041883"/>
                </a:moveTo>
                <a:lnTo>
                  <a:pt x="927100" y="118490"/>
                </a:lnTo>
                <a:lnTo>
                  <a:pt x="914400" y="120084"/>
                </a:lnTo>
                <a:lnTo>
                  <a:pt x="914400" y="2040289"/>
                </a:lnTo>
                <a:lnTo>
                  <a:pt x="927100" y="2041883"/>
                </a:lnTo>
                <a:close/>
              </a:path>
              <a:path w="3403600" h="2160904">
                <a:moveTo>
                  <a:pt x="939800" y="2046607"/>
                </a:moveTo>
                <a:lnTo>
                  <a:pt x="939800" y="113766"/>
                </a:lnTo>
                <a:lnTo>
                  <a:pt x="927100" y="115331"/>
                </a:lnTo>
                <a:lnTo>
                  <a:pt x="927100" y="2045042"/>
                </a:lnTo>
                <a:lnTo>
                  <a:pt x="939800" y="2046607"/>
                </a:lnTo>
                <a:close/>
              </a:path>
              <a:path w="3403600" h="2160904">
                <a:moveTo>
                  <a:pt x="952500" y="2049707"/>
                </a:moveTo>
                <a:lnTo>
                  <a:pt x="952500" y="110666"/>
                </a:lnTo>
                <a:lnTo>
                  <a:pt x="939800" y="112211"/>
                </a:lnTo>
                <a:lnTo>
                  <a:pt x="939800" y="2048162"/>
                </a:lnTo>
                <a:lnTo>
                  <a:pt x="952500" y="2049707"/>
                </a:lnTo>
                <a:close/>
              </a:path>
              <a:path w="3403600" h="2160904">
                <a:moveTo>
                  <a:pt x="965200" y="2054285"/>
                </a:moveTo>
                <a:lnTo>
                  <a:pt x="965200" y="106088"/>
                </a:lnTo>
                <a:lnTo>
                  <a:pt x="952500" y="107604"/>
                </a:lnTo>
                <a:lnTo>
                  <a:pt x="952500" y="2052769"/>
                </a:lnTo>
                <a:lnTo>
                  <a:pt x="965200" y="2054285"/>
                </a:lnTo>
                <a:close/>
              </a:path>
              <a:path w="3403600" h="2160904">
                <a:moveTo>
                  <a:pt x="977900" y="2058774"/>
                </a:moveTo>
                <a:lnTo>
                  <a:pt x="977900" y="101600"/>
                </a:lnTo>
                <a:lnTo>
                  <a:pt x="965200" y="103086"/>
                </a:lnTo>
                <a:lnTo>
                  <a:pt x="965200" y="2057287"/>
                </a:lnTo>
                <a:lnTo>
                  <a:pt x="977900" y="2058774"/>
                </a:lnTo>
                <a:close/>
              </a:path>
              <a:path w="3403600" h="2160904">
                <a:moveTo>
                  <a:pt x="990600" y="2061717"/>
                </a:moveTo>
                <a:lnTo>
                  <a:pt x="990600" y="98657"/>
                </a:lnTo>
                <a:lnTo>
                  <a:pt x="977900" y="100123"/>
                </a:lnTo>
                <a:lnTo>
                  <a:pt x="977900" y="2060250"/>
                </a:lnTo>
                <a:lnTo>
                  <a:pt x="990600" y="2061717"/>
                </a:lnTo>
                <a:close/>
              </a:path>
              <a:path w="3403600" h="2160904">
                <a:moveTo>
                  <a:pt x="1003300" y="2066056"/>
                </a:moveTo>
                <a:lnTo>
                  <a:pt x="1003300" y="94317"/>
                </a:lnTo>
                <a:lnTo>
                  <a:pt x="990600" y="95753"/>
                </a:lnTo>
                <a:lnTo>
                  <a:pt x="990600" y="2064620"/>
                </a:lnTo>
                <a:lnTo>
                  <a:pt x="1003300" y="2066056"/>
                </a:lnTo>
                <a:close/>
              </a:path>
              <a:path w="3403600" h="2160904">
                <a:moveTo>
                  <a:pt x="1016000" y="2068900"/>
                </a:moveTo>
                <a:lnTo>
                  <a:pt x="1016000" y="91473"/>
                </a:lnTo>
                <a:lnTo>
                  <a:pt x="1003300" y="92890"/>
                </a:lnTo>
                <a:lnTo>
                  <a:pt x="1003300" y="2067483"/>
                </a:lnTo>
                <a:lnTo>
                  <a:pt x="1016000" y="2068900"/>
                </a:lnTo>
                <a:close/>
              </a:path>
              <a:path w="3403600" h="2160904">
                <a:moveTo>
                  <a:pt x="1028700" y="2073089"/>
                </a:moveTo>
                <a:lnTo>
                  <a:pt x="1028700" y="87284"/>
                </a:lnTo>
                <a:lnTo>
                  <a:pt x="1016000" y="88670"/>
                </a:lnTo>
                <a:lnTo>
                  <a:pt x="1016000" y="2071703"/>
                </a:lnTo>
                <a:lnTo>
                  <a:pt x="1028700" y="2073089"/>
                </a:lnTo>
                <a:close/>
              </a:path>
              <a:path w="3403600" h="2160904">
                <a:moveTo>
                  <a:pt x="1041400" y="2075832"/>
                </a:moveTo>
                <a:lnTo>
                  <a:pt x="1041400" y="84541"/>
                </a:lnTo>
                <a:lnTo>
                  <a:pt x="1028700" y="85907"/>
                </a:lnTo>
                <a:lnTo>
                  <a:pt x="1028700" y="2074466"/>
                </a:lnTo>
                <a:lnTo>
                  <a:pt x="1041400" y="2075832"/>
                </a:lnTo>
                <a:close/>
              </a:path>
              <a:path w="3403600" h="2160904">
                <a:moveTo>
                  <a:pt x="1054100" y="2079869"/>
                </a:moveTo>
                <a:lnTo>
                  <a:pt x="1054100" y="80503"/>
                </a:lnTo>
                <a:lnTo>
                  <a:pt x="1041400" y="81839"/>
                </a:lnTo>
                <a:lnTo>
                  <a:pt x="1041400" y="2078534"/>
                </a:lnTo>
                <a:lnTo>
                  <a:pt x="1054100" y="2079869"/>
                </a:lnTo>
                <a:close/>
              </a:path>
              <a:path w="3403600" h="2160904">
                <a:moveTo>
                  <a:pt x="1066800" y="2082510"/>
                </a:moveTo>
                <a:lnTo>
                  <a:pt x="1066800" y="77862"/>
                </a:lnTo>
                <a:lnTo>
                  <a:pt x="1054100" y="79178"/>
                </a:lnTo>
                <a:lnTo>
                  <a:pt x="1054100" y="2081195"/>
                </a:lnTo>
                <a:lnTo>
                  <a:pt x="1066800" y="2082510"/>
                </a:lnTo>
                <a:close/>
              </a:path>
              <a:path w="3403600" h="2160904">
                <a:moveTo>
                  <a:pt x="1079500" y="2086395"/>
                </a:moveTo>
                <a:lnTo>
                  <a:pt x="1079500" y="73978"/>
                </a:lnTo>
                <a:lnTo>
                  <a:pt x="1066800" y="75263"/>
                </a:lnTo>
                <a:lnTo>
                  <a:pt x="1066800" y="2085110"/>
                </a:lnTo>
                <a:lnTo>
                  <a:pt x="1079500" y="2086395"/>
                </a:lnTo>
                <a:close/>
              </a:path>
              <a:path w="3403600" h="2160904">
                <a:moveTo>
                  <a:pt x="1092200" y="2088933"/>
                </a:moveTo>
                <a:lnTo>
                  <a:pt x="1092200" y="71440"/>
                </a:lnTo>
                <a:lnTo>
                  <a:pt x="1079500" y="72704"/>
                </a:lnTo>
                <a:lnTo>
                  <a:pt x="1079500" y="2087669"/>
                </a:lnTo>
                <a:lnTo>
                  <a:pt x="1092200" y="2088933"/>
                </a:lnTo>
                <a:close/>
              </a:path>
              <a:path w="3403600" h="2160904">
                <a:moveTo>
                  <a:pt x="1104900" y="2092662"/>
                </a:moveTo>
                <a:lnTo>
                  <a:pt x="1104900" y="67710"/>
                </a:lnTo>
                <a:lnTo>
                  <a:pt x="1092200" y="68943"/>
                </a:lnTo>
                <a:lnTo>
                  <a:pt x="1092200" y="2091429"/>
                </a:lnTo>
                <a:lnTo>
                  <a:pt x="1104900" y="2092662"/>
                </a:lnTo>
                <a:close/>
              </a:path>
              <a:path w="3403600" h="2160904">
                <a:moveTo>
                  <a:pt x="1117600" y="2095096"/>
                </a:moveTo>
                <a:lnTo>
                  <a:pt x="1117600" y="65276"/>
                </a:lnTo>
                <a:lnTo>
                  <a:pt x="1104900" y="66488"/>
                </a:lnTo>
                <a:lnTo>
                  <a:pt x="1104900" y="2093884"/>
                </a:lnTo>
                <a:lnTo>
                  <a:pt x="1117600" y="2095096"/>
                </a:lnTo>
                <a:close/>
              </a:path>
              <a:path w="3403600" h="2160904">
                <a:moveTo>
                  <a:pt x="1130300" y="2097489"/>
                </a:moveTo>
                <a:lnTo>
                  <a:pt x="1130300" y="62883"/>
                </a:lnTo>
                <a:lnTo>
                  <a:pt x="1117600" y="64074"/>
                </a:lnTo>
                <a:lnTo>
                  <a:pt x="1117600" y="2096298"/>
                </a:lnTo>
                <a:lnTo>
                  <a:pt x="1130300" y="2097489"/>
                </a:lnTo>
                <a:close/>
              </a:path>
              <a:path w="3403600" h="2160904">
                <a:moveTo>
                  <a:pt x="1143000" y="2100999"/>
                </a:moveTo>
                <a:lnTo>
                  <a:pt x="1143000" y="59373"/>
                </a:lnTo>
                <a:lnTo>
                  <a:pt x="1130300" y="60533"/>
                </a:lnTo>
                <a:lnTo>
                  <a:pt x="1130300" y="2099840"/>
                </a:lnTo>
                <a:lnTo>
                  <a:pt x="1143000" y="2100999"/>
                </a:lnTo>
                <a:close/>
              </a:path>
              <a:path w="3403600" h="2160904">
                <a:moveTo>
                  <a:pt x="1155700" y="2103286"/>
                </a:moveTo>
                <a:lnTo>
                  <a:pt x="1155700" y="57086"/>
                </a:lnTo>
                <a:lnTo>
                  <a:pt x="1143000" y="58224"/>
                </a:lnTo>
                <a:lnTo>
                  <a:pt x="1143000" y="2102148"/>
                </a:lnTo>
                <a:lnTo>
                  <a:pt x="1155700" y="2103286"/>
                </a:lnTo>
                <a:close/>
              </a:path>
              <a:path w="3403600" h="2160904">
                <a:moveTo>
                  <a:pt x="1168400" y="2106638"/>
                </a:moveTo>
                <a:lnTo>
                  <a:pt x="1168400" y="53734"/>
                </a:lnTo>
                <a:lnTo>
                  <a:pt x="1155700" y="54841"/>
                </a:lnTo>
                <a:lnTo>
                  <a:pt x="1155700" y="2105532"/>
                </a:lnTo>
                <a:lnTo>
                  <a:pt x="1168400" y="2106638"/>
                </a:lnTo>
                <a:close/>
              </a:path>
              <a:path w="3403600" h="2160904">
                <a:moveTo>
                  <a:pt x="1181100" y="2108819"/>
                </a:moveTo>
                <a:lnTo>
                  <a:pt x="1181100" y="51553"/>
                </a:lnTo>
                <a:lnTo>
                  <a:pt x="1168400" y="52638"/>
                </a:lnTo>
                <a:lnTo>
                  <a:pt x="1168400" y="2107734"/>
                </a:lnTo>
                <a:lnTo>
                  <a:pt x="1181100" y="2108819"/>
                </a:lnTo>
                <a:close/>
              </a:path>
              <a:path w="3403600" h="2160904">
                <a:moveTo>
                  <a:pt x="1193800" y="2110958"/>
                </a:moveTo>
                <a:lnTo>
                  <a:pt x="1193800" y="49414"/>
                </a:lnTo>
                <a:lnTo>
                  <a:pt x="1181100" y="50478"/>
                </a:lnTo>
                <a:lnTo>
                  <a:pt x="1181100" y="2109894"/>
                </a:lnTo>
                <a:lnTo>
                  <a:pt x="1193800" y="2110958"/>
                </a:lnTo>
                <a:close/>
              </a:path>
              <a:path w="3403600" h="2160904">
                <a:moveTo>
                  <a:pt x="1206500" y="2114085"/>
                </a:moveTo>
                <a:lnTo>
                  <a:pt x="1206500" y="46287"/>
                </a:lnTo>
                <a:lnTo>
                  <a:pt x="1193800" y="47318"/>
                </a:lnTo>
                <a:lnTo>
                  <a:pt x="1193800" y="2113054"/>
                </a:lnTo>
                <a:lnTo>
                  <a:pt x="1206500" y="2114085"/>
                </a:lnTo>
                <a:close/>
              </a:path>
              <a:path w="3403600" h="2160904">
                <a:moveTo>
                  <a:pt x="1219200" y="2116116"/>
                </a:moveTo>
                <a:lnTo>
                  <a:pt x="1219200" y="44256"/>
                </a:lnTo>
                <a:lnTo>
                  <a:pt x="1206500" y="45266"/>
                </a:lnTo>
                <a:lnTo>
                  <a:pt x="1206500" y="2115106"/>
                </a:lnTo>
                <a:lnTo>
                  <a:pt x="1219200" y="2116116"/>
                </a:lnTo>
                <a:close/>
              </a:path>
              <a:path w="3403600" h="2160904">
                <a:moveTo>
                  <a:pt x="1231900" y="2119082"/>
                </a:moveTo>
                <a:lnTo>
                  <a:pt x="1231900" y="41290"/>
                </a:lnTo>
                <a:lnTo>
                  <a:pt x="1219200" y="42268"/>
                </a:lnTo>
                <a:lnTo>
                  <a:pt x="1219200" y="2118104"/>
                </a:lnTo>
                <a:lnTo>
                  <a:pt x="1231900" y="2119082"/>
                </a:lnTo>
                <a:close/>
              </a:path>
              <a:path w="3403600" h="2160904">
                <a:moveTo>
                  <a:pt x="1244600" y="2121004"/>
                </a:moveTo>
                <a:lnTo>
                  <a:pt x="1244600" y="39368"/>
                </a:lnTo>
                <a:lnTo>
                  <a:pt x="1231900" y="40323"/>
                </a:lnTo>
                <a:lnTo>
                  <a:pt x="1231900" y="2120048"/>
                </a:lnTo>
                <a:lnTo>
                  <a:pt x="1244600" y="2121004"/>
                </a:lnTo>
                <a:close/>
              </a:path>
              <a:path w="3403600" h="2160904">
                <a:moveTo>
                  <a:pt x="1257300" y="2122883"/>
                </a:moveTo>
                <a:lnTo>
                  <a:pt x="1257300" y="37489"/>
                </a:lnTo>
                <a:lnTo>
                  <a:pt x="1244600" y="38423"/>
                </a:lnTo>
                <a:lnTo>
                  <a:pt x="1244600" y="2121949"/>
                </a:lnTo>
                <a:lnTo>
                  <a:pt x="1257300" y="2122883"/>
                </a:lnTo>
                <a:close/>
              </a:path>
              <a:path w="3403600" h="2160904">
                <a:moveTo>
                  <a:pt x="1270000" y="2125619"/>
                </a:moveTo>
                <a:lnTo>
                  <a:pt x="1270000" y="34753"/>
                </a:lnTo>
                <a:lnTo>
                  <a:pt x="1257300" y="35654"/>
                </a:lnTo>
                <a:lnTo>
                  <a:pt x="1257300" y="2124718"/>
                </a:lnTo>
                <a:lnTo>
                  <a:pt x="1270000" y="2125619"/>
                </a:lnTo>
                <a:close/>
              </a:path>
              <a:path w="3403600" h="2160904">
                <a:moveTo>
                  <a:pt x="1282700" y="2127388"/>
                </a:moveTo>
                <a:lnTo>
                  <a:pt x="1282700" y="32984"/>
                </a:lnTo>
                <a:lnTo>
                  <a:pt x="1270000" y="33863"/>
                </a:lnTo>
                <a:lnTo>
                  <a:pt x="1270000" y="2126509"/>
                </a:lnTo>
                <a:lnTo>
                  <a:pt x="1282700" y="2127388"/>
                </a:lnTo>
                <a:close/>
              </a:path>
              <a:path w="3403600" h="2160904">
                <a:moveTo>
                  <a:pt x="1295400" y="2129112"/>
                </a:moveTo>
                <a:lnTo>
                  <a:pt x="1295400" y="31259"/>
                </a:lnTo>
                <a:lnTo>
                  <a:pt x="1282700" y="32116"/>
                </a:lnTo>
                <a:lnTo>
                  <a:pt x="1282700" y="2128256"/>
                </a:lnTo>
                <a:lnTo>
                  <a:pt x="1295400" y="2129112"/>
                </a:lnTo>
                <a:close/>
              </a:path>
              <a:path w="3403600" h="2160904">
                <a:moveTo>
                  <a:pt x="1308100" y="2131616"/>
                </a:moveTo>
                <a:lnTo>
                  <a:pt x="1308100" y="28756"/>
                </a:lnTo>
                <a:lnTo>
                  <a:pt x="1295400" y="29579"/>
                </a:lnTo>
                <a:lnTo>
                  <a:pt x="1295400" y="2130792"/>
                </a:lnTo>
                <a:lnTo>
                  <a:pt x="1308100" y="2131616"/>
                </a:lnTo>
                <a:close/>
              </a:path>
              <a:path w="3403600" h="2160904">
                <a:moveTo>
                  <a:pt x="1320800" y="2133229"/>
                </a:moveTo>
                <a:lnTo>
                  <a:pt x="1320800" y="27142"/>
                </a:lnTo>
                <a:lnTo>
                  <a:pt x="1308100" y="27943"/>
                </a:lnTo>
                <a:lnTo>
                  <a:pt x="1308100" y="2132428"/>
                </a:lnTo>
                <a:lnTo>
                  <a:pt x="1320800" y="2133229"/>
                </a:lnTo>
                <a:close/>
              </a:path>
              <a:path w="3403600" h="2160904">
                <a:moveTo>
                  <a:pt x="1333500" y="2134798"/>
                </a:moveTo>
                <a:lnTo>
                  <a:pt x="1333500" y="25574"/>
                </a:lnTo>
                <a:lnTo>
                  <a:pt x="1320800" y="26352"/>
                </a:lnTo>
                <a:lnTo>
                  <a:pt x="1320800" y="2134019"/>
                </a:lnTo>
                <a:lnTo>
                  <a:pt x="1333500" y="2134798"/>
                </a:lnTo>
                <a:close/>
              </a:path>
              <a:path w="3403600" h="2160904">
                <a:moveTo>
                  <a:pt x="1346200" y="2137066"/>
                </a:moveTo>
                <a:lnTo>
                  <a:pt x="1346200" y="23305"/>
                </a:lnTo>
                <a:lnTo>
                  <a:pt x="1333500" y="24050"/>
                </a:lnTo>
                <a:lnTo>
                  <a:pt x="1333500" y="2136321"/>
                </a:lnTo>
                <a:lnTo>
                  <a:pt x="1346200" y="2137066"/>
                </a:lnTo>
                <a:close/>
              </a:path>
              <a:path w="3403600" h="2160904">
                <a:moveTo>
                  <a:pt x="1358900" y="2138522"/>
                </a:moveTo>
                <a:lnTo>
                  <a:pt x="1358900" y="21850"/>
                </a:lnTo>
                <a:lnTo>
                  <a:pt x="1346200" y="22572"/>
                </a:lnTo>
                <a:lnTo>
                  <a:pt x="1346200" y="2137799"/>
                </a:lnTo>
                <a:lnTo>
                  <a:pt x="1358900" y="2138522"/>
                </a:lnTo>
                <a:close/>
              </a:path>
              <a:path w="3403600" h="2160904">
                <a:moveTo>
                  <a:pt x="1371600" y="2139932"/>
                </a:moveTo>
                <a:lnTo>
                  <a:pt x="1371600" y="20439"/>
                </a:lnTo>
                <a:lnTo>
                  <a:pt x="1358900" y="21139"/>
                </a:lnTo>
                <a:lnTo>
                  <a:pt x="1358900" y="2139233"/>
                </a:lnTo>
                <a:lnTo>
                  <a:pt x="1371600" y="2139932"/>
                </a:lnTo>
                <a:close/>
              </a:path>
              <a:path w="3403600" h="2160904">
                <a:moveTo>
                  <a:pt x="1384300" y="2141297"/>
                </a:moveTo>
                <a:lnTo>
                  <a:pt x="1384300" y="19074"/>
                </a:lnTo>
                <a:lnTo>
                  <a:pt x="1371600" y="19751"/>
                </a:lnTo>
                <a:lnTo>
                  <a:pt x="1371600" y="2140620"/>
                </a:lnTo>
                <a:lnTo>
                  <a:pt x="1384300" y="2141297"/>
                </a:lnTo>
                <a:close/>
              </a:path>
              <a:path w="3403600" h="2160904">
                <a:moveTo>
                  <a:pt x="1397000" y="2143258"/>
                </a:moveTo>
                <a:lnTo>
                  <a:pt x="1397000" y="17113"/>
                </a:lnTo>
                <a:lnTo>
                  <a:pt x="1384300" y="17755"/>
                </a:lnTo>
                <a:lnTo>
                  <a:pt x="1384300" y="2142616"/>
                </a:lnTo>
                <a:lnTo>
                  <a:pt x="1397000" y="2143258"/>
                </a:lnTo>
                <a:close/>
              </a:path>
              <a:path w="3403600" h="2160904">
                <a:moveTo>
                  <a:pt x="1409700" y="2144509"/>
                </a:moveTo>
                <a:lnTo>
                  <a:pt x="1409700" y="15862"/>
                </a:lnTo>
                <a:lnTo>
                  <a:pt x="1397000" y="16482"/>
                </a:lnTo>
                <a:lnTo>
                  <a:pt x="1397000" y="2143889"/>
                </a:lnTo>
                <a:lnTo>
                  <a:pt x="1409700" y="2144509"/>
                </a:lnTo>
                <a:close/>
              </a:path>
              <a:path w="3403600" h="2160904">
                <a:moveTo>
                  <a:pt x="1422400" y="2145713"/>
                </a:moveTo>
                <a:lnTo>
                  <a:pt x="1422400" y="14658"/>
                </a:lnTo>
                <a:lnTo>
                  <a:pt x="1409700" y="15255"/>
                </a:lnTo>
                <a:lnTo>
                  <a:pt x="1409700" y="2145117"/>
                </a:lnTo>
                <a:lnTo>
                  <a:pt x="1422400" y="2145713"/>
                </a:lnTo>
                <a:close/>
              </a:path>
              <a:path w="3403600" h="2160904">
                <a:moveTo>
                  <a:pt x="1435100" y="2147432"/>
                </a:moveTo>
                <a:lnTo>
                  <a:pt x="1435100" y="12939"/>
                </a:lnTo>
                <a:lnTo>
                  <a:pt x="1422400" y="13500"/>
                </a:lnTo>
                <a:lnTo>
                  <a:pt x="1422400" y="2146871"/>
                </a:lnTo>
                <a:lnTo>
                  <a:pt x="1435100" y="2147432"/>
                </a:lnTo>
                <a:close/>
              </a:path>
              <a:path w="3403600" h="2160904">
                <a:moveTo>
                  <a:pt x="1447800" y="2148521"/>
                </a:moveTo>
                <a:lnTo>
                  <a:pt x="1447800" y="11850"/>
                </a:lnTo>
                <a:lnTo>
                  <a:pt x="1435100" y="12389"/>
                </a:lnTo>
                <a:lnTo>
                  <a:pt x="1435100" y="2147982"/>
                </a:lnTo>
                <a:lnTo>
                  <a:pt x="1447800" y="2148521"/>
                </a:lnTo>
                <a:close/>
              </a:path>
              <a:path w="3403600" h="2160904">
                <a:moveTo>
                  <a:pt x="1460500" y="2149562"/>
                </a:moveTo>
                <a:lnTo>
                  <a:pt x="1460500" y="10809"/>
                </a:lnTo>
                <a:lnTo>
                  <a:pt x="1447800" y="11324"/>
                </a:lnTo>
                <a:lnTo>
                  <a:pt x="1447800" y="2149047"/>
                </a:lnTo>
                <a:lnTo>
                  <a:pt x="1460500" y="2149562"/>
                </a:lnTo>
                <a:close/>
              </a:path>
              <a:path w="3403600" h="2160904">
                <a:moveTo>
                  <a:pt x="1473200" y="2150557"/>
                </a:moveTo>
                <a:lnTo>
                  <a:pt x="1473200" y="9814"/>
                </a:lnTo>
                <a:lnTo>
                  <a:pt x="1460500" y="10305"/>
                </a:lnTo>
                <a:lnTo>
                  <a:pt x="1460500" y="2150066"/>
                </a:lnTo>
                <a:lnTo>
                  <a:pt x="1473200" y="2150557"/>
                </a:lnTo>
                <a:close/>
              </a:path>
              <a:path w="3403600" h="2160904">
                <a:moveTo>
                  <a:pt x="1485900" y="2151505"/>
                </a:moveTo>
                <a:lnTo>
                  <a:pt x="1485900" y="8866"/>
                </a:lnTo>
                <a:lnTo>
                  <a:pt x="1473200" y="9334"/>
                </a:lnTo>
                <a:lnTo>
                  <a:pt x="1473200" y="2151037"/>
                </a:lnTo>
                <a:lnTo>
                  <a:pt x="1485900" y="2151505"/>
                </a:lnTo>
                <a:close/>
              </a:path>
              <a:path w="3403600" h="2160904">
                <a:moveTo>
                  <a:pt x="1498600" y="2152838"/>
                </a:moveTo>
                <a:lnTo>
                  <a:pt x="1498600" y="7533"/>
                </a:lnTo>
                <a:lnTo>
                  <a:pt x="1485900" y="7965"/>
                </a:lnTo>
                <a:lnTo>
                  <a:pt x="1485900" y="2152406"/>
                </a:lnTo>
                <a:lnTo>
                  <a:pt x="1498600" y="2152838"/>
                </a:lnTo>
                <a:close/>
              </a:path>
              <a:path w="3403600" h="2160904">
                <a:moveTo>
                  <a:pt x="1511300" y="2153668"/>
                </a:moveTo>
                <a:lnTo>
                  <a:pt x="1511300" y="6703"/>
                </a:lnTo>
                <a:lnTo>
                  <a:pt x="1498600" y="7112"/>
                </a:lnTo>
                <a:lnTo>
                  <a:pt x="1498600" y="2153259"/>
                </a:lnTo>
                <a:lnTo>
                  <a:pt x="1511300" y="2153668"/>
                </a:lnTo>
                <a:close/>
              </a:path>
              <a:path w="3403600" h="2160904">
                <a:moveTo>
                  <a:pt x="1524000" y="2154450"/>
                </a:moveTo>
                <a:lnTo>
                  <a:pt x="1524000" y="5921"/>
                </a:lnTo>
                <a:lnTo>
                  <a:pt x="1511300" y="6306"/>
                </a:lnTo>
                <a:lnTo>
                  <a:pt x="1511300" y="2154065"/>
                </a:lnTo>
                <a:lnTo>
                  <a:pt x="1524000" y="2154450"/>
                </a:lnTo>
                <a:close/>
              </a:path>
              <a:path w="3403600" h="2160904">
                <a:moveTo>
                  <a:pt x="1536700" y="2155185"/>
                </a:moveTo>
                <a:lnTo>
                  <a:pt x="1536700" y="5186"/>
                </a:lnTo>
                <a:lnTo>
                  <a:pt x="1524000" y="5547"/>
                </a:lnTo>
                <a:lnTo>
                  <a:pt x="1524000" y="2154824"/>
                </a:lnTo>
                <a:lnTo>
                  <a:pt x="1536700" y="2155185"/>
                </a:lnTo>
                <a:close/>
              </a:path>
              <a:path w="3403600" h="2160904">
                <a:moveTo>
                  <a:pt x="1549400" y="2156197"/>
                </a:moveTo>
                <a:lnTo>
                  <a:pt x="1549400" y="4174"/>
                </a:lnTo>
                <a:lnTo>
                  <a:pt x="1536700" y="4499"/>
                </a:lnTo>
                <a:lnTo>
                  <a:pt x="1536700" y="2155872"/>
                </a:lnTo>
                <a:lnTo>
                  <a:pt x="1549400" y="2156197"/>
                </a:lnTo>
                <a:close/>
              </a:path>
              <a:path w="3403600" h="2160904">
                <a:moveTo>
                  <a:pt x="1562100" y="2156812"/>
                </a:moveTo>
                <a:lnTo>
                  <a:pt x="1562100" y="3559"/>
                </a:lnTo>
                <a:lnTo>
                  <a:pt x="1549400" y="3861"/>
                </a:lnTo>
                <a:lnTo>
                  <a:pt x="1549400" y="2156510"/>
                </a:lnTo>
                <a:lnTo>
                  <a:pt x="1562100" y="2156812"/>
                </a:lnTo>
                <a:close/>
              </a:path>
              <a:path w="3403600" h="2160904">
                <a:moveTo>
                  <a:pt x="1574800" y="2157378"/>
                </a:moveTo>
                <a:lnTo>
                  <a:pt x="1574800" y="2993"/>
                </a:lnTo>
                <a:lnTo>
                  <a:pt x="1562100" y="3270"/>
                </a:lnTo>
                <a:lnTo>
                  <a:pt x="1562100" y="2157101"/>
                </a:lnTo>
                <a:lnTo>
                  <a:pt x="1574800" y="2157378"/>
                </a:lnTo>
                <a:close/>
              </a:path>
              <a:path w="3403600" h="2160904">
                <a:moveTo>
                  <a:pt x="1587500" y="2157896"/>
                </a:moveTo>
                <a:lnTo>
                  <a:pt x="1587500" y="2475"/>
                </a:lnTo>
                <a:lnTo>
                  <a:pt x="1574800" y="2728"/>
                </a:lnTo>
                <a:lnTo>
                  <a:pt x="1574800" y="2157643"/>
                </a:lnTo>
                <a:lnTo>
                  <a:pt x="1587500" y="2157896"/>
                </a:lnTo>
                <a:close/>
              </a:path>
              <a:path w="3403600" h="2160904">
                <a:moveTo>
                  <a:pt x="1600200" y="2158365"/>
                </a:moveTo>
                <a:lnTo>
                  <a:pt x="1600200" y="2006"/>
                </a:lnTo>
                <a:lnTo>
                  <a:pt x="1587500" y="2234"/>
                </a:lnTo>
                <a:lnTo>
                  <a:pt x="1587500" y="2158137"/>
                </a:lnTo>
                <a:lnTo>
                  <a:pt x="1600200" y="2158365"/>
                </a:lnTo>
                <a:close/>
              </a:path>
              <a:path w="3403600" h="2160904">
                <a:moveTo>
                  <a:pt x="1612900" y="2158978"/>
                </a:moveTo>
                <a:lnTo>
                  <a:pt x="1612900" y="1393"/>
                </a:lnTo>
                <a:lnTo>
                  <a:pt x="1600200" y="1585"/>
                </a:lnTo>
                <a:lnTo>
                  <a:pt x="1600200" y="2158786"/>
                </a:lnTo>
                <a:lnTo>
                  <a:pt x="1612900" y="2158978"/>
                </a:lnTo>
                <a:close/>
              </a:path>
              <a:path w="3403600" h="2160904">
                <a:moveTo>
                  <a:pt x="1625600" y="2159325"/>
                </a:moveTo>
                <a:lnTo>
                  <a:pt x="1625600" y="1046"/>
                </a:lnTo>
                <a:lnTo>
                  <a:pt x="1612900" y="1213"/>
                </a:lnTo>
                <a:lnTo>
                  <a:pt x="1612900" y="2159158"/>
                </a:lnTo>
                <a:lnTo>
                  <a:pt x="1625600" y="2159325"/>
                </a:lnTo>
                <a:close/>
              </a:path>
              <a:path w="3403600" h="2160904">
                <a:moveTo>
                  <a:pt x="1638300" y="2159623"/>
                </a:moveTo>
                <a:lnTo>
                  <a:pt x="1638300" y="748"/>
                </a:lnTo>
                <a:lnTo>
                  <a:pt x="1625600" y="891"/>
                </a:lnTo>
                <a:lnTo>
                  <a:pt x="1625600" y="2159480"/>
                </a:lnTo>
                <a:lnTo>
                  <a:pt x="1638300" y="2159623"/>
                </a:lnTo>
                <a:close/>
              </a:path>
              <a:path w="3403600" h="2160904">
                <a:moveTo>
                  <a:pt x="1651000" y="2159872"/>
                </a:moveTo>
                <a:lnTo>
                  <a:pt x="1651000" y="499"/>
                </a:lnTo>
                <a:lnTo>
                  <a:pt x="1638300" y="617"/>
                </a:lnTo>
                <a:lnTo>
                  <a:pt x="1638300" y="2159754"/>
                </a:lnTo>
                <a:lnTo>
                  <a:pt x="1651000" y="2159872"/>
                </a:lnTo>
                <a:close/>
              </a:path>
              <a:path w="3403600" h="2160904">
                <a:moveTo>
                  <a:pt x="1663700" y="2160071"/>
                </a:moveTo>
                <a:lnTo>
                  <a:pt x="1663700" y="299"/>
                </a:lnTo>
                <a:lnTo>
                  <a:pt x="1651000" y="393"/>
                </a:lnTo>
                <a:lnTo>
                  <a:pt x="1651000" y="2159978"/>
                </a:lnTo>
                <a:lnTo>
                  <a:pt x="1663700" y="2160071"/>
                </a:lnTo>
                <a:close/>
              </a:path>
              <a:path w="3403600" h="2160904">
                <a:moveTo>
                  <a:pt x="1676400" y="2160277"/>
                </a:moveTo>
                <a:lnTo>
                  <a:pt x="1676400" y="93"/>
                </a:lnTo>
                <a:lnTo>
                  <a:pt x="1663700" y="150"/>
                </a:lnTo>
                <a:lnTo>
                  <a:pt x="1663700" y="2160221"/>
                </a:lnTo>
                <a:lnTo>
                  <a:pt x="1676400" y="2160277"/>
                </a:lnTo>
                <a:close/>
              </a:path>
              <a:path w="3403600" h="2160904">
                <a:moveTo>
                  <a:pt x="1689100" y="2160353"/>
                </a:moveTo>
                <a:lnTo>
                  <a:pt x="1689100" y="18"/>
                </a:lnTo>
                <a:lnTo>
                  <a:pt x="1676400" y="50"/>
                </a:lnTo>
                <a:lnTo>
                  <a:pt x="1676400" y="2160321"/>
                </a:lnTo>
                <a:lnTo>
                  <a:pt x="1689100" y="2160353"/>
                </a:lnTo>
                <a:close/>
              </a:path>
              <a:path w="3403600" h="2160904">
                <a:moveTo>
                  <a:pt x="1714500" y="2160353"/>
                </a:moveTo>
                <a:lnTo>
                  <a:pt x="1714500" y="18"/>
                </a:lnTo>
                <a:lnTo>
                  <a:pt x="1701800" y="0"/>
                </a:lnTo>
                <a:lnTo>
                  <a:pt x="1689100" y="0"/>
                </a:lnTo>
                <a:lnTo>
                  <a:pt x="1689100" y="2160371"/>
                </a:lnTo>
                <a:lnTo>
                  <a:pt x="1701800" y="2160371"/>
                </a:lnTo>
                <a:lnTo>
                  <a:pt x="1714500" y="2160353"/>
                </a:lnTo>
                <a:close/>
              </a:path>
              <a:path w="3403600" h="2160904">
                <a:moveTo>
                  <a:pt x="1727200" y="2160277"/>
                </a:moveTo>
                <a:lnTo>
                  <a:pt x="1727200" y="93"/>
                </a:lnTo>
                <a:lnTo>
                  <a:pt x="1714500" y="50"/>
                </a:lnTo>
                <a:lnTo>
                  <a:pt x="1714500" y="2160321"/>
                </a:lnTo>
                <a:lnTo>
                  <a:pt x="1727200" y="2160277"/>
                </a:lnTo>
                <a:close/>
              </a:path>
              <a:path w="3403600" h="2160904">
                <a:moveTo>
                  <a:pt x="1739900" y="2160153"/>
                </a:moveTo>
                <a:lnTo>
                  <a:pt x="1739900" y="218"/>
                </a:lnTo>
                <a:lnTo>
                  <a:pt x="1727200" y="150"/>
                </a:lnTo>
                <a:lnTo>
                  <a:pt x="1727200" y="2160221"/>
                </a:lnTo>
                <a:lnTo>
                  <a:pt x="1739900" y="2160153"/>
                </a:lnTo>
                <a:close/>
              </a:path>
              <a:path w="3403600" h="2160904">
                <a:moveTo>
                  <a:pt x="1752600" y="2159872"/>
                </a:moveTo>
                <a:lnTo>
                  <a:pt x="1752600" y="499"/>
                </a:lnTo>
                <a:lnTo>
                  <a:pt x="1739900" y="393"/>
                </a:lnTo>
                <a:lnTo>
                  <a:pt x="1739900" y="2159978"/>
                </a:lnTo>
                <a:lnTo>
                  <a:pt x="1752600" y="2159872"/>
                </a:lnTo>
                <a:close/>
              </a:path>
              <a:path w="3403600" h="2160904">
                <a:moveTo>
                  <a:pt x="1765300" y="2159623"/>
                </a:moveTo>
                <a:lnTo>
                  <a:pt x="1765300" y="748"/>
                </a:lnTo>
                <a:lnTo>
                  <a:pt x="1752600" y="617"/>
                </a:lnTo>
                <a:lnTo>
                  <a:pt x="1752600" y="2159754"/>
                </a:lnTo>
                <a:lnTo>
                  <a:pt x="1765300" y="2159623"/>
                </a:lnTo>
                <a:close/>
              </a:path>
              <a:path w="3403600" h="2160904">
                <a:moveTo>
                  <a:pt x="1778000" y="2159325"/>
                </a:moveTo>
                <a:lnTo>
                  <a:pt x="1778000" y="1046"/>
                </a:lnTo>
                <a:lnTo>
                  <a:pt x="1765300" y="891"/>
                </a:lnTo>
                <a:lnTo>
                  <a:pt x="1765300" y="2159480"/>
                </a:lnTo>
                <a:lnTo>
                  <a:pt x="1778000" y="2159325"/>
                </a:lnTo>
                <a:close/>
              </a:path>
              <a:path w="3403600" h="2160904">
                <a:moveTo>
                  <a:pt x="1790700" y="2158978"/>
                </a:moveTo>
                <a:lnTo>
                  <a:pt x="1790700" y="1393"/>
                </a:lnTo>
                <a:lnTo>
                  <a:pt x="1778000" y="1213"/>
                </a:lnTo>
                <a:lnTo>
                  <a:pt x="1778000" y="2159158"/>
                </a:lnTo>
                <a:lnTo>
                  <a:pt x="1790700" y="2158978"/>
                </a:lnTo>
                <a:close/>
              </a:path>
              <a:path w="3403600" h="2160904">
                <a:moveTo>
                  <a:pt x="1803400" y="2158582"/>
                </a:moveTo>
                <a:lnTo>
                  <a:pt x="1803400" y="1789"/>
                </a:lnTo>
                <a:lnTo>
                  <a:pt x="1790700" y="1585"/>
                </a:lnTo>
                <a:lnTo>
                  <a:pt x="1790700" y="2158786"/>
                </a:lnTo>
                <a:lnTo>
                  <a:pt x="1803400" y="2158582"/>
                </a:lnTo>
                <a:close/>
              </a:path>
              <a:path w="3403600" h="2160904">
                <a:moveTo>
                  <a:pt x="1816100" y="2158137"/>
                </a:moveTo>
                <a:lnTo>
                  <a:pt x="1816100" y="2234"/>
                </a:lnTo>
                <a:lnTo>
                  <a:pt x="1803400" y="2006"/>
                </a:lnTo>
                <a:lnTo>
                  <a:pt x="1803400" y="2158365"/>
                </a:lnTo>
                <a:lnTo>
                  <a:pt x="1816100" y="2158137"/>
                </a:lnTo>
                <a:close/>
              </a:path>
              <a:path w="3403600" h="2160904">
                <a:moveTo>
                  <a:pt x="1828800" y="2157378"/>
                </a:moveTo>
                <a:lnTo>
                  <a:pt x="1828800" y="2993"/>
                </a:lnTo>
                <a:lnTo>
                  <a:pt x="1816100" y="2728"/>
                </a:lnTo>
                <a:lnTo>
                  <a:pt x="1816100" y="2157643"/>
                </a:lnTo>
                <a:lnTo>
                  <a:pt x="1828800" y="2157378"/>
                </a:lnTo>
                <a:close/>
              </a:path>
              <a:path w="3403600" h="2160904">
                <a:moveTo>
                  <a:pt x="1841500" y="2156812"/>
                </a:moveTo>
                <a:lnTo>
                  <a:pt x="1841500" y="3559"/>
                </a:lnTo>
                <a:lnTo>
                  <a:pt x="1828800" y="3270"/>
                </a:lnTo>
                <a:lnTo>
                  <a:pt x="1828800" y="2157101"/>
                </a:lnTo>
                <a:lnTo>
                  <a:pt x="1841500" y="2156812"/>
                </a:lnTo>
                <a:close/>
              </a:path>
              <a:path w="3403600" h="2160904">
                <a:moveTo>
                  <a:pt x="1854200" y="2156197"/>
                </a:moveTo>
                <a:lnTo>
                  <a:pt x="1854200" y="4174"/>
                </a:lnTo>
                <a:lnTo>
                  <a:pt x="1841500" y="3861"/>
                </a:lnTo>
                <a:lnTo>
                  <a:pt x="1841500" y="2156510"/>
                </a:lnTo>
                <a:lnTo>
                  <a:pt x="1854200" y="2156197"/>
                </a:lnTo>
                <a:close/>
              </a:path>
              <a:path w="3403600" h="2160904">
                <a:moveTo>
                  <a:pt x="1866900" y="2155534"/>
                </a:moveTo>
                <a:lnTo>
                  <a:pt x="1866900" y="4837"/>
                </a:lnTo>
                <a:lnTo>
                  <a:pt x="1854200" y="4499"/>
                </a:lnTo>
                <a:lnTo>
                  <a:pt x="1854200" y="2155872"/>
                </a:lnTo>
                <a:lnTo>
                  <a:pt x="1866900" y="2155534"/>
                </a:lnTo>
                <a:close/>
              </a:path>
              <a:path w="3403600" h="2160904">
                <a:moveTo>
                  <a:pt x="1879600" y="2154450"/>
                </a:moveTo>
                <a:lnTo>
                  <a:pt x="1879600" y="5921"/>
                </a:lnTo>
                <a:lnTo>
                  <a:pt x="1866900" y="5547"/>
                </a:lnTo>
                <a:lnTo>
                  <a:pt x="1866900" y="2154824"/>
                </a:lnTo>
                <a:lnTo>
                  <a:pt x="1879600" y="2154450"/>
                </a:lnTo>
                <a:close/>
              </a:path>
              <a:path w="3403600" h="2160904">
                <a:moveTo>
                  <a:pt x="1892300" y="2153668"/>
                </a:moveTo>
                <a:lnTo>
                  <a:pt x="1892300" y="6703"/>
                </a:lnTo>
                <a:lnTo>
                  <a:pt x="1879600" y="6306"/>
                </a:lnTo>
                <a:lnTo>
                  <a:pt x="1879600" y="2154065"/>
                </a:lnTo>
                <a:lnTo>
                  <a:pt x="1892300" y="2153668"/>
                </a:lnTo>
                <a:close/>
              </a:path>
              <a:path w="3403600" h="2160904">
                <a:moveTo>
                  <a:pt x="1905000" y="2152838"/>
                </a:moveTo>
                <a:lnTo>
                  <a:pt x="1905000" y="7533"/>
                </a:lnTo>
                <a:lnTo>
                  <a:pt x="1892300" y="7112"/>
                </a:lnTo>
                <a:lnTo>
                  <a:pt x="1892300" y="2153259"/>
                </a:lnTo>
                <a:lnTo>
                  <a:pt x="1905000" y="2152838"/>
                </a:lnTo>
                <a:close/>
              </a:path>
              <a:path w="3403600" h="2160904">
                <a:moveTo>
                  <a:pt x="1917700" y="2151961"/>
                </a:moveTo>
                <a:lnTo>
                  <a:pt x="1917700" y="8410"/>
                </a:lnTo>
                <a:lnTo>
                  <a:pt x="1905000" y="7965"/>
                </a:lnTo>
                <a:lnTo>
                  <a:pt x="1905000" y="2152406"/>
                </a:lnTo>
                <a:lnTo>
                  <a:pt x="1917700" y="2151961"/>
                </a:lnTo>
                <a:close/>
              </a:path>
              <a:path w="3403600" h="2160904">
                <a:moveTo>
                  <a:pt x="1930400" y="2151037"/>
                </a:moveTo>
                <a:lnTo>
                  <a:pt x="1930400" y="9334"/>
                </a:lnTo>
                <a:lnTo>
                  <a:pt x="1917700" y="8866"/>
                </a:lnTo>
                <a:lnTo>
                  <a:pt x="1917700" y="2151505"/>
                </a:lnTo>
                <a:lnTo>
                  <a:pt x="1930400" y="2151037"/>
                </a:lnTo>
                <a:close/>
              </a:path>
              <a:path w="3403600" h="2160904">
                <a:moveTo>
                  <a:pt x="1943100" y="2149562"/>
                </a:moveTo>
                <a:lnTo>
                  <a:pt x="1943100" y="10809"/>
                </a:lnTo>
                <a:lnTo>
                  <a:pt x="1930400" y="10305"/>
                </a:lnTo>
                <a:lnTo>
                  <a:pt x="1930400" y="2150066"/>
                </a:lnTo>
                <a:lnTo>
                  <a:pt x="1943100" y="2149562"/>
                </a:lnTo>
                <a:close/>
              </a:path>
              <a:path w="3403600" h="2160904">
                <a:moveTo>
                  <a:pt x="1955800" y="2148521"/>
                </a:moveTo>
                <a:lnTo>
                  <a:pt x="1955800" y="11850"/>
                </a:lnTo>
                <a:lnTo>
                  <a:pt x="1943100" y="11324"/>
                </a:lnTo>
                <a:lnTo>
                  <a:pt x="1943100" y="2149047"/>
                </a:lnTo>
                <a:lnTo>
                  <a:pt x="1955800" y="2148521"/>
                </a:lnTo>
                <a:close/>
              </a:path>
              <a:path w="3403600" h="2160904">
                <a:moveTo>
                  <a:pt x="1968500" y="2147432"/>
                </a:moveTo>
                <a:lnTo>
                  <a:pt x="1968500" y="12939"/>
                </a:lnTo>
                <a:lnTo>
                  <a:pt x="1955800" y="12389"/>
                </a:lnTo>
                <a:lnTo>
                  <a:pt x="1955800" y="2147982"/>
                </a:lnTo>
                <a:lnTo>
                  <a:pt x="1968500" y="2147432"/>
                </a:lnTo>
                <a:close/>
              </a:path>
              <a:path w="3403600" h="2160904">
                <a:moveTo>
                  <a:pt x="1981200" y="2146298"/>
                </a:moveTo>
                <a:lnTo>
                  <a:pt x="1981200" y="14073"/>
                </a:lnTo>
                <a:lnTo>
                  <a:pt x="1968500" y="13500"/>
                </a:lnTo>
                <a:lnTo>
                  <a:pt x="1968500" y="2146871"/>
                </a:lnTo>
                <a:lnTo>
                  <a:pt x="1981200" y="2146298"/>
                </a:lnTo>
                <a:close/>
              </a:path>
              <a:path w="3403600" h="2160904">
                <a:moveTo>
                  <a:pt x="1993900" y="2144509"/>
                </a:moveTo>
                <a:lnTo>
                  <a:pt x="1993900" y="15862"/>
                </a:lnTo>
                <a:lnTo>
                  <a:pt x="1981200" y="15255"/>
                </a:lnTo>
                <a:lnTo>
                  <a:pt x="1981200" y="2145117"/>
                </a:lnTo>
                <a:lnTo>
                  <a:pt x="1993900" y="2144509"/>
                </a:lnTo>
                <a:close/>
              </a:path>
              <a:path w="3403600" h="2160904">
                <a:moveTo>
                  <a:pt x="2006600" y="2143258"/>
                </a:moveTo>
                <a:lnTo>
                  <a:pt x="2006600" y="17113"/>
                </a:lnTo>
                <a:lnTo>
                  <a:pt x="1993900" y="16482"/>
                </a:lnTo>
                <a:lnTo>
                  <a:pt x="1993900" y="2143889"/>
                </a:lnTo>
                <a:lnTo>
                  <a:pt x="2006600" y="2143258"/>
                </a:lnTo>
                <a:close/>
              </a:path>
              <a:path w="3403600" h="2160904">
                <a:moveTo>
                  <a:pt x="2019300" y="2141962"/>
                </a:moveTo>
                <a:lnTo>
                  <a:pt x="2019300" y="18409"/>
                </a:lnTo>
                <a:lnTo>
                  <a:pt x="2006600" y="17755"/>
                </a:lnTo>
                <a:lnTo>
                  <a:pt x="2006600" y="2142616"/>
                </a:lnTo>
                <a:lnTo>
                  <a:pt x="2019300" y="2141962"/>
                </a:lnTo>
                <a:close/>
              </a:path>
              <a:path w="3403600" h="2160904">
                <a:moveTo>
                  <a:pt x="2032000" y="2139932"/>
                </a:moveTo>
                <a:lnTo>
                  <a:pt x="2032000" y="20439"/>
                </a:lnTo>
                <a:lnTo>
                  <a:pt x="2019300" y="19751"/>
                </a:lnTo>
                <a:lnTo>
                  <a:pt x="2019300" y="2140620"/>
                </a:lnTo>
                <a:lnTo>
                  <a:pt x="2032000" y="2139932"/>
                </a:lnTo>
                <a:close/>
              </a:path>
              <a:path w="3403600" h="2160904">
                <a:moveTo>
                  <a:pt x="2044700" y="2138522"/>
                </a:moveTo>
                <a:lnTo>
                  <a:pt x="2044700" y="21850"/>
                </a:lnTo>
                <a:lnTo>
                  <a:pt x="2032000" y="21139"/>
                </a:lnTo>
                <a:lnTo>
                  <a:pt x="2032000" y="2139233"/>
                </a:lnTo>
                <a:lnTo>
                  <a:pt x="2044700" y="2138522"/>
                </a:lnTo>
                <a:close/>
              </a:path>
              <a:path w="3403600" h="2160904">
                <a:moveTo>
                  <a:pt x="2057400" y="2137066"/>
                </a:moveTo>
                <a:lnTo>
                  <a:pt x="2057400" y="23305"/>
                </a:lnTo>
                <a:lnTo>
                  <a:pt x="2044700" y="22572"/>
                </a:lnTo>
                <a:lnTo>
                  <a:pt x="2044700" y="2137799"/>
                </a:lnTo>
                <a:lnTo>
                  <a:pt x="2057400" y="2137066"/>
                </a:lnTo>
                <a:close/>
              </a:path>
              <a:path w="3403600" h="2160904">
                <a:moveTo>
                  <a:pt x="2070100" y="2135565"/>
                </a:moveTo>
                <a:lnTo>
                  <a:pt x="2070100" y="24806"/>
                </a:lnTo>
                <a:lnTo>
                  <a:pt x="2057400" y="24050"/>
                </a:lnTo>
                <a:lnTo>
                  <a:pt x="2057400" y="2136321"/>
                </a:lnTo>
                <a:lnTo>
                  <a:pt x="2070100" y="2135565"/>
                </a:lnTo>
                <a:close/>
              </a:path>
              <a:path w="3403600" h="2160904">
                <a:moveTo>
                  <a:pt x="2082800" y="2133229"/>
                </a:moveTo>
                <a:lnTo>
                  <a:pt x="2082800" y="27142"/>
                </a:lnTo>
                <a:lnTo>
                  <a:pt x="2070100" y="26352"/>
                </a:lnTo>
                <a:lnTo>
                  <a:pt x="2070100" y="2134019"/>
                </a:lnTo>
                <a:lnTo>
                  <a:pt x="2082800" y="2133229"/>
                </a:lnTo>
                <a:close/>
              </a:path>
              <a:path w="3403600" h="2160904">
                <a:moveTo>
                  <a:pt x="2095500" y="2131616"/>
                </a:moveTo>
                <a:lnTo>
                  <a:pt x="2095500" y="28756"/>
                </a:lnTo>
                <a:lnTo>
                  <a:pt x="2082800" y="27943"/>
                </a:lnTo>
                <a:lnTo>
                  <a:pt x="2082800" y="2132428"/>
                </a:lnTo>
                <a:lnTo>
                  <a:pt x="2095500" y="2131616"/>
                </a:lnTo>
                <a:close/>
              </a:path>
              <a:path w="3403600" h="2160904">
                <a:moveTo>
                  <a:pt x="2108200" y="2129958"/>
                </a:moveTo>
                <a:lnTo>
                  <a:pt x="2108200" y="30414"/>
                </a:lnTo>
                <a:lnTo>
                  <a:pt x="2095500" y="29579"/>
                </a:lnTo>
                <a:lnTo>
                  <a:pt x="2095500" y="2130792"/>
                </a:lnTo>
                <a:lnTo>
                  <a:pt x="2108200" y="2129958"/>
                </a:lnTo>
                <a:close/>
              </a:path>
              <a:path w="3403600" h="2160904">
                <a:moveTo>
                  <a:pt x="2120900" y="2127388"/>
                </a:moveTo>
                <a:lnTo>
                  <a:pt x="2120900" y="32984"/>
                </a:lnTo>
                <a:lnTo>
                  <a:pt x="2108200" y="32116"/>
                </a:lnTo>
                <a:lnTo>
                  <a:pt x="2108200" y="2128256"/>
                </a:lnTo>
                <a:lnTo>
                  <a:pt x="2120900" y="2127388"/>
                </a:lnTo>
                <a:close/>
              </a:path>
              <a:path w="3403600" h="2160904">
                <a:moveTo>
                  <a:pt x="2133600" y="2125619"/>
                </a:moveTo>
                <a:lnTo>
                  <a:pt x="2133600" y="34753"/>
                </a:lnTo>
                <a:lnTo>
                  <a:pt x="2120900" y="33863"/>
                </a:lnTo>
                <a:lnTo>
                  <a:pt x="2120900" y="2126509"/>
                </a:lnTo>
                <a:lnTo>
                  <a:pt x="2133600" y="2125619"/>
                </a:lnTo>
                <a:close/>
              </a:path>
              <a:path w="3403600" h="2160904">
                <a:moveTo>
                  <a:pt x="2146300" y="2123806"/>
                </a:moveTo>
                <a:lnTo>
                  <a:pt x="2146300" y="36566"/>
                </a:lnTo>
                <a:lnTo>
                  <a:pt x="2133600" y="35654"/>
                </a:lnTo>
                <a:lnTo>
                  <a:pt x="2133600" y="2124718"/>
                </a:lnTo>
                <a:lnTo>
                  <a:pt x="2146300" y="2123806"/>
                </a:lnTo>
                <a:close/>
              </a:path>
              <a:path w="3403600" h="2160904">
                <a:moveTo>
                  <a:pt x="2159000" y="2121004"/>
                </a:moveTo>
                <a:lnTo>
                  <a:pt x="2159000" y="39368"/>
                </a:lnTo>
                <a:lnTo>
                  <a:pt x="2146300" y="38423"/>
                </a:lnTo>
                <a:lnTo>
                  <a:pt x="2146300" y="2121949"/>
                </a:lnTo>
                <a:lnTo>
                  <a:pt x="2159000" y="2121004"/>
                </a:lnTo>
                <a:close/>
              </a:path>
              <a:path w="3403600" h="2160904">
                <a:moveTo>
                  <a:pt x="2171700" y="2119082"/>
                </a:moveTo>
                <a:lnTo>
                  <a:pt x="2171700" y="41290"/>
                </a:lnTo>
                <a:lnTo>
                  <a:pt x="2159000" y="40323"/>
                </a:lnTo>
                <a:lnTo>
                  <a:pt x="2159000" y="2120048"/>
                </a:lnTo>
                <a:lnTo>
                  <a:pt x="2171700" y="2119082"/>
                </a:lnTo>
                <a:close/>
              </a:path>
              <a:path w="3403600" h="2160904">
                <a:moveTo>
                  <a:pt x="2184400" y="2117116"/>
                </a:moveTo>
                <a:lnTo>
                  <a:pt x="2184400" y="43256"/>
                </a:lnTo>
                <a:lnTo>
                  <a:pt x="2171700" y="42268"/>
                </a:lnTo>
                <a:lnTo>
                  <a:pt x="2171700" y="2118104"/>
                </a:lnTo>
                <a:lnTo>
                  <a:pt x="2184400" y="2117116"/>
                </a:lnTo>
                <a:close/>
              </a:path>
              <a:path w="3403600" h="2160904">
                <a:moveTo>
                  <a:pt x="2197100" y="2114085"/>
                </a:moveTo>
                <a:lnTo>
                  <a:pt x="2197100" y="46287"/>
                </a:lnTo>
                <a:lnTo>
                  <a:pt x="2184400" y="45266"/>
                </a:lnTo>
                <a:lnTo>
                  <a:pt x="2184400" y="2115106"/>
                </a:lnTo>
                <a:lnTo>
                  <a:pt x="2197100" y="2114085"/>
                </a:lnTo>
                <a:close/>
              </a:path>
              <a:path w="3403600" h="2160904">
                <a:moveTo>
                  <a:pt x="2209800" y="2112011"/>
                </a:moveTo>
                <a:lnTo>
                  <a:pt x="2209800" y="48361"/>
                </a:lnTo>
                <a:lnTo>
                  <a:pt x="2197100" y="47318"/>
                </a:lnTo>
                <a:lnTo>
                  <a:pt x="2197100" y="2113054"/>
                </a:lnTo>
                <a:lnTo>
                  <a:pt x="2209800" y="2112011"/>
                </a:lnTo>
                <a:close/>
              </a:path>
              <a:path w="3403600" h="2160904">
                <a:moveTo>
                  <a:pt x="2222500" y="2108819"/>
                </a:moveTo>
                <a:lnTo>
                  <a:pt x="2222500" y="51553"/>
                </a:lnTo>
                <a:lnTo>
                  <a:pt x="2209800" y="50478"/>
                </a:lnTo>
                <a:lnTo>
                  <a:pt x="2209800" y="2109894"/>
                </a:lnTo>
                <a:lnTo>
                  <a:pt x="2222500" y="2108819"/>
                </a:lnTo>
                <a:close/>
              </a:path>
              <a:path w="3403600" h="2160904">
                <a:moveTo>
                  <a:pt x="2235200" y="2106638"/>
                </a:moveTo>
                <a:lnTo>
                  <a:pt x="2235200" y="53734"/>
                </a:lnTo>
                <a:lnTo>
                  <a:pt x="2222500" y="52638"/>
                </a:lnTo>
                <a:lnTo>
                  <a:pt x="2222500" y="2107734"/>
                </a:lnTo>
                <a:lnTo>
                  <a:pt x="2235200" y="2106638"/>
                </a:lnTo>
                <a:close/>
              </a:path>
              <a:path w="3403600" h="2160904">
                <a:moveTo>
                  <a:pt x="2247900" y="2104414"/>
                </a:moveTo>
                <a:lnTo>
                  <a:pt x="2247900" y="55958"/>
                </a:lnTo>
                <a:lnTo>
                  <a:pt x="2235200" y="54841"/>
                </a:lnTo>
                <a:lnTo>
                  <a:pt x="2235200" y="2105532"/>
                </a:lnTo>
                <a:lnTo>
                  <a:pt x="2247900" y="2104414"/>
                </a:lnTo>
                <a:close/>
              </a:path>
              <a:path w="3403600" h="2160904">
                <a:moveTo>
                  <a:pt x="2260600" y="2100999"/>
                </a:moveTo>
                <a:lnTo>
                  <a:pt x="2260600" y="59373"/>
                </a:lnTo>
                <a:lnTo>
                  <a:pt x="2247900" y="58224"/>
                </a:lnTo>
                <a:lnTo>
                  <a:pt x="2247900" y="2102148"/>
                </a:lnTo>
                <a:lnTo>
                  <a:pt x="2260600" y="2100999"/>
                </a:lnTo>
                <a:close/>
              </a:path>
              <a:path w="3403600" h="2160904">
                <a:moveTo>
                  <a:pt x="2273300" y="2098669"/>
                </a:moveTo>
                <a:lnTo>
                  <a:pt x="2273300" y="61703"/>
                </a:lnTo>
                <a:lnTo>
                  <a:pt x="2260600" y="60533"/>
                </a:lnTo>
                <a:lnTo>
                  <a:pt x="2260600" y="2099840"/>
                </a:lnTo>
                <a:lnTo>
                  <a:pt x="2273300" y="2098669"/>
                </a:lnTo>
                <a:close/>
              </a:path>
              <a:path w="3403600" h="2160904">
                <a:moveTo>
                  <a:pt x="2286000" y="2095096"/>
                </a:moveTo>
                <a:lnTo>
                  <a:pt x="2286000" y="65276"/>
                </a:lnTo>
                <a:lnTo>
                  <a:pt x="2273300" y="64074"/>
                </a:lnTo>
                <a:lnTo>
                  <a:pt x="2273300" y="2096298"/>
                </a:lnTo>
                <a:lnTo>
                  <a:pt x="2286000" y="2095096"/>
                </a:lnTo>
                <a:close/>
              </a:path>
              <a:path w="3403600" h="2160904">
                <a:moveTo>
                  <a:pt x="2298700" y="2092662"/>
                </a:moveTo>
                <a:lnTo>
                  <a:pt x="2298700" y="67710"/>
                </a:lnTo>
                <a:lnTo>
                  <a:pt x="2286000" y="66488"/>
                </a:lnTo>
                <a:lnTo>
                  <a:pt x="2286000" y="2093884"/>
                </a:lnTo>
                <a:lnTo>
                  <a:pt x="2298700" y="2092662"/>
                </a:lnTo>
                <a:close/>
              </a:path>
              <a:path w="3403600" h="2160904">
                <a:moveTo>
                  <a:pt x="2311400" y="2090186"/>
                </a:moveTo>
                <a:lnTo>
                  <a:pt x="2311400" y="70186"/>
                </a:lnTo>
                <a:lnTo>
                  <a:pt x="2298700" y="68943"/>
                </a:lnTo>
                <a:lnTo>
                  <a:pt x="2298700" y="2091429"/>
                </a:lnTo>
                <a:lnTo>
                  <a:pt x="2311400" y="2090186"/>
                </a:lnTo>
                <a:close/>
              </a:path>
              <a:path w="3403600" h="2160904">
                <a:moveTo>
                  <a:pt x="2324100" y="2086395"/>
                </a:moveTo>
                <a:lnTo>
                  <a:pt x="2324100" y="73978"/>
                </a:lnTo>
                <a:lnTo>
                  <a:pt x="2311400" y="72704"/>
                </a:lnTo>
                <a:lnTo>
                  <a:pt x="2311400" y="2087669"/>
                </a:lnTo>
                <a:lnTo>
                  <a:pt x="2324100" y="2086395"/>
                </a:lnTo>
                <a:close/>
              </a:path>
              <a:path w="3403600" h="2160904">
                <a:moveTo>
                  <a:pt x="2336800" y="2083815"/>
                </a:moveTo>
                <a:lnTo>
                  <a:pt x="2336800" y="76557"/>
                </a:lnTo>
                <a:lnTo>
                  <a:pt x="2324100" y="75263"/>
                </a:lnTo>
                <a:lnTo>
                  <a:pt x="2324100" y="2085110"/>
                </a:lnTo>
                <a:lnTo>
                  <a:pt x="2336800" y="2083815"/>
                </a:lnTo>
                <a:close/>
              </a:path>
              <a:path w="3403600" h="2160904">
                <a:moveTo>
                  <a:pt x="2349500" y="2079869"/>
                </a:moveTo>
                <a:lnTo>
                  <a:pt x="2349500" y="80503"/>
                </a:lnTo>
                <a:lnTo>
                  <a:pt x="2336800" y="79178"/>
                </a:lnTo>
                <a:lnTo>
                  <a:pt x="2336800" y="2081195"/>
                </a:lnTo>
                <a:lnTo>
                  <a:pt x="2349500" y="2079869"/>
                </a:lnTo>
                <a:close/>
              </a:path>
              <a:path w="3403600" h="2160904">
                <a:moveTo>
                  <a:pt x="2362200" y="2077188"/>
                </a:moveTo>
                <a:lnTo>
                  <a:pt x="2362200" y="83185"/>
                </a:lnTo>
                <a:lnTo>
                  <a:pt x="2349500" y="81839"/>
                </a:lnTo>
                <a:lnTo>
                  <a:pt x="2349500" y="2078534"/>
                </a:lnTo>
                <a:lnTo>
                  <a:pt x="2362200" y="2077188"/>
                </a:lnTo>
                <a:close/>
              </a:path>
              <a:path w="3403600" h="2160904">
                <a:moveTo>
                  <a:pt x="2374900" y="2073089"/>
                </a:moveTo>
                <a:lnTo>
                  <a:pt x="2374900" y="87284"/>
                </a:lnTo>
                <a:lnTo>
                  <a:pt x="2362200" y="85907"/>
                </a:lnTo>
                <a:lnTo>
                  <a:pt x="2362200" y="2074466"/>
                </a:lnTo>
                <a:lnTo>
                  <a:pt x="2374900" y="2073089"/>
                </a:lnTo>
                <a:close/>
              </a:path>
              <a:path w="3403600" h="2160904">
                <a:moveTo>
                  <a:pt x="2387600" y="2070306"/>
                </a:moveTo>
                <a:lnTo>
                  <a:pt x="2387600" y="90067"/>
                </a:lnTo>
                <a:lnTo>
                  <a:pt x="2374900" y="88670"/>
                </a:lnTo>
                <a:lnTo>
                  <a:pt x="2374900" y="2071703"/>
                </a:lnTo>
                <a:lnTo>
                  <a:pt x="2387600" y="2070306"/>
                </a:lnTo>
                <a:close/>
              </a:path>
              <a:path w="3403600" h="2160904">
                <a:moveTo>
                  <a:pt x="2400300" y="2066056"/>
                </a:moveTo>
                <a:lnTo>
                  <a:pt x="2400300" y="94317"/>
                </a:lnTo>
                <a:lnTo>
                  <a:pt x="2387600" y="92890"/>
                </a:lnTo>
                <a:lnTo>
                  <a:pt x="2387600" y="2067483"/>
                </a:lnTo>
                <a:lnTo>
                  <a:pt x="2400300" y="2066056"/>
                </a:lnTo>
                <a:close/>
              </a:path>
              <a:path w="3403600" h="2160904">
                <a:moveTo>
                  <a:pt x="2413000" y="2063173"/>
                </a:moveTo>
                <a:lnTo>
                  <a:pt x="2413000" y="97200"/>
                </a:lnTo>
                <a:lnTo>
                  <a:pt x="2400300" y="95753"/>
                </a:lnTo>
                <a:lnTo>
                  <a:pt x="2400300" y="2064620"/>
                </a:lnTo>
                <a:lnTo>
                  <a:pt x="2413000" y="2063173"/>
                </a:lnTo>
                <a:close/>
              </a:path>
              <a:path w="3403600" h="2160904">
                <a:moveTo>
                  <a:pt x="2425700" y="2058774"/>
                </a:moveTo>
                <a:lnTo>
                  <a:pt x="2425700" y="101600"/>
                </a:lnTo>
                <a:lnTo>
                  <a:pt x="2413000" y="100123"/>
                </a:lnTo>
                <a:lnTo>
                  <a:pt x="2413000" y="2060250"/>
                </a:lnTo>
                <a:lnTo>
                  <a:pt x="2425700" y="2058774"/>
                </a:lnTo>
                <a:close/>
              </a:path>
              <a:path w="3403600" h="2160904">
                <a:moveTo>
                  <a:pt x="2438400" y="2055791"/>
                </a:moveTo>
                <a:lnTo>
                  <a:pt x="2438400" y="104582"/>
                </a:lnTo>
                <a:lnTo>
                  <a:pt x="2425700" y="103086"/>
                </a:lnTo>
                <a:lnTo>
                  <a:pt x="2425700" y="2057287"/>
                </a:lnTo>
                <a:lnTo>
                  <a:pt x="2438400" y="2055791"/>
                </a:lnTo>
                <a:close/>
              </a:path>
              <a:path w="3403600" h="2160904">
                <a:moveTo>
                  <a:pt x="2451100" y="2051243"/>
                </a:moveTo>
                <a:lnTo>
                  <a:pt x="2451100" y="109130"/>
                </a:lnTo>
                <a:lnTo>
                  <a:pt x="2438400" y="107604"/>
                </a:lnTo>
                <a:lnTo>
                  <a:pt x="2438400" y="2052769"/>
                </a:lnTo>
                <a:lnTo>
                  <a:pt x="2451100" y="2051243"/>
                </a:lnTo>
                <a:close/>
              </a:path>
              <a:path w="3403600" h="2160904">
                <a:moveTo>
                  <a:pt x="2463800" y="2046607"/>
                </a:moveTo>
                <a:lnTo>
                  <a:pt x="2463800" y="113766"/>
                </a:lnTo>
                <a:lnTo>
                  <a:pt x="2451100" y="112211"/>
                </a:lnTo>
                <a:lnTo>
                  <a:pt x="2451100" y="2048162"/>
                </a:lnTo>
                <a:lnTo>
                  <a:pt x="2463800" y="2046607"/>
                </a:lnTo>
                <a:close/>
              </a:path>
              <a:path w="3403600" h="2160904">
                <a:moveTo>
                  <a:pt x="2476500" y="2043468"/>
                </a:moveTo>
                <a:lnTo>
                  <a:pt x="2476500" y="116906"/>
                </a:lnTo>
                <a:lnTo>
                  <a:pt x="2463800" y="115331"/>
                </a:lnTo>
                <a:lnTo>
                  <a:pt x="2463800" y="2045042"/>
                </a:lnTo>
                <a:lnTo>
                  <a:pt x="2476500" y="2043468"/>
                </a:lnTo>
                <a:close/>
              </a:path>
              <a:path w="3403600" h="2160904">
                <a:moveTo>
                  <a:pt x="2489200" y="2038686"/>
                </a:moveTo>
                <a:lnTo>
                  <a:pt x="2489200" y="121688"/>
                </a:lnTo>
                <a:lnTo>
                  <a:pt x="2476500" y="120084"/>
                </a:lnTo>
                <a:lnTo>
                  <a:pt x="2476500" y="2040289"/>
                </a:lnTo>
                <a:lnTo>
                  <a:pt x="2489200" y="2038686"/>
                </a:lnTo>
                <a:close/>
              </a:path>
              <a:path w="3403600" h="2160904">
                <a:moveTo>
                  <a:pt x="2501900" y="2035449"/>
                </a:moveTo>
                <a:lnTo>
                  <a:pt x="2501900" y="124924"/>
                </a:lnTo>
                <a:lnTo>
                  <a:pt x="2489200" y="123301"/>
                </a:lnTo>
                <a:lnTo>
                  <a:pt x="2489200" y="2037072"/>
                </a:lnTo>
                <a:lnTo>
                  <a:pt x="2501900" y="2035449"/>
                </a:lnTo>
                <a:close/>
              </a:path>
              <a:path w="3403600" h="2160904">
                <a:moveTo>
                  <a:pt x="2514600" y="2030523"/>
                </a:moveTo>
                <a:lnTo>
                  <a:pt x="2514600" y="129851"/>
                </a:lnTo>
                <a:lnTo>
                  <a:pt x="2501900" y="128199"/>
                </a:lnTo>
                <a:lnTo>
                  <a:pt x="2501900" y="2032175"/>
                </a:lnTo>
                <a:lnTo>
                  <a:pt x="2514600" y="2030523"/>
                </a:lnTo>
                <a:close/>
              </a:path>
              <a:path w="3403600" h="2160904">
                <a:moveTo>
                  <a:pt x="2527300" y="2025511"/>
                </a:moveTo>
                <a:lnTo>
                  <a:pt x="2527300" y="134863"/>
                </a:lnTo>
                <a:lnTo>
                  <a:pt x="2514600" y="133183"/>
                </a:lnTo>
                <a:lnTo>
                  <a:pt x="2514600" y="2027191"/>
                </a:lnTo>
                <a:lnTo>
                  <a:pt x="2527300" y="2025511"/>
                </a:lnTo>
                <a:close/>
              </a:path>
              <a:path w="3403600" h="2160904">
                <a:moveTo>
                  <a:pt x="2540000" y="2022122"/>
                </a:moveTo>
                <a:lnTo>
                  <a:pt x="2540000" y="138252"/>
                </a:lnTo>
                <a:lnTo>
                  <a:pt x="2527300" y="136553"/>
                </a:lnTo>
                <a:lnTo>
                  <a:pt x="2527300" y="2023821"/>
                </a:lnTo>
                <a:lnTo>
                  <a:pt x="2540000" y="2022122"/>
                </a:lnTo>
                <a:close/>
              </a:path>
              <a:path w="3403600" h="2160904">
                <a:moveTo>
                  <a:pt x="2552700" y="2016968"/>
                </a:moveTo>
                <a:lnTo>
                  <a:pt x="2552700" y="143406"/>
                </a:lnTo>
                <a:lnTo>
                  <a:pt x="2540000" y="141679"/>
                </a:lnTo>
                <a:lnTo>
                  <a:pt x="2540000" y="2018695"/>
                </a:lnTo>
                <a:lnTo>
                  <a:pt x="2552700" y="2016968"/>
                </a:lnTo>
                <a:close/>
              </a:path>
              <a:path w="3403600" h="2160904">
                <a:moveTo>
                  <a:pt x="2565400" y="2011729"/>
                </a:moveTo>
                <a:lnTo>
                  <a:pt x="2565400" y="148645"/>
                </a:lnTo>
                <a:lnTo>
                  <a:pt x="2552700" y="146889"/>
                </a:lnTo>
                <a:lnTo>
                  <a:pt x="2552700" y="2013485"/>
                </a:lnTo>
                <a:lnTo>
                  <a:pt x="2565400" y="2011729"/>
                </a:lnTo>
                <a:close/>
              </a:path>
              <a:path w="3403600" h="2160904">
                <a:moveTo>
                  <a:pt x="2578100" y="2008190"/>
                </a:moveTo>
                <a:lnTo>
                  <a:pt x="2578100" y="152184"/>
                </a:lnTo>
                <a:lnTo>
                  <a:pt x="2565400" y="150410"/>
                </a:lnTo>
                <a:lnTo>
                  <a:pt x="2565400" y="2009964"/>
                </a:lnTo>
                <a:lnTo>
                  <a:pt x="2578100" y="2008190"/>
                </a:lnTo>
                <a:close/>
              </a:path>
              <a:path w="3403600" h="2160904">
                <a:moveTo>
                  <a:pt x="2590800" y="2002812"/>
                </a:moveTo>
                <a:lnTo>
                  <a:pt x="2590800" y="157563"/>
                </a:lnTo>
                <a:lnTo>
                  <a:pt x="2578100" y="155761"/>
                </a:lnTo>
                <a:lnTo>
                  <a:pt x="2578100" y="2004614"/>
                </a:lnTo>
                <a:lnTo>
                  <a:pt x="2590800" y="2002812"/>
                </a:lnTo>
                <a:close/>
              </a:path>
              <a:path w="3403600" h="2160904">
                <a:moveTo>
                  <a:pt x="2603500" y="1997351"/>
                </a:moveTo>
                <a:lnTo>
                  <a:pt x="2603500" y="163024"/>
                </a:lnTo>
                <a:lnTo>
                  <a:pt x="2590800" y="161194"/>
                </a:lnTo>
                <a:lnTo>
                  <a:pt x="2590800" y="1999180"/>
                </a:lnTo>
                <a:lnTo>
                  <a:pt x="2603500" y="1997351"/>
                </a:lnTo>
                <a:close/>
              </a:path>
              <a:path w="3403600" h="2160904">
                <a:moveTo>
                  <a:pt x="2616200" y="1993664"/>
                </a:moveTo>
                <a:lnTo>
                  <a:pt x="2616200" y="166711"/>
                </a:lnTo>
                <a:lnTo>
                  <a:pt x="2603500" y="164863"/>
                </a:lnTo>
                <a:lnTo>
                  <a:pt x="2603500" y="1995512"/>
                </a:lnTo>
                <a:lnTo>
                  <a:pt x="2616200" y="1993664"/>
                </a:lnTo>
                <a:close/>
              </a:path>
              <a:path w="3403600" h="2160904">
                <a:moveTo>
                  <a:pt x="2628900" y="1988065"/>
                </a:moveTo>
                <a:lnTo>
                  <a:pt x="2628900" y="172309"/>
                </a:lnTo>
                <a:lnTo>
                  <a:pt x="2616200" y="170434"/>
                </a:lnTo>
                <a:lnTo>
                  <a:pt x="2616200" y="1989941"/>
                </a:lnTo>
                <a:lnTo>
                  <a:pt x="2628900" y="1988065"/>
                </a:lnTo>
                <a:close/>
              </a:path>
              <a:path w="3403600" h="2160904">
                <a:moveTo>
                  <a:pt x="2641600" y="1982386"/>
                </a:moveTo>
                <a:lnTo>
                  <a:pt x="2641600" y="177989"/>
                </a:lnTo>
                <a:lnTo>
                  <a:pt x="2628900" y="176087"/>
                </a:lnTo>
                <a:lnTo>
                  <a:pt x="2628900" y="1984288"/>
                </a:lnTo>
                <a:lnTo>
                  <a:pt x="2641600" y="1982386"/>
                </a:lnTo>
                <a:close/>
              </a:path>
              <a:path w="3403600" h="2160904">
                <a:moveTo>
                  <a:pt x="2654300" y="1976624"/>
                </a:moveTo>
                <a:lnTo>
                  <a:pt x="2654300" y="183750"/>
                </a:lnTo>
                <a:lnTo>
                  <a:pt x="2641600" y="181821"/>
                </a:lnTo>
                <a:lnTo>
                  <a:pt x="2641600" y="1978554"/>
                </a:lnTo>
                <a:lnTo>
                  <a:pt x="2654300" y="1976624"/>
                </a:lnTo>
                <a:close/>
              </a:path>
              <a:path w="3403600" h="2160904">
                <a:moveTo>
                  <a:pt x="2667000" y="1970783"/>
                </a:moveTo>
                <a:lnTo>
                  <a:pt x="2667000" y="189592"/>
                </a:lnTo>
                <a:lnTo>
                  <a:pt x="2654300" y="187636"/>
                </a:lnTo>
                <a:lnTo>
                  <a:pt x="2654300" y="1972739"/>
                </a:lnTo>
                <a:lnTo>
                  <a:pt x="2667000" y="1970783"/>
                </a:lnTo>
                <a:close/>
              </a:path>
              <a:path w="3403600" h="2160904">
                <a:moveTo>
                  <a:pt x="2679700" y="1966844"/>
                </a:moveTo>
                <a:lnTo>
                  <a:pt x="2679700" y="193531"/>
                </a:lnTo>
                <a:lnTo>
                  <a:pt x="2667000" y="191557"/>
                </a:lnTo>
                <a:lnTo>
                  <a:pt x="2667000" y="1968818"/>
                </a:lnTo>
                <a:lnTo>
                  <a:pt x="2679700" y="1966844"/>
                </a:lnTo>
                <a:close/>
              </a:path>
              <a:path w="3403600" h="2160904">
                <a:moveTo>
                  <a:pt x="2692400" y="1960870"/>
                </a:moveTo>
                <a:lnTo>
                  <a:pt x="2692400" y="199505"/>
                </a:lnTo>
                <a:lnTo>
                  <a:pt x="2679700" y="197505"/>
                </a:lnTo>
                <a:lnTo>
                  <a:pt x="2679700" y="1962870"/>
                </a:lnTo>
                <a:lnTo>
                  <a:pt x="2692400" y="1960870"/>
                </a:lnTo>
                <a:close/>
              </a:path>
              <a:path w="3403600" h="2160904">
                <a:moveTo>
                  <a:pt x="2705100" y="1954816"/>
                </a:moveTo>
                <a:lnTo>
                  <a:pt x="2705100" y="205559"/>
                </a:lnTo>
                <a:lnTo>
                  <a:pt x="2692400" y="203532"/>
                </a:lnTo>
                <a:lnTo>
                  <a:pt x="2692400" y="1956843"/>
                </a:lnTo>
                <a:lnTo>
                  <a:pt x="2705100" y="1954816"/>
                </a:lnTo>
                <a:close/>
              </a:path>
              <a:path w="3403600" h="2160904">
                <a:moveTo>
                  <a:pt x="2717800" y="1948684"/>
                </a:moveTo>
                <a:lnTo>
                  <a:pt x="2717800" y="211691"/>
                </a:lnTo>
                <a:lnTo>
                  <a:pt x="2705100" y="209638"/>
                </a:lnTo>
                <a:lnTo>
                  <a:pt x="2705100" y="1950737"/>
                </a:lnTo>
                <a:lnTo>
                  <a:pt x="2717800" y="1948684"/>
                </a:lnTo>
                <a:close/>
              </a:path>
              <a:path w="3403600" h="2160904">
                <a:moveTo>
                  <a:pt x="2730500" y="1942474"/>
                </a:moveTo>
                <a:lnTo>
                  <a:pt x="2730500" y="217901"/>
                </a:lnTo>
                <a:lnTo>
                  <a:pt x="2717800" y="215823"/>
                </a:lnTo>
                <a:lnTo>
                  <a:pt x="2717800" y="1944553"/>
                </a:lnTo>
                <a:lnTo>
                  <a:pt x="2730500" y="1942474"/>
                </a:lnTo>
                <a:close/>
              </a:path>
              <a:path w="3403600" h="2160904">
                <a:moveTo>
                  <a:pt x="2743200" y="1936187"/>
                </a:moveTo>
                <a:lnTo>
                  <a:pt x="2743200" y="224189"/>
                </a:lnTo>
                <a:lnTo>
                  <a:pt x="2730500" y="222085"/>
                </a:lnTo>
                <a:lnTo>
                  <a:pt x="2730500" y="1938291"/>
                </a:lnTo>
                <a:lnTo>
                  <a:pt x="2743200" y="1936187"/>
                </a:lnTo>
                <a:close/>
              </a:path>
              <a:path w="3403600" h="2160904">
                <a:moveTo>
                  <a:pt x="2755900" y="1929822"/>
                </a:moveTo>
                <a:lnTo>
                  <a:pt x="2755900" y="230554"/>
                </a:lnTo>
                <a:lnTo>
                  <a:pt x="2743200" y="228424"/>
                </a:lnTo>
                <a:lnTo>
                  <a:pt x="2743200" y="1931952"/>
                </a:lnTo>
                <a:lnTo>
                  <a:pt x="2755900" y="1929822"/>
                </a:lnTo>
                <a:close/>
              </a:path>
              <a:path w="3403600" h="2160904">
                <a:moveTo>
                  <a:pt x="2768600" y="1923381"/>
                </a:moveTo>
                <a:lnTo>
                  <a:pt x="2768600" y="236994"/>
                </a:lnTo>
                <a:lnTo>
                  <a:pt x="2755900" y="234839"/>
                </a:lnTo>
                <a:lnTo>
                  <a:pt x="2755900" y="1925537"/>
                </a:lnTo>
                <a:lnTo>
                  <a:pt x="2768600" y="1923381"/>
                </a:lnTo>
                <a:close/>
              </a:path>
              <a:path w="3403600" h="2160904">
                <a:moveTo>
                  <a:pt x="2781300" y="1916865"/>
                </a:moveTo>
                <a:lnTo>
                  <a:pt x="2781300" y="243511"/>
                </a:lnTo>
                <a:lnTo>
                  <a:pt x="2768600" y="241331"/>
                </a:lnTo>
                <a:lnTo>
                  <a:pt x="2768600" y="1919045"/>
                </a:lnTo>
                <a:lnTo>
                  <a:pt x="2781300" y="1916865"/>
                </a:lnTo>
                <a:close/>
              </a:path>
              <a:path w="3403600" h="2160904">
                <a:moveTo>
                  <a:pt x="2794000" y="1910273"/>
                </a:moveTo>
                <a:lnTo>
                  <a:pt x="2794000" y="250103"/>
                </a:lnTo>
                <a:lnTo>
                  <a:pt x="2781300" y="247897"/>
                </a:lnTo>
                <a:lnTo>
                  <a:pt x="2781300" y="1912479"/>
                </a:lnTo>
                <a:lnTo>
                  <a:pt x="2794000" y="1910273"/>
                </a:lnTo>
                <a:close/>
              </a:path>
              <a:path w="3403600" h="2160904">
                <a:moveTo>
                  <a:pt x="2806700" y="1903606"/>
                </a:moveTo>
                <a:lnTo>
                  <a:pt x="2806700" y="256770"/>
                </a:lnTo>
                <a:lnTo>
                  <a:pt x="2794000" y="254539"/>
                </a:lnTo>
                <a:lnTo>
                  <a:pt x="2794000" y="1905837"/>
                </a:lnTo>
                <a:lnTo>
                  <a:pt x="2806700" y="1903606"/>
                </a:lnTo>
                <a:close/>
              </a:path>
              <a:path w="3403600" h="2160904">
                <a:moveTo>
                  <a:pt x="2819400" y="1896865"/>
                </a:moveTo>
                <a:lnTo>
                  <a:pt x="2819400" y="263511"/>
                </a:lnTo>
                <a:lnTo>
                  <a:pt x="2806700" y="261256"/>
                </a:lnTo>
                <a:lnTo>
                  <a:pt x="2806700" y="1899121"/>
                </a:lnTo>
                <a:lnTo>
                  <a:pt x="2819400" y="1896865"/>
                </a:lnTo>
                <a:close/>
              </a:path>
              <a:path w="3403600" h="2160904">
                <a:moveTo>
                  <a:pt x="2832100" y="1890051"/>
                </a:moveTo>
                <a:lnTo>
                  <a:pt x="2832100" y="270325"/>
                </a:lnTo>
                <a:lnTo>
                  <a:pt x="2819400" y="268046"/>
                </a:lnTo>
                <a:lnTo>
                  <a:pt x="2819400" y="1892331"/>
                </a:lnTo>
                <a:lnTo>
                  <a:pt x="2832100" y="1890051"/>
                </a:lnTo>
                <a:close/>
              </a:path>
              <a:path w="3403600" h="2160904">
                <a:moveTo>
                  <a:pt x="2844800" y="1883163"/>
                </a:moveTo>
                <a:lnTo>
                  <a:pt x="2844800" y="277213"/>
                </a:lnTo>
                <a:lnTo>
                  <a:pt x="2832100" y="274909"/>
                </a:lnTo>
                <a:lnTo>
                  <a:pt x="2832100" y="1885467"/>
                </a:lnTo>
                <a:lnTo>
                  <a:pt x="2844800" y="1883163"/>
                </a:lnTo>
                <a:close/>
              </a:path>
              <a:path w="3403600" h="2160904">
                <a:moveTo>
                  <a:pt x="2857500" y="1876203"/>
                </a:moveTo>
                <a:lnTo>
                  <a:pt x="2857500" y="284174"/>
                </a:lnTo>
                <a:lnTo>
                  <a:pt x="2844800" y="281845"/>
                </a:lnTo>
                <a:lnTo>
                  <a:pt x="2844800" y="1878531"/>
                </a:lnTo>
                <a:lnTo>
                  <a:pt x="2857500" y="1876203"/>
                </a:lnTo>
                <a:close/>
              </a:path>
              <a:path w="3403600" h="2160904">
                <a:moveTo>
                  <a:pt x="2870200" y="1869171"/>
                </a:moveTo>
                <a:lnTo>
                  <a:pt x="2870200" y="291206"/>
                </a:lnTo>
                <a:lnTo>
                  <a:pt x="2857500" y="288854"/>
                </a:lnTo>
                <a:lnTo>
                  <a:pt x="2857500" y="1871523"/>
                </a:lnTo>
                <a:lnTo>
                  <a:pt x="2870200" y="1869171"/>
                </a:lnTo>
                <a:close/>
              </a:path>
              <a:path w="3403600" h="2160904">
                <a:moveTo>
                  <a:pt x="2882900" y="1859683"/>
                </a:moveTo>
                <a:lnTo>
                  <a:pt x="2882900" y="300694"/>
                </a:lnTo>
                <a:lnTo>
                  <a:pt x="2870200" y="298310"/>
                </a:lnTo>
                <a:lnTo>
                  <a:pt x="2870200" y="1862067"/>
                </a:lnTo>
                <a:lnTo>
                  <a:pt x="2882900" y="1859683"/>
                </a:lnTo>
                <a:close/>
              </a:path>
              <a:path w="3403600" h="2160904">
                <a:moveTo>
                  <a:pt x="2895600" y="1852485"/>
                </a:moveTo>
                <a:lnTo>
                  <a:pt x="2895600" y="307892"/>
                </a:lnTo>
                <a:lnTo>
                  <a:pt x="2882900" y="305485"/>
                </a:lnTo>
                <a:lnTo>
                  <a:pt x="2882900" y="1854892"/>
                </a:lnTo>
                <a:lnTo>
                  <a:pt x="2895600" y="1852485"/>
                </a:lnTo>
                <a:close/>
              </a:path>
              <a:path w="3403600" h="2160904">
                <a:moveTo>
                  <a:pt x="2908300" y="1845217"/>
                </a:moveTo>
                <a:lnTo>
                  <a:pt x="2908300" y="315161"/>
                </a:lnTo>
                <a:lnTo>
                  <a:pt x="2895600" y="312730"/>
                </a:lnTo>
                <a:lnTo>
                  <a:pt x="2895600" y="1847647"/>
                </a:lnTo>
                <a:lnTo>
                  <a:pt x="2908300" y="1845217"/>
                </a:lnTo>
                <a:close/>
              </a:path>
              <a:path w="3403600" h="2160904">
                <a:moveTo>
                  <a:pt x="2921000" y="1837878"/>
                </a:moveTo>
                <a:lnTo>
                  <a:pt x="2921000" y="322499"/>
                </a:lnTo>
                <a:lnTo>
                  <a:pt x="2908300" y="320045"/>
                </a:lnTo>
                <a:lnTo>
                  <a:pt x="2908300" y="1840332"/>
                </a:lnTo>
                <a:lnTo>
                  <a:pt x="2921000" y="1837878"/>
                </a:lnTo>
                <a:close/>
              </a:path>
              <a:path w="3403600" h="2160904">
                <a:moveTo>
                  <a:pt x="2933700" y="1827986"/>
                </a:moveTo>
                <a:lnTo>
                  <a:pt x="2933700" y="332391"/>
                </a:lnTo>
                <a:lnTo>
                  <a:pt x="2921000" y="329906"/>
                </a:lnTo>
                <a:lnTo>
                  <a:pt x="2921000" y="1830471"/>
                </a:lnTo>
                <a:lnTo>
                  <a:pt x="2933700" y="1827986"/>
                </a:lnTo>
                <a:close/>
              </a:path>
              <a:path w="3403600" h="2160904">
                <a:moveTo>
                  <a:pt x="2946400" y="1820488"/>
                </a:moveTo>
                <a:lnTo>
                  <a:pt x="2946400" y="339890"/>
                </a:lnTo>
                <a:lnTo>
                  <a:pt x="2933700" y="337383"/>
                </a:lnTo>
                <a:lnTo>
                  <a:pt x="2933700" y="1822995"/>
                </a:lnTo>
                <a:lnTo>
                  <a:pt x="2946400" y="1820488"/>
                </a:lnTo>
                <a:close/>
              </a:path>
              <a:path w="3403600" h="2160904">
                <a:moveTo>
                  <a:pt x="2959100" y="1810384"/>
                </a:moveTo>
                <a:lnTo>
                  <a:pt x="2959100" y="349994"/>
                </a:lnTo>
                <a:lnTo>
                  <a:pt x="2946400" y="347457"/>
                </a:lnTo>
                <a:lnTo>
                  <a:pt x="2946400" y="1812921"/>
                </a:lnTo>
                <a:lnTo>
                  <a:pt x="2959100" y="1810384"/>
                </a:lnTo>
                <a:close/>
              </a:path>
              <a:path w="3403600" h="2160904">
                <a:moveTo>
                  <a:pt x="2971800" y="1802727"/>
                </a:moveTo>
                <a:lnTo>
                  <a:pt x="2971800" y="357650"/>
                </a:lnTo>
                <a:lnTo>
                  <a:pt x="2959100" y="355091"/>
                </a:lnTo>
                <a:lnTo>
                  <a:pt x="2959100" y="1805287"/>
                </a:lnTo>
                <a:lnTo>
                  <a:pt x="2971800" y="1802727"/>
                </a:lnTo>
                <a:close/>
              </a:path>
              <a:path w="3403600" h="2160904">
                <a:moveTo>
                  <a:pt x="2984500" y="1792415"/>
                </a:moveTo>
                <a:lnTo>
                  <a:pt x="2984500" y="367963"/>
                </a:lnTo>
                <a:lnTo>
                  <a:pt x="2971800" y="365374"/>
                </a:lnTo>
                <a:lnTo>
                  <a:pt x="2971800" y="1795004"/>
                </a:lnTo>
                <a:lnTo>
                  <a:pt x="2984500" y="1792415"/>
                </a:lnTo>
                <a:close/>
              </a:path>
              <a:path w="3403600" h="2160904">
                <a:moveTo>
                  <a:pt x="2997200" y="1784604"/>
                </a:moveTo>
                <a:lnTo>
                  <a:pt x="2997200" y="375774"/>
                </a:lnTo>
                <a:lnTo>
                  <a:pt x="2984500" y="373163"/>
                </a:lnTo>
                <a:lnTo>
                  <a:pt x="2984500" y="1787215"/>
                </a:lnTo>
                <a:lnTo>
                  <a:pt x="2997200" y="1784604"/>
                </a:lnTo>
                <a:close/>
              </a:path>
              <a:path w="3403600" h="2160904">
                <a:moveTo>
                  <a:pt x="3009900" y="1774088"/>
                </a:moveTo>
                <a:lnTo>
                  <a:pt x="3009900" y="386291"/>
                </a:lnTo>
                <a:lnTo>
                  <a:pt x="2997200" y="383651"/>
                </a:lnTo>
                <a:lnTo>
                  <a:pt x="2997200" y="1776728"/>
                </a:lnTo>
                <a:lnTo>
                  <a:pt x="3009900" y="1774088"/>
                </a:lnTo>
                <a:close/>
              </a:path>
              <a:path w="3403600" h="2160904">
                <a:moveTo>
                  <a:pt x="3022600" y="1766125"/>
                </a:moveTo>
                <a:lnTo>
                  <a:pt x="3022600" y="394254"/>
                </a:lnTo>
                <a:lnTo>
                  <a:pt x="3009900" y="391592"/>
                </a:lnTo>
                <a:lnTo>
                  <a:pt x="3009900" y="1768786"/>
                </a:lnTo>
                <a:lnTo>
                  <a:pt x="3022600" y="1766125"/>
                </a:lnTo>
                <a:close/>
              </a:path>
              <a:path w="3403600" h="2160904">
                <a:moveTo>
                  <a:pt x="3035300" y="1755408"/>
                </a:moveTo>
                <a:lnTo>
                  <a:pt x="3035300" y="404970"/>
                </a:lnTo>
                <a:lnTo>
                  <a:pt x="3022600" y="402281"/>
                </a:lnTo>
                <a:lnTo>
                  <a:pt x="3022600" y="1758098"/>
                </a:lnTo>
                <a:lnTo>
                  <a:pt x="3035300" y="1755408"/>
                </a:lnTo>
                <a:close/>
              </a:path>
              <a:path w="3403600" h="2160904">
                <a:moveTo>
                  <a:pt x="3048000" y="1744579"/>
                </a:moveTo>
                <a:lnTo>
                  <a:pt x="3048000" y="415800"/>
                </a:lnTo>
                <a:lnTo>
                  <a:pt x="3035300" y="413082"/>
                </a:lnTo>
                <a:lnTo>
                  <a:pt x="3035300" y="1747296"/>
                </a:lnTo>
                <a:lnTo>
                  <a:pt x="3048000" y="1744579"/>
                </a:lnTo>
                <a:close/>
              </a:path>
              <a:path w="3403600" h="2160904">
                <a:moveTo>
                  <a:pt x="3060700" y="1733638"/>
                </a:moveTo>
                <a:lnTo>
                  <a:pt x="3060700" y="426741"/>
                </a:lnTo>
                <a:lnTo>
                  <a:pt x="3048000" y="423996"/>
                </a:lnTo>
                <a:lnTo>
                  <a:pt x="3048000" y="1736383"/>
                </a:lnTo>
                <a:lnTo>
                  <a:pt x="3060700" y="1733638"/>
                </a:lnTo>
                <a:close/>
              </a:path>
              <a:path w="3403600" h="2160904">
                <a:moveTo>
                  <a:pt x="3073400" y="1725359"/>
                </a:moveTo>
                <a:lnTo>
                  <a:pt x="3073400" y="435020"/>
                </a:lnTo>
                <a:lnTo>
                  <a:pt x="3060700" y="432253"/>
                </a:lnTo>
                <a:lnTo>
                  <a:pt x="3060700" y="1728126"/>
                </a:lnTo>
                <a:lnTo>
                  <a:pt x="3073400" y="1725359"/>
                </a:lnTo>
                <a:close/>
              </a:path>
              <a:path w="3403600" h="2160904">
                <a:moveTo>
                  <a:pt x="3086100" y="1714226"/>
                </a:moveTo>
                <a:lnTo>
                  <a:pt x="3086100" y="446153"/>
                </a:lnTo>
                <a:lnTo>
                  <a:pt x="3073400" y="443359"/>
                </a:lnTo>
                <a:lnTo>
                  <a:pt x="3073400" y="1717020"/>
                </a:lnTo>
                <a:lnTo>
                  <a:pt x="3086100" y="1714226"/>
                </a:lnTo>
                <a:close/>
              </a:path>
              <a:path w="3403600" h="2160904">
                <a:moveTo>
                  <a:pt x="3098800" y="1702986"/>
                </a:moveTo>
                <a:lnTo>
                  <a:pt x="3098800" y="457394"/>
                </a:lnTo>
                <a:lnTo>
                  <a:pt x="3086100" y="454573"/>
                </a:lnTo>
                <a:lnTo>
                  <a:pt x="3086100" y="1705806"/>
                </a:lnTo>
                <a:lnTo>
                  <a:pt x="3098800" y="1702986"/>
                </a:lnTo>
                <a:close/>
              </a:path>
              <a:path w="3403600" h="2160904">
                <a:moveTo>
                  <a:pt x="3111500" y="1691638"/>
                </a:moveTo>
                <a:lnTo>
                  <a:pt x="3111500" y="468741"/>
                </a:lnTo>
                <a:lnTo>
                  <a:pt x="3098800" y="465895"/>
                </a:lnTo>
                <a:lnTo>
                  <a:pt x="3098800" y="1694485"/>
                </a:lnTo>
                <a:lnTo>
                  <a:pt x="3111500" y="1691638"/>
                </a:lnTo>
                <a:close/>
              </a:path>
              <a:path w="3403600" h="2160904">
                <a:moveTo>
                  <a:pt x="3124200" y="1677305"/>
                </a:moveTo>
                <a:lnTo>
                  <a:pt x="3124200" y="483074"/>
                </a:lnTo>
                <a:lnTo>
                  <a:pt x="3111500" y="480195"/>
                </a:lnTo>
                <a:lnTo>
                  <a:pt x="3111500" y="1680185"/>
                </a:lnTo>
                <a:lnTo>
                  <a:pt x="3124200" y="1677305"/>
                </a:lnTo>
                <a:close/>
              </a:path>
              <a:path w="3403600" h="2160904">
                <a:moveTo>
                  <a:pt x="3136900" y="1665723"/>
                </a:moveTo>
                <a:lnTo>
                  <a:pt x="3136900" y="494657"/>
                </a:lnTo>
                <a:lnTo>
                  <a:pt x="3124200" y="491752"/>
                </a:lnTo>
                <a:lnTo>
                  <a:pt x="3124200" y="1668628"/>
                </a:lnTo>
                <a:lnTo>
                  <a:pt x="3136900" y="1665723"/>
                </a:lnTo>
                <a:close/>
              </a:path>
              <a:path w="3403600" h="2160904">
                <a:moveTo>
                  <a:pt x="3149600" y="1654037"/>
                </a:moveTo>
                <a:lnTo>
                  <a:pt x="3149600" y="506343"/>
                </a:lnTo>
                <a:lnTo>
                  <a:pt x="3136900" y="503412"/>
                </a:lnTo>
                <a:lnTo>
                  <a:pt x="3136900" y="1656968"/>
                </a:lnTo>
                <a:lnTo>
                  <a:pt x="3149600" y="1654037"/>
                </a:lnTo>
                <a:close/>
              </a:path>
              <a:path w="3403600" h="2160904">
                <a:moveTo>
                  <a:pt x="3162300" y="1642251"/>
                </a:moveTo>
                <a:lnTo>
                  <a:pt x="3162300" y="518129"/>
                </a:lnTo>
                <a:lnTo>
                  <a:pt x="3149600" y="515173"/>
                </a:lnTo>
                <a:lnTo>
                  <a:pt x="3149600" y="1645207"/>
                </a:lnTo>
                <a:lnTo>
                  <a:pt x="3162300" y="1642251"/>
                </a:lnTo>
                <a:close/>
              </a:path>
              <a:path w="3403600" h="2160904">
                <a:moveTo>
                  <a:pt x="3175000" y="1627377"/>
                </a:moveTo>
                <a:lnTo>
                  <a:pt x="3175000" y="533003"/>
                </a:lnTo>
                <a:lnTo>
                  <a:pt x="3162300" y="530016"/>
                </a:lnTo>
                <a:lnTo>
                  <a:pt x="3162300" y="1630364"/>
                </a:lnTo>
                <a:lnTo>
                  <a:pt x="3175000" y="1627377"/>
                </a:lnTo>
                <a:close/>
              </a:path>
              <a:path w="3403600" h="2160904">
                <a:moveTo>
                  <a:pt x="3187700" y="1612350"/>
                </a:moveTo>
                <a:lnTo>
                  <a:pt x="3187700" y="548031"/>
                </a:lnTo>
                <a:lnTo>
                  <a:pt x="3175000" y="545013"/>
                </a:lnTo>
                <a:lnTo>
                  <a:pt x="3175000" y="1615367"/>
                </a:lnTo>
                <a:lnTo>
                  <a:pt x="3187700" y="1612350"/>
                </a:lnTo>
                <a:close/>
              </a:path>
              <a:path w="3403600" h="2160904">
                <a:moveTo>
                  <a:pt x="3200400" y="1600219"/>
                </a:moveTo>
                <a:lnTo>
                  <a:pt x="3200400" y="560162"/>
                </a:lnTo>
                <a:lnTo>
                  <a:pt x="3187700" y="557120"/>
                </a:lnTo>
                <a:lnTo>
                  <a:pt x="3187700" y="1603260"/>
                </a:lnTo>
                <a:lnTo>
                  <a:pt x="3200400" y="1600219"/>
                </a:lnTo>
                <a:close/>
              </a:path>
              <a:path w="3403600" h="2160904">
                <a:moveTo>
                  <a:pt x="3213100" y="1584921"/>
                </a:moveTo>
                <a:lnTo>
                  <a:pt x="3213100" y="575460"/>
                </a:lnTo>
                <a:lnTo>
                  <a:pt x="3200400" y="572388"/>
                </a:lnTo>
                <a:lnTo>
                  <a:pt x="3200400" y="1587992"/>
                </a:lnTo>
                <a:lnTo>
                  <a:pt x="3213100" y="1584921"/>
                </a:lnTo>
                <a:close/>
              </a:path>
              <a:path w="3403600" h="2160904">
                <a:moveTo>
                  <a:pt x="3225800" y="1569477"/>
                </a:moveTo>
                <a:lnTo>
                  <a:pt x="3225800" y="590904"/>
                </a:lnTo>
                <a:lnTo>
                  <a:pt x="3213100" y="587804"/>
                </a:lnTo>
                <a:lnTo>
                  <a:pt x="3213100" y="1572577"/>
                </a:lnTo>
                <a:lnTo>
                  <a:pt x="3225800" y="1569477"/>
                </a:lnTo>
                <a:close/>
              </a:path>
              <a:path w="3403600" h="2160904">
                <a:moveTo>
                  <a:pt x="3238500" y="1553888"/>
                </a:moveTo>
                <a:lnTo>
                  <a:pt x="3238500" y="606493"/>
                </a:lnTo>
                <a:lnTo>
                  <a:pt x="3225800" y="603364"/>
                </a:lnTo>
                <a:lnTo>
                  <a:pt x="3225800" y="1557017"/>
                </a:lnTo>
                <a:lnTo>
                  <a:pt x="3238500" y="1553888"/>
                </a:lnTo>
                <a:close/>
              </a:path>
              <a:path w="3403600" h="2160904">
                <a:moveTo>
                  <a:pt x="3251200" y="1534995"/>
                </a:moveTo>
                <a:lnTo>
                  <a:pt x="3251200" y="625386"/>
                </a:lnTo>
                <a:lnTo>
                  <a:pt x="3238500" y="622223"/>
                </a:lnTo>
                <a:lnTo>
                  <a:pt x="3238500" y="1538158"/>
                </a:lnTo>
                <a:lnTo>
                  <a:pt x="3251200" y="1534995"/>
                </a:lnTo>
                <a:close/>
              </a:path>
              <a:path w="3403600" h="2160904">
                <a:moveTo>
                  <a:pt x="3263900" y="1519098"/>
                </a:moveTo>
                <a:lnTo>
                  <a:pt x="3263900" y="641283"/>
                </a:lnTo>
                <a:lnTo>
                  <a:pt x="3251200" y="638093"/>
                </a:lnTo>
                <a:lnTo>
                  <a:pt x="3251200" y="1522289"/>
                </a:lnTo>
                <a:lnTo>
                  <a:pt x="3263900" y="1519098"/>
                </a:lnTo>
                <a:close/>
              </a:path>
              <a:path w="3403600" h="2160904">
                <a:moveTo>
                  <a:pt x="3276600" y="1499842"/>
                </a:moveTo>
                <a:lnTo>
                  <a:pt x="3276600" y="660539"/>
                </a:lnTo>
                <a:lnTo>
                  <a:pt x="3263900" y="657316"/>
                </a:lnTo>
                <a:lnTo>
                  <a:pt x="3263900" y="1503065"/>
                </a:lnTo>
                <a:lnTo>
                  <a:pt x="3276600" y="1499842"/>
                </a:lnTo>
                <a:close/>
              </a:path>
              <a:path w="3403600" h="2160904">
                <a:moveTo>
                  <a:pt x="3289300" y="1480395"/>
                </a:moveTo>
                <a:lnTo>
                  <a:pt x="3289300" y="679987"/>
                </a:lnTo>
                <a:lnTo>
                  <a:pt x="3276600" y="676732"/>
                </a:lnTo>
                <a:lnTo>
                  <a:pt x="3276600" y="1483649"/>
                </a:lnTo>
                <a:lnTo>
                  <a:pt x="3289300" y="1480395"/>
                </a:lnTo>
                <a:close/>
              </a:path>
              <a:path w="3403600" h="2160904">
                <a:moveTo>
                  <a:pt x="3302000" y="1460760"/>
                </a:moveTo>
                <a:lnTo>
                  <a:pt x="3302000" y="699622"/>
                </a:lnTo>
                <a:lnTo>
                  <a:pt x="3289300" y="696337"/>
                </a:lnTo>
                <a:lnTo>
                  <a:pt x="3289300" y="1464045"/>
                </a:lnTo>
                <a:lnTo>
                  <a:pt x="3302000" y="1460760"/>
                </a:lnTo>
                <a:close/>
              </a:path>
              <a:path w="3403600" h="2160904">
                <a:moveTo>
                  <a:pt x="3314700" y="1437621"/>
                </a:moveTo>
                <a:lnTo>
                  <a:pt x="3314700" y="722761"/>
                </a:lnTo>
                <a:lnTo>
                  <a:pt x="3302000" y="719440"/>
                </a:lnTo>
                <a:lnTo>
                  <a:pt x="3302000" y="1440942"/>
                </a:lnTo>
                <a:lnTo>
                  <a:pt x="3314700" y="1437621"/>
                </a:lnTo>
                <a:close/>
              </a:path>
              <a:path w="3403600" h="2160904">
                <a:moveTo>
                  <a:pt x="3327400" y="1414240"/>
                </a:moveTo>
                <a:lnTo>
                  <a:pt x="3327400" y="746142"/>
                </a:lnTo>
                <a:lnTo>
                  <a:pt x="3314700" y="742788"/>
                </a:lnTo>
                <a:lnTo>
                  <a:pt x="3314700" y="1417595"/>
                </a:lnTo>
                <a:lnTo>
                  <a:pt x="3327400" y="1414240"/>
                </a:lnTo>
                <a:close/>
              </a:path>
              <a:path w="3403600" h="2160904">
                <a:moveTo>
                  <a:pt x="3340100" y="1387230"/>
                </a:moveTo>
                <a:lnTo>
                  <a:pt x="3340100" y="773152"/>
                </a:lnTo>
                <a:lnTo>
                  <a:pt x="3327400" y="769759"/>
                </a:lnTo>
                <a:lnTo>
                  <a:pt x="3327400" y="1390623"/>
                </a:lnTo>
                <a:lnTo>
                  <a:pt x="3340100" y="1387230"/>
                </a:lnTo>
                <a:close/>
              </a:path>
              <a:path w="3403600" h="2160904">
                <a:moveTo>
                  <a:pt x="3352800" y="1359923"/>
                </a:moveTo>
                <a:lnTo>
                  <a:pt x="3352800" y="800459"/>
                </a:lnTo>
                <a:lnTo>
                  <a:pt x="3340100" y="797030"/>
                </a:lnTo>
                <a:lnTo>
                  <a:pt x="3340100" y="1363353"/>
                </a:lnTo>
                <a:lnTo>
                  <a:pt x="3352800" y="1359923"/>
                </a:lnTo>
                <a:close/>
              </a:path>
              <a:path w="3403600" h="2160904">
                <a:moveTo>
                  <a:pt x="3365500" y="1328860"/>
                </a:moveTo>
                <a:lnTo>
                  <a:pt x="3365500" y="831523"/>
                </a:lnTo>
                <a:lnTo>
                  <a:pt x="3352800" y="828054"/>
                </a:lnTo>
                <a:lnTo>
                  <a:pt x="3352800" y="1332329"/>
                </a:lnTo>
                <a:lnTo>
                  <a:pt x="3365500" y="1328860"/>
                </a:lnTo>
                <a:close/>
              </a:path>
              <a:path w="3403600" h="2160904">
                <a:moveTo>
                  <a:pt x="3378200" y="1290422"/>
                </a:moveTo>
                <a:lnTo>
                  <a:pt x="3378200" y="869961"/>
                </a:lnTo>
                <a:lnTo>
                  <a:pt x="3365500" y="866446"/>
                </a:lnTo>
                <a:lnTo>
                  <a:pt x="3365500" y="1293937"/>
                </a:lnTo>
                <a:lnTo>
                  <a:pt x="3378200" y="1290422"/>
                </a:lnTo>
                <a:close/>
              </a:path>
              <a:path w="3403600" h="2160904">
                <a:moveTo>
                  <a:pt x="3390900" y="1244359"/>
                </a:moveTo>
                <a:lnTo>
                  <a:pt x="3390900" y="916024"/>
                </a:lnTo>
                <a:lnTo>
                  <a:pt x="3378200" y="912458"/>
                </a:lnTo>
                <a:lnTo>
                  <a:pt x="3378200" y="1247926"/>
                </a:lnTo>
                <a:lnTo>
                  <a:pt x="3390900" y="1244359"/>
                </a:lnTo>
                <a:close/>
              </a:path>
              <a:path w="3403600" h="2160904">
                <a:moveTo>
                  <a:pt x="3403600" y="1179520"/>
                </a:moveTo>
                <a:lnTo>
                  <a:pt x="3403600" y="980863"/>
                </a:lnTo>
                <a:lnTo>
                  <a:pt x="3390900" y="977230"/>
                </a:lnTo>
                <a:lnTo>
                  <a:pt x="3390900" y="1183153"/>
                </a:lnTo>
                <a:lnTo>
                  <a:pt x="3403600" y="1179520"/>
                </a:lnTo>
                <a:close/>
              </a:path>
            </a:pathLst>
          </a:custGeom>
          <a:solidFill>
            <a:srgbClr val="00B100"/>
          </a:solidFill>
        </p:spPr>
        <p:txBody>
          <a:bodyPr wrap="square" lIns="0" tIns="0" rIns="0" bIns="0" rtlCol="0"/>
          <a:lstStyle/>
          <a:p>
            <a:endParaRPr/>
          </a:p>
        </p:txBody>
      </p:sp>
      <p:sp>
        <p:nvSpPr>
          <p:cNvPr id="6" name="object 6"/>
          <p:cNvSpPr/>
          <p:nvPr/>
        </p:nvSpPr>
        <p:spPr>
          <a:xfrm>
            <a:off x="2293827" y="1907235"/>
            <a:ext cx="5645805" cy="3712827"/>
          </a:xfrm>
          <a:prstGeom prst="rect">
            <a:avLst/>
          </a:prstGeom>
          <a:blipFill>
            <a:blip r:embed="rId4" cstate="print"/>
            <a:stretch>
              <a:fillRect/>
            </a:stretch>
          </a:blipFill>
        </p:spPr>
        <p:txBody>
          <a:bodyPr wrap="square" lIns="0" tIns="0" rIns="0" bIns="0" rtlCol="0"/>
          <a:lstStyle/>
          <a:p>
            <a:endParaRPr/>
          </a:p>
        </p:txBody>
      </p:sp>
      <p:sp>
        <p:nvSpPr>
          <p:cNvPr id="7" name="object 7"/>
          <p:cNvSpPr txBox="1"/>
          <p:nvPr/>
        </p:nvSpPr>
        <p:spPr>
          <a:xfrm>
            <a:off x="4242104" y="1462976"/>
            <a:ext cx="1572895" cy="2389505"/>
          </a:xfrm>
          <a:prstGeom prst="rect">
            <a:avLst/>
          </a:prstGeom>
        </p:spPr>
        <p:txBody>
          <a:bodyPr vert="horz" wrap="square" lIns="0" tIns="0" rIns="0" bIns="0" rtlCol="0">
            <a:spAutoFit/>
          </a:bodyPr>
          <a:lstStyle/>
          <a:p>
            <a:pPr algn="ctr">
              <a:lnSpc>
                <a:spcPct val="100000"/>
              </a:lnSpc>
            </a:pPr>
            <a:r>
              <a:rPr sz="1800" b="1" spc="-5" dirty="0">
                <a:solidFill>
                  <a:srgbClr val="FFE0E0"/>
                </a:solidFill>
                <a:latin typeface="Times New Roman"/>
                <a:cs typeface="Times New Roman"/>
              </a:rPr>
              <a:t>all</a:t>
            </a:r>
            <a:r>
              <a:rPr sz="1800" b="1" spc="-95" dirty="0">
                <a:solidFill>
                  <a:srgbClr val="FFE0E0"/>
                </a:solidFill>
                <a:latin typeface="Times New Roman"/>
                <a:cs typeface="Times New Roman"/>
              </a:rPr>
              <a:t> </a:t>
            </a:r>
            <a:r>
              <a:rPr sz="1800" b="1" spc="-5" dirty="0">
                <a:solidFill>
                  <a:srgbClr val="FFE0E0"/>
                </a:solidFill>
                <a:latin typeface="Times New Roman"/>
                <a:cs typeface="Times New Roman"/>
              </a:rPr>
              <a:t>states</a:t>
            </a:r>
            <a:endParaRPr sz="1800">
              <a:latin typeface="Times New Roman"/>
              <a:cs typeface="Times New Roman"/>
            </a:endParaRPr>
          </a:p>
          <a:p>
            <a:pPr>
              <a:lnSpc>
                <a:spcPct val="100000"/>
              </a:lnSpc>
              <a:spcBef>
                <a:spcPts val="4"/>
              </a:spcBef>
            </a:pPr>
            <a:endParaRPr sz="2400">
              <a:latin typeface="Times New Roman"/>
              <a:cs typeface="Times New Roman"/>
            </a:endParaRPr>
          </a:p>
          <a:p>
            <a:pPr algn="ctr">
              <a:lnSpc>
                <a:spcPct val="100000"/>
              </a:lnSpc>
            </a:pPr>
            <a:r>
              <a:rPr sz="1800" b="1" spc="-5" dirty="0">
                <a:latin typeface="Times New Roman"/>
                <a:cs typeface="Times New Roman"/>
              </a:rPr>
              <a:t>invariant</a:t>
            </a:r>
            <a:endParaRPr sz="1800">
              <a:latin typeface="Times New Roman"/>
              <a:cs typeface="Times New Roman"/>
            </a:endParaRPr>
          </a:p>
          <a:p>
            <a:pPr>
              <a:lnSpc>
                <a:spcPct val="100000"/>
              </a:lnSpc>
              <a:spcBef>
                <a:spcPts val="7"/>
              </a:spcBef>
            </a:pPr>
            <a:endParaRPr sz="1550">
              <a:latin typeface="Times New Roman"/>
              <a:cs typeface="Times New Roman"/>
            </a:endParaRPr>
          </a:p>
          <a:p>
            <a:pPr marL="12700" marR="5080" algn="ctr">
              <a:lnSpc>
                <a:spcPct val="227999"/>
              </a:lnSpc>
            </a:pPr>
            <a:r>
              <a:rPr sz="1800" b="1" spc="-5" dirty="0">
                <a:solidFill>
                  <a:srgbClr val="FFE0E0"/>
                </a:solidFill>
                <a:latin typeface="Times New Roman"/>
                <a:cs typeface="Times New Roman"/>
              </a:rPr>
              <a:t>reachable</a:t>
            </a:r>
            <a:r>
              <a:rPr sz="1800" b="1" spc="-90" dirty="0">
                <a:solidFill>
                  <a:srgbClr val="FFE0E0"/>
                </a:solidFill>
                <a:latin typeface="Times New Roman"/>
                <a:cs typeface="Times New Roman"/>
              </a:rPr>
              <a:t> </a:t>
            </a:r>
            <a:r>
              <a:rPr sz="1800" b="1" spc="-5" dirty="0">
                <a:solidFill>
                  <a:srgbClr val="FFE0E0"/>
                </a:solidFill>
                <a:latin typeface="Times New Roman"/>
                <a:cs typeface="Times New Roman"/>
              </a:rPr>
              <a:t>states  initial</a:t>
            </a:r>
            <a:r>
              <a:rPr sz="1800" b="1" spc="-90" dirty="0">
                <a:solidFill>
                  <a:srgbClr val="FFE0E0"/>
                </a:solidFill>
                <a:latin typeface="Times New Roman"/>
                <a:cs typeface="Times New Roman"/>
              </a:rPr>
              <a:t> </a:t>
            </a:r>
            <a:r>
              <a:rPr sz="1800" b="1" spc="-5" dirty="0">
                <a:solidFill>
                  <a:srgbClr val="FFE0E0"/>
                </a:solidFill>
                <a:latin typeface="Times New Roman"/>
                <a:cs typeface="Times New Roman"/>
              </a:rPr>
              <a:t>states</a:t>
            </a:r>
            <a:endParaRPr sz="1800">
              <a:latin typeface="Times New Roman"/>
              <a:cs typeface="Times New Roman"/>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654292"/>
            <a:ext cx="8087359" cy="5451475"/>
          </a:xfrm>
          <a:prstGeom prst="rect">
            <a:avLst/>
          </a:prstGeom>
        </p:spPr>
        <p:txBody>
          <a:bodyPr vert="horz" wrap="square" lIns="0" tIns="0" rIns="0" bIns="0" rtlCol="0">
            <a:spAutoFit/>
          </a:bodyPr>
          <a:lstStyle/>
          <a:p>
            <a:pPr marL="548640">
              <a:lnSpc>
                <a:spcPct val="100000"/>
              </a:lnSpc>
            </a:pPr>
            <a:r>
              <a:rPr sz="1950" spc="260" dirty="0">
                <a:solidFill>
                  <a:srgbClr val="231F20"/>
                </a:solidFill>
                <a:latin typeface="Arial"/>
                <a:cs typeface="Arial"/>
              </a:rPr>
              <a:t>Strengthening </a:t>
            </a:r>
            <a:r>
              <a:rPr sz="1950" spc="215" dirty="0">
                <a:solidFill>
                  <a:srgbClr val="231F20"/>
                </a:solidFill>
                <a:latin typeface="Arial"/>
                <a:cs typeface="Arial"/>
              </a:rPr>
              <a:t>Invariants </a:t>
            </a:r>
            <a:r>
              <a:rPr sz="1950" spc="400" dirty="0">
                <a:solidFill>
                  <a:srgbClr val="231F20"/>
                </a:solidFill>
                <a:latin typeface="Arial"/>
                <a:cs typeface="Arial"/>
              </a:rPr>
              <a:t>To </a:t>
            </a:r>
            <a:r>
              <a:rPr sz="1950" spc="290" dirty="0">
                <a:solidFill>
                  <a:srgbClr val="231F20"/>
                </a:solidFill>
                <a:latin typeface="Arial"/>
                <a:cs typeface="Arial"/>
              </a:rPr>
              <a:t>Make </a:t>
            </a:r>
            <a:r>
              <a:rPr sz="1950" spc="415" dirty="0">
                <a:solidFill>
                  <a:srgbClr val="231F20"/>
                </a:solidFill>
                <a:latin typeface="Arial"/>
                <a:cs typeface="Arial"/>
              </a:rPr>
              <a:t>Them</a:t>
            </a:r>
            <a:r>
              <a:rPr sz="1950" spc="660" dirty="0">
                <a:solidFill>
                  <a:srgbClr val="231F20"/>
                </a:solidFill>
                <a:latin typeface="Arial"/>
                <a:cs typeface="Arial"/>
              </a:rPr>
              <a:t> </a:t>
            </a:r>
            <a:r>
              <a:rPr sz="1950" spc="240" dirty="0">
                <a:solidFill>
                  <a:srgbClr val="231F20"/>
                </a:solidFill>
                <a:latin typeface="Arial"/>
                <a:cs typeface="Arial"/>
              </a:rPr>
              <a:t>Inductive</a:t>
            </a:r>
            <a:endParaRPr sz="1950">
              <a:latin typeface="Arial"/>
              <a:cs typeface="Arial"/>
            </a:endParaRPr>
          </a:p>
          <a:p>
            <a:pPr>
              <a:lnSpc>
                <a:spcPct val="100000"/>
              </a:lnSpc>
              <a:spcBef>
                <a:spcPts val="32"/>
              </a:spcBef>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55" dirty="0">
                <a:solidFill>
                  <a:srgbClr val="0000FF"/>
                </a:solidFill>
                <a:latin typeface="Arial"/>
                <a:cs typeface="Arial"/>
              </a:rPr>
              <a:t>Iterate </a:t>
            </a:r>
            <a:r>
              <a:rPr sz="1950" spc="175" dirty="0">
                <a:solidFill>
                  <a:srgbClr val="0000FF"/>
                </a:solidFill>
                <a:latin typeface="Arial"/>
                <a:cs typeface="Arial"/>
              </a:rPr>
              <a:t>until </a:t>
            </a:r>
            <a:r>
              <a:rPr sz="1950" spc="45" dirty="0">
                <a:solidFill>
                  <a:srgbClr val="0000FF"/>
                </a:solidFill>
                <a:latin typeface="Arial"/>
                <a:cs typeface="Arial"/>
              </a:rPr>
              <a:t>success </a:t>
            </a:r>
            <a:r>
              <a:rPr sz="1950" spc="130" dirty="0">
                <a:solidFill>
                  <a:srgbClr val="0000FF"/>
                </a:solidFill>
                <a:latin typeface="Arial"/>
                <a:cs typeface="Arial"/>
              </a:rPr>
              <a:t>or</a:t>
            </a:r>
            <a:r>
              <a:rPr sz="1950" spc="725" dirty="0">
                <a:solidFill>
                  <a:srgbClr val="0000FF"/>
                </a:solidFill>
                <a:latin typeface="Arial"/>
                <a:cs typeface="Arial"/>
              </a:rPr>
              <a:t> </a:t>
            </a:r>
            <a:r>
              <a:rPr sz="1950" spc="120" dirty="0">
                <a:solidFill>
                  <a:srgbClr val="0000FF"/>
                </a:solidFill>
                <a:latin typeface="Arial"/>
                <a:cs typeface="Arial"/>
              </a:rPr>
              <a:t>exasperation</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05" dirty="0">
                <a:solidFill>
                  <a:srgbClr val="231F20"/>
                </a:solidFill>
                <a:latin typeface="Arial"/>
                <a:cs typeface="Arial"/>
              </a:rPr>
              <a:t>Process </a:t>
            </a:r>
            <a:r>
              <a:rPr sz="1950" spc="120" dirty="0">
                <a:solidFill>
                  <a:srgbClr val="231F20"/>
                </a:solidFill>
                <a:latin typeface="Arial"/>
                <a:cs typeface="Arial"/>
              </a:rPr>
              <a:t>can </a:t>
            </a:r>
            <a:r>
              <a:rPr sz="1950" spc="114" dirty="0">
                <a:solidFill>
                  <a:srgbClr val="231F20"/>
                </a:solidFill>
                <a:latin typeface="Arial"/>
                <a:cs typeface="Arial"/>
              </a:rPr>
              <a:t>be </a:t>
            </a:r>
            <a:r>
              <a:rPr sz="1950" spc="140" dirty="0">
                <a:solidFill>
                  <a:srgbClr val="231F20"/>
                </a:solidFill>
                <a:latin typeface="Arial"/>
                <a:cs typeface="Arial"/>
              </a:rPr>
              <a:t>made</a:t>
            </a:r>
            <a:r>
              <a:rPr sz="1950" spc="725" dirty="0">
                <a:solidFill>
                  <a:srgbClr val="231F20"/>
                </a:solidFill>
                <a:latin typeface="Arial"/>
                <a:cs typeface="Arial"/>
              </a:rPr>
              <a:t> </a:t>
            </a:r>
            <a:r>
              <a:rPr sz="1950" spc="140" dirty="0">
                <a:solidFill>
                  <a:srgbClr val="231F20"/>
                </a:solidFill>
                <a:latin typeface="Arial"/>
                <a:cs typeface="Arial"/>
              </a:rPr>
              <a:t>systematic</a:t>
            </a:r>
            <a:endParaRPr sz="1950">
              <a:latin typeface="Arial"/>
              <a:cs typeface="Arial"/>
            </a:endParaRPr>
          </a:p>
          <a:p>
            <a:pPr marL="300990" marR="683260" lvl="1" indent="152400">
              <a:lnSpc>
                <a:spcPct val="147100"/>
              </a:lnSpc>
              <a:buSzPct val="105128"/>
              <a:buFont typeface="Lucida Sans Unicode"/>
              <a:buChar char="◦"/>
              <a:tabLst>
                <a:tab pos="742315" algn="l"/>
              </a:tabLst>
            </a:pPr>
            <a:r>
              <a:rPr sz="1950" spc="150" dirty="0">
                <a:solidFill>
                  <a:srgbClr val="231F20"/>
                </a:solidFill>
                <a:latin typeface="Arial"/>
                <a:cs typeface="Arial"/>
              </a:rPr>
              <a:t>Each </a:t>
            </a:r>
            <a:r>
              <a:rPr sz="1950" spc="145" dirty="0">
                <a:solidFill>
                  <a:srgbClr val="231F20"/>
                </a:solidFill>
                <a:latin typeface="Arial"/>
                <a:cs typeface="Arial"/>
              </a:rPr>
              <a:t>strengthening </a:t>
            </a:r>
            <a:r>
              <a:rPr sz="1950" spc="75" dirty="0">
                <a:solidFill>
                  <a:srgbClr val="231F20"/>
                </a:solidFill>
                <a:latin typeface="Arial"/>
                <a:cs typeface="Arial"/>
              </a:rPr>
              <a:t>was </a:t>
            </a:r>
            <a:r>
              <a:rPr sz="1950" spc="105" dirty="0">
                <a:solidFill>
                  <a:srgbClr val="231F20"/>
                </a:solidFill>
                <a:latin typeface="Arial"/>
                <a:cs typeface="Arial"/>
              </a:rPr>
              <a:t>suggested by </a:t>
            </a:r>
            <a:r>
              <a:rPr sz="1950" spc="85" dirty="0">
                <a:solidFill>
                  <a:srgbClr val="231F20"/>
                </a:solidFill>
                <a:latin typeface="Arial"/>
                <a:cs typeface="Arial"/>
              </a:rPr>
              <a:t>a </a:t>
            </a:r>
            <a:r>
              <a:rPr sz="1950" spc="114" dirty="0">
                <a:solidFill>
                  <a:srgbClr val="231F20"/>
                </a:solidFill>
                <a:latin typeface="Arial"/>
                <a:cs typeface="Arial"/>
              </a:rPr>
              <a:t>failed </a:t>
            </a:r>
            <a:r>
              <a:rPr sz="1950" spc="170" dirty="0">
                <a:solidFill>
                  <a:srgbClr val="231F20"/>
                </a:solidFill>
                <a:latin typeface="Arial"/>
                <a:cs typeface="Arial"/>
              </a:rPr>
              <a:t>proof  </a:t>
            </a:r>
            <a:r>
              <a:rPr sz="1950" spc="275" dirty="0">
                <a:solidFill>
                  <a:srgbClr val="231F20"/>
                </a:solidFill>
                <a:latin typeface="Arial"/>
                <a:cs typeface="Arial"/>
              </a:rPr>
              <a:t>But </a:t>
            </a:r>
            <a:r>
              <a:rPr sz="1950" spc="40" dirty="0">
                <a:solidFill>
                  <a:srgbClr val="231F20"/>
                </a:solidFill>
                <a:latin typeface="Arial"/>
                <a:cs typeface="Arial"/>
              </a:rPr>
              <a:t>is </a:t>
            </a:r>
            <a:r>
              <a:rPr sz="1950" spc="80" dirty="0">
                <a:solidFill>
                  <a:srgbClr val="231F20"/>
                </a:solidFill>
                <a:latin typeface="Arial"/>
                <a:cs typeface="Arial"/>
              </a:rPr>
              <a:t>always</a:t>
            </a:r>
            <a:r>
              <a:rPr sz="1950" spc="459" dirty="0">
                <a:solidFill>
                  <a:srgbClr val="231F20"/>
                </a:solidFill>
                <a:latin typeface="Arial"/>
                <a:cs typeface="Arial"/>
              </a:rPr>
              <a:t> </a:t>
            </a:r>
            <a:r>
              <a:rPr sz="1950" spc="130" dirty="0">
                <a:solidFill>
                  <a:srgbClr val="231F20"/>
                </a:solidFill>
                <a:latin typeface="Arial"/>
                <a:cs typeface="Arial"/>
              </a:rPr>
              <a:t>tedious</a:t>
            </a:r>
            <a:endParaRPr sz="1950">
              <a:latin typeface="Arial"/>
              <a:cs typeface="Arial"/>
            </a:endParaRPr>
          </a:p>
          <a:p>
            <a:pPr lvl="1">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55" dirty="0">
                <a:solidFill>
                  <a:srgbClr val="231F20"/>
                </a:solidFill>
                <a:latin typeface="Arial"/>
                <a:cs typeface="Arial"/>
              </a:rPr>
              <a:t>Bounded </a:t>
            </a:r>
            <a:r>
              <a:rPr sz="1950" spc="120" dirty="0">
                <a:solidFill>
                  <a:srgbClr val="231F20"/>
                </a:solidFill>
                <a:latin typeface="Arial"/>
                <a:cs typeface="Arial"/>
              </a:rPr>
              <a:t>retransmission </a:t>
            </a:r>
            <a:r>
              <a:rPr sz="1950" spc="170" dirty="0">
                <a:solidFill>
                  <a:srgbClr val="231F20"/>
                </a:solidFill>
                <a:latin typeface="Arial"/>
                <a:cs typeface="Arial"/>
              </a:rPr>
              <a:t>protocol </a:t>
            </a:r>
            <a:r>
              <a:rPr sz="1950" spc="114" dirty="0">
                <a:solidFill>
                  <a:srgbClr val="231F20"/>
                </a:solidFill>
                <a:latin typeface="Arial"/>
                <a:cs typeface="Arial"/>
              </a:rPr>
              <a:t>required </a:t>
            </a:r>
            <a:r>
              <a:rPr sz="1950" spc="155" dirty="0">
                <a:solidFill>
                  <a:srgbClr val="FF0000"/>
                </a:solidFill>
                <a:latin typeface="Arial"/>
                <a:cs typeface="Arial"/>
              </a:rPr>
              <a:t>57 </a:t>
            </a:r>
            <a:r>
              <a:rPr sz="1950" spc="100" dirty="0">
                <a:solidFill>
                  <a:srgbClr val="231F20"/>
                </a:solidFill>
                <a:latin typeface="Arial"/>
                <a:cs typeface="Arial"/>
              </a:rPr>
              <a:t>such </a:t>
            </a:r>
            <a:r>
              <a:rPr sz="1950" spc="400" dirty="0">
                <a:solidFill>
                  <a:srgbClr val="231F20"/>
                </a:solidFill>
                <a:latin typeface="Arial"/>
                <a:cs typeface="Arial"/>
              </a:rPr>
              <a:t> </a:t>
            </a:r>
            <a:r>
              <a:rPr sz="1950" spc="145" dirty="0">
                <a:solidFill>
                  <a:srgbClr val="231F20"/>
                </a:solidFill>
                <a:latin typeface="Arial"/>
                <a:cs typeface="Arial"/>
              </a:rPr>
              <a:t>iterations</a:t>
            </a:r>
            <a:endParaRPr sz="1950">
              <a:latin typeface="Arial"/>
              <a:cs typeface="Arial"/>
            </a:endParaRPr>
          </a:p>
          <a:p>
            <a:pPr marL="1056640" marR="2424430" lvl="1" indent="-603250">
              <a:lnSpc>
                <a:spcPct val="125000"/>
              </a:lnSpc>
              <a:spcBef>
                <a:spcPts val="515"/>
              </a:spcBef>
              <a:buSzPct val="105128"/>
              <a:buFont typeface="Lucida Sans Unicode"/>
              <a:buChar char="◦"/>
              <a:tabLst>
                <a:tab pos="742315" algn="l"/>
              </a:tabLst>
            </a:pPr>
            <a:r>
              <a:rPr sz="1950" spc="235" dirty="0">
                <a:solidFill>
                  <a:srgbClr val="231F20"/>
                </a:solidFill>
                <a:latin typeface="Arial"/>
                <a:cs typeface="Arial"/>
              </a:rPr>
              <a:t>Took </a:t>
            </a:r>
            <a:r>
              <a:rPr sz="1950" spc="85" dirty="0">
                <a:solidFill>
                  <a:srgbClr val="231F20"/>
                </a:solidFill>
                <a:latin typeface="Arial"/>
                <a:cs typeface="Arial"/>
              </a:rPr>
              <a:t>a </a:t>
            </a:r>
            <a:r>
              <a:rPr sz="1950" spc="120" dirty="0">
                <a:solidFill>
                  <a:srgbClr val="231F20"/>
                </a:solidFill>
                <a:latin typeface="Arial"/>
                <a:cs typeface="Arial"/>
              </a:rPr>
              <a:t>couple </a:t>
            </a:r>
            <a:r>
              <a:rPr sz="1950" spc="185" dirty="0">
                <a:solidFill>
                  <a:srgbClr val="231F20"/>
                </a:solidFill>
                <a:latin typeface="Arial"/>
                <a:cs typeface="Arial"/>
              </a:rPr>
              <a:t>of </a:t>
            </a:r>
            <a:r>
              <a:rPr sz="1950" spc="180" dirty="0">
                <a:solidFill>
                  <a:srgbClr val="231F20"/>
                </a:solidFill>
                <a:latin typeface="Arial"/>
                <a:cs typeface="Arial"/>
              </a:rPr>
              <a:t>months </a:t>
            </a:r>
            <a:r>
              <a:rPr sz="1950" spc="250" dirty="0">
                <a:solidFill>
                  <a:srgbClr val="231F20"/>
                </a:solidFill>
                <a:latin typeface="Arial"/>
                <a:cs typeface="Arial"/>
              </a:rPr>
              <a:t>to </a:t>
            </a:r>
            <a:r>
              <a:rPr sz="1950" spc="150" dirty="0">
                <a:solidFill>
                  <a:srgbClr val="231F20"/>
                </a:solidFill>
                <a:latin typeface="Arial"/>
                <a:cs typeface="Arial"/>
              </a:rPr>
              <a:t>complete  </a:t>
            </a:r>
            <a:r>
              <a:rPr sz="1950" spc="145" dirty="0">
                <a:solidFill>
                  <a:srgbClr val="231F20"/>
                </a:solidFill>
                <a:latin typeface="Arial"/>
                <a:cs typeface="Arial"/>
              </a:rPr>
              <a:t>(Havelund </a:t>
            </a:r>
            <a:r>
              <a:rPr sz="1950" spc="130" dirty="0">
                <a:solidFill>
                  <a:srgbClr val="231F20"/>
                </a:solidFill>
                <a:latin typeface="Arial"/>
                <a:cs typeface="Arial"/>
              </a:rPr>
              <a:t>and</a:t>
            </a:r>
            <a:r>
              <a:rPr sz="1950" spc="355" dirty="0">
                <a:solidFill>
                  <a:srgbClr val="231F20"/>
                </a:solidFill>
                <a:latin typeface="Arial"/>
                <a:cs typeface="Arial"/>
              </a:rPr>
              <a:t> </a:t>
            </a:r>
            <a:r>
              <a:rPr sz="1950" spc="135" dirty="0">
                <a:solidFill>
                  <a:srgbClr val="231F20"/>
                </a:solidFill>
                <a:latin typeface="Arial"/>
                <a:cs typeface="Arial"/>
              </a:rPr>
              <a:t>Shankar)</a:t>
            </a:r>
            <a:endParaRPr sz="1950">
              <a:latin typeface="Arial"/>
              <a:cs typeface="Arial"/>
            </a:endParaRPr>
          </a:p>
          <a:p>
            <a:pPr marL="300990" marR="928369" indent="-288290">
              <a:lnSpc>
                <a:spcPct val="125000"/>
              </a:lnSpc>
              <a:spcBef>
                <a:spcPts val="1345"/>
              </a:spcBef>
              <a:buSzPct val="105128"/>
              <a:buFont typeface="Lucida Sans Unicode"/>
              <a:buChar char="•"/>
              <a:tabLst>
                <a:tab pos="301625" algn="l"/>
              </a:tabLst>
            </a:pPr>
            <a:r>
              <a:rPr sz="1950" spc="160" dirty="0">
                <a:solidFill>
                  <a:srgbClr val="231F20"/>
                </a:solidFill>
                <a:latin typeface="Arial"/>
                <a:cs typeface="Arial"/>
              </a:rPr>
              <a:t>Notice </a:t>
            </a:r>
            <a:r>
              <a:rPr sz="1950" spc="235" dirty="0">
                <a:solidFill>
                  <a:srgbClr val="231F20"/>
                </a:solidFill>
                <a:latin typeface="Arial"/>
                <a:cs typeface="Arial"/>
              </a:rPr>
              <a:t>that </a:t>
            </a:r>
            <a:r>
              <a:rPr sz="1950" spc="90" dirty="0">
                <a:solidFill>
                  <a:srgbClr val="231F20"/>
                </a:solidFill>
                <a:latin typeface="Arial"/>
                <a:cs typeface="Arial"/>
              </a:rPr>
              <a:t>each </a:t>
            </a:r>
            <a:r>
              <a:rPr sz="1950" spc="175" dirty="0">
                <a:solidFill>
                  <a:srgbClr val="231F20"/>
                </a:solidFill>
                <a:latin typeface="Arial"/>
                <a:cs typeface="Arial"/>
              </a:rPr>
              <a:t>conjunct </a:t>
            </a:r>
            <a:r>
              <a:rPr sz="1950" spc="195" dirty="0">
                <a:solidFill>
                  <a:srgbClr val="231F20"/>
                </a:solidFill>
                <a:latin typeface="Arial"/>
                <a:cs typeface="Arial"/>
              </a:rPr>
              <a:t>must </a:t>
            </a:r>
            <a:r>
              <a:rPr sz="1950" spc="130" dirty="0">
                <a:solidFill>
                  <a:srgbClr val="231F20"/>
                </a:solidFill>
                <a:latin typeface="Arial"/>
                <a:cs typeface="Arial"/>
              </a:rPr>
              <a:t>itself </a:t>
            </a:r>
            <a:r>
              <a:rPr sz="1950" spc="114" dirty="0">
                <a:solidFill>
                  <a:srgbClr val="231F20"/>
                </a:solidFill>
                <a:latin typeface="Arial"/>
                <a:cs typeface="Arial"/>
              </a:rPr>
              <a:t>be </a:t>
            </a:r>
            <a:r>
              <a:rPr sz="1950" spc="120" dirty="0">
                <a:solidFill>
                  <a:srgbClr val="231F20"/>
                </a:solidFill>
                <a:latin typeface="Arial"/>
                <a:cs typeface="Arial"/>
              </a:rPr>
              <a:t>an </a:t>
            </a:r>
            <a:r>
              <a:rPr sz="1950" spc="140" dirty="0">
                <a:solidFill>
                  <a:srgbClr val="231F20"/>
                </a:solidFill>
                <a:latin typeface="Arial"/>
                <a:cs typeface="Arial"/>
              </a:rPr>
              <a:t>invariant  </a:t>
            </a:r>
            <a:r>
              <a:rPr sz="1950" spc="204" dirty="0">
                <a:solidFill>
                  <a:srgbClr val="231F20"/>
                </a:solidFill>
                <a:latin typeface="Arial"/>
                <a:cs typeface="Arial"/>
              </a:rPr>
              <a:t>(the </a:t>
            </a:r>
            <a:r>
              <a:rPr sz="1950" spc="105" dirty="0">
                <a:solidFill>
                  <a:srgbClr val="231F20"/>
                </a:solidFill>
                <a:latin typeface="Arial"/>
                <a:cs typeface="Arial"/>
              </a:rPr>
              <a:t>very </a:t>
            </a:r>
            <a:r>
              <a:rPr sz="1950" spc="150" dirty="0">
                <a:solidFill>
                  <a:srgbClr val="231F20"/>
                </a:solidFill>
                <a:latin typeface="Arial"/>
                <a:cs typeface="Arial"/>
              </a:rPr>
              <a:t>property </a:t>
            </a:r>
            <a:r>
              <a:rPr sz="1950" spc="95" dirty="0">
                <a:solidFill>
                  <a:srgbClr val="231F20"/>
                </a:solidFill>
                <a:latin typeface="Arial"/>
                <a:cs typeface="Arial"/>
              </a:rPr>
              <a:t>we </a:t>
            </a:r>
            <a:r>
              <a:rPr sz="1950" spc="65" dirty="0">
                <a:solidFill>
                  <a:srgbClr val="231F20"/>
                </a:solidFill>
                <a:latin typeface="Arial"/>
                <a:cs typeface="Arial"/>
              </a:rPr>
              <a:t>are </a:t>
            </a:r>
            <a:r>
              <a:rPr sz="1950" spc="175" dirty="0">
                <a:solidFill>
                  <a:srgbClr val="231F20"/>
                </a:solidFill>
                <a:latin typeface="Arial"/>
                <a:cs typeface="Arial"/>
              </a:rPr>
              <a:t>trying </a:t>
            </a:r>
            <a:r>
              <a:rPr sz="1950" spc="250" dirty="0">
                <a:solidFill>
                  <a:srgbClr val="231F20"/>
                </a:solidFill>
                <a:latin typeface="Arial"/>
                <a:cs typeface="Arial"/>
              </a:rPr>
              <a:t>to </a:t>
            </a:r>
            <a:r>
              <a:rPr sz="1950" spc="395" dirty="0">
                <a:solidFill>
                  <a:srgbClr val="231F20"/>
                </a:solidFill>
                <a:latin typeface="Arial"/>
                <a:cs typeface="Arial"/>
              </a:rPr>
              <a:t> </a:t>
            </a:r>
            <a:r>
              <a:rPr sz="1950" spc="125" dirty="0">
                <a:solidFill>
                  <a:srgbClr val="231F20"/>
                </a:solidFill>
                <a:latin typeface="Arial"/>
                <a:cs typeface="Arial"/>
              </a:rPr>
              <a:t>establish)</a:t>
            </a:r>
            <a:endParaRPr sz="1950">
              <a:latin typeface="Arial"/>
              <a:cs typeface="Arial"/>
            </a:endParaRPr>
          </a:p>
          <a:p>
            <a:pPr marL="300990" marR="212725" indent="-288290">
              <a:lnSpc>
                <a:spcPct val="125000"/>
              </a:lnSpc>
              <a:spcBef>
                <a:spcPts val="1345"/>
              </a:spcBef>
              <a:buClr>
                <a:srgbClr val="231F20"/>
              </a:buClr>
              <a:buSzPct val="105128"/>
              <a:buFont typeface="Lucida Sans Unicode"/>
              <a:buChar char="•"/>
              <a:tabLst>
                <a:tab pos="301625" algn="l"/>
              </a:tabLst>
            </a:pPr>
            <a:r>
              <a:rPr sz="1950" spc="150" dirty="0">
                <a:solidFill>
                  <a:srgbClr val="FF0000"/>
                </a:solidFill>
                <a:latin typeface="Arial"/>
                <a:cs typeface="Arial"/>
              </a:rPr>
              <a:t>Disjunctive </a:t>
            </a:r>
            <a:r>
              <a:rPr sz="1950" spc="125" dirty="0">
                <a:solidFill>
                  <a:srgbClr val="231F20"/>
                </a:solidFill>
                <a:latin typeface="Arial"/>
                <a:cs typeface="Arial"/>
              </a:rPr>
              <a:t>invariants </a:t>
            </a:r>
            <a:r>
              <a:rPr sz="1950" spc="65" dirty="0">
                <a:solidFill>
                  <a:srgbClr val="231F20"/>
                </a:solidFill>
                <a:latin typeface="Arial"/>
                <a:cs typeface="Arial"/>
              </a:rPr>
              <a:t>are </a:t>
            </a:r>
            <a:r>
              <a:rPr sz="1950" spc="120" dirty="0">
                <a:solidFill>
                  <a:srgbClr val="231F20"/>
                </a:solidFill>
                <a:latin typeface="Arial"/>
                <a:cs typeface="Arial"/>
              </a:rPr>
              <a:t>an </a:t>
            </a:r>
            <a:r>
              <a:rPr sz="1950" spc="140" dirty="0">
                <a:solidFill>
                  <a:srgbClr val="231F20"/>
                </a:solidFill>
                <a:latin typeface="Arial"/>
                <a:cs typeface="Arial"/>
              </a:rPr>
              <a:t>alternative </a:t>
            </a:r>
            <a:r>
              <a:rPr sz="1950" spc="155" dirty="0">
                <a:solidFill>
                  <a:srgbClr val="231F20"/>
                </a:solidFill>
                <a:latin typeface="Arial"/>
                <a:cs typeface="Arial"/>
              </a:rPr>
              <a:t>for </a:t>
            </a:r>
            <a:r>
              <a:rPr sz="1950" spc="110" dirty="0">
                <a:solidFill>
                  <a:srgbClr val="231F20"/>
                </a:solidFill>
                <a:latin typeface="Arial"/>
                <a:cs typeface="Arial"/>
              </a:rPr>
              <a:t>some </a:t>
            </a:r>
            <a:r>
              <a:rPr sz="1950" spc="120" dirty="0">
                <a:solidFill>
                  <a:srgbClr val="231F20"/>
                </a:solidFill>
                <a:latin typeface="Arial"/>
                <a:cs typeface="Arial"/>
              </a:rPr>
              <a:t>problems  </a:t>
            </a:r>
            <a:r>
              <a:rPr sz="1950" spc="75" dirty="0">
                <a:solidFill>
                  <a:srgbClr val="231F20"/>
                </a:solidFill>
                <a:latin typeface="Arial"/>
                <a:cs typeface="Arial"/>
              </a:rPr>
              <a:t>(see </a:t>
            </a:r>
            <a:r>
              <a:rPr sz="1950" spc="215" dirty="0">
                <a:solidFill>
                  <a:srgbClr val="231F20"/>
                </a:solidFill>
                <a:latin typeface="Arial"/>
                <a:cs typeface="Arial"/>
              </a:rPr>
              <a:t>my </a:t>
            </a:r>
            <a:r>
              <a:rPr sz="1950" spc="160" dirty="0">
                <a:solidFill>
                  <a:srgbClr val="231F20"/>
                </a:solidFill>
                <a:latin typeface="Arial"/>
                <a:cs typeface="Arial"/>
              </a:rPr>
              <a:t>CAV </a:t>
            </a:r>
            <a:r>
              <a:rPr sz="1950" spc="155" dirty="0">
                <a:solidFill>
                  <a:srgbClr val="231F20"/>
                </a:solidFill>
                <a:latin typeface="Arial"/>
                <a:cs typeface="Arial"/>
              </a:rPr>
              <a:t>2000</a:t>
            </a:r>
            <a:r>
              <a:rPr sz="1950" spc="605" dirty="0">
                <a:solidFill>
                  <a:srgbClr val="231F20"/>
                </a:solidFill>
                <a:latin typeface="Arial"/>
                <a:cs typeface="Arial"/>
              </a:rPr>
              <a:t> </a:t>
            </a:r>
            <a:r>
              <a:rPr sz="1950" spc="160" dirty="0">
                <a:solidFill>
                  <a:srgbClr val="231F20"/>
                </a:solidFill>
                <a:latin typeface="Arial"/>
                <a:cs typeface="Arial"/>
              </a:rPr>
              <a:t>paper)</a:t>
            </a:r>
            <a:endParaRPr sz="1950">
              <a:latin typeface="Arial"/>
              <a:cs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8260080" cy="5878195"/>
          </a:xfrm>
          <a:prstGeom prst="rect">
            <a:avLst/>
          </a:prstGeom>
        </p:spPr>
        <p:txBody>
          <a:bodyPr vert="horz" wrap="square" lIns="0" tIns="0" rIns="0" bIns="0" rtlCol="0">
            <a:spAutoFit/>
          </a:bodyPr>
          <a:lstStyle/>
          <a:p>
            <a:pPr marL="1604645">
              <a:lnSpc>
                <a:spcPct val="100000"/>
              </a:lnSpc>
            </a:pPr>
            <a:r>
              <a:rPr sz="1950" spc="250" dirty="0">
                <a:solidFill>
                  <a:srgbClr val="231F20"/>
                </a:solidFill>
                <a:latin typeface="Arial"/>
                <a:cs typeface="Arial"/>
              </a:rPr>
              <a:t>Pros </a:t>
            </a:r>
            <a:r>
              <a:rPr sz="1950" spc="240" dirty="0">
                <a:solidFill>
                  <a:srgbClr val="231F20"/>
                </a:solidFill>
                <a:latin typeface="Arial"/>
                <a:cs typeface="Arial"/>
              </a:rPr>
              <a:t>and </a:t>
            </a:r>
            <a:r>
              <a:rPr sz="1950" spc="235" dirty="0">
                <a:solidFill>
                  <a:srgbClr val="231F20"/>
                </a:solidFill>
                <a:latin typeface="Arial"/>
                <a:cs typeface="Arial"/>
              </a:rPr>
              <a:t>Cons </a:t>
            </a:r>
            <a:r>
              <a:rPr sz="1950" spc="280" dirty="0">
                <a:solidFill>
                  <a:srgbClr val="231F20"/>
                </a:solidFill>
                <a:latin typeface="Arial"/>
                <a:cs typeface="Arial"/>
              </a:rPr>
              <a:t>of </a:t>
            </a:r>
            <a:r>
              <a:rPr sz="1950" spc="320" dirty="0">
                <a:solidFill>
                  <a:srgbClr val="231F20"/>
                </a:solidFill>
                <a:latin typeface="Arial"/>
                <a:cs typeface="Arial"/>
              </a:rPr>
              <a:t>Theorem</a:t>
            </a:r>
            <a:r>
              <a:rPr sz="1950" spc="810" dirty="0">
                <a:solidFill>
                  <a:srgbClr val="231F20"/>
                </a:solidFill>
                <a:latin typeface="Arial"/>
                <a:cs typeface="Arial"/>
              </a:rPr>
              <a:t> </a:t>
            </a:r>
            <a:r>
              <a:rPr sz="1950" spc="260" dirty="0">
                <a:solidFill>
                  <a:srgbClr val="231F20"/>
                </a:solidFill>
                <a:latin typeface="Arial"/>
                <a:cs typeface="Arial"/>
              </a:rPr>
              <a:t>Proving</a:t>
            </a:r>
            <a:endParaRPr sz="1950">
              <a:latin typeface="Arial"/>
              <a:cs typeface="Arial"/>
            </a:endParaRPr>
          </a:p>
          <a:p>
            <a:pPr marL="300990" indent="-288290">
              <a:lnSpc>
                <a:spcPct val="100000"/>
              </a:lnSpc>
              <a:spcBef>
                <a:spcPts val="1789"/>
              </a:spcBef>
              <a:buSzPct val="105128"/>
              <a:buFont typeface="Lucida Sans Unicode"/>
              <a:buChar char="•"/>
              <a:tabLst>
                <a:tab pos="301625" algn="l"/>
              </a:tabLst>
            </a:pPr>
            <a:r>
              <a:rPr sz="1950" spc="185" dirty="0">
                <a:solidFill>
                  <a:srgbClr val="231F20"/>
                </a:solidFill>
                <a:latin typeface="Arial"/>
                <a:cs typeface="Arial"/>
              </a:rPr>
              <a:t>Theorem </a:t>
            </a:r>
            <a:r>
              <a:rPr sz="1950" spc="135" dirty="0">
                <a:solidFill>
                  <a:srgbClr val="231F20"/>
                </a:solidFill>
                <a:latin typeface="Arial"/>
                <a:cs typeface="Arial"/>
              </a:rPr>
              <a:t>proving </a:t>
            </a:r>
            <a:r>
              <a:rPr sz="1950" spc="120" dirty="0">
                <a:solidFill>
                  <a:srgbClr val="231F20"/>
                </a:solidFill>
                <a:latin typeface="Arial"/>
                <a:cs typeface="Arial"/>
              </a:rPr>
              <a:t>can </a:t>
            </a:r>
            <a:r>
              <a:rPr sz="1950" spc="110" dirty="0">
                <a:solidFill>
                  <a:srgbClr val="231F20"/>
                </a:solidFill>
                <a:latin typeface="Arial"/>
                <a:cs typeface="Arial"/>
              </a:rPr>
              <a:t>handle </a:t>
            </a:r>
            <a:r>
              <a:rPr sz="1950" spc="155" dirty="0">
                <a:solidFill>
                  <a:srgbClr val="231F20"/>
                </a:solidFill>
                <a:latin typeface="Arial"/>
                <a:cs typeface="Arial"/>
              </a:rPr>
              <a:t>infinite state </a:t>
            </a:r>
            <a:r>
              <a:rPr sz="1950" spc="290" dirty="0">
                <a:solidFill>
                  <a:srgbClr val="231F20"/>
                </a:solidFill>
                <a:latin typeface="Arial"/>
                <a:cs typeface="Arial"/>
              </a:rPr>
              <a:t> </a:t>
            </a:r>
            <a:r>
              <a:rPr sz="1950" spc="100" dirty="0">
                <a:solidFill>
                  <a:srgbClr val="231F20"/>
                </a:solidFill>
                <a:latin typeface="Arial"/>
                <a:cs typeface="Arial"/>
              </a:rPr>
              <a:t>systems</a:t>
            </a:r>
            <a:endParaRPr sz="1950">
              <a:latin typeface="Arial"/>
              <a:cs typeface="Arial"/>
            </a:endParaRPr>
          </a:p>
          <a:p>
            <a:pPr marL="300990" indent="-288290">
              <a:lnSpc>
                <a:spcPct val="100000"/>
              </a:lnSpc>
              <a:spcBef>
                <a:spcPts val="1055"/>
              </a:spcBef>
              <a:buSzPct val="105128"/>
              <a:buFont typeface="Lucida Sans Unicode"/>
              <a:buChar char="•"/>
              <a:tabLst>
                <a:tab pos="301625" algn="l"/>
              </a:tabLst>
            </a:pPr>
            <a:r>
              <a:rPr sz="1950" spc="200" dirty="0">
                <a:solidFill>
                  <a:srgbClr val="231F20"/>
                </a:solidFill>
                <a:latin typeface="Arial"/>
                <a:cs typeface="Arial"/>
              </a:rPr>
              <a:t>And </a:t>
            </a:r>
            <a:r>
              <a:rPr sz="1950" spc="135" dirty="0">
                <a:solidFill>
                  <a:srgbClr val="231F20"/>
                </a:solidFill>
                <a:latin typeface="Arial"/>
                <a:cs typeface="Arial"/>
              </a:rPr>
              <a:t>accurate</a:t>
            </a:r>
            <a:r>
              <a:rPr sz="1950" spc="305" dirty="0">
                <a:solidFill>
                  <a:srgbClr val="231F20"/>
                </a:solidFill>
                <a:latin typeface="Arial"/>
                <a:cs typeface="Arial"/>
              </a:rPr>
              <a:t> </a:t>
            </a:r>
            <a:r>
              <a:rPr sz="1950" spc="130" dirty="0">
                <a:solidFill>
                  <a:srgbClr val="231F20"/>
                </a:solidFill>
                <a:latin typeface="Arial"/>
                <a:cs typeface="Arial"/>
              </a:rPr>
              <a:t>models</a:t>
            </a:r>
            <a:endParaRPr sz="1950">
              <a:latin typeface="Arial"/>
              <a:cs typeface="Arial"/>
            </a:endParaRPr>
          </a:p>
          <a:p>
            <a:pPr marL="741680" lvl="1" indent="-288290">
              <a:lnSpc>
                <a:spcPct val="100000"/>
              </a:lnSpc>
              <a:spcBef>
                <a:spcPts val="1055"/>
              </a:spcBef>
              <a:buSzPct val="105128"/>
              <a:buFont typeface="Lucida Sans Unicode"/>
              <a:buChar char="◦"/>
              <a:tabLst>
                <a:tab pos="742315" algn="l"/>
              </a:tabLst>
            </a:pPr>
            <a:r>
              <a:rPr sz="1950" spc="145" dirty="0">
                <a:solidFill>
                  <a:srgbClr val="231F20"/>
                </a:solidFill>
                <a:latin typeface="Arial"/>
                <a:cs typeface="Arial"/>
              </a:rPr>
              <a:t>Sometimes </a:t>
            </a:r>
            <a:r>
              <a:rPr sz="1950" spc="15" dirty="0">
                <a:solidFill>
                  <a:srgbClr val="231F20"/>
                </a:solidFill>
                <a:latin typeface="Arial"/>
                <a:cs typeface="Arial"/>
              </a:rPr>
              <a:t>less </a:t>
            </a:r>
            <a:r>
              <a:rPr sz="1950" spc="20" dirty="0">
                <a:solidFill>
                  <a:srgbClr val="231F20"/>
                </a:solidFill>
                <a:latin typeface="Arial"/>
                <a:cs typeface="Arial"/>
              </a:rPr>
              <a:t>says </a:t>
            </a:r>
            <a:r>
              <a:rPr sz="1950" spc="130" dirty="0">
                <a:solidFill>
                  <a:srgbClr val="231F20"/>
                </a:solidFill>
                <a:latin typeface="Arial"/>
                <a:cs typeface="Arial"/>
              </a:rPr>
              <a:t>more–e.g., </a:t>
            </a:r>
            <a:r>
              <a:rPr sz="1950" spc="180" dirty="0">
                <a:solidFill>
                  <a:srgbClr val="231F20"/>
                </a:solidFill>
                <a:latin typeface="Arial"/>
                <a:cs typeface="Arial"/>
              </a:rPr>
              <a:t>fault </a:t>
            </a:r>
            <a:r>
              <a:rPr sz="1950" spc="375" dirty="0">
                <a:solidFill>
                  <a:srgbClr val="231F20"/>
                </a:solidFill>
                <a:latin typeface="Arial"/>
                <a:cs typeface="Arial"/>
              </a:rPr>
              <a:t> </a:t>
            </a:r>
            <a:r>
              <a:rPr sz="1950" spc="130" dirty="0">
                <a:solidFill>
                  <a:srgbClr val="231F20"/>
                </a:solidFill>
                <a:latin typeface="Arial"/>
                <a:cs typeface="Arial"/>
              </a:rPr>
              <a:t>tolerance</a:t>
            </a:r>
            <a:endParaRPr sz="1950">
              <a:latin typeface="Arial"/>
              <a:cs typeface="Arial"/>
            </a:endParaRPr>
          </a:p>
          <a:p>
            <a:pPr marL="300990" indent="-288290">
              <a:lnSpc>
                <a:spcPct val="100000"/>
              </a:lnSpc>
              <a:spcBef>
                <a:spcPts val="1055"/>
              </a:spcBef>
              <a:buSzPct val="105128"/>
              <a:buFont typeface="Lucida Sans Unicode"/>
              <a:buChar char="•"/>
              <a:tabLst>
                <a:tab pos="301625" algn="l"/>
              </a:tabLst>
            </a:pPr>
            <a:r>
              <a:rPr sz="1950" spc="200" dirty="0">
                <a:solidFill>
                  <a:srgbClr val="231F20"/>
                </a:solidFill>
                <a:latin typeface="Arial"/>
                <a:cs typeface="Arial"/>
              </a:rPr>
              <a:t>And </a:t>
            </a:r>
            <a:r>
              <a:rPr sz="1950" spc="100" dirty="0">
                <a:solidFill>
                  <a:srgbClr val="231F20"/>
                </a:solidFill>
                <a:latin typeface="Arial"/>
                <a:cs typeface="Arial"/>
              </a:rPr>
              <a:t>general</a:t>
            </a:r>
            <a:r>
              <a:rPr sz="1950" spc="305" dirty="0">
                <a:solidFill>
                  <a:srgbClr val="231F20"/>
                </a:solidFill>
                <a:latin typeface="Arial"/>
                <a:cs typeface="Arial"/>
              </a:rPr>
              <a:t> </a:t>
            </a:r>
            <a:r>
              <a:rPr sz="1950" spc="125" dirty="0">
                <a:solidFill>
                  <a:srgbClr val="231F20"/>
                </a:solidFill>
                <a:latin typeface="Arial"/>
                <a:cs typeface="Arial"/>
              </a:rPr>
              <a:t>properties</a:t>
            </a:r>
            <a:endParaRPr sz="1950">
              <a:latin typeface="Arial"/>
              <a:cs typeface="Arial"/>
            </a:endParaRPr>
          </a:p>
          <a:p>
            <a:pPr marL="615950">
              <a:lnSpc>
                <a:spcPct val="100000"/>
              </a:lnSpc>
              <a:spcBef>
                <a:spcPts val="585"/>
              </a:spcBef>
            </a:pPr>
            <a:r>
              <a:rPr sz="1950" spc="240" dirty="0">
                <a:solidFill>
                  <a:srgbClr val="231F20"/>
                </a:solidFill>
                <a:latin typeface="Arial"/>
                <a:cs typeface="Arial"/>
              </a:rPr>
              <a:t>(not </a:t>
            </a:r>
            <a:r>
              <a:rPr sz="1950" spc="165" dirty="0">
                <a:solidFill>
                  <a:srgbClr val="231F20"/>
                </a:solidFill>
                <a:latin typeface="Arial"/>
                <a:cs typeface="Arial"/>
              </a:rPr>
              <a:t>just </a:t>
            </a:r>
            <a:r>
              <a:rPr sz="1950" spc="130" dirty="0">
                <a:solidFill>
                  <a:srgbClr val="231F20"/>
                </a:solidFill>
                <a:latin typeface="Arial"/>
                <a:cs typeface="Arial"/>
              </a:rPr>
              <a:t>those </a:t>
            </a:r>
            <a:r>
              <a:rPr sz="1950" spc="65" dirty="0">
                <a:solidFill>
                  <a:srgbClr val="231F20"/>
                </a:solidFill>
                <a:latin typeface="Arial"/>
                <a:cs typeface="Arial"/>
              </a:rPr>
              <a:t>expressible </a:t>
            </a:r>
            <a:r>
              <a:rPr sz="1950" spc="130" dirty="0">
                <a:solidFill>
                  <a:srgbClr val="231F20"/>
                </a:solidFill>
                <a:latin typeface="Arial"/>
                <a:cs typeface="Arial"/>
              </a:rPr>
              <a:t>in </a:t>
            </a:r>
            <a:r>
              <a:rPr sz="1950" spc="165" dirty="0">
                <a:solidFill>
                  <a:srgbClr val="231F20"/>
                </a:solidFill>
                <a:latin typeface="Arial"/>
                <a:cs typeface="Arial"/>
              </a:rPr>
              <a:t>temporal </a:t>
            </a:r>
            <a:r>
              <a:rPr sz="1950" spc="280" dirty="0">
                <a:solidFill>
                  <a:srgbClr val="231F20"/>
                </a:solidFill>
                <a:latin typeface="Arial"/>
                <a:cs typeface="Arial"/>
              </a:rPr>
              <a:t> </a:t>
            </a:r>
            <a:r>
              <a:rPr sz="1950" spc="160" dirty="0">
                <a:solidFill>
                  <a:srgbClr val="231F20"/>
                </a:solidFill>
                <a:latin typeface="Arial"/>
                <a:cs typeface="Arial"/>
              </a:rPr>
              <a:t>logic)</a:t>
            </a:r>
            <a:endParaRPr sz="1950">
              <a:latin typeface="Arial"/>
              <a:cs typeface="Arial"/>
            </a:endParaRPr>
          </a:p>
          <a:p>
            <a:pPr marL="300990" indent="-288290">
              <a:lnSpc>
                <a:spcPct val="100000"/>
              </a:lnSpc>
              <a:spcBef>
                <a:spcPts val="1055"/>
              </a:spcBef>
              <a:buSzPct val="105128"/>
              <a:buFont typeface="Lucida Sans Unicode"/>
              <a:buChar char="•"/>
              <a:tabLst>
                <a:tab pos="301625" algn="l"/>
              </a:tabLst>
            </a:pPr>
            <a:r>
              <a:rPr sz="1950" spc="275" dirty="0">
                <a:solidFill>
                  <a:srgbClr val="231F20"/>
                </a:solidFill>
                <a:latin typeface="Arial"/>
                <a:cs typeface="Arial"/>
              </a:rPr>
              <a:t>But </a:t>
            </a:r>
            <a:r>
              <a:rPr sz="1950" spc="170" dirty="0">
                <a:solidFill>
                  <a:srgbClr val="231F20"/>
                </a:solidFill>
                <a:latin typeface="Arial"/>
                <a:cs typeface="Arial"/>
              </a:rPr>
              <a:t>it’s </a:t>
            </a:r>
            <a:r>
              <a:rPr sz="1950" spc="120" dirty="0">
                <a:solidFill>
                  <a:srgbClr val="231F20"/>
                </a:solidFill>
                <a:latin typeface="Arial"/>
                <a:cs typeface="Arial"/>
              </a:rPr>
              <a:t>hard </a:t>
            </a:r>
            <a:r>
              <a:rPr sz="1950" spc="175" dirty="0">
                <a:solidFill>
                  <a:srgbClr val="231F20"/>
                </a:solidFill>
                <a:latin typeface="Arial"/>
                <a:cs typeface="Arial"/>
              </a:rPr>
              <a:t>(and </a:t>
            </a:r>
            <a:r>
              <a:rPr sz="1950" spc="220" dirty="0">
                <a:solidFill>
                  <a:srgbClr val="231F20"/>
                </a:solidFill>
                <a:latin typeface="Arial"/>
                <a:cs typeface="Arial"/>
              </a:rPr>
              <a:t>not </a:t>
            </a:r>
            <a:r>
              <a:rPr sz="1950" spc="85" dirty="0">
                <a:solidFill>
                  <a:srgbClr val="231F20"/>
                </a:solidFill>
                <a:latin typeface="Arial"/>
                <a:cs typeface="Arial"/>
              </a:rPr>
              <a:t>everyone </a:t>
            </a:r>
            <a:r>
              <a:rPr sz="1950" spc="120" dirty="0">
                <a:solidFill>
                  <a:srgbClr val="231F20"/>
                </a:solidFill>
                <a:latin typeface="Arial"/>
                <a:cs typeface="Arial"/>
              </a:rPr>
              <a:t>finds </a:t>
            </a:r>
            <a:r>
              <a:rPr sz="1950" spc="229" dirty="0">
                <a:solidFill>
                  <a:srgbClr val="231F20"/>
                </a:solidFill>
                <a:latin typeface="Arial"/>
                <a:cs typeface="Arial"/>
              </a:rPr>
              <a:t>it </a:t>
            </a:r>
            <a:r>
              <a:rPr sz="1950" spc="325" dirty="0">
                <a:solidFill>
                  <a:srgbClr val="231F20"/>
                </a:solidFill>
                <a:latin typeface="Arial"/>
                <a:cs typeface="Arial"/>
              </a:rPr>
              <a:t> </a:t>
            </a:r>
            <a:r>
              <a:rPr sz="1950" spc="210" dirty="0">
                <a:solidFill>
                  <a:srgbClr val="231F20"/>
                </a:solidFill>
                <a:latin typeface="Arial"/>
                <a:cs typeface="Arial"/>
              </a:rPr>
              <a:t>fun)</a:t>
            </a:r>
            <a:endParaRPr sz="1950">
              <a:latin typeface="Arial"/>
              <a:cs typeface="Arial"/>
            </a:endParaRPr>
          </a:p>
          <a:p>
            <a:pPr marL="741680" lvl="1" indent="-288290">
              <a:lnSpc>
                <a:spcPct val="100000"/>
              </a:lnSpc>
              <a:spcBef>
                <a:spcPts val="1055"/>
              </a:spcBef>
              <a:buClr>
                <a:srgbClr val="231F20"/>
              </a:buClr>
              <a:buSzPct val="105128"/>
              <a:buFont typeface="Lucida Sans Unicode"/>
              <a:buChar char="◦"/>
              <a:tabLst>
                <a:tab pos="742315" algn="l"/>
              </a:tabLst>
            </a:pPr>
            <a:r>
              <a:rPr sz="1950" spc="160" dirty="0">
                <a:solidFill>
                  <a:srgbClr val="0000FF"/>
                </a:solidFill>
                <a:latin typeface="Arial"/>
                <a:cs typeface="Arial"/>
              </a:rPr>
              <a:t>Everything </a:t>
            </a:r>
            <a:r>
              <a:rPr sz="1950" spc="40" dirty="0">
                <a:solidFill>
                  <a:srgbClr val="0000FF"/>
                </a:solidFill>
                <a:latin typeface="Arial"/>
                <a:cs typeface="Arial"/>
              </a:rPr>
              <a:t>is </a:t>
            </a:r>
            <a:r>
              <a:rPr sz="1950" spc="90" dirty="0">
                <a:solidFill>
                  <a:srgbClr val="0000FF"/>
                </a:solidFill>
                <a:latin typeface="Arial"/>
                <a:cs typeface="Arial"/>
              </a:rPr>
              <a:t>possible </a:t>
            </a:r>
            <a:r>
              <a:rPr sz="1950" spc="220" dirty="0">
                <a:solidFill>
                  <a:srgbClr val="0000FF"/>
                </a:solidFill>
                <a:latin typeface="Arial"/>
                <a:cs typeface="Arial"/>
              </a:rPr>
              <a:t>but </a:t>
            </a:r>
            <a:r>
              <a:rPr sz="1950" spc="175" dirty="0">
                <a:solidFill>
                  <a:srgbClr val="0000FF"/>
                </a:solidFill>
                <a:latin typeface="Arial"/>
                <a:cs typeface="Arial"/>
              </a:rPr>
              <a:t>nothing </a:t>
            </a:r>
            <a:r>
              <a:rPr sz="1950" spc="40" dirty="0">
                <a:solidFill>
                  <a:srgbClr val="0000FF"/>
                </a:solidFill>
                <a:latin typeface="Arial"/>
                <a:cs typeface="Arial"/>
              </a:rPr>
              <a:t>is </a:t>
            </a:r>
            <a:r>
              <a:rPr sz="1950" spc="370" dirty="0">
                <a:solidFill>
                  <a:srgbClr val="0000FF"/>
                </a:solidFill>
                <a:latin typeface="Arial"/>
                <a:cs typeface="Arial"/>
              </a:rPr>
              <a:t> </a:t>
            </a:r>
            <a:r>
              <a:rPr sz="1950" spc="50" dirty="0">
                <a:solidFill>
                  <a:srgbClr val="0000FF"/>
                </a:solidFill>
                <a:latin typeface="Arial"/>
                <a:cs typeface="Arial"/>
              </a:rPr>
              <a:t>easy</a:t>
            </a:r>
            <a:endParaRPr sz="1950">
              <a:latin typeface="Arial"/>
              <a:cs typeface="Arial"/>
            </a:endParaRPr>
          </a:p>
          <a:p>
            <a:pPr marL="741680" lvl="1" indent="-288290">
              <a:lnSpc>
                <a:spcPct val="100000"/>
              </a:lnSpc>
              <a:spcBef>
                <a:spcPts val="819"/>
              </a:spcBef>
              <a:buClr>
                <a:srgbClr val="231F20"/>
              </a:buClr>
              <a:buSzPct val="105128"/>
              <a:buFont typeface="Lucida Sans Unicode"/>
              <a:buChar char="◦"/>
              <a:tabLst>
                <a:tab pos="742315" algn="l"/>
              </a:tabLst>
            </a:pPr>
            <a:r>
              <a:rPr sz="1950" spc="110" dirty="0">
                <a:solidFill>
                  <a:srgbClr val="FF0000"/>
                </a:solidFill>
                <a:latin typeface="Arial"/>
                <a:cs typeface="Arial"/>
              </a:rPr>
              <a:t>Especially </a:t>
            </a:r>
            <a:r>
              <a:rPr sz="1950" spc="145" dirty="0">
                <a:solidFill>
                  <a:srgbClr val="FF0000"/>
                </a:solidFill>
                <a:latin typeface="Arial"/>
                <a:cs typeface="Arial"/>
              </a:rPr>
              <a:t>strengthening </a:t>
            </a:r>
            <a:r>
              <a:rPr sz="1950" spc="185" dirty="0">
                <a:solidFill>
                  <a:srgbClr val="FF0000"/>
                </a:solidFill>
                <a:latin typeface="Arial"/>
                <a:cs typeface="Arial"/>
              </a:rPr>
              <a:t>of</a:t>
            </a:r>
            <a:r>
              <a:rPr sz="1950" spc="565" dirty="0">
                <a:solidFill>
                  <a:srgbClr val="FF0000"/>
                </a:solidFill>
                <a:latin typeface="Arial"/>
                <a:cs typeface="Arial"/>
              </a:rPr>
              <a:t> </a:t>
            </a:r>
            <a:r>
              <a:rPr sz="1950" spc="125" dirty="0">
                <a:solidFill>
                  <a:srgbClr val="FF0000"/>
                </a:solidFill>
                <a:latin typeface="Arial"/>
                <a:cs typeface="Arial"/>
              </a:rPr>
              <a:t>invariants</a:t>
            </a:r>
            <a:endParaRPr sz="1950">
              <a:latin typeface="Arial"/>
              <a:cs typeface="Arial"/>
            </a:endParaRPr>
          </a:p>
          <a:p>
            <a:pPr marL="300990" marR="5080" indent="-288290">
              <a:lnSpc>
                <a:spcPct val="125000"/>
              </a:lnSpc>
              <a:spcBef>
                <a:spcPts val="470"/>
              </a:spcBef>
              <a:buSzPct val="105128"/>
              <a:buFont typeface="Lucida Sans Unicode"/>
              <a:buChar char="•"/>
              <a:tabLst>
                <a:tab pos="301625" algn="l"/>
              </a:tabLst>
            </a:pPr>
            <a:r>
              <a:rPr sz="1950" spc="160" dirty="0">
                <a:solidFill>
                  <a:srgbClr val="231F20"/>
                </a:solidFill>
                <a:latin typeface="Arial"/>
                <a:cs typeface="Arial"/>
              </a:rPr>
              <a:t>Interaction </a:t>
            </a:r>
            <a:r>
              <a:rPr sz="1950" spc="95" dirty="0">
                <a:solidFill>
                  <a:srgbClr val="231F20"/>
                </a:solidFill>
                <a:latin typeface="Arial"/>
                <a:cs typeface="Arial"/>
              </a:rPr>
              <a:t>focuses </a:t>
            </a:r>
            <a:r>
              <a:rPr sz="1950" spc="155" dirty="0">
                <a:solidFill>
                  <a:srgbClr val="231F20"/>
                </a:solidFill>
                <a:latin typeface="Arial"/>
                <a:cs typeface="Arial"/>
              </a:rPr>
              <a:t>on </a:t>
            </a:r>
            <a:r>
              <a:rPr sz="1950" spc="165" dirty="0">
                <a:solidFill>
                  <a:srgbClr val="231F20"/>
                </a:solidFill>
                <a:latin typeface="Arial"/>
                <a:cs typeface="Arial"/>
              </a:rPr>
              <a:t>proof, </a:t>
            </a:r>
            <a:r>
              <a:rPr sz="1950" spc="130" dirty="0">
                <a:solidFill>
                  <a:srgbClr val="231F20"/>
                </a:solidFill>
                <a:latin typeface="Arial"/>
                <a:cs typeface="Arial"/>
              </a:rPr>
              <a:t>and </a:t>
            </a:r>
            <a:r>
              <a:rPr sz="1950" spc="85" dirty="0">
                <a:solidFill>
                  <a:srgbClr val="231F20"/>
                </a:solidFill>
                <a:latin typeface="Arial"/>
                <a:cs typeface="Arial"/>
              </a:rPr>
              <a:t>idiosyncrasies </a:t>
            </a:r>
            <a:r>
              <a:rPr sz="1950" spc="185" dirty="0">
                <a:solidFill>
                  <a:srgbClr val="231F20"/>
                </a:solidFill>
                <a:latin typeface="Arial"/>
                <a:cs typeface="Arial"/>
              </a:rPr>
              <a:t>of </a:t>
            </a:r>
            <a:r>
              <a:rPr sz="1950" spc="175" dirty="0">
                <a:solidFill>
                  <a:srgbClr val="231F20"/>
                </a:solidFill>
                <a:latin typeface="Arial"/>
                <a:cs typeface="Arial"/>
              </a:rPr>
              <a:t>the </a:t>
            </a:r>
            <a:r>
              <a:rPr sz="1950" spc="120" dirty="0">
                <a:solidFill>
                  <a:srgbClr val="231F20"/>
                </a:solidFill>
                <a:latin typeface="Arial"/>
                <a:cs typeface="Arial"/>
              </a:rPr>
              <a:t>prover,  </a:t>
            </a:r>
            <a:r>
              <a:rPr sz="1950" spc="220" dirty="0">
                <a:solidFill>
                  <a:srgbClr val="231F20"/>
                </a:solidFill>
                <a:latin typeface="Arial"/>
                <a:cs typeface="Arial"/>
              </a:rPr>
              <a:t>not </a:t>
            </a:r>
            <a:r>
              <a:rPr sz="1950" spc="155" dirty="0">
                <a:solidFill>
                  <a:srgbClr val="231F20"/>
                </a:solidFill>
                <a:latin typeface="Arial"/>
                <a:cs typeface="Arial"/>
              </a:rPr>
              <a:t>on </a:t>
            </a:r>
            <a:r>
              <a:rPr sz="1950" spc="175" dirty="0">
                <a:solidFill>
                  <a:srgbClr val="231F20"/>
                </a:solidFill>
                <a:latin typeface="Arial"/>
                <a:cs typeface="Arial"/>
              </a:rPr>
              <a:t>the </a:t>
            </a:r>
            <a:r>
              <a:rPr sz="1950" spc="90" dirty="0">
                <a:solidFill>
                  <a:srgbClr val="231F20"/>
                </a:solidFill>
                <a:latin typeface="Arial"/>
                <a:cs typeface="Arial"/>
              </a:rPr>
              <a:t>design </a:t>
            </a:r>
            <a:r>
              <a:rPr sz="1950" spc="130" dirty="0">
                <a:solidFill>
                  <a:srgbClr val="231F20"/>
                </a:solidFill>
                <a:latin typeface="Arial"/>
                <a:cs typeface="Arial"/>
              </a:rPr>
              <a:t>being</a:t>
            </a:r>
            <a:r>
              <a:rPr sz="1950" spc="725" dirty="0">
                <a:solidFill>
                  <a:srgbClr val="231F20"/>
                </a:solidFill>
                <a:latin typeface="Arial"/>
                <a:cs typeface="Arial"/>
              </a:rPr>
              <a:t> </a:t>
            </a:r>
            <a:r>
              <a:rPr sz="1950" spc="120" dirty="0">
                <a:solidFill>
                  <a:srgbClr val="231F20"/>
                </a:solidFill>
                <a:latin typeface="Arial"/>
                <a:cs typeface="Arial"/>
              </a:rPr>
              <a:t>evaluated</a:t>
            </a:r>
            <a:endParaRPr sz="1950">
              <a:latin typeface="Arial"/>
              <a:cs typeface="Arial"/>
            </a:endParaRPr>
          </a:p>
          <a:p>
            <a:pPr marL="741680" lvl="1" indent="-288290">
              <a:lnSpc>
                <a:spcPct val="100000"/>
              </a:lnSpc>
              <a:spcBef>
                <a:spcPts val="1055"/>
              </a:spcBef>
              <a:buSzPct val="105128"/>
              <a:buFont typeface="Lucida Sans Unicode"/>
              <a:buChar char="◦"/>
              <a:tabLst>
                <a:tab pos="742315" algn="l"/>
              </a:tabLst>
            </a:pPr>
            <a:r>
              <a:rPr sz="1950" spc="180" dirty="0">
                <a:solidFill>
                  <a:srgbClr val="231F20"/>
                </a:solidFill>
                <a:latin typeface="Arial"/>
                <a:cs typeface="Arial"/>
              </a:rPr>
              <a:t>“</a:t>
            </a:r>
            <a:r>
              <a:rPr sz="1950" spc="180" dirty="0">
                <a:solidFill>
                  <a:srgbClr val="0000FF"/>
                </a:solidFill>
                <a:latin typeface="Arial"/>
                <a:cs typeface="Arial"/>
              </a:rPr>
              <a:t>Interactive </a:t>
            </a:r>
            <a:r>
              <a:rPr sz="1950" spc="155" dirty="0">
                <a:solidFill>
                  <a:srgbClr val="0000FF"/>
                </a:solidFill>
                <a:latin typeface="Arial"/>
                <a:cs typeface="Arial"/>
              </a:rPr>
              <a:t>theorem </a:t>
            </a:r>
            <a:r>
              <a:rPr sz="1950" spc="135" dirty="0">
                <a:solidFill>
                  <a:srgbClr val="0000FF"/>
                </a:solidFill>
                <a:latin typeface="Arial"/>
                <a:cs typeface="Arial"/>
              </a:rPr>
              <a:t>proving </a:t>
            </a:r>
            <a:r>
              <a:rPr sz="1950" spc="40" dirty="0">
                <a:solidFill>
                  <a:srgbClr val="0000FF"/>
                </a:solidFill>
                <a:latin typeface="Arial"/>
                <a:cs typeface="Arial"/>
              </a:rPr>
              <a:t>is </a:t>
            </a:r>
            <a:r>
              <a:rPr sz="1950" spc="85" dirty="0">
                <a:solidFill>
                  <a:srgbClr val="0000FF"/>
                </a:solidFill>
                <a:latin typeface="Arial"/>
                <a:cs typeface="Arial"/>
              </a:rPr>
              <a:t>a </a:t>
            </a:r>
            <a:r>
              <a:rPr sz="1950" spc="120" dirty="0">
                <a:solidFill>
                  <a:srgbClr val="0000FF"/>
                </a:solidFill>
                <a:latin typeface="Arial"/>
                <a:cs typeface="Arial"/>
              </a:rPr>
              <a:t>waste </a:t>
            </a:r>
            <a:r>
              <a:rPr sz="1950" spc="185" dirty="0">
                <a:solidFill>
                  <a:srgbClr val="0000FF"/>
                </a:solidFill>
                <a:latin typeface="Arial"/>
                <a:cs typeface="Arial"/>
              </a:rPr>
              <a:t>of </a:t>
            </a:r>
            <a:r>
              <a:rPr sz="1950" spc="170" dirty="0">
                <a:solidFill>
                  <a:srgbClr val="0000FF"/>
                </a:solidFill>
                <a:latin typeface="Arial"/>
                <a:cs typeface="Arial"/>
              </a:rPr>
              <a:t>human </a:t>
            </a:r>
            <a:r>
              <a:rPr sz="1950" spc="635" dirty="0">
                <a:solidFill>
                  <a:srgbClr val="0000FF"/>
                </a:solidFill>
                <a:latin typeface="Arial"/>
                <a:cs typeface="Arial"/>
              </a:rPr>
              <a:t> </a:t>
            </a:r>
            <a:r>
              <a:rPr sz="1950" spc="235" dirty="0">
                <a:solidFill>
                  <a:srgbClr val="0000FF"/>
                </a:solidFill>
                <a:latin typeface="Arial"/>
                <a:cs typeface="Arial"/>
              </a:rPr>
              <a:t>talent</a:t>
            </a:r>
            <a:r>
              <a:rPr sz="1950" spc="235" dirty="0">
                <a:solidFill>
                  <a:srgbClr val="231F20"/>
                </a:solidFill>
                <a:latin typeface="Arial"/>
                <a:cs typeface="Arial"/>
              </a:rPr>
              <a:t>”</a:t>
            </a:r>
            <a:endParaRPr sz="1950">
              <a:latin typeface="Arial"/>
              <a:cs typeface="Arial"/>
            </a:endParaRPr>
          </a:p>
          <a:p>
            <a:pPr marL="300990" indent="-288290">
              <a:lnSpc>
                <a:spcPct val="100000"/>
              </a:lnSpc>
              <a:spcBef>
                <a:spcPts val="1055"/>
              </a:spcBef>
              <a:buSzPct val="105128"/>
              <a:buFont typeface="Lucida Sans Unicode"/>
              <a:buChar char="•"/>
              <a:tabLst>
                <a:tab pos="301625" algn="l"/>
              </a:tabLst>
            </a:pPr>
            <a:r>
              <a:rPr sz="1950" spc="165" dirty="0">
                <a:solidFill>
                  <a:srgbClr val="231F20"/>
                </a:solidFill>
                <a:latin typeface="Arial"/>
                <a:cs typeface="Arial"/>
              </a:rPr>
              <a:t>It’s </a:t>
            </a:r>
            <a:r>
              <a:rPr sz="1950" spc="105" dirty="0">
                <a:solidFill>
                  <a:srgbClr val="231F20"/>
                </a:solidFill>
                <a:latin typeface="Arial"/>
                <a:cs typeface="Arial"/>
              </a:rPr>
              <a:t>all </a:t>
            </a:r>
            <a:r>
              <a:rPr sz="1950" spc="130" dirty="0">
                <a:solidFill>
                  <a:srgbClr val="231F20"/>
                </a:solidFill>
                <a:latin typeface="Arial"/>
                <a:cs typeface="Arial"/>
              </a:rPr>
              <a:t>or</a:t>
            </a:r>
            <a:r>
              <a:rPr sz="1950" spc="505" dirty="0">
                <a:solidFill>
                  <a:srgbClr val="231F20"/>
                </a:solidFill>
                <a:latin typeface="Arial"/>
                <a:cs typeface="Arial"/>
              </a:rPr>
              <a:t> </a:t>
            </a:r>
            <a:r>
              <a:rPr sz="1950" spc="175" dirty="0">
                <a:solidFill>
                  <a:srgbClr val="231F20"/>
                </a:solidFill>
                <a:latin typeface="Arial"/>
                <a:cs typeface="Arial"/>
              </a:rPr>
              <a:t>nothing</a:t>
            </a:r>
            <a:endParaRPr sz="1950">
              <a:latin typeface="Arial"/>
              <a:cs typeface="Arial"/>
            </a:endParaRPr>
          </a:p>
          <a:p>
            <a:pPr marL="741680" lvl="1" indent="-288290">
              <a:lnSpc>
                <a:spcPct val="100000"/>
              </a:lnSpc>
              <a:spcBef>
                <a:spcPts val="1055"/>
              </a:spcBef>
              <a:buClr>
                <a:srgbClr val="231F20"/>
              </a:buClr>
              <a:buSzPct val="105128"/>
              <a:buFont typeface="Lucida Sans Unicode"/>
              <a:buChar char="◦"/>
              <a:tabLst>
                <a:tab pos="742315" algn="l"/>
              </a:tabLst>
            </a:pPr>
            <a:r>
              <a:rPr sz="1950" spc="175" dirty="0">
                <a:solidFill>
                  <a:srgbClr val="0000FF"/>
                </a:solidFill>
                <a:latin typeface="Arial"/>
                <a:cs typeface="Arial"/>
              </a:rPr>
              <a:t>No </a:t>
            </a:r>
            <a:r>
              <a:rPr sz="1950" spc="145" dirty="0">
                <a:solidFill>
                  <a:srgbClr val="0000FF"/>
                </a:solidFill>
                <a:latin typeface="Arial"/>
                <a:cs typeface="Arial"/>
              </a:rPr>
              <a:t>incremental </a:t>
            </a:r>
            <a:r>
              <a:rPr sz="1950" spc="170" dirty="0">
                <a:solidFill>
                  <a:srgbClr val="0000FF"/>
                </a:solidFill>
                <a:latin typeface="Arial"/>
                <a:cs typeface="Arial"/>
              </a:rPr>
              <a:t>return </a:t>
            </a:r>
            <a:r>
              <a:rPr sz="1950" spc="155" dirty="0">
                <a:solidFill>
                  <a:srgbClr val="0000FF"/>
                </a:solidFill>
                <a:latin typeface="Arial"/>
                <a:cs typeface="Arial"/>
              </a:rPr>
              <a:t>for </a:t>
            </a:r>
            <a:r>
              <a:rPr sz="1950" spc="145" dirty="0">
                <a:solidFill>
                  <a:srgbClr val="0000FF"/>
                </a:solidFill>
                <a:latin typeface="Arial"/>
                <a:cs typeface="Arial"/>
              </a:rPr>
              <a:t>incremental</a:t>
            </a:r>
            <a:r>
              <a:rPr sz="1950" spc="740" dirty="0">
                <a:solidFill>
                  <a:srgbClr val="0000FF"/>
                </a:solidFill>
                <a:latin typeface="Arial"/>
                <a:cs typeface="Arial"/>
              </a:rPr>
              <a:t> </a:t>
            </a:r>
            <a:r>
              <a:rPr sz="1950" spc="160" dirty="0">
                <a:solidFill>
                  <a:srgbClr val="0000FF"/>
                </a:solidFill>
                <a:latin typeface="Arial"/>
                <a:cs typeface="Arial"/>
              </a:rPr>
              <a:t>effort</a:t>
            </a:r>
            <a:endParaRPr sz="1950">
              <a:latin typeface="Arial"/>
              <a:cs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74444" y="475981"/>
            <a:ext cx="5842000" cy="314960"/>
          </a:xfrm>
          <a:prstGeom prst="rect">
            <a:avLst/>
          </a:prstGeom>
        </p:spPr>
        <p:txBody>
          <a:bodyPr vert="horz" wrap="square" lIns="0" tIns="0" rIns="0" bIns="0" rtlCol="0">
            <a:spAutoFit/>
          </a:bodyPr>
          <a:lstStyle/>
          <a:p>
            <a:pPr marL="12700">
              <a:lnSpc>
                <a:spcPct val="100000"/>
              </a:lnSpc>
            </a:pPr>
            <a:r>
              <a:rPr sz="1950" spc="270" dirty="0">
                <a:solidFill>
                  <a:srgbClr val="231F20"/>
                </a:solidFill>
                <a:latin typeface="Arial"/>
                <a:cs typeface="Arial"/>
              </a:rPr>
              <a:t>Formal </a:t>
            </a:r>
            <a:r>
              <a:rPr sz="1950" spc="245" dirty="0">
                <a:solidFill>
                  <a:srgbClr val="231F20"/>
                </a:solidFill>
                <a:latin typeface="Arial"/>
                <a:cs typeface="Arial"/>
              </a:rPr>
              <a:t>Verification </a:t>
            </a:r>
            <a:r>
              <a:rPr sz="1950" spc="200" dirty="0">
                <a:solidFill>
                  <a:srgbClr val="231F20"/>
                </a:solidFill>
                <a:latin typeface="Arial"/>
                <a:cs typeface="Arial"/>
              </a:rPr>
              <a:t>by </a:t>
            </a:r>
            <a:r>
              <a:rPr sz="1950" spc="320" dirty="0">
                <a:solidFill>
                  <a:srgbClr val="231F20"/>
                </a:solidFill>
                <a:latin typeface="Arial"/>
                <a:cs typeface="Arial"/>
              </a:rPr>
              <a:t>Theorem</a:t>
            </a:r>
            <a:r>
              <a:rPr sz="1950" spc="765" dirty="0">
                <a:solidFill>
                  <a:srgbClr val="231F20"/>
                </a:solidFill>
                <a:latin typeface="Arial"/>
                <a:cs typeface="Arial"/>
              </a:rPr>
              <a:t> </a:t>
            </a:r>
            <a:r>
              <a:rPr sz="1950" spc="254" dirty="0">
                <a:solidFill>
                  <a:srgbClr val="231F20"/>
                </a:solidFill>
                <a:latin typeface="Arial"/>
                <a:cs typeface="Arial"/>
              </a:rPr>
              <a:t>Proving:</a:t>
            </a:r>
            <a:endParaRPr sz="1950">
              <a:latin typeface="Arial"/>
              <a:cs typeface="Arial"/>
            </a:endParaRPr>
          </a:p>
        </p:txBody>
      </p:sp>
      <p:sp>
        <p:nvSpPr>
          <p:cNvPr id="3" name="object 3"/>
          <p:cNvSpPr txBox="1"/>
          <p:nvPr/>
        </p:nvSpPr>
        <p:spPr>
          <a:xfrm>
            <a:off x="7344590" y="475981"/>
            <a:ext cx="1342390" cy="31496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a:t>
            </a:r>
            <a:r>
              <a:rPr sz="1950" spc="285" dirty="0">
                <a:solidFill>
                  <a:srgbClr val="231F20"/>
                </a:solidFill>
                <a:latin typeface="Arial"/>
                <a:cs typeface="Arial"/>
              </a:rPr>
              <a:t> </a:t>
            </a:r>
            <a:r>
              <a:rPr sz="1950" spc="275" dirty="0">
                <a:solidFill>
                  <a:srgbClr val="231F20"/>
                </a:solidFill>
                <a:latin typeface="Arial"/>
                <a:cs typeface="Arial"/>
              </a:rPr>
              <a:t>Wall</a:t>
            </a:r>
            <a:endParaRPr sz="1950">
              <a:latin typeface="Arial"/>
              <a:cs typeface="Arial"/>
            </a:endParaRPr>
          </a:p>
        </p:txBody>
      </p:sp>
      <p:sp>
        <p:nvSpPr>
          <p:cNvPr id="4" name="object 4"/>
          <p:cNvSpPr txBox="1"/>
          <p:nvPr/>
        </p:nvSpPr>
        <p:spPr>
          <a:xfrm>
            <a:off x="7448562" y="1701177"/>
            <a:ext cx="887730" cy="572135"/>
          </a:xfrm>
          <a:prstGeom prst="rect">
            <a:avLst/>
          </a:prstGeom>
        </p:spPr>
        <p:txBody>
          <a:bodyPr vert="horz" wrap="square" lIns="0" tIns="0" rIns="0" bIns="0" rtlCol="0">
            <a:spAutoFit/>
          </a:bodyPr>
          <a:lstStyle/>
          <a:p>
            <a:pPr marL="83185" marR="5080" indent="-71120">
              <a:lnSpc>
                <a:spcPts val="2230"/>
              </a:lnSpc>
            </a:pPr>
            <a:r>
              <a:rPr sz="2000" dirty="0">
                <a:latin typeface="Times New Roman"/>
                <a:cs typeface="Times New Roman"/>
              </a:rPr>
              <a:t>theorem  proving</a:t>
            </a:r>
            <a:endParaRPr sz="2000">
              <a:latin typeface="Times New Roman"/>
              <a:cs typeface="Times New Roman"/>
            </a:endParaRPr>
          </a:p>
        </p:txBody>
      </p:sp>
      <p:sp>
        <p:nvSpPr>
          <p:cNvPr id="5" name="object 5"/>
          <p:cNvSpPr/>
          <p:nvPr/>
        </p:nvSpPr>
        <p:spPr>
          <a:xfrm>
            <a:off x="1101015" y="1957895"/>
            <a:ext cx="0" cy="226695"/>
          </a:xfrm>
          <a:custGeom>
            <a:avLst/>
            <a:gdLst/>
            <a:ahLst/>
            <a:cxnLst/>
            <a:rect l="l" t="t" r="r" b="b"/>
            <a:pathLst>
              <a:path h="226694">
                <a:moveTo>
                  <a:pt x="0" y="226135"/>
                </a:moveTo>
                <a:lnTo>
                  <a:pt x="0" y="0"/>
                </a:lnTo>
              </a:path>
            </a:pathLst>
          </a:custGeom>
          <a:ln w="14133">
            <a:solidFill>
              <a:srgbClr val="000000"/>
            </a:solidFill>
          </a:ln>
        </p:spPr>
        <p:txBody>
          <a:bodyPr wrap="square" lIns="0" tIns="0" rIns="0" bIns="0" rtlCol="0"/>
          <a:lstStyle/>
          <a:p>
            <a:endParaRPr/>
          </a:p>
        </p:txBody>
      </p:sp>
      <p:sp>
        <p:nvSpPr>
          <p:cNvPr id="6" name="object 6"/>
          <p:cNvSpPr/>
          <p:nvPr/>
        </p:nvSpPr>
        <p:spPr>
          <a:xfrm>
            <a:off x="1044481" y="1957895"/>
            <a:ext cx="113664" cy="226695"/>
          </a:xfrm>
          <a:custGeom>
            <a:avLst/>
            <a:gdLst/>
            <a:ahLst/>
            <a:cxnLst/>
            <a:rect l="l" t="t" r="r" b="b"/>
            <a:pathLst>
              <a:path w="113665" h="226694">
                <a:moveTo>
                  <a:pt x="113069" y="226136"/>
                </a:moveTo>
                <a:lnTo>
                  <a:pt x="56534" y="0"/>
                </a:lnTo>
                <a:lnTo>
                  <a:pt x="0" y="226136"/>
                </a:lnTo>
                <a:lnTo>
                  <a:pt x="113069" y="226136"/>
                </a:lnTo>
                <a:close/>
              </a:path>
            </a:pathLst>
          </a:custGeom>
          <a:solidFill>
            <a:srgbClr val="000000"/>
          </a:solidFill>
        </p:spPr>
        <p:txBody>
          <a:bodyPr wrap="square" lIns="0" tIns="0" rIns="0" bIns="0" rtlCol="0"/>
          <a:lstStyle/>
          <a:p>
            <a:endParaRPr/>
          </a:p>
        </p:txBody>
      </p:sp>
      <p:sp>
        <p:nvSpPr>
          <p:cNvPr id="7" name="object 7"/>
          <p:cNvSpPr/>
          <p:nvPr/>
        </p:nvSpPr>
        <p:spPr>
          <a:xfrm>
            <a:off x="1044481" y="1957895"/>
            <a:ext cx="113664" cy="226695"/>
          </a:xfrm>
          <a:custGeom>
            <a:avLst/>
            <a:gdLst/>
            <a:ahLst/>
            <a:cxnLst/>
            <a:rect l="l" t="t" r="r" b="b"/>
            <a:pathLst>
              <a:path w="113665" h="226694">
                <a:moveTo>
                  <a:pt x="113069" y="226136"/>
                </a:moveTo>
                <a:lnTo>
                  <a:pt x="56534" y="0"/>
                </a:lnTo>
                <a:lnTo>
                  <a:pt x="0" y="226136"/>
                </a:lnTo>
                <a:lnTo>
                  <a:pt x="113069" y="226136"/>
                </a:lnTo>
                <a:close/>
              </a:path>
            </a:pathLst>
          </a:custGeom>
          <a:ln w="14133">
            <a:solidFill>
              <a:srgbClr val="000000"/>
            </a:solidFill>
          </a:ln>
        </p:spPr>
        <p:txBody>
          <a:bodyPr wrap="square" lIns="0" tIns="0" rIns="0" bIns="0" rtlCol="0"/>
          <a:lstStyle/>
          <a:p>
            <a:endParaRPr/>
          </a:p>
        </p:txBody>
      </p:sp>
      <p:sp>
        <p:nvSpPr>
          <p:cNvPr id="8" name="object 8"/>
          <p:cNvSpPr/>
          <p:nvPr/>
        </p:nvSpPr>
        <p:spPr>
          <a:xfrm>
            <a:off x="1101015" y="5885230"/>
            <a:ext cx="7885430" cy="0"/>
          </a:xfrm>
          <a:custGeom>
            <a:avLst/>
            <a:gdLst/>
            <a:ahLst/>
            <a:cxnLst/>
            <a:rect l="l" t="t" r="r" b="b"/>
            <a:pathLst>
              <a:path w="7885430">
                <a:moveTo>
                  <a:pt x="0" y="0"/>
                </a:moveTo>
                <a:lnTo>
                  <a:pt x="7884817" y="0"/>
                </a:lnTo>
              </a:path>
            </a:pathLst>
          </a:custGeom>
          <a:ln w="14133">
            <a:solidFill>
              <a:srgbClr val="000000"/>
            </a:solidFill>
          </a:ln>
        </p:spPr>
        <p:txBody>
          <a:bodyPr wrap="square" lIns="0" tIns="0" rIns="0" bIns="0" rtlCol="0"/>
          <a:lstStyle/>
          <a:p>
            <a:endParaRPr/>
          </a:p>
        </p:txBody>
      </p:sp>
      <p:sp>
        <p:nvSpPr>
          <p:cNvPr id="9" name="object 9"/>
          <p:cNvSpPr/>
          <p:nvPr/>
        </p:nvSpPr>
        <p:spPr>
          <a:xfrm>
            <a:off x="8759697" y="5828690"/>
            <a:ext cx="226695" cy="113664"/>
          </a:xfrm>
          <a:custGeom>
            <a:avLst/>
            <a:gdLst/>
            <a:ahLst/>
            <a:cxnLst/>
            <a:rect l="l" t="t" r="r" b="b"/>
            <a:pathLst>
              <a:path w="226695" h="113664">
                <a:moveTo>
                  <a:pt x="226136" y="56540"/>
                </a:moveTo>
                <a:lnTo>
                  <a:pt x="0" y="0"/>
                </a:lnTo>
                <a:lnTo>
                  <a:pt x="0" y="113068"/>
                </a:lnTo>
                <a:lnTo>
                  <a:pt x="226136" y="56540"/>
                </a:lnTo>
                <a:close/>
              </a:path>
            </a:pathLst>
          </a:custGeom>
          <a:solidFill>
            <a:srgbClr val="000000"/>
          </a:solidFill>
        </p:spPr>
        <p:txBody>
          <a:bodyPr wrap="square" lIns="0" tIns="0" rIns="0" bIns="0" rtlCol="0"/>
          <a:lstStyle/>
          <a:p>
            <a:endParaRPr/>
          </a:p>
        </p:txBody>
      </p:sp>
      <p:sp>
        <p:nvSpPr>
          <p:cNvPr id="10" name="object 10"/>
          <p:cNvSpPr/>
          <p:nvPr/>
        </p:nvSpPr>
        <p:spPr>
          <a:xfrm>
            <a:off x="8759697" y="5828690"/>
            <a:ext cx="226695" cy="113664"/>
          </a:xfrm>
          <a:custGeom>
            <a:avLst/>
            <a:gdLst/>
            <a:ahLst/>
            <a:cxnLst/>
            <a:rect l="l" t="t" r="r" b="b"/>
            <a:pathLst>
              <a:path w="226695" h="113664">
                <a:moveTo>
                  <a:pt x="0" y="113068"/>
                </a:moveTo>
                <a:lnTo>
                  <a:pt x="226136" y="56540"/>
                </a:lnTo>
                <a:lnTo>
                  <a:pt x="0" y="0"/>
                </a:lnTo>
                <a:lnTo>
                  <a:pt x="0" y="113068"/>
                </a:lnTo>
                <a:close/>
              </a:path>
            </a:pathLst>
          </a:custGeom>
          <a:ln w="14133">
            <a:solidFill>
              <a:srgbClr val="000000"/>
            </a:solidFill>
          </a:ln>
        </p:spPr>
        <p:txBody>
          <a:bodyPr wrap="square" lIns="0" tIns="0" rIns="0" bIns="0" rtlCol="0"/>
          <a:lstStyle/>
          <a:p>
            <a:endParaRPr/>
          </a:p>
        </p:txBody>
      </p:sp>
      <p:sp>
        <p:nvSpPr>
          <p:cNvPr id="11" name="object 11"/>
          <p:cNvSpPr/>
          <p:nvPr/>
        </p:nvSpPr>
        <p:spPr>
          <a:xfrm>
            <a:off x="7531925" y="2351760"/>
            <a:ext cx="848360" cy="3533775"/>
          </a:xfrm>
          <a:custGeom>
            <a:avLst/>
            <a:gdLst/>
            <a:ahLst/>
            <a:cxnLst/>
            <a:rect l="l" t="t" r="r" b="b"/>
            <a:pathLst>
              <a:path w="848359" h="3533775">
                <a:moveTo>
                  <a:pt x="848029" y="3533470"/>
                </a:moveTo>
                <a:lnTo>
                  <a:pt x="848029" y="0"/>
                </a:lnTo>
                <a:lnTo>
                  <a:pt x="0" y="424014"/>
                </a:lnTo>
                <a:lnTo>
                  <a:pt x="0" y="3533470"/>
                </a:lnTo>
                <a:lnTo>
                  <a:pt x="848029" y="3533470"/>
                </a:lnTo>
                <a:close/>
              </a:path>
            </a:pathLst>
          </a:custGeom>
          <a:solidFill>
            <a:srgbClr val="86CEFF"/>
          </a:solidFill>
        </p:spPr>
        <p:txBody>
          <a:bodyPr wrap="square" lIns="0" tIns="0" rIns="0" bIns="0" rtlCol="0"/>
          <a:lstStyle/>
          <a:p>
            <a:endParaRPr/>
          </a:p>
        </p:txBody>
      </p:sp>
      <p:sp>
        <p:nvSpPr>
          <p:cNvPr id="12" name="object 12"/>
          <p:cNvSpPr/>
          <p:nvPr/>
        </p:nvSpPr>
        <p:spPr>
          <a:xfrm>
            <a:off x="7531925" y="2351760"/>
            <a:ext cx="848360" cy="3533775"/>
          </a:xfrm>
          <a:custGeom>
            <a:avLst/>
            <a:gdLst/>
            <a:ahLst/>
            <a:cxnLst/>
            <a:rect l="l" t="t" r="r" b="b"/>
            <a:pathLst>
              <a:path w="848359" h="3533775">
                <a:moveTo>
                  <a:pt x="848029" y="3533470"/>
                </a:moveTo>
                <a:lnTo>
                  <a:pt x="848029" y="0"/>
                </a:lnTo>
                <a:lnTo>
                  <a:pt x="0" y="424014"/>
                </a:lnTo>
                <a:lnTo>
                  <a:pt x="0" y="3533470"/>
                </a:lnTo>
                <a:lnTo>
                  <a:pt x="848029" y="3533470"/>
                </a:lnTo>
                <a:close/>
              </a:path>
            </a:pathLst>
          </a:custGeom>
          <a:ln w="7066">
            <a:solidFill>
              <a:srgbClr val="000000"/>
            </a:solidFill>
          </a:ln>
        </p:spPr>
        <p:txBody>
          <a:bodyPr wrap="square" lIns="0" tIns="0" rIns="0" bIns="0" rtlCol="0"/>
          <a:lstStyle/>
          <a:p>
            <a:endParaRPr/>
          </a:p>
        </p:txBody>
      </p:sp>
      <p:sp>
        <p:nvSpPr>
          <p:cNvPr id="13" name="object 13"/>
          <p:cNvSpPr txBox="1"/>
          <p:nvPr/>
        </p:nvSpPr>
        <p:spPr>
          <a:xfrm>
            <a:off x="7589901" y="5972695"/>
            <a:ext cx="835660" cy="415925"/>
          </a:xfrm>
          <a:prstGeom prst="rect">
            <a:avLst/>
          </a:prstGeom>
        </p:spPr>
        <p:txBody>
          <a:bodyPr vert="horz" wrap="square" lIns="0" tIns="0" rIns="0" bIns="0" rtlCol="0">
            <a:spAutoFit/>
          </a:bodyPr>
          <a:lstStyle/>
          <a:p>
            <a:pPr marL="12700">
              <a:lnSpc>
                <a:spcPct val="100000"/>
              </a:lnSpc>
            </a:pPr>
            <a:r>
              <a:rPr sz="2650" spc="5" dirty="0">
                <a:latin typeface="Times New Roman"/>
                <a:cs typeface="Times New Roman"/>
              </a:rPr>
              <a:t>Effort</a:t>
            </a:r>
            <a:endParaRPr sz="2650">
              <a:latin typeface="Times New Roman"/>
              <a:cs typeface="Times New Roman"/>
            </a:endParaRPr>
          </a:p>
        </p:txBody>
      </p:sp>
      <p:sp>
        <p:nvSpPr>
          <p:cNvPr id="14" name="object 14"/>
          <p:cNvSpPr txBox="1"/>
          <p:nvPr/>
        </p:nvSpPr>
        <p:spPr>
          <a:xfrm>
            <a:off x="7806320" y="3394595"/>
            <a:ext cx="365125" cy="1589405"/>
          </a:xfrm>
          <a:prstGeom prst="rect">
            <a:avLst/>
          </a:prstGeom>
        </p:spPr>
        <p:txBody>
          <a:bodyPr vert="vert" wrap="square" lIns="0" tIns="0" rIns="0" bIns="0" rtlCol="0">
            <a:spAutoFit/>
          </a:bodyPr>
          <a:lstStyle/>
          <a:p>
            <a:pPr marL="12700">
              <a:lnSpc>
                <a:spcPts val="2780"/>
              </a:lnSpc>
            </a:pPr>
            <a:r>
              <a:rPr sz="2650" dirty="0">
                <a:latin typeface="Times New Roman"/>
                <a:cs typeface="Times New Roman"/>
              </a:rPr>
              <a:t>verification</a:t>
            </a:r>
            <a:endParaRPr sz="2650">
              <a:latin typeface="Times New Roman"/>
              <a:cs typeface="Times New Roman"/>
            </a:endParaRPr>
          </a:p>
        </p:txBody>
      </p:sp>
      <p:sp>
        <p:nvSpPr>
          <p:cNvPr id="15" name="object 15"/>
          <p:cNvSpPr txBox="1"/>
          <p:nvPr/>
        </p:nvSpPr>
        <p:spPr>
          <a:xfrm>
            <a:off x="1300327" y="1853679"/>
            <a:ext cx="1448435" cy="859790"/>
          </a:xfrm>
          <a:prstGeom prst="rect">
            <a:avLst/>
          </a:prstGeom>
        </p:spPr>
        <p:txBody>
          <a:bodyPr vert="horz" wrap="square" lIns="0" tIns="0" rIns="0" bIns="0" rtlCol="0">
            <a:spAutoFit/>
          </a:bodyPr>
          <a:lstStyle/>
          <a:p>
            <a:pPr marL="12700" marR="5080">
              <a:lnSpc>
                <a:spcPct val="105000"/>
              </a:lnSpc>
            </a:pPr>
            <a:r>
              <a:rPr sz="2650" spc="5" dirty="0">
                <a:latin typeface="Times New Roman"/>
                <a:cs typeface="Times New Roman"/>
              </a:rPr>
              <a:t>Assurance  for</a:t>
            </a:r>
            <a:r>
              <a:rPr sz="2650" spc="-60" dirty="0">
                <a:latin typeface="Times New Roman"/>
                <a:cs typeface="Times New Roman"/>
              </a:rPr>
              <a:t> </a:t>
            </a:r>
            <a:r>
              <a:rPr sz="2650" spc="5" dirty="0">
                <a:latin typeface="Times New Roman"/>
                <a:cs typeface="Times New Roman"/>
              </a:rPr>
              <a:t>system</a:t>
            </a:r>
            <a:endParaRPr sz="2650">
              <a:latin typeface="Times New Roman"/>
              <a:cs typeface="Times New Roman"/>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261350" cy="5988685"/>
          </a:xfrm>
          <a:prstGeom prst="rect">
            <a:avLst/>
          </a:prstGeom>
        </p:spPr>
        <p:txBody>
          <a:bodyPr vert="horz" wrap="square" lIns="0" tIns="0" rIns="0" bIns="0" rtlCol="0">
            <a:spAutoFit/>
          </a:bodyPr>
          <a:lstStyle/>
          <a:p>
            <a:pPr marL="1992630">
              <a:lnSpc>
                <a:spcPct val="100000"/>
              </a:lnSpc>
              <a:tabLst>
                <a:tab pos="3004185" algn="l"/>
              </a:tabLst>
            </a:pPr>
            <a:r>
              <a:rPr sz="1950" spc="220" dirty="0">
                <a:solidFill>
                  <a:srgbClr val="231F20"/>
                </a:solidFill>
                <a:latin typeface="Arial"/>
                <a:cs typeface="Arial"/>
              </a:rPr>
              <a:t>Aside:	</a:t>
            </a:r>
            <a:r>
              <a:rPr sz="1950" spc="240" dirty="0">
                <a:solidFill>
                  <a:srgbClr val="231F20"/>
                </a:solidFill>
                <a:latin typeface="Arial"/>
                <a:cs typeface="Arial"/>
              </a:rPr>
              <a:t>Design </a:t>
            </a:r>
            <a:r>
              <a:rPr sz="1950" spc="210" dirty="0">
                <a:solidFill>
                  <a:srgbClr val="231F20"/>
                </a:solidFill>
                <a:latin typeface="Arial"/>
                <a:cs typeface="Arial"/>
              </a:rPr>
              <a:t>Choices in</a:t>
            </a:r>
            <a:r>
              <a:rPr sz="1950" spc="580" dirty="0">
                <a:solidFill>
                  <a:srgbClr val="231F20"/>
                </a:solidFill>
                <a:latin typeface="Arial"/>
                <a:cs typeface="Arial"/>
              </a:rPr>
              <a:t> </a:t>
            </a:r>
            <a:r>
              <a:rPr sz="1950" spc="360" dirty="0">
                <a:solidFill>
                  <a:srgbClr val="231F20"/>
                </a:solidFill>
                <a:latin typeface="Arial"/>
                <a:cs typeface="Arial"/>
              </a:rPr>
              <a:t>PVS</a:t>
            </a:r>
            <a:endParaRPr sz="1950">
              <a:latin typeface="Arial"/>
              <a:cs typeface="Arial"/>
            </a:endParaRPr>
          </a:p>
          <a:p>
            <a:pPr marL="300990" marR="5080" indent="-288290">
              <a:lnSpc>
                <a:spcPct val="125000"/>
              </a:lnSpc>
              <a:spcBef>
                <a:spcPts val="1030"/>
              </a:spcBef>
              <a:buSzPct val="105128"/>
              <a:buFont typeface="Lucida Sans Unicode"/>
              <a:buChar char="•"/>
              <a:tabLst>
                <a:tab pos="301625" algn="l"/>
              </a:tabLst>
            </a:pPr>
            <a:r>
              <a:rPr sz="1950" spc="110" dirty="0">
                <a:solidFill>
                  <a:srgbClr val="231F20"/>
                </a:solidFill>
                <a:latin typeface="Arial"/>
                <a:cs typeface="Arial"/>
              </a:rPr>
              <a:t>Aside </a:t>
            </a:r>
            <a:r>
              <a:rPr sz="1950" spc="210" dirty="0">
                <a:solidFill>
                  <a:srgbClr val="231F20"/>
                </a:solidFill>
                <a:latin typeface="Arial"/>
                <a:cs typeface="Arial"/>
              </a:rPr>
              <a:t>from </a:t>
            </a:r>
            <a:r>
              <a:rPr sz="1950" spc="175" dirty="0">
                <a:solidFill>
                  <a:srgbClr val="231F20"/>
                </a:solidFill>
                <a:latin typeface="Arial"/>
                <a:cs typeface="Arial"/>
              </a:rPr>
              <a:t>the </a:t>
            </a:r>
            <a:r>
              <a:rPr sz="1950" spc="80" dirty="0">
                <a:solidFill>
                  <a:srgbClr val="231F20"/>
                </a:solidFill>
                <a:latin typeface="Arial"/>
                <a:cs typeface="Arial"/>
              </a:rPr>
              <a:t>need </a:t>
            </a:r>
            <a:r>
              <a:rPr sz="1950" spc="250" dirty="0">
                <a:solidFill>
                  <a:srgbClr val="231F20"/>
                </a:solidFill>
                <a:latin typeface="Arial"/>
                <a:cs typeface="Arial"/>
              </a:rPr>
              <a:t>to </a:t>
            </a:r>
            <a:r>
              <a:rPr sz="1950" spc="150" dirty="0">
                <a:solidFill>
                  <a:srgbClr val="231F20"/>
                </a:solidFill>
                <a:latin typeface="Arial"/>
                <a:cs typeface="Arial"/>
              </a:rPr>
              <a:t>strengthen </a:t>
            </a:r>
            <a:r>
              <a:rPr sz="1950" spc="175" dirty="0">
                <a:solidFill>
                  <a:srgbClr val="231F20"/>
                </a:solidFill>
                <a:latin typeface="Arial"/>
                <a:cs typeface="Arial"/>
              </a:rPr>
              <a:t>the </a:t>
            </a:r>
            <a:r>
              <a:rPr sz="1950" spc="140" dirty="0">
                <a:solidFill>
                  <a:srgbClr val="231F20"/>
                </a:solidFill>
                <a:latin typeface="Arial"/>
                <a:cs typeface="Arial"/>
              </a:rPr>
              <a:t>invariant, </a:t>
            </a:r>
            <a:r>
              <a:rPr sz="1950" spc="204" dirty="0">
                <a:solidFill>
                  <a:srgbClr val="231F20"/>
                </a:solidFill>
                <a:latin typeface="Arial"/>
                <a:cs typeface="Arial"/>
              </a:rPr>
              <a:t>PVS </a:t>
            </a:r>
            <a:r>
              <a:rPr sz="1950" spc="140" dirty="0">
                <a:solidFill>
                  <a:srgbClr val="231F20"/>
                </a:solidFill>
                <a:latin typeface="Arial"/>
                <a:cs typeface="Arial"/>
              </a:rPr>
              <a:t>did </a:t>
            </a:r>
            <a:r>
              <a:rPr sz="1950" spc="375" dirty="0">
                <a:solidFill>
                  <a:srgbClr val="231F20"/>
                </a:solidFill>
                <a:latin typeface="Arial"/>
                <a:cs typeface="Arial"/>
              </a:rPr>
              <a:t>OK  </a:t>
            </a:r>
            <a:r>
              <a:rPr sz="1950" spc="155" dirty="0">
                <a:solidFill>
                  <a:srgbClr val="231F20"/>
                </a:solidFill>
                <a:latin typeface="Arial"/>
                <a:cs typeface="Arial"/>
              </a:rPr>
              <a:t>on </a:t>
            </a:r>
            <a:r>
              <a:rPr sz="1950" spc="145" dirty="0">
                <a:solidFill>
                  <a:srgbClr val="231F20"/>
                </a:solidFill>
                <a:latin typeface="Arial"/>
                <a:cs typeface="Arial"/>
              </a:rPr>
              <a:t>this </a:t>
            </a:r>
            <a:r>
              <a:rPr sz="1950" spc="114" dirty="0">
                <a:solidFill>
                  <a:srgbClr val="231F20"/>
                </a:solidFill>
                <a:latin typeface="Arial"/>
                <a:cs typeface="Arial"/>
              </a:rPr>
              <a:t>example </a:t>
            </a:r>
            <a:r>
              <a:rPr sz="1950" spc="175" dirty="0">
                <a:solidFill>
                  <a:srgbClr val="231F20"/>
                </a:solidFill>
                <a:latin typeface="Arial"/>
                <a:cs typeface="Arial"/>
              </a:rPr>
              <a:t>(and </a:t>
            </a:r>
            <a:r>
              <a:rPr sz="1950" spc="90" dirty="0">
                <a:solidFill>
                  <a:srgbClr val="231F20"/>
                </a:solidFill>
                <a:latin typeface="Arial"/>
                <a:cs typeface="Arial"/>
              </a:rPr>
              <a:t>does </a:t>
            </a:r>
            <a:r>
              <a:rPr sz="1950" spc="65" dirty="0">
                <a:solidFill>
                  <a:srgbClr val="231F20"/>
                </a:solidFill>
                <a:latin typeface="Arial"/>
                <a:cs typeface="Arial"/>
              </a:rPr>
              <a:t>so </a:t>
            </a:r>
            <a:r>
              <a:rPr sz="1950" spc="155" dirty="0">
                <a:solidFill>
                  <a:srgbClr val="231F20"/>
                </a:solidFill>
                <a:latin typeface="Arial"/>
                <a:cs typeface="Arial"/>
              </a:rPr>
              <a:t>on </a:t>
            </a:r>
            <a:r>
              <a:rPr sz="1950" spc="165" dirty="0">
                <a:solidFill>
                  <a:srgbClr val="231F20"/>
                </a:solidFill>
                <a:latin typeface="Arial"/>
                <a:cs typeface="Arial"/>
              </a:rPr>
              <a:t>many </a:t>
            </a:r>
            <a:r>
              <a:rPr sz="1950" spc="610" dirty="0">
                <a:solidFill>
                  <a:srgbClr val="231F20"/>
                </a:solidFill>
                <a:latin typeface="Arial"/>
                <a:cs typeface="Arial"/>
              </a:rPr>
              <a:t> </a:t>
            </a:r>
            <a:r>
              <a:rPr sz="1950" spc="175" dirty="0">
                <a:solidFill>
                  <a:srgbClr val="231F20"/>
                </a:solidFill>
                <a:latin typeface="Arial"/>
                <a:cs typeface="Arial"/>
              </a:rPr>
              <a:t>more)</a:t>
            </a:r>
            <a:endParaRPr sz="1950">
              <a:latin typeface="Arial"/>
              <a:cs typeface="Arial"/>
            </a:endParaRPr>
          </a:p>
          <a:p>
            <a:pPr marL="300990" indent="-288290">
              <a:lnSpc>
                <a:spcPct val="100000"/>
              </a:lnSpc>
              <a:spcBef>
                <a:spcPts val="994"/>
              </a:spcBef>
              <a:buSzPct val="105128"/>
              <a:buFont typeface="Lucida Sans Unicode"/>
              <a:buChar char="•"/>
              <a:tabLst>
                <a:tab pos="301625" algn="l"/>
              </a:tabLst>
            </a:pPr>
            <a:r>
              <a:rPr sz="1950" spc="195" dirty="0">
                <a:solidFill>
                  <a:srgbClr val="231F20"/>
                </a:solidFill>
                <a:latin typeface="Arial"/>
                <a:cs typeface="Arial"/>
              </a:rPr>
              <a:t>We </a:t>
            </a:r>
            <a:r>
              <a:rPr sz="1950" spc="135" dirty="0">
                <a:solidFill>
                  <a:srgbClr val="231F20"/>
                </a:solidFill>
                <a:latin typeface="Arial"/>
                <a:cs typeface="Arial"/>
              </a:rPr>
              <a:t>only </a:t>
            </a:r>
            <a:r>
              <a:rPr sz="1950" spc="70" dirty="0">
                <a:solidFill>
                  <a:srgbClr val="231F20"/>
                </a:solidFill>
                <a:latin typeface="Arial"/>
                <a:cs typeface="Arial"/>
              </a:rPr>
              <a:t>used </a:t>
            </a:r>
            <a:r>
              <a:rPr sz="1950" spc="85" dirty="0">
                <a:solidFill>
                  <a:srgbClr val="231F20"/>
                </a:solidFill>
                <a:latin typeface="Arial"/>
                <a:cs typeface="Arial"/>
              </a:rPr>
              <a:t>a </a:t>
            </a:r>
            <a:r>
              <a:rPr sz="1950" spc="170" dirty="0">
                <a:solidFill>
                  <a:srgbClr val="231F20"/>
                </a:solidFill>
                <a:latin typeface="Arial"/>
                <a:cs typeface="Arial"/>
              </a:rPr>
              <a:t>fraction </a:t>
            </a:r>
            <a:r>
              <a:rPr sz="1950" spc="185" dirty="0">
                <a:solidFill>
                  <a:srgbClr val="231F20"/>
                </a:solidFill>
                <a:latin typeface="Arial"/>
                <a:cs typeface="Arial"/>
              </a:rPr>
              <a:t>of </a:t>
            </a:r>
            <a:r>
              <a:rPr sz="1950" spc="145" dirty="0">
                <a:solidFill>
                  <a:srgbClr val="231F20"/>
                </a:solidFill>
                <a:latin typeface="Arial"/>
                <a:cs typeface="Arial"/>
              </a:rPr>
              <a:t>its </a:t>
            </a:r>
            <a:r>
              <a:rPr sz="1950" spc="135" dirty="0">
                <a:solidFill>
                  <a:srgbClr val="231F20"/>
                </a:solidFill>
                <a:latin typeface="Arial"/>
                <a:cs typeface="Arial"/>
              </a:rPr>
              <a:t>linguistic </a:t>
            </a:r>
            <a:r>
              <a:rPr sz="1950" spc="610" dirty="0">
                <a:solidFill>
                  <a:srgbClr val="231F20"/>
                </a:solidFill>
                <a:latin typeface="Arial"/>
                <a:cs typeface="Arial"/>
              </a:rPr>
              <a:t> </a:t>
            </a:r>
            <a:r>
              <a:rPr sz="1950" spc="80" dirty="0">
                <a:solidFill>
                  <a:srgbClr val="231F20"/>
                </a:solidFill>
                <a:latin typeface="Arial"/>
                <a:cs typeface="Arial"/>
              </a:rPr>
              <a:t>resources</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130" dirty="0">
                <a:solidFill>
                  <a:srgbClr val="231F20"/>
                </a:solidFill>
                <a:latin typeface="Arial"/>
                <a:cs typeface="Arial"/>
              </a:rPr>
              <a:t>Higher-order logic </a:t>
            </a:r>
            <a:r>
              <a:rPr sz="1950" spc="215" dirty="0">
                <a:solidFill>
                  <a:srgbClr val="231F20"/>
                </a:solidFill>
                <a:latin typeface="Arial"/>
                <a:cs typeface="Arial"/>
              </a:rPr>
              <a:t>with </a:t>
            </a:r>
            <a:r>
              <a:rPr sz="1950" spc="135" dirty="0">
                <a:solidFill>
                  <a:srgbClr val="231F20"/>
                </a:solidFill>
                <a:latin typeface="Arial"/>
                <a:cs typeface="Arial"/>
              </a:rPr>
              <a:t>dependent </a:t>
            </a:r>
            <a:r>
              <a:rPr sz="1950" spc="120" dirty="0">
                <a:solidFill>
                  <a:srgbClr val="231F20"/>
                </a:solidFill>
                <a:latin typeface="Arial"/>
                <a:cs typeface="Arial"/>
              </a:rPr>
              <a:t>predicate </a:t>
            </a:r>
            <a:r>
              <a:rPr sz="1950" spc="155" dirty="0">
                <a:solidFill>
                  <a:srgbClr val="231F20"/>
                </a:solidFill>
                <a:latin typeface="Arial"/>
                <a:cs typeface="Arial"/>
              </a:rPr>
              <a:t> </a:t>
            </a:r>
            <a:r>
              <a:rPr sz="1950" spc="140" dirty="0">
                <a:solidFill>
                  <a:srgbClr val="231F20"/>
                </a:solidFill>
                <a:latin typeface="Arial"/>
                <a:cs typeface="Arial"/>
              </a:rPr>
              <a:t>subtyping</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00" dirty="0">
                <a:solidFill>
                  <a:srgbClr val="231F20"/>
                </a:solidFill>
                <a:latin typeface="Arial"/>
                <a:cs typeface="Arial"/>
              </a:rPr>
              <a:t>Recursive </a:t>
            </a:r>
            <a:r>
              <a:rPr sz="1950" spc="160" dirty="0">
                <a:solidFill>
                  <a:srgbClr val="231F20"/>
                </a:solidFill>
                <a:latin typeface="Arial"/>
                <a:cs typeface="Arial"/>
              </a:rPr>
              <a:t>abstract </a:t>
            </a:r>
            <a:r>
              <a:rPr sz="1950" spc="170" dirty="0">
                <a:solidFill>
                  <a:srgbClr val="231F20"/>
                </a:solidFill>
                <a:latin typeface="Arial"/>
                <a:cs typeface="Arial"/>
              </a:rPr>
              <a:t>data </a:t>
            </a:r>
            <a:r>
              <a:rPr sz="1950" spc="120" dirty="0">
                <a:solidFill>
                  <a:srgbClr val="231F20"/>
                </a:solidFill>
                <a:latin typeface="Arial"/>
                <a:cs typeface="Arial"/>
              </a:rPr>
              <a:t>types </a:t>
            </a:r>
            <a:r>
              <a:rPr sz="1950" spc="130" dirty="0">
                <a:solidFill>
                  <a:srgbClr val="231F20"/>
                </a:solidFill>
                <a:latin typeface="Arial"/>
                <a:cs typeface="Arial"/>
              </a:rPr>
              <a:t>and </a:t>
            </a:r>
            <a:r>
              <a:rPr sz="1950" spc="145" dirty="0">
                <a:solidFill>
                  <a:srgbClr val="231F20"/>
                </a:solidFill>
                <a:latin typeface="Arial"/>
                <a:cs typeface="Arial"/>
              </a:rPr>
              <a:t>inductive </a:t>
            </a:r>
            <a:r>
              <a:rPr sz="1950" spc="285" dirty="0">
                <a:solidFill>
                  <a:srgbClr val="231F20"/>
                </a:solidFill>
                <a:latin typeface="Arial"/>
                <a:cs typeface="Arial"/>
              </a:rPr>
              <a:t> </a:t>
            </a:r>
            <a:r>
              <a:rPr sz="1950" spc="120" dirty="0">
                <a:solidFill>
                  <a:srgbClr val="231F20"/>
                </a:solidFill>
                <a:latin typeface="Arial"/>
                <a:cs typeface="Arial"/>
              </a:rPr>
              <a:t>types</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25" dirty="0">
                <a:solidFill>
                  <a:srgbClr val="231F20"/>
                </a:solidFill>
                <a:latin typeface="Arial"/>
                <a:cs typeface="Arial"/>
              </a:rPr>
              <a:t>Parameterized </a:t>
            </a:r>
            <a:r>
              <a:rPr sz="1950" spc="110" dirty="0">
                <a:solidFill>
                  <a:srgbClr val="231F20"/>
                </a:solidFill>
                <a:latin typeface="Arial"/>
                <a:cs typeface="Arial"/>
              </a:rPr>
              <a:t>theories </a:t>
            </a:r>
            <a:r>
              <a:rPr sz="1950" spc="130" dirty="0">
                <a:solidFill>
                  <a:srgbClr val="231F20"/>
                </a:solidFill>
                <a:latin typeface="Arial"/>
                <a:cs typeface="Arial"/>
              </a:rPr>
              <a:t>and</a:t>
            </a:r>
            <a:r>
              <a:rPr sz="1950" spc="600" dirty="0">
                <a:solidFill>
                  <a:srgbClr val="231F20"/>
                </a:solidFill>
                <a:latin typeface="Arial"/>
                <a:cs typeface="Arial"/>
              </a:rPr>
              <a:t> </a:t>
            </a:r>
            <a:r>
              <a:rPr sz="1950" spc="150" dirty="0">
                <a:solidFill>
                  <a:srgbClr val="231F20"/>
                </a:solidFill>
                <a:latin typeface="Arial"/>
                <a:cs typeface="Arial"/>
              </a:rPr>
              <a:t>interpretations</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45" dirty="0">
                <a:solidFill>
                  <a:srgbClr val="231F20"/>
                </a:solidFill>
                <a:latin typeface="Arial"/>
                <a:cs typeface="Arial"/>
              </a:rPr>
              <a:t>. . . </a:t>
            </a:r>
            <a:r>
              <a:rPr sz="1950" spc="130" dirty="0">
                <a:solidFill>
                  <a:srgbClr val="231F20"/>
                </a:solidFill>
                <a:latin typeface="Arial"/>
                <a:cs typeface="Arial"/>
              </a:rPr>
              <a:t>and </a:t>
            </a:r>
            <a:r>
              <a:rPr sz="1950" spc="195" dirty="0">
                <a:solidFill>
                  <a:srgbClr val="231F20"/>
                </a:solidFill>
                <a:latin typeface="Arial"/>
                <a:cs typeface="Arial"/>
              </a:rPr>
              <a:t>most </a:t>
            </a:r>
            <a:r>
              <a:rPr sz="1950" spc="185" dirty="0">
                <a:solidFill>
                  <a:srgbClr val="231F20"/>
                </a:solidFill>
                <a:latin typeface="Arial"/>
                <a:cs typeface="Arial"/>
              </a:rPr>
              <a:t>of </a:t>
            </a:r>
            <a:r>
              <a:rPr sz="1950" spc="229" dirty="0">
                <a:solidFill>
                  <a:srgbClr val="231F20"/>
                </a:solidFill>
                <a:latin typeface="Arial"/>
                <a:cs typeface="Arial"/>
              </a:rPr>
              <a:t>it </a:t>
            </a:r>
            <a:r>
              <a:rPr sz="1950" spc="40" dirty="0">
                <a:solidFill>
                  <a:srgbClr val="231F20"/>
                </a:solidFill>
                <a:latin typeface="Arial"/>
                <a:cs typeface="Arial"/>
              </a:rPr>
              <a:t>is </a:t>
            </a:r>
            <a:r>
              <a:rPr sz="1950" spc="135" dirty="0">
                <a:solidFill>
                  <a:srgbClr val="231F20"/>
                </a:solidFill>
                <a:latin typeface="Arial"/>
                <a:cs typeface="Arial"/>
              </a:rPr>
              <a:t>efficiently</a:t>
            </a:r>
            <a:r>
              <a:rPr sz="1950" spc="25" dirty="0">
                <a:solidFill>
                  <a:srgbClr val="231F20"/>
                </a:solidFill>
                <a:latin typeface="Arial"/>
                <a:cs typeface="Arial"/>
              </a:rPr>
              <a:t> </a:t>
            </a:r>
            <a:r>
              <a:rPr sz="1950" spc="114" dirty="0">
                <a:solidFill>
                  <a:srgbClr val="231F20"/>
                </a:solidFill>
                <a:latin typeface="Arial"/>
                <a:cs typeface="Arial"/>
              </a:rPr>
              <a:t>executable</a:t>
            </a:r>
            <a:endParaRPr sz="1950">
              <a:latin typeface="Arial"/>
              <a:cs typeface="Arial"/>
            </a:endParaRPr>
          </a:p>
          <a:p>
            <a:pPr marL="300990" marR="5080" indent="-288290">
              <a:lnSpc>
                <a:spcPct val="125000"/>
              </a:lnSpc>
              <a:spcBef>
                <a:spcPts val="409"/>
              </a:spcBef>
              <a:buSzPct val="105128"/>
              <a:buFont typeface="Lucida Sans Unicode"/>
              <a:buChar char="•"/>
              <a:tabLst>
                <a:tab pos="301625" algn="l"/>
              </a:tabLst>
            </a:pPr>
            <a:r>
              <a:rPr sz="1950" spc="220" dirty="0">
                <a:solidFill>
                  <a:srgbClr val="231F20"/>
                </a:solidFill>
                <a:latin typeface="Arial"/>
                <a:cs typeface="Arial"/>
              </a:rPr>
              <a:t>It </a:t>
            </a:r>
            <a:r>
              <a:rPr sz="1950" spc="165" dirty="0">
                <a:solidFill>
                  <a:srgbClr val="231F20"/>
                </a:solidFill>
                <a:latin typeface="Arial"/>
                <a:cs typeface="Arial"/>
              </a:rPr>
              <a:t>automatically </a:t>
            </a:r>
            <a:r>
              <a:rPr sz="1950" spc="100" dirty="0">
                <a:solidFill>
                  <a:srgbClr val="231F20"/>
                </a:solidFill>
                <a:latin typeface="Arial"/>
                <a:cs typeface="Arial"/>
              </a:rPr>
              <a:t>discharged </a:t>
            </a:r>
            <a:r>
              <a:rPr sz="1950" spc="95" dirty="0">
                <a:solidFill>
                  <a:srgbClr val="231F20"/>
                </a:solidFill>
                <a:latin typeface="Arial"/>
                <a:cs typeface="Arial"/>
              </a:rPr>
              <a:t>subgoals </a:t>
            </a:r>
            <a:r>
              <a:rPr sz="1950" spc="105" dirty="0">
                <a:solidFill>
                  <a:srgbClr val="231F20"/>
                </a:solidFill>
                <a:latin typeface="Arial"/>
                <a:cs typeface="Arial"/>
              </a:rPr>
              <a:t>by </a:t>
            </a:r>
            <a:r>
              <a:rPr sz="1950" spc="120" dirty="0">
                <a:solidFill>
                  <a:srgbClr val="231F20"/>
                </a:solidFill>
                <a:latin typeface="Arial"/>
                <a:cs typeface="Arial"/>
              </a:rPr>
              <a:t>deciding </a:t>
            </a:r>
            <a:r>
              <a:rPr sz="1950" spc="125" dirty="0">
                <a:solidFill>
                  <a:srgbClr val="231F20"/>
                </a:solidFill>
                <a:latin typeface="Arial"/>
                <a:cs typeface="Arial"/>
              </a:rPr>
              <a:t>properties  </a:t>
            </a:r>
            <a:r>
              <a:rPr sz="1950" spc="114" dirty="0">
                <a:solidFill>
                  <a:srgbClr val="231F20"/>
                </a:solidFill>
                <a:latin typeface="Arial"/>
                <a:cs typeface="Arial"/>
              </a:rPr>
              <a:t>over </a:t>
            </a:r>
            <a:r>
              <a:rPr sz="1950" spc="160" dirty="0">
                <a:solidFill>
                  <a:srgbClr val="231F20"/>
                </a:solidFill>
                <a:latin typeface="Arial"/>
                <a:cs typeface="Arial"/>
              </a:rPr>
              <a:t>abstract </a:t>
            </a:r>
            <a:r>
              <a:rPr sz="1950" spc="170" dirty="0">
                <a:solidFill>
                  <a:srgbClr val="231F20"/>
                </a:solidFill>
                <a:latin typeface="Arial"/>
                <a:cs typeface="Arial"/>
              </a:rPr>
              <a:t>data </a:t>
            </a:r>
            <a:r>
              <a:rPr sz="1950" spc="120" dirty="0">
                <a:solidFill>
                  <a:srgbClr val="231F20"/>
                </a:solidFill>
                <a:latin typeface="Arial"/>
                <a:cs typeface="Arial"/>
              </a:rPr>
              <a:t>types </a:t>
            </a:r>
            <a:r>
              <a:rPr sz="1950" spc="165" dirty="0">
                <a:solidFill>
                  <a:srgbClr val="231F20"/>
                </a:solidFill>
                <a:latin typeface="Arial"/>
                <a:cs typeface="Arial"/>
              </a:rPr>
              <a:t>(enumeration </a:t>
            </a:r>
            <a:r>
              <a:rPr sz="1950" spc="120" dirty="0">
                <a:solidFill>
                  <a:srgbClr val="231F20"/>
                </a:solidFill>
                <a:latin typeface="Arial"/>
                <a:cs typeface="Arial"/>
              </a:rPr>
              <a:t>types </a:t>
            </a:r>
            <a:r>
              <a:rPr sz="1950" spc="65" dirty="0">
                <a:solidFill>
                  <a:srgbClr val="231F20"/>
                </a:solidFill>
                <a:latin typeface="Arial"/>
                <a:cs typeface="Arial"/>
              </a:rPr>
              <a:t>are </a:t>
            </a:r>
            <a:r>
              <a:rPr sz="1950" spc="85" dirty="0">
                <a:solidFill>
                  <a:srgbClr val="231F20"/>
                </a:solidFill>
                <a:latin typeface="Arial"/>
                <a:cs typeface="Arial"/>
              </a:rPr>
              <a:t>a </a:t>
            </a:r>
            <a:r>
              <a:rPr sz="1950" spc="110" dirty="0">
                <a:solidFill>
                  <a:srgbClr val="231F20"/>
                </a:solidFill>
                <a:latin typeface="Arial"/>
                <a:cs typeface="Arial"/>
              </a:rPr>
              <a:t>degenerate  </a:t>
            </a:r>
            <a:r>
              <a:rPr sz="1950" spc="105" dirty="0">
                <a:solidFill>
                  <a:srgbClr val="231F20"/>
                </a:solidFill>
                <a:latin typeface="Arial"/>
                <a:cs typeface="Arial"/>
              </a:rPr>
              <a:t>case), </a:t>
            </a:r>
            <a:r>
              <a:rPr sz="1950" spc="140" dirty="0">
                <a:solidFill>
                  <a:srgbClr val="231F20"/>
                </a:solidFill>
                <a:latin typeface="Arial"/>
                <a:cs typeface="Arial"/>
              </a:rPr>
              <a:t>integer </a:t>
            </a:r>
            <a:r>
              <a:rPr sz="1950" spc="165" dirty="0">
                <a:solidFill>
                  <a:srgbClr val="231F20"/>
                </a:solidFill>
                <a:latin typeface="Arial"/>
                <a:cs typeface="Arial"/>
              </a:rPr>
              <a:t>arithmetic, </a:t>
            </a:r>
            <a:r>
              <a:rPr sz="1950" spc="120" dirty="0">
                <a:solidFill>
                  <a:srgbClr val="231F20"/>
                </a:solidFill>
                <a:latin typeface="Arial"/>
                <a:cs typeface="Arial"/>
              </a:rPr>
              <a:t>record </a:t>
            </a:r>
            <a:r>
              <a:rPr sz="1950" spc="135" dirty="0">
                <a:solidFill>
                  <a:srgbClr val="231F20"/>
                </a:solidFill>
                <a:latin typeface="Arial"/>
                <a:cs typeface="Arial"/>
              </a:rPr>
              <a:t>updates, </a:t>
            </a:r>
            <a:r>
              <a:rPr sz="1950" spc="155" dirty="0">
                <a:solidFill>
                  <a:srgbClr val="231F20"/>
                </a:solidFill>
                <a:latin typeface="Arial"/>
                <a:cs typeface="Arial"/>
              </a:rPr>
              <a:t>prop’nl </a:t>
            </a:r>
            <a:r>
              <a:rPr sz="1950" spc="340" dirty="0">
                <a:solidFill>
                  <a:srgbClr val="231F20"/>
                </a:solidFill>
                <a:latin typeface="Arial"/>
                <a:cs typeface="Arial"/>
              </a:rPr>
              <a:t> </a:t>
            </a:r>
            <a:r>
              <a:rPr sz="1950" spc="105" dirty="0">
                <a:solidFill>
                  <a:srgbClr val="231F20"/>
                </a:solidFill>
                <a:latin typeface="Arial"/>
                <a:cs typeface="Arial"/>
              </a:rPr>
              <a:t>calculus</a:t>
            </a:r>
            <a:endParaRPr sz="1950">
              <a:latin typeface="Arial"/>
              <a:cs typeface="Arial"/>
            </a:endParaRPr>
          </a:p>
          <a:p>
            <a:pPr marL="300990" marR="206375" indent="-288290">
              <a:lnSpc>
                <a:spcPct val="125000"/>
              </a:lnSpc>
              <a:spcBef>
                <a:spcPts val="414"/>
              </a:spcBef>
              <a:buSzPct val="105128"/>
              <a:buFont typeface="Lucida Sans Unicode"/>
              <a:buChar char="•"/>
              <a:tabLst>
                <a:tab pos="301625" algn="l"/>
              </a:tabLst>
            </a:pPr>
            <a:r>
              <a:rPr sz="1950" spc="120" dirty="0">
                <a:solidFill>
                  <a:srgbClr val="231F20"/>
                </a:solidFill>
                <a:latin typeface="Arial"/>
                <a:cs typeface="Arial"/>
              </a:rPr>
              <a:t>In </a:t>
            </a:r>
            <a:r>
              <a:rPr sz="1950" spc="105" dirty="0">
                <a:solidFill>
                  <a:srgbClr val="231F20"/>
                </a:solidFill>
                <a:latin typeface="Arial"/>
                <a:cs typeface="Arial"/>
              </a:rPr>
              <a:t>larger </a:t>
            </a:r>
            <a:r>
              <a:rPr sz="1950" spc="100" dirty="0">
                <a:solidFill>
                  <a:srgbClr val="231F20"/>
                </a:solidFill>
                <a:latin typeface="Arial"/>
                <a:cs typeface="Arial"/>
              </a:rPr>
              <a:t>examples, </a:t>
            </a:r>
            <a:r>
              <a:rPr sz="1950" spc="229" dirty="0">
                <a:solidFill>
                  <a:srgbClr val="231F20"/>
                </a:solidFill>
                <a:latin typeface="Arial"/>
                <a:cs typeface="Arial"/>
              </a:rPr>
              <a:t>it </a:t>
            </a:r>
            <a:r>
              <a:rPr sz="1950" spc="80" dirty="0">
                <a:solidFill>
                  <a:srgbClr val="231F20"/>
                </a:solidFill>
                <a:latin typeface="Arial"/>
                <a:cs typeface="Arial"/>
              </a:rPr>
              <a:t>also </a:t>
            </a:r>
            <a:r>
              <a:rPr sz="1950" spc="70" dirty="0">
                <a:solidFill>
                  <a:srgbClr val="231F20"/>
                </a:solidFill>
                <a:latin typeface="Arial"/>
                <a:cs typeface="Arial"/>
              </a:rPr>
              <a:t>has </a:t>
            </a:r>
            <a:r>
              <a:rPr sz="1950" spc="250" dirty="0">
                <a:solidFill>
                  <a:srgbClr val="231F20"/>
                </a:solidFill>
                <a:latin typeface="Arial"/>
                <a:cs typeface="Arial"/>
              </a:rPr>
              <a:t>to </a:t>
            </a:r>
            <a:r>
              <a:rPr sz="1950" spc="105" dirty="0">
                <a:solidFill>
                  <a:srgbClr val="231F20"/>
                </a:solidFill>
                <a:latin typeface="Arial"/>
                <a:cs typeface="Arial"/>
              </a:rPr>
              <a:t>choose </a:t>
            </a:r>
            <a:r>
              <a:rPr sz="1950" spc="140" dirty="0">
                <a:solidFill>
                  <a:srgbClr val="231F20"/>
                </a:solidFill>
                <a:latin typeface="Arial"/>
                <a:cs typeface="Arial"/>
              </a:rPr>
              <a:t>when </a:t>
            </a:r>
            <a:r>
              <a:rPr sz="1950" spc="250" dirty="0">
                <a:solidFill>
                  <a:srgbClr val="231F20"/>
                </a:solidFill>
                <a:latin typeface="Arial"/>
                <a:cs typeface="Arial"/>
              </a:rPr>
              <a:t>to </a:t>
            </a:r>
            <a:r>
              <a:rPr sz="1950" spc="135" dirty="0">
                <a:solidFill>
                  <a:srgbClr val="231F20"/>
                </a:solidFill>
                <a:latin typeface="Arial"/>
                <a:cs typeface="Arial"/>
              </a:rPr>
              <a:t>open </a:t>
            </a:r>
            <a:r>
              <a:rPr sz="1950" spc="155" dirty="0">
                <a:solidFill>
                  <a:srgbClr val="231F20"/>
                </a:solidFill>
                <a:latin typeface="Arial"/>
                <a:cs typeface="Arial"/>
              </a:rPr>
              <a:t>up </a:t>
            </a:r>
            <a:r>
              <a:rPr sz="1950" spc="85" dirty="0">
                <a:solidFill>
                  <a:srgbClr val="231F20"/>
                </a:solidFill>
                <a:latin typeface="Arial"/>
                <a:cs typeface="Arial"/>
              </a:rPr>
              <a:t>a </a:t>
            </a:r>
            <a:r>
              <a:rPr sz="1950" spc="710" dirty="0">
                <a:solidFill>
                  <a:srgbClr val="231F20"/>
                </a:solidFill>
                <a:latin typeface="Arial"/>
                <a:cs typeface="Arial"/>
              </a:rPr>
              <a:t> </a:t>
            </a:r>
            <a:r>
              <a:rPr sz="1950" spc="150" dirty="0">
                <a:solidFill>
                  <a:srgbClr val="231F20"/>
                </a:solidFill>
                <a:latin typeface="Arial"/>
                <a:cs typeface="Arial"/>
              </a:rPr>
              <a:t>definition, </a:t>
            </a:r>
            <a:r>
              <a:rPr sz="1950" spc="130" dirty="0">
                <a:solidFill>
                  <a:srgbClr val="231F20"/>
                </a:solidFill>
                <a:latin typeface="Arial"/>
                <a:cs typeface="Arial"/>
              </a:rPr>
              <a:t>and </a:t>
            </a:r>
            <a:r>
              <a:rPr sz="1950" spc="140" dirty="0">
                <a:solidFill>
                  <a:srgbClr val="231F20"/>
                </a:solidFill>
                <a:latin typeface="Arial"/>
                <a:cs typeface="Arial"/>
              </a:rPr>
              <a:t>when </a:t>
            </a:r>
            <a:r>
              <a:rPr sz="1950" spc="250" dirty="0">
                <a:solidFill>
                  <a:srgbClr val="231F20"/>
                </a:solidFill>
                <a:latin typeface="Arial"/>
                <a:cs typeface="Arial"/>
              </a:rPr>
              <a:t>to </a:t>
            </a:r>
            <a:r>
              <a:rPr sz="1950" spc="125" dirty="0">
                <a:solidFill>
                  <a:srgbClr val="231F20"/>
                </a:solidFill>
                <a:latin typeface="Arial"/>
                <a:cs typeface="Arial"/>
              </a:rPr>
              <a:t>apply </a:t>
            </a:r>
            <a:r>
              <a:rPr sz="1950" spc="85" dirty="0">
                <a:solidFill>
                  <a:srgbClr val="231F20"/>
                </a:solidFill>
                <a:latin typeface="Arial"/>
                <a:cs typeface="Arial"/>
              </a:rPr>
              <a:t>a </a:t>
            </a:r>
            <a:r>
              <a:rPr sz="1950" spc="250" dirty="0">
                <a:solidFill>
                  <a:srgbClr val="231F20"/>
                </a:solidFill>
                <a:latin typeface="Arial"/>
                <a:cs typeface="Arial"/>
              </a:rPr>
              <a:t> </a:t>
            </a:r>
            <a:r>
              <a:rPr sz="1950" spc="155" dirty="0">
                <a:solidFill>
                  <a:srgbClr val="231F20"/>
                </a:solidFill>
                <a:latin typeface="Arial"/>
                <a:cs typeface="Arial"/>
              </a:rPr>
              <a:t>rewrite</a:t>
            </a:r>
            <a:endParaRPr sz="1950">
              <a:latin typeface="Arial"/>
              <a:cs typeface="Arial"/>
            </a:endParaRPr>
          </a:p>
          <a:p>
            <a:pPr marL="300990" marR="5080" indent="-288290">
              <a:lnSpc>
                <a:spcPct val="125000"/>
              </a:lnSpc>
              <a:spcBef>
                <a:spcPts val="409"/>
              </a:spcBef>
              <a:buClr>
                <a:srgbClr val="231F20"/>
              </a:buClr>
              <a:buSzPct val="105128"/>
              <a:buFont typeface="Lucida Sans Unicode"/>
              <a:buChar char="•"/>
              <a:tabLst>
                <a:tab pos="301625" algn="l"/>
              </a:tabLst>
            </a:pPr>
            <a:r>
              <a:rPr sz="1950" spc="260" dirty="0">
                <a:solidFill>
                  <a:srgbClr val="FF0000"/>
                </a:solidFill>
                <a:latin typeface="Arial"/>
                <a:cs typeface="Arial"/>
              </a:rPr>
              <a:t>What </a:t>
            </a:r>
            <a:r>
              <a:rPr sz="1950" spc="100" dirty="0">
                <a:solidFill>
                  <a:srgbClr val="FF0000"/>
                </a:solidFill>
                <a:latin typeface="Arial"/>
                <a:cs typeface="Arial"/>
              </a:rPr>
              <a:t>makes </a:t>
            </a:r>
            <a:r>
              <a:rPr sz="1950" spc="204" dirty="0">
                <a:solidFill>
                  <a:srgbClr val="FF0000"/>
                </a:solidFill>
                <a:latin typeface="Arial"/>
                <a:cs typeface="Arial"/>
              </a:rPr>
              <a:t>PVS </a:t>
            </a:r>
            <a:r>
              <a:rPr sz="1950" spc="175" dirty="0">
                <a:solidFill>
                  <a:srgbClr val="FF0000"/>
                </a:solidFill>
                <a:latin typeface="Arial"/>
                <a:cs typeface="Arial"/>
              </a:rPr>
              <a:t>(and </a:t>
            </a:r>
            <a:r>
              <a:rPr sz="1950" spc="170" dirty="0">
                <a:solidFill>
                  <a:srgbClr val="FF0000"/>
                </a:solidFill>
                <a:latin typeface="Arial"/>
                <a:cs typeface="Arial"/>
              </a:rPr>
              <a:t>other </a:t>
            </a:r>
            <a:r>
              <a:rPr sz="1950" spc="145" dirty="0">
                <a:solidFill>
                  <a:srgbClr val="FF0000"/>
                </a:solidFill>
                <a:latin typeface="Arial"/>
                <a:cs typeface="Arial"/>
              </a:rPr>
              <a:t>verification </a:t>
            </a:r>
            <a:r>
              <a:rPr sz="1950" spc="125" dirty="0">
                <a:solidFill>
                  <a:srgbClr val="FF0000"/>
                </a:solidFill>
                <a:latin typeface="Arial"/>
                <a:cs typeface="Arial"/>
              </a:rPr>
              <a:t>systems) </a:t>
            </a:r>
            <a:r>
              <a:rPr sz="1950" spc="120" dirty="0">
                <a:solidFill>
                  <a:srgbClr val="FF0000"/>
                </a:solidFill>
                <a:latin typeface="Arial"/>
                <a:cs typeface="Arial"/>
              </a:rPr>
              <a:t>effective </a:t>
            </a:r>
            <a:r>
              <a:rPr sz="1950" spc="40" dirty="0">
                <a:solidFill>
                  <a:srgbClr val="FF0000"/>
                </a:solidFill>
                <a:latin typeface="Arial"/>
                <a:cs typeface="Arial"/>
              </a:rPr>
              <a:t>is  </a:t>
            </a:r>
            <a:r>
              <a:rPr sz="1950" spc="235" dirty="0">
                <a:solidFill>
                  <a:srgbClr val="FF0000"/>
                </a:solidFill>
                <a:latin typeface="Arial"/>
                <a:cs typeface="Arial"/>
              </a:rPr>
              <a:t>that </a:t>
            </a:r>
            <a:r>
              <a:rPr sz="1950" spc="229" dirty="0">
                <a:solidFill>
                  <a:srgbClr val="FF0000"/>
                </a:solidFill>
                <a:latin typeface="Arial"/>
                <a:cs typeface="Arial"/>
              </a:rPr>
              <a:t>it </a:t>
            </a:r>
            <a:r>
              <a:rPr sz="1950" spc="70" dirty="0">
                <a:solidFill>
                  <a:srgbClr val="FF0000"/>
                </a:solidFill>
                <a:latin typeface="Arial"/>
                <a:cs typeface="Arial"/>
              </a:rPr>
              <a:t>has </a:t>
            </a:r>
            <a:r>
              <a:rPr sz="1950" spc="195" dirty="0">
                <a:solidFill>
                  <a:srgbClr val="FF0000"/>
                </a:solidFill>
                <a:latin typeface="Arial"/>
                <a:cs typeface="Arial"/>
              </a:rPr>
              <a:t>tightly </a:t>
            </a:r>
            <a:r>
              <a:rPr sz="1950" spc="155" dirty="0">
                <a:solidFill>
                  <a:srgbClr val="FF0000"/>
                </a:solidFill>
                <a:latin typeface="Arial"/>
                <a:cs typeface="Arial"/>
              </a:rPr>
              <a:t>integrated </a:t>
            </a:r>
            <a:r>
              <a:rPr sz="1950" spc="190" dirty="0">
                <a:solidFill>
                  <a:srgbClr val="FF0000"/>
                </a:solidFill>
                <a:latin typeface="Arial"/>
                <a:cs typeface="Arial"/>
              </a:rPr>
              <a:t>automation </a:t>
            </a:r>
            <a:r>
              <a:rPr sz="1950" spc="155" dirty="0">
                <a:solidFill>
                  <a:srgbClr val="FF0000"/>
                </a:solidFill>
                <a:latin typeface="Arial"/>
                <a:cs typeface="Arial"/>
              </a:rPr>
              <a:t>for </a:t>
            </a:r>
            <a:r>
              <a:rPr sz="1950" spc="105" dirty="0">
                <a:solidFill>
                  <a:srgbClr val="FF0000"/>
                </a:solidFill>
                <a:latin typeface="Arial"/>
                <a:cs typeface="Arial"/>
              </a:rPr>
              <a:t>all </a:t>
            </a:r>
            <a:r>
              <a:rPr sz="1950" spc="185" dirty="0">
                <a:solidFill>
                  <a:srgbClr val="FF0000"/>
                </a:solidFill>
                <a:latin typeface="Arial"/>
                <a:cs typeface="Arial"/>
              </a:rPr>
              <a:t>of </a:t>
            </a:r>
            <a:r>
              <a:rPr sz="1950" spc="465" dirty="0">
                <a:solidFill>
                  <a:srgbClr val="FF0000"/>
                </a:solidFill>
                <a:latin typeface="Arial"/>
                <a:cs typeface="Arial"/>
              </a:rPr>
              <a:t> </a:t>
            </a:r>
            <a:r>
              <a:rPr sz="1950" spc="100" dirty="0">
                <a:solidFill>
                  <a:srgbClr val="FF0000"/>
                </a:solidFill>
                <a:latin typeface="Arial"/>
                <a:cs typeface="Arial"/>
              </a:rPr>
              <a:t>these</a:t>
            </a:r>
            <a:endParaRPr sz="1950">
              <a:latin typeface="Arial"/>
              <a:cs typeface="Arial"/>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107045" cy="5853430"/>
          </a:xfrm>
          <a:prstGeom prst="rect">
            <a:avLst/>
          </a:prstGeom>
        </p:spPr>
        <p:txBody>
          <a:bodyPr vert="horz" wrap="square" lIns="0" tIns="0" rIns="0" bIns="0" rtlCol="0">
            <a:spAutoFit/>
          </a:bodyPr>
          <a:lstStyle/>
          <a:p>
            <a:pPr marL="1731645">
              <a:lnSpc>
                <a:spcPct val="100000"/>
              </a:lnSpc>
            </a:pPr>
            <a:r>
              <a:rPr sz="1950" spc="270" dirty="0">
                <a:solidFill>
                  <a:srgbClr val="231F20"/>
                </a:solidFill>
                <a:latin typeface="Arial"/>
                <a:cs typeface="Arial"/>
              </a:rPr>
              <a:t>Top-Level </a:t>
            </a:r>
            <a:r>
              <a:rPr sz="1950" spc="240" dirty="0">
                <a:solidFill>
                  <a:srgbClr val="231F20"/>
                </a:solidFill>
                <a:latin typeface="Arial"/>
                <a:cs typeface="Arial"/>
              </a:rPr>
              <a:t>Design </a:t>
            </a:r>
            <a:r>
              <a:rPr sz="1950" spc="210" dirty="0">
                <a:solidFill>
                  <a:srgbClr val="231F20"/>
                </a:solidFill>
                <a:latin typeface="Arial"/>
                <a:cs typeface="Arial"/>
              </a:rPr>
              <a:t>Choices in</a:t>
            </a:r>
            <a:r>
              <a:rPr sz="1950" spc="715" dirty="0">
                <a:solidFill>
                  <a:srgbClr val="231F20"/>
                </a:solidFill>
                <a:latin typeface="Arial"/>
                <a:cs typeface="Arial"/>
              </a:rPr>
              <a:t> </a:t>
            </a:r>
            <a:r>
              <a:rPr sz="1950" spc="360" dirty="0">
                <a:solidFill>
                  <a:srgbClr val="231F20"/>
                </a:solidFill>
                <a:latin typeface="Arial"/>
                <a:cs typeface="Arial"/>
              </a:rPr>
              <a:t>PVS</a:t>
            </a:r>
            <a:endParaRPr sz="1950">
              <a:latin typeface="Arial"/>
              <a:cs typeface="Arial"/>
            </a:endParaRPr>
          </a:p>
          <a:p>
            <a:pPr marL="300990" indent="-288290">
              <a:lnSpc>
                <a:spcPct val="100000"/>
              </a:lnSpc>
              <a:spcBef>
                <a:spcPts val="1614"/>
              </a:spcBef>
              <a:buClr>
                <a:srgbClr val="231F20"/>
              </a:buClr>
              <a:buSzPct val="105128"/>
              <a:buFont typeface="Lucida Sans Unicode"/>
              <a:buChar char="•"/>
              <a:tabLst>
                <a:tab pos="301625" algn="l"/>
              </a:tabLst>
            </a:pPr>
            <a:r>
              <a:rPr sz="1950" spc="140" dirty="0">
                <a:solidFill>
                  <a:srgbClr val="0000FF"/>
                </a:solidFill>
                <a:latin typeface="Arial"/>
                <a:cs typeface="Arial"/>
              </a:rPr>
              <a:t>Specification </a:t>
            </a:r>
            <a:r>
              <a:rPr sz="1950" spc="114" dirty="0">
                <a:solidFill>
                  <a:srgbClr val="0000FF"/>
                </a:solidFill>
                <a:latin typeface="Arial"/>
                <a:cs typeface="Arial"/>
              </a:rPr>
              <a:t>language </a:t>
            </a:r>
            <a:r>
              <a:rPr sz="1950" spc="40" dirty="0">
                <a:solidFill>
                  <a:srgbClr val="0000FF"/>
                </a:solidFill>
                <a:latin typeface="Arial"/>
                <a:cs typeface="Arial"/>
              </a:rPr>
              <a:t>is </a:t>
            </a:r>
            <a:r>
              <a:rPr sz="1950" spc="85" dirty="0">
                <a:solidFill>
                  <a:srgbClr val="0000FF"/>
                </a:solidFill>
                <a:latin typeface="Arial"/>
                <a:cs typeface="Arial"/>
              </a:rPr>
              <a:t>a </a:t>
            </a:r>
            <a:r>
              <a:rPr sz="1950" spc="125" dirty="0">
                <a:solidFill>
                  <a:srgbClr val="0000FF"/>
                </a:solidFill>
                <a:latin typeface="Arial"/>
                <a:cs typeface="Arial"/>
              </a:rPr>
              <a:t>higher-order </a:t>
            </a:r>
            <a:r>
              <a:rPr sz="1950" spc="130" dirty="0">
                <a:solidFill>
                  <a:srgbClr val="0000FF"/>
                </a:solidFill>
                <a:latin typeface="Arial"/>
                <a:cs typeface="Arial"/>
              </a:rPr>
              <a:t>logic </a:t>
            </a:r>
            <a:r>
              <a:rPr sz="1950" spc="215" dirty="0">
                <a:solidFill>
                  <a:srgbClr val="0000FF"/>
                </a:solidFill>
                <a:latin typeface="Arial"/>
                <a:cs typeface="Arial"/>
              </a:rPr>
              <a:t>with </a:t>
            </a:r>
            <a:r>
              <a:rPr sz="1950" spc="610" dirty="0">
                <a:solidFill>
                  <a:srgbClr val="0000FF"/>
                </a:solidFill>
                <a:latin typeface="Arial"/>
                <a:cs typeface="Arial"/>
              </a:rPr>
              <a:t> </a:t>
            </a:r>
            <a:r>
              <a:rPr sz="1950" spc="140" dirty="0">
                <a:solidFill>
                  <a:srgbClr val="0000FF"/>
                </a:solidFill>
                <a:latin typeface="Arial"/>
                <a:cs typeface="Arial"/>
              </a:rPr>
              <a:t>subtyping</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 pos="4622800" algn="l"/>
              </a:tabLst>
            </a:pPr>
            <a:r>
              <a:rPr sz="1950" spc="145" dirty="0">
                <a:solidFill>
                  <a:srgbClr val="231F20"/>
                </a:solidFill>
                <a:latin typeface="Arial"/>
                <a:cs typeface="Arial"/>
              </a:rPr>
              <a:t>Typechecking </a:t>
            </a:r>
            <a:r>
              <a:rPr sz="1950" spc="175" dirty="0">
                <a:solidFill>
                  <a:srgbClr val="231F20"/>
                </a:solidFill>
                <a:latin typeface="Arial"/>
                <a:cs typeface="Arial"/>
              </a:rPr>
              <a:t> </a:t>
            </a:r>
            <a:r>
              <a:rPr sz="1950" spc="40" dirty="0">
                <a:solidFill>
                  <a:srgbClr val="231F20"/>
                </a:solidFill>
                <a:latin typeface="Arial"/>
                <a:cs typeface="Arial"/>
              </a:rPr>
              <a:t>is </a:t>
            </a:r>
            <a:r>
              <a:rPr sz="1950" spc="280" dirty="0">
                <a:solidFill>
                  <a:srgbClr val="231F20"/>
                </a:solidFill>
                <a:latin typeface="Arial"/>
                <a:cs typeface="Arial"/>
              </a:rPr>
              <a:t> </a:t>
            </a:r>
            <a:r>
              <a:rPr sz="1950" spc="114" dirty="0">
                <a:solidFill>
                  <a:srgbClr val="231F20"/>
                </a:solidFill>
                <a:latin typeface="Arial"/>
                <a:cs typeface="Arial"/>
              </a:rPr>
              <a:t>undecidable:	</a:t>
            </a:r>
            <a:r>
              <a:rPr sz="1950" spc="25" dirty="0">
                <a:solidFill>
                  <a:srgbClr val="231F20"/>
                </a:solidFill>
                <a:latin typeface="Arial"/>
                <a:cs typeface="Arial"/>
              </a:rPr>
              <a:t>uses </a:t>
            </a:r>
            <a:r>
              <a:rPr sz="1950" spc="155" dirty="0">
                <a:solidFill>
                  <a:srgbClr val="231F20"/>
                </a:solidFill>
                <a:latin typeface="Arial"/>
                <a:cs typeface="Arial"/>
              </a:rPr>
              <a:t>theorem</a:t>
            </a:r>
            <a:r>
              <a:rPr sz="1950" spc="480" dirty="0">
                <a:solidFill>
                  <a:srgbClr val="231F20"/>
                </a:solidFill>
                <a:latin typeface="Arial"/>
                <a:cs typeface="Arial"/>
              </a:rPr>
              <a:t> </a:t>
            </a:r>
            <a:r>
              <a:rPr sz="1950" spc="135" dirty="0">
                <a:solidFill>
                  <a:srgbClr val="231F20"/>
                </a:solidFill>
                <a:latin typeface="Arial"/>
                <a:cs typeface="Arial"/>
              </a:rPr>
              <a:t>proving</a:t>
            </a:r>
            <a:endParaRPr sz="1950">
              <a:latin typeface="Arial"/>
              <a:cs typeface="Arial"/>
            </a:endParaRPr>
          </a:p>
          <a:p>
            <a:pPr marL="300990" indent="-288290">
              <a:lnSpc>
                <a:spcPct val="100000"/>
              </a:lnSpc>
              <a:spcBef>
                <a:spcPts val="1614"/>
              </a:spcBef>
              <a:buClr>
                <a:srgbClr val="231F20"/>
              </a:buClr>
              <a:buSzPct val="105128"/>
              <a:buFont typeface="Lucida Sans Unicode"/>
              <a:buChar char="•"/>
              <a:tabLst>
                <a:tab pos="301625" algn="l"/>
              </a:tabLst>
            </a:pPr>
            <a:r>
              <a:rPr sz="1950" spc="85" dirty="0">
                <a:solidFill>
                  <a:srgbClr val="0000FF"/>
                </a:solidFill>
                <a:latin typeface="Arial"/>
                <a:cs typeface="Arial"/>
              </a:rPr>
              <a:t>User </a:t>
            </a:r>
            <a:r>
              <a:rPr sz="1950" spc="80" dirty="0">
                <a:solidFill>
                  <a:srgbClr val="0000FF"/>
                </a:solidFill>
                <a:latin typeface="Arial"/>
                <a:cs typeface="Arial"/>
              </a:rPr>
              <a:t>supplies </a:t>
            </a:r>
            <a:r>
              <a:rPr sz="1950" spc="135" dirty="0">
                <a:solidFill>
                  <a:srgbClr val="0000FF"/>
                </a:solidFill>
                <a:latin typeface="Arial"/>
                <a:cs typeface="Arial"/>
              </a:rPr>
              <a:t>top-level </a:t>
            </a:r>
            <a:r>
              <a:rPr sz="1950" spc="150" dirty="0">
                <a:solidFill>
                  <a:srgbClr val="0000FF"/>
                </a:solidFill>
                <a:latin typeface="Arial"/>
                <a:cs typeface="Arial"/>
              </a:rPr>
              <a:t>strategic </a:t>
            </a:r>
            <a:r>
              <a:rPr sz="1950" spc="120" dirty="0">
                <a:solidFill>
                  <a:srgbClr val="0000FF"/>
                </a:solidFill>
                <a:latin typeface="Arial"/>
                <a:cs typeface="Arial"/>
              </a:rPr>
              <a:t>guidance </a:t>
            </a:r>
            <a:r>
              <a:rPr sz="1950" spc="250" dirty="0">
                <a:solidFill>
                  <a:srgbClr val="0000FF"/>
                </a:solidFill>
                <a:latin typeface="Arial"/>
                <a:cs typeface="Arial"/>
              </a:rPr>
              <a:t>to </a:t>
            </a:r>
            <a:r>
              <a:rPr sz="1950" spc="175" dirty="0">
                <a:solidFill>
                  <a:srgbClr val="0000FF"/>
                </a:solidFill>
                <a:latin typeface="Arial"/>
                <a:cs typeface="Arial"/>
              </a:rPr>
              <a:t>the </a:t>
            </a:r>
            <a:r>
              <a:rPr sz="1950" spc="385" dirty="0">
                <a:solidFill>
                  <a:srgbClr val="0000FF"/>
                </a:solidFill>
                <a:latin typeface="Arial"/>
                <a:cs typeface="Arial"/>
              </a:rPr>
              <a:t> </a:t>
            </a:r>
            <a:r>
              <a:rPr sz="1950" spc="120" dirty="0">
                <a:solidFill>
                  <a:srgbClr val="0000FF"/>
                </a:solidFill>
                <a:latin typeface="Arial"/>
                <a:cs typeface="Arial"/>
              </a:rPr>
              <a:t>prover</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140" dirty="0">
                <a:solidFill>
                  <a:srgbClr val="231F20"/>
                </a:solidFill>
                <a:latin typeface="Arial"/>
                <a:cs typeface="Arial"/>
              </a:rPr>
              <a:t>Invoking </a:t>
            </a:r>
            <a:r>
              <a:rPr sz="1950" spc="130" dirty="0">
                <a:solidFill>
                  <a:srgbClr val="231F20"/>
                </a:solidFill>
                <a:latin typeface="Arial"/>
                <a:cs typeface="Arial"/>
              </a:rPr>
              <a:t>appropriate </a:t>
            </a:r>
            <a:r>
              <a:rPr sz="1950" spc="170" dirty="0">
                <a:solidFill>
                  <a:srgbClr val="231F20"/>
                </a:solidFill>
                <a:latin typeface="Arial"/>
                <a:cs typeface="Arial"/>
              </a:rPr>
              <a:t>proof </a:t>
            </a:r>
            <a:r>
              <a:rPr sz="1950" spc="165" dirty="0">
                <a:solidFill>
                  <a:srgbClr val="231F20"/>
                </a:solidFill>
                <a:latin typeface="Arial"/>
                <a:cs typeface="Arial"/>
              </a:rPr>
              <a:t>methods </a:t>
            </a:r>
            <a:r>
              <a:rPr sz="1950" spc="175" dirty="0">
                <a:solidFill>
                  <a:srgbClr val="231F20"/>
                </a:solidFill>
                <a:latin typeface="Arial"/>
                <a:cs typeface="Arial"/>
              </a:rPr>
              <a:t>(induction</a:t>
            </a:r>
            <a:r>
              <a:rPr sz="1950" spc="855" dirty="0">
                <a:solidFill>
                  <a:srgbClr val="231F20"/>
                </a:solidFill>
                <a:latin typeface="Arial"/>
                <a:cs typeface="Arial"/>
              </a:rPr>
              <a:t> </a:t>
            </a:r>
            <a:r>
              <a:rPr sz="1950" spc="185" dirty="0">
                <a:solidFill>
                  <a:srgbClr val="231F20"/>
                </a:solidFill>
                <a:latin typeface="Arial"/>
                <a:cs typeface="Arial"/>
              </a:rPr>
              <a:t>etc.)</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45" dirty="0">
                <a:solidFill>
                  <a:srgbClr val="231F20"/>
                </a:solidFill>
                <a:latin typeface="Arial"/>
                <a:cs typeface="Arial"/>
              </a:rPr>
              <a:t>Identifying </a:t>
            </a:r>
            <a:r>
              <a:rPr sz="1950" spc="60" dirty="0">
                <a:solidFill>
                  <a:srgbClr val="231F20"/>
                </a:solidFill>
                <a:latin typeface="Arial"/>
                <a:cs typeface="Arial"/>
              </a:rPr>
              <a:t>necessary</a:t>
            </a:r>
            <a:r>
              <a:rPr sz="1950" spc="415" dirty="0">
                <a:solidFill>
                  <a:srgbClr val="231F20"/>
                </a:solidFill>
                <a:latin typeface="Arial"/>
                <a:cs typeface="Arial"/>
              </a:rPr>
              <a:t> </a:t>
            </a:r>
            <a:r>
              <a:rPr sz="1950" spc="130" dirty="0">
                <a:solidFill>
                  <a:srgbClr val="231F20"/>
                </a:solidFill>
                <a:latin typeface="Arial"/>
                <a:cs typeface="Arial"/>
              </a:rPr>
              <a:t>lemmas</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30" dirty="0">
                <a:solidFill>
                  <a:srgbClr val="231F20"/>
                </a:solidFill>
                <a:latin typeface="Arial"/>
                <a:cs typeface="Arial"/>
              </a:rPr>
              <a:t>Suggesting</a:t>
            </a:r>
            <a:r>
              <a:rPr sz="1950" spc="195" dirty="0">
                <a:solidFill>
                  <a:srgbClr val="231F20"/>
                </a:solidFill>
                <a:latin typeface="Arial"/>
                <a:cs typeface="Arial"/>
              </a:rPr>
              <a:t> </a:t>
            </a:r>
            <a:r>
              <a:rPr sz="1950" spc="95" dirty="0">
                <a:solidFill>
                  <a:srgbClr val="231F20"/>
                </a:solidFill>
                <a:latin typeface="Arial"/>
                <a:cs typeface="Arial"/>
              </a:rPr>
              <a:t>case-splits</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20" dirty="0">
                <a:solidFill>
                  <a:srgbClr val="231F20"/>
                </a:solidFill>
                <a:latin typeface="Arial"/>
                <a:cs typeface="Arial"/>
              </a:rPr>
              <a:t>Recovering </a:t>
            </a:r>
            <a:r>
              <a:rPr sz="1950" spc="140" dirty="0">
                <a:solidFill>
                  <a:srgbClr val="231F20"/>
                </a:solidFill>
                <a:latin typeface="Arial"/>
                <a:cs typeface="Arial"/>
              </a:rPr>
              <a:t>when </a:t>
            </a:r>
            <a:r>
              <a:rPr sz="1950" spc="190" dirty="0">
                <a:solidFill>
                  <a:srgbClr val="231F20"/>
                </a:solidFill>
                <a:latin typeface="Arial"/>
                <a:cs typeface="Arial"/>
              </a:rPr>
              <a:t>automation</a:t>
            </a:r>
            <a:r>
              <a:rPr sz="1950" spc="540" dirty="0">
                <a:solidFill>
                  <a:srgbClr val="231F20"/>
                </a:solidFill>
                <a:latin typeface="Arial"/>
                <a:cs typeface="Arial"/>
              </a:rPr>
              <a:t> </a:t>
            </a:r>
            <a:r>
              <a:rPr sz="1950" spc="100" dirty="0">
                <a:solidFill>
                  <a:srgbClr val="231F20"/>
                </a:solidFill>
                <a:latin typeface="Arial"/>
                <a:cs typeface="Arial"/>
              </a:rPr>
              <a:t>fails</a:t>
            </a:r>
            <a:endParaRPr sz="1950">
              <a:latin typeface="Arial"/>
              <a:cs typeface="Arial"/>
            </a:endParaRPr>
          </a:p>
          <a:p>
            <a:pPr marL="300990" marR="5080" indent="-288290">
              <a:lnSpc>
                <a:spcPct val="125000"/>
              </a:lnSpc>
              <a:spcBef>
                <a:spcPts val="1035"/>
              </a:spcBef>
              <a:buClr>
                <a:srgbClr val="231F20"/>
              </a:buClr>
              <a:buSzPct val="105128"/>
              <a:buFont typeface="Lucida Sans Unicode"/>
              <a:buChar char="•"/>
              <a:tabLst>
                <a:tab pos="301625" algn="l"/>
              </a:tabLst>
            </a:pPr>
            <a:r>
              <a:rPr sz="1950" spc="210" dirty="0">
                <a:solidFill>
                  <a:srgbClr val="0000FF"/>
                </a:solidFill>
                <a:latin typeface="Arial"/>
                <a:cs typeface="Arial"/>
              </a:rPr>
              <a:t>Automation </a:t>
            </a:r>
            <a:r>
              <a:rPr sz="1950" spc="110" dirty="0">
                <a:solidFill>
                  <a:srgbClr val="0000FF"/>
                </a:solidFill>
                <a:latin typeface="Arial"/>
                <a:cs typeface="Arial"/>
              </a:rPr>
              <a:t>takes </a:t>
            </a:r>
            <a:r>
              <a:rPr sz="1950" spc="80" dirty="0">
                <a:solidFill>
                  <a:srgbClr val="0000FF"/>
                </a:solidFill>
                <a:latin typeface="Arial"/>
                <a:cs typeface="Arial"/>
              </a:rPr>
              <a:t>care </a:t>
            </a:r>
            <a:r>
              <a:rPr sz="1950" spc="185" dirty="0">
                <a:solidFill>
                  <a:srgbClr val="0000FF"/>
                </a:solidFill>
                <a:latin typeface="Arial"/>
                <a:cs typeface="Arial"/>
              </a:rPr>
              <a:t>of </a:t>
            </a:r>
            <a:r>
              <a:rPr sz="1950" spc="175" dirty="0">
                <a:solidFill>
                  <a:srgbClr val="0000FF"/>
                </a:solidFill>
                <a:latin typeface="Arial"/>
                <a:cs typeface="Arial"/>
              </a:rPr>
              <a:t>the </a:t>
            </a:r>
            <a:r>
              <a:rPr sz="1950" spc="114" dirty="0">
                <a:solidFill>
                  <a:srgbClr val="0000FF"/>
                </a:solidFill>
                <a:latin typeface="Arial"/>
                <a:cs typeface="Arial"/>
              </a:rPr>
              <a:t>details, </a:t>
            </a:r>
            <a:r>
              <a:rPr sz="1950" spc="185" dirty="0">
                <a:solidFill>
                  <a:srgbClr val="0000FF"/>
                </a:solidFill>
                <a:latin typeface="Arial"/>
                <a:cs typeface="Arial"/>
              </a:rPr>
              <a:t>through </a:t>
            </a:r>
            <a:r>
              <a:rPr sz="1950" spc="85" dirty="0">
                <a:solidFill>
                  <a:srgbClr val="0000FF"/>
                </a:solidFill>
                <a:latin typeface="Arial"/>
                <a:cs typeface="Arial"/>
              </a:rPr>
              <a:t>a </a:t>
            </a:r>
            <a:r>
              <a:rPr sz="1950" spc="114" dirty="0">
                <a:solidFill>
                  <a:srgbClr val="0000FF"/>
                </a:solidFill>
                <a:latin typeface="Arial"/>
                <a:cs typeface="Arial"/>
              </a:rPr>
              <a:t>hierarchy </a:t>
            </a:r>
            <a:r>
              <a:rPr sz="1950" spc="185" dirty="0">
                <a:solidFill>
                  <a:srgbClr val="0000FF"/>
                </a:solidFill>
                <a:latin typeface="Arial"/>
                <a:cs typeface="Arial"/>
              </a:rPr>
              <a:t>of  </a:t>
            </a:r>
            <a:r>
              <a:rPr sz="1950" spc="120" dirty="0">
                <a:solidFill>
                  <a:srgbClr val="0000FF"/>
                </a:solidFill>
                <a:latin typeface="Arial"/>
                <a:cs typeface="Arial"/>
              </a:rPr>
              <a:t>techniques</a:t>
            </a:r>
            <a:endParaRPr sz="1950">
              <a:latin typeface="Arial"/>
              <a:cs typeface="Arial"/>
            </a:endParaRPr>
          </a:p>
          <a:p>
            <a:pPr marL="741680" indent="-401955">
              <a:lnSpc>
                <a:spcPct val="100000"/>
              </a:lnSpc>
              <a:spcBef>
                <a:spcPts val="1000"/>
              </a:spcBef>
              <a:buAutoNum type="arabicPeriod"/>
              <a:tabLst>
                <a:tab pos="742315" algn="l"/>
              </a:tabLst>
            </a:pPr>
            <a:r>
              <a:rPr sz="1950" spc="120" dirty="0">
                <a:solidFill>
                  <a:srgbClr val="231F20"/>
                </a:solidFill>
                <a:latin typeface="Arial"/>
                <a:cs typeface="Arial"/>
              </a:rPr>
              <a:t>Decision</a:t>
            </a:r>
            <a:r>
              <a:rPr sz="1950" spc="254" dirty="0">
                <a:solidFill>
                  <a:srgbClr val="231F20"/>
                </a:solidFill>
                <a:latin typeface="Arial"/>
                <a:cs typeface="Arial"/>
              </a:rPr>
              <a:t> </a:t>
            </a:r>
            <a:r>
              <a:rPr sz="1950" spc="105" dirty="0">
                <a:solidFill>
                  <a:srgbClr val="231F20"/>
                </a:solidFill>
                <a:latin typeface="Arial"/>
                <a:cs typeface="Arial"/>
              </a:rPr>
              <a:t>procedures</a:t>
            </a:r>
            <a:endParaRPr sz="1950">
              <a:latin typeface="Arial"/>
              <a:cs typeface="Arial"/>
            </a:endParaRPr>
          </a:p>
          <a:p>
            <a:pPr marL="741680" indent="-401955">
              <a:lnSpc>
                <a:spcPct val="100000"/>
              </a:lnSpc>
              <a:spcBef>
                <a:spcPts val="790"/>
              </a:spcBef>
              <a:buAutoNum type="arabicPeriod"/>
              <a:tabLst>
                <a:tab pos="742315" algn="l"/>
              </a:tabLst>
            </a:pPr>
            <a:r>
              <a:rPr sz="1950" spc="165" dirty="0">
                <a:solidFill>
                  <a:srgbClr val="231F20"/>
                </a:solidFill>
                <a:latin typeface="Arial"/>
                <a:cs typeface="Arial"/>
              </a:rPr>
              <a:t>Rewriting </a:t>
            </a:r>
            <a:r>
              <a:rPr sz="1950" spc="175" dirty="0">
                <a:solidFill>
                  <a:srgbClr val="231F20"/>
                </a:solidFill>
                <a:latin typeface="Arial"/>
                <a:cs typeface="Arial"/>
              </a:rPr>
              <a:t>(automates </a:t>
            </a:r>
            <a:r>
              <a:rPr sz="1950" spc="145" dirty="0">
                <a:solidFill>
                  <a:srgbClr val="231F20"/>
                </a:solidFill>
                <a:latin typeface="Arial"/>
                <a:cs typeface="Arial"/>
              </a:rPr>
              <a:t>application </a:t>
            </a:r>
            <a:r>
              <a:rPr sz="1950" spc="185" dirty="0">
                <a:solidFill>
                  <a:srgbClr val="231F20"/>
                </a:solidFill>
                <a:latin typeface="Arial"/>
                <a:cs typeface="Arial"/>
              </a:rPr>
              <a:t>of</a:t>
            </a:r>
            <a:r>
              <a:rPr sz="1950" spc="660" dirty="0">
                <a:solidFill>
                  <a:srgbClr val="231F20"/>
                </a:solidFill>
                <a:latin typeface="Arial"/>
                <a:cs typeface="Arial"/>
              </a:rPr>
              <a:t> </a:t>
            </a:r>
            <a:r>
              <a:rPr sz="1950" spc="155" dirty="0">
                <a:solidFill>
                  <a:srgbClr val="231F20"/>
                </a:solidFill>
                <a:latin typeface="Arial"/>
                <a:cs typeface="Arial"/>
              </a:rPr>
              <a:t>lemmas)</a:t>
            </a:r>
            <a:endParaRPr sz="1950">
              <a:latin typeface="Arial"/>
              <a:cs typeface="Arial"/>
            </a:endParaRPr>
          </a:p>
          <a:p>
            <a:pPr marL="741680" indent="-401955">
              <a:lnSpc>
                <a:spcPct val="100000"/>
              </a:lnSpc>
              <a:spcBef>
                <a:spcPts val="790"/>
              </a:spcBef>
              <a:buAutoNum type="arabicPeriod"/>
              <a:tabLst>
                <a:tab pos="742315" algn="l"/>
              </a:tabLst>
            </a:pPr>
            <a:r>
              <a:rPr sz="1950" spc="114" dirty="0">
                <a:solidFill>
                  <a:srgbClr val="231F20"/>
                </a:solidFill>
                <a:latin typeface="Arial"/>
                <a:cs typeface="Arial"/>
              </a:rPr>
              <a:t>Heuristics </a:t>
            </a:r>
            <a:r>
              <a:rPr sz="1950" spc="95" dirty="0">
                <a:solidFill>
                  <a:srgbClr val="231F20"/>
                </a:solidFill>
                <a:latin typeface="Arial"/>
                <a:cs typeface="Arial"/>
              </a:rPr>
              <a:t>(guess </a:t>
            </a:r>
            <a:r>
              <a:rPr sz="1950" spc="215" dirty="0">
                <a:solidFill>
                  <a:srgbClr val="231F20"/>
                </a:solidFill>
                <a:latin typeface="Arial"/>
                <a:cs typeface="Arial"/>
              </a:rPr>
              <a:t>at </a:t>
            </a:r>
            <a:r>
              <a:rPr sz="1950" spc="100" dirty="0">
                <a:solidFill>
                  <a:srgbClr val="231F20"/>
                </a:solidFill>
                <a:latin typeface="Arial"/>
                <a:cs typeface="Arial"/>
              </a:rPr>
              <a:t>case-splits,</a:t>
            </a:r>
            <a:r>
              <a:rPr sz="1950" spc="730" dirty="0">
                <a:solidFill>
                  <a:srgbClr val="231F20"/>
                </a:solidFill>
                <a:latin typeface="Arial"/>
                <a:cs typeface="Arial"/>
              </a:rPr>
              <a:t> </a:t>
            </a:r>
            <a:r>
              <a:rPr sz="1950" spc="160" dirty="0">
                <a:solidFill>
                  <a:srgbClr val="231F20"/>
                </a:solidFill>
                <a:latin typeface="Arial"/>
                <a:cs typeface="Arial"/>
              </a:rPr>
              <a:t>instantiations)</a:t>
            </a:r>
            <a:endParaRPr sz="1950">
              <a:latin typeface="Arial"/>
              <a:cs typeface="Arial"/>
            </a:endParaRPr>
          </a:p>
          <a:p>
            <a:pPr marL="741680" indent="-401955">
              <a:lnSpc>
                <a:spcPct val="100000"/>
              </a:lnSpc>
              <a:spcBef>
                <a:spcPts val="790"/>
              </a:spcBef>
              <a:buAutoNum type="arabicPeriod"/>
              <a:tabLst>
                <a:tab pos="742315" algn="l"/>
              </a:tabLst>
            </a:pPr>
            <a:r>
              <a:rPr sz="1950" spc="100" dirty="0">
                <a:solidFill>
                  <a:srgbClr val="231F20"/>
                </a:solidFill>
                <a:latin typeface="Arial"/>
                <a:cs typeface="Arial"/>
              </a:rPr>
              <a:t>User-supplied </a:t>
            </a:r>
            <a:r>
              <a:rPr sz="1950" spc="120" dirty="0">
                <a:solidFill>
                  <a:srgbClr val="231F20"/>
                </a:solidFill>
                <a:latin typeface="Arial"/>
                <a:cs typeface="Arial"/>
              </a:rPr>
              <a:t>strategies </a:t>
            </a:r>
            <a:r>
              <a:rPr sz="1950" spc="195" dirty="0">
                <a:solidFill>
                  <a:srgbClr val="231F20"/>
                </a:solidFill>
                <a:latin typeface="Arial"/>
                <a:cs typeface="Arial"/>
              </a:rPr>
              <a:t>(cf. </a:t>
            </a:r>
            <a:r>
              <a:rPr sz="1950" spc="160" dirty="0">
                <a:solidFill>
                  <a:srgbClr val="231F20"/>
                </a:solidFill>
                <a:latin typeface="Arial"/>
                <a:cs typeface="Arial"/>
              </a:rPr>
              <a:t>tactics </a:t>
            </a:r>
            <a:r>
              <a:rPr sz="1950" spc="130" dirty="0">
                <a:solidFill>
                  <a:srgbClr val="231F20"/>
                </a:solidFill>
                <a:latin typeface="Arial"/>
                <a:cs typeface="Arial"/>
              </a:rPr>
              <a:t>in </a:t>
            </a:r>
            <a:r>
              <a:rPr sz="1950" spc="165" dirty="0">
                <a:solidFill>
                  <a:srgbClr val="231F20"/>
                </a:solidFill>
                <a:latin typeface="Arial"/>
                <a:cs typeface="Arial"/>
              </a:rPr>
              <a:t> </a:t>
            </a:r>
            <a:r>
              <a:rPr sz="1950" spc="305" dirty="0">
                <a:solidFill>
                  <a:srgbClr val="231F20"/>
                </a:solidFill>
                <a:latin typeface="Arial"/>
                <a:cs typeface="Arial"/>
              </a:rPr>
              <a:t>HOL)</a:t>
            </a:r>
            <a:endParaRPr sz="1950">
              <a:latin typeface="Arial"/>
              <a:cs typeface="Arial"/>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75981"/>
            <a:ext cx="5579745" cy="832485"/>
          </a:xfrm>
          <a:prstGeom prst="rect">
            <a:avLst/>
          </a:prstGeom>
        </p:spPr>
        <p:txBody>
          <a:bodyPr vert="horz" wrap="square" lIns="0" tIns="0" rIns="0" bIns="0" rtlCol="0">
            <a:spAutoFit/>
          </a:bodyPr>
          <a:lstStyle/>
          <a:p>
            <a:pPr marL="2688590">
              <a:lnSpc>
                <a:spcPct val="100000"/>
              </a:lnSpc>
            </a:pPr>
            <a:r>
              <a:rPr sz="1950" spc="229" dirty="0">
                <a:solidFill>
                  <a:srgbClr val="231F20"/>
                </a:solidFill>
                <a:latin typeface="Arial"/>
                <a:cs typeface="Arial"/>
              </a:rPr>
              <a:t>Decision</a:t>
            </a:r>
            <a:r>
              <a:rPr sz="1950" spc="295" dirty="0">
                <a:solidFill>
                  <a:srgbClr val="231F20"/>
                </a:solidFill>
                <a:latin typeface="Arial"/>
                <a:cs typeface="Arial"/>
              </a:rPr>
              <a:t> </a:t>
            </a:r>
            <a:r>
              <a:rPr sz="1950" spc="240" dirty="0">
                <a:solidFill>
                  <a:srgbClr val="231F20"/>
                </a:solidFill>
                <a:latin typeface="Arial"/>
                <a:cs typeface="Arial"/>
              </a:rPr>
              <a:t>Procedures</a:t>
            </a:r>
            <a:endParaRPr sz="1950">
              <a:latin typeface="Arial"/>
              <a:cs typeface="Arial"/>
            </a:endParaRPr>
          </a:p>
          <a:p>
            <a:pPr marL="12700">
              <a:lnSpc>
                <a:spcPct val="100000"/>
              </a:lnSpc>
              <a:spcBef>
                <a:spcPts val="1735"/>
              </a:spcBef>
            </a:pPr>
            <a:r>
              <a:rPr sz="1950" spc="190" dirty="0">
                <a:solidFill>
                  <a:srgbClr val="231F20"/>
                </a:solidFill>
                <a:latin typeface="Arial"/>
                <a:cs typeface="Arial"/>
              </a:rPr>
              <a:t>Many </a:t>
            </a:r>
            <a:r>
              <a:rPr sz="1950" spc="200" dirty="0">
                <a:solidFill>
                  <a:srgbClr val="231F20"/>
                </a:solidFill>
                <a:latin typeface="Arial"/>
                <a:cs typeface="Arial"/>
              </a:rPr>
              <a:t>important </a:t>
            </a:r>
            <a:r>
              <a:rPr sz="1950" spc="110" dirty="0">
                <a:solidFill>
                  <a:srgbClr val="231F20"/>
                </a:solidFill>
                <a:latin typeface="Arial"/>
                <a:cs typeface="Arial"/>
              </a:rPr>
              <a:t>theories </a:t>
            </a:r>
            <a:r>
              <a:rPr sz="1950" spc="65" dirty="0">
                <a:solidFill>
                  <a:srgbClr val="231F20"/>
                </a:solidFill>
                <a:latin typeface="Arial"/>
                <a:cs typeface="Arial"/>
              </a:rPr>
              <a:t>are</a:t>
            </a:r>
            <a:r>
              <a:rPr sz="1950" spc="625" dirty="0">
                <a:solidFill>
                  <a:srgbClr val="231F20"/>
                </a:solidFill>
                <a:latin typeface="Arial"/>
                <a:cs typeface="Arial"/>
              </a:rPr>
              <a:t> </a:t>
            </a:r>
            <a:r>
              <a:rPr sz="1950" spc="100" dirty="0">
                <a:solidFill>
                  <a:srgbClr val="FF0000"/>
                </a:solidFill>
                <a:latin typeface="Arial"/>
                <a:cs typeface="Arial"/>
              </a:rPr>
              <a:t>decidable</a:t>
            </a:r>
            <a:endParaRPr sz="1950">
              <a:latin typeface="Arial"/>
              <a:cs typeface="Arial"/>
            </a:endParaRPr>
          </a:p>
        </p:txBody>
      </p:sp>
      <p:sp>
        <p:nvSpPr>
          <p:cNvPr id="3" name="object 3"/>
          <p:cNvSpPr txBox="1"/>
          <p:nvPr/>
        </p:nvSpPr>
        <p:spPr>
          <a:xfrm>
            <a:off x="3959910" y="3407270"/>
            <a:ext cx="299720" cy="223520"/>
          </a:xfrm>
          <a:prstGeom prst="rect">
            <a:avLst/>
          </a:prstGeom>
        </p:spPr>
        <p:txBody>
          <a:bodyPr vert="horz" wrap="square" lIns="0" tIns="0" rIns="0" bIns="0" rtlCol="0">
            <a:spAutoFit/>
          </a:bodyPr>
          <a:lstStyle/>
          <a:p>
            <a:pPr marL="12700">
              <a:lnSpc>
                <a:spcPct val="100000"/>
              </a:lnSpc>
            </a:pPr>
            <a:r>
              <a:rPr sz="1450" spc="190" dirty="0">
                <a:solidFill>
                  <a:srgbClr val="231F20"/>
                </a:solidFill>
                <a:latin typeface="PMingLiU"/>
                <a:cs typeface="PMingLiU"/>
              </a:rPr>
              <a:t>d</a:t>
            </a:r>
            <a:r>
              <a:rPr sz="1450" spc="165" dirty="0">
                <a:solidFill>
                  <a:srgbClr val="231F20"/>
                </a:solidFill>
                <a:latin typeface="PMingLiU"/>
                <a:cs typeface="PMingLiU"/>
              </a:rPr>
              <a:t>e</a:t>
            </a:r>
            <a:r>
              <a:rPr sz="1450" spc="55" dirty="0">
                <a:solidFill>
                  <a:srgbClr val="231F20"/>
                </a:solidFill>
                <a:latin typeface="PMingLiU"/>
                <a:cs typeface="PMingLiU"/>
              </a:rPr>
              <a:t>f</a:t>
            </a:r>
            <a:endParaRPr sz="1450">
              <a:latin typeface="PMingLiU"/>
              <a:cs typeface="PMingLiU"/>
            </a:endParaRPr>
          </a:p>
        </p:txBody>
      </p:sp>
      <p:sp>
        <p:nvSpPr>
          <p:cNvPr id="4" name="object 4"/>
          <p:cNvSpPr txBox="1"/>
          <p:nvPr/>
        </p:nvSpPr>
        <p:spPr>
          <a:xfrm>
            <a:off x="896439" y="1511655"/>
            <a:ext cx="6804659" cy="3107690"/>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55" dirty="0">
                <a:solidFill>
                  <a:srgbClr val="231F20"/>
                </a:solidFill>
                <a:latin typeface="Arial"/>
                <a:cs typeface="Arial"/>
              </a:rPr>
              <a:t>Propositional</a:t>
            </a:r>
            <a:r>
              <a:rPr sz="1950" spc="190" dirty="0">
                <a:solidFill>
                  <a:srgbClr val="231F20"/>
                </a:solidFill>
                <a:latin typeface="Arial"/>
                <a:cs typeface="Arial"/>
              </a:rPr>
              <a:t> </a:t>
            </a:r>
            <a:r>
              <a:rPr sz="1950" spc="105" dirty="0">
                <a:solidFill>
                  <a:srgbClr val="231F20"/>
                </a:solidFill>
                <a:latin typeface="Arial"/>
                <a:cs typeface="Arial"/>
              </a:rPr>
              <a:t>calculus</a:t>
            </a:r>
            <a:endParaRPr sz="1950">
              <a:latin typeface="Arial"/>
              <a:cs typeface="Arial"/>
            </a:endParaRPr>
          </a:p>
          <a:p>
            <a:pPr marL="615950">
              <a:lnSpc>
                <a:spcPct val="100000"/>
              </a:lnSpc>
              <a:spcBef>
                <a:spcPts val="484"/>
              </a:spcBef>
            </a:pPr>
            <a:r>
              <a:rPr sz="2050" spc="-40" dirty="0">
                <a:solidFill>
                  <a:srgbClr val="231F20"/>
                </a:solidFill>
                <a:latin typeface="Tahoma"/>
                <a:cs typeface="Tahoma"/>
              </a:rPr>
              <a:t>(</a:t>
            </a:r>
            <a:r>
              <a:rPr sz="2050" i="1" spc="-40" dirty="0">
                <a:solidFill>
                  <a:srgbClr val="231F20"/>
                </a:solidFill>
                <a:latin typeface="Meiryo"/>
                <a:cs typeface="Meiryo"/>
              </a:rPr>
              <a:t>a </a:t>
            </a:r>
            <a:r>
              <a:rPr sz="2050" spc="-254" dirty="0">
                <a:solidFill>
                  <a:srgbClr val="231F20"/>
                </a:solidFill>
                <a:latin typeface="Lucida Sans Unicode"/>
                <a:cs typeface="Lucida Sans Unicode"/>
              </a:rPr>
              <a:t>∧ </a:t>
            </a:r>
            <a:r>
              <a:rPr sz="2050" i="1" spc="-170" dirty="0">
                <a:solidFill>
                  <a:srgbClr val="231F20"/>
                </a:solidFill>
                <a:latin typeface="Meiryo"/>
                <a:cs typeface="Meiryo"/>
              </a:rPr>
              <a:t>b</a:t>
            </a:r>
            <a:r>
              <a:rPr sz="2050" spc="-170" dirty="0">
                <a:solidFill>
                  <a:srgbClr val="231F20"/>
                </a:solidFill>
                <a:latin typeface="Tahoma"/>
                <a:cs typeface="Tahoma"/>
              </a:rPr>
              <a:t>) </a:t>
            </a:r>
            <a:r>
              <a:rPr sz="2050" spc="-254" dirty="0">
                <a:solidFill>
                  <a:srgbClr val="231F20"/>
                </a:solidFill>
                <a:latin typeface="Lucida Sans Unicode"/>
                <a:cs typeface="Lucida Sans Unicode"/>
              </a:rPr>
              <a:t>∨ </a:t>
            </a:r>
            <a:r>
              <a:rPr sz="2050" spc="-175" dirty="0">
                <a:solidFill>
                  <a:srgbClr val="231F20"/>
                </a:solidFill>
                <a:latin typeface="Lucida Sans Unicode"/>
                <a:cs typeface="Lucida Sans Unicode"/>
              </a:rPr>
              <a:t>¬</a:t>
            </a:r>
            <a:r>
              <a:rPr sz="2050" i="1" spc="-175" dirty="0">
                <a:solidFill>
                  <a:srgbClr val="231F20"/>
                </a:solidFill>
                <a:latin typeface="Meiryo"/>
                <a:cs typeface="Meiryo"/>
              </a:rPr>
              <a:t>a </a:t>
            </a:r>
            <a:r>
              <a:rPr sz="2050" spc="114" dirty="0">
                <a:solidFill>
                  <a:srgbClr val="231F20"/>
                </a:solidFill>
                <a:latin typeface="Tahoma"/>
                <a:cs typeface="Tahoma"/>
              </a:rPr>
              <a:t>= </a:t>
            </a:r>
            <a:r>
              <a:rPr sz="2050" i="1" spc="-95" dirty="0">
                <a:solidFill>
                  <a:srgbClr val="231F20"/>
                </a:solidFill>
                <a:latin typeface="Meiryo"/>
                <a:cs typeface="Meiryo"/>
              </a:rPr>
              <a:t>a </a:t>
            </a:r>
            <a:r>
              <a:rPr sz="2050" spc="-25" dirty="0">
                <a:solidFill>
                  <a:srgbClr val="231F20"/>
                </a:solidFill>
                <a:latin typeface="Lucida Sans Unicode"/>
                <a:cs typeface="Lucida Sans Unicode"/>
              </a:rPr>
              <a:t>⊃</a:t>
            </a:r>
            <a:r>
              <a:rPr sz="2050" spc="-400" dirty="0">
                <a:solidFill>
                  <a:srgbClr val="231F20"/>
                </a:solidFill>
                <a:latin typeface="Lucida Sans Unicode"/>
                <a:cs typeface="Lucida Sans Unicode"/>
              </a:rPr>
              <a:t> </a:t>
            </a:r>
            <a:r>
              <a:rPr sz="2050" i="1" spc="-360" dirty="0">
                <a:solidFill>
                  <a:srgbClr val="231F20"/>
                </a:solidFill>
                <a:latin typeface="Meiryo"/>
                <a:cs typeface="Meiryo"/>
              </a:rPr>
              <a:t>b</a:t>
            </a:r>
            <a:endParaRPr sz="2050">
              <a:latin typeface="Meiryo"/>
              <a:cs typeface="Meiryo"/>
            </a:endParaRPr>
          </a:p>
          <a:p>
            <a:pPr marL="300990" indent="-288290">
              <a:lnSpc>
                <a:spcPct val="100000"/>
              </a:lnSpc>
              <a:spcBef>
                <a:spcPts val="1015"/>
              </a:spcBef>
              <a:buSzPct val="105128"/>
              <a:buFont typeface="Lucida Sans Unicode"/>
              <a:buChar char="•"/>
              <a:tabLst>
                <a:tab pos="301625" algn="l"/>
              </a:tabLst>
            </a:pPr>
            <a:r>
              <a:rPr sz="1950" spc="155" dirty="0">
                <a:solidFill>
                  <a:srgbClr val="231F20"/>
                </a:solidFill>
                <a:latin typeface="Arial"/>
                <a:cs typeface="Arial"/>
              </a:rPr>
              <a:t>Equality </a:t>
            </a:r>
            <a:r>
              <a:rPr sz="1950" spc="215" dirty="0">
                <a:solidFill>
                  <a:srgbClr val="231F20"/>
                </a:solidFill>
                <a:latin typeface="Arial"/>
                <a:cs typeface="Arial"/>
              </a:rPr>
              <a:t>with </a:t>
            </a:r>
            <a:r>
              <a:rPr sz="1950" spc="145" dirty="0">
                <a:solidFill>
                  <a:srgbClr val="231F20"/>
                </a:solidFill>
                <a:latin typeface="Arial"/>
                <a:cs typeface="Arial"/>
              </a:rPr>
              <a:t>uninterpreted </a:t>
            </a:r>
            <a:r>
              <a:rPr sz="1950" spc="175" dirty="0">
                <a:solidFill>
                  <a:srgbClr val="231F20"/>
                </a:solidFill>
                <a:latin typeface="Arial"/>
                <a:cs typeface="Arial"/>
              </a:rPr>
              <a:t>function</a:t>
            </a:r>
            <a:r>
              <a:rPr sz="1950" spc="625" dirty="0">
                <a:solidFill>
                  <a:srgbClr val="231F20"/>
                </a:solidFill>
                <a:latin typeface="Arial"/>
                <a:cs typeface="Arial"/>
              </a:rPr>
              <a:t> </a:t>
            </a:r>
            <a:r>
              <a:rPr sz="1950" spc="120" dirty="0">
                <a:solidFill>
                  <a:srgbClr val="231F20"/>
                </a:solidFill>
                <a:latin typeface="Arial"/>
                <a:cs typeface="Arial"/>
              </a:rPr>
              <a:t>symbols</a:t>
            </a:r>
            <a:endParaRPr sz="1950">
              <a:latin typeface="Arial"/>
              <a:cs typeface="Arial"/>
            </a:endParaRPr>
          </a:p>
          <a:p>
            <a:pPr marL="615950">
              <a:lnSpc>
                <a:spcPct val="100000"/>
              </a:lnSpc>
              <a:spcBef>
                <a:spcPts val="484"/>
              </a:spcBef>
            </a:pPr>
            <a:r>
              <a:rPr sz="2050" i="1" spc="50" dirty="0">
                <a:solidFill>
                  <a:srgbClr val="231F20"/>
                </a:solidFill>
                <a:latin typeface="Meiryo"/>
                <a:cs typeface="Meiryo"/>
              </a:rPr>
              <a:t>x</a:t>
            </a:r>
            <a:r>
              <a:rPr sz="2050" i="1" spc="-130" dirty="0">
                <a:solidFill>
                  <a:srgbClr val="231F20"/>
                </a:solidFill>
                <a:latin typeface="Meiryo"/>
                <a:cs typeface="Meiryo"/>
              </a:rPr>
              <a:t> </a:t>
            </a:r>
            <a:r>
              <a:rPr sz="2050" spc="114" dirty="0">
                <a:solidFill>
                  <a:srgbClr val="231F20"/>
                </a:solidFill>
                <a:latin typeface="Tahoma"/>
                <a:cs typeface="Tahoma"/>
              </a:rPr>
              <a:t>=</a:t>
            </a:r>
            <a:r>
              <a:rPr sz="2050" spc="-75" dirty="0">
                <a:solidFill>
                  <a:srgbClr val="231F20"/>
                </a:solidFill>
                <a:latin typeface="Tahoma"/>
                <a:cs typeface="Tahoma"/>
              </a:rPr>
              <a:t> </a:t>
            </a:r>
            <a:r>
              <a:rPr sz="2050" i="1" spc="-145" dirty="0">
                <a:solidFill>
                  <a:srgbClr val="231F20"/>
                </a:solidFill>
                <a:latin typeface="Meiryo"/>
                <a:cs typeface="Meiryo"/>
              </a:rPr>
              <a:t>y</a:t>
            </a:r>
            <a:r>
              <a:rPr sz="2050" i="1" spc="-170" dirty="0">
                <a:solidFill>
                  <a:srgbClr val="231F20"/>
                </a:solidFill>
                <a:latin typeface="Meiryo"/>
                <a:cs typeface="Meiryo"/>
              </a:rPr>
              <a:t> </a:t>
            </a:r>
            <a:r>
              <a:rPr sz="2050" spc="-254"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i="1" spc="320" dirty="0">
                <a:solidFill>
                  <a:srgbClr val="231F20"/>
                </a:solidFill>
                <a:latin typeface="Meiryo"/>
                <a:cs typeface="Meiryo"/>
              </a:rPr>
              <a:t>f</a:t>
            </a:r>
            <a:r>
              <a:rPr sz="2050" i="1" spc="-484" dirty="0">
                <a:solidFill>
                  <a:srgbClr val="231F20"/>
                </a:solidFill>
                <a:latin typeface="Meiryo"/>
                <a:cs typeface="Meiryo"/>
              </a:rPr>
              <a:t> </a:t>
            </a:r>
            <a:r>
              <a:rPr sz="2050" spc="170" dirty="0">
                <a:solidFill>
                  <a:srgbClr val="231F20"/>
                </a:solidFill>
                <a:latin typeface="Tahoma"/>
                <a:cs typeface="Tahoma"/>
              </a:rPr>
              <a:t>(</a:t>
            </a:r>
            <a:r>
              <a:rPr sz="2050" i="1" spc="170" dirty="0">
                <a:solidFill>
                  <a:srgbClr val="231F20"/>
                </a:solidFill>
                <a:latin typeface="Meiryo"/>
                <a:cs typeface="Meiryo"/>
              </a:rPr>
              <a:t>f</a:t>
            </a:r>
            <a:r>
              <a:rPr sz="2050" i="1" spc="-484" dirty="0">
                <a:solidFill>
                  <a:srgbClr val="231F20"/>
                </a:solidFill>
                <a:latin typeface="Meiryo"/>
                <a:cs typeface="Meiryo"/>
              </a:rPr>
              <a:t> </a:t>
            </a:r>
            <a:r>
              <a:rPr sz="2050" spc="170" dirty="0">
                <a:solidFill>
                  <a:srgbClr val="231F20"/>
                </a:solidFill>
                <a:latin typeface="Tahoma"/>
                <a:cs typeface="Tahoma"/>
              </a:rPr>
              <a:t>(</a:t>
            </a:r>
            <a:r>
              <a:rPr sz="2050" i="1" spc="170" dirty="0">
                <a:solidFill>
                  <a:srgbClr val="231F20"/>
                </a:solidFill>
                <a:latin typeface="Meiryo"/>
                <a:cs typeface="Meiryo"/>
              </a:rPr>
              <a:t>f</a:t>
            </a:r>
            <a:r>
              <a:rPr sz="2050" i="1" spc="-484" dirty="0">
                <a:solidFill>
                  <a:srgbClr val="231F20"/>
                </a:solidFill>
                <a:latin typeface="Meiryo"/>
                <a:cs typeface="Meiryo"/>
              </a:rPr>
              <a:t> </a:t>
            </a:r>
            <a:r>
              <a:rPr sz="2050" spc="20" dirty="0">
                <a:solidFill>
                  <a:srgbClr val="231F20"/>
                </a:solidFill>
                <a:latin typeface="Tahoma"/>
                <a:cs typeface="Tahoma"/>
              </a:rPr>
              <a:t>(</a:t>
            </a:r>
            <a:r>
              <a:rPr sz="2050" i="1" spc="20" dirty="0">
                <a:solidFill>
                  <a:srgbClr val="231F20"/>
                </a:solidFill>
                <a:latin typeface="Meiryo"/>
                <a:cs typeface="Meiryo"/>
              </a:rPr>
              <a:t>x</a:t>
            </a:r>
            <a:r>
              <a:rPr sz="2050" spc="20" dirty="0">
                <a:solidFill>
                  <a:srgbClr val="231F20"/>
                </a:solidFill>
                <a:latin typeface="Tahoma"/>
                <a:cs typeface="Tahoma"/>
              </a:rPr>
              <a:t>)))</a:t>
            </a:r>
            <a:r>
              <a:rPr sz="2050" spc="-75" dirty="0">
                <a:solidFill>
                  <a:srgbClr val="231F20"/>
                </a:solidFill>
                <a:latin typeface="Tahoma"/>
                <a:cs typeface="Tahoma"/>
              </a:rPr>
              <a:t> </a:t>
            </a:r>
            <a:r>
              <a:rPr sz="2050" spc="114" dirty="0">
                <a:solidFill>
                  <a:srgbClr val="231F20"/>
                </a:solidFill>
                <a:latin typeface="Tahoma"/>
                <a:cs typeface="Tahoma"/>
              </a:rPr>
              <a:t>=</a:t>
            </a:r>
            <a:r>
              <a:rPr sz="2050" spc="-75" dirty="0">
                <a:solidFill>
                  <a:srgbClr val="231F20"/>
                </a:solidFill>
                <a:latin typeface="Tahoma"/>
                <a:cs typeface="Tahoma"/>
              </a:rPr>
              <a:t> </a:t>
            </a:r>
            <a:r>
              <a:rPr sz="2050" i="1" spc="320" dirty="0">
                <a:solidFill>
                  <a:srgbClr val="231F20"/>
                </a:solidFill>
                <a:latin typeface="Meiryo"/>
                <a:cs typeface="Meiryo"/>
              </a:rPr>
              <a:t>f</a:t>
            </a:r>
            <a:r>
              <a:rPr sz="2050" i="1" spc="-484" dirty="0">
                <a:solidFill>
                  <a:srgbClr val="231F20"/>
                </a:solidFill>
                <a:latin typeface="Meiryo"/>
                <a:cs typeface="Meiryo"/>
              </a:rPr>
              <a:t> </a:t>
            </a:r>
            <a:r>
              <a:rPr sz="2050" spc="25" dirty="0">
                <a:solidFill>
                  <a:srgbClr val="231F20"/>
                </a:solidFill>
                <a:latin typeface="Tahoma"/>
                <a:cs typeface="Tahoma"/>
              </a:rPr>
              <a:t>(</a:t>
            </a:r>
            <a:r>
              <a:rPr sz="2050" i="1" spc="25" dirty="0">
                <a:solidFill>
                  <a:srgbClr val="231F20"/>
                </a:solidFill>
                <a:latin typeface="Meiryo"/>
                <a:cs typeface="Meiryo"/>
              </a:rPr>
              <a:t>x</a:t>
            </a:r>
            <a:r>
              <a:rPr sz="2050" spc="25" dirty="0">
                <a:solidFill>
                  <a:srgbClr val="231F20"/>
                </a:solidFill>
                <a:latin typeface="Tahoma"/>
                <a:cs typeface="Tahoma"/>
              </a:rPr>
              <a:t>)</a:t>
            </a:r>
            <a:r>
              <a:rPr sz="2050" spc="-75" dirty="0">
                <a:solidFill>
                  <a:srgbClr val="231F20"/>
                </a:solidFill>
                <a:latin typeface="Tahoma"/>
                <a:cs typeface="Tahoma"/>
              </a:rPr>
              <a:t> </a:t>
            </a:r>
            <a:r>
              <a:rPr sz="2050" spc="-25" dirty="0">
                <a:solidFill>
                  <a:srgbClr val="231F20"/>
                </a:solidFill>
                <a:latin typeface="Lucida Sans Unicode"/>
                <a:cs typeface="Lucida Sans Unicode"/>
              </a:rPr>
              <a:t>⊃</a:t>
            </a:r>
            <a:r>
              <a:rPr sz="2050" spc="-85" dirty="0">
                <a:solidFill>
                  <a:srgbClr val="231F20"/>
                </a:solidFill>
                <a:latin typeface="Lucida Sans Unicode"/>
                <a:cs typeface="Lucida Sans Unicode"/>
              </a:rPr>
              <a:t> </a:t>
            </a:r>
            <a:r>
              <a:rPr sz="2050" i="1" spc="320" dirty="0">
                <a:solidFill>
                  <a:srgbClr val="231F20"/>
                </a:solidFill>
                <a:latin typeface="Meiryo"/>
                <a:cs typeface="Meiryo"/>
              </a:rPr>
              <a:t>f</a:t>
            </a:r>
            <a:r>
              <a:rPr sz="2050" i="1" spc="-484" dirty="0">
                <a:solidFill>
                  <a:srgbClr val="231F20"/>
                </a:solidFill>
                <a:latin typeface="Meiryo"/>
                <a:cs typeface="Meiryo"/>
              </a:rPr>
              <a:t> </a:t>
            </a:r>
            <a:r>
              <a:rPr sz="2050" spc="170" dirty="0">
                <a:solidFill>
                  <a:srgbClr val="231F20"/>
                </a:solidFill>
                <a:latin typeface="Tahoma"/>
                <a:cs typeface="Tahoma"/>
              </a:rPr>
              <a:t>(</a:t>
            </a:r>
            <a:r>
              <a:rPr sz="2050" i="1" spc="170" dirty="0">
                <a:solidFill>
                  <a:srgbClr val="231F20"/>
                </a:solidFill>
                <a:latin typeface="Meiryo"/>
                <a:cs typeface="Meiryo"/>
              </a:rPr>
              <a:t>f</a:t>
            </a:r>
            <a:r>
              <a:rPr sz="2050" i="1" spc="-484" dirty="0">
                <a:solidFill>
                  <a:srgbClr val="231F20"/>
                </a:solidFill>
                <a:latin typeface="Meiryo"/>
                <a:cs typeface="Meiryo"/>
              </a:rPr>
              <a:t> </a:t>
            </a:r>
            <a:r>
              <a:rPr sz="2050" spc="170" dirty="0">
                <a:solidFill>
                  <a:srgbClr val="231F20"/>
                </a:solidFill>
                <a:latin typeface="Tahoma"/>
                <a:cs typeface="Tahoma"/>
              </a:rPr>
              <a:t>(</a:t>
            </a:r>
            <a:r>
              <a:rPr sz="2050" i="1" spc="170" dirty="0">
                <a:solidFill>
                  <a:srgbClr val="231F20"/>
                </a:solidFill>
                <a:latin typeface="Meiryo"/>
                <a:cs typeface="Meiryo"/>
              </a:rPr>
              <a:t>f</a:t>
            </a:r>
            <a:r>
              <a:rPr sz="2050" i="1" spc="-484" dirty="0">
                <a:solidFill>
                  <a:srgbClr val="231F20"/>
                </a:solidFill>
                <a:latin typeface="Meiryo"/>
                <a:cs typeface="Meiryo"/>
              </a:rPr>
              <a:t> </a:t>
            </a:r>
            <a:r>
              <a:rPr sz="2050" spc="170" dirty="0">
                <a:solidFill>
                  <a:srgbClr val="231F20"/>
                </a:solidFill>
                <a:latin typeface="Tahoma"/>
                <a:cs typeface="Tahoma"/>
              </a:rPr>
              <a:t>(</a:t>
            </a:r>
            <a:r>
              <a:rPr sz="2050" i="1" spc="170" dirty="0">
                <a:solidFill>
                  <a:srgbClr val="231F20"/>
                </a:solidFill>
                <a:latin typeface="Meiryo"/>
                <a:cs typeface="Meiryo"/>
              </a:rPr>
              <a:t>f</a:t>
            </a:r>
            <a:r>
              <a:rPr sz="2050" i="1" spc="-484" dirty="0">
                <a:solidFill>
                  <a:srgbClr val="231F20"/>
                </a:solidFill>
                <a:latin typeface="Meiryo"/>
                <a:cs typeface="Meiryo"/>
              </a:rPr>
              <a:t> </a:t>
            </a:r>
            <a:r>
              <a:rPr sz="2050" spc="170" dirty="0">
                <a:solidFill>
                  <a:srgbClr val="231F20"/>
                </a:solidFill>
                <a:latin typeface="Tahoma"/>
                <a:cs typeface="Tahoma"/>
              </a:rPr>
              <a:t>(</a:t>
            </a:r>
            <a:r>
              <a:rPr sz="2050" i="1" spc="170" dirty="0">
                <a:solidFill>
                  <a:srgbClr val="231F20"/>
                </a:solidFill>
                <a:latin typeface="Meiryo"/>
                <a:cs typeface="Meiryo"/>
              </a:rPr>
              <a:t>f</a:t>
            </a:r>
            <a:r>
              <a:rPr sz="2050" i="1" spc="-484" dirty="0">
                <a:solidFill>
                  <a:srgbClr val="231F20"/>
                </a:solidFill>
                <a:latin typeface="Meiryo"/>
                <a:cs typeface="Meiryo"/>
              </a:rPr>
              <a:t> </a:t>
            </a:r>
            <a:r>
              <a:rPr sz="2050" spc="5" dirty="0">
                <a:solidFill>
                  <a:srgbClr val="231F20"/>
                </a:solidFill>
                <a:latin typeface="Tahoma"/>
                <a:cs typeface="Tahoma"/>
              </a:rPr>
              <a:t>(</a:t>
            </a:r>
            <a:r>
              <a:rPr sz="2050" i="1" spc="5" dirty="0">
                <a:solidFill>
                  <a:srgbClr val="231F20"/>
                </a:solidFill>
                <a:latin typeface="Meiryo"/>
                <a:cs typeface="Meiryo"/>
              </a:rPr>
              <a:t>y</a:t>
            </a:r>
            <a:r>
              <a:rPr sz="2050" spc="5" dirty="0">
                <a:solidFill>
                  <a:srgbClr val="231F20"/>
                </a:solidFill>
                <a:latin typeface="Tahoma"/>
                <a:cs typeface="Tahoma"/>
              </a:rPr>
              <a:t>)))))</a:t>
            </a:r>
            <a:r>
              <a:rPr sz="2050" spc="-75" dirty="0">
                <a:solidFill>
                  <a:srgbClr val="231F20"/>
                </a:solidFill>
                <a:latin typeface="Tahoma"/>
                <a:cs typeface="Tahoma"/>
              </a:rPr>
              <a:t> </a:t>
            </a:r>
            <a:r>
              <a:rPr sz="2050" spc="114" dirty="0">
                <a:solidFill>
                  <a:srgbClr val="231F20"/>
                </a:solidFill>
                <a:latin typeface="Tahoma"/>
                <a:cs typeface="Tahoma"/>
              </a:rPr>
              <a:t>=</a:t>
            </a:r>
            <a:r>
              <a:rPr sz="2050" spc="-75" dirty="0">
                <a:solidFill>
                  <a:srgbClr val="231F20"/>
                </a:solidFill>
                <a:latin typeface="Tahoma"/>
                <a:cs typeface="Tahoma"/>
              </a:rPr>
              <a:t> </a:t>
            </a:r>
            <a:r>
              <a:rPr sz="2050" i="1" spc="320" dirty="0">
                <a:solidFill>
                  <a:srgbClr val="231F20"/>
                </a:solidFill>
                <a:latin typeface="Meiryo"/>
                <a:cs typeface="Meiryo"/>
              </a:rPr>
              <a:t>f</a:t>
            </a:r>
            <a:r>
              <a:rPr sz="2050" i="1" spc="-484" dirty="0">
                <a:solidFill>
                  <a:srgbClr val="231F20"/>
                </a:solidFill>
                <a:latin typeface="Meiryo"/>
                <a:cs typeface="Meiryo"/>
              </a:rPr>
              <a:t> </a:t>
            </a:r>
            <a:r>
              <a:rPr sz="2050" spc="25" dirty="0">
                <a:solidFill>
                  <a:srgbClr val="231F20"/>
                </a:solidFill>
                <a:latin typeface="Tahoma"/>
                <a:cs typeface="Tahoma"/>
              </a:rPr>
              <a:t>(</a:t>
            </a:r>
            <a:r>
              <a:rPr sz="2050" i="1" spc="25" dirty="0">
                <a:solidFill>
                  <a:srgbClr val="231F20"/>
                </a:solidFill>
                <a:latin typeface="Meiryo"/>
                <a:cs typeface="Meiryo"/>
              </a:rPr>
              <a:t>x</a:t>
            </a:r>
            <a:r>
              <a:rPr sz="2050" spc="25" dirty="0">
                <a:solidFill>
                  <a:srgbClr val="231F20"/>
                </a:solidFill>
                <a:latin typeface="Tahoma"/>
                <a:cs typeface="Tahoma"/>
              </a:rPr>
              <a:t>)</a:t>
            </a:r>
            <a:endParaRPr sz="2050">
              <a:latin typeface="Tahoma"/>
              <a:cs typeface="Tahoma"/>
            </a:endParaRPr>
          </a:p>
          <a:p>
            <a:pPr marL="300990" indent="-288290">
              <a:lnSpc>
                <a:spcPct val="100000"/>
              </a:lnSpc>
              <a:spcBef>
                <a:spcPts val="1015"/>
              </a:spcBef>
              <a:buSzPct val="105128"/>
              <a:buFont typeface="Lucida Sans Unicode"/>
              <a:buChar char="•"/>
              <a:tabLst>
                <a:tab pos="301625" algn="l"/>
              </a:tabLst>
            </a:pPr>
            <a:r>
              <a:rPr sz="1950" spc="170" dirty="0">
                <a:solidFill>
                  <a:srgbClr val="231F20"/>
                </a:solidFill>
                <a:latin typeface="Arial"/>
                <a:cs typeface="Arial"/>
              </a:rPr>
              <a:t>Function, </a:t>
            </a:r>
            <a:r>
              <a:rPr sz="1950" spc="120" dirty="0">
                <a:solidFill>
                  <a:srgbClr val="231F20"/>
                </a:solidFill>
                <a:latin typeface="Arial"/>
                <a:cs typeface="Arial"/>
              </a:rPr>
              <a:t>record, </a:t>
            </a:r>
            <a:r>
              <a:rPr sz="1950" spc="130" dirty="0">
                <a:solidFill>
                  <a:srgbClr val="231F20"/>
                </a:solidFill>
                <a:latin typeface="Arial"/>
                <a:cs typeface="Arial"/>
              </a:rPr>
              <a:t>and </a:t>
            </a:r>
            <a:r>
              <a:rPr sz="1950" spc="155" dirty="0">
                <a:solidFill>
                  <a:srgbClr val="231F20"/>
                </a:solidFill>
                <a:latin typeface="Arial"/>
                <a:cs typeface="Arial"/>
              </a:rPr>
              <a:t>tuple</a:t>
            </a:r>
            <a:r>
              <a:rPr sz="1950" spc="715" dirty="0">
                <a:solidFill>
                  <a:srgbClr val="231F20"/>
                </a:solidFill>
                <a:latin typeface="Arial"/>
                <a:cs typeface="Arial"/>
              </a:rPr>
              <a:t> </a:t>
            </a:r>
            <a:r>
              <a:rPr sz="1950" spc="135" dirty="0">
                <a:solidFill>
                  <a:srgbClr val="231F20"/>
                </a:solidFill>
                <a:latin typeface="Arial"/>
                <a:cs typeface="Arial"/>
              </a:rPr>
              <a:t>updates</a:t>
            </a:r>
            <a:endParaRPr sz="1950">
              <a:latin typeface="Arial"/>
              <a:cs typeface="Arial"/>
            </a:endParaRPr>
          </a:p>
          <a:p>
            <a:pPr marL="615950">
              <a:lnSpc>
                <a:spcPct val="100000"/>
              </a:lnSpc>
              <a:spcBef>
                <a:spcPts val="545"/>
              </a:spcBef>
              <a:tabLst>
                <a:tab pos="888365" algn="l"/>
              </a:tabLst>
            </a:pPr>
            <a:r>
              <a:rPr sz="2050" i="1" spc="320" dirty="0">
                <a:solidFill>
                  <a:srgbClr val="231F20"/>
                </a:solidFill>
                <a:latin typeface="Meiryo"/>
                <a:cs typeface="Meiryo"/>
              </a:rPr>
              <a:t>f	</a:t>
            </a:r>
            <a:r>
              <a:rPr sz="1950" spc="310" dirty="0">
                <a:solidFill>
                  <a:srgbClr val="231F20"/>
                </a:solidFill>
                <a:latin typeface="Arial"/>
                <a:cs typeface="Arial"/>
              </a:rPr>
              <a:t>with </a:t>
            </a:r>
            <a:r>
              <a:rPr sz="2050" spc="-35" dirty="0">
                <a:solidFill>
                  <a:srgbClr val="231F20"/>
                </a:solidFill>
                <a:latin typeface="Tahoma"/>
                <a:cs typeface="Tahoma"/>
              </a:rPr>
              <a:t>[(</a:t>
            </a:r>
            <a:r>
              <a:rPr sz="2050" i="1" spc="-35" dirty="0">
                <a:solidFill>
                  <a:srgbClr val="231F20"/>
                </a:solidFill>
                <a:latin typeface="Meiryo"/>
                <a:cs typeface="Meiryo"/>
              </a:rPr>
              <a:t>x</a:t>
            </a:r>
            <a:r>
              <a:rPr sz="2050" spc="-35" dirty="0">
                <a:solidFill>
                  <a:srgbClr val="231F20"/>
                </a:solidFill>
                <a:latin typeface="Tahoma"/>
                <a:cs typeface="Tahoma"/>
              </a:rPr>
              <a:t>) </a:t>
            </a:r>
            <a:r>
              <a:rPr sz="2050" spc="-20" dirty="0">
                <a:solidFill>
                  <a:srgbClr val="231F20"/>
                </a:solidFill>
                <a:latin typeface="Tahoma"/>
                <a:cs typeface="Tahoma"/>
              </a:rPr>
              <a:t>:= </a:t>
            </a:r>
            <a:r>
              <a:rPr sz="2050" i="1" spc="-50" dirty="0">
                <a:solidFill>
                  <a:srgbClr val="231F20"/>
                </a:solidFill>
                <a:latin typeface="Meiryo"/>
                <a:cs typeface="Meiryo"/>
              </a:rPr>
              <a:t>y</a:t>
            </a:r>
            <a:r>
              <a:rPr sz="2050" spc="-50" dirty="0">
                <a:solidFill>
                  <a:srgbClr val="231F20"/>
                </a:solidFill>
                <a:latin typeface="Tahoma"/>
                <a:cs typeface="Tahoma"/>
              </a:rPr>
              <a:t>](</a:t>
            </a:r>
            <a:r>
              <a:rPr sz="2050" i="1" spc="-50" dirty="0">
                <a:solidFill>
                  <a:srgbClr val="231F20"/>
                </a:solidFill>
                <a:latin typeface="Meiryo"/>
                <a:cs typeface="Meiryo"/>
              </a:rPr>
              <a:t>z</a:t>
            </a:r>
            <a:r>
              <a:rPr sz="2050" spc="-50" dirty="0">
                <a:solidFill>
                  <a:srgbClr val="231F20"/>
                </a:solidFill>
                <a:latin typeface="Tahoma"/>
                <a:cs typeface="Tahoma"/>
              </a:rPr>
              <a:t>)  </a:t>
            </a:r>
            <a:r>
              <a:rPr sz="2050" spc="114" dirty="0">
                <a:solidFill>
                  <a:srgbClr val="231F20"/>
                </a:solidFill>
                <a:latin typeface="Tahoma"/>
                <a:cs typeface="Tahoma"/>
              </a:rPr>
              <a:t>= </a:t>
            </a:r>
            <a:r>
              <a:rPr sz="1950" spc="220" dirty="0">
                <a:solidFill>
                  <a:srgbClr val="231F20"/>
                </a:solidFill>
                <a:latin typeface="Arial"/>
                <a:cs typeface="Arial"/>
              </a:rPr>
              <a:t>if </a:t>
            </a:r>
            <a:r>
              <a:rPr sz="2050" i="1" spc="-80" dirty="0">
                <a:solidFill>
                  <a:srgbClr val="231F20"/>
                </a:solidFill>
                <a:latin typeface="Meiryo"/>
                <a:cs typeface="Meiryo"/>
              </a:rPr>
              <a:t>z </a:t>
            </a:r>
            <a:r>
              <a:rPr sz="2050" spc="114" dirty="0">
                <a:solidFill>
                  <a:srgbClr val="231F20"/>
                </a:solidFill>
                <a:latin typeface="Tahoma"/>
                <a:cs typeface="Tahoma"/>
              </a:rPr>
              <a:t>= </a:t>
            </a:r>
            <a:r>
              <a:rPr sz="2050" i="1" spc="50" dirty="0">
                <a:solidFill>
                  <a:srgbClr val="231F20"/>
                </a:solidFill>
                <a:latin typeface="Meiryo"/>
                <a:cs typeface="Meiryo"/>
              </a:rPr>
              <a:t>x </a:t>
            </a:r>
            <a:r>
              <a:rPr sz="1950" spc="280" dirty="0">
                <a:solidFill>
                  <a:srgbClr val="231F20"/>
                </a:solidFill>
                <a:latin typeface="Arial"/>
                <a:cs typeface="Arial"/>
              </a:rPr>
              <a:t>then </a:t>
            </a:r>
            <a:r>
              <a:rPr sz="2050" i="1" spc="-145" dirty="0">
                <a:solidFill>
                  <a:srgbClr val="231F20"/>
                </a:solidFill>
                <a:latin typeface="Meiryo"/>
                <a:cs typeface="Meiryo"/>
              </a:rPr>
              <a:t>y  </a:t>
            </a:r>
            <a:r>
              <a:rPr sz="1950" spc="130" dirty="0">
                <a:solidFill>
                  <a:srgbClr val="231F20"/>
                </a:solidFill>
                <a:latin typeface="Arial"/>
                <a:cs typeface="Arial"/>
              </a:rPr>
              <a:t>else </a:t>
            </a:r>
            <a:r>
              <a:rPr sz="2050" i="1" spc="320" dirty="0">
                <a:solidFill>
                  <a:srgbClr val="231F20"/>
                </a:solidFill>
                <a:latin typeface="Meiryo"/>
                <a:cs typeface="Meiryo"/>
              </a:rPr>
              <a:t>f</a:t>
            </a:r>
            <a:r>
              <a:rPr sz="2050" i="1" spc="-285" dirty="0">
                <a:solidFill>
                  <a:srgbClr val="231F20"/>
                </a:solidFill>
                <a:latin typeface="Meiryo"/>
                <a:cs typeface="Meiryo"/>
              </a:rPr>
              <a:t> </a:t>
            </a:r>
            <a:r>
              <a:rPr sz="2050" spc="15" dirty="0">
                <a:solidFill>
                  <a:srgbClr val="231F20"/>
                </a:solidFill>
                <a:latin typeface="Tahoma"/>
                <a:cs typeface="Tahoma"/>
              </a:rPr>
              <a:t>(</a:t>
            </a:r>
            <a:r>
              <a:rPr sz="2050" i="1" spc="15" dirty="0">
                <a:solidFill>
                  <a:srgbClr val="231F20"/>
                </a:solidFill>
                <a:latin typeface="Meiryo"/>
                <a:cs typeface="Meiryo"/>
              </a:rPr>
              <a:t>z</a:t>
            </a:r>
            <a:r>
              <a:rPr sz="2050" spc="15" dirty="0">
                <a:solidFill>
                  <a:srgbClr val="231F20"/>
                </a:solidFill>
                <a:latin typeface="Tahoma"/>
                <a:cs typeface="Tahoma"/>
              </a:rPr>
              <a:t>)</a:t>
            </a:r>
            <a:endParaRPr sz="2050">
              <a:latin typeface="Tahoma"/>
              <a:cs typeface="Tahoma"/>
            </a:endParaRPr>
          </a:p>
          <a:p>
            <a:pPr marL="300990" indent="-288290">
              <a:lnSpc>
                <a:spcPct val="100000"/>
              </a:lnSpc>
              <a:spcBef>
                <a:spcPts val="1015"/>
              </a:spcBef>
              <a:buSzPct val="105128"/>
              <a:buFont typeface="Lucida Sans Unicode"/>
              <a:buChar char="•"/>
              <a:tabLst>
                <a:tab pos="301625" algn="l"/>
              </a:tabLst>
            </a:pPr>
            <a:r>
              <a:rPr sz="1950" spc="130" dirty="0">
                <a:solidFill>
                  <a:srgbClr val="231F20"/>
                </a:solidFill>
                <a:latin typeface="Arial"/>
                <a:cs typeface="Arial"/>
              </a:rPr>
              <a:t>Linear </a:t>
            </a:r>
            <a:r>
              <a:rPr sz="1950" spc="195" dirty="0">
                <a:solidFill>
                  <a:srgbClr val="231F20"/>
                </a:solidFill>
                <a:latin typeface="Arial"/>
                <a:cs typeface="Arial"/>
              </a:rPr>
              <a:t>Arithmetic </a:t>
            </a:r>
            <a:r>
              <a:rPr sz="1950" spc="155" dirty="0">
                <a:solidFill>
                  <a:srgbClr val="231F20"/>
                </a:solidFill>
                <a:latin typeface="Arial"/>
                <a:cs typeface="Arial"/>
              </a:rPr>
              <a:t>(over </a:t>
            </a:r>
            <a:r>
              <a:rPr sz="1950" spc="114" dirty="0">
                <a:solidFill>
                  <a:srgbClr val="231F20"/>
                </a:solidFill>
                <a:latin typeface="Arial"/>
                <a:cs typeface="Arial"/>
              </a:rPr>
              <a:t>integers </a:t>
            </a:r>
            <a:r>
              <a:rPr sz="1950" spc="130" dirty="0">
                <a:solidFill>
                  <a:srgbClr val="231F20"/>
                </a:solidFill>
                <a:latin typeface="Arial"/>
                <a:cs typeface="Arial"/>
              </a:rPr>
              <a:t>and </a:t>
            </a:r>
            <a:r>
              <a:rPr sz="1950" spc="165" dirty="0">
                <a:solidFill>
                  <a:srgbClr val="231F20"/>
                </a:solidFill>
                <a:latin typeface="Arial"/>
                <a:cs typeface="Arial"/>
              </a:rPr>
              <a:t> </a:t>
            </a:r>
            <a:r>
              <a:rPr sz="1950" spc="150" dirty="0">
                <a:solidFill>
                  <a:srgbClr val="231F20"/>
                </a:solidFill>
                <a:latin typeface="Arial"/>
                <a:cs typeface="Arial"/>
              </a:rPr>
              <a:t>rationals)</a:t>
            </a:r>
            <a:endParaRPr sz="1950">
              <a:latin typeface="Arial"/>
              <a:cs typeface="Arial"/>
            </a:endParaRPr>
          </a:p>
          <a:p>
            <a:pPr marL="615950">
              <a:lnSpc>
                <a:spcPct val="100000"/>
              </a:lnSpc>
              <a:spcBef>
                <a:spcPts val="484"/>
              </a:spcBef>
            </a:pPr>
            <a:r>
              <a:rPr sz="2050" i="1" spc="50" dirty="0">
                <a:solidFill>
                  <a:srgbClr val="231F20"/>
                </a:solidFill>
                <a:latin typeface="Meiryo"/>
                <a:cs typeface="Meiryo"/>
              </a:rPr>
              <a:t>x</a:t>
            </a:r>
            <a:r>
              <a:rPr sz="2050" i="1" spc="-130" dirty="0">
                <a:solidFill>
                  <a:srgbClr val="231F20"/>
                </a:solidFill>
                <a:latin typeface="Meiryo"/>
                <a:cs typeface="Meiryo"/>
              </a:rPr>
              <a:t> </a:t>
            </a:r>
            <a:r>
              <a:rPr sz="2050" spc="-25" dirty="0">
                <a:solidFill>
                  <a:srgbClr val="231F20"/>
                </a:solidFill>
                <a:latin typeface="Lucida Sans Unicode"/>
                <a:cs typeface="Lucida Sans Unicode"/>
              </a:rPr>
              <a:t>≤</a:t>
            </a:r>
            <a:r>
              <a:rPr sz="2050" spc="-80" dirty="0">
                <a:solidFill>
                  <a:srgbClr val="231F20"/>
                </a:solidFill>
                <a:latin typeface="Lucida Sans Unicode"/>
                <a:cs typeface="Lucida Sans Unicode"/>
              </a:rPr>
              <a:t> </a:t>
            </a:r>
            <a:r>
              <a:rPr sz="2050" i="1" spc="-145" dirty="0">
                <a:solidFill>
                  <a:srgbClr val="231F20"/>
                </a:solidFill>
                <a:latin typeface="Meiryo"/>
                <a:cs typeface="Meiryo"/>
              </a:rPr>
              <a:t>y</a:t>
            </a:r>
            <a:r>
              <a:rPr sz="2050" i="1" spc="-170" dirty="0">
                <a:solidFill>
                  <a:srgbClr val="231F20"/>
                </a:solidFill>
                <a:latin typeface="Meiryo"/>
                <a:cs typeface="Meiryo"/>
              </a:rPr>
              <a:t> </a:t>
            </a:r>
            <a:r>
              <a:rPr sz="2050" spc="-254"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i="1" spc="50" dirty="0">
                <a:solidFill>
                  <a:srgbClr val="231F20"/>
                </a:solidFill>
                <a:latin typeface="Meiryo"/>
                <a:cs typeface="Meiryo"/>
              </a:rPr>
              <a:t>x</a:t>
            </a:r>
            <a:r>
              <a:rPr sz="2050" i="1" spc="-130" dirty="0">
                <a:solidFill>
                  <a:srgbClr val="231F20"/>
                </a:solidFill>
                <a:latin typeface="Meiryo"/>
                <a:cs typeface="Meiryo"/>
              </a:rPr>
              <a:t> </a:t>
            </a:r>
            <a:r>
              <a:rPr sz="2050" spc="-25" dirty="0">
                <a:solidFill>
                  <a:srgbClr val="231F20"/>
                </a:solidFill>
                <a:latin typeface="Lucida Sans Unicode"/>
                <a:cs typeface="Lucida Sans Unicode"/>
              </a:rPr>
              <a:t>≤</a:t>
            </a:r>
            <a:r>
              <a:rPr sz="2050" spc="-80" dirty="0">
                <a:solidFill>
                  <a:srgbClr val="231F20"/>
                </a:solidFill>
                <a:latin typeface="Lucida Sans Unicode"/>
                <a:cs typeface="Lucida Sans Unicode"/>
              </a:rPr>
              <a:t> </a:t>
            </a:r>
            <a:r>
              <a:rPr sz="2050" spc="-90" dirty="0">
                <a:solidFill>
                  <a:srgbClr val="231F20"/>
                </a:solidFill>
                <a:latin typeface="Tahoma"/>
                <a:cs typeface="Tahoma"/>
              </a:rPr>
              <a:t>1</a:t>
            </a:r>
            <a:r>
              <a:rPr sz="2050" spc="-190" dirty="0">
                <a:solidFill>
                  <a:srgbClr val="231F20"/>
                </a:solidFill>
                <a:latin typeface="Tahoma"/>
                <a:cs typeface="Tahoma"/>
              </a:rPr>
              <a:t> </a:t>
            </a:r>
            <a:r>
              <a:rPr sz="2050" spc="-25"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i="1" spc="-145" dirty="0">
                <a:solidFill>
                  <a:srgbClr val="231F20"/>
                </a:solidFill>
                <a:latin typeface="Meiryo"/>
                <a:cs typeface="Meiryo"/>
              </a:rPr>
              <a:t>y</a:t>
            </a:r>
            <a:r>
              <a:rPr sz="2050" i="1" spc="-170" dirty="0">
                <a:solidFill>
                  <a:srgbClr val="231F20"/>
                </a:solidFill>
                <a:latin typeface="Meiryo"/>
                <a:cs typeface="Meiryo"/>
              </a:rPr>
              <a:t> </a:t>
            </a:r>
            <a:r>
              <a:rPr sz="2050" spc="-254"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spc="-90" dirty="0">
                <a:solidFill>
                  <a:srgbClr val="231F20"/>
                </a:solidFill>
                <a:latin typeface="Tahoma"/>
                <a:cs typeface="Tahoma"/>
              </a:rPr>
              <a:t>2</a:t>
            </a:r>
            <a:r>
              <a:rPr sz="2050" spc="-190" dirty="0">
                <a:solidFill>
                  <a:srgbClr val="231F20"/>
                </a:solidFill>
                <a:latin typeface="Tahoma"/>
                <a:cs typeface="Tahoma"/>
              </a:rPr>
              <a:t> </a:t>
            </a:r>
            <a:r>
              <a:rPr sz="2050" spc="-25"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i="1" spc="50" dirty="0">
                <a:solidFill>
                  <a:srgbClr val="231F20"/>
                </a:solidFill>
                <a:latin typeface="Meiryo"/>
                <a:cs typeface="Meiryo"/>
              </a:rPr>
              <a:t>x</a:t>
            </a:r>
            <a:r>
              <a:rPr sz="2050" i="1" spc="-130" dirty="0">
                <a:solidFill>
                  <a:srgbClr val="231F20"/>
                </a:solidFill>
                <a:latin typeface="Meiryo"/>
                <a:cs typeface="Meiryo"/>
              </a:rPr>
              <a:t> </a:t>
            </a:r>
            <a:r>
              <a:rPr sz="2050" spc="-25" dirty="0">
                <a:solidFill>
                  <a:srgbClr val="231F20"/>
                </a:solidFill>
                <a:latin typeface="Lucida Sans Unicode"/>
                <a:cs typeface="Lucida Sans Unicode"/>
              </a:rPr>
              <a:t>≥</a:t>
            </a:r>
            <a:r>
              <a:rPr sz="2050" spc="-80" dirty="0">
                <a:solidFill>
                  <a:srgbClr val="231F20"/>
                </a:solidFill>
                <a:latin typeface="Lucida Sans Unicode"/>
                <a:cs typeface="Lucida Sans Unicode"/>
              </a:rPr>
              <a:t> </a:t>
            </a:r>
            <a:r>
              <a:rPr sz="2050" spc="-90" dirty="0">
                <a:solidFill>
                  <a:srgbClr val="231F20"/>
                </a:solidFill>
                <a:latin typeface="Tahoma"/>
                <a:cs typeface="Tahoma"/>
              </a:rPr>
              <a:t>1</a:t>
            </a:r>
            <a:r>
              <a:rPr sz="2050" spc="-75" dirty="0">
                <a:solidFill>
                  <a:srgbClr val="231F20"/>
                </a:solidFill>
                <a:latin typeface="Tahoma"/>
                <a:cs typeface="Tahoma"/>
              </a:rPr>
              <a:t> </a:t>
            </a:r>
            <a:r>
              <a:rPr sz="2050" spc="-25" dirty="0">
                <a:solidFill>
                  <a:srgbClr val="231F20"/>
                </a:solidFill>
                <a:latin typeface="Lucida Sans Unicode"/>
                <a:cs typeface="Lucida Sans Unicode"/>
              </a:rPr>
              <a:t>⊃</a:t>
            </a:r>
            <a:r>
              <a:rPr sz="2050" spc="-80" dirty="0">
                <a:solidFill>
                  <a:srgbClr val="231F20"/>
                </a:solidFill>
                <a:latin typeface="Lucida Sans Unicode"/>
                <a:cs typeface="Lucida Sans Unicode"/>
              </a:rPr>
              <a:t> </a:t>
            </a:r>
            <a:r>
              <a:rPr sz="2050" spc="-90" dirty="0">
                <a:solidFill>
                  <a:srgbClr val="231F20"/>
                </a:solidFill>
                <a:latin typeface="Tahoma"/>
                <a:cs typeface="Tahoma"/>
              </a:rPr>
              <a:t>4</a:t>
            </a:r>
            <a:r>
              <a:rPr sz="2050" spc="-190" dirty="0">
                <a:solidFill>
                  <a:srgbClr val="231F20"/>
                </a:solidFill>
                <a:latin typeface="Tahoma"/>
                <a:cs typeface="Tahoma"/>
              </a:rPr>
              <a:t> </a:t>
            </a:r>
            <a:r>
              <a:rPr sz="2050" spc="-25"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i="1" spc="50" dirty="0">
                <a:solidFill>
                  <a:srgbClr val="231F20"/>
                </a:solidFill>
                <a:latin typeface="Meiryo"/>
                <a:cs typeface="Meiryo"/>
              </a:rPr>
              <a:t>x</a:t>
            </a:r>
            <a:r>
              <a:rPr sz="2050" i="1" spc="-130" dirty="0">
                <a:solidFill>
                  <a:srgbClr val="231F20"/>
                </a:solidFill>
                <a:latin typeface="Meiryo"/>
                <a:cs typeface="Meiryo"/>
              </a:rPr>
              <a:t> </a:t>
            </a:r>
            <a:r>
              <a:rPr sz="2050" spc="114" dirty="0">
                <a:solidFill>
                  <a:srgbClr val="231F20"/>
                </a:solidFill>
                <a:latin typeface="Tahoma"/>
                <a:cs typeface="Tahoma"/>
              </a:rPr>
              <a:t>=</a:t>
            </a:r>
            <a:r>
              <a:rPr sz="2050" spc="-75" dirty="0">
                <a:solidFill>
                  <a:srgbClr val="231F20"/>
                </a:solidFill>
                <a:latin typeface="Tahoma"/>
                <a:cs typeface="Tahoma"/>
              </a:rPr>
              <a:t> </a:t>
            </a:r>
            <a:r>
              <a:rPr sz="2050" spc="-90" dirty="0">
                <a:solidFill>
                  <a:srgbClr val="231F20"/>
                </a:solidFill>
                <a:latin typeface="Tahoma"/>
                <a:cs typeface="Tahoma"/>
              </a:rPr>
              <a:t>2</a:t>
            </a:r>
            <a:endParaRPr sz="2050">
              <a:latin typeface="Tahoma"/>
              <a:cs typeface="Tahoma"/>
            </a:endParaRPr>
          </a:p>
        </p:txBody>
      </p:sp>
      <p:sp>
        <p:nvSpPr>
          <p:cNvPr id="5" name="object 5"/>
          <p:cNvSpPr txBox="1"/>
          <p:nvPr/>
        </p:nvSpPr>
        <p:spPr>
          <a:xfrm>
            <a:off x="901712" y="4811039"/>
            <a:ext cx="7771130" cy="1329690"/>
          </a:xfrm>
          <a:prstGeom prst="rect">
            <a:avLst/>
          </a:prstGeom>
        </p:spPr>
        <p:txBody>
          <a:bodyPr vert="horz" wrap="square" lIns="0" tIns="0" rIns="0" bIns="0" rtlCol="0">
            <a:spAutoFit/>
          </a:bodyPr>
          <a:lstStyle/>
          <a:p>
            <a:pPr marL="12700">
              <a:lnSpc>
                <a:spcPct val="100000"/>
              </a:lnSpc>
            </a:pPr>
            <a:r>
              <a:rPr sz="1950" spc="275" dirty="0">
                <a:solidFill>
                  <a:srgbClr val="231F20"/>
                </a:solidFill>
                <a:latin typeface="Arial"/>
                <a:cs typeface="Arial"/>
              </a:rPr>
              <a:t>But </a:t>
            </a:r>
            <a:r>
              <a:rPr sz="1950" spc="95" dirty="0">
                <a:solidFill>
                  <a:srgbClr val="231F20"/>
                </a:solidFill>
                <a:latin typeface="Arial"/>
                <a:cs typeface="Arial"/>
              </a:rPr>
              <a:t>we </a:t>
            </a:r>
            <a:r>
              <a:rPr sz="1950" spc="80" dirty="0">
                <a:solidFill>
                  <a:srgbClr val="231F20"/>
                </a:solidFill>
                <a:latin typeface="Arial"/>
                <a:cs typeface="Arial"/>
              </a:rPr>
              <a:t>need </a:t>
            </a:r>
            <a:r>
              <a:rPr sz="1950" spc="250" dirty="0">
                <a:solidFill>
                  <a:srgbClr val="231F20"/>
                </a:solidFill>
                <a:latin typeface="Arial"/>
                <a:cs typeface="Arial"/>
              </a:rPr>
              <a:t>to </a:t>
            </a:r>
            <a:r>
              <a:rPr sz="1950" spc="95" dirty="0">
                <a:solidFill>
                  <a:srgbClr val="231F20"/>
                </a:solidFill>
                <a:latin typeface="Arial"/>
                <a:cs typeface="Arial"/>
              </a:rPr>
              <a:t>decide </a:t>
            </a:r>
            <a:r>
              <a:rPr sz="1950" spc="150" dirty="0">
                <a:solidFill>
                  <a:srgbClr val="FF0000"/>
                </a:solidFill>
                <a:latin typeface="Arial"/>
                <a:cs typeface="Arial"/>
              </a:rPr>
              <a:t>combinations </a:t>
            </a:r>
            <a:r>
              <a:rPr sz="1950" spc="185" dirty="0">
                <a:solidFill>
                  <a:srgbClr val="231F20"/>
                </a:solidFill>
                <a:latin typeface="Arial"/>
                <a:cs typeface="Arial"/>
              </a:rPr>
              <a:t>of </a:t>
            </a:r>
            <a:r>
              <a:rPr sz="1950" spc="290" dirty="0">
                <a:solidFill>
                  <a:srgbClr val="231F20"/>
                </a:solidFill>
                <a:latin typeface="Arial"/>
                <a:cs typeface="Arial"/>
              </a:rPr>
              <a:t> </a:t>
            </a:r>
            <a:r>
              <a:rPr sz="1950" spc="110" dirty="0">
                <a:solidFill>
                  <a:srgbClr val="231F20"/>
                </a:solidFill>
                <a:latin typeface="Arial"/>
                <a:cs typeface="Arial"/>
              </a:rPr>
              <a:t>theories</a:t>
            </a:r>
            <a:endParaRPr sz="1950">
              <a:latin typeface="Arial"/>
              <a:cs typeface="Arial"/>
            </a:endParaRPr>
          </a:p>
          <a:p>
            <a:pPr>
              <a:lnSpc>
                <a:spcPct val="100000"/>
              </a:lnSpc>
              <a:spcBef>
                <a:spcPts val="17"/>
              </a:spcBef>
            </a:pPr>
            <a:endParaRPr sz="1650">
              <a:latin typeface="Times New Roman"/>
              <a:cs typeface="Times New Roman"/>
            </a:endParaRPr>
          </a:p>
          <a:p>
            <a:pPr marL="234315">
              <a:lnSpc>
                <a:spcPct val="100000"/>
              </a:lnSpc>
            </a:pPr>
            <a:r>
              <a:rPr sz="2050" spc="-90" dirty="0">
                <a:solidFill>
                  <a:srgbClr val="231F20"/>
                </a:solidFill>
                <a:latin typeface="Tahoma"/>
                <a:cs typeface="Tahoma"/>
              </a:rPr>
              <a:t>2</a:t>
            </a:r>
            <a:r>
              <a:rPr sz="2050" spc="-190" dirty="0">
                <a:solidFill>
                  <a:srgbClr val="231F20"/>
                </a:solidFill>
                <a:latin typeface="Tahoma"/>
                <a:cs typeface="Tahoma"/>
              </a:rPr>
              <a:t> </a:t>
            </a:r>
            <a:r>
              <a:rPr sz="2050" spc="-25"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i="1" spc="-5" dirty="0">
                <a:solidFill>
                  <a:srgbClr val="231F20"/>
                </a:solidFill>
                <a:latin typeface="Meiryo"/>
                <a:cs typeface="Meiryo"/>
              </a:rPr>
              <a:t>car</a:t>
            </a:r>
            <a:r>
              <a:rPr sz="2050" spc="-5" dirty="0">
                <a:solidFill>
                  <a:srgbClr val="231F20"/>
                </a:solidFill>
                <a:latin typeface="Tahoma"/>
                <a:cs typeface="Tahoma"/>
              </a:rPr>
              <a:t>(</a:t>
            </a:r>
            <a:r>
              <a:rPr sz="2050" i="1" spc="-5" dirty="0">
                <a:solidFill>
                  <a:srgbClr val="231F20"/>
                </a:solidFill>
                <a:latin typeface="Meiryo"/>
                <a:cs typeface="Meiryo"/>
              </a:rPr>
              <a:t>x</a:t>
            </a:r>
            <a:r>
              <a:rPr sz="2050" spc="-5" dirty="0">
                <a:solidFill>
                  <a:srgbClr val="231F20"/>
                </a:solidFill>
                <a:latin typeface="Tahoma"/>
                <a:cs typeface="Tahoma"/>
              </a:rPr>
              <a:t>)</a:t>
            </a:r>
            <a:r>
              <a:rPr sz="2050" spc="-190" dirty="0">
                <a:solidFill>
                  <a:srgbClr val="231F20"/>
                </a:solidFill>
                <a:latin typeface="Tahoma"/>
                <a:cs typeface="Tahoma"/>
              </a:rPr>
              <a:t> </a:t>
            </a:r>
            <a:r>
              <a:rPr sz="2050" spc="-25"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spc="-90" dirty="0">
                <a:solidFill>
                  <a:srgbClr val="231F20"/>
                </a:solidFill>
                <a:latin typeface="Tahoma"/>
                <a:cs typeface="Tahoma"/>
              </a:rPr>
              <a:t>3</a:t>
            </a:r>
            <a:r>
              <a:rPr sz="2050" spc="-190" dirty="0">
                <a:solidFill>
                  <a:srgbClr val="231F20"/>
                </a:solidFill>
                <a:latin typeface="Tahoma"/>
                <a:cs typeface="Tahoma"/>
              </a:rPr>
              <a:t> </a:t>
            </a:r>
            <a:r>
              <a:rPr sz="2050" spc="-25"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i="1" spc="-15" dirty="0">
                <a:solidFill>
                  <a:srgbClr val="231F20"/>
                </a:solidFill>
                <a:latin typeface="Meiryo"/>
                <a:cs typeface="Meiryo"/>
              </a:rPr>
              <a:t>cdr</a:t>
            </a:r>
            <a:r>
              <a:rPr sz="2050" spc="-15" dirty="0">
                <a:solidFill>
                  <a:srgbClr val="231F20"/>
                </a:solidFill>
                <a:latin typeface="Tahoma"/>
                <a:cs typeface="Tahoma"/>
              </a:rPr>
              <a:t>(</a:t>
            </a:r>
            <a:r>
              <a:rPr sz="2050" i="1" spc="-15" dirty="0">
                <a:solidFill>
                  <a:srgbClr val="231F20"/>
                </a:solidFill>
                <a:latin typeface="Meiryo"/>
                <a:cs typeface="Meiryo"/>
              </a:rPr>
              <a:t>x</a:t>
            </a:r>
            <a:r>
              <a:rPr sz="2050" spc="-15" dirty="0">
                <a:solidFill>
                  <a:srgbClr val="231F20"/>
                </a:solidFill>
                <a:latin typeface="Tahoma"/>
                <a:cs typeface="Tahoma"/>
              </a:rPr>
              <a:t>)</a:t>
            </a:r>
            <a:r>
              <a:rPr sz="2050" spc="-75" dirty="0">
                <a:solidFill>
                  <a:srgbClr val="231F20"/>
                </a:solidFill>
                <a:latin typeface="Tahoma"/>
                <a:cs typeface="Tahoma"/>
              </a:rPr>
              <a:t> </a:t>
            </a:r>
            <a:r>
              <a:rPr sz="2050" spc="114" dirty="0">
                <a:solidFill>
                  <a:srgbClr val="231F20"/>
                </a:solidFill>
                <a:latin typeface="Tahoma"/>
                <a:cs typeface="Tahoma"/>
              </a:rPr>
              <a:t>=</a:t>
            </a:r>
            <a:r>
              <a:rPr sz="2050" spc="-75" dirty="0">
                <a:solidFill>
                  <a:srgbClr val="231F20"/>
                </a:solidFill>
                <a:latin typeface="Tahoma"/>
                <a:cs typeface="Tahoma"/>
              </a:rPr>
              <a:t> </a:t>
            </a:r>
            <a:r>
              <a:rPr sz="2050" i="1" spc="320" dirty="0">
                <a:solidFill>
                  <a:srgbClr val="231F20"/>
                </a:solidFill>
                <a:latin typeface="Meiryo"/>
                <a:cs typeface="Meiryo"/>
              </a:rPr>
              <a:t>f</a:t>
            </a:r>
            <a:r>
              <a:rPr sz="2050" i="1" spc="-484" dirty="0">
                <a:solidFill>
                  <a:srgbClr val="231F20"/>
                </a:solidFill>
                <a:latin typeface="Meiryo"/>
                <a:cs typeface="Meiryo"/>
              </a:rPr>
              <a:t> </a:t>
            </a:r>
            <a:r>
              <a:rPr sz="2050" spc="-10" dirty="0">
                <a:solidFill>
                  <a:srgbClr val="231F20"/>
                </a:solidFill>
                <a:latin typeface="Tahoma"/>
                <a:cs typeface="Tahoma"/>
              </a:rPr>
              <a:t>(</a:t>
            </a:r>
            <a:r>
              <a:rPr sz="2050" i="1" spc="-10" dirty="0">
                <a:solidFill>
                  <a:srgbClr val="231F20"/>
                </a:solidFill>
                <a:latin typeface="Meiryo"/>
                <a:cs typeface="Meiryo"/>
              </a:rPr>
              <a:t>cdr</a:t>
            </a:r>
            <a:r>
              <a:rPr sz="2050" spc="-10" dirty="0">
                <a:solidFill>
                  <a:srgbClr val="231F20"/>
                </a:solidFill>
                <a:latin typeface="Tahoma"/>
                <a:cs typeface="Tahoma"/>
              </a:rPr>
              <a:t>(</a:t>
            </a:r>
            <a:r>
              <a:rPr sz="2050" i="1" spc="-10" dirty="0">
                <a:solidFill>
                  <a:srgbClr val="231F20"/>
                </a:solidFill>
                <a:latin typeface="Meiryo"/>
                <a:cs typeface="Meiryo"/>
              </a:rPr>
              <a:t>x</a:t>
            </a:r>
            <a:r>
              <a:rPr sz="2050" spc="-10" dirty="0">
                <a:solidFill>
                  <a:srgbClr val="231F20"/>
                </a:solidFill>
                <a:latin typeface="Tahoma"/>
                <a:cs typeface="Tahoma"/>
              </a:rPr>
              <a:t>))</a:t>
            </a:r>
            <a:r>
              <a:rPr sz="2050" spc="-75" dirty="0">
                <a:solidFill>
                  <a:srgbClr val="231F20"/>
                </a:solidFill>
                <a:latin typeface="Tahoma"/>
                <a:cs typeface="Tahoma"/>
              </a:rPr>
              <a:t> </a:t>
            </a:r>
            <a:r>
              <a:rPr sz="2050" spc="-25" dirty="0">
                <a:solidFill>
                  <a:srgbClr val="231F20"/>
                </a:solidFill>
                <a:latin typeface="Lucida Sans Unicode"/>
                <a:cs typeface="Lucida Sans Unicode"/>
              </a:rPr>
              <a:t>⊃</a:t>
            </a:r>
            <a:endParaRPr sz="2050">
              <a:latin typeface="Lucida Sans Unicode"/>
              <a:cs typeface="Lucida Sans Unicode"/>
            </a:endParaRPr>
          </a:p>
          <a:p>
            <a:pPr marL="496570">
              <a:lnSpc>
                <a:spcPct val="100000"/>
              </a:lnSpc>
              <a:spcBef>
                <a:spcPts val="1085"/>
              </a:spcBef>
            </a:pPr>
            <a:r>
              <a:rPr sz="2050" i="1" spc="320" dirty="0">
                <a:solidFill>
                  <a:srgbClr val="231F20"/>
                </a:solidFill>
                <a:latin typeface="Meiryo"/>
                <a:cs typeface="Meiryo"/>
              </a:rPr>
              <a:t>f</a:t>
            </a:r>
            <a:r>
              <a:rPr sz="2050" i="1" spc="-480" dirty="0">
                <a:solidFill>
                  <a:srgbClr val="231F20"/>
                </a:solidFill>
                <a:latin typeface="Meiryo"/>
                <a:cs typeface="Meiryo"/>
              </a:rPr>
              <a:t> </a:t>
            </a:r>
            <a:r>
              <a:rPr sz="2050" spc="-70" dirty="0">
                <a:solidFill>
                  <a:srgbClr val="231F20"/>
                </a:solidFill>
                <a:latin typeface="Tahoma"/>
                <a:cs typeface="Tahoma"/>
              </a:rPr>
              <a:t>(</a:t>
            </a:r>
            <a:r>
              <a:rPr sz="2050" i="1" spc="-70" dirty="0">
                <a:solidFill>
                  <a:srgbClr val="231F20"/>
                </a:solidFill>
                <a:latin typeface="Meiryo"/>
                <a:cs typeface="Meiryo"/>
              </a:rPr>
              <a:t>cons</a:t>
            </a:r>
            <a:r>
              <a:rPr sz="2050" spc="-70" dirty="0">
                <a:solidFill>
                  <a:srgbClr val="231F20"/>
                </a:solidFill>
                <a:latin typeface="Tahoma"/>
                <a:cs typeface="Tahoma"/>
              </a:rPr>
              <a:t>(4</a:t>
            </a:r>
            <a:r>
              <a:rPr sz="2050" spc="-185" dirty="0">
                <a:solidFill>
                  <a:srgbClr val="231F20"/>
                </a:solidFill>
                <a:latin typeface="Tahoma"/>
                <a:cs typeface="Tahoma"/>
              </a:rPr>
              <a:t> </a:t>
            </a:r>
            <a:r>
              <a:rPr sz="2050" spc="-25" dirty="0">
                <a:solidFill>
                  <a:srgbClr val="231F20"/>
                </a:solidFill>
                <a:latin typeface="Lucida Sans Unicode"/>
                <a:cs typeface="Lucida Sans Unicode"/>
              </a:rPr>
              <a:t>×</a:t>
            </a:r>
            <a:r>
              <a:rPr sz="2050" spc="-190" dirty="0">
                <a:solidFill>
                  <a:srgbClr val="231F20"/>
                </a:solidFill>
                <a:latin typeface="Lucida Sans Unicode"/>
                <a:cs typeface="Lucida Sans Unicode"/>
              </a:rPr>
              <a:t> </a:t>
            </a:r>
            <a:r>
              <a:rPr sz="2050" i="1" spc="-5" dirty="0">
                <a:solidFill>
                  <a:srgbClr val="231F20"/>
                </a:solidFill>
                <a:latin typeface="Meiryo"/>
                <a:cs typeface="Meiryo"/>
              </a:rPr>
              <a:t>car</a:t>
            </a:r>
            <a:r>
              <a:rPr sz="2050" spc="-5" dirty="0">
                <a:solidFill>
                  <a:srgbClr val="231F20"/>
                </a:solidFill>
                <a:latin typeface="Tahoma"/>
                <a:cs typeface="Tahoma"/>
              </a:rPr>
              <a:t>(</a:t>
            </a:r>
            <a:r>
              <a:rPr sz="2050" i="1" spc="-5" dirty="0">
                <a:solidFill>
                  <a:srgbClr val="231F20"/>
                </a:solidFill>
                <a:latin typeface="Meiryo"/>
                <a:cs typeface="Meiryo"/>
              </a:rPr>
              <a:t>x</a:t>
            </a:r>
            <a:r>
              <a:rPr sz="2050" spc="-5" dirty="0">
                <a:solidFill>
                  <a:srgbClr val="231F20"/>
                </a:solidFill>
                <a:latin typeface="Tahoma"/>
                <a:cs typeface="Tahoma"/>
              </a:rPr>
              <a:t>)</a:t>
            </a:r>
            <a:r>
              <a:rPr sz="2050" spc="-185" dirty="0">
                <a:solidFill>
                  <a:srgbClr val="231F20"/>
                </a:solidFill>
                <a:latin typeface="Tahoma"/>
                <a:cs typeface="Tahoma"/>
              </a:rPr>
              <a:t> </a:t>
            </a:r>
            <a:r>
              <a:rPr sz="2050" spc="-25" dirty="0">
                <a:solidFill>
                  <a:srgbClr val="231F20"/>
                </a:solidFill>
                <a:latin typeface="Lucida Sans Unicode"/>
                <a:cs typeface="Lucida Sans Unicode"/>
              </a:rPr>
              <a:t>−</a:t>
            </a:r>
            <a:r>
              <a:rPr sz="2050" spc="-190" dirty="0">
                <a:solidFill>
                  <a:srgbClr val="231F20"/>
                </a:solidFill>
                <a:latin typeface="Lucida Sans Unicode"/>
                <a:cs typeface="Lucida Sans Unicode"/>
              </a:rPr>
              <a:t> </a:t>
            </a:r>
            <a:r>
              <a:rPr sz="2050" spc="-90" dirty="0">
                <a:solidFill>
                  <a:srgbClr val="231F20"/>
                </a:solidFill>
                <a:latin typeface="Tahoma"/>
                <a:cs typeface="Tahoma"/>
              </a:rPr>
              <a:t>2</a:t>
            </a:r>
            <a:r>
              <a:rPr sz="2050" spc="-185" dirty="0">
                <a:solidFill>
                  <a:srgbClr val="231F20"/>
                </a:solidFill>
                <a:latin typeface="Tahoma"/>
                <a:cs typeface="Tahoma"/>
              </a:rPr>
              <a:t> </a:t>
            </a:r>
            <a:r>
              <a:rPr sz="2050" spc="-25"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i="1" spc="320" dirty="0">
                <a:solidFill>
                  <a:srgbClr val="231F20"/>
                </a:solidFill>
                <a:latin typeface="Meiryo"/>
                <a:cs typeface="Meiryo"/>
              </a:rPr>
              <a:t>f</a:t>
            </a:r>
            <a:r>
              <a:rPr sz="2050" i="1" spc="-480" dirty="0">
                <a:solidFill>
                  <a:srgbClr val="231F20"/>
                </a:solidFill>
                <a:latin typeface="Meiryo"/>
                <a:cs typeface="Meiryo"/>
              </a:rPr>
              <a:t> </a:t>
            </a:r>
            <a:r>
              <a:rPr sz="2050" spc="-25" dirty="0">
                <a:solidFill>
                  <a:srgbClr val="231F20"/>
                </a:solidFill>
                <a:latin typeface="Tahoma"/>
                <a:cs typeface="Tahoma"/>
              </a:rPr>
              <a:t>(</a:t>
            </a:r>
            <a:r>
              <a:rPr sz="2050" i="1" spc="-25" dirty="0">
                <a:solidFill>
                  <a:srgbClr val="231F20"/>
                </a:solidFill>
                <a:latin typeface="Meiryo"/>
                <a:cs typeface="Meiryo"/>
              </a:rPr>
              <a:t>cdr</a:t>
            </a:r>
            <a:r>
              <a:rPr sz="2050" spc="-25" dirty="0">
                <a:solidFill>
                  <a:srgbClr val="231F20"/>
                </a:solidFill>
                <a:latin typeface="Tahoma"/>
                <a:cs typeface="Tahoma"/>
              </a:rPr>
              <a:t>(</a:t>
            </a:r>
            <a:r>
              <a:rPr sz="2050" i="1" spc="-25" dirty="0">
                <a:solidFill>
                  <a:srgbClr val="231F20"/>
                </a:solidFill>
                <a:latin typeface="Meiryo"/>
                <a:cs typeface="Meiryo"/>
              </a:rPr>
              <a:t>x</a:t>
            </a:r>
            <a:r>
              <a:rPr sz="2050" spc="-25" dirty="0">
                <a:solidFill>
                  <a:srgbClr val="231F20"/>
                </a:solidFill>
                <a:latin typeface="Tahoma"/>
                <a:cs typeface="Tahoma"/>
              </a:rPr>
              <a:t>))</a:t>
            </a:r>
            <a:r>
              <a:rPr sz="2050" i="1" spc="-25" dirty="0">
                <a:solidFill>
                  <a:srgbClr val="231F20"/>
                </a:solidFill>
                <a:latin typeface="Meiryo"/>
                <a:cs typeface="Meiryo"/>
              </a:rPr>
              <a:t>,</a:t>
            </a:r>
            <a:r>
              <a:rPr sz="2050" i="1" spc="-355" dirty="0">
                <a:solidFill>
                  <a:srgbClr val="231F20"/>
                </a:solidFill>
                <a:latin typeface="Meiryo"/>
                <a:cs typeface="Meiryo"/>
              </a:rPr>
              <a:t> </a:t>
            </a:r>
            <a:r>
              <a:rPr sz="2050" i="1" spc="-15" dirty="0">
                <a:solidFill>
                  <a:srgbClr val="231F20"/>
                </a:solidFill>
                <a:latin typeface="Meiryo"/>
                <a:cs typeface="Meiryo"/>
              </a:rPr>
              <a:t>y</a:t>
            </a:r>
            <a:r>
              <a:rPr sz="2050" spc="-15" dirty="0">
                <a:solidFill>
                  <a:srgbClr val="231F20"/>
                </a:solidFill>
                <a:latin typeface="Tahoma"/>
                <a:cs typeface="Tahoma"/>
              </a:rPr>
              <a:t>))</a:t>
            </a:r>
            <a:r>
              <a:rPr sz="2050" spc="-70" dirty="0">
                <a:solidFill>
                  <a:srgbClr val="231F20"/>
                </a:solidFill>
                <a:latin typeface="Tahoma"/>
                <a:cs typeface="Tahoma"/>
              </a:rPr>
              <a:t> </a:t>
            </a:r>
            <a:r>
              <a:rPr sz="2050" spc="114" dirty="0">
                <a:solidFill>
                  <a:srgbClr val="231F20"/>
                </a:solidFill>
                <a:latin typeface="Tahoma"/>
                <a:cs typeface="Tahoma"/>
              </a:rPr>
              <a:t>=</a:t>
            </a:r>
            <a:r>
              <a:rPr sz="2050" spc="-70" dirty="0">
                <a:solidFill>
                  <a:srgbClr val="231F20"/>
                </a:solidFill>
                <a:latin typeface="Tahoma"/>
                <a:cs typeface="Tahoma"/>
              </a:rPr>
              <a:t> </a:t>
            </a:r>
            <a:r>
              <a:rPr sz="2050" i="1" spc="320" dirty="0">
                <a:solidFill>
                  <a:srgbClr val="231F20"/>
                </a:solidFill>
                <a:latin typeface="Meiryo"/>
                <a:cs typeface="Meiryo"/>
              </a:rPr>
              <a:t>f</a:t>
            </a:r>
            <a:r>
              <a:rPr sz="2050" i="1" spc="-480" dirty="0">
                <a:solidFill>
                  <a:srgbClr val="231F20"/>
                </a:solidFill>
                <a:latin typeface="Meiryo"/>
                <a:cs typeface="Meiryo"/>
              </a:rPr>
              <a:t> </a:t>
            </a:r>
            <a:r>
              <a:rPr sz="2050" spc="-70" dirty="0">
                <a:solidFill>
                  <a:srgbClr val="231F20"/>
                </a:solidFill>
                <a:latin typeface="Tahoma"/>
                <a:cs typeface="Tahoma"/>
              </a:rPr>
              <a:t>(</a:t>
            </a:r>
            <a:r>
              <a:rPr sz="2050" i="1" spc="-70" dirty="0">
                <a:solidFill>
                  <a:srgbClr val="231F20"/>
                </a:solidFill>
                <a:latin typeface="Meiryo"/>
                <a:cs typeface="Meiryo"/>
              </a:rPr>
              <a:t>cons</a:t>
            </a:r>
            <a:r>
              <a:rPr sz="2050" spc="-70" dirty="0">
                <a:solidFill>
                  <a:srgbClr val="231F20"/>
                </a:solidFill>
                <a:latin typeface="Tahoma"/>
                <a:cs typeface="Tahoma"/>
              </a:rPr>
              <a:t>(6</a:t>
            </a:r>
            <a:r>
              <a:rPr sz="2050" spc="-185" dirty="0">
                <a:solidFill>
                  <a:srgbClr val="231F20"/>
                </a:solidFill>
                <a:latin typeface="Tahoma"/>
                <a:cs typeface="Tahoma"/>
              </a:rPr>
              <a:t> </a:t>
            </a:r>
            <a:r>
              <a:rPr sz="2050" spc="-25"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i="1" spc="-35" dirty="0">
                <a:solidFill>
                  <a:srgbClr val="231F20"/>
                </a:solidFill>
                <a:latin typeface="Meiryo"/>
                <a:cs typeface="Meiryo"/>
              </a:rPr>
              <a:t>cdr</a:t>
            </a:r>
            <a:r>
              <a:rPr sz="2050" spc="-35" dirty="0">
                <a:solidFill>
                  <a:srgbClr val="231F20"/>
                </a:solidFill>
                <a:latin typeface="Tahoma"/>
                <a:cs typeface="Tahoma"/>
              </a:rPr>
              <a:t>(</a:t>
            </a:r>
            <a:r>
              <a:rPr sz="2050" i="1" spc="-35" dirty="0">
                <a:solidFill>
                  <a:srgbClr val="231F20"/>
                </a:solidFill>
                <a:latin typeface="Meiryo"/>
                <a:cs typeface="Meiryo"/>
              </a:rPr>
              <a:t>x</a:t>
            </a:r>
            <a:r>
              <a:rPr sz="2050" spc="-35" dirty="0">
                <a:solidFill>
                  <a:srgbClr val="231F20"/>
                </a:solidFill>
                <a:latin typeface="Tahoma"/>
                <a:cs typeface="Tahoma"/>
              </a:rPr>
              <a:t>)</a:t>
            </a:r>
            <a:r>
              <a:rPr sz="2050" i="1" spc="-35" dirty="0">
                <a:solidFill>
                  <a:srgbClr val="231F20"/>
                </a:solidFill>
                <a:latin typeface="Meiryo"/>
                <a:cs typeface="Meiryo"/>
              </a:rPr>
              <a:t>,</a:t>
            </a:r>
            <a:r>
              <a:rPr sz="2050" i="1" spc="-355" dirty="0">
                <a:solidFill>
                  <a:srgbClr val="231F20"/>
                </a:solidFill>
                <a:latin typeface="Meiryo"/>
                <a:cs typeface="Meiryo"/>
              </a:rPr>
              <a:t> </a:t>
            </a:r>
            <a:r>
              <a:rPr sz="2050" i="1" spc="-15" dirty="0">
                <a:solidFill>
                  <a:srgbClr val="231F20"/>
                </a:solidFill>
                <a:latin typeface="Meiryo"/>
                <a:cs typeface="Meiryo"/>
              </a:rPr>
              <a:t>y</a:t>
            </a:r>
            <a:r>
              <a:rPr sz="2050" spc="-15" dirty="0">
                <a:solidFill>
                  <a:srgbClr val="231F20"/>
                </a:solidFill>
                <a:latin typeface="Tahoma"/>
                <a:cs typeface="Tahoma"/>
              </a:rPr>
              <a:t>))</a:t>
            </a:r>
            <a:endParaRPr sz="2050">
              <a:latin typeface="Tahoma"/>
              <a:cs typeface="Tahoma"/>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136890" cy="5932170"/>
          </a:xfrm>
          <a:prstGeom prst="rect">
            <a:avLst/>
          </a:prstGeom>
        </p:spPr>
        <p:txBody>
          <a:bodyPr vert="horz" wrap="square" lIns="0" tIns="0" rIns="0" bIns="0" rtlCol="0">
            <a:spAutoFit/>
          </a:bodyPr>
          <a:lstStyle/>
          <a:p>
            <a:pPr marL="1931035">
              <a:lnSpc>
                <a:spcPct val="100000"/>
              </a:lnSpc>
            </a:pPr>
            <a:r>
              <a:rPr sz="1950" spc="270" dirty="0">
                <a:solidFill>
                  <a:srgbClr val="FF0000"/>
                </a:solidFill>
                <a:latin typeface="Arial"/>
                <a:cs typeface="Arial"/>
              </a:rPr>
              <a:t>Combined </a:t>
            </a:r>
            <a:r>
              <a:rPr sz="1950" spc="229" dirty="0">
                <a:solidFill>
                  <a:srgbClr val="231F20"/>
                </a:solidFill>
                <a:latin typeface="Arial"/>
                <a:cs typeface="Arial"/>
              </a:rPr>
              <a:t>Decision</a:t>
            </a:r>
            <a:r>
              <a:rPr sz="1950" spc="425" dirty="0">
                <a:solidFill>
                  <a:srgbClr val="231F20"/>
                </a:solidFill>
                <a:latin typeface="Arial"/>
                <a:cs typeface="Arial"/>
              </a:rPr>
              <a:t> </a:t>
            </a:r>
            <a:r>
              <a:rPr sz="1950" spc="240" dirty="0">
                <a:solidFill>
                  <a:srgbClr val="231F20"/>
                </a:solidFill>
                <a:latin typeface="Arial"/>
                <a:cs typeface="Arial"/>
              </a:rPr>
              <a:t>Procedures</a:t>
            </a:r>
            <a:endParaRPr sz="1950">
              <a:latin typeface="Arial"/>
              <a:cs typeface="Arial"/>
            </a:endParaRPr>
          </a:p>
          <a:p>
            <a:pPr marL="300990" indent="-288290">
              <a:lnSpc>
                <a:spcPct val="100000"/>
              </a:lnSpc>
              <a:spcBef>
                <a:spcPts val="1614"/>
              </a:spcBef>
              <a:buSzPct val="105128"/>
              <a:buFont typeface="Lucida Sans Unicode"/>
              <a:buChar char="•"/>
              <a:tabLst>
                <a:tab pos="301625" algn="l"/>
              </a:tabLst>
            </a:pPr>
            <a:r>
              <a:rPr sz="1950" spc="135" dirty="0">
                <a:solidFill>
                  <a:srgbClr val="231F20"/>
                </a:solidFill>
                <a:latin typeface="Arial"/>
                <a:cs typeface="Arial"/>
              </a:rPr>
              <a:t>Some </a:t>
            </a:r>
            <a:r>
              <a:rPr sz="1950" spc="150" dirty="0">
                <a:solidFill>
                  <a:srgbClr val="FF0000"/>
                </a:solidFill>
                <a:latin typeface="Arial"/>
                <a:cs typeface="Arial"/>
              </a:rPr>
              <a:t>combinations </a:t>
            </a:r>
            <a:r>
              <a:rPr sz="1950" spc="185" dirty="0">
                <a:solidFill>
                  <a:srgbClr val="231F20"/>
                </a:solidFill>
                <a:latin typeface="Arial"/>
                <a:cs typeface="Arial"/>
              </a:rPr>
              <a:t>of </a:t>
            </a:r>
            <a:r>
              <a:rPr sz="1950" spc="100" dirty="0">
                <a:solidFill>
                  <a:srgbClr val="231F20"/>
                </a:solidFill>
                <a:latin typeface="Arial"/>
                <a:cs typeface="Arial"/>
              </a:rPr>
              <a:t>decidable </a:t>
            </a:r>
            <a:r>
              <a:rPr sz="1950" spc="110" dirty="0">
                <a:solidFill>
                  <a:srgbClr val="231F20"/>
                </a:solidFill>
                <a:latin typeface="Arial"/>
                <a:cs typeface="Arial"/>
              </a:rPr>
              <a:t>theories </a:t>
            </a:r>
            <a:r>
              <a:rPr sz="1950" spc="65" dirty="0">
                <a:solidFill>
                  <a:srgbClr val="231F20"/>
                </a:solidFill>
                <a:latin typeface="Arial"/>
                <a:cs typeface="Arial"/>
              </a:rPr>
              <a:t>are </a:t>
            </a:r>
            <a:r>
              <a:rPr sz="1950" spc="220" dirty="0">
                <a:solidFill>
                  <a:srgbClr val="FF0000"/>
                </a:solidFill>
                <a:latin typeface="Arial"/>
                <a:cs typeface="Arial"/>
              </a:rPr>
              <a:t>not </a:t>
            </a:r>
            <a:r>
              <a:rPr sz="1950" spc="500" dirty="0">
                <a:solidFill>
                  <a:srgbClr val="FF0000"/>
                </a:solidFill>
                <a:latin typeface="Arial"/>
                <a:cs typeface="Arial"/>
              </a:rPr>
              <a:t> </a:t>
            </a:r>
            <a:r>
              <a:rPr sz="1950" spc="100" dirty="0">
                <a:solidFill>
                  <a:srgbClr val="231F20"/>
                </a:solidFill>
                <a:latin typeface="Arial"/>
                <a:cs typeface="Arial"/>
              </a:rPr>
              <a:t>decidable</a:t>
            </a:r>
            <a:endParaRPr sz="1950">
              <a:latin typeface="Arial"/>
              <a:cs typeface="Arial"/>
            </a:endParaRPr>
          </a:p>
          <a:p>
            <a:pPr marL="741680" marR="5080" lvl="1" indent="-288290">
              <a:lnSpc>
                <a:spcPct val="125000"/>
              </a:lnSpc>
              <a:spcBef>
                <a:spcPts val="414"/>
              </a:spcBef>
              <a:buSzPct val="105128"/>
              <a:buFont typeface="Lucida Sans Unicode"/>
              <a:buChar char="◦"/>
              <a:tabLst>
                <a:tab pos="742315" algn="l"/>
              </a:tabLst>
            </a:pPr>
            <a:r>
              <a:rPr sz="1950" spc="160" dirty="0">
                <a:solidFill>
                  <a:srgbClr val="231F20"/>
                </a:solidFill>
                <a:latin typeface="Arial"/>
                <a:cs typeface="Arial"/>
              </a:rPr>
              <a:t>E.g., </a:t>
            </a:r>
            <a:r>
              <a:rPr sz="1950" spc="150" dirty="0">
                <a:solidFill>
                  <a:srgbClr val="231F20"/>
                </a:solidFill>
                <a:latin typeface="Arial"/>
                <a:cs typeface="Arial"/>
              </a:rPr>
              <a:t>quantified theory </a:t>
            </a:r>
            <a:r>
              <a:rPr sz="1950" spc="185" dirty="0">
                <a:solidFill>
                  <a:srgbClr val="231F20"/>
                </a:solidFill>
                <a:latin typeface="Arial"/>
                <a:cs typeface="Arial"/>
              </a:rPr>
              <a:t>of </a:t>
            </a:r>
            <a:r>
              <a:rPr sz="1950" spc="140" dirty="0">
                <a:solidFill>
                  <a:srgbClr val="231F20"/>
                </a:solidFill>
                <a:latin typeface="Arial"/>
                <a:cs typeface="Arial"/>
              </a:rPr>
              <a:t>integer </a:t>
            </a:r>
            <a:r>
              <a:rPr sz="1950" spc="170" dirty="0">
                <a:solidFill>
                  <a:srgbClr val="231F20"/>
                </a:solidFill>
                <a:latin typeface="Arial"/>
                <a:cs typeface="Arial"/>
              </a:rPr>
              <a:t>arithmetic </a:t>
            </a:r>
            <a:r>
              <a:rPr sz="1950" spc="155" dirty="0">
                <a:solidFill>
                  <a:srgbClr val="231F20"/>
                </a:solidFill>
                <a:latin typeface="Arial"/>
                <a:cs typeface="Arial"/>
              </a:rPr>
              <a:t>(Presburger)  </a:t>
            </a:r>
            <a:r>
              <a:rPr sz="1950" spc="130" dirty="0">
                <a:solidFill>
                  <a:srgbClr val="231F20"/>
                </a:solidFill>
                <a:latin typeface="Arial"/>
                <a:cs typeface="Arial"/>
              </a:rPr>
              <a:t>and equality </a:t>
            </a:r>
            <a:r>
              <a:rPr sz="1950" spc="114" dirty="0">
                <a:solidFill>
                  <a:srgbClr val="231F20"/>
                </a:solidFill>
                <a:latin typeface="Arial"/>
                <a:cs typeface="Arial"/>
              </a:rPr>
              <a:t>over </a:t>
            </a:r>
            <a:r>
              <a:rPr sz="1950" spc="145" dirty="0">
                <a:solidFill>
                  <a:srgbClr val="231F20"/>
                </a:solidFill>
                <a:latin typeface="Arial"/>
                <a:cs typeface="Arial"/>
              </a:rPr>
              <a:t>uninterpreted </a:t>
            </a:r>
            <a:r>
              <a:rPr sz="1950" spc="175" dirty="0">
                <a:solidFill>
                  <a:srgbClr val="231F20"/>
                </a:solidFill>
                <a:latin typeface="Arial"/>
                <a:cs typeface="Arial"/>
              </a:rPr>
              <a:t>function</a:t>
            </a:r>
            <a:r>
              <a:rPr sz="1950" spc="885" dirty="0">
                <a:solidFill>
                  <a:srgbClr val="231F20"/>
                </a:solidFill>
                <a:latin typeface="Arial"/>
                <a:cs typeface="Arial"/>
              </a:rPr>
              <a:t> </a:t>
            </a:r>
            <a:r>
              <a:rPr sz="1950" spc="120" dirty="0">
                <a:solidFill>
                  <a:srgbClr val="231F20"/>
                </a:solidFill>
                <a:latin typeface="Arial"/>
                <a:cs typeface="Arial"/>
              </a:rPr>
              <a:t>symbols</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95" dirty="0">
                <a:solidFill>
                  <a:srgbClr val="231F20"/>
                </a:solidFill>
                <a:latin typeface="Arial"/>
                <a:cs typeface="Arial"/>
              </a:rPr>
              <a:t>Need </a:t>
            </a:r>
            <a:r>
              <a:rPr sz="1950" spc="250" dirty="0">
                <a:solidFill>
                  <a:srgbClr val="231F20"/>
                </a:solidFill>
                <a:latin typeface="Arial"/>
                <a:cs typeface="Arial"/>
              </a:rPr>
              <a:t>to </a:t>
            </a:r>
            <a:r>
              <a:rPr sz="1950" spc="130" dirty="0">
                <a:solidFill>
                  <a:srgbClr val="231F20"/>
                </a:solidFill>
                <a:latin typeface="Arial"/>
                <a:cs typeface="Arial"/>
              </a:rPr>
              <a:t>make </a:t>
            </a:r>
            <a:r>
              <a:rPr sz="1950" spc="160" dirty="0">
                <a:solidFill>
                  <a:srgbClr val="231F20"/>
                </a:solidFill>
                <a:latin typeface="Arial"/>
                <a:cs typeface="Arial"/>
              </a:rPr>
              <a:t>pragmatic</a:t>
            </a:r>
            <a:r>
              <a:rPr sz="1950" spc="620" dirty="0">
                <a:solidFill>
                  <a:srgbClr val="231F20"/>
                </a:solidFill>
                <a:latin typeface="Arial"/>
                <a:cs typeface="Arial"/>
              </a:rPr>
              <a:t> </a:t>
            </a:r>
            <a:r>
              <a:rPr sz="1950" spc="125" dirty="0">
                <a:solidFill>
                  <a:srgbClr val="231F20"/>
                </a:solidFill>
                <a:latin typeface="Arial"/>
                <a:cs typeface="Arial"/>
              </a:rPr>
              <a:t>compromises</a:t>
            </a:r>
            <a:endParaRPr sz="1950">
              <a:latin typeface="Arial"/>
              <a:cs typeface="Arial"/>
            </a:endParaRPr>
          </a:p>
          <a:p>
            <a:pPr marL="741680" marR="353695" lvl="1" indent="-288290">
              <a:lnSpc>
                <a:spcPct val="125000"/>
              </a:lnSpc>
              <a:spcBef>
                <a:spcPts val="414"/>
              </a:spcBef>
              <a:buSzPct val="105128"/>
              <a:buFont typeface="Lucida Sans Unicode"/>
              <a:buChar char="◦"/>
              <a:tabLst>
                <a:tab pos="742315" algn="l"/>
              </a:tabLst>
            </a:pPr>
            <a:r>
              <a:rPr sz="1950" spc="160" dirty="0">
                <a:solidFill>
                  <a:srgbClr val="231F20"/>
                </a:solidFill>
                <a:latin typeface="Arial"/>
                <a:cs typeface="Arial"/>
              </a:rPr>
              <a:t>E.g., </a:t>
            </a:r>
            <a:r>
              <a:rPr sz="1950" spc="150" dirty="0">
                <a:solidFill>
                  <a:srgbClr val="231F20"/>
                </a:solidFill>
                <a:latin typeface="Arial"/>
                <a:cs typeface="Arial"/>
              </a:rPr>
              <a:t>stick </a:t>
            </a:r>
            <a:r>
              <a:rPr sz="1950" spc="250" dirty="0">
                <a:solidFill>
                  <a:srgbClr val="231F20"/>
                </a:solidFill>
                <a:latin typeface="Arial"/>
                <a:cs typeface="Arial"/>
              </a:rPr>
              <a:t>to </a:t>
            </a:r>
            <a:r>
              <a:rPr sz="1950" spc="155" dirty="0">
                <a:solidFill>
                  <a:srgbClr val="231F20"/>
                </a:solidFill>
                <a:latin typeface="Arial"/>
                <a:cs typeface="Arial"/>
              </a:rPr>
              <a:t>ground </a:t>
            </a:r>
            <a:r>
              <a:rPr sz="1950" spc="175" dirty="0">
                <a:solidFill>
                  <a:srgbClr val="231F20"/>
                </a:solidFill>
                <a:latin typeface="Arial"/>
                <a:cs typeface="Arial"/>
              </a:rPr>
              <a:t>(unquantified) </a:t>
            </a:r>
            <a:r>
              <a:rPr sz="1950" spc="110" dirty="0">
                <a:solidFill>
                  <a:srgbClr val="231F20"/>
                </a:solidFill>
                <a:latin typeface="Arial"/>
                <a:cs typeface="Arial"/>
              </a:rPr>
              <a:t>theories </a:t>
            </a:r>
            <a:r>
              <a:rPr sz="1950" spc="130" dirty="0">
                <a:solidFill>
                  <a:srgbClr val="231F20"/>
                </a:solidFill>
                <a:latin typeface="Arial"/>
                <a:cs typeface="Arial"/>
              </a:rPr>
              <a:t>and </a:t>
            </a:r>
            <a:r>
              <a:rPr sz="1950" spc="70" dirty="0">
                <a:solidFill>
                  <a:srgbClr val="231F20"/>
                </a:solidFill>
                <a:latin typeface="Arial"/>
                <a:cs typeface="Arial"/>
              </a:rPr>
              <a:t>leave  </a:t>
            </a:r>
            <a:r>
              <a:rPr sz="1950" spc="165" dirty="0">
                <a:solidFill>
                  <a:srgbClr val="231F20"/>
                </a:solidFill>
                <a:latin typeface="Arial"/>
                <a:cs typeface="Arial"/>
              </a:rPr>
              <a:t>quantification </a:t>
            </a:r>
            <a:r>
              <a:rPr sz="1950" spc="250" dirty="0">
                <a:solidFill>
                  <a:srgbClr val="231F20"/>
                </a:solidFill>
                <a:latin typeface="Arial"/>
                <a:cs typeface="Arial"/>
              </a:rPr>
              <a:t>to </a:t>
            </a:r>
            <a:r>
              <a:rPr sz="1950" spc="114" dirty="0">
                <a:solidFill>
                  <a:srgbClr val="231F20"/>
                </a:solidFill>
                <a:latin typeface="Arial"/>
                <a:cs typeface="Arial"/>
              </a:rPr>
              <a:t>heuristics </a:t>
            </a:r>
            <a:r>
              <a:rPr sz="1950" spc="215" dirty="0">
                <a:solidFill>
                  <a:srgbClr val="231F20"/>
                </a:solidFill>
                <a:latin typeface="Arial"/>
                <a:cs typeface="Arial"/>
              </a:rPr>
              <a:t>at </a:t>
            </a:r>
            <a:r>
              <a:rPr sz="1950" spc="85" dirty="0">
                <a:solidFill>
                  <a:srgbClr val="231F20"/>
                </a:solidFill>
                <a:latin typeface="Arial"/>
                <a:cs typeface="Arial"/>
              </a:rPr>
              <a:t>a </a:t>
            </a:r>
            <a:r>
              <a:rPr sz="1950" spc="125" dirty="0">
                <a:solidFill>
                  <a:srgbClr val="231F20"/>
                </a:solidFill>
                <a:latin typeface="Arial"/>
                <a:cs typeface="Arial"/>
              </a:rPr>
              <a:t>higher </a:t>
            </a:r>
            <a:r>
              <a:rPr sz="1950" spc="160" dirty="0">
                <a:solidFill>
                  <a:srgbClr val="231F20"/>
                </a:solidFill>
                <a:latin typeface="Arial"/>
                <a:cs typeface="Arial"/>
              </a:rPr>
              <a:t> </a:t>
            </a:r>
            <a:r>
              <a:rPr sz="1950" spc="75" dirty="0">
                <a:solidFill>
                  <a:srgbClr val="231F20"/>
                </a:solidFill>
                <a:latin typeface="Arial"/>
                <a:cs typeface="Arial"/>
              </a:rPr>
              <a:t>level</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300" dirty="0">
                <a:solidFill>
                  <a:srgbClr val="231F20"/>
                </a:solidFill>
                <a:latin typeface="Arial"/>
                <a:cs typeface="Arial"/>
              </a:rPr>
              <a:t>Two </a:t>
            </a:r>
            <a:r>
              <a:rPr sz="1950" spc="90" dirty="0">
                <a:solidFill>
                  <a:srgbClr val="231F20"/>
                </a:solidFill>
                <a:latin typeface="Arial"/>
                <a:cs typeface="Arial"/>
              </a:rPr>
              <a:t>basic </a:t>
            </a:r>
            <a:r>
              <a:rPr sz="1950" spc="165" dirty="0">
                <a:solidFill>
                  <a:srgbClr val="231F20"/>
                </a:solidFill>
                <a:latin typeface="Arial"/>
                <a:cs typeface="Arial"/>
              </a:rPr>
              <a:t>methods </a:t>
            </a:r>
            <a:r>
              <a:rPr sz="1950" spc="155" dirty="0">
                <a:solidFill>
                  <a:srgbClr val="231F20"/>
                </a:solidFill>
                <a:latin typeface="Arial"/>
                <a:cs typeface="Arial"/>
              </a:rPr>
              <a:t>for combining </a:t>
            </a:r>
            <a:r>
              <a:rPr sz="1950" spc="100" dirty="0">
                <a:solidFill>
                  <a:srgbClr val="231F20"/>
                </a:solidFill>
                <a:latin typeface="Arial"/>
                <a:cs typeface="Arial"/>
              </a:rPr>
              <a:t>decision </a:t>
            </a:r>
            <a:r>
              <a:rPr sz="1950" spc="210" dirty="0">
                <a:solidFill>
                  <a:srgbClr val="231F20"/>
                </a:solidFill>
                <a:latin typeface="Arial"/>
                <a:cs typeface="Arial"/>
              </a:rPr>
              <a:t> </a:t>
            </a:r>
            <a:r>
              <a:rPr sz="1950" spc="105" dirty="0">
                <a:solidFill>
                  <a:srgbClr val="231F20"/>
                </a:solidFill>
                <a:latin typeface="Arial"/>
                <a:cs typeface="Arial"/>
              </a:rPr>
              <a:t>procedures</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 pos="2788920" algn="l"/>
              </a:tabLst>
            </a:pPr>
            <a:r>
              <a:rPr sz="1950" spc="140" dirty="0">
                <a:solidFill>
                  <a:srgbClr val="231F20"/>
                </a:solidFill>
                <a:latin typeface="Arial"/>
                <a:cs typeface="Arial"/>
              </a:rPr>
              <a:t>Nelson-Oppen:	</a:t>
            </a:r>
            <a:r>
              <a:rPr sz="1950" spc="120" dirty="0">
                <a:solidFill>
                  <a:srgbClr val="231F20"/>
                </a:solidFill>
                <a:latin typeface="Arial"/>
                <a:cs typeface="Arial"/>
              </a:rPr>
              <a:t>fewest</a:t>
            </a:r>
            <a:r>
              <a:rPr sz="1950" spc="260" dirty="0">
                <a:solidFill>
                  <a:srgbClr val="231F20"/>
                </a:solidFill>
                <a:latin typeface="Arial"/>
                <a:cs typeface="Arial"/>
              </a:rPr>
              <a:t> </a:t>
            </a:r>
            <a:r>
              <a:rPr sz="1950" spc="135" dirty="0">
                <a:solidFill>
                  <a:srgbClr val="231F20"/>
                </a:solidFill>
                <a:latin typeface="Arial"/>
                <a:cs typeface="Arial"/>
              </a:rPr>
              <a:t>restrictions</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 pos="1990725" algn="l"/>
              </a:tabLst>
            </a:pPr>
            <a:r>
              <a:rPr sz="1950" spc="140" dirty="0">
                <a:solidFill>
                  <a:srgbClr val="231F20"/>
                </a:solidFill>
                <a:latin typeface="Arial"/>
                <a:cs typeface="Arial"/>
              </a:rPr>
              <a:t>Shostak:	</a:t>
            </a:r>
            <a:r>
              <a:rPr sz="1950" spc="135" dirty="0">
                <a:solidFill>
                  <a:srgbClr val="231F20"/>
                </a:solidFill>
                <a:latin typeface="Arial"/>
                <a:cs typeface="Arial"/>
              </a:rPr>
              <a:t>faster, </a:t>
            </a:r>
            <a:r>
              <a:rPr sz="1950" spc="80" dirty="0">
                <a:solidFill>
                  <a:srgbClr val="231F20"/>
                </a:solidFill>
                <a:latin typeface="Arial"/>
                <a:cs typeface="Arial"/>
              </a:rPr>
              <a:t>yields </a:t>
            </a:r>
            <a:r>
              <a:rPr sz="1950" spc="85" dirty="0">
                <a:solidFill>
                  <a:srgbClr val="231F20"/>
                </a:solidFill>
                <a:latin typeface="Arial"/>
                <a:cs typeface="Arial"/>
              </a:rPr>
              <a:t>a </a:t>
            </a:r>
            <a:r>
              <a:rPr sz="1950" spc="114" dirty="0">
                <a:solidFill>
                  <a:srgbClr val="231F20"/>
                </a:solidFill>
                <a:latin typeface="Arial"/>
                <a:cs typeface="Arial"/>
              </a:rPr>
              <a:t>canonizer </a:t>
            </a:r>
            <a:r>
              <a:rPr sz="1950" spc="155" dirty="0">
                <a:solidFill>
                  <a:srgbClr val="231F20"/>
                </a:solidFill>
                <a:latin typeface="Arial"/>
                <a:cs typeface="Arial"/>
              </a:rPr>
              <a:t>for </a:t>
            </a:r>
            <a:r>
              <a:rPr sz="1950" spc="145" dirty="0">
                <a:solidFill>
                  <a:srgbClr val="231F20"/>
                </a:solidFill>
                <a:latin typeface="Arial"/>
                <a:cs typeface="Arial"/>
              </a:rPr>
              <a:t>combined </a:t>
            </a:r>
            <a:r>
              <a:rPr sz="1950" spc="430" dirty="0">
                <a:solidFill>
                  <a:srgbClr val="231F20"/>
                </a:solidFill>
                <a:latin typeface="Arial"/>
                <a:cs typeface="Arial"/>
              </a:rPr>
              <a:t> </a:t>
            </a:r>
            <a:r>
              <a:rPr sz="1950" spc="150" dirty="0">
                <a:solidFill>
                  <a:srgbClr val="231F20"/>
                </a:solidFill>
                <a:latin typeface="Arial"/>
                <a:cs typeface="Arial"/>
              </a:rPr>
              <a:t>theory</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35" dirty="0">
                <a:solidFill>
                  <a:srgbClr val="231F20"/>
                </a:solidFill>
                <a:latin typeface="Arial"/>
                <a:cs typeface="Arial"/>
              </a:rPr>
              <a:t>Shostak’s </a:t>
            </a:r>
            <a:r>
              <a:rPr sz="1950" spc="200" dirty="0">
                <a:solidFill>
                  <a:srgbClr val="231F20"/>
                </a:solidFill>
                <a:latin typeface="Arial"/>
                <a:cs typeface="Arial"/>
              </a:rPr>
              <a:t>method </a:t>
            </a:r>
            <a:r>
              <a:rPr sz="1950" spc="40" dirty="0">
                <a:solidFill>
                  <a:srgbClr val="231F20"/>
                </a:solidFill>
                <a:latin typeface="Arial"/>
                <a:cs typeface="Arial"/>
              </a:rPr>
              <a:t>is </a:t>
            </a:r>
            <a:r>
              <a:rPr sz="1950" spc="70" dirty="0">
                <a:solidFill>
                  <a:srgbClr val="231F20"/>
                </a:solidFill>
                <a:latin typeface="Arial"/>
                <a:cs typeface="Arial"/>
              </a:rPr>
              <a:t>used </a:t>
            </a:r>
            <a:r>
              <a:rPr sz="1950" spc="130" dirty="0">
                <a:solidFill>
                  <a:srgbClr val="231F20"/>
                </a:solidFill>
                <a:latin typeface="Arial"/>
                <a:cs typeface="Arial"/>
              </a:rPr>
              <a:t>in </a:t>
            </a:r>
            <a:r>
              <a:rPr sz="1950" spc="245" dirty="0">
                <a:solidFill>
                  <a:srgbClr val="231F20"/>
                </a:solidFill>
                <a:latin typeface="Arial"/>
                <a:cs typeface="Arial"/>
              </a:rPr>
              <a:t> </a:t>
            </a:r>
            <a:r>
              <a:rPr sz="1950" spc="204" dirty="0">
                <a:solidFill>
                  <a:srgbClr val="231F20"/>
                </a:solidFill>
                <a:latin typeface="Arial"/>
                <a:cs typeface="Arial"/>
              </a:rPr>
              <a:t>PVS</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75" dirty="0">
                <a:solidFill>
                  <a:srgbClr val="231F20"/>
                </a:solidFill>
                <a:latin typeface="Arial"/>
                <a:cs typeface="Arial"/>
              </a:rPr>
              <a:t>Over </a:t>
            </a:r>
            <a:r>
              <a:rPr sz="1950" spc="155" dirty="0">
                <a:solidFill>
                  <a:srgbClr val="231F20"/>
                </a:solidFill>
                <a:latin typeface="Arial"/>
                <a:cs typeface="Arial"/>
              </a:rPr>
              <a:t>20 </a:t>
            </a:r>
            <a:r>
              <a:rPr sz="1950" spc="45" dirty="0">
                <a:solidFill>
                  <a:srgbClr val="231F20"/>
                </a:solidFill>
                <a:latin typeface="Arial"/>
                <a:cs typeface="Arial"/>
              </a:rPr>
              <a:t>years </a:t>
            </a:r>
            <a:r>
              <a:rPr sz="1950" spc="210" dirty="0">
                <a:solidFill>
                  <a:srgbClr val="231F20"/>
                </a:solidFill>
                <a:latin typeface="Arial"/>
                <a:cs typeface="Arial"/>
              </a:rPr>
              <a:t>from </a:t>
            </a:r>
            <a:r>
              <a:rPr sz="1950" spc="165" dirty="0">
                <a:solidFill>
                  <a:srgbClr val="231F20"/>
                </a:solidFill>
                <a:latin typeface="Arial"/>
                <a:cs typeface="Arial"/>
              </a:rPr>
              <a:t>first </a:t>
            </a:r>
            <a:r>
              <a:rPr sz="1950" spc="130" dirty="0">
                <a:solidFill>
                  <a:srgbClr val="231F20"/>
                </a:solidFill>
                <a:latin typeface="Arial"/>
                <a:cs typeface="Arial"/>
              </a:rPr>
              <a:t>paper </a:t>
            </a:r>
            <a:r>
              <a:rPr sz="1950" spc="250" dirty="0">
                <a:solidFill>
                  <a:srgbClr val="231F20"/>
                </a:solidFill>
                <a:latin typeface="Arial"/>
                <a:cs typeface="Arial"/>
              </a:rPr>
              <a:t>to </a:t>
            </a:r>
            <a:r>
              <a:rPr sz="1950" spc="145" dirty="0">
                <a:solidFill>
                  <a:srgbClr val="231F20"/>
                </a:solidFill>
                <a:latin typeface="Arial"/>
                <a:cs typeface="Arial"/>
              </a:rPr>
              <a:t>fully correct </a:t>
            </a:r>
            <a:r>
              <a:rPr sz="1950" spc="555" dirty="0">
                <a:solidFill>
                  <a:srgbClr val="231F20"/>
                </a:solidFill>
                <a:latin typeface="Arial"/>
                <a:cs typeface="Arial"/>
              </a:rPr>
              <a:t> </a:t>
            </a:r>
            <a:r>
              <a:rPr sz="1950" spc="200" dirty="0">
                <a:solidFill>
                  <a:srgbClr val="231F20"/>
                </a:solidFill>
                <a:latin typeface="Arial"/>
                <a:cs typeface="Arial"/>
              </a:rPr>
              <a:t>treatment</a:t>
            </a:r>
            <a:endParaRPr sz="1950">
              <a:latin typeface="Arial"/>
              <a:cs typeface="Arial"/>
            </a:endParaRPr>
          </a:p>
          <a:p>
            <a:pPr marL="741680" marR="3412490" lvl="1" indent="-288290">
              <a:lnSpc>
                <a:spcPct val="125000"/>
              </a:lnSpc>
              <a:spcBef>
                <a:spcPts val="204"/>
              </a:spcBef>
              <a:buSzPct val="105128"/>
              <a:buFont typeface="Lucida Sans Unicode"/>
              <a:buChar char="◦"/>
              <a:tabLst>
                <a:tab pos="742315" algn="l"/>
              </a:tabLst>
            </a:pPr>
            <a:r>
              <a:rPr sz="1950" spc="175" dirty="0">
                <a:solidFill>
                  <a:srgbClr val="231F20"/>
                </a:solidFill>
                <a:latin typeface="Arial"/>
                <a:cs typeface="Arial"/>
              </a:rPr>
              <a:t>Now </a:t>
            </a:r>
            <a:r>
              <a:rPr sz="1950" spc="150" dirty="0">
                <a:solidFill>
                  <a:srgbClr val="231F20"/>
                </a:solidFill>
                <a:latin typeface="Arial"/>
                <a:cs typeface="Arial"/>
              </a:rPr>
              <a:t>formally </a:t>
            </a:r>
            <a:r>
              <a:rPr sz="1950" spc="114" dirty="0">
                <a:solidFill>
                  <a:srgbClr val="231F20"/>
                </a:solidFill>
                <a:latin typeface="Arial"/>
                <a:cs typeface="Arial"/>
              </a:rPr>
              <a:t>verified </a:t>
            </a:r>
            <a:r>
              <a:rPr sz="1950" spc="190" dirty="0">
                <a:solidFill>
                  <a:srgbClr val="231F20"/>
                </a:solidFill>
                <a:latin typeface="Arial"/>
                <a:cs typeface="Arial"/>
              </a:rPr>
              <a:t>(in </a:t>
            </a:r>
            <a:r>
              <a:rPr sz="1950" spc="235" dirty="0">
                <a:solidFill>
                  <a:srgbClr val="231F20"/>
                </a:solidFill>
                <a:latin typeface="Arial"/>
                <a:cs typeface="Arial"/>
              </a:rPr>
              <a:t>PVS)  </a:t>
            </a:r>
            <a:r>
              <a:rPr sz="1950" spc="105" dirty="0">
                <a:solidFill>
                  <a:srgbClr val="231F20"/>
                </a:solidFill>
                <a:latin typeface="Arial"/>
                <a:cs typeface="Arial"/>
              </a:rPr>
              <a:t>by </a:t>
            </a:r>
            <a:r>
              <a:rPr sz="1950" spc="160" dirty="0">
                <a:solidFill>
                  <a:srgbClr val="231F20"/>
                </a:solidFill>
                <a:latin typeface="Arial"/>
                <a:cs typeface="Arial"/>
              </a:rPr>
              <a:t>Jonathan</a:t>
            </a:r>
            <a:r>
              <a:rPr sz="1950" spc="395" dirty="0">
                <a:solidFill>
                  <a:srgbClr val="231F20"/>
                </a:solidFill>
                <a:latin typeface="Arial"/>
                <a:cs typeface="Arial"/>
              </a:rPr>
              <a:t> </a:t>
            </a:r>
            <a:r>
              <a:rPr sz="1950" spc="155" dirty="0">
                <a:solidFill>
                  <a:srgbClr val="231F20"/>
                </a:solidFill>
                <a:latin typeface="Arial"/>
                <a:cs typeface="Arial"/>
              </a:rPr>
              <a:t>Ford</a:t>
            </a:r>
            <a:endParaRPr sz="1950">
              <a:latin typeface="Arial"/>
              <a:cs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999708"/>
            <a:ext cx="8260715" cy="4789805"/>
          </a:xfrm>
          <a:prstGeom prst="rect">
            <a:avLst/>
          </a:prstGeom>
        </p:spPr>
        <p:txBody>
          <a:bodyPr vert="horz" wrap="square" lIns="0" tIns="0" rIns="0" bIns="0" rtlCol="0">
            <a:spAutoFit/>
          </a:bodyPr>
          <a:lstStyle/>
          <a:p>
            <a:pPr marL="1911985">
              <a:lnSpc>
                <a:spcPct val="100000"/>
              </a:lnSpc>
            </a:pPr>
            <a:r>
              <a:rPr sz="1950" spc="260" dirty="0">
                <a:solidFill>
                  <a:srgbClr val="FF0000"/>
                </a:solidFill>
                <a:latin typeface="Arial"/>
                <a:cs typeface="Arial"/>
              </a:rPr>
              <a:t>Integrated </a:t>
            </a:r>
            <a:r>
              <a:rPr sz="1950" spc="229" dirty="0">
                <a:solidFill>
                  <a:srgbClr val="231F20"/>
                </a:solidFill>
                <a:latin typeface="Arial"/>
                <a:cs typeface="Arial"/>
              </a:rPr>
              <a:t>Decision</a:t>
            </a:r>
            <a:r>
              <a:rPr sz="1950" spc="405" dirty="0">
                <a:solidFill>
                  <a:srgbClr val="231F20"/>
                </a:solidFill>
                <a:latin typeface="Arial"/>
                <a:cs typeface="Arial"/>
              </a:rPr>
              <a:t> </a:t>
            </a:r>
            <a:r>
              <a:rPr sz="1950" spc="240" dirty="0">
                <a:solidFill>
                  <a:srgbClr val="231F20"/>
                </a:solidFill>
                <a:latin typeface="Arial"/>
                <a:cs typeface="Arial"/>
              </a:rPr>
              <a:t>Procedures</a:t>
            </a:r>
            <a:endParaRPr sz="1950">
              <a:latin typeface="Arial"/>
              <a:cs typeface="Arial"/>
            </a:endParaRPr>
          </a:p>
          <a:p>
            <a:pPr marL="300990" marR="5080" indent="-288290">
              <a:lnSpc>
                <a:spcPct val="125000"/>
              </a:lnSpc>
              <a:spcBef>
                <a:spcPts val="1345"/>
              </a:spcBef>
              <a:buSzPct val="105128"/>
              <a:buFont typeface="Lucida Sans Unicode"/>
              <a:buChar char="•"/>
              <a:tabLst>
                <a:tab pos="301625" algn="l"/>
              </a:tabLst>
            </a:pPr>
            <a:r>
              <a:rPr sz="1950" spc="165" dirty="0">
                <a:solidFill>
                  <a:srgbClr val="231F20"/>
                </a:solidFill>
                <a:latin typeface="Arial"/>
                <a:cs typeface="Arial"/>
              </a:rPr>
              <a:t>It’s </a:t>
            </a:r>
            <a:r>
              <a:rPr sz="1950" spc="220" dirty="0">
                <a:solidFill>
                  <a:srgbClr val="231F20"/>
                </a:solidFill>
                <a:latin typeface="Arial"/>
                <a:cs typeface="Arial"/>
              </a:rPr>
              <a:t>not </a:t>
            </a:r>
            <a:r>
              <a:rPr sz="1950" spc="130" dirty="0">
                <a:solidFill>
                  <a:srgbClr val="231F20"/>
                </a:solidFill>
                <a:latin typeface="Arial"/>
                <a:cs typeface="Arial"/>
              </a:rPr>
              <a:t>enough </a:t>
            </a:r>
            <a:r>
              <a:rPr sz="1950" spc="250" dirty="0">
                <a:solidFill>
                  <a:srgbClr val="231F20"/>
                </a:solidFill>
                <a:latin typeface="Arial"/>
                <a:cs typeface="Arial"/>
              </a:rPr>
              <a:t>to </a:t>
            </a:r>
            <a:r>
              <a:rPr sz="1950" spc="95" dirty="0">
                <a:solidFill>
                  <a:srgbClr val="231F20"/>
                </a:solidFill>
                <a:latin typeface="Arial"/>
                <a:cs typeface="Arial"/>
              </a:rPr>
              <a:t>have </a:t>
            </a:r>
            <a:r>
              <a:rPr sz="1950" spc="185" dirty="0">
                <a:solidFill>
                  <a:srgbClr val="231F20"/>
                </a:solidFill>
                <a:latin typeface="Arial"/>
                <a:cs typeface="Arial"/>
              </a:rPr>
              <a:t>good </a:t>
            </a:r>
            <a:r>
              <a:rPr sz="1950" spc="100" dirty="0">
                <a:solidFill>
                  <a:srgbClr val="231F20"/>
                </a:solidFill>
                <a:latin typeface="Arial"/>
                <a:cs typeface="Arial"/>
              </a:rPr>
              <a:t>decision </a:t>
            </a:r>
            <a:r>
              <a:rPr sz="1950" spc="105" dirty="0">
                <a:solidFill>
                  <a:srgbClr val="231F20"/>
                </a:solidFill>
                <a:latin typeface="Arial"/>
                <a:cs typeface="Arial"/>
              </a:rPr>
              <a:t>procedures </a:t>
            </a:r>
            <a:r>
              <a:rPr sz="1950" spc="95" dirty="0">
                <a:solidFill>
                  <a:srgbClr val="231F20"/>
                </a:solidFill>
                <a:latin typeface="Arial"/>
                <a:cs typeface="Arial"/>
              </a:rPr>
              <a:t>available </a:t>
            </a:r>
            <a:r>
              <a:rPr sz="1950" spc="250" dirty="0">
                <a:solidFill>
                  <a:srgbClr val="231F20"/>
                </a:solidFill>
                <a:latin typeface="Arial"/>
                <a:cs typeface="Arial"/>
              </a:rPr>
              <a:t>to  </a:t>
            </a:r>
            <a:r>
              <a:rPr sz="1950" spc="95" dirty="0">
                <a:solidFill>
                  <a:srgbClr val="231F20"/>
                </a:solidFill>
                <a:latin typeface="Arial"/>
                <a:cs typeface="Arial"/>
              </a:rPr>
              <a:t>discharge </a:t>
            </a:r>
            <a:r>
              <a:rPr sz="1950" spc="175" dirty="0">
                <a:solidFill>
                  <a:srgbClr val="231F20"/>
                </a:solidFill>
                <a:latin typeface="Arial"/>
                <a:cs typeface="Arial"/>
              </a:rPr>
              <a:t>the </a:t>
            </a:r>
            <a:r>
              <a:rPr sz="1950" spc="50" dirty="0">
                <a:solidFill>
                  <a:srgbClr val="231F20"/>
                </a:solidFill>
                <a:latin typeface="Arial"/>
                <a:cs typeface="Arial"/>
              </a:rPr>
              <a:t>leaves </a:t>
            </a:r>
            <a:r>
              <a:rPr sz="1950" spc="185" dirty="0">
                <a:solidFill>
                  <a:srgbClr val="231F20"/>
                </a:solidFill>
                <a:latin typeface="Arial"/>
                <a:cs typeface="Arial"/>
              </a:rPr>
              <a:t>of </a:t>
            </a:r>
            <a:r>
              <a:rPr sz="1950" spc="85" dirty="0">
                <a:solidFill>
                  <a:srgbClr val="231F20"/>
                </a:solidFill>
                <a:latin typeface="Arial"/>
                <a:cs typeface="Arial"/>
              </a:rPr>
              <a:t>a </a:t>
            </a:r>
            <a:r>
              <a:rPr sz="1950" spc="229" dirty="0">
                <a:solidFill>
                  <a:srgbClr val="231F20"/>
                </a:solidFill>
                <a:latin typeface="Arial"/>
                <a:cs typeface="Arial"/>
              </a:rPr>
              <a:t> </a:t>
            </a:r>
            <a:r>
              <a:rPr sz="1950" spc="170" dirty="0">
                <a:solidFill>
                  <a:srgbClr val="231F20"/>
                </a:solidFill>
                <a:latin typeface="Arial"/>
                <a:cs typeface="Arial"/>
              </a:rPr>
              <a:t>proof</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 pos="2743200" algn="l"/>
              </a:tabLst>
            </a:pPr>
            <a:r>
              <a:rPr sz="1950" spc="250" dirty="0">
                <a:solidFill>
                  <a:srgbClr val="231F20"/>
                </a:solidFill>
                <a:latin typeface="Arial"/>
                <a:cs typeface="Arial"/>
              </a:rPr>
              <a:t>The </a:t>
            </a:r>
            <a:r>
              <a:rPr sz="1950" spc="630" dirty="0">
                <a:solidFill>
                  <a:srgbClr val="231F20"/>
                </a:solidFill>
                <a:latin typeface="Arial"/>
                <a:cs typeface="Arial"/>
              </a:rPr>
              <a:t> </a:t>
            </a:r>
            <a:r>
              <a:rPr sz="1950" spc="125" dirty="0">
                <a:solidFill>
                  <a:srgbClr val="FF0000"/>
                </a:solidFill>
                <a:latin typeface="Arial"/>
                <a:cs typeface="Arial"/>
              </a:rPr>
              <a:t>endgame</a:t>
            </a:r>
            <a:r>
              <a:rPr sz="1950" spc="125" dirty="0">
                <a:solidFill>
                  <a:srgbClr val="231F20"/>
                </a:solidFill>
                <a:latin typeface="Arial"/>
                <a:cs typeface="Arial"/>
              </a:rPr>
              <a:t>:	</a:t>
            </a:r>
            <a:r>
              <a:rPr sz="1950" spc="204" dirty="0">
                <a:solidFill>
                  <a:srgbClr val="231F20"/>
                </a:solidFill>
                <a:latin typeface="Arial"/>
                <a:cs typeface="Arial"/>
              </a:rPr>
              <a:t>PVS </a:t>
            </a:r>
            <a:r>
              <a:rPr sz="1950" spc="120" dirty="0">
                <a:solidFill>
                  <a:srgbClr val="231F20"/>
                </a:solidFill>
                <a:latin typeface="Arial"/>
                <a:cs typeface="Arial"/>
              </a:rPr>
              <a:t>can </a:t>
            </a:r>
            <a:r>
              <a:rPr sz="1950" spc="45" dirty="0">
                <a:solidFill>
                  <a:srgbClr val="231F20"/>
                </a:solidFill>
                <a:latin typeface="Arial"/>
                <a:cs typeface="Arial"/>
              </a:rPr>
              <a:t>use </a:t>
            </a:r>
            <a:r>
              <a:rPr sz="1950" spc="100" dirty="0">
                <a:solidFill>
                  <a:srgbClr val="231F20"/>
                </a:solidFill>
                <a:latin typeface="Arial"/>
                <a:cs typeface="Arial"/>
              </a:rPr>
              <a:t>Yices </a:t>
            </a:r>
            <a:r>
              <a:rPr sz="1950" spc="155" dirty="0">
                <a:solidFill>
                  <a:srgbClr val="231F20"/>
                </a:solidFill>
                <a:latin typeface="Arial"/>
                <a:cs typeface="Arial"/>
              </a:rPr>
              <a:t>for </a:t>
            </a:r>
            <a:r>
              <a:rPr sz="1950" spc="204" dirty="0">
                <a:solidFill>
                  <a:srgbClr val="231F20"/>
                </a:solidFill>
                <a:latin typeface="Arial"/>
                <a:cs typeface="Arial"/>
              </a:rPr>
              <a:t> </a:t>
            </a:r>
            <a:r>
              <a:rPr sz="1950" spc="235" dirty="0">
                <a:solidFill>
                  <a:srgbClr val="231F20"/>
                </a:solidFill>
                <a:latin typeface="Arial"/>
                <a:cs typeface="Arial"/>
              </a:rPr>
              <a:t>that</a:t>
            </a:r>
            <a:endParaRPr sz="1950">
              <a:latin typeface="Arial"/>
              <a:cs typeface="Arial"/>
            </a:endParaRPr>
          </a:p>
          <a:p>
            <a:pPr marL="300990" marR="598805" indent="-288290">
              <a:lnSpc>
                <a:spcPct val="125000"/>
              </a:lnSpc>
              <a:spcBef>
                <a:spcPts val="1345"/>
              </a:spcBef>
              <a:buSzPct val="105128"/>
              <a:buFont typeface="Lucida Sans Unicode"/>
              <a:buChar char="•"/>
              <a:tabLst>
                <a:tab pos="301625" algn="l"/>
                <a:tab pos="5290820" algn="l"/>
              </a:tabLst>
            </a:pPr>
            <a:r>
              <a:rPr sz="1950" spc="215" dirty="0">
                <a:solidFill>
                  <a:srgbClr val="231F20"/>
                </a:solidFill>
                <a:latin typeface="Arial"/>
                <a:cs typeface="Arial"/>
              </a:rPr>
              <a:t>They </a:t>
            </a:r>
            <a:r>
              <a:rPr sz="1950" spc="80" dirty="0">
                <a:solidFill>
                  <a:srgbClr val="231F20"/>
                </a:solidFill>
                <a:latin typeface="Arial"/>
                <a:cs typeface="Arial"/>
              </a:rPr>
              <a:t>need </a:t>
            </a:r>
            <a:r>
              <a:rPr sz="1950" spc="250" dirty="0">
                <a:solidFill>
                  <a:srgbClr val="231F20"/>
                </a:solidFill>
                <a:latin typeface="Arial"/>
                <a:cs typeface="Arial"/>
              </a:rPr>
              <a:t>to </a:t>
            </a:r>
            <a:r>
              <a:rPr sz="1950" spc="114" dirty="0">
                <a:solidFill>
                  <a:srgbClr val="231F20"/>
                </a:solidFill>
                <a:latin typeface="Arial"/>
                <a:cs typeface="Arial"/>
              </a:rPr>
              <a:t>be </a:t>
            </a:r>
            <a:r>
              <a:rPr sz="1950" spc="70" dirty="0">
                <a:solidFill>
                  <a:srgbClr val="231F20"/>
                </a:solidFill>
                <a:latin typeface="Arial"/>
                <a:cs typeface="Arial"/>
              </a:rPr>
              <a:t>used </a:t>
            </a:r>
            <a:r>
              <a:rPr sz="1950" spc="130" dirty="0">
                <a:solidFill>
                  <a:srgbClr val="231F20"/>
                </a:solidFill>
                <a:latin typeface="Arial"/>
                <a:cs typeface="Arial"/>
              </a:rPr>
              <a:t>in </a:t>
            </a:r>
            <a:r>
              <a:rPr sz="1950" spc="145" dirty="0">
                <a:solidFill>
                  <a:srgbClr val="231F20"/>
                </a:solidFill>
                <a:latin typeface="Arial"/>
                <a:cs typeface="Arial"/>
              </a:rPr>
              <a:t>simplification, </a:t>
            </a:r>
            <a:r>
              <a:rPr sz="1950" spc="155" dirty="0">
                <a:solidFill>
                  <a:srgbClr val="231F20"/>
                </a:solidFill>
                <a:latin typeface="Arial"/>
                <a:cs typeface="Arial"/>
              </a:rPr>
              <a:t>which </a:t>
            </a:r>
            <a:r>
              <a:rPr sz="1950" spc="95" dirty="0">
                <a:solidFill>
                  <a:srgbClr val="231F20"/>
                </a:solidFill>
                <a:latin typeface="Arial"/>
                <a:cs typeface="Arial"/>
              </a:rPr>
              <a:t>involves  recursive  </a:t>
            </a:r>
            <a:r>
              <a:rPr sz="1950" spc="150" dirty="0">
                <a:solidFill>
                  <a:srgbClr val="231F20"/>
                </a:solidFill>
                <a:latin typeface="Arial"/>
                <a:cs typeface="Arial"/>
              </a:rPr>
              <a:t>examination</a:t>
            </a:r>
            <a:r>
              <a:rPr sz="1950" spc="615" dirty="0">
                <a:solidFill>
                  <a:srgbClr val="231F20"/>
                </a:solidFill>
                <a:latin typeface="Arial"/>
                <a:cs typeface="Arial"/>
              </a:rPr>
              <a:t> </a:t>
            </a:r>
            <a:r>
              <a:rPr sz="1950" spc="185" dirty="0">
                <a:solidFill>
                  <a:srgbClr val="231F20"/>
                </a:solidFill>
                <a:latin typeface="Arial"/>
                <a:cs typeface="Arial"/>
              </a:rPr>
              <a:t>of</a:t>
            </a:r>
            <a:r>
              <a:rPr sz="1950" spc="675" dirty="0">
                <a:solidFill>
                  <a:srgbClr val="231F20"/>
                </a:solidFill>
                <a:latin typeface="Arial"/>
                <a:cs typeface="Arial"/>
              </a:rPr>
              <a:t> </a:t>
            </a:r>
            <a:r>
              <a:rPr sz="1950" spc="125" dirty="0">
                <a:solidFill>
                  <a:srgbClr val="231F20"/>
                </a:solidFill>
                <a:latin typeface="Arial"/>
                <a:cs typeface="Arial"/>
              </a:rPr>
              <a:t>subformulas:	repeatedly</a:t>
            </a:r>
            <a:r>
              <a:rPr sz="1950" spc="220" dirty="0">
                <a:solidFill>
                  <a:srgbClr val="231F20"/>
                </a:solidFill>
                <a:latin typeface="Arial"/>
                <a:cs typeface="Arial"/>
              </a:rPr>
              <a:t> </a:t>
            </a:r>
            <a:r>
              <a:rPr sz="1950" spc="135" dirty="0">
                <a:solidFill>
                  <a:srgbClr val="231F20"/>
                </a:solidFill>
                <a:latin typeface="Arial"/>
                <a:cs typeface="Arial"/>
              </a:rPr>
              <a:t>adding, </a:t>
            </a:r>
            <a:r>
              <a:rPr sz="1950" spc="145" dirty="0">
                <a:solidFill>
                  <a:srgbClr val="231F20"/>
                </a:solidFill>
                <a:latin typeface="Arial"/>
                <a:cs typeface="Arial"/>
              </a:rPr>
              <a:t> </a:t>
            </a:r>
            <a:r>
              <a:rPr sz="1950" spc="160" dirty="0">
                <a:solidFill>
                  <a:srgbClr val="231F20"/>
                </a:solidFill>
                <a:latin typeface="Arial"/>
                <a:cs typeface="Arial"/>
              </a:rPr>
              <a:t>subtracting, </a:t>
            </a:r>
            <a:r>
              <a:rPr sz="1950" spc="110" dirty="0">
                <a:solidFill>
                  <a:srgbClr val="231F20"/>
                </a:solidFill>
                <a:latin typeface="Arial"/>
                <a:cs typeface="Arial"/>
              </a:rPr>
              <a:t>asserting, </a:t>
            </a:r>
            <a:r>
              <a:rPr sz="1950" spc="130" dirty="0">
                <a:solidFill>
                  <a:srgbClr val="231F20"/>
                </a:solidFill>
                <a:latin typeface="Arial"/>
                <a:cs typeface="Arial"/>
              </a:rPr>
              <a:t>and </a:t>
            </a:r>
            <a:r>
              <a:rPr sz="1950" spc="120" dirty="0">
                <a:solidFill>
                  <a:srgbClr val="231F20"/>
                </a:solidFill>
                <a:latin typeface="Arial"/>
                <a:cs typeface="Arial"/>
              </a:rPr>
              <a:t>denying</a:t>
            </a:r>
            <a:r>
              <a:rPr sz="1950" spc="750" dirty="0">
                <a:solidFill>
                  <a:srgbClr val="231F20"/>
                </a:solidFill>
                <a:latin typeface="Arial"/>
                <a:cs typeface="Arial"/>
              </a:rPr>
              <a:t> </a:t>
            </a:r>
            <a:r>
              <a:rPr sz="1950" spc="125" dirty="0">
                <a:solidFill>
                  <a:srgbClr val="231F20"/>
                </a:solidFill>
                <a:latin typeface="Arial"/>
                <a:cs typeface="Arial"/>
              </a:rPr>
              <a:t>subformulas</a:t>
            </a:r>
            <a:endParaRPr sz="1950">
              <a:latin typeface="Arial"/>
              <a:cs typeface="Arial"/>
            </a:endParaRPr>
          </a:p>
          <a:p>
            <a:pPr marL="300990" marR="226695" indent="-288290">
              <a:lnSpc>
                <a:spcPct val="125000"/>
              </a:lnSpc>
              <a:spcBef>
                <a:spcPts val="1345"/>
              </a:spcBef>
              <a:buSzPct val="105128"/>
              <a:buFont typeface="Lucida Sans Unicode"/>
              <a:buChar char="•"/>
              <a:tabLst>
                <a:tab pos="301625" algn="l"/>
              </a:tabLst>
            </a:pPr>
            <a:r>
              <a:rPr sz="1950" spc="200" dirty="0">
                <a:solidFill>
                  <a:srgbClr val="231F20"/>
                </a:solidFill>
                <a:latin typeface="Arial"/>
                <a:cs typeface="Arial"/>
              </a:rPr>
              <a:t>And </a:t>
            </a:r>
            <a:r>
              <a:rPr sz="1950" spc="155" dirty="0">
                <a:solidFill>
                  <a:srgbClr val="231F20"/>
                </a:solidFill>
                <a:latin typeface="Arial"/>
                <a:cs typeface="Arial"/>
              </a:rPr>
              <a:t>integrated </a:t>
            </a:r>
            <a:r>
              <a:rPr sz="1950" spc="215" dirty="0">
                <a:solidFill>
                  <a:srgbClr val="231F20"/>
                </a:solidFill>
                <a:latin typeface="Arial"/>
                <a:cs typeface="Arial"/>
              </a:rPr>
              <a:t>with </a:t>
            </a:r>
            <a:r>
              <a:rPr sz="1950" spc="160" dirty="0">
                <a:solidFill>
                  <a:srgbClr val="231F20"/>
                </a:solidFill>
                <a:latin typeface="Arial"/>
                <a:cs typeface="Arial"/>
              </a:rPr>
              <a:t>rewriting, </a:t>
            </a:r>
            <a:r>
              <a:rPr sz="1950" spc="120" dirty="0">
                <a:solidFill>
                  <a:srgbClr val="231F20"/>
                </a:solidFill>
                <a:latin typeface="Arial"/>
                <a:cs typeface="Arial"/>
              </a:rPr>
              <a:t>where </a:t>
            </a:r>
            <a:r>
              <a:rPr sz="1950" spc="160" dirty="0">
                <a:solidFill>
                  <a:srgbClr val="231F20"/>
                </a:solidFill>
                <a:latin typeface="Arial"/>
                <a:cs typeface="Arial"/>
              </a:rPr>
              <a:t>they </a:t>
            </a:r>
            <a:r>
              <a:rPr sz="1950" spc="70" dirty="0">
                <a:solidFill>
                  <a:srgbClr val="231F20"/>
                </a:solidFill>
                <a:latin typeface="Arial"/>
                <a:cs typeface="Arial"/>
              </a:rPr>
              <a:t>used </a:t>
            </a:r>
            <a:r>
              <a:rPr sz="1950" spc="130" dirty="0">
                <a:solidFill>
                  <a:srgbClr val="231F20"/>
                </a:solidFill>
                <a:latin typeface="Arial"/>
                <a:cs typeface="Arial"/>
              </a:rPr>
              <a:t>in </a:t>
            </a:r>
            <a:r>
              <a:rPr sz="1950" spc="180" dirty="0">
                <a:solidFill>
                  <a:srgbClr val="231F20"/>
                </a:solidFill>
                <a:latin typeface="Arial"/>
                <a:cs typeface="Arial"/>
              </a:rPr>
              <a:t>matching  </a:t>
            </a:r>
            <a:r>
              <a:rPr sz="1950" spc="130" dirty="0">
                <a:solidFill>
                  <a:srgbClr val="231F20"/>
                </a:solidFill>
                <a:latin typeface="Arial"/>
                <a:cs typeface="Arial"/>
              </a:rPr>
              <a:t>and (recursively) </a:t>
            </a:r>
            <a:r>
              <a:rPr sz="1950" spc="250" dirty="0">
                <a:solidFill>
                  <a:srgbClr val="231F20"/>
                </a:solidFill>
                <a:latin typeface="Arial"/>
                <a:cs typeface="Arial"/>
              </a:rPr>
              <a:t>to </a:t>
            </a:r>
            <a:r>
              <a:rPr sz="1950" spc="95" dirty="0">
                <a:solidFill>
                  <a:srgbClr val="231F20"/>
                </a:solidFill>
                <a:latin typeface="Arial"/>
                <a:cs typeface="Arial"/>
              </a:rPr>
              <a:t>decide </a:t>
            </a:r>
            <a:r>
              <a:rPr sz="1950" spc="145" dirty="0">
                <a:solidFill>
                  <a:srgbClr val="231F20"/>
                </a:solidFill>
                <a:latin typeface="Arial"/>
                <a:cs typeface="Arial"/>
              </a:rPr>
              <a:t>conditions </a:t>
            </a:r>
            <a:r>
              <a:rPr sz="1950" spc="130" dirty="0">
                <a:solidFill>
                  <a:srgbClr val="231F20"/>
                </a:solidFill>
                <a:latin typeface="Arial"/>
                <a:cs typeface="Arial"/>
              </a:rPr>
              <a:t>or </a:t>
            </a:r>
            <a:r>
              <a:rPr sz="1950" spc="235" dirty="0">
                <a:solidFill>
                  <a:srgbClr val="231F20"/>
                </a:solidFill>
                <a:latin typeface="Arial"/>
                <a:cs typeface="Arial"/>
              </a:rPr>
              <a:t> </a:t>
            </a:r>
            <a:r>
              <a:rPr sz="1950" spc="135" dirty="0">
                <a:solidFill>
                  <a:srgbClr val="231F20"/>
                </a:solidFill>
                <a:latin typeface="Arial"/>
                <a:cs typeface="Arial"/>
              </a:rPr>
              <a:t>top-level</a:t>
            </a:r>
            <a:endParaRPr sz="1950">
              <a:latin typeface="Arial"/>
              <a:cs typeface="Arial"/>
            </a:endParaRPr>
          </a:p>
          <a:p>
            <a:pPr marL="300990">
              <a:lnSpc>
                <a:spcPct val="100000"/>
              </a:lnSpc>
              <a:spcBef>
                <a:spcPts val="585"/>
              </a:spcBef>
            </a:pPr>
            <a:r>
              <a:rPr sz="1950" spc="120" dirty="0">
                <a:solidFill>
                  <a:srgbClr val="231F20"/>
                </a:solidFill>
                <a:latin typeface="Arial"/>
                <a:cs typeface="Arial"/>
              </a:rPr>
              <a:t>if-then-else’s</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14" dirty="0">
                <a:solidFill>
                  <a:srgbClr val="0000FF"/>
                </a:solidFill>
                <a:latin typeface="Arial"/>
                <a:cs typeface="Arial"/>
              </a:rPr>
              <a:t>So </a:t>
            </a:r>
            <a:r>
              <a:rPr sz="1950" spc="175" dirty="0">
                <a:solidFill>
                  <a:srgbClr val="0000FF"/>
                </a:solidFill>
                <a:latin typeface="Arial"/>
                <a:cs typeface="Arial"/>
              </a:rPr>
              <a:t>the </a:t>
            </a:r>
            <a:r>
              <a:rPr sz="1950" spc="210" dirty="0">
                <a:solidFill>
                  <a:srgbClr val="0000FF"/>
                </a:solidFill>
                <a:latin typeface="Arial"/>
                <a:cs typeface="Arial"/>
              </a:rPr>
              <a:t>API </a:t>
            </a:r>
            <a:r>
              <a:rPr sz="1950" spc="250" dirty="0">
                <a:solidFill>
                  <a:srgbClr val="0000FF"/>
                </a:solidFill>
                <a:latin typeface="Arial"/>
                <a:cs typeface="Arial"/>
              </a:rPr>
              <a:t>to </a:t>
            </a:r>
            <a:r>
              <a:rPr sz="1950" spc="175" dirty="0">
                <a:solidFill>
                  <a:srgbClr val="0000FF"/>
                </a:solidFill>
                <a:latin typeface="Arial"/>
                <a:cs typeface="Arial"/>
              </a:rPr>
              <a:t>the </a:t>
            </a:r>
            <a:r>
              <a:rPr sz="1950" spc="100" dirty="0">
                <a:solidFill>
                  <a:srgbClr val="0000FF"/>
                </a:solidFill>
                <a:latin typeface="Arial"/>
                <a:cs typeface="Arial"/>
              </a:rPr>
              <a:t>decision </a:t>
            </a:r>
            <a:r>
              <a:rPr sz="1950" spc="105" dirty="0">
                <a:solidFill>
                  <a:srgbClr val="0000FF"/>
                </a:solidFill>
                <a:latin typeface="Arial"/>
                <a:cs typeface="Arial"/>
              </a:rPr>
              <a:t>procedures </a:t>
            </a:r>
            <a:r>
              <a:rPr sz="1950" spc="195" dirty="0">
                <a:solidFill>
                  <a:srgbClr val="0000FF"/>
                </a:solidFill>
                <a:latin typeface="Arial"/>
                <a:cs typeface="Arial"/>
              </a:rPr>
              <a:t>must </a:t>
            </a:r>
            <a:r>
              <a:rPr sz="1950" spc="114" dirty="0">
                <a:solidFill>
                  <a:srgbClr val="0000FF"/>
                </a:solidFill>
                <a:latin typeface="Arial"/>
                <a:cs typeface="Arial"/>
              </a:rPr>
              <a:t>be </a:t>
            </a:r>
            <a:r>
              <a:rPr sz="1950" spc="155" dirty="0">
                <a:solidFill>
                  <a:srgbClr val="0000FF"/>
                </a:solidFill>
                <a:latin typeface="Arial"/>
                <a:cs typeface="Arial"/>
              </a:rPr>
              <a:t>quite </a:t>
            </a:r>
            <a:r>
              <a:rPr sz="1950" spc="680" dirty="0">
                <a:solidFill>
                  <a:srgbClr val="0000FF"/>
                </a:solidFill>
                <a:latin typeface="Arial"/>
                <a:cs typeface="Arial"/>
              </a:rPr>
              <a:t> </a:t>
            </a:r>
            <a:r>
              <a:rPr sz="1950" spc="140" dirty="0">
                <a:solidFill>
                  <a:srgbClr val="0000FF"/>
                </a:solidFill>
                <a:latin typeface="Arial"/>
                <a:cs typeface="Arial"/>
              </a:rPr>
              <a:t>rich</a:t>
            </a:r>
            <a:endParaRPr sz="1950">
              <a:latin typeface="Arial"/>
              <a:cs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2335009" y="5016182"/>
            <a:ext cx="5394960" cy="0"/>
          </a:xfrm>
          <a:custGeom>
            <a:avLst/>
            <a:gdLst/>
            <a:ahLst/>
            <a:cxnLst/>
            <a:rect l="l" t="t" r="r" b="b"/>
            <a:pathLst>
              <a:path w="5394959">
                <a:moveTo>
                  <a:pt x="0" y="0"/>
                </a:moveTo>
                <a:lnTo>
                  <a:pt x="5394514" y="0"/>
                </a:lnTo>
              </a:path>
            </a:pathLst>
          </a:custGeom>
          <a:ln w="9022">
            <a:solidFill>
              <a:srgbClr val="000000"/>
            </a:solidFill>
          </a:ln>
        </p:spPr>
        <p:txBody>
          <a:bodyPr wrap="square" lIns="0" tIns="0" rIns="0" bIns="0" rtlCol="0"/>
          <a:lstStyle/>
          <a:p>
            <a:endParaRPr/>
          </a:p>
        </p:txBody>
      </p:sp>
      <p:sp>
        <p:nvSpPr>
          <p:cNvPr id="3" name="object 3"/>
          <p:cNvSpPr/>
          <p:nvPr/>
        </p:nvSpPr>
        <p:spPr>
          <a:xfrm>
            <a:off x="7585164" y="4980089"/>
            <a:ext cx="144780" cy="72390"/>
          </a:xfrm>
          <a:custGeom>
            <a:avLst/>
            <a:gdLst/>
            <a:ahLst/>
            <a:cxnLst/>
            <a:rect l="l" t="t" r="r" b="b"/>
            <a:pathLst>
              <a:path w="144779" h="72389">
                <a:moveTo>
                  <a:pt x="144360" y="36093"/>
                </a:moveTo>
                <a:lnTo>
                  <a:pt x="0" y="0"/>
                </a:lnTo>
                <a:lnTo>
                  <a:pt x="0" y="72174"/>
                </a:lnTo>
                <a:lnTo>
                  <a:pt x="144360" y="36093"/>
                </a:lnTo>
                <a:close/>
              </a:path>
            </a:pathLst>
          </a:custGeom>
          <a:solidFill>
            <a:srgbClr val="000000"/>
          </a:solidFill>
        </p:spPr>
        <p:txBody>
          <a:bodyPr wrap="square" lIns="0" tIns="0" rIns="0" bIns="0" rtlCol="0"/>
          <a:lstStyle/>
          <a:p>
            <a:endParaRPr/>
          </a:p>
        </p:txBody>
      </p:sp>
      <p:sp>
        <p:nvSpPr>
          <p:cNvPr id="4" name="object 4"/>
          <p:cNvSpPr/>
          <p:nvPr/>
        </p:nvSpPr>
        <p:spPr>
          <a:xfrm>
            <a:off x="7585164" y="4980089"/>
            <a:ext cx="144780" cy="72390"/>
          </a:xfrm>
          <a:custGeom>
            <a:avLst/>
            <a:gdLst/>
            <a:ahLst/>
            <a:cxnLst/>
            <a:rect l="l" t="t" r="r" b="b"/>
            <a:pathLst>
              <a:path w="144779" h="72389">
                <a:moveTo>
                  <a:pt x="0" y="72174"/>
                </a:moveTo>
                <a:lnTo>
                  <a:pt x="144360" y="36093"/>
                </a:lnTo>
                <a:lnTo>
                  <a:pt x="0" y="0"/>
                </a:lnTo>
                <a:lnTo>
                  <a:pt x="0" y="72174"/>
                </a:lnTo>
                <a:close/>
              </a:path>
            </a:pathLst>
          </a:custGeom>
          <a:ln w="9022">
            <a:solidFill>
              <a:srgbClr val="000000"/>
            </a:solidFill>
          </a:ln>
        </p:spPr>
        <p:txBody>
          <a:bodyPr wrap="square" lIns="0" tIns="0" rIns="0" bIns="0" rtlCol="0"/>
          <a:lstStyle/>
          <a:p>
            <a:endParaRPr/>
          </a:p>
        </p:txBody>
      </p:sp>
      <p:sp>
        <p:nvSpPr>
          <p:cNvPr id="5" name="object 5"/>
          <p:cNvSpPr/>
          <p:nvPr/>
        </p:nvSpPr>
        <p:spPr>
          <a:xfrm>
            <a:off x="2335009" y="1065332"/>
            <a:ext cx="0" cy="144780"/>
          </a:xfrm>
          <a:custGeom>
            <a:avLst/>
            <a:gdLst/>
            <a:ahLst/>
            <a:cxnLst/>
            <a:rect l="l" t="t" r="r" b="b"/>
            <a:pathLst>
              <a:path h="144780">
                <a:moveTo>
                  <a:pt x="0" y="144367"/>
                </a:moveTo>
                <a:lnTo>
                  <a:pt x="0" y="0"/>
                </a:lnTo>
              </a:path>
            </a:pathLst>
          </a:custGeom>
          <a:ln w="9022">
            <a:solidFill>
              <a:srgbClr val="000000"/>
            </a:solidFill>
          </a:ln>
        </p:spPr>
        <p:txBody>
          <a:bodyPr wrap="square" lIns="0" tIns="0" rIns="0" bIns="0" rtlCol="0"/>
          <a:lstStyle/>
          <a:p>
            <a:endParaRPr/>
          </a:p>
        </p:txBody>
      </p:sp>
      <p:sp>
        <p:nvSpPr>
          <p:cNvPr id="6" name="object 6"/>
          <p:cNvSpPr/>
          <p:nvPr/>
        </p:nvSpPr>
        <p:spPr>
          <a:xfrm>
            <a:off x="2298915" y="1065331"/>
            <a:ext cx="72390" cy="144780"/>
          </a:xfrm>
          <a:custGeom>
            <a:avLst/>
            <a:gdLst/>
            <a:ahLst/>
            <a:cxnLst/>
            <a:rect l="l" t="t" r="r" b="b"/>
            <a:pathLst>
              <a:path w="72389" h="144780">
                <a:moveTo>
                  <a:pt x="72186" y="144368"/>
                </a:moveTo>
                <a:lnTo>
                  <a:pt x="36093" y="0"/>
                </a:lnTo>
                <a:lnTo>
                  <a:pt x="0" y="144368"/>
                </a:lnTo>
                <a:lnTo>
                  <a:pt x="72186" y="144368"/>
                </a:lnTo>
                <a:close/>
              </a:path>
            </a:pathLst>
          </a:custGeom>
          <a:solidFill>
            <a:srgbClr val="000000"/>
          </a:solidFill>
        </p:spPr>
        <p:txBody>
          <a:bodyPr wrap="square" lIns="0" tIns="0" rIns="0" bIns="0" rtlCol="0"/>
          <a:lstStyle/>
          <a:p>
            <a:endParaRPr/>
          </a:p>
        </p:txBody>
      </p:sp>
      <p:sp>
        <p:nvSpPr>
          <p:cNvPr id="7" name="object 7"/>
          <p:cNvSpPr/>
          <p:nvPr/>
        </p:nvSpPr>
        <p:spPr>
          <a:xfrm>
            <a:off x="2298915" y="1065331"/>
            <a:ext cx="72390" cy="144780"/>
          </a:xfrm>
          <a:custGeom>
            <a:avLst/>
            <a:gdLst/>
            <a:ahLst/>
            <a:cxnLst/>
            <a:rect l="l" t="t" r="r" b="b"/>
            <a:pathLst>
              <a:path w="72389" h="144780">
                <a:moveTo>
                  <a:pt x="72186" y="144368"/>
                </a:moveTo>
                <a:lnTo>
                  <a:pt x="36093" y="0"/>
                </a:lnTo>
                <a:lnTo>
                  <a:pt x="0" y="144368"/>
                </a:lnTo>
                <a:lnTo>
                  <a:pt x="72186" y="144368"/>
                </a:lnTo>
                <a:close/>
              </a:path>
            </a:pathLst>
          </a:custGeom>
          <a:ln w="9022">
            <a:solidFill>
              <a:srgbClr val="000000"/>
            </a:solidFill>
          </a:ln>
        </p:spPr>
        <p:txBody>
          <a:bodyPr wrap="square" lIns="0" tIns="0" rIns="0" bIns="0" rtlCol="0"/>
          <a:lstStyle/>
          <a:p>
            <a:endParaRPr/>
          </a:p>
        </p:txBody>
      </p:sp>
      <p:sp>
        <p:nvSpPr>
          <p:cNvPr id="8" name="object 8"/>
          <p:cNvSpPr/>
          <p:nvPr/>
        </p:nvSpPr>
        <p:spPr>
          <a:xfrm>
            <a:off x="2425242" y="2173947"/>
            <a:ext cx="4782185" cy="676910"/>
          </a:xfrm>
          <a:custGeom>
            <a:avLst/>
            <a:gdLst/>
            <a:ahLst/>
            <a:cxnLst/>
            <a:rect l="l" t="t" r="r" b="b"/>
            <a:pathLst>
              <a:path w="4782184" h="676910">
                <a:moveTo>
                  <a:pt x="0" y="676719"/>
                </a:moveTo>
                <a:lnTo>
                  <a:pt x="4782159" y="0"/>
                </a:lnTo>
              </a:path>
            </a:pathLst>
          </a:custGeom>
          <a:ln w="9022">
            <a:solidFill>
              <a:srgbClr val="FF0000"/>
            </a:solidFill>
          </a:ln>
        </p:spPr>
        <p:txBody>
          <a:bodyPr wrap="square" lIns="0" tIns="0" rIns="0" bIns="0" rtlCol="0"/>
          <a:lstStyle/>
          <a:p>
            <a:endParaRPr/>
          </a:p>
        </p:txBody>
      </p:sp>
      <p:sp>
        <p:nvSpPr>
          <p:cNvPr id="9" name="object 9"/>
          <p:cNvSpPr/>
          <p:nvPr/>
        </p:nvSpPr>
        <p:spPr>
          <a:xfrm>
            <a:off x="2515463" y="1361884"/>
            <a:ext cx="4692015" cy="3113405"/>
          </a:xfrm>
          <a:custGeom>
            <a:avLst/>
            <a:gdLst/>
            <a:ahLst/>
            <a:cxnLst/>
            <a:rect l="l" t="t" r="r" b="b"/>
            <a:pathLst>
              <a:path w="4692015" h="3113404">
                <a:moveTo>
                  <a:pt x="0" y="3112909"/>
                </a:moveTo>
                <a:lnTo>
                  <a:pt x="4691938" y="0"/>
                </a:lnTo>
              </a:path>
            </a:pathLst>
          </a:custGeom>
          <a:ln w="9022">
            <a:solidFill>
              <a:srgbClr val="0000FF"/>
            </a:solidFill>
          </a:ln>
        </p:spPr>
        <p:txBody>
          <a:bodyPr wrap="square" lIns="0" tIns="0" rIns="0" bIns="0" rtlCol="0"/>
          <a:lstStyle/>
          <a:p>
            <a:endParaRPr/>
          </a:p>
        </p:txBody>
      </p:sp>
      <p:sp>
        <p:nvSpPr>
          <p:cNvPr id="10" name="object 10"/>
          <p:cNvSpPr txBox="1"/>
          <p:nvPr/>
        </p:nvSpPr>
        <p:spPr>
          <a:xfrm>
            <a:off x="2502763" y="475981"/>
            <a:ext cx="4043045" cy="843915"/>
          </a:xfrm>
          <a:prstGeom prst="rect">
            <a:avLst/>
          </a:prstGeom>
        </p:spPr>
        <p:txBody>
          <a:bodyPr vert="horz" wrap="square" lIns="0" tIns="0" rIns="0" bIns="0" rtlCol="0">
            <a:spAutoFit/>
          </a:bodyPr>
          <a:lstStyle/>
          <a:p>
            <a:pPr marL="1023619">
              <a:lnSpc>
                <a:spcPct val="100000"/>
              </a:lnSpc>
            </a:pPr>
            <a:r>
              <a:rPr sz="1950" spc="250" dirty="0">
                <a:solidFill>
                  <a:srgbClr val="231F20"/>
                </a:solidFill>
                <a:latin typeface="Arial"/>
                <a:cs typeface="Arial"/>
              </a:rPr>
              <a:t>Disruptive</a:t>
            </a:r>
            <a:r>
              <a:rPr sz="1950" spc="320" dirty="0">
                <a:solidFill>
                  <a:srgbClr val="231F20"/>
                </a:solidFill>
                <a:latin typeface="Arial"/>
                <a:cs typeface="Arial"/>
              </a:rPr>
              <a:t> </a:t>
            </a:r>
            <a:r>
              <a:rPr sz="1950" spc="250" dirty="0">
                <a:solidFill>
                  <a:srgbClr val="231F20"/>
                </a:solidFill>
                <a:latin typeface="Arial"/>
                <a:cs typeface="Arial"/>
              </a:rPr>
              <a:t>Innovation</a:t>
            </a:r>
            <a:endParaRPr sz="1950">
              <a:latin typeface="Arial"/>
              <a:cs typeface="Arial"/>
            </a:endParaRPr>
          </a:p>
          <a:p>
            <a:pPr>
              <a:lnSpc>
                <a:spcPct val="100000"/>
              </a:lnSpc>
              <a:spcBef>
                <a:spcPts val="52"/>
              </a:spcBef>
            </a:pPr>
            <a:endParaRPr sz="2150">
              <a:latin typeface="Times New Roman"/>
              <a:cs typeface="Times New Roman"/>
            </a:endParaRPr>
          </a:p>
          <a:p>
            <a:pPr marL="12700">
              <a:lnSpc>
                <a:spcPct val="100000"/>
              </a:lnSpc>
            </a:pPr>
            <a:r>
              <a:rPr sz="1400" spc="5" dirty="0">
                <a:latin typeface="Times New Roman"/>
                <a:cs typeface="Times New Roman"/>
              </a:rPr>
              <a:t>Performance</a:t>
            </a:r>
            <a:endParaRPr sz="1400">
              <a:latin typeface="Times New Roman"/>
              <a:cs typeface="Times New Roman"/>
            </a:endParaRPr>
          </a:p>
        </p:txBody>
      </p:sp>
      <p:sp>
        <p:nvSpPr>
          <p:cNvPr id="11" name="object 11"/>
          <p:cNvSpPr txBox="1"/>
          <p:nvPr/>
        </p:nvSpPr>
        <p:spPr>
          <a:xfrm>
            <a:off x="901700" y="5154180"/>
            <a:ext cx="7976234" cy="1169670"/>
          </a:xfrm>
          <a:prstGeom prst="rect">
            <a:avLst/>
          </a:prstGeom>
        </p:spPr>
        <p:txBody>
          <a:bodyPr vert="horz" wrap="square" lIns="0" tIns="0" rIns="0" bIns="0" rtlCol="0">
            <a:spAutoFit/>
          </a:bodyPr>
          <a:lstStyle/>
          <a:p>
            <a:pPr marR="1416685" algn="r">
              <a:lnSpc>
                <a:spcPct val="100000"/>
              </a:lnSpc>
            </a:pPr>
            <a:r>
              <a:rPr sz="1400" spc="10" dirty="0">
                <a:latin typeface="Times New Roman"/>
                <a:cs typeface="Times New Roman"/>
              </a:rPr>
              <a:t>Time</a:t>
            </a:r>
            <a:endParaRPr sz="1400">
              <a:latin typeface="Times New Roman"/>
              <a:cs typeface="Times New Roman"/>
            </a:endParaRPr>
          </a:p>
          <a:p>
            <a:pPr>
              <a:lnSpc>
                <a:spcPct val="100000"/>
              </a:lnSpc>
              <a:spcBef>
                <a:spcPts val="46"/>
              </a:spcBef>
            </a:pPr>
            <a:endParaRPr sz="1300">
              <a:latin typeface="Times New Roman"/>
              <a:cs typeface="Times New Roman"/>
            </a:endParaRPr>
          </a:p>
          <a:p>
            <a:pPr marL="12700" marR="5080">
              <a:lnSpc>
                <a:spcPct val="125000"/>
              </a:lnSpc>
            </a:pPr>
            <a:r>
              <a:rPr sz="1950" spc="160" dirty="0">
                <a:solidFill>
                  <a:srgbClr val="231F20"/>
                </a:solidFill>
                <a:latin typeface="Arial"/>
                <a:cs typeface="Arial"/>
              </a:rPr>
              <a:t>Low-end </a:t>
            </a:r>
            <a:r>
              <a:rPr sz="1950" spc="150" dirty="0">
                <a:solidFill>
                  <a:srgbClr val="231F20"/>
                </a:solidFill>
                <a:latin typeface="Arial"/>
                <a:cs typeface="Arial"/>
              </a:rPr>
              <a:t>disruption </a:t>
            </a:r>
            <a:r>
              <a:rPr sz="1950" spc="40" dirty="0">
                <a:solidFill>
                  <a:srgbClr val="231F20"/>
                </a:solidFill>
                <a:latin typeface="Arial"/>
                <a:cs typeface="Arial"/>
              </a:rPr>
              <a:t>is </a:t>
            </a:r>
            <a:r>
              <a:rPr sz="1950" spc="140" dirty="0">
                <a:solidFill>
                  <a:srgbClr val="231F20"/>
                </a:solidFill>
                <a:latin typeface="Arial"/>
                <a:cs typeface="Arial"/>
              </a:rPr>
              <a:t>when </a:t>
            </a:r>
            <a:r>
              <a:rPr sz="1950" spc="130" dirty="0">
                <a:solidFill>
                  <a:srgbClr val="231F20"/>
                </a:solidFill>
                <a:latin typeface="Arial"/>
                <a:cs typeface="Arial"/>
              </a:rPr>
              <a:t>low-end </a:t>
            </a:r>
            <a:r>
              <a:rPr sz="1950" spc="150" dirty="0">
                <a:solidFill>
                  <a:srgbClr val="231F20"/>
                </a:solidFill>
                <a:latin typeface="Arial"/>
                <a:cs typeface="Arial"/>
              </a:rPr>
              <a:t>technology </a:t>
            </a:r>
            <a:r>
              <a:rPr sz="1950" spc="110" dirty="0">
                <a:solidFill>
                  <a:srgbClr val="231F20"/>
                </a:solidFill>
                <a:latin typeface="Arial"/>
                <a:cs typeface="Arial"/>
              </a:rPr>
              <a:t>overtakes </a:t>
            </a:r>
            <a:r>
              <a:rPr sz="1950" spc="175" dirty="0">
                <a:solidFill>
                  <a:srgbClr val="231F20"/>
                </a:solidFill>
                <a:latin typeface="Arial"/>
                <a:cs typeface="Arial"/>
              </a:rPr>
              <a:t>the  </a:t>
            </a:r>
            <a:r>
              <a:rPr sz="1950" spc="140" dirty="0">
                <a:solidFill>
                  <a:srgbClr val="231F20"/>
                </a:solidFill>
                <a:latin typeface="Arial"/>
                <a:cs typeface="Arial"/>
              </a:rPr>
              <a:t>performance </a:t>
            </a:r>
            <a:r>
              <a:rPr sz="1950" spc="185" dirty="0">
                <a:solidFill>
                  <a:srgbClr val="231F20"/>
                </a:solidFill>
                <a:latin typeface="Arial"/>
                <a:cs typeface="Arial"/>
              </a:rPr>
              <a:t>of </a:t>
            </a:r>
            <a:r>
              <a:rPr sz="1950" spc="130" dirty="0">
                <a:solidFill>
                  <a:srgbClr val="231F20"/>
                </a:solidFill>
                <a:latin typeface="Arial"/>
                <a:cs typeface="Arial"/>
              </a:rPr>
              <a:t>high-end</a:t>
            </a:r>
            <a:r>
              <a:rPr sz="1950" spc="540" dirty="0">
                <a:solidFill>
                  <a:srgbClr val="231F20"/>
                </a:solidFill>
                <a:latin typeface="Arial"/>
                <a:cs typeface="Arial"/>
              </a:rPr>
              <a:t> </a:t>
            </a:r>
            <a:r>
              <a:rPr sz="1950" spc="140" dirty="0">
                <a:solidFill>
                  <a:srgbClr val="231F20"/>
                </a:solidFill>
                <a:latin typeface="Arial"/>
                <a:cs typeface="Arial"/>
              </a:rPr>
              <a:t>(Christensen)</a:t>
            </a:r>
            <a:endParaRPr sz="1950">
              <a:latin typeface="Arial"/>
              <a:cs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94970" y="748362"/>
            <a:ext cx="1960245" cy="314960"/>
          </a:xfrm>
          <a:prstGeom prst="rect">
            <a:avLst/>
          </a:prstGeom>
        </p:spPr>
        <p:txBody>
          <a:bodyPr vert="horz" wrap="square" lIns="0" tIns="0" rIns="0" bIns="0" rtlCol="0">
            <a:spAutoFit/>
          </a:bodyPr>
          <a:lstStyle/>
          <a:p>
            <a:pPr marL="12700">
              <a:lnSpc>
                <a:spcPct val="100000"/>
              </a:lnSpc>
            </a:pPr>
            <a:r>
              <a:rPr sz="1950" spc="525" dirty="0">
                <a:solidFill>
                  <a:srgbClr val="231F20"/>
                </a:solidFill>
                <a:latin typeface="Arial"/>
                <a:cs typeface="Arial"/>
              </a:rPr>
              <a:t>SMT</a:t>
            </a:r>
            <a:r>
              <a:rPr sz="1950" spc="275" dirty="0">
                <a:solidFill>
                  <a:srgbClr val="231F20"/>
                </a:solidFill>
                <a:latin typeface="Arial"/>
                <a:cs typeface="Arial"/>
              </a:rPr>
              <a:t> </a:t>
            </a:r>
            <a:r>
              <a:rPr sz="1950" spc="195" dirty="0">
                <a:solidFill>
                  <a:srgbClr val="231F20"/>
                </a:solidFill>
                <a:latin typeface="Arial"/>
                <a:cs typeface="Arial"/>
              </a:rPr>
              <a:t>Solvers:</a:t>
            </a:r>
            <a:endParaRPr sz="1950">
              <a:latin typeface="Arial"/>
              <a:cs typeface="Arial"/>
            </a:endParaRPr>
          </a:p>
        </p:txBody>
      </p:sp>
      <p:sp>
        <p:nvSpPr>
          <p:cNvPr id="3" name="object 3"/>
          <p:cNvSpPr txBox="1"/>
          <p:nvPr/>
        </p:nvSpPr>
        <p:spPr>
          <a:xfrm>
            <a:off x="3083540" y="748362"/>
            <a:ext cx="5982970" cy="314960"/>
          </a:xfrm>
          <a:prstGeom prst="rect">
            <a:avLst/>
          </a:prstGeom>
        </p:spPr>
        <p:txBody>
          <a:bodyPr vert="horz" wrap="square" lIns="0" tIns="0" rIns="0" bIns="0" rtlCol="0">
            <a:spAutoFit/>
          </a:bodyPr>
          <a:lstStyle/>
          <a:p>
            <a:pPr marL="12700">
              <a:lnSpc>
                <a:spcPct val="100000"/>
              </a:lnSpc>
            </a:pPr>
            <a:r>
              <a:rPr sz="1950" spc="250" dirty="0">
                <a:solidFill>
                  <a:srgbClr val="231F20"/>
                </a:solidFill>
                <a:latin typeface="Arial"/>
                <a:cs typeface="Arial"/>
              </a:rPr>
              <a:t>Disruptive Innovation </a:t>
            </a:r>
            <a:r>
              <a:rPr sz="1950" spc="210" dirty="0">
                <a:solidFill>
                  <a:srgbClr val="231F20"/>
                </a:solidFill>
                <a:latin typeface="Arial"/>
                <a:cs typeface="Arial"/>
              </a:rPr>
              <a:t>in </a:t>
            </a:r>
            <a:r>
              <a:rPr sz="1950" spc="320" dirty="0">
                <a:solidFill>
                  <a:srgbClr val="231F20"/>
                </a:solidFill>
                <a:latin typeface="Arial"/>
                <a:cs typeface="Arial"/>
              </a:rPr>
              <a:t>Theorem</a:t>
            </a:r>
            <a:r>
              <a:rPr sz="1950" spc="775" dirty="0">
                <a:solidFill>
                  <a:srgbClr val="231F20"/>
                </a:solidFill>
                <a:latin typeface="Arial"/>
                <a:cs typeface="Arial"/>
              </a:rPr>
              <a:t> </a:t>
            </a:r>
            <a:r>
              <a:rPr sz="1950" spc="260" dirty="0">
                <a:solidFill>
                  <a:srgbClr val="231F20"/>
                </a:solidFill>
                <a:latin typeface="Arial"/>
                <a:cs typeface="Arial"/>
              </a:rPr>
              <a:t>Proving</a:t>
            </a:r>
            <a:endParaRPr sz="1950">
              <a:latin typeface="Arial"/>
              <a:cs typeface="Arial"/>
            </a:endParaRPr>
          </a:p>
        </p:txBody>
      </p:sp>
      <p:sp>
        <p:nvSpPr>
          <p:cNvPr id="4" name="object 4"/>
          <p:cNvSpPr txBox="1"/>
          <p:nvPr/>
        </p:nvSpPr>
        <p:spPr>
          <a:xfrm>
            <a:off x="896440" y="1290485"/>
            <a:ext cx="8075295" cy="4750435"/>
          </a:xfrm>
          <a:prstGeom prst="rect">
            <a:avLst/>
          </a:prstGeom>
        </p:spPr>
        <p:txBody>
          <a:bodyPr vert="horz" wrap="square" lIns="0" tIns="0" rIns="0" bIns="0" rtlCol="0">
            <a:spAutoFit/>
          </a:bodyPr>
          <a:lstStyle/>
          <a:p>
            <a:pPr marL="300990" indent="-288290">
              <a:lnSpc>
                <a:spcPct val="100000"/>
              </a:lnSpc>
              <a:buClr>
                <a:srgbClr val="231F20"/>
              </a:buClr>
              <a:buSzPct val="105128"/>
              <a:buFont typeface="Lucida Sans Unicode"/>
              <a:buChar char="•"/>
              <a:tabLst>
                <a:tab pos="301625" algn="l"/>
              </a:tabLst>
            </a:pPr>
            <a:r>
              <a:rPr sz="1950" spc="350" dirty="0">
                <a:solidFill>
                  <a:srgbClr val="FF0000"/>
                </a:solidFill>
                <a:latin typeface="Arial"/>
                <a:cs typeface="Arial"/>
              </a:rPr>
              <a:t>SMT </a:t>
            </a:r>
            <a:r>
              <a:rPr sz="1950" spc="114" dirty="0">
                <a:solidFill>
                  <a:srgbClr val="231F20"/>
                </a:solidFill>
                <a:latin typeface="Arial"/>
                <a:cs typeface="Arial"/>
              </a:rPr>
              <a:t>stands </a:t>
            </a:r>
            <a:r>
              <a:rPr sz="1950" spc="155" dirty="0">
                <a:solidFill>
                  <a:srgbClr val="231F20"/>
                </a:solidFill>
                <a:latin typeface="Arial"/>
                <a:cs typeface="Arial"/>
              </a:rPr>
              <a:t>for </a:t>
            </a:r>
            <a:r>
              <a:rPr sz="1950" spc="135" dirty="0">
                <a:solidFill>
                  <a:srgbClr val="FF0000"/>
                </a:solidFill>
                <a:latin typeface="Arial"/>
                <a:cs typeface="Arial"/>
              </a:rPr>
              <a:t>Satisfiability </a:t>
            </a:r>
            <a:r>
              <a:rPr sz="1950" spc="200" dirty="0">
                <a:solidFill>
                  <a:srgbClr val="FF0000"/>
                </a:solidFill>
                <a:latin typeface="Arial"/>
                <a:cs typeface="Arial"/>
              </a:rPr>
              <a:t>Modulo</a:t>
            </a:r>
            <a:r>
              <a:rPr sz="1950" spc="655" dirty="0">
                <a:solidFill>
                  <a:srgbClr val="FF0000"/>
                </a:solidFill>
                <a:latin typeface="Arial"/>
                <a:cs typeface="Arial"/>
              </a:rPr>
              <a:t> </a:t>
            </a:r>
            <a:r>
              <a:rPr sz="1950" spc="135" dirty="0">
                <a:solidFill>
                  <a:srgbClr val="FF0000"/>
                </a:solidFill>
                <a:latin typeface="Arial"/>
                <a:cs typeface="Arial"/>
              </a:rPr>
              <a:t>Theories</a:t>
            </a:r>
            <a:endParaRPr sz="1950">
              <a:latin typeface="Arial"/>
              <a:cs typeface="Arial"/>
            </a:endParaRPr>
          </a:p>
          <a:p>
            <a:pPr marL="300990" marR="177165" indent="-288290">
              <a:lnSpc>
                <a:spcPct val="125000"/>
              </a:lnSpc>
              <a:spcBef>
                <a:spcPts val="1340"/>
              </a:spcBef>
              <a:buClr>
                <a:srgbClr val="231F20"/>
              </a:buClr>
              <a:buSzPct val="105128"/>
              <a:buFont typeface="Lucida Sans Unicode"/>
              <a:buChar char="•"/>
              <a:tabLst>
                <a:tab pos="301625" algn="l"/>
              </a:tabLst>
            </a:pPr>
            <a:r>
              <a:rPr sz="1950" spc="350" dirty="0">
                <a:solidFill>
                  <a:srgbClr val="0000FF"/>
                </a:solidFill>
                <a:latin typeface="Arial"/>
                <a:cs typeface="Arial"/>
              </a:rPr>
              <a:t>SMT </a:t>
            </a:r>
            <a:r>
              <a:rPr sz="1950" spc="75" dirty="0">
                <a:solidFill>
                  <a:srgbClr val="0000FF"/>
                </a:solidFill>
                <a:latin typeface="Arial"/>
                <a:cs typeface="Arial"/>
              </a:rPr>
              <a:t>solvers </a:t>
            </a:r>
            <a:r>
              <a:rPr sz="1950" spc="135" dirty="0">
                <a:solidFill>
                  <a:srgbClr val="0000FF"/>
                </a:solidFill>
                <a:latin typeface="Arial"/>
                <a:cs typeface="Arial"/>
              </a:rPr>
              <a:t>extend </a:t>
            </a:r>
            <a:r>
              <a:rPr sz="1950" spc="100" dirty="0">
                <a:solidFill>
                  <a:srgbClr val="0000FF"/>
                </a:solidFill>
                <a:latin typeface="Arial"/>
                <a:cs typeface="Arial"/>
              </a:rPr>
              <a:t>decision </a:t>
            </a:r>
            <a:r>
              <a:rPr sz="1950" spc="105" dirty="0">
                <a:solidFill>
                  <a:srgbClr val="0000FF"/>
                </a:solidFill>
                <a:latin typeface="Arial"/>
                <a:cs typeface="Arial"/>
              </a:rPr>
              <a:t>procedures </a:t>
            </a:r>
            <a:r>
              <a:rPr sz="1950" spc="215" dirty="0">
                <a:solidFill>
                  <a:srgbClr val="0000FF"/>
                </a:solidFill>
                <a:latin typeface="Arial"/>
                <a:cs typeface="Arial"/>
              </a:rPr>
              <a:t>with </a:t>
            </a:r>
            <a:r>
              <a:rPr sz="1950" spc="175" dirty="0">
                <a:solidFill>
                  <a:srgbClr val="0000FF"/>
                </a:solidFill>
                <a:latin typeface="Arial"/>
                <a:cs typeface="Arial"/>
              </a:rPr>
              <a:t>the </a:t>
            </a:r>
            <a:r>
              <a:rPr sz="1950" spc="140" dirty="0">
                <a:solidFill>
                  <a:srgbClr val="0000FF"/>
                </a:solidFill>
                <a:latin typeface="Arial"/>
                <a:cs typeface="Arial"/>
              </a:rPr>
              <a:t>ability </a:t>
            </a:r>
            <a:r>
              <a:rPr sz="1950" spc="250" dirty="0">
                <a:solidFill>
                  <a:srgbClr val="0000FF"/>
                </a:solidFill>
                <a:latin typeface="Arial"/>
                <a:cs typeface="Arial"/>
              </a:rPr>
              <a:t>to  </a:t>
            </a:r>
            <a:r>
              <a:rPr sz="1950" spc="110" dirty="0">
                <a:solidFill>
                  <a:srgbClr val="0000FF"/>
                </a:solidFill>
                <a:latin typeface="Arial"/>
                <a:cs typeface="Arial"/>
              </a:rPr>
              <a:t>handle </a:t>
            </a:r>
            <a:r>
              <a:rPr sz="1950" spc="140" dirty="0">
                <a:solidFill>
                  <a:srgbClr val="0000FF"/>
                </a:solidFill>
                <a:latin typeface="Arial"/>
                <a:cs typeface="Arial"/>
              </a:rPr>
              <a:t>arbitrary propositional</a:t>
            </a:r>
            <a:r>
              <a:rPr sz="1950" spc="630" dirty="0">
                <a:solidFill>
                  <a:srgbClr val="0000FF"/>
                </a:solidFill>
                <a:latin typeface="Arial"/>
                <a:cs typeface="Arial"/>
              </a:rPr>
              <a:t> </a:t>
            </a:r>
            <a:r>
              <a:rPr sz="1950" spc="160" dirty="0">
                <a:solidFill>
                  <a:srgbClr val="0000FF"/>
                </a:solidFill>
                <a:latin typeface="Arial"/>
                <a:cs typeface="Arial"/>
              </a:rPr>
              <a:t>structure</a:t>
            </a:r>
            <a:endParaRPr sz="1950">
              <a:latin typeface="Arial"/>
              <a:cs typeface="Arial"/>
            </a:endParaRPr>
          </a:p>
          <a:p>
            <a:pPr marL="741680" marR="73660" lvl="1" indent="-288290">
              <a:lnSpc>
                <a:spcPct val="125000"/>
              </a:lnSpc>
              <a:spcBef>
                <a:spcPts val="515"/>
              </a:spcBef>
              <a:buSzPct val="105128"/>
              <a:buFont typeface="Lucida Sans Unicode"/>
              <a:buChar char="◦"/>
              <a:tabLst>
                <a:tab pos="742315" algn="l"/>
              </a:tabLst>
            </a:pPr>
            <a:r>
              <a:rPr sz="1950" spc="145" dirty="0">
                <a:solidFill>
                  <a:srgbClr val="231F20"/>
                </a:solidFill>
                <a:latin typeface="Arial"/>
                <a:cs typeface="Arial"/>
              </a:rPr>
              <a:t>Traditionally, </a:t>
            </a:r>
            <a:r>
              <a:rPr sz="1950" spc="50" dirty="0">
                <a:solidFill>
                  <a:srgbClr val="231F20"/>
                </a:solidFill>
                <a:latin typeface="Arial"/>
                <a:cs typeface="Arial"/>
              </a:rPr>
              <a:t>case </a:t>
            </a:r>
            <a:r>
              <a:rPr sz="1950" spc="75" dirty="0">
                <a:solidFill>
                  <a:srgbClr val="231F20"/>
                </a:solidFill>
                <a:latin typeface="Arial"/>
                <a:cs typeface="Arial"/>
              </a:rPr>
              <a:t>analysis </a:t>
            </a:r>
            <a:r>
              <a:rPr sz="1950" spc="40" dirty="0">
                <a:solidFill>
                  <a:srgbClr val="231F20"/>
                </a:solidFill>
                <a:latin typeface="Arial"/>
                <a:cs typeface="Arial"/>
              </a:rPr>
              <a:t>is </a:t>
            </a:r>
            <a:r>
              <a:rPr sz="1950" spc="114" dirty="0">
                <a:solidFill>
                  <a:srgbClr val="231F20"/>
                </a:solidFill>
                <a:latin typeface="Arial"/>
                <a:cs typeface="Arial"/>
              </a:rPr>
              <a:t>handled </a:t>
            </a:r>
            <a:r>
              <a:rPr sz="1950" spc="120" dirty="0">
                <a:solidFill>
                  <a:srgbClr val="231F20"/>
                </a:solidFill>
                <a:latin typeface="Arial"/>
                <a:cs typeface="Arial"/>
              </a:rPr>
              <a:t>heuristically </a:t>
            </a:r>
            <a:r>
              <a:rPr sz="1950" spc="130" dirty="0">
                <a:solidFill>
                  <a:srgbClr val="231F20"/>
                </a:solidFill>
                <a:latin typeface="Arial"/>
                <a:cs typeface="Arial"/>
              </a:rPr>
              <a:t>in </a:t>
            </a:r>
            <a:r>
              <a:rPr sz="1950" spc="175" dirty="0">
                <a:solidFill>
                  <a:srgbClr val="231F20"/>
                </a:solidFill>
                <a:latin typeface="Arial"/>
                <a:cs typeface="Arial"/>
              </a:rPr>
              <a:t>the  </a:t>
            </a:r>
            <a:r>
              <a:rPr sz="1950" spc="155" dirty="0">
                <a:solidFill>
                  <a:srgbClr val="231F20"/>
                </a:solidFill>
                <a:latin typeface="Arial"/>
                <a:cs typeface="Arial"/>
              </a:rPr>
              <a:t>theorem </a:t>
            </a:r>
            <a:r>
              <a:rPr sz="1950" spc="120" dirty="0">
                <a:solidFill>
                  <a:srgbClr val="231F20"/>
                </a:solidFill>
                <a:latin typeface="Arial"/>
                <a:cs typeface="Arial"/>
              </a:rPr>
              <a:t>prover </a:t>
            </a:r>
            <a:r>
              <a:rPr sz="1950" spc="210" dirty="0">
                <a:solidFill>
                  <a:srgbClr val="231F20"/>
                </a:solidFill>
                <a:latin typeface="Arial"/>
                <a:cs typeface="Arial"/>
              </a:rPr>
              <a:t>front</a:t>
            </a:r>
            <a:r>
              <a:rPr sz="1950" spc="500" dirty="0">
                <a:solidFill>
                  <a:srgbClr val="231F20"/>
                </a:solidFill>
                <a:latin typeface="Arial"/>
                <a:cs typeface="Arial"/>
              </a:rPr>
              <a:t> </a:t>
            </a:r>
            <a:r>
              <a:rPr sz="1950" spc="105" dirty="0">
                <a:solidFill>
                  <a:srgbClr val="231F20"/>
                </a:solidFill>
                <a:latin typeface="Arial"/>
                <a:cs typeface="Arial"/>
              </a:rPr>
              <a:t>end</a:t>
            </a:r>
            <a:endParaRPr sz="1950">
              <a:latin typeface="Arial"/>
              <a:cs typeface="Arial"/>
            </a:endParaRPr>
          </a:p>
          <a:p>
            <a:pPr marL="768350">
              <a:lnSpc>
                <a:spcPct val="100000"/>
              </a:lnSpc>
              <a:spcBef>
                <a:spcPts val="745"/>
              </a:spcBef>
              <a:tabLst>
                <a:tab pos="1056640" algn="l"/>
              </a:tabLst>
            </a:pPr>
            <a:r>
              <a:rPr sz="2050" i="1" spc="-620" dirty="0">
                <a:solidFill>
                  <a:srgbClr val="231F20"/>
                </a:solidFill>
                <a:latin typeface="Meiryo"/>
                <a:cs typeface="Meiryo"/>
              </a:rPr>
              <a:t>⋆	</a:t>
            </a:r>
            <a:r>
              <a:rPr sz="1950" spc="105" dirty="0">
                <a:solidFill>
                  <a:srgbClr val="231F20"/>
                </a:solidFill>
                <a:latin typeface="Arial"/>
                <a:cs typeface="Arial"/>
              </a:rPr>
              <a:t>Have </a:t>
            </a:r>
            <a:r>
              <a:rPr sz="1950" spc="250" dirty="0">
                <a:solidFill>
                  <a:srgbClr val="231F20"/>
                </a:solidFill>
                <a:latin typeface="Arial"/>
                <a:cs typeface="Arial"/>
              </a:rPr>
              <a:t>to </a:t>
            </a:r>
            <a:r>
              <a:rPr sz="1950" spc="114" dirty="0">
                <a:solidFill>
                  <a:srgbClr val="231F20"/>
                </a:solidFill>
                <a:latin typeface="Arial"/>
                <a:cs typeface="Arial"/>
              </a:rPr>
              <a:t>be careful </a:t>
            </a:r>
            <a:r>
              <a:rPr sz="1950" spc="250" dirty="0">
                <a:solidFill>
                  <a:srgbClr val="231F20"/>
                </a:solidFill>
                <a:latin typeface="Arial"/>
                <a:cs typeface="Arial"/>
              </a:rPr>
              <a:t>to </a:t>
            </a:r>
            <a:r>
              <a:rPr sz="1950" spc="125" dirty="0">
                <a:solidFill>
                  <a:srgbClr val="231F20"/>
                </a:solidFill>
                <a:latin typeface="Arial"/>
                <a:cs typeface="Arial"/>
              </a:rPr>
              <a:t>avoid </a:t>
            </a:r>
            <a:r>
              <a:rPr sz="1950" spc="50" dirty="0">
                <a:solidFill>
                  <a:srgbClr val="0000FF"/>
                </a:solidFill>
                <a:latin typeface="Arial"/>
                <a:cs typeface="Arial"/>
              </a:rPr>
              <a:t>case </a:t>
            </a:r>
            <a:r>
              <a:rPr sz="1950" spc="385" dirty="0">
                <a:solidFill>
                  <a:srgbClr val="0000FF"/>
                </a:solidFill>
                <a:latin typeface="Arial"/>
                <a:cs typeface="Arial"/>
              </a:rPr>
              <a:t> </a:t>
            </a:r>
            <a:r>
              <a:rPr sz="1950" spc="105" dirty="0">
                <a:solidFill>
                  <a:srgbClr val="0000FF"/>
                </a:solidFill>
                <a:latin typeface="Arial"/>
                <a:cs typeface="Arial"/>
              </a:rPr>
              <a:t>explosion</a:t>
            </a:r>
            <a:endParaRPr sz="1950">
              <a:latin typeface="Arial"/>
              <a:cs typeface="Arial"/>
            </a:endParaRPr>
          </a:p>
          <a:p>
            <a:pPr marL="741680" lvl="1" indent="-288290">
              <a:lnSpc>
                <a:spcPct val="100000"/>
              </a:lnSpc>
              <a:spcBef>
                <a:spcPts val="825"/>
              </a:spcBef>
              <a:buClr>
                <a:srgbClr val="231F20"/>
              </a:buClr>
              <a:buSzPct val="105128"/>
              <a:buFont typeface="Lucida Sans Unicode"/>
              <a:buChar char="◦"/>
              <a:tabLst>
                <a:tab pos="742315" algn="l"/>
              </a:tabLst>
            </a:pPr>
            <a:r>
              <a:rPr sz="1950" spc="350" dirty="0">
                <a:solidFill>
                  <a:srgbClr val="0000FF"/>
                </a:solidFill>
                <a:latin typeface="Arial"/>
                <a:cs typeface="Arial"/>
              </a:rPr>
              <a:t>SMT </a:t>
            </a:r>
            <a:r>
              <a:rPr sz="1950" spc="75" dirty="0">
                <a:solidFill>
                  <a:srgbClr val="0000FF"/>
                </a:solidFill>
                <a:latin typeface="Arial"/>
                <a:cs typeface="Arial"/>
              </a:rPr>
              <a:t>solvers </a:t>
            </a:r>
            <a:r>
              <a:rPr sz="1950" spc="45" dirty="0">
                <a:solidFill>
                  <a:srgbClr val="0000FF"/>
                </a:solidFill>
                <a:latin typeface="Arial"/>
                <a:cs typeface="Arial"/>
              </a:rPr>
              <a:t>use </a:t>
            </a:r>
            <a:r>
              <a:rPr sz="1950" spc="175" dirty="0">
                <a:solidFill>
                  <a:srgbClr val="0000FF"/>
                </a:solidFill>
                <a:latin typeface="Arial"/>
                <a:cs typeface="Arial"/>
              </a:rPr>
              <a:t>the </a:t>
            </a:r>
            <a:r>
              <a:rPr sz="1950" spc="155" dirty="0">
                <a:solidFill>
                  <a:srgbClr val="0000FF"/>
                </a:solidFill>
                <a:latin typeface="Arial"/>
                <a:cs typeface="Arial"/>
              </a:rPr>
              <a:t>brute </a:t>
            </a:r>
            <a:r>
              <a:rPr sz="1950" spc="120" dirty="0">
                <a:solidFill>
                  <a:srgbClr val="0000FF"/>
                </a:solidFill>
                <a:latin typeface="Arial"/>
                <a:cs typeface="Arial"/>
              </a:rPr>
              <a:t>force </a:t>
            </a:r>
            <a:r>
              <a:rPr sz="1950" spc="185" dirty="0">
                <a:solidFill>
                  <a:srgbClr val="0000FF"/>
                </a:solidFill>
                <a:latin typeface="Arial"/>
                <a:cs typeface="Arial"/>
              </a:rPr>
              <a:t>of </a:t>
            </a:r>
            <a:r>
              <a:rPr sz="1950" spc="170" dirty="0">
                <a:solidFill>
                  <a:srgbClr val="0000FF"/>
                </a:solidFill>
                <a:latin typeface="Arial"/>
                <a:cs typeface="Arial"/>
              </a:rPr>
              <a:t>modern </a:t>
            </a:r>
            <a:r>
              <a:rPr sz="1950" spc="250" dirty="0">
                <a:solidFill>
                  <a:srgbClr val="0000FF"/>
                </a:solidFill>
                <a:latin typeface="Arial"/>
                <a:cs typeface="Arial"/>
              </a:rPr>
              <a:t>SAT </a:t>
            </a:r>
            <a:r>
              <a:rPr sz="1950" spc="445" dirty="0">
                <a:solidFill>
                  <a:srgbClr val="0000FF"/>
                </a:solidFill>
                <a:latin typeface="Arial"/>
                <a:cs typeface="Arial"/>
              </a:rPr>
              <a:t> </a:t>
            </a:r>
            <a:r>
              <a:rPr sz="1950" spc="110" dirty="0">
                <a:solidFill>
                  <a:srgbClr val="0000FF"/>
                </a:solidFill>
                <a:latin typeface="Arial"/>
                <a:cs typeface="Arial"/>
              </a:rPr>
              <a:t>solving</a:t>
            </a:r>
            <a:endParaRPr sz="1950">
              <a:latin typeface="Arial"/>
              <a:cs typeface="Arial"/>
            </a:endParaRPr>
          </a:p>
          <a:p>
            <a:pPr marL="300990" marR="5080" indent="-288290">
              <a:lnSpc>
                <a:spcPct val="125000"/>
              </a:lnSpc>
              <a:spcBef>
                <a:spcPts val="1340"/>
              </a:spcBef>
              <a:buClr>
                <a:srgbClr val="231F20"/>
              </a:buClr>
              <a:buSzPct val="105128"/>
              <a:buFont typeface="Lucida Sans Unicode"/>
              <a:buChar char="•"/>
              <a:tabLst>
                <a:tab pos="301625" algn="l"/>
              </a:tabLst>
            </a:pPr>
            <a:r>
              <a:rPr sz="1950" spc="235" dirty="0">
                <a:solidFill>
                  <a:srgbClr val="FF0000"/>
                </a:solidFill>
                <a:latin typeface="Arial"/>
                <a:cs typeface="Arial"/>
              </a:rPr>
              <a:t>Or, </a:t>
            </a:r>
            <a:r>
              <a:rPr sz="1950" spc="95" dirty="0">
                <a:solidFill>
                  <a:srgbClr val="FF0000"/>
                </a:solidFill>
                <a:latin typeface="Arial"/>
                <a:cs typeface="Arial"/>
              </a:rPr>
              <a:t>dually, </a:t>
            </a:r>
            <a:r>
              <a:rPr sz="1950" spc="160" dirty="0">
                <a:solidFill>
                  <a:srgbClr val="FF0000"/>
                </a:solidFill>
                <a:latin typeface="Arial"/>
                <a:cs typeface="Arial"/>
              </a:rPr>
              <a:t>they </a:t>
            </a:r>
            <a:r>
              <a:rPr sz="1950" spc="90" dirty="0">
                <a:solidFill>
                  <a:srgbClr val="FF0000"/>
                </a:solidFill>
                <a:latin typeface="Arial"/>
                <a:cs typeface="Arial"/>
              </a:rPr>
              <a:t>generalize </a:t>
            </a:r>
            <a:r>
              <a:rPr sz="1950" spc="250" dirty="0">
                <a:solidFill>
                  <a:srgbClr val="FF0000"/>
                </a:solidFill>
                <a:latin typeface="Arial"/>
                <a:cs typeface="Arial"/>
              </a:rPr>
              <a:t>SAT </a:t>
            </a:r>
            <a:r>
              <a:rPr sz="1950" spc="110" dirty="0">
                <a:solidFill>
                  <a:srgbClr val="FF0000"/>
                </a:solidFill>
                <a:latin typeface="Arial"/>
                <a:cs typeface="Arial"/>
              </a:rPr>
              <a:t>solving </a:t>
            </a:r>
            <a:r>
              <a:rPr sz="1950" spc="105" dirty="0">
                <a:solidFill>
                  <a:srgbClr val="FF0000"/>
                </a:solidFill>
                <a:latin typeface="Arial"/>
                <a:cs typeface="Arial"/>
              </a:rPr>
              <a:t>by </a:t>
            </a:r>
            <a:r>
              <a:rPr sz="1950" spc="135" dirty="0">
                <a:solidFill>
                  <a:srgbClr val="FF0000"/>
                </a:solidFill>
                <a:latin typeface="Arial"/>
                <a:cs typeface="Arial"/>
              </a:rPr>
              <a:t>adding </a:t>
            </a:r>
            <a:r>
              <a:rPr sz="1950" spc="175" dirty="0">
                <a:solidFill>
                  <a:srgbClr val="FF0000"/>
                </a:solidFill>
                <a:latin typeface="Arial"/>
                <a:cs typeface="Arial"/>
              </a:rPr>
              <a:t>the </a:t>
            </a:r>
            <a:r>
              <a:rPr sz="1950" spc="140" dirty="0">
                <a:solidFill>
                  <a:srgbClr val="FF0000"/>
                </a:solidFill>
                <a:latin typeface="Arial"/>
                <a:cs typeface="Arial"/>
              </a:rPr>
              <a:t>ability  </a:t>
            </a:r>
            <a:r>
              <a:rPr sz="1950" spc="250" dirty="0">
                <a:solidFill>
                  <a:srgbClr val="FF0000"/>
                </a:solidFill>
                <a:latin typeface="Arial"/>
                <a:cs typeface="Arial"/>
              </a:rPr>
              <a:t>to </a:t>
            </a:r>
            <a:r>
              <a:rPr sz="1950" spc="110" dirty="0">
                <a:solidFill>
                  <a:srgbClr val="FF0000"/>
                </a:solidFill>
                <a:latin typeface="Arial"/>
                <a:cs typeface="Arial"/>
              </a:rPr>
              <a:t>handle </a:t>
            </a:r>
            <a:r>
              <a:rPr sz="1950" spc="170" dirty="0">
                <a:solidFill>
                  <a:srgbClr val="FF0000"/>
                </a:solidFill>
                <a:latin typeface="Arial"/>
                <a:cs typeface="Arial"/>
              </a:rPr>
              <a:t>arithmetic </a:t>
            </a:r>
            <a:r>
              <a:rPr sz="1950" spc="130" dirty="0">
                <a:solidFill>
                  <a:srgbClr val="FF0000"/>
                </a:solidFill>
                <a:latin typeface="Arial"/>
                <a:cs typeface="Arial"/>
              </a:rPr>
              <a:t>and </a:t>
            </a:r>
            <a:r>
              <a:rPr sz="1950" spc="170" dirty="0">
                <a:solidFill>
                  <a:srgbClr val="FF0000"/>
                </a:solidFill>
                <a:latin typeface="Arial"/>
                <a:cs typeface="Arial"/>
              </a:rPr>
              <a:t>other </a:t>
            </a:r>
            <a:r>
              <a:rPr sz="1950" spc="100" dirty="0">
                <a:solidFill>
                  <a:srgbClr val="FF0000"/>
                </a:solidFill>
                <a:latin typeface="Arial"/>
                <a:cs typeface="Arial"/>
              </a:rPr>
              <a:t>decidable </a:t>
            </a:r>
            <a:r>
              <a:rPr sz="1950" spc="215" dirty="0">
                <a:solidFill>
                  <a:srgbClr val="FF0000"/>
                </a:solidFill>
                <a:latin typeface="Arial"/>
                <a:cs typeface="Arial"/>
              </a:rPr>
              <a:t> </a:t>
            </a:r>
            <a:r>
              <a:rPr sz="1950" spc="110" dirty="0">
                <a:solidFill>
                  <a:srgbClr val="FF0000"/>
                </a:solidFill>
                <a:latin typeface="Arial"/>
                <a:cs typeface="Arial"/>
              </a:rPr>
              <a:t>theories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65" dirty="0">
                <a:solidFill>
                  <a:srgbClr val="0000FF"/>
                </a:solidFill>
                <a:latin typeface="Arial"/>
                <a:cs typeface="Arial"/>
              </a:rPr>
              <a:t>Application </a:t>
            </a:r>
            <a:r>
              <a:rPr sz="1950" spc="250" dirty="0">
                <a:solidFill>
                  <a:srgbClr val="0000FF"/>
                </a:solidFill>
                <a:latin typeface="Arial"/>
                <a:cs typeface="Arial"/>
              </a:rPr>
              <a:t>to</a:t>
            </a:r>
            <a:r>
              <a:rPr sz="1950" spc="305" dirty="0">
                <a:solidFill>
                  <a:srgbClr val="0000FF"/>
                </a:solidFill>
                <a:latin typeface="Arial"/>
                <a:cs typeface="Arial"/>
              </a:rPr>
              <a:t> </a:t>
            </a:r>
            <a:r>
              <a:rPr sz="1950" spc="145" dirty="0">
                <a:solidFill>
                  <a:srgbClr val="0000FF"/>
                </a:solidFill>
                <a:latin typeface="Arial"/>
                <a:cs typeface="Arial"/>
              </a:rPr>
              <a:t>verification</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160" dirty="0">
                <a:solidFill>
                  <a:srgbClr val="231F20"/>
                </a:solidFill>
                <a:latin typeface="Arial"/>
                <a:cs typeface="Arial"/>
              </a:rPr>
              <a:t>Via </a:t>
            </a:r>
            <a:r>
              <a:rPr sz="1950" spc="140" dirty="0">
                <a:solidFill>
                  <a:srgbClr val="FF0000"/>
                </a:solidFill>
                <a:latin typeface="Arial"/>
                <a:cs typeface="Arial"/>
              </a:rPr>
              <a:t>bounded </a:t>
            </a:r>
            <a:r>
              <a:rPr sz="1950" spc="160" dirty="0">
                <a:solidFill>
                  <a:srgbClr val="FF0000"/>
                </a:solidFill>
                <a:latin typeface="Arial"/>
                <a:cs typeface="Arial"/>
              </a:rPr>
              <a:t>model </a:t>
            </a:r>
            <a:r>
              <a:rPr sz="1950" spc="125" dirty="0">
                <a:solidFill>
                  <a:srgbClr val="FF0000"/>
                </a:solidFill>
                <a:latin typeface="Arial"/>
                <a:cs typeface="Arial"/>
              </a:rPr>
              <a:t>checking </a:t>
            </a:r>
            <a:r>
              <a:rPr sz="1950" spc="130" dirty="0">
                <a:solidFill>
                  <a:srgbClr val="231F20"/>
                </a:solidFill>
                <a:latin typeface="Arial"/>
                <a:cs typeface="Arial"/>
              </a:rPr>
              <a:t>and </a:t>
            </a:r>
            <a:r>
              <a:rPr sz="1950" spc="150" dirty="0">
                <a:solidFill>
                  <a:srgbClr val="231F20"/>
                </a:solidFill>
                <a:latin typeface="Arial"/>
                <a:cs typeface="Arial"/>
              </a:rPr>
              <a:t> </a:t>
            </a:r>
            <a:r>
              <a:rPr sz="2050" i="1" spc="150" dirty="0">
                <a:solidFill>
                  <a:srgbClr val="FF0000"/>
                </a:solidFill>
                <a:latin typeface="Meiryo"/>
                <a:cs typeface="Meiryo"/>
              </a:rPr>
              <a:t>k</a:t>
            </a:r>
            <a:r>
              <a:rPr sz="1950" spc="150" dirty="0">
                <a:solidFill>
                  <a:srgbClr val="FF0000"/>
                </a:solidFill>
                <a:latin typeface="Arial"/>
                <a:cs typeface="Arial"/>
              </a:rPr>
              <a:t>-induction</a:t>
            </a:r>
            <a:endParaRPr sz="1950">
              <a:latin typeface="Arial"/>
              <a:cs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8256270" cy="6105525"/>
          </a:xfrm>
          <a:prstGeom prst="rect">
            <a:avLst/>
          </a:prstGeom>
        </p:spPr>
        <p:txBody>
          <a:bodyPr vert="horz" wrap="square" lIns="0" tIns="0" rIns="0" bIns="0" rtlCol="0">
            <a:spAutoFit/>
          </a:bodyPr>
          <a:lstStyle/>
          <a:p>
            <a:pPr marL="9525" algn="ctr">
              <a:lnSpc>
                <a:spcPct val="100000"/>
              </a:lnSpc>
            </a:pPr>
            <a:r>
              <a:rPr sz="1950" spc="400" dirty="0">
                <a:solidFill>
                  <a:srgbClr val="231F20"/>
                </a:solidFill>
                <a:latin typeface="Arial"/>
                <a:cs typeface="Arial"/>
              </a:rPr>
              <a:t>SAT</a:t>
            </a:r>
            <a:r>
              <a:rPr sz="1950" spc="285" dirty="0">
                <a:solidFill>
                  <a:srgbClr val="231F20"/>
                </a:solidFill>
                <a:latin typeface="Arial"/>
                <a:cs typeface="Arial"/>
              </a:rPr>
              <a:t> </a:t>
            </a:r>
            <a:r>
              <a:rPr sz="1950" spc="220" dirty="0">
                <a:solidFill>
                  <a:srgbClr val="231F20"/>
                </a:solidFill>
                <a:latin typeface="Arial"/>
                <a:cs typeface="Arial"/>
              </a:rPr>
              <a:t>Solving</a:t>
            </a:r>
            <a:endParaRPr sz="1950">
              <a:latin typeface="Arial"/>
              <a:cs typeface="Arial"/>
            </a:endParaRPr>
          </a:p>
          <a:p>
            <a:pPr marL="300990" indent="-288290">
              <a:lnSpc>
                <a:spcPct val="100000"/>
              </a:lnSpc>
              <a:spcBef>
                <a:spcPts val="1614"/>
              </a:spcBef>
              <a:buClr>
                <a:srgbClr val="231F20"/>
              </a:buClr>
              <a:buSzPct val="105128"/>
              <a:buFont typeface="Lucida Sans Unicode"/>
              <a:buChar char="•"/>
              <a:tabLst>
                <a:tab pos="301625" algn="l"/>
              </a:tabLst>
            </a:pPr>
            <a:r>
              <a:rPr sz="1950" spc="175" dirty="0">
                <a:solidFill>
                  <a:srgbClr val="FF0000"/>
                </a:solidFill>
                <a:latin typeface="Arial"/>
                <a:cs typeface="Arial"/>
              </a:rPr>
              <a:t>Find </a:t>
            </a:r>
            <a:r>
              <a:rPr sz="1950" spc="125" dirty="0">
                <a:solidFill>
                  <a:srgbClr val="FF0000"/>
                </a:solidFill>
                <a:latin typeface="Arial"/>
                <a:cs typeface="Arial"/>
              </a:rPr>
              <a:t>satisfying assignment </a:t>
            </a:r>
            <a:r>
              <a:rPr sz="1950" spc="250" dirty="0">
                <a:solidFill>
                  <a:srgbClr val="FF0000"/>
                </a:solidFill>
                <a:latin typeface="Arial"/>
                <a:cs typeface="Arial"/>
              </a:rPr>
              <a:t>to </a:t>
            </a:r>
            <a:r>
              <a:rPr sz="1950" spc="85" dirty="0">
                <a:solidFill>
                  <a:srgbClr val="FF0000"/>
                </a:solidFill>
                <a:latin typeface="Arial"/>
                <a:cs typeface="Arial"/>
              </a:rPr>
              <a:t>a </a:t>
            </a:r>
            <a:r>
              <a:rPr sz="1950" spc="140" dirty="0">
                <a:solidFill>
                  <a:srgbClr val="FF0000"/>
                </a:solidFill>
                <a:latin typeface="Arial"/>
                <a:cs typeface="Arial"/>
              </a:rPr>
              <a:t>propositional </a:t>
            </a:r>
            <a:r>
              <a:rPr sz="1950" spc="130" dirty="0">
                <a:solidFill>
                  <a:srgbClr val="FF0000"/>
                </a:solidFill>
                <a:latin typeface="Arial"/>
                <a:cs typeface="Arial"/>
              </a:rPr>
              <a:t>logic </a:t>
            </a:r>
            <a:r>
              <a:rPr sz="1950" spc="430" dirty="0">
                <a:solidFill>
                  <a:srgbClr val="FF0000"/>
                </a:solidFill>
                <a:latin typeface="Arial"/>
                <a:cs typeface="Arial"/>
              </a:rPr>
              <a:t> </a:t>
            </a:r>
            <a:r>
              <a:rPr sz="1950" spc="160" dirty="0">
                <a:solidFill>
                  <a:srgbClr val="FF0000"/>
                </a:solidFill>
                <a:latin typeface="Arial"/>
                <a:cs typeface="Arial"/>
              </a:rPr>
              <a:t>formula</a:t>
            </a:r>
            <a:endParaRPr sz="1950">
              <a:latin typeface="Arial"/>
              <a:cs typeface="Arial"/>
            </a:endParaRPr>
          </a:p>
          <a:p>
            <a:pPr marL="300990" indent="-288290">
              <a:lnSpc>
                <a:spcPct val="100000"/>
              </a:lnSpc>
              <a:spcBef>
                <a:spcPts val="1000"/>
              </a:spcBef>
              <a:buSzPct val="105128"/>
              <a:buFont typeface="Lucida Sans Unicode"/>
              <a:buChar char="•"/>
              <a:tabLst>
                <a:tab pos="301625" algn="l"/>
              </a:tabLst>
            </a:pPr>
            <a:r>
              <a:rPr sz="1950" spc="160" dirty="0">
                <a:solidFill>
                  <a:srgbClr val="231F20"/>
                </a:solidFill>
                <a:latin typeface="Arial"/>
                <a:cs typeface="Arial"/>
              </a:rPr>
              <a:t>Formula </a:t>
            </a:r>
            <a:r>
              <a:rPr sz="1950" spc="120" dirty="0">
                <a:solidFill>
                  <a:srgbClr val="231F20"/>
                </a:solidFill>
                <a:latin typeface="Arial"/>
                <a:cs typeface="Arial"/>
              </a:rPr>
              <a:t>can </a:t>
            </a:r>
            <a:r>
              <a:rPr sz="1950" spc="114" dirty="0">
                <a:solidFill>
                  <a:srgbClr val="231F20"/>
                </a:solidFill>
                <a:latin typeface="Arial"/>
                <a:cs typeface="Arial"/>
              </a:rPr>
              <a:t>be </a:t>
            </a:r>
            <a:r>
              <a:rPr sz="1950" spc="100" dirty="0">
                <a:solidFill>
                  <a:srgbClr val="231F20"/>
                </a:solidFill>
                <a:latin typeface="Arial"/>
                <a:cs typeface="Arial"/>
              </a:rPr>
              <a:t>represented </a:t>
            </a:r>
            <a:r>
              <a:rPr sz="1950" spc="30" dirty="0">
                <a:solidFill>
                  <a:srgbClr val="231F20"/>
                </a:solidFill>
                <a:latin typeface="Arial"/>
                <a:cs typeface="Arial"/>
              </a:rPr>
              <a:t>as </a:t>
            </a:r>
            <a:r>
              <a:rPr sz="1950" spc="85" dirty="0">
                <a:solidFill>
                  <a:srgbClr val="231F20"/>
                </a:solidFill>
                <a:latin typeface="Arial"/>
                <a:cs typeface="Arial"/>
              </a:rPr>
              <a:t>a </a:t>
            </a:r>
            <a:r>
              <a:rPr sz="1950" spc="110" dirty="0">
                <a:solidFill>
                  <a:srgbClr val="231F20"/>
                </a:solidFill>
                <a:latin typeface="Arial"/>
                <a:cs typeface="Arial"/>
              </a:rPr>
              <a:t>set </a:t>
            </a:r>
            <a:r>
              <a:rPr sz="1950" spc="185" dirty="0">
                <a:solidFill>
                  <a:srgbClr val="231F20"/>
                </a:solidFill>
                <a:latin typeface="Arial"/>
                <a:cs typeface="Arial"/>
              </a:rPr>
              <a:t>of </a:t>
            </a:r>
            <a:r>
              <a:rPr sz="1950" spc="790" dirty="0">
                <a:solidFill>
                  <a:srgbClr val="231F20"/>
                </a:solidFill>
                <a:latin typeface="Arial"/>
                <a:cs typeface="Arial"/>
              </a:rPr>
              <a:t> </a:t>
            </a:r>
            <a:r>
              <a:rPr sz="1950" spc="60" dirty="0">
                <a:solidFill>
                  <a:srgbClr val="231F20"/>
                </a:solidFill>
                <a:latin typeface="Arial"/>
                <a:cs typeface="Arial"/>
              </a:rPr>
              <a:t>clauses</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120" dirty="0">
                <a:solidFill>
                  <a:srgbClr val="231F20"/>
                </a:solidFill>
                <a:latin typeface="Arial"/>
                <a:cs typeface="Arial"/>
              </a:rPr>
              <a:t>In </a:t>
            </a:r>
            <a:r>
              <a:rPr sz="1950" spc="200" dirty="0">
                <a:solidFill>
                  <a:srgbClr val="0000FF"/>
                </a:solidFill>
                <a:latin typeface="Arial"/>
                <a:cs typeface="Arial"/>
              </a:rPr>
              <a:t>CNF</a:t>
            </a:r>
            <a:r>
              <a:rPr sz="1950" spc="200" dirty="0">
                <a:solidFill>
                  <a:srgbClr val="231F20"/>
                </a:solidFill>
                <a:latin typeface="Arial"/>
                <a:cs typeface="Arial"/>
              </a:rPr>
              <a:t>: </a:t>
            </a:r>
            <a:r>
              <a:rPr sz="1950" spc="165" dirty="0">
                <a:solidFill>
                  <a:srgbClr val="FF0000"/>
                </a:solidFill>
                <a:latin typeface="Arial"/>
                <a:cs typeface="Arial"/>
              </a:rPr>
              <a:t>conjunction </a:t>
            </a:r>
            <a:r>
              <a:rPr sz="1950" spc="185" dirty="0">
                <a:solidFill>
                  <a:srgbClr val="FF0000"/>
                </a:solidFill>
                <a:latin typeface="Arial"/>
                <a:cs typeface="Arial"/>
              </a:rPr>
              <a:t>of</a:t>
            </a:r>
            <a:r>
              <a:rPr sz="1950" spc="620" dirty="0">
                <a:solidFill>
                  <a:srgbClr val="FF0000"/>
                </a:solidFill>
                <a:latin typeface="Arial"/>
                <a:cs typeface="Arial"/>
              </a:rPr>
              <a:t> </a:t>
            </a:r>
            <a:r>
              <a:rPr sz="1950" spc="130" dirty="0">
                <a:solidFill>
                  <a:srgbClr val="FF0000"/>
                </a:solidFill>
                <a:latin typeface="Arial"/>
                <a:cs typeface="Arial"/>
              </a:rPr>
              <a:t>disjunctions</a:t>
            </a:r>
            <a:endParaRPr sz="1950">
              <a:latin typeface="Arial"/>
              <a:cs typeface="Arial"/>
            </a:endParaRPr>
          </a:p>
          <a:p>
            <a:pPr marL="741680" marR="5080" lvl="1" indent="-288290">
              <a:lnSpc>
                <a:spcPct val="125000"/>
              </a:lnSpc>
              <a:spcBef>
                <a:spcPts val="204"/>
              </a:spcBef>
              <a:buClr>
                <a:srgbClr val="231F20"/>
              </a:buClr>
              <a:buSzPct val="105128"/>
              <a:buFont typeface="Lucida Sans Unicode"/>
              <a:buChar char="◦"/>
              <a:tabLst>
                <a:tab pos="742315" algn="l"/>
              </a:tabLst>
            </a:pPr>
            <a:r>
              <a:rPr sz="1950" spc="175" dirty="0">
                <a:solidFill>
                  <a:srgbClr val="0000FF"/>
                </a:solidFill>
                <a:latin typeface="Arial"/>
                <a:cs typeface="Arial"/>
              </a:rPr>
              <a:t>Find </a:t>
            </a:r>
            <a:r>
              <a:rPr sz="1950" spc="120" dirty="0">
                <a:solidFill>
                  <a:srgbClr val="0000FF"/>
                </a:solidFill>
                <a:latin typeface="Arial"/>
                <a:cs typeface="Arial"/>
              </a:rPr>
              <a:t>an </a:t>
            </a:r>
            <a:r>
              <a:rPr sz="1950" spc="125" dirty="0">
                <a:solidFill>
                  <a:srgbClr val="0000FF"/>
                </a:solidFill>
                <a:latin typeface="Arial"/>
                <a:cs typeface="Arial"/>
              </a:rPr>
              <a:t>assignment </a:t>
            </a:r>
            <a:r>
              <a:rPr sz="1950" spc="185" dirty="0">
                <a:solidFill>
                  <a:srgbClr val="0000FF"/>
                </a:solidFill>
                <a:latin typeface="Arial"/>
                <a:cs typeface="Arial"/>
              </a:rPr>
              <a:t>of </a:t>
            </a:r>
            <a:r>
              <a:rPr sz="1950" spc="235" dirty="0">
                <a:solidFill>
                  <a:srgbClr val="0000FF"/>
                </a:solidFill>
                <a:latin typeface="Arial"/>
                <a:cs typeface="Arial"/>
              </a:rPr>
              <a:t>truth </a:t>
            </a:r>
            <a:r>
              <a:rPr sz="1950" spc="75" dirty="0">
                <a:solidFill>
                  <a:srgbClr val="0000FF"/>
                </a:solidFill>
                <a:latin typeface="Arial"/>
                <a:cs typeface="Arial"/>
              </a:rPr>
              <a:t>values </a:t>
            </a:r>
            <a:r>
              <a:rPr sz="1950" spc="250" dirty="0">
                <a:solidFill>
                  <a:srgbClr val="0000FF"/>
                </a:solidFill>
                <a:latin typeface="Arial"/>
                <a:cs typeface="Arial"/>
              </a:rPr>
              <a:t>to </a:t>
            </a:r>
            <a:r>
              <a:rPr sz="1950" spc="95" dirty="0">
                <a:solidFill>
                  <a:srgbClr val="0000FF"/>
                </a:solidFill>
                <a:latin typeface="Arial"/>
                <a:cs typeface="Arial"/>
              </a:rPr>
              <a:t>variable </a:t>
            </a:r>
            <a:r>
              <a:rPr sz="1950" spc="235" dirty="0">
                <a:solidFill>
                  <a:srgbClr val="0000FF"/>
                </a:solidFill>
                <a:latin typeface="Arial"/>
                <a:cs typeface="Arial"/>
              </a:rPr>
              <a:t>that </a:t>
            </a:r>
            <a:r>
              <a:rPr sz="1950" spc="100" dirty="0">
                <a:solidFill>
                  <a:srgbClr val="0000FF"/>
                </a:solidFill>
                <a:latin typeface="Arial"/>
                <a:cs typeface="Arial"/>
              </a:rPr>
              <a:t>makes  </a:t>
            </a:r>
            <a:r>
              <a:rPr sz="1950" spc="215" dirty="0">
                <a:solidFill>
                  <a:srgbClr val="0000FF"/>
                </a:solidFill>
                <a:latin typeface="Arial"/>
                <a:cs typeface="Arial"/>
              </a:rPr>
              <a:t>at </a:t>
            </a:r>
            <a:r>
              <a:rPr sz="1950" spc="105" dirty="0">
                <a:solidFill>
                  <a:srgbClr val="0000FF"/>
                </a:solidFill>
                <a:latin typeface="Arial"/>
                <a:cs typeface="Arial"/>
              </a:rPr>
              <a:t>least one </a:t>
            </a:r>
            <a:r>
              <a:rPr sz="1950" spc="135" dirty="0">
                <a:solidFill>
                  <a:srgbClr val="FF0000"/>
                </a:solidFill>
                <a:latin typeface="Arial"/>
                <a:cs typeface="Arial"/>
              </a:rPr>
              <a:t>literal </a:t>
            </a:r>
            <a:r>
              <a:rPr sz="1950" spc="130" dirty="0">
                <a:solidFill>
                  <a:srgbClr val="0000FF"/>
                </a:solidFill>
                <a:latin typeface="Arial"/>
                <a:cs typeface="Arial"/>
              </a:rPr>
              <a:t>in </a:t>
            </a:r>
            <a:r>
              <a:rPr sz="1950" spc="90" dirty="0">
                <a:solidFill>
                  <a:srgbClr val="0000FF"/>
                </a:solidFill>
                <a:latin typeface="Arial"/>
                <a:cs typeface="Arial"/>
              </a:rPr>
              <a:t>each </a:t>
            </a:r>
            <a:r>
              <a:rPr sz="1950" spc="75" dirty="0">
                <a:solidFill>
                  <a:srgbClr val="0000FF"/>
                </a:solidFill>
                <a:latin typeface="Arial"/>
                <a:cs typeface="Arial"/>
              </a:rPr>
              <a:t>clause </a:t>
            </a:r>
            <a:r>
              <a:rPr sz="1950" spc="585" dirty="0">
                <a:solidFill>
                  <a:srgbClr val="0000FF"/>
                </a:solidFill>
                <a:latin typeface="Arial"/>
                <a:cs typeface="Arial"/>
              </a:rPr>
              <a:t> </a:t>
            </a:r>
            <a:r>
              <a:rPr sz="1950" spc="305" dirty="0">
                <a:solidFill>
                  <a:srgbClr val="0000FF"/>
                </a:solidFill>
                <a:latin typeface="Arial"/>
                <a:cs typeface="Arial"/>
              </a:rPr>
              <a:t>TRUE</a:t>
            </a:r>
            <a:endParaRPr sz="1950">
              <a:latin typeface="Arial"/>
              <a:cs typeface="Arial"/>
            </a:endParaRPr>
          </a:p>
          <a:p>
            <a:pPr marL="741680" lvl="1" indent="-288290">
              <a:lnSpc>
                <a:spcPct val="100000"/>
              </a:lnSpc>
              <a:spcBef>
                <a:spcPts val="690"/>
              </a:spcBef>
              <a:buClr>
                <a:srgbClr val="231F20"/>
              </a:buClr>
              <a:buSzPct val="105128"/>
              <a:buFont typeface="Lucida Sans Unicode"/>
              <a:buChar char="◦"/>
              <a:tabLst>
                <a:tab pos="742315" algn="l"/>
                <a:tab pos="1795145" algn="l"/>
              </a:tabLst>
            </a:pPr>
            <a:r>
              <a:rPr sz="1950" spc="160" dirty="0">
                <a:solidFill>
                  <a:srgbClr val="FF0000"/>
                </a:solidFill>
                <a:latin typeface="Arial"/>
                <a:cs typeface="Arial"/>
              </a:rPr>
              <a:t>Literal</a:t>
            </a:r>
            <a:r>
              <a:rPr sz="1950" spc="160" dirty="0">
                <a:solidFill>
                  <a:srgbClr val="231F20"/>
                </a:solidFill>
                <a:latin typeface="Arial"/>
                <a:cs typeface="Arial"/>
              </a:rPr>
              <a:t>:	</a:t>
            </a:r>
            <a:r>
              <a:rPr sz="1950" spc="120" dirty="0">
                <a:solidFill>
                  <a:srgbClr val="231F20"/>
                </a:solidFill>
                <a:latin typeface="Arial"/>
                <a:cs typeface="Arial"/>
              </a:rPr>
              <a:t>an </a:t>
            </a:r>
            <a:r>
              <a:rPr sz="1950" spc="185" dirty="0">
                <a:solidFill>
                  <a:srgbClr val="231F20"/>
                </a:solidFill>
                <a:latin typeface="Arial"/>
                <a:cs typeface="Arial"/>
              </a:rPr>
              <a:t>atomic </a:t>
            </a:r>
            <a:r>
              <a:rPr sz="1950" spc="150" dirty="0">
                <a:solidFill>
                  <a:srgbClr val="231F20"/>
                </a:solidFill>
                <a:latin typeface="Arial"/>
                <a:cs typeface="Arial"/>
              </a:rPr>
              <a:t>proposition </a:t>
            </a:r>
            <a:r>
              <a:rPr sz="2050" i="1" spc="160" dirty="0">
                <a:solidFill>
                  <a:srgbClr val="FF0000"/>
                </a:solidFill>
                <a:latin typeface="Meiryo"/>
                <a:cs typeface="Meiryo"/>
              </a:rPr>
              <a:t>A </a:t>
            </a:r>
            <a:r>
              <a:rPr sz="1950" spc="130" dirty="0">
                <a:solidFill>
                  <a:srgbClr val="231F20"/>
                </a:solidFill>
                <a:latin typeface="Arial"/>
                <a:cs typeface="Arial"/>
              </a:rPr>
              <a:t>or </a:t>
            </a:r>
            <a:r>
              <a:rPr sz="1950" spc="145" dirty="0">
                <a:solidFill>
                  <a:srgbClr val="231F20"/>
                </a:solidFill>
                <a:latin typeface="Arial"/>
                <a:cs typeface="Arial"/>
              </a:rPr>
              <a:t>its </a:t>
            </a:r>
            <a:r>
              <a:rPr sz="1950" spc="145" dirty="0">
                <a:solidFill>
                  <a:srgbClr val="0000FF"/>
                </a:solidFill>
                <a:latin typeface="Arial"/>
                <a:cs typeface="Arial"/>
              </a:rPr>
              <a:t>negation </a:t>
            </a:r>
            <a:r>
              <a:rPr sz="1950" spc="210" dirty="0">
                <a:solidFill>
                  <a:srgbClr val="0000FF"/>
                </a:solidFill>
                <a:latin typeface="Arial"/>
                <a:cs typeface="Arial"/>
              </a:rPr>
              <a:t> </a:t>
            </a:r>
            <a:r>
              <a:rPr sz="2050" i="1" spc="-465" dirty="0">
                <a:solidFill>
                  <a:srgbClr val="FF0000"/>
                </a:solidFill>
                <a:latin typeface="Meiryo"/>
                <a:cs typeface="Meiryo"/>
              </a:rPr>
              <a:t>A</a:t>
            </a:r>
            <a:r>
              <a:rPr sz="3075" spc="-697" baseline="13550" dirty="0">
                <a:solidFill>
                  <a:srgbClr val="FF0000"/>
                </a:solidFill>
                <a:latin typeface="Tahoma"/>
                <a:cs typeface="Tahoma"/>
              </a:rPr>
              <a:t>¯</a:t>
            </a:r>
            <a:endParaRPr sz="3075" baseline="13550">
              <a:latin typeface="Tahoma"/>
              <a:cs typeface="Tahoma"/>
            </a:endParaRPr>
          </a:p>
          <a:p>
            <a:pPr marL="300990" indent="-288290">
              <a:lnSpc>
                <a:spcPct val="100000"/>
              </a:lnSpc>
              <a:spcBef>
                <a:spcPts val="980"/>
              </a:spcBef>
              <a:buSzPct val="105128"/>
              <a:buFont typeface="Lucida Sans Unicode"/>
              <a:buChar char="•"/>
              <a:tabLst>
                <a:tab pos="301625" algn="l"/>
                <a:tab pos="1625600" algn="l"/>
              </a:tabLst>
            </a:pPr>
            <a:r>
              <a:rPr sz="1950" spc="145" dirty="0">
                <a:solidFill>
                  <a:srgbClr val="231F20"/>
                </a:solidFill>
                <a:latin typeface="Arial"/>
                <a:cs typeface="Arial"/>
              </a:rPr>
              <a:t>Example:	</a:t>
            </a:r>
            <a:r>
              <a:rPr sz="1950" spc="110" dirty="0">
                <a:solidFill>
                  <a:srgbClr val="231F20"/>
                </a:solidFill>
                <a:latin typeface="Arial"/>
                <a:cs typeface="Arial"/>
              </a:rPr>
              <a:t>given </a:t>
            </a:r>
            <a:r>
              <a:rPr sz="1950" spc="150" dirty="0">
                <a:solidFill>
                  <a:srgbClr val="231F20"/>
                </a:solidFill>
                <a:latin typeface="Arial"/>
                <a:cs typeface="Arial"/>
              </a:rPr>
              <a:t>following </a:t>
            </a:r>
            <a:r>
              <a:rPr sz="1950" spc="155" dirty="0">
                <a:solidFill>
                  <a:srgbClr val="231F20"/>
                </a:solidFill>
                <a:latin typeface="Arial"/>
                <a:cs typeface="Arial"/>
              </a:rPr>
              <a:t>4</a:t>
            </a:r>
            <a:r>
              <a:rPr sz="1950" spc="515" dirty="0">
                <a:solidFill>
                  <a:srgbClr val="231F20"/>
                </a:solidFill>
                <a:latin typeface="Arial"/>
                <a:cs typeface="Arial"/>
              </a:rPr>
              <a:t> </a:t>
            </a:r>
            <a:r>
              <a:rPr sz="1950" spc="60" dirty="0">
                <a:solidFill>
                  <a:srgbClr val="231F20"/>
                </a:solidFill>
                <a:latin typeface="Arial"/>
                <a:cs typeface="Arial"/>
              </a:rPr>
              <a:t>clauses</a:t>
            </a:r>
            <a:endParaRPr sz="1950">
              <a:latin typeface="Arial"/>
              <a:cs typeface="Arial"/>
            </a:endParaRPr>
          </a:p>
          <a:p>
            <a:pPr marL="741680" lvl="1" indent="-288290">
              <a:lnSpc>
                <a:spcPct val="100000"/>
              </a:lnSpc>
              <a:spcBef>
                <a:spcPts val="900"/>
              </a:spcBef>
              <a:buFont typeface="Lucida Sans Unicode"/>
              <a:buChar char="◦"/>
              <a:tabLst>
                <a:tab pos="742315" algn="l"/>
              </a:tabLst>
            </a:pPr>
            <a:r>
              <a:rPr sz="2050" i="1" spc="5" dirty="0">
                <a:solidFill>
                  <a:srgbClr val="231F20"/>
                </a:solidFill>
                <a:latin typeface="Georgia"/>
                <a:cs typeface="Georgia"/>
              </a:rPr>
              <a:t>A</a:t>
            </a:r>
            <a:r>
              <a:rPr sz="2050" i="1" spc="5" dirty="0">
                <a:solidFill>
                  <a:srgbClr val="231F20"/>
                </a:solidFill>
                <a:latin typeface="Meiryo"/>
                <a:cs typeface="Meiryo"/>
              </a:rPr>
              <a:t>,</a:t>
            </a:r>
            <a:r>
              <a:rPr sz="2050" i="1" spc="-445" dirty="0">
                <a:solidFill>
                  <a:srgbClr val="231F20"/>
                </a:solidFill>
                <a:latin typeface="Meiryo"/>
                <a:cs typeface="Meiryo"/>
              </a:rPr>
              <a:t> </a:t>
            </a:r>
            <a:r>
              <a:rPr sz="2050" i="1" spc="110" dirty="0">
                <a:solidFill>
                  <a:srgbClr val="231F20"/>
                </a:solidFill>
                <a:latin typeface="Georgia"/>
                <a:cs typeface="Georgia"/>
              </a:rPr>
              <a:t>B</a:t>
            </a:r>
            <a:endParaRPr sz="2050">
              <a:latin typeface="Georgia"/>
              <a:cs typeface="Georgia"/>
            </a:endParaRPr>
          </a:p>
          <a:p>
            <a:pPr marL="741680" lvl="1" indent="-288290">
              <a:lnSpc>
                <a:spcPct val="100000"/>
              </a:lnSpc>
              <a:spcBef>
                <a:spcPts val="670"/>
              </a:spcBef>
              <a:buFont typeface="Lucida Sans Unicode"/>
              <a:buChar char="◦"/>
              <a:tabLst>
                <a:tab pos="742315" algn="l"/>
              </a:tabLst>
            </a:pPr>
            <a:r>
              <a:rPr sz="2050" i="1" spc="155" dirty="0">
                <a:solidFill>
                  <a:srgbClr val="231F20"/>
                </a:solidFill>
                <a:latin typeface="Georgia"/>
                <a:cs typeface="Georgia"/>
              </a:rPr>
              <a:t>C</a:t>
            </a:r>
            <a:r>
              <a:rPr sz="2050" i="1" spc="155" dirty="0">
                <a:solidFill>
                  <a:srgbClr val="231F20"/>
                </a:solidFill>
                <a:latin typeface="Meiryo"/>
                <a:cs typeface="Meiryo"/>
              </a:rPr>
              <a:t>,</a:t>
            </a:r>
            <a:r>
              <a:rPr sz="2050" i="1" spc="-445" dirty="0">
                <a:solidFill>
                  <a:srgbClr val="231F20"/>
                </a:solidFill>
                <a:latin typeface="Meiryo"/>
                <a:cs typeface="Meiryo"/>
              </a:rPr>
              <a:t> </a:t>
            </a:r>
            <a:r>
              <a:rPr sz="2050" i="1" spc="20" dirty="0">
                <a:solidFill>
                  <a:srgbClr val="231F20"/>
                </a:solidFill>
                <a:latin typeface="Georgia"/>
                <a:cs typeface="Georgia"/>
              </a:rPr>
              <a:t>D</a:t>
            </a:r>
            <a:endParaRPr sz="2050">
              <a:latin typeface="Georgia"/>
              <a:cs typeface="Georgia"/>
            </a:endParaRPr>
          </a:p>
          <a:p>
            <a:pPr marL="741680" lvl="1" indent="-288290">
              <a:lnSpc>
                <a:spcPct val="100000"/>
              </a:lnSpc>
              <a:spcBef>
                <a:spcPts val="670"/>
              </a:spcBef>
              <a:buFont typeface="Lucida Sans Unicode"/>
              <a:buChar char="◦"/>
              <a:tabLst>
                <a:tab pos="742315" algn="l"/>
              </a:tabLst>
            </a:pPr>
            <a:r>
              <a:rPr sz="2050" i="1" spc="60" dirty="0">
                <a:solidFill>
                  <a:srgbClr val="231F20"/>
                </a:solidFill>
                <a:latin typeface="Georgia"/>
                <a:cs typeface="Georgia"/>
              </a:rPr>
              <a:t>E</a:t>
            </a:r>
            <a:endParaRPr sz="2050">
              <a:latin typeface="Georgia"/>
              <a:cs typeface="Georgia"/>
            </a:endParaRPr>
          </a:p>
          <a:p>
            <a:pPr marL="453390">
              <a:lnSpc>
                <a:spcPct val="100000"/>
              </a:lnSpc>
              <a:spcBef>
                <a:spcPts val="670"/>
              </a:spcBef>
              <a:tabLst>
                <a:tab pos="741680" algn="l"/>
              </a:tabLst>
            </a:pPr>
            <a:r>
              <a:rPr sz="2050" spc="-120" dirty="0">
                <a:solidFill>
                  <a:srgbClr val="231F20"/>
                </a:solidFill>
                <a:latin typeface="Lucida Sans Unicode"/>
                <a:cs typeface="Lucida Sans Unicode"/>
              </a:rPr>
              <a:t>◦	</a:t>
            </a:r>
            <a:r>
              <a:rPr sz="2050" i="1" spc="-370" dirty="0">
                <a:solidFill>
                  <a:srgbClr val="231F20"/>
                </a:solidFill>
                <a:latin typeface="Meiryo"/>
                <a:cs typeface="Meiryo"/>
              </a:rPr>
              <a:t>A</a:t>
            </a:r>
            <a:r>
              <a:rPr sz="3075" spc="-555" baseline="13550" dirty="0">
                <a:solidFill>
                  <a:srgbClr val="231F20"/>
                </a:solidFill>
                <a:latin typeface="Tahoma"/>
                <a:cs typeface="Tahoma"/>
              </a:rPr>
              <a:t>¯</a:t>
            </a:r>
            <a:r>
              <a:rPr sz="2050" i="1" spc="-370" dirty="0">
                <a:solidFill>
                  <a:srgbClr val="231F20"/>
                </a:solidFill>
                <a:latin typeface="Meiryo"/>
                <a:cs typeface="Meiryo"/>
              </a:rPr>
              <a:t>, </a:t>
            </a:r>
            <a:r>
              <a:rPr sz="2050" i="1" spc="-575" dirty="0">
                <a:solidFill>
                  <a:srgbClr val="231F20"/>
                </a:solidFill>
                <a:latin typeface="Meiryo"/>
                <a:cs typeface="Meiryo"/>
              </a:rPr>
              <a:t>D</a:t>
            </a:r>
            <a:r>
              <a:rPr sz="3075" spc="-862" baseline="13550" dirty="0">
                <a:solidFill>
                  <a:srgbClr val="231F20"/>
                </a:solidFill>
                <a:latin typeface="Tahoma"/>
                <a:cs typeface="Tahoma"/>
              </a:rPr>
              <a:t>¯   </a:t>
            </a:r>
            <a:r>
              <a:rPr sz="2050" i="1" spc="-145" dirty="0">
                <a:solidFill>
                  <a:srgbClr val="231F20"/>
                </a:solidFill>
                <a:latin typeface="Meiryo"/>
                <a:cs typeface="Meiryo"/>
              </a:rPr>
              <a:t>,</a:t>
            </a:r>
            <a:r>
              <a:rPr sz="2050" i="1" spc="-370" dirty="0">
                <a:solidFill>
                  <a:srgbClr val="231F20"/>
                </a:solidFill>
                <a:latin typeface="Meiryo"/>
                <a:cs typeface="Meiryo"/>
              </a:rPr>
              <a:t> </a:t>
            </a:r>
            <a:r>
              <a:rPr sz="2050" i="1" spc="-440" dirty="0">
                <a:solidFill>
                  <a:srgbClr val="231F20"/>
                </a:solidFill>
                <a:latin typeface="Meiryo"/>
                <a:cs typeface="Meiryo"/>
              </a:rPr>
              <a:t>E</a:t>
            </a:r>
            <a:r>
              <a:rPr sz="3075" spc="-660" baseline="13550" dirty="0">
                <a:solidFill>
                  <a:srgbClr val="231F20"/>
                </a:solidFill>
                <a:latin typeface="Tahoma"/>
                <a:cs typeface="Tahoma"/>
              </a:rPr>
              <a:t>¯</a:t>
            </a:r>
            <a:endParaRPr sz="3075" baseline="13550">
              <a:latin typeface="Tahoma"/>
              <a:cs typeface="Tahoma"/>
            </a:endParaRPr>
          </a:p>
          <a:p>
            <a:pPr marL="300990">
              <a:lnSpc>
                <a:spcPct val="100000"/>
              </a:lnSpc>
              <a:spcBef>
                <a:spcPts val="875"/>
              </a:spcBef>
            </a:pPr>
            <a:r>
              <a:rPr sz="1950" spc="185" dirty="0">
                <a:solidFill>
                  <a:srgbClr val="231F20"/>
                </a:solidFill>
                <a:latin typeface="Arial"/>
                <a:cs typeface="Arial"/>
              </a:rPr>
              <a:t>One</a:t>
            </a:r>
            <a:r>
              <a:rPr sz="1950" spc="265" dirty="0">
                <a:solidFill>
                  <a:srgbClr val="231F20"/>
                </a:solidFill>
                <a:latin typeface="Arial"/>
                <a:cs typeface="Arial"/>
              </a:rPr>
              <a:t> </a:t>
            </a:r>
            <a:r>
              <a:rPr sz="1950" spc="145" dirty="0">
                <a:solidFill>
                  <a:srgbClr val="231F20"/>
                </a:solidFill>
                <a:latin typeface="Arial"/>
                <a:cs typeface="Arial"/>
              </a:rPr>
              <a:t>solution</a:t>
            </a:r>
            <a:r>
              <a:rPr sz="1950" spc="265" dirty="0">
                <a:solidFill>
                  <a:srgbClr val="231F20"/>
                </a:solidFill>
                <a:latin typeface="Arial"/>
                <a:cs typeface="Arial"/>
              </a:rPr>
              <a:t> </a:t>
            </a:r>
            <a:r>
              <a:rPr sz="1950" spc="40" dirty="0">
                <a:solidFill>
                  <a:srgbClr val="231F20"/>
                </a:solidFill>
                <a:latin typeface="Arial"/>
                <a:cs typeface="Arial"/>
              </a:rPr>
              <a:t>is</a:t>
            </a:r>
            <a:r>
              <a:rPr sz="1950" spc="265" dirty="0">
                <a:solidFill>
                  <a:srgbClr val="231F20"/>
                </a:solidFill>
                <a:latin typeface="Arial"/>
                <a:cs typeface="Arial"/>
              </a:rPr>
              <a:t> </a:t>
            </a:r>
            <a:r>
              <a:rPr sz="2050" i="1" spc="10" dirty="0">
                <a:solidFill>
                  <a:srgbClr val="0000FF"/>
                </a:solidFill>
                <a:latin typeface="Meiryo"/>
                <a:cs typeface="Meiryo"/>
              </a:rPr>
              <a:t>A,</a:t>
            </a:r>
            <a:r>
              <a:rPr sz="2050" i="1" spc="-365" dirty="0">
                <a:solidFill>
                  <a:srgbClr val="0000FF"/>
                </a:solidFill>
                <a:latin typeface="Meiryo"/>
                <a:cs typeface="Meiryo"/>
              </a:rPr>
              <a:t> </a:t>
            </a:r>
            <a:r>
              <a:rPr sz="2050" i="1" spc="5" dirty="0">
                <a:solidFill>
                  <a:srgbClr val="0000FF"/>
                </a:solidFill>
                <a:latin typeface="Meiryo"/>
                <a:cs typeface="Meiryo"/>
              </a:rPr>
              <a:t>C,</a:t>
            </a:r>
            <a:r>
              <a:rPr sz="2050" i="1" spc="-365" dirty="0">
                <a:solidFill>
                  <a:srgbClr val="0000FF"/>
                </a:solidFill>
                <a:latin typeface="Meiryo"/>
                <a:cs typeface="Meiryo"/>
              </a:rPr>
              <a:t> </a:t>
            </a:r>
            <a:r>
              <a:rPr sz="2050" i="1" spc="114" dirty="0">
                <a:solidFill>
                  <a:srgbClr val="0000FF"/>
                </a:solidFill>
                <a:latin typeface="Meiryo"/>
                <a:cs typeface="Meiryo"/>
              </a:rPr>
              <a:t>E,</a:t>
            </a:r>
            <a:r>
              <a:rPr sz="2050" i="1" spc="-365" dirty="0">
                <a:solidFill>
                  <a:srgbClr val="0000FF"/>
                </a:solidFill>
                <a:latin typeface="Meiryo"/>
                <a:cs typeface="Meiryo"/>
              </a:rPr>
              <a:t> </a:t>
            </a:r>
            <a:r>
              <a:rPr sz="2050" i="1" spc="-575" dirty="0">
                <a:solidFill>
                  <a:srgbClr val="0000FF"/>
                </a:solidFill>
                <a:latin typeface="Meiryo"/>
                <a:cs typeface="Meiryo"/>
              </a:rPr>
              <a:t>D</a:t>
            </a:r>
            <a:r>
              <a:rPr sz="3075" spc="-862" baseline="13550" dirty="0">
                <a:solidFill>
                  <a:srgbClr val="0000FF"/>
                </a:solidFill>
                <a:latin typeface="Tahoma"/>
                <a:cs typeface="Tahoma"/>
              </a:rPr>
              <a:t>¯</a:t>
            </a:r>
            <a:endParaRPr sz="3075" baseline="13550">
              <a:latin typeface="Tahoma"/>
              <a:cs typeface="Tahoma"/>
            </a:endParaRPr>
          </a:p>
          <a:p>
            <a:pPr marL="615950">
              <a:lnSpc>
                <a:spcPct val="100000"/>
              </a:lnSpc>
              <a:spcBef>
                <a:spcPts val="465"/>
              </a:spcBef>
            </a:pPr>
            <a:r>
              <a:rPr sz="1950" spc="110" dirty="0">
                <a:solidFill>
                  <a:srgbClr val="231F20"/>
                </a:solidFill>
                <a:latin typeface="Arial"/>
                <a:cs typeface="Arial"/>
              </a:rPr>
              <a:t>(</a:t>
            </a:r>
            <a:r>
              <a:rPr sz="2050" i="1" spc="110" dirty="0">
                <a:solidFill>
                  <a:srgbClr val="FF0000"/>
                </a:solidFill>
                <a:latin typeface="Meiryo"/>
                <a:cs typeface="Meiryo"/>
              </a:rPr>
              <a:t>A, </a:t>
            </a:r>
            <a:r>
              <a:rPr sz="2050" i="1" spc="40" dirty="0">
                <a:solidFill>
                  <a:srgbClr val="FF0000"/>
                </a:solidFill>
                <a:latin typeface="Meiryo"/>
                <a:cs typeface="Meiryo"/>
              </a:rPr>
              <a:t>D, </a:t>
            </a:r>
            <a:r>
              <a:rPr sz="2050" i="1" spc="254" dirty="0">
                <a:solidFill>
                  <a:srgbClr val="FF0000"/>
                </a:solidFill>
                <a:latin typeface="Meiryo"/>
                <a:cs typeface="Meiryo"/>
              </a:rPr>
              <a:t>E </a:t>
            </a:r>
            <a:r>
              <a:rPr sz="1950" spc="40" dirty="0">
                <a:solidFill>
                  <a:srgbClr val="231F20"/>
                </a:solidFill>
                <a:latin typeface="Arial"/>
                <a:cs typeface="Arial"/>
              </a:rPr>
              <a:t>is </a:t>
            </a:r>
            <a:r>
              <a:rPr sz="1950" spc="220" dirty="0">
                <a:solidFill>
                  <a:srgbClr val="231F20"/>
                </a:solidFill>
                <a:latin typeface="Arial"/>
                <a:cs typeface="Arial"/>
              </a:rPr>
              <a:t>not </a:t>
            </a:r>
            <a:r>
              <a:rPr sz="1950" spc="130" dirty="0">
                <a:solidFill>
                  <a:srgbClr val="231F20"/>
                </a:solidFill>
                <a:latin typeface="Arial"/>
                <a:cs typeface="Arial"/>
              </a:rPr>
              <a:t>and </a:t>
            </a:r>
            <a:r>
              <a:rPr sz="1950" spc="170" dirty="0">
                <a:solidFill>
                  <a:srgbClr val="231F20"/>
                </a:solidFill>
                <a:latin typeface="Arial"/>
                <a:cs typeface="Arial"/>
              </a:rPr>
              <a:t>cannot </a:t>
            </a:r>
            <a:r>
              <a:rPr sz="1950" spc="114" dirty="0">
                <a:solidFill>
                  <a:srgbClr val="231F20"/>
                </a:solidFill>
                <a:latin typeface="Arial"/>
                <a:cs typeface="Arial"/>
              </a:rPr>
              <a:t>be </a:t>
            </a:r>
            <a:r>
              <a:rPr sz="1950" spc="120" dirty="0">
                <a:solidFill>
                  <a:srgbClr val="231F20"/>
                </a:solidFill>
                <a:latin typeface="Arial"/>
                <a:cs typeface="Arial"/>
              </a:rPr>
              <a:t>extended </a:t>
            </a:r>
            <a:r>
              <a:rPr sz="1950" spc="250" dirty="0">
                <a:solidFill>
                  <a:srgbClr val="231F20"/>
                </a:solidFill>
                <a:latin typeface="Arial"/>
                <a:cs typeface="Arial"/>
              </a:rPr>
              <a:t>to </a:t>
            </a:r>
            <a:r>
              <a:rPr sz="1950" spc="114" dirty="0">
                <a:solidFill>
                  <a:srgbClr val="231F20"/>
                </a:solidFill>
                <a:latin typeface="Arial"/>
                <a:cs typeface="Arial"/>
              </a:rPr>
              <a:t>be</a:t>
            </a:r>
            <a:r>
              <a:rPr sz="1950" spc="340" dirty="0">
                <a:solidFill>
                  <a:srgbClr val="231F20"/>
                </a:solidFill>
                <a:latin typeface="Arial"/>
                <a:cs typeface="Arial"/>
              </a:rPr>
              <a:t> </a:t>
            </a:r>
            <a:r>
              <a:rPr sz="1950" spc="155" dirty="0">
                <a:solidFill>
                  <a:srgbClr val="231F20"/>
                </a:solidFill>
                <a:latin typeface="Arial"/>
                <a:cs typeface="Arial"/>
              </a:rPr>
              <a:t>one)</a:t>
            </a:r>
            <a:endParaRPr sz="1950">
              <a:latin typeface="Arial"/>
              <a:cs typeface="Arial"/>
            </a:endParaRPr>
          </a:p>
          <a:p>
            <a:pPr marL="300990" indent="-288290">
              <a:lnSpc>
                <a:spcPct val="100000"/>
              </a:lnSpc>
              <a:spcBef>
                <a:spcPts val="975"/>
              </a:spcBef>
              <a:buSzPct val="105128"/>
              <a:buFont typeface="Lucida Sans Unicode"/>
              <a:buChar char="•"/>
              <a:tabLst>
                <a:tab pos="301625" algn="l"/>
              </a:tabLst>
            </a:pPr>
            <a:r>
              <a:rPr sz="1950" spc="250" dirty="0">
                <a:solidFill>
                  <a:srgbClr val="231F20"/>
                </a:solidFill>
                <a:latin typeface="Arial"/>
                <a:cs typeface="Arial"/>
              </a:rPr>
              <a:t>Do </a:t>
            </a:r>
            <a:r>
              <a:rPr sz="1950" spc="145" dirty="0">
                <a:solidFill>
                  <a:srgbClr val="231F20"/>
                </a:solidFill>
                <a:latin typeface="Arial"/>
                <a:cs typeface="Arial"/>
              </a:rPr>
              <a:t>this </a:t>
            </a:r>
            <a:r>
              <a:rPr sz="1950" spc="140" dirty="0">
                <a:solidFill>
                  <a:srgbClr val="231F20"/>
                </a:solidFill>
                <a:latin typeface="Arial"/>
                <a:cs typeface="Arial"/>
              </a:rPr>
              <a:t>when there </a:t>
            </a:r>
            <a:r>
              <a:rPr sz="1950" spc="65" dirty="0">
                <a:solidFill>
                  <a:srgbClr val="231F20"/>
                </a:solidFill>
                <a:latin typeface="Arial"/>
                <a:cs typeface="Arial"/>
              </a:rPr>
              <a:t>are </a:t>
            </a:r>
            <a:r>
              <a:rPr sz="1950" spc="130" dirty="0">
                <a:solidFill>
                  <a:srgbClr val="231F20"/>
                </a:solidFill>
                <a:latin typeface="Arial"/>
                <a:cs typeface="Arial"/>
              </a:rPr>
              <a:t>1,000,000s </a:t>
            </a:r>
            <a:r>
              <a:rPr sz="1950" spc="185" dirty="0">
                <a:solidFill>
                  <a:srgbClr val="231F20"/>
                </a:solidFill>
                <a:latin typeface="Arial"/>
                <a:cs typeface="Arial"/>
              </a:rPr>
              <a:t>of </a:t>
            </a:r>
            <a:r>
              <a:rPr sz="1950" spc="85" dirty="0">
                <a:solidFill>
                  <a:srgbClr val="231F20"/>
                </a:solidFill>
                <a:latin typeface="Arial"/>
                <a:cs typeface="Arial"/>
              </a:rPr>
              <a:t>variables </a:t>
            </a:r>
            <a:r>
              <a:rPr sz="1950" spc="130" dirty="0">
                <a:solidFill>
                  <a:srgbClr val="231F20"/>
                </a:solidFill>
                <a:latin typeface="Arial"/>
                <a:cs typeface="Arial"/>
              </a:rPr>
              <a:t>and </a:t>
            </a:r>
            <a:r>
              <a:rPr sz="1950" spc="750" dirty="0">
                <a:solidFill>
                  <a:srgbClr val="231F20"/>
                </a:solidFill>
                <a:latin typeface="Arial"/>
                <a:cs typeface="Arial"/>
              </a:rPr>
              <a:t> </a:t>
            </a:r>
            <a:r>
              <a:rPr sz="1950" spc="60" dirty="0">
                <a:solidFill>
                  <a:srgbClr val="231F20"/>
                </a:solidFill>
                <a:latin typeface="Arial"/>
                <a:cs typeface="Arial"/>
              </a:rPr>
              <a:t>clauses</a:t>
            </a:r>
            <a:endParaRPr sz="1950">
              <a:latin typeface="Arial"/>
              <a:cs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614971"/>
            <a:ext cx="7959725" cy="5594350"/>
          </a:xfrm>
          <a:prstGeom prst="rect">
            <a:avLst/>
          </a:prstGeom>
        </p:spPr>
        <p:txBody>
          <a:bodyPr vert="horz" wrap="square" lIns="0" tIns="0" rIns="0" bIns="0" rtlCol="0">
            <a:spAutoFit/>
          </a:bodyPr>
          <a:lstStyle/>
          <a:p>
            <a:pPr marL="306070" algn="ctr">
              <a:lnSpc>
                <a:spcPct val="100000"/>
              </a:lnSpc>
            </a:pPr>
            <a:r>
              <a:rPr sz="1950" spc="400" dirty="0">
                <a:solidFill>
                  <a:srgbClr val="231F20"/>
                </a:solidFill>
                <a:latin typeface="Arial"/>
                <a:cs typeface="Arial"/>
              </a:rPr>
              <a:t>SAT</a:t>
            </a:r>
            <a:r>
              <a:rPr sz="1950" spc="285" dirty="0">
                <a:solidFill>
                  <a:srgbClr val="231F20"/>
                </a:solidFill>
                <a:latin typeface="Arial"/>
                <a:cs typeface="Arial"/>
              </a:rPr>
              <a:t> </a:t>
            </a:r>
            <a:r>
              <a:rPr sz="1950" spc="190" dirty="0">
                <a:solidFill>
                  <a:srgbClr val="231F20"/>
                </a:solidFill>
                <a:latin typeface="Arial"/>
                <a:cs typeface="Arial"/>
              </a:rPr>
              <a:t>Solvers</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50" dirty="0">
                <a:solidFill>
                  <a:srgbClr val="231F20"/>
                </a:solidFill>
                <a:latin typeface="Arial"/>
                <a:cs typeface="Arial"/>
              </a:rPr>
              <a:t>SAT </a:t>
            </a:r>
            <a:r>
              <a:rPr sz="1950" spc="110" dirty="0">
                <a:solidFill>
                  <a:srgbClr val="231F20"/>
                </a:solidFill>
                <a:latin typeface="Arial"/>
                <a:cs typeface="Arial"/>
              </a:rPr>
              <a:t>solving </a:t>
            </a:r>
            <a:r>
              <a:rPr sz="1950" spc="40" dirty="0">
                <a:solidFill>
                  <a:srgbClr val="231F20"/>
                </a:solidFill>
                <a:latin typeface="Arial"/>
                <a:cs typeface="Arial"/>
              </a:rPr>
              <a:t>is </a:t>
            </a:r>
            <a:r>
              <a:rPr sz="1950" spc="175" dirty="0">
                <a:solidFill>
                  <a:srgbClr val="231F20"/>
                </a:solidFill>
                <a:latin typeface="Arial"/>
                <a:cs typeface="Arial"/>
              </a:rPr>
              <a:t>the </a:t>
            </a:r>
            <a:r>
              <a:rPr sz="1950" spc="120" dirty="0">
                <a:solidFill>
                  <a:srgbClr val="231F20"/>
                </a:solidFill>
                <a:latin typeface="Arial"/>
                <a:cs typeface="Arial"/>
              </a:rPr>
              <a:t>quintessential </a:t>
            </a:r>
            <a:r>
              <a:rPr sz="1950" spc="165" dirty="0">
                <a:solidFill>
                  <a:srgbClr val="231F20"/>
                </a:solidFill>
                <a:latin typeface="Arial"/>
                <a:cs typeface="Arial"/>
              </a:rPr>
              <a:t>NP-complete </a:t>
            </a:r>
            <a:r>
              <a:rPr sz="1950" spc="345" dirty="0">
                <a:solidFill>
                  <a:srgbClr val="231F20"/>
                </a:solidFill>
                <a:latin typeface="Arial"/>
                <a:cs typeface="Arial"/>
              </a:rPr>
              <a:t> </a:t>
            </a:r>
            <a:r>
              <a:rPr sz="1950" spc="140" dirty="0">
                <a:solidFill>
                  <a:srgbClr val="231F20"/>
                </a:solidFill>
                <a:latin typeface="Arial"/>
                <a:cs typeface="Arial"/>
              </a:rPr>
              <a:t>problem</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75" dirty="0">
                <a:solidFill>
                  <a:srgbClr val="231F20"/>
                </a:solidFill>
                <a:latin typeface="Arial"/>
                <a:cs typeface="Arial"/>
              </a:rPr>
              <a:t>But </a:t>
            </a:r>
            <a:r>
              <a:rPr sz="1950" spc="160" dirty="0">
                <a:solidFill>
                  <a:srgbClr val="FF0000"/>
                </a:solidFill>
                <a:latin typeface="Arial"/>
                <a:cs typeface="Arial"/>
              </a:rPr>
              <a:t>now </a:t>
            </a:r>
            <a:r>
              <a:rPr sz="1950" spc="135" dirty="0">
                <a:solidFill>
                  <a:srgbClr val="FF0000"/>
                </a:solidFill>
                <a:latin typeface="Arial"/>
                <a:cs typeface="Arial"/>
              </a:rPr>
              <a:t>amazingly </a:t>
            </a:r>
            <a:r>
              <a:rPr sz="1950" spc="155" dirty="0">
                <a:solidFill>
                  <a:srgbClr val="FF0000"/>
                </a:solidFill>
                <a:latin typeface="Arial"/>
                <a:cs typeface="Arial"/>
              </a:rPr>
              <a:t>fast </a:t>
            </a:r>
            <a:r>
              <a:rPr sz="1950" spc="130" dirty="0">
                <a:solidFill>
                  <a:srgbClr val="FF0000"/>
                </a:solidFill>
                <a:latin typeface="Arial"/>
                <a:cs typeface="Arial"/>
              </a:rPr>
              <a:t>in practice </a:t>
            </a:r>
            <a:r>
              <a:rPr sz="1950" spc="215" dirty="0">
                <a:solidFill>
                  <a:srgbClr val="231F20"/>
                </a:solidFill>
                <a:latin typeface="Arial"/>
                <a:cs typeface="Arial"/>
              </a:rPr>
              <a:t>(most </a:t>
            </a:r>
            <a:r>
              <a:rPr sz="1950" spc="185" dirty="0">
                <a:solidFill>
                  <a:srgbClr val="231F20"/>
                </a:solidFill>
                <a:latin typeface="Arial"/>
                <a:cs typeface="Arial"/>
              </a:rPr>
              <a:t>of </a:t>
            </a:r>
            <a:r>
              <a:rPr sz="1950" spc="175" dirty="0">
                <a:solidFill>
                  <a:srgbClr val="231F20"/>
                </a:solidFill>
                <a:latin typeface="Arial"/>
                <a:cs typeface="Arial"/>
              </a:rPr>
              <a:t>the </a:t>
            </a:r>
            <a:r>
              <a:rPr sz="1950" spc="455" dirty="0">
                <a:solidFill>
                  <a:srgbClr val="231F20"/>
                </a:solidFill>
                <a:latin typeface="Arial"/>
                <a:cs typeface="Arial"/>
              </a:rPr>
              <a:t> </a:t>
            </a:r>
            <a:r>
              <a:rPr sz="1950" spc="215" dirty="0">
                <a:solidFill>
                  <a:srgbClr val="231F20"/>
                </a:solidFill>
                <a:latin typeface="Arial"/>
                <a:cs typeface="Arial"/>
              </a:rPr>
              <a:t>time)</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155" dirty="0">
                <a:solidFill>
                  <a:srgbClr val="231F20"/>
                </a:solidFill>
                <a:latin typeface="Arial"/>
                <a:cs typeface="Arial"/>
              </a:rPr>
              <a:t>Breakthroughs </a:t>
            </a:r>
            <a:r>
              <a:rPr sz="1950" spc="175" dirty="0">
                <a:solidFill>
                  <a:srgbClr val="231F20"/>
                </a:solidFill>
                <a:latin typeface="Arial"/>
                <a:cs typeface="Arial"/>
              </a:rPr>
              <a:t>(starting </a:t>
            </a:r>
            <a:r>
              <a:rPr sz="1950" spc="215" dirty="0">
                <a:solidFill>
                  <a:srgbClr val="231F20"/>
                </a:solidFill>
                <a:latin typeface="Arial"/>
                <a:cs typeface="Arial"/>
              </a:rPr>
              <a:t>with </a:t>
            </a:r>
            <a:r>
              <a:rPr sz="1950" spc="210" dirty="0">
                <a:solidFill>
                  <a:srgbClr val="231F20"/>
                </a:solidFill>
                <a:latin typeface="Arial"/>
                <a:cs typeface="Arial"/>
              </a:rPr>
              <a:t>Chaff) </a:t>
            </a:r>
            <a:r>
              <a:rPr sz="1950" spc="75" dirty="0">
                <a:solidFill>
                  <a:srgbClr val="231F20"/>
                </a:solidFill>
                <a:latin typeface="Arial"/>
                <a:cs typeface="Arial"/>
              </a:rPr>
              <a:t>since</a:t>
            </a:r>
            <a:r>
              <a:rPr sz="1950" spc="650" dirty="0">
                <a:solidFill>
                  <a:srgbClr val="231F20"/>
                </a:solidFill>
                <a:latin typeface="Arial"/>
                <a:cs typeface="Arial"/>
              </a:rPr>
              <a:t> </a:t>
            </a:r>
            <a:r>
              <a:rPr sz="1950" spc="155" dirty="0">
                <a:solidFill>
                  <a:srgbClr val="231F20"/>
                </a:solidFill>
                <a:latin typeface="Arial"/>
                <a:cs typeface="Arial"/>
              </a:rPr>
              <a:t>2001</a:t>
            </a:r>
            <a:endParaRPr sz="1950">
              <a:latin typeface="Arial"/>
              <a:cs typeface="Arial"/>
            </a:endParaRPr>
          </a:p>
          <a:p>
            <a:pPr marL="203835" algn="ctr">
              <a:lnSpc>
                <a:spcPct val="100000"/>
              </a:lnSpc>
              <a:spcBef>
                <a:spcPts val="745"/>
              </a:spcBef>
              <a:tabLst>
                <a:tab pos="492125" algn="l"/>
              </a:tabLst>
            </a:pPr>
            <a:r>
              <a:rPr sz="2050" i="1" spc="-620" dirty="0">
                <a:solidFill>
                  <a:srgbClr val="231F20"/>
                </a:solidFill>
                <a:latin typeface="Meiryo"/>
                <a:cs typeface="Meiryo"/>
              </a:rPr>
              <a:t>⋆	</a:t>
            </a:r>
            <a:r>
              <a:rPr sz="1950" spc="160" dirty="0">
                <a:solidFill>
                  <a:srgbClr val="231F20"/>
                </a:solidFill>
                <a:latin typeface="Arial"/>
                <a:cs typeface="Arial"/>
              </a:rPr>
              <a:t>Building </a:t>
            </a:r>
            <a:r>
              <a:rPr sz="1950" spc="155" dirty="0">
                <a:solidFill>
                  <a:srgbClr val="231F20"/>
                </a:solidFill>
                <a:latin typeface="Arial"/>
                <a:cs typeface="Arial"/>
              </a:rPr>
              <a:t>on </a:t>
            </a:r>
            <a:r>
              <a:rPr sz="1950" spc="85" dirty="0">
                <a:solidFill>
                  <a:srgbClr val="231F20"/>
                </a:solidFill>
                <a:latin typeface="Arial"/>
                <a:cs typeface="Arial"/>
              </a:rPr>
              <a:t>earlier </a:t>
            </a:r>
            <a:r>
              <a:rPr sz="1950" spc="140" dirty="0">
                <a:solidFill>
                  <a:srgbClr val="231F20"/>
                </a:solidFill>
                <a:latin typeface="Arial"/>
                <a:cs typeface="Arial"/>
              </a:rPr>
              <a:t>innovations </a:t>
            </a:r>
            <a:r>
              <a:rPr sz="1950" spc="130" dirty="0">
                <a:solidFill>
                  <a:srgbClr val="231F20"/>
                </a:solidFill>
                <a:latin typeface="Arial"/>
                <a:cs typeface="Arial"/>
              </a:rPr>
              <a:t>in </a:t>
            </a:r>
            <a:r>
              <a:rPr sz="1950" spc="254" dirty="0">
                <a:solidFill>
                  <a:srgbClr val="231F20"/>
                </a:solidFill>
                <a:latin typeface="Arial"/>
                <a:cs typeface="Arial"/>
              </a:rPr>
              <a:t>SATO,</a:t>
            </a:r>
            <a:r>
              <a:rPr sz="1950" spc="985" dirty="0">
                <a:solidFill>
                  <a:srgbClr val="231F20"/>
                </a:solidFill>
                <a:latin typeface="Arial"/>
                <a:cs typeface="Arial"/>
              </a:rPr>
              <a:t> </a:t>
            </a:r>
            <a:r>
              <a:rPr sz="1950" spc="190" dirty="0">
                <a:solidFill>
                  <a:srgbClr val="231F20"/>
                </a:solidFill>
                <a:latin typeface="Arial"/>
                <a:cs typeface="Arial"/>
              </a:rPr>
              <a:t>GRASP</a:t>
            </a:r>
            <a:endParaRPr sz="1950">
              <a:latin typeface="Arial"/>
              <a:cs typeface="Arial"/>
            </a:endParaRPr>
          </a:p>
          <a:p>
            <a:pPr marL="741680" lvl="1" indent="-288290">
              <a:lnSpc>
                <a:spcPct val="100000"/>
              </a:lnSpc>
              <a:spcBef>
                <a:spcPts val="825"/>
              </a:spcBef>
              <a:buSzPct val="105128"/>
              <a:buFont typeface="Lucida Sans Unicode"/>
              <a:buChar char="◦"/>
              <a:tabLst>
                <a:tab pos="742315" algn="l"/>
              </a:tabLst>
            </a:pPr>
            <a:r>
              <a:rPr sz="1950" spc="120" dirty="0">
                <a:solidFill>
                  <a:srgbClr val="231F20"/>
                </a:solidFill>
                <a:latin typeface="Arial"/>
                <a:cs typeface="Arial"/>
              </a:rPr>
              <a:t>Sustained </a:t>
            </a:r>
            <a:r>
              <a:rPr sz="1950" spc="145" dirty="0">
                <a:solidFill>
                  <a:srgbClr val="231F20"/>
                </a:solidFill>
                <a:latin typeface="Arial"/>
                <a:cs typeface="Arial"/>
              </a:rPr>
              <a:t>improvements, </a:t>
            </a:r>
            <a:r>
              <a:rPr sz="1950" spc="125" dirty="0">
                <a:solidFill>
                  <a:srgbClr val="231F20"/>
                </a:solidFill>
                <a:latin typeface="Arial"/>
                <a:cs typeface="Arial"/>
              </a:rPr>
              <a:t>honed </a:t>
            </a:r>
            <a:r>
              <a:rPr sz="1950" spc="105" dirty="0">
                <a:solidFill>
                  <a:srgbClr val="231F20"/>
                </a:solidFill>
                <a:latin typeface="Arial"/>
                <a:cs typeface="Arial"/>
              </a:rPr>
              <a:t>by</a:t>
            </a:r>
            <a:r>
              <a:rPr sz="1950" spc="700" dirty="0">
                <a:solidFill>
                  <a:srgbClr val="231F20"/>
                </a:solidFill>
                <a:latin typeface="Arial"/>
                <a:cs typeface="Arial"/>
              </a:rPr>
              <a:t> </a:t>
            </a:r>
            <a:r>
              <a:rPr sz="1950" spc="185" dirty="0">
                <a:solidFill>
                  <a:srgbClr val="231F20"/>
                </a:solidFill>
                <a:latin typeface="Arial"/>
                <a:cs typeface="Arial"/>
              </a:rPr>
              <a:t>competition</a:t>
            </a:r>
            <a:endParaRPr sz="1950">
              <a:latin typeface="Arial"/>
              <a:cs typeface="Arial"/>
            </a:endParaRPr>
          </a:p>
          <a:p>
            <a:pPr lvl="1">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85" dirty="0">
                <a:solidFill>
                  <a:srgbClr val="0000FF"/>
                </a:solidFill>
                <a:latin typeface="Arial"/>
                <a:cs typeface="Arial"/>
              </a:rPr>
              <a:t>Has </a:t>
            </a:r>
            <a:r>
              <a:rPr sz="1950" spc="135" dirty="0">
                <a:solidFill>
                  <a:srgbClr val="0000FF"/>
                </a:solidFill>
                <a:latin typeface="Arial"/>
                <a:cs typeface="Arial"/>
              </a:rPr>
              <a:t>become </a:t>
            </a:r>
            <a:r>
              <a:rPr sz="1950" spc="85" dirty="0">
                <a:solidFill>
                  <a:srgbClr val="0000FF"/>
                </a:solidFill>
                <a:latin typeface="Arial"/>
                <a:cs typeface="Arial"/>
              </a:rPr>
              <a:t>a </a:t>
            </a:r>
            <a:r>
              <a:rPr sz="1950" spc="195" dirty="0">
                <a:solidFill>
                  <a:srgbClr val="0000FF"/>
                </a:solidFill>
                <a:latin typeface="Arial"/>
                <a:cs typeface="Arial"/>
              </a:rPr>
              <a:t>commodity</a:t>
            </a:r>
            <a:r>
              <a:rPr sz="1950" spc="790" dirty="0">
                <a:solidFill>
                  <a:srgbClr val="0000FF"/>
                </a:solidFill>
                <a:latin typeface="Arial"/>
                <a:cs typeface="Arial"/>
              </a:rPr>
              <a:t> </a:t>
            </a:r>
            <a:r>
              <a:rPr sz="1950" spc="150" dirty="0">
                <a:solidFill>
                  <a:srgbClr val="0000FF"/>
                </a:solidFill>
                <a:latin typeface="Arial"/>
                <a:cs typeface="Arial"/>
              </a:rPr>
              <a:t>technology</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215" dirty="0">
                <a:solidFill>
                  <a:srgbClr val="231F20"/>
                </a:solidFill>
                <a:latin typeface="Arial"/>
                <a:cs typeface="Arial"/>
              </a:rPr>
              <a:t>MiniSAT </a:t>
            </a:r>
            <a:r>
              <a:rPr sz="1950" spc="40" dirty="0">
                <a:solidFill>
                  <a:srgbClr val="231F20"/>
                </a:solidFill>
                <a:latin typeface="Arial"/>
                <a:cs typeface="Arial"/>
              </a:rPr>
              <a:t>is </a:t>
            </a:r>
            <a:r>
              <a:rPr sz="1950" spc="155" dirty="0">
                <a:solidFill>
                  <a:srgbClr val="231F20"/>
                </a:solidFill>
                <a:latin typeface="Arial"/>
                <a:cs typeface="Arial"/>
              </a:rPr>
              <a:t>700</a:t>
            </a:r>
            <a:r>
              <a:rPr sz="1950" spc="525" dirty="0">
                <a:solidFill>
                  <a:srgbClr val="231F20"/>
                </a:solidFill>
                <a:latin typeface="Arial"/>
                <a:cs typeface="Arial"/>
              </a:rPr>
              <a:t> </a:t>
            </a:r>
            <a:r>
              <a:rPr sz="1950" spc="240" dirty="0">
                <a:solidFill>
                  <a:srgbClr val="231F20"/>
                </a:solidFill>
                <a:latin typeface="Arial"/>
                <a:cs typeface="Arial"/>
              </a:rPr>
              <a:t>SLOC</a:t>
            </a:r>
            <a:endParaRPr sz="1950">
              <a:latin typeface="Arial"/>
              <a:cs typeface="Arial"/>
            </a:endParaRPr>
          </a:p>
          <a:p>
            <a:pPr lvl="1">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35" dirty="0">
                <a:solidFill>
                  <a:srgbClr val="FF0000"/>
                </a:solidFill>
                <a:latin typeface="Arial"/>
                <a:cs typeface="Arial"/>
              </a:rPr>
              <a:t>Can </a:t>
            </a:r>
            <a:r>
              <a:rPr sz="1950" spc="190" dirty="0">
                <a:solidFill>
                  <a:srgbClr val="FF0000"/>
                </a:solidFill>
                <a:latin typeface="Arial"/>
                <a:cs typeface="Arial"/>
              </a:rPr>
              <a:t>think </a:t>
            </a:r>
            <a:r>
              <a:rPr sz="1950" spc="185" dirty="0">
                <a:solidFill>
                  <a:srgbClr val="FF0000"/>
                </a:solidFill>
                <a:latin typeface="Arial"/>
                <a:cs typeface="Arial"/>
              </a:rPr>
              <a:t>of </a:t>
            </a:r>
            <a:r>
              <a:rPr sz="1950" spc="229" dirty="0">
                <a:solidFill>
                  <a:srgbClr val="FF0000"/>
                </a:solidFill>
                <a:latin typeface="Arial"/>
                <a:cs typeface="Arial"/>
              </a:rPr>
              <a:t>it </a:t>
            </a:r>
            <a:r>
              <a:rPr sz="1950" spc="30" dirty="0">
                <a:solidFill>
                  <a:srgbClr val="FF0000"/>
                </a:solidFill>
                <a:latin typeface="Arial"/>
                <a:cs typeface="Arial"/>
              </a:rPr>
              <a:t>as </a:t>
            </a:r>
            <a:r>
              <a:rPr sz="1950" spc="90" dirty="0">
                <a:solidFill>
                  <a:srgbClr val="FF0000"/>
                </a:solidFill>
                <a:latin typeface="Arial"/>
                <a:cs typeface="Arial"/>
              </a:rPr>
              <a:t>massively </a:t>
            </a:r>
            <a:r>
              <a:rPr sz="1950" spc="120" dirty="0">
                <a:solidFill>
                  <a:srgbClr val="FF0000"/>
                </a:solidFill>
                <a:latin typeface="Arial"/>
                <a:cs typeface="Arial"/>
              </a:rPr>
              <a:t>effective </a:t>
            </a:r>
            <a:r>
              <a:rPr sz="1950" spc="450" dirty="0">
                <a:solidFill>
                  <a:srgbClr val="FF0000"/>
                </a:solidFill>
                <a:latin typeface="Arial"/>
                <a:cs typeface="Arial"/>
              </a:rPr>
              <a:t> </a:t>
            </a:r>
            <a:r>
              <a:rPr sz="1950" spc="75" dirty="0">
                <a:solidFill>
                  <a:srgbClr val="FF0000"/>
                </a:solidFill>
                <a:latin typeface="Arial"/>
                <a:cs typeface="Arial"/>
              </a:rPr>
              <a:t>search</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114" dirty="0">
                <a:solidFill>
                  <a:srgbClr val="231F20"/>
                </a:solidFill>
                <a:latin typeface="Arial"/>
                <a:cs typeface="Arial"/>
              </a:rPr>
              <a:t>So </a:t>
            </a:r>
            <a:r>
              <a:rPr sz="1950" spc="45" dirty="0">
                <a:solidFill>
                  <a:srgbClr val="FF0000"/>
                </a:solidFill>
                <a:latin typeface="Arial"/>
                <a:cs typeface="Arial"/>
              </a:rPr>
              <a:t>use </a:t>
            </a:r>
            <a:r>
              <a:rPr sz="1950" spc="229" dirty="0">
                <a:solidFill>
                  <a:srgbClr val="FF0000"/>
                </a:solidFill>
                <a:latin typeface="Arial"/>
                <a:cs typeface="Arial"/>
              </a:rPr>
              <a:t>it </a:t>
            </a:r>
            <a:r>
              <a:rPr sz="1950" spc="140" dirty="0">
                <a:solidFill>
                  <a:srgbClr val="231F20"/>
                </a:solidFill>
                <a:latin typeface="Arial"/>
                <a:cs typeface="Arial"/>
              </a:rPr>
              <a:t>when </a:t>
            </a:r>
            <a:r>
              <a:rPr sz="1950" spc="135" dirty="0">
                <a:solidFill>
                  <a:srgbClr val="231F20"/>
                </a:solidFill>
                <a:latin typeface="Arial"/>
                <a:cs typeface="Arial"/>
              </a:rPr>
              <a:t>your </a:t>
            </a:r>
            <a:r>
              <a:rPr sz="1950" spc="140" dirty="0">
                <a:solidFill>
                  <a:srgbClr val="231F20"/>
                </a:solidFill>
                <a:latin typeface="Arial"/>
                <a:cs typeface="Arial"/>
              </a:rPr>
              <a:t>problem </a:t>
            </a:r>
            <a:r>
              <a:rPr sz="1950" spc="120" dirty="0">
                <a:solidFill>
                  <a:srgbClr val="231F20"/>
                </a:solidFill>
                <a:latin typeface="Arial"/>
                <a:cs typeface="Arial"/>
              </a:rPr>
              <a:t>can </a:t>
            </a:r>
            <a:r>
              <a:rPr sz="1950" spc="114" dirty="0">
                <a:solidFill>
                  <a:srgbClr val="231F20"/>
                </a:solidFill>
                <a:latin typeface="Arial"/>
                <a:cs typeface="Arial"/>
              </a:rPr>
              <a:t>be </a:t>
            </a:r>
            <a:r>
              <a:rPr sz="1950" spc="165" dirty="0">
                <a:solidFill>
                  <a:srgbClr val="231F20"/>
                </a:solidFill>
                <a:latin typeface="Arial"/>
                <a:cs typeface="Arial"/>
              </a:rPr>
              <a:t>formulated </a:t>
            </a:r>
            <a:r>
              <a:rPr sz="1950" spc="30" dirty="0">
                <a:solidFill>
                  <a:srgbClr val="231F20"/>
                </a:solidFill>
                <a:latin typeface="Arial"/>
                <a:cs typeface="Arial"/>
              </a:rPr>
              <a:t>as  </a:t>
            </a:r>
            <a:r>
              <a:rPr sz="1950" spc="440" dirty="0">
                <a:solidFill>
                  <a:srgbClr val="231F20"/>
                </a:solidFill>
                <a:latin typeface="Arial"/>
                <a:cs typeface="Arial"/>
              </a:rPr>
              <a:t> </a:t>
            </a:r>
            <a:r>
              <a:rPr sz="1950" spc="250" dirty="0">
                <a:solidFill>
                  <a:srgbClr val="231F20"/>
                </a:solidFill>
                <a:latin typeface="Arial"/>
                <a:cs typeface="Arial"/>
              </a:rPr>
              <a:t>SAT</a:t>
            </a:r>
            <a:endParaRPr sz="1950">
              <a:latin typeface="Arial"/>
              <a:cs typeface="Arial"/>
            </a:endParaRPr>
          </a:p>
          <a:p>
            <a:pPr lvl="1">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80" dirty="0">
                <a:solidFill>
                  <a:srgbClr val="0000FF"/>
                </a:solidFill>
                <a:latin typeface="Arial"/>
                <a:cs typeface="Arial"/>
              </a:rPr>
              <a:t>Used </a:t>
            </a:r>
            <a:r>
              <a:rPr sz="1950" spc="130" dirty="0">
                <a:solidFill>
                  <a:srgbClr val="0000FF"/>
                </a:solidFill>
                <a:latin typeface="Arial"/>
                <a:cs typeface="Arial"/>
              </a:rPr>
              <a:t>in </a:t>
            </a:r>
            <a:r>
              <a:rPr sz="1950" spc="140" dirty="0">
                <a:solidFill>
                  <a:srgbClr val="0000FF"/>
                </a:solidFill>
                <a:latin typeface="Arial"/>
                <a:cs typeface="Arial"/>
              </a:rPr>
              <a:t>bounded </a:t>
            </a:r>
            <a:r>
              <a:rPr sz="1950" spc="160" dirty="0">
                <a:solidFill>
                  <a:srgbClr val="0000FF"/>
                </a:solidFill>
                <a:latin typeface="Arial"/>
                <a:cs typeface="Arial"/>
              </a:rPr>
              <a:t>model </a:t>
            </a:r>
            <a:r>
              <a:rPr sz="1950" spc="125" dirty="0">
                <a:solidFill>
                  <a:srgbClr val="0000FF"/>
                </a:solidFill>
                <a:latin typeface="Arial"/>
                <a:cs typeface="Arial"/>
              </a:rPr>
              <a:t>checking </a:t>
            </a:r>
            <a:r>
              <a:rPr sz="1950" spc="130" dirty="0">
                <a:solidFill>
                  <a:srgbClr val="0000FF"/>
                </a:solidFill>
                <a:latin typeface="Arial"/>
                <a:cs typeface="Arial"/>
              </a:rPr>
              <a:t>and in </a:t>
            </a:r>
            <a:r>
              <a:rPr sz="1950" spc="190" dirty="0">
                <a:solidFill>
                  <a:srgbClr val="0000FF"/>
                </a:solidFill>
                <a:latin typeface="Arial"/>
                <a:cs typeface="Arial"/>
              </a:rPr>
              <a:t>AI </a:t>
            </a:r>
            <a:r>
              <a:rPr sz="1950" spc="650" dirty="0">
                <a:solidFill>
                  <a:srgbClr val="0000FF"/>
                </a:solidFill>
                <a:latin typeface="Arial"/>
                <a:cs typeface="Arial"/>
              </a:rPr>
              <a:t> </a:t>
            </a:r>
            <a:r>
              <a:rPr sz="1950" spc="135" dirty="0">
                <a:solidFill>
                  <a:srgbClr val="0000FF"/>
                </a:solidFill>
                <a:latin typeface="Arial"/>
                <a:cs typeface="Arial"/>
              </a:rPr>
              <a:t>planning</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165" dirty="0">
                <a:solidFill>
                  <a:srgbClr val="231F20"/>
                </a:solidFill>
                <a:latin typeface="Arial"/>
                <a:cs typeface="Arial"/>
              </a:rPr>
              <a:t>Routine </a:t>
            </a:r>
            <a:r>
              <a:rPr sz="1950" spc="250" dirty="0">
                <a:solidFill>
                  <a:srgbClr val="231F20"/>
                </a:solidFill>
                <a:latin typeface="Arial"/>
                <a:cs typeface="Arial"/>
              </a:rPr>
              <a:t>to </a:t>
            </a:r>
            <a:r>
              <a:rPr sz="1950" spc="110" dirty="0">
                <a:solidFill>
                  <a:srgbClr val="231F20"/>
                </a:solidFill>
                <a:latin typeface="Arial"/>
                <a:cs typeface="Arial"/>
              </a:rPr>
              <a:t>handle </a:t>
            </a:r>
            <a:r>
              <a:rPr sz="2050" spc="45" dirty="0">
                <a:solidFill>
                  <a:srgbClr val="231F20"/>
                </a:solidFill>
                <a:latin typeface="Tahoma"/>
                <a:cs typeface="Tahoma"/>
              </a:rPr>
              <a:t>10</a:t>
            </a:r>
            <a:r>
              <a:rPr sz="2175" spc="67" baseline="28735" dirty="0">
                <a:solidFill>
                  <a:srgbClr val="231F20"/>
                </a:solidFill>
                <a:latin typeface="PMingLiU"/>
                <a:cs typeface="PMingLiU"/>
              </a:rPr>
              <a:t>300 </a:t>
            </a:r>
            <a:r>
              <a:rPr sz="2175" spc="607" baseline="28735" dirty="0">
                <a:solidFill>
                  <a:srgbClr val="231F20"/>
                </a:solidFill>
                <a:latin typeface="PMingLiU"/>
                <a:cs typeface="PMingLiU"/>
              </a:rPr>
              <a:t> </a:t>
            </a:r>
            <a:r>
              <a:rPr sz="1950" spc="125" dirty="0">
                <a:solidFill>
                  <a:srgbClr val="231F20"/>
                </a:solidFill>
                <a:latin typeface="Arial"/>
                <a:cs typeface="Arial"/>
              </a:rPr>
              <a:t>states</a:t>
            </a:r>
            <a:endParaRPr sz="1950">
              <a:latin typeface="Arial"/>
              <a:cs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7515859" cy="5866765"/>
          </a:xfrm>
          <a:prstGeom prst="rect">
            <a:avLst/>
          </a:prstGeom>
        </p:spPr>
        <p:txBody>
          <a:bodyPr vert="horz" wrap="square" lIns="0" tIns="0" rIns="0" bIns="0" rtlCol="0">
            <a:spAutoFit/>
          </a:bodyPr>
          <a:lstStyle/>
          <a:p>
            <a:pPr marL="2790190">
              <a:lnSpc>
                <a:spcPct val="100000"/>
              </a:lnSpc>
            </a:pPr>
            <a:r>
              <a:rPr sz="1950" spc="400" dirty="0">
                <a:solidFill>
                  <a:srgbClr val="231F20"/>
                </a:solidFill>
                <a:latin typeface="Arial"/>
                <a:cs typeface="Arial"/>
              </a:rPr>
              <a:t>SAT </a:t>
            </a:r>
            <a:r>
              <a:rPr sz="1950" spc="225" dirty="0">
                <a:solidFill>
                  <a:srgbClr val="231F20"/>
                </a:solidFill>
                <a:latin typeface="Arial"/>
                <a:cs typeface="Arial"/>
              </a:rPr>
              <a:t>Plus</a:t>
            </a:r>
            <a:r>
              <a:rPr sz="1950" spc="254" dirty="0">
                <a:solidFill>
                  <a:srgbClr val="231F20"/>
                </a:solidFill>
                <a:latin typeface="Arial"/>
                <a:cs typeface="Arial"/>
              </a:rPr>
              <a:t> </a:t>
            </a:r>
            <a:r>
              <a:rPr sz="1950" spc="250" dirty="0">
                <a:solidFill>
                  <a:srgbClr val="231F20"/>
                </a:solidFill>
                <a:latin typeface="Arial"/>
                <a:cs typeface="Arial"/>
              </a:rPr>
              <a:t>Theories</a:t>
            </a:r>
            <a:endParaRPr sz="1950">
              <a:latin typeface="Arial"/>
              <a:cs typeface="Arial"/>
            </a:endParaRPr>
          </a:p>
          <a:p>
            <a:pPr marL="300990" marR="255270" indent="-288290">
              <a:lnSpc>
                <a:spcPct val="125000"/>
              </a:lnSpc>
              <a:spcBef>
                <a:spcPts val="1205"/>
              </a:spcBef>
              <a:buSzPct val="105128"/>
              <a:buFont typeface="Lucida Sans Unicode"/>
              <a:buChar char="•"/>
              <a:tabLst>
                <a:tab pos="301625" algn="l"/>
              </a:tabLst>
            </a:pPr>
            <a:r>
              <a:rPr sz="1950" spc="250" dirty="0">
                <a:solidFill>
                  <a:srgbClr val="231F20"/>
                </a:solidFill>
                <a:latin typeface="Arial"/>
                <a:cs typeface="Arial"/>
              </a:rPr>
              <a:t>SAT </a:t>
            </a:r>
            <a:r>
              <a:rPr sz="1950" spc="120" dirty="0">
                <a:solidFill>
                  <a:srgbClr val="231F20"/>
                </a:solidFill>
                <a:latin typeface="Arial"/>
                <a:cs typeface="Arial"/>
              </a:rPr>
              <a:t>can </a:t>
            </a:r>
            <a:r>
              <a:rPr sz="1950" spc="110" dirty="0">
                <a:solidFill>
                  <a:srgbClr val="231F20"/>
                </a:solidFill>
                <a:latin typeface="Arial"/>
                <a:cs typeface="Arial"/>
              </a:rPr>
              <a:t>encode </a:t>
            </a:r>
            <a:r>
              <a:rPr sz="1950" spc="140" dirty="0">
                <a:solidFill>
                  <a:srgbClr val="231F20"/>
                </a:solidFill>
                <a:latin typeface="Arial"/>
                <a:cs typeface="Arial"/>
              </a:rPr>
              <a:t>operations </a:t>
            </a:r>
            <a:r>
              <a:rPr sz="1950" spc="130" dirty="0">
                <a:solidFill>
                  <a:srgbClr val="231F20"/>
                </a:solidFill>
                <a:latin typeface="Arial"/>
                <a:cs typeface="Arial"/>
              </a:rPr>
              <a:t>and </a:t>
            </a:r>
            <a:r>
              <a:rPr sz="1950" spc="125" dirty="0">
                <a:solidFill>
                  <a:srgbClr val="231F20"/>
                </a:solidFill>
                <a:latin typeface="Arial"/>
                <a:cs typeface="Arial"/>
              </a:rPr>
              <a:t>relations </a:t>
            </a:r>
            <a:r>
              <a:rPr sz="1950" spc="155" dirty="0">
                <a:solidFill>
                  <a:srgbClr val="231F20"/>
                </a:solidFill>
                <a:latin typeface="Arial"/>
                <a:cs typeface="Arial"/>
              </a:rPr>
              <a:t>on </a:t>
            </a:r>
            <a:r>
              <a:rPr sz="1950" spc="140" dirty="0">
                <a:solidFill>
                  <a:srgbClr val="0000FF"/>
                </a:solidFill>
                <a:latin typeface="Arial"/>
                <a:cs typeface="Arial"/>
              </a:rPr>
              <a:t>bounded  </a:t>
            </a:r>
            <a:r>
              <a:rPr sz="1950" spc="114" dirty="0">
                <a:solidFill>
                  <a:srgbClr val="231F20"/>
                </a:solidFill>
                <a:latin typeface="Arial"/>
                <a:cs typeface="Arial"/>
              </a:rPr>
              <a:t>integers</a:t>
            </a:r>
            <a:endParaRPr sz="1950">
              <a:latin typeface="Arial"/>
              <a:cs typeface="Arial"/>
            </a:endParaRPr>
          </a:p>
          <a:p>
            <a:pPr marL="300990" lvl="1" indent="152400">
              <a:lnSpc>
                <a:spcPct val="100000"/>
              </a:lnSpc>
              <a:spcBef>
                <a:spcPts val="1055"/>
              </a:spcBef>
              <a:buSzPct val="105128"/>
              <a:buFont typeface="Lucida Sans Unicode"/>
              <a:buChar char="◦"/>
              <a:tabLst>
                <a:tab pos="742315" algn="l"/>
              </a:tabLst>
            </a:pPr>
            <a:r>
              <a:rPr sz="1950" spc="114" dirty="0">
                <a:solidFill>
                  <a:srgbClr val="231F20"/>
                </a:solidFill>
                <a:latin typeface="Arial"/>
                <a:cs typeface="Arial"/>
              </a:rPr>
              <a:t>Using </a:t>
            </a:r>
            <a:r>
              <a:rPr sz="1950" spc="165" dirty="0">
                <a:solidFill>
                  <a:srgbClr val="231F20"/>
                </a:solidFill>
                <a:latin typeface="Arial"/>
                <a:cs typeface="Arial"/>
              </a:rPr>
              <a:t>bitvector</a:t>
            </a:r>
            <a:r>
              <a:rPr sz="1950" spc="440" dirty="0">
                <a:solidFill>
                  <a:srgbClr val="231F20"/>
                </a:solidFill>
                <a:latin typeface="Arial"/>
                <a:cs typeface="Arial"/>
              </a:rPr>
              <a:t> </a:t>
            </a:r>
            <a:r>
              <a:rPr sz="1950" spc="125" dirty="0">
                <a:solidFill>
                  <a:srgbClr val="231F20"/>
                </a:solidFill>
                <a:latin typeface="Arial"/>
                <a:cs typeface="Arial"/>
              </a:rPr>
              <a:t>representation</a:t>
            </a:r>
            <a:endParaRPr sz="1950">
              <a:latin typeface="Arial"/>
              <a:cs typeface="Arial"/>
            </a:endParaRPr>
          </a:p>
          <a:p>
            <a:pPr marL="300990" marR="457834" lvl="1" indent="152400">
              <a:lnSpc>
                <a:spcPts val="3400"/>
              </a:lnSpc>
              <a:spcBef>
                <a:spcPts val="50"/>
              </a:spcBef>
              <a:buSzPct val="105128"/>
              <a:buFont typeface="Lucida Sans Unicode"/>
              <a:buChar char="◦"/>
              <a:tabLst>
                <a:tab pos="742315" algn="l"/>
                <a:tab pos="3034030" algn="l"/>
              </a:tabLst>
            </a:pPr>
            <a:r>
              <a:rPr sz="1950" spc="265" dirty="0">
                <a:solidFill>
                  <a:srgbClr val="231F20"/>
                </a:solidFill>
                <a:latin typeface="Arial"/>
                <a:cs typeface="Arial"/>
              </a:rPr>
              <a:t>With</a:t>
            </a:r>
            <a:r>
              <a:rPr sz="1950" spc="860" dirty="0">
                <a:solidFill>
                  <a:srgbClr val="231F20"/>
                </a:solidFill>
                <a:latin typeface="Arial"/>
                <a:cs typeface="Arial"/>
              </a:rPr>
              <a:t> </a:t>
            </a:r>
            <a:r>
              <a:rPr sz="1950" spc="90" dirty="0">
                <a:solidFill>
                  <a:srgbClr val="231F20"/>
                </a:solidFill>
                <a:latin typeface="Arial"/>
                <a:cs typeface="Arial"/>
              </a:rPr>
              <a:t>adders </a:t>
            </a:r>
            <a:r>
              <a:rPr sz="1950" spc="229" dirty="0">
                <a:solidFill>
                  <a:srgbClr val="231F20"/>
                </a:solidFill>
                <a:latin typeface="Arial"/>
                <a:cs typeface="Arial"/>
              </a:rPr>
              <a:t> </a:t>
            </a:r>
            <a:r>
              <a:rPr sz="1950" spc="155" dirty="0">
                <a:solidFill>
                  <a:srgbClr val="231F20"/>
                </a:solidFill>
                <a:latin typeface="Arial"/>
                <a:cs typeface="Arial"/>
              </a:rPr>
              <a:t>etc.	</a:t>
            </a:r>
            <a:r>
              <a:rPr sz="1950" spc="100" dirty="0">
                <a:solidFill>
                  <a:srgbClr val="231F20"/>
                </a:solidFill>
                <a:latin typeface="Arial"/>
                <a:cs typeface="Arial"/>
              </a:rPr>
              <a:t>represented </a:t>
            </a:r>
            <a:r>
              <a:rPr sz="1950" spc="30" dirty="0">
                <a:solidFill>
                  <a:srgbClr val="231F20"/>
                </a:solidFill>
                <a:latin typeface="Arial"/>
                <a:cs typeface="Arial"/>
              </a:rPr>
              <a:t>as</a:t>
            </a:r>
            <a:r>
              <a:rPr sz="1950" spc="434" dirty="0">
                <a:solidFill>
                  <a:srgbClr val="231F20"/>
                </a:solidFill>
                <a:latin typeface="Arial"/>
                <a:cs typeface="Arial"/>
              </a:rPr>
              <a:t> </a:t>
            </a:r>
            <a:r>
              <a:rPr sz="1950" spc="150" dirty="0">
                <a:solidFill>
                  <a:srgbClr val="231F20"/>
                </a:solidFill>
                <a:latin typeface="Arial"/>
                <a:cs typeface="Arial"/>
              </a:rPr>
              <a:t>Boolean</a:t>
            </a:r>
            <a:r>
              <a:rPr sz="1950" spc="265" dirty="0">
                <a:solidFill>
                  <a:srgbClr val="231F20"/>
                </a:solidFill>
                <a:latin typeface="Arial"/>
                <a:cs typeface="Arial"/>
              </a:rPr>
              <a:t> </a:t>
            </a:r>
            <a:r>
              <a:rPr sz="1950" spc="140" dirty="0">
                <a:solidFill>
                  <a:srgbClr val="231F20"/>
                </a:solidFill>
                <a:latin typeface="Arial"/>
                <a:cs typeface="Arial"/>
              </a:rPr>
              <a:t>circuits </a:t>
            </a:r>
            <a:r>
              <a:rPr sz="1950" spc="-15" dirty="0">
                <a:solidFill>
                  <a:srgbClr val="231F20"/>
                </a:solidFill>
                <a:latin typeface="Arial"/>
                <a:cs typeface="Arial"/>
              </a:rPr>
              <a:t> </a:t>
            </a:r>
            <a:r>
              <a:rPr sz="1950" spc="200" dirty="0">
                <a:solidFill>
                  <a:srgbClr val="231F20"/>
                </a:solidFill>
                <a:latin typeface="Arial"/>
                <a:cs typeface="Arial"/>
              </a:rPr>
              <a:t>And </a:t>
            </a:r>
            <a:r>
              <a:rPr sz="1950" spc="170" dirty="0">
                <a:solidFill>
                  <a:srgbClr val="231F20"/>
                </a:solidFill>
                <a:latin typeface="Arial"/>
                <a:cs typeface="Arial"/>
              </a:rPr>
              <a:t>other </a:t>
            </a:r>
            <a:r>
              <a:rPr sz="1950" spc="160" dirty="0">
                <a:solidFill>
                  <a:srgbClr val="0000FF"/>
                </a:solidFill>
                <a:latin typeface="Arial"/>
                <a:cs typeface="Arial"/>
              </a:rPr>
              <a:t>finite </a:t>
            </a:r>
            <a:r>
              <a:rPr sz="1950" spc="170" dirty="0">
                <a:solidFill>
                  <a:srgbClr val="231F20"/>
                </a:solidFill>
                <a:latin typeface="Arial"/>
                <a:cs typeface="Arial"/>
              </a:rPr>
              <a:t>data </a:t>
            </a:r>
            <a:r>
              <a:rPr sz="1950" spc="120" dirty="0">
                <a:solidFill>
                  <a:srgbClr val="231F20"/>
                </a:solidFill>
                <a:latin typeface="Arial"/>
                <a:cs typeface="Arial"/>
              </a:rPr>
              <a:t>types </a:t>
            </a:r>
            <a:r>
              <a:rPr sz="1950" spc="130" dirty="0">
                <a:solidFill>
                  <a:srgbClr val="231F20"/>
                </a:solidFill>
                <a:latin typeface="Arial"/>
                <a:cs typeface="Arial"/>
              </a:rPr>
              <a:t>and </a:t>
            </a:r>
            <a:r>
              <a:rPr sz="1950" spc="190" dirty="0">
                <a:solidFill>
                  <a:srgbClr val="231F20"/>
                </a:solidFill>
                <a:latin typeface="Arial"/>
                <a:cs typeface="Arial"/>
              </a:rPr>
              <a:t> </a:t>
            </a:r>
            <a:r>
              <a:rPr sz="1950" spc="140" dirty="0">
                <a:solidFill>
                  <a:srgbClr val="231F20"/>
                </a:solidFill>
                <a:latin typeface="Arial"/>
                <a:cs typeface="Arial"/>
              </a:rPr>
              <a:t>structures</a:t>
            </a:r>
            <a:endParaRPr sz="1950">
              <a:latin typeface="Arial"/>
              <a:cs typeface="Arial"/>
            </a:endParaRPr>
          </a:p>
          <a:p>
            <a:pPr marL="300990" marR="819150" indent="-288290">
              <a:lnSpc>
                <a:spcPct val="125000"/>
              </a:lnSpc>
              <a:spcBef>
                <a:spcPts val="180"/>
              </a:spcBef>
              <a:buSzPct val="105128"/>
              <a:buFont typeface="Lucida Sans Unicode"/>
              <a:buChar char="•"/>
              <a:tabLst>
                <a:tab pos="301625" algn="l"/>
              </a:tabLst>
            </a:pPr>
            <a:r>
              <a:rPr sz="1950" spc="275" dirty="0">
                <a:solidFill>
                  <a:srgbClr val="231F20"/>
                </a:solidFill>
                <a:latin typeface="Arial"/>
                <a:cs typeface="Arial"/>
              </a:rPr>
              <a:t>But </a:t>
            </a:r>
            <a:r>
              <a:rPr sz="1950" spc="170" dirty="0">
                <a:solidFill>
                  <a:srgbClr val="231F20"/>
                </a:solidFill>
                <a:latin typeface="Arial"/>
                <a:cs typeface="Arial"/>
              </a:rPr>
              <a:t>cannot </a:t>
            </a:r>
            <a:r>
              <a:rPr sz="1950" spc="155" dirty="0">
                <a:solidFill>
                  <a:srgbClr val="231F20"/>
                </a:solidFill>
                <a:latin typeface="Arial"/>
                <a:cs typeface="Arial"/>
              </a:rPr>
              <a:t>do </a:t>
            </a:r>
            <a:r>
              <a:rPr sz="1950" spc="220" dirty="0">
                <a:solidFill>
                  <a:srgbClr val="231F20"/>
                </a:solidFill>
                <a:latin typeface="Arial"/>
                <a:cs typeface="Arial"/>
              </a:rPr>
              <a:t>not </a:t>
            </a:r>
            <a:r>
              <a:rPr sz="1950" spc="145" dirty="0">
                <a:solidFill>
                  <a:srgbClr val="FF0000"/>
                </a:solidFill>
                <a:latin typeface="Arial"/>
                <a:cs typeface="Arial"/>
              </a:rPr>
              <a:t>unbounded </a:t>
            </a:r>
            <a:r>
              <a:rPr sz="1950" spc="120" dirty="0">
                <a:solidFill>
                  <a:srgbClr val="231F20"/>
                </a:solidFill>
                <a:latin typeface="Arial"/>
                <a:cs typeface="Arial"/>
              </a:rPr>
              <a:t>types </a:t>
            </a:r>
            <a:r>
              <a:rPr sz="1950" spc="150" dirty="0">
                <a:solidFill>
                  <a:srgbClr val="231F20"/>
                </a:solidFill>
                <a:latin typeface="Arial"/>
                <a:cs typeface="Arial"/>
              </a:rPr>
              <a:t>(e.g., </a:t>
            </a:r>
            <a:r>
              <a:rPr sz="1950" spc="114" dirty="0">
                <a:solidFill>
                  <a:srgbClr val="231F20"/>
                </a:solidFill>
                <a:latin typeface="Arial"/>
                <a:cs typeface="Arial"/>
              </a:rPr>
              <a:t>reals),  </a:t>
            </a:r>
            <a:r>
              <a:rPr sz="1950" spc="130" dirty="0">
                <a:solidFill>
                  <a:srgbClr val="231F20"/>
                </a:solidFill>
                <a:latin typeface="Arial"/>
                <a:cs typeface="Arial"/>
              </a:rPr>
              <a:t>or </a:t>
            </a:r>
            <a:r>
              <a:rPr sz="1950" spc="155" dirty="0">
                <a:solidFill>
                  <a:srgbClr val="FF0000"/>
                </a:solidFill>
                <a:latin typeface="Arial"/>
                <a:cs typeface="Arial"/>
              </a:rPr>
              <a:t>infinite </a:t>
            </a:r>
            <a:r>
              <a:rPr sz="1950" spc="140" dirty="0">
                <a:solidFill>
                  <a:srgbClr val="231F20"/>
                </a:solidFill>
                <a:latin typeface="Arial"/>
                <a:cs typeface="Arial"/>
              </a:rPr>
              <a:t>structures </a:t>
            </a:r>
            <a:r>
              <a:rPr sz="1950" spc="150" dirty="0">
                <a:solidFill>
                  <a:srgbClr val="231F20"/>
                </a:solidFill>
                <a:latin typeface="Arial"/>
                <a:cs typeface="Arial"/>
              </a:rPr>
              <a:t>(e.g., </a:t>
            </a:r>
            <a:r>
              <a:rPr sz="1950" spc="85" dirty="0">
                <a:solidFill>
                  <a:srgbClr val="231F20"/>
                </a:solidFill>
                <a:latin typeface="Arial"/>
                <a:cs typeface="Arial"/>
              </a:rPr>
              <a:t>queues, </a:t>
            </a:r>
            <a:r>
              <a:rPr sz="1950" spc="190" dirty="0">
                <a:solidFill>
                  <a:srgbClr val="231F20"/>
                </a:solidFill>
                <a:latin typeface="Arial"/>
                <a:cs typeface="Arial"/>
              </a:rPr>
              <a:t> </a:t>
            </a:r>
            <a:r>
              <a:rPr sz="1950" spc="140" dirty="0">
                <a:solidFill>
                  <a:srgbClr val="231F20"/>
                </a:solidFill>
                <a:latin typeface="Arial"/>
                <a:cs typeface="Arial"/>
              </a:rPr>
              <a:t>lists)</a:t>
            </a:r>
            <a:endParaRPr sz="1950">
              <a:latin typeface="Arial"/>
              <a:cs typeface="Arial"/>
            </a:endParaRPr>
          </a:p>
          <a:p>
            <a:pPr marL="300990" indent="-288290">
              <a:lnSpc>
                <a:spcPct val="100000"/>
              </a:lnSpc>
              <a:spcBef>
                <a:spcPts val="1055"/>
              </a:spcBef>
              <a:buSzPct val="105128"/>
              <a:buFont typeface="Lucida Sans Unicode"/>
              <a:buChar char="•"/>
              <a:tabLst>
                <a:tab pos="301625" algn="l"/>
              </a:tabLst>
            </a:pPr>
            <a:r>
              <a:rPr sz="1950" spc="200" dirty="0">
                <a:solidFill>
                  <a:srgbClr val="231F20"/>
                </a:solidFill>
                <a:latin typeface="Arial"/>
                <a:cs typeface="Arial"/>
              </a:rPr>
              <a:t>And </a:t>
            </a:r>
            <a:r>
              <a:rPr sz="1950" spc="75" dirty="0">
                <a:solidFill>
                  <a:srgbClr val="231F20"/>
                </a:solidFill>
                <a:latin typeface="Arial"/>
                <a:cs typeface="Arial"/>
              </a:rPr>
              <a:t>even </a:t>
            </a:r>
            <a:r>
              <a:rPr sz="1950" spc="140" dirty="0">
                <a:solidFill>
                  <a:srgbClr val="231F20"/>
                </a:solidFill>
                <a:latin typeface="Arial"/>
                <a:cs typeface="Arial"/>
              </a:rPr>
              <a:t>bounded </a:t>
            </a:r>
            <a:r>
              <a:rPr sz="1950" spc="170" dirty="0">
                <a:solidFill>
                  <a:srgbClr val="231F20"/>
                </a:solidFill>
                <a:latin typeface="Arial"/>
                <a:cs typeface="Arial"/>
              </a:rPr>
              <a:t>arithmetic </a:t>
            </a:r>
            <a:r>
              <a:rPr sz="1950" spc="120" dirty="0">
                <a:solidFill>
                  <a:srgbClr val="231F20"/>
                </a:solidFill>
                <a:latin typeface="Arial"/>
                <a:cs typeface="Arial"/>
              </a:rPr>
              <a:t>can </a:t>
            </a:r>
            <a:r>
              <a:rPr sz="1950" spc="114" dirty="0">
                <a:solidFill>
                  <a:srgbClr val="231F20"/>
                </a:solidFill>
                <a:latin typeface="Arial"/>
                <a:cs typeface="Arial"/>
              </a:rPr>
              <a:t>be </a:t>
            </a:r>
            <a:r>
              <a:rPr sz="1950" spc="100" dirty="0">
                <a:solidFill>
                  <a:srgbClr val="FF0000"/>
                </a:solidFill>
                <a:latin typeface="Arial"/>
                <a:cs typeface="Arial"/>
              </a:rPr>
              <a:t>slow </a:t>
            </a:r>
            <a:r>
              <a:rPr sz="1950" spc="140" dirty="0">
                <a:solidFill>
                  <a:srgbClr val="231F20"/>
                </a:solidFill>
                <a:latin typeface="Arial"/>
                <a:cs typeface="Arial"/>
              </a:rPr>
              <a:t>when </a:t>
            </a:r>
            <a:r>
              <a:rPr sz="1950" spc="650" dirty="0">
                <a:solidFill>
                  <a:srgbClr val="231F20"/>
                </a:solidFill>
                <a:latin typeface="Arial"/>
                <a:cs typeface="Arial"/>
              </a:rPr>
              <a:t> </a:t>
            </a:r>
            <a:r>
              <a:rPr sz="1950" spc="95" dirty="0">
                <a:solidFill>
                  <a:srgbClr val="231F20"/>
                </a:solidFill>
                <a:latin typeface="Arial"/>
                <a:cs typeface="Arial"/>
              </a:rPr>
              <a:t>large</a:t>
            </a:r>
            <a:endParaRPr sz="1950">
              <a:latin typeface="Arial"/>
              <a:cs typeface="Arial"/>
            </a:endParaRPr>
          </a:p>
          <a:p>
            <a:pPr marL="300990" indent="-288290">
              <a:lnSpc>
                <a:spcPct val="100000"/>
              </a:lnSpc>
              <a:spcBef>
                <a:spcPts val="1055"/>
              </a:spcBef>
              <a:buClr>
                <a:srgbClr val="231F20"/>
              </a:buClr>
              <a:buSzPct val="105128"/>
              <a:buFont typeface="Lucida Sans Unicode"/>
              <a:buChar char="•"/>
              <a:tabLst>
                <a:tab pos="301625" algn="l"/>
              </a:tabLst>
            </a:pPr>
            <a:r>
              <a:rPr sz="1950" spc="185" dirty="0">
                <a:solidFill>
                  <a:srgbClr val="0000FF"/>
                </a:solidFill>
                <a:latin typeface="Arial"/>
                <a:cs typeface="Arial"/>
              </a:rPr>
              <a:t>There </a:t>
            </a:r>
            <a:r>
              <a:rPr sz="1950" spc="65" dirty="0">
                <a:solidFill>
                  <a:srgbClr val="0000FF"/>
                </a:solidFill>
                <a:latin typeface="Arial"/>
                <a:cs typeface="Arial"/>
              </a:rPr>
              <a:t>are </a:t>
            </a:r>
            <a:r>
              <a:rPr sz="1950" spc="155" dirty="0">
                <a:solidFill>
                  <a:srgbClr val="0000FF"/>
                </a:solidFill>
                <a:latin typeface="Arial"/>
                <a:cs typeface="Arial"/>
              </a:rPr>
              <a:t>fast </a:t>
            </a:r>
            <a:r>
              <a:rPr sz="1950" spc="100" dirty="0">
                <a:solidFill>
                  <a:srgbClr val="FF0000"/>
                </a:solidFill>
                <a:latin typeface="Arial"/>
                <a:cs typeface="Arial"/>
              </a:rPr>
              <a:t>decision </a:t>
            </a:r>
            <a:r>
              <a:rPr sz="1950" spc="105" dirty="0">
                <a:solidFill>
                  <a:srgbClr val="FF0000"/>
                </a:solidFill>
                <a:latin typeface="Arial"/>
                <a:cs typeface="Arial"/>
              </a:rPr>
              <a:t>procedures </a:t>
            </a:r>
            <a:r>
              <a:rPr sz="1950" spc="155" dirty="0">
                <a:solidFill>
                  <a:srgbClr val="0000FF"/>
                </a:solidFill>
                <a:latin typeface="Arial"/>
                <a:cs typeface="Arial"/>
              </a:rPr>
              <a:t>for </a:t>
            </a:r>
            <a:r>
              <a:rPr sz="1950" spc="100" dirty="0">
                <a:solidFill>
                  <a:srgbClr val="0000FF"/>
                </a:solidFill>
                <a:latin typeface="Arial"/>
                <a:cs typeface="Arial"/>
              </a:rPr>
              <a:t>these </a:t>
            </a:r>
            <a:r>
              <a:rPr sz="1950" spc="565" dirty="0">
                <a:solidFill>
                  <a:srgbClr val="0000FF"/>
                </a:solidFill>
                <a:latin typeface="Arial"/>
                <a:cs typeface="Arial"/>
              </a:rPr>
              <a:t> </a:t>
            </a:r>
            <a:r>
              <a:rPr sz="1950" spc="110" dirty="0">
                <a:solidFill>
                  <a:srgbClr val="0000FF"/>
                </a:solidFill>
                <a:latin typeface="Arial"/>
                <a:cs typeface="Arial"/>
              </a:rPr>
              <a:t>theories</a:t>
            </a:r>
            <a:endParaRPr sz="1950">
              <a:latin typeface="Arial"/>
              <a:cs typeface="Arial"/>
            </a:endParaRPr>
          </a:p>
          <a:p>
            <a:pPr marL="300990" indent="-288290">
              <a:lnSpc>
                <a:spcPct val="100000"/>
              </a:lnSpc>
              <a:spcBef>
                <a:spcPts val="1055"/>
              </a:spcBef>
              <a:buSzPct val="105128"/>
              <a:buFont typeface="Lucida Sans Unicode"/>
              <a:buChar char="•"/>
              <a:tabLst>
                <a:tab pos="301625" algn="l"/>
              </a:tabLst>
            </a:pPr>
            <a:r>
              <a:rPr sz="1950" spc="275" dirty="0">
                <a:solidFill>
                  <a:srgbClr val="231F20"/>
                </a:solidFill>
                <a:latin typeface="Arial"/>
                <a:cs typeface="Arial"/>
              </a:rPr>
              <a:t>But </a:t>
            </a:r>
            <a:r>
              <a:rPr sz="1950" spc="160" dirty="0">
                <a:solidFill>
                  <a:srgbClr val="231F20"/>
                </a:solidFill>
                <a:latin typeface="Arial"/>
                <a:cs typeface="Arial"/>
              </a:rPr>
              <a:t>their </a:t>
            </a:r>
            <a:r>
              <a:rPr sz="1950" spc="90" dirty="0">
                <a:solidFill>
                  <a:srgbClr val="231F20"/>
                </a:solidFill>
                <a:latin typeface="Arial"/>
                <a:cs typeface="Arial"/>
              </a:rPr>
              <a:t>basic </a:t>
            </a:r>
            <a:r>
              <a:rPr sz="1950" spc="190" dirty="0">
                <a:solidFill>
                  <a:srgbClr val="231F20"/>
                </a:solidFill>
                <a:latin typeface="Arial"/>
                <a:cs typeface="Arial"/>
              </a:rPr>
              <a:t>form </a:t>
            </a:r>
            <a:r>
              <a:rPr sz="1950" spc="120" dirty="0">
                <a:solidFill>
                  <a:srgbClr val="231F20"/>
                </a:solidFill>
                <a:latin typeface="Arial"/>
                <a:cs typeface="Arial"/>
              </a:rPr>
              <a:t>works </a:t>
            </a:r>
            <a:r>
              <a:rPr sz="1950" spc="135" dirty="0">
                <a:solidFill>
                  <a:srgbClr val="231F20"/>
                </a:solidFill>
                <a:latin typeface="Arial"/>
                <a:cs typeface="Arial"/>
              </a:rPr>
              <a:t>only </a:t>
            </a:r>
            <a:r>
              <a:rPr sz="1950" spc="155" dirty="0">
                <a:solidFill>
                  <a:srgbClr val="231F20"/>
                </a:solidFill>
                <a:latin typeface="Arial"/>
                <a:cs typeface="Arial"/>
              </a:rPr>
              <a:t>on </a:t>
            </a:r>
            <a:r>
              <a:rPr sz="1950" spc="270" dirty="0">
                <a:solidFill>
                  <a:srgbClr val="231F20"/>
                </a:solidFill>
                <a:latin typeface="Arial"/>
                <a:cs typeface="Arial"/>
              </a:rPr>
              <a:t> </a:t>
            </a:r>
            <a:r>
              <a:rPr sz="1950" spc="150" dirty="0">
                <a:solidFill>
                  <a:srgbClr val="FF0000"/>
                </a:solidFill>
                <a:latin typeface="Arial"/>
                <a:cs typeface="Arial"/>
              </a:rPr>
              <a:t>conjunctions</a:t>
            </a:r>
            <a:endParaRPr sz="1950">
              <a:latin typeface="Arial"/>
              <a:cs typeface="Arial"/>
            </a:endParaRPr>
          </a:p>
          <a:p>
            <a:pPr marL="300990" indent="-288290">
              <a:lnSpc>
                <a:spcPct val="100000"/>
              </a:lnSpc>
              <a:spcBef>
                <a:spcPts val="1055"/>
              </a:spcBef>
              <a:buClr>
                <a:srgbClr val="231F20"/>
              </a:buClr>
              <a:buSzPct val="105128"/>
              <a:buFont typeface="Lucida Sans Unicode"/>
              <a:buChar char="•"/>
              <a:tabLst>
                <a:tab pos="301625" algn="l"/>
              </a:tabLst>
            </a:pPr>
            <a:r>
              <a:rPr sz="1950" spc="95" dirty="0">
                <a:solidFill>
                  <a:srgbClr val="0000FF"/>
                </a:solidFill>
                <a:latin typeface="Arial"/>
                <a:cs typeface="Arial"/>
              </a:rPr>
              <a:t>General </a:t>
            </a:r>
            <a:r>
              <a:rPr sz="1950" spc="140" dirty="0">
                <a:solidFill>
                  <a:srgbClr val="0000FF"/>
                </a:solidFill>
                <a:latin typeface="Arial"/>
                <a:cs typeface="Arial"/>
              </a:rPr>
              <a:t>propositional </a:t>
            </a:r>
            <a:r>
              <a:rPr sz="1950" spc="160" dirty="0">
                <a:solidFill>
                  <a:srgbClr val="0000FF"/>
                </a:solidFill>
                <a:latin typeface="Arial"/>
                <a:cs typeface="Arial"/>
              </a:rPr>
              <a:t>structure </a:t>
            </a:r>
            <a:r>
              <a:rPr sz="1950" spc="95" dirty="0">
                <a:solidFill>
                  <a:srgbClr val="0000FF"/>
                </a:solidFill>
                <a:latin typeface="Arial"/>
                <a:cs typeface="Arial"/>
              </a:rPr>
              <a:t>requires </a:t>
            </a:r>
            <a:r>
              <a:rPr sz="1950" spc="50" dirty="0">
                <a:solidFill>
                  <a:srgbClr val="0000FF"/>
                </a:solidFill>
                <a:latin typeface="Arial"/>
                <a:cs typeface="Arial"/>
              </a:rPr>
              <a:t>case </a:t>
            </a:r>
            <a:r>
              <a:rPr sz="1950" spc="370" dirty="0">
                <a:solidFill>
                  <a:srgbClr val="0000FF"/>
                </a:solidFill>
                <a:latin typeface="Arial"/>
                <a:cs typeface="Arial"/>
              </a:rPr>
              <a:t> </a:t>
            </a:r>
            <a:r>
              <a:rPr sz="1950" spc="75" dirty="0">
                <a:solidFill>
                  <a:srgbClr val="0000FF"/>
                </a:solidFill>
                <a:latin typeface="Arial"/>
                <a:cs typeface="Arial"/>
              </a:rPr>
              <a:t>analysis</a:t>
            </a:r>
            <a:endParaRPr sz="1950">
              <a:latin typeface="Arial"/>
              <a:cs typeface="Arial"/>
            </a:endParaRPr>
          </a:p>
          <a:p>
            <a:pPr marL="300990" marR="5080" lvl="1" indent="152400">
              <a:lnSpc>
                <a:spcPct val="145200"/>
              </a:lnSpc>
              <a:buSzPct val="105128"/>
              <a:buFont typeface="Lucida Sans Unicode"/>
              <a:buChar char="◦"/>
              <a:tabLst>
                <a:tab pos="742315" algn="l"/>
              </a:tabLst>
            </a:pPr>
            <a:r>
              <a:rPr sz="1950" spc="135" dirty="0">
                <a:solidFill>
                  <a:srgbClr val="231F20"/>
                </a:solidFill>
                <a:latin typeface="Arial"/>
                <a:cs typeface="Arial"/>
              </a:rPr>
              <a:t>Should </a:t>
            </a:r>
            <a:r>
              <a:rPr sz="1950" spc="45" dirty="0">
                <a:solidFill>
                  <a:srgbClr val="231F20"/>
                </a:solidFill>
                <a:latin typeface="Arial"/>
                <a:cs typeface="Arial"/>
              </a:rPr>
              <a:t>use </a:t>
            </a:r>
            <a:r>
              <a:rPr sz="1950" spc="135" dirty="0">
                <a:solidFill>
                  <a:srgbClr val="231F20"/>
                </a:solidFill>
                <a:latin typeface="Arial"/>
                <a:cs typeface="Arial"/>
              </a:rPr>
              <a:t>efficient </a:t>
            </a:r>
            <a:r>
              <a:rPr sz="1950" spc="75" dirty="0">
                <a:solidFill>
                  <a:srgbClr val="231F20"/>
                </a:solidFill>
                <a:latin typeface="Arial"/>
                <a:cs typeface="Arial"/>
              </a:rPr>
              <a:t>search </a:t>
            </a:r>
            <a:r>
              <a:rPr sz="1950" spc="120" dirty="0">
                <a:solidFill>
                  <a:srgbClr val="231F20"/>
                </a:solidFill>
                <a:latin typeface="Arial"/>
                <a:cs typeface="Arial"/>
              </a:rPr>
              <a:t>strategies </a:t>
            </a:r>
            <a:r>
              <a:rPr sz="1950" spc="185" dirty="0">
                <a:solidFill>
                  <a:srgbClr val="231F20"/>
                </a:solidFill>
                <a:latin typeface="Arial"/>
                <a:cs typeface="Arial"/>
              </a:rPr>
              <a:t>of </a:t>
            </a:r>
            <a:r>
              <a:rPr sz="1950" spc="250" dirty="0">
                <a:solidFill>
                  <a:srgbClr val="231F20"/>
                </a:solidFill>
                <a:latin typeface="Arial"/>
                <a:cs typeface="Arial"/>
              </a:rPr>
              <a:t>SAT </a:t>
            </a:r>
            <a:r>
              <a:rPr sz="1950" spc="75" dirty="0">
                <a:solidFill>
                  <a:srgbClr val="231F20"/>
                </a:solidFill>
                <a:latin typeface="Arial"/>
                <a:cs typeface="Arial"/>
              </a:rPr>
              <a:t>solvers  </a:t>
            </a:r>
            <a:r>
              <a:rPr sz="1950" spc="229" dirty="0">
                <a:solidFill>
                  <a:srgbClr val="FF0000"/>
                </a:solidFill>
                <a:latin typeface="Arial"/>
                <a:cs typeface="Arial"/>
              </a:rPr>
              <a:t>That’s </a:t>
            </a:r>
            <a:r>
              <a:rPr sz="1950" spc="204" dirty="0">
                <a:solidFill>
                  <a:srgbClr val="FF0000"/>
                </a:solidFill>
                <a:latin typeface="Arial"/>
                <a:cs typeface="Arial"/>
              </a:rPr>
              <a:t>what </a:t>
            </a:r>
            <a:r>
              <a:rPr sz="1950" spc="120" dirty="0">
                <a:solidFill>
                  <a:srgbClr val="FF0000"/>
                </a:solidFill>
                <a:latin typeface="Arial"/>
                <a:cs typeface="Arial"/>
              </a:rPr>
              <a:t>an </a:t>
            </a:r>
            <a:r>
              <a:rPr sz="1950" spc="350" dirty="0">
                <a:solidFill>
                  <a:srgbClr val="FF0000"/>
                </a:solidFill>
                <a:latin typeface="Arial"/>
                <a:cs typeface="Arial"/>
              </a:rPr>
              <a:t>SMT </a:t>
            </a:r>
            <a:r>
              <a:rPr sz="1950" spc="90" dirty="0">
                <a:solidFill>
                  <a:srgbClr val="FF0000"/>
                </a:solidFill>
                <a:latin typeface="Arial"/>
                <a:cs typeface="Arial"/>
              </a:rPr>
              <a:t>solver</a:t>
            </a:r>
            <a:r>
              <a:rPr sz="1950" spc="475" dirty="0">
                <a:solidFill>
                  <a:srgbClr val="FF0000"/>
                </a:solidFill>
                <a:latin typeface="Arial"/>
                <a:cs typeface="Arial"/>
              </a:rPr>
              <a:t> </a:t>
            </a:r>
            <a:r>
              <a:rPr sz="1950" spc="90" dirty="0">
                <a:solidFill>
                  <a:srgbClr val="FF0000"/>
                </a:solidFill>
                <a:latin typeface="Arial"/>
                <a:cs typeface="Arial"/>
              </a:rPr>
              <a:t>does</a:t>
            </a:r>
            <a:endParaRPr sz="1950">
              <a:latin typeface="Arial"/>
              <a:cs typeface="Ari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5501005" cy="1057910"/>
          </a:xfrm>
          <a:prstGeom prst="rect">
            <a:avLst/>
          </a:prstGeom>
        </p:spPr>
        <p:txBody>
          <a:bodyPr vert="horz" wrap="square" lIns="0" tIns="0" rIns="0" bIns="0" rtlCol="0">
            <a:spAutoFit/>
          </a:bodyPr>
          <a:lstStyle/>
          <a:p>
            <a:pPr marL="2778125">
              <a:lnSpc>
                <a:spcPct val="100000"/>
              </a:lnSpc>
            </a:pPr>
            <a:r>
              <a:rPr sz="1950" spc="235" dirty="0">
                <a:solidFill>
                  <a:srgbClr val="231F20"/>
                </a:solidFill>
                <a:latin typeface="Arial"/>
                <a:cs typeface="Arial"/>
              </a:rPr>
              <a:t>Decidable</a:t>
            </a:r>
            <a:r>
              <a:rPr sz="1950" spc="280" dirty="0">
                <a:solidFill>
                  <a:srgbClr val="231F20"/>
                </a:solidFill>
                <a:latin typeface="Arial"/>
                <a:cs typeface="Arial"/>
              </a:rPr>
              <a:t> </a:t>
            </a:r>
            <a:r>
              <a:rPr sz="1950" spc="250" dirty="0">
                <a:solidFill>
                  <a:srgbClr val="231F20"/>
                </a:solidFill>
                <a:latin typeface="Arial"/>
                <a:cs typeface="Arial"/>
              </a:rPr>
              <a:t>Theories</a:t>
            </a:r>
            <a:endParaRPr sz="1950">
              <a:latin typeface="Arial"/>
              <a:cs typeface="Arial"/>
            </a:endParaRPr>
          </a:p>
          <a:p>
            <a:pPr marL="300990" indent="-288290">
              <a:lnSpc>
                <a:spcPct val="100000"/>
              </a:lnSpc>
              <a:spcBef>
                <a:spcPts val="585"/>
              </a:spcBef>
              <a:buSzPct val="105128"/>
              <a:buFont typeface="Lucida Sans Unicode"/>
              <a:buChar char="•"/>
              <a:tabLst>
                <a:tab pos="301625" algn="l"/>
              </a:tabLst>
            </a:pPr>
            <a:r>
              <a:rPr sz="1950" spc="190" dirty="0">
                <a:solidFill>
                  <a:srgbClr val="231F20"/>
                </a:solidFill>
                <a:latin typeface="Arial"/>
                <a:cs typeface="Arial"/>
              </a:rPr>
              <a:t>Many </a:t>
            </a:r>
            <a:r>
              <a:rPr sz="1950" spc="105" dirty="0">
                <a:solidFill>
                  <a:srgbClr val="231F20"/>
                </a:solidFill>
                <a:latin typeface="Arial"/>
                <a:cs typeface="Arial"/>
              </a:rPr>
              <a:t>useful </a:t>
            </a:r>
            <a:r>
              <a:rPr sz="1950" spc="110" dirty="0">
                <a:solidFill>
                  <a:srgbClr val="231F20"/>
                </a:solidFill>
                <a:latin typeface="Arial"/>
                <a:cs typeface="Arial"/>
              </a:rPr>
              <a:t>theories </a:t>
            </a:r>
            <a:r>
              <a:rPr sz="1950" spc="65" dirty="0">
                <a:solidFill>
                  <a:srgbClr val="231F20"/>
                </a:solidFill>
                <a:latin typeface="Arial"/>
                <a:cs typeface="Arial"/>
              </a:rPr>
              <a:t>are </a:t>
            </a:r>
            <a:r>
              <a:rPr sz="1950" spc="70" dirty="0">
                <a:solidFill>
                  <a:srgbClr val="231F20"/>
                </a:solidFill>
                <a:latin typeface="Arial"/>
                <a:cs typeface="Arial"/>
              </a:rPr>
              <a:t> </a:t>
            </a:r>
            <a:r>
              <a:rPr sz="1950" spc="100" dirty="0">
                <a:solidFill>
                  <a:srgbClr val="FF0000"/>
                </a:solidFill>
                <a:latin typeface="Arial"/>
                <a:cs typeface="Arial"/>
              </a:rPr>
              <a:t>decidable</a:t>
            </a:r>
            <a:endParaRPr sz="1950">
              <a:latin typeface="Arial"/>
              <a:cs typeface="Arial"/>
            </a:endParaRPr>
          </a:p>
          <a:p>
            <a:pPr marL="615950">
              <a:lnSpc>
                <a:spcPct val="100000"/>
              </a:lnSpc>
              <a:spcBef>
                <a:spcPts val="585"/>
              </a:spcBef>
            </a:pPr>
            <a:r>
              <a:rPr sz="1950" spc="245" dirty="0">
                <a:solidFill>
                  <a:srgbClr val="231F20"/>
                </a:solidFill>
                <a:latin typeface="Arial"/>
                <a:cs typeface="Arial"/>
              </a:rPr>
              <a:t>(at </a:t>
            </a:r>
            <a:r>
              <a:rPr sz="1950" spc="105" dirty="0">
                <a:solidFill>
                  <a:srgbClr val="231F20"/>
                </a:solidFill>
                <a:latin typeface="Arial"/>
                <a:cs typeface="Arial"/>
              </a:rPr>
              <a:t>least </a:t>
            </a:r>
            <a:r>
              <a:rPr sz="1950" spc="130" dirty="0">
                <a:solidFill>
                  <a:srgbClr val="231F20"/>
                </a:solidFill>
                <a:latin typeface="Arial"/>
                <a:cs typeface="Arial"/>
              </a:rPr>
              <a:t>in </a:t>
            </a:r>
            <a:r>
              <a:rPr sz="1950" spc="160" dirty="0">
                <a:solidFill>
                  <a:srgbClr val="231F20"/>
                </a:solidFill>
                <a:latin typeface="Arial"/>
                <a:cs typeface="Arial"/>
              </a:rPr>
              <a:t>their </a:t>
            </a:r>
            <a:r>
              <a:rPr sz="1950" spc="150" dirty="0">
                <a:solidFill>
                  <a:srgbClr val="231F20"/>
                </a:solidFill>
                <a:latin typeface="Arial"/>
                <a:cs typeface="Arial"/>
              </a:rPr>
              <a:t>unquantified</a:t>
            </a:r>
            <a:r>
              <a:rPr sz="1950" spc="765" dirty="0">
                <a:solidFill>
                  <a:srgbClr val="231F20"/>
                </a:solidFill>
                <a:latin typeface="Arial"/>
                <a:cs typeface="Arial"/>
              </a:rPr>
              <a:t> </a:t>
            </a:r>
            <a:r>
              <a:rPr sz="1950" spc="175" dirty="0">
                <a:solidFill>
                  <a:srgbClr val="231F20"/>
                </a:solidFill>
                <a:latin typeface="Arial"/>
                <a:cs typeface="Arial"/>
              </a:rPr>
              <a:t>forms)</a:t>
            </a:r>
            <a:endParaRPr sz="1950">
              <a:latin typeface="Arial"/>
              <a:cs typeface="Arial"/>
            </a:endParaRPr>
          </a:p>
        </p:txBody>
      </p:sp>
      <p:sp>
        <p:nvSpPr>
          <p:cNvPr id="3" name="object 3"/>
          <p:cNvSpPr txBox="1"/>
          <p:nvPr/>
        </p:nvSpPr>
        <p:spPr>
          <a:xfrm>
            <a:off x="4400765" y="2702039"/>
            <a:ext cx="299720" cy="223520"/>
          </a:xfrm>
          <a:prstGeom prst="rect">
            <a:avLst/>
          </a:prstGeom>
        </p:spPr>
        <p:txBody>
          <a:bodyPr vert="horz" wrap="square" lIns="0" tIns="0" rIns="0" bIns="0" rtlCol="0">
            <a:spAutoFit/>
          </a:bodyPr>
          <a:lstStyle/>
          <a:p>
            <a:pPr marL="12700">
              <a:lnSpc>
                <a:spcPct val="100000"/>
              </a:lnSpc>
            </a:pPr>
            <a:r>
              <a:rPr sz="1450" spc="190" dirty="0">
                <a:solidFill>
                  <a:srgbClr val="0000FF"/>
                </a:solidFill>
                <a:latin typeface="PMingLiU"/>
                <a:cs typeface="PMingLiU"/>
              </a:rPr>
              <a:t>d</a:t>
            </a:r>
            <a:r>
              <a:rPr sz="1450" spc="165" dirty="0">
                <a:solidFill>
                  <a:srgbClr val="0000FF"/>
                </a:solidFill>
                <a:latin typeface="PMingLiU"/>
                <a:cs typeface="PMingLiU"/>
              </a:rPr>
              <a:t>e</a:t>
            </a:r>
            <a:r>
              <a:rPr sz="1450" spc="55" dirty="0">
                <a:solidFill>
                  <a:srgbClr val="0000FF"/>
                </a:solidFill>
                <a:latin typeface="PMingLiU"/>
                <a:cs typeface="PMingLiU"/>
              </a:rPr>
              <a:t>f</a:t>
            </a:r>
            <a:endParaRPr sz="1450">
              <a:latin typeface="PMingLiU"/>
              <a:cs typeface="PMingLiU"/>
            </a:endParaRPr>
          </a:p>
        </p:txBody>
      </p:sp>
      <p:sp>
        <p:nvSpPr>
          <p:cNvPr id="4" name="object 4"/>
          <p:cNvSpPr txBox="1"/>
          <p:nvPr/>
        </p:nvSpPr>
        <p:spPr>
          <a:xfrm>
            <a:off x="1337297" y="1643100"/>
            <a:ext cx="6804659" cy="3009265"/>
          </a:xfrm>
          <a:prstGeom prst="rect">
            <a:avLst/>
          </a:prstGeom>
        </p:spPr>
        <p:txBody>
          <a:bodyPr vert="horz" wrap="square" lIns="0" tIns="0" rIns="0" bIns="0" rtlCol="0">
            <a:spAutoFit/>
          </a:bodyPr>
          <a:lstStyle/>
          <a:p>
            <a:pPr marL="300990" indent="-288290">
              <a:lnSpc>
                <a:spcPct val="100000"/>
              </a:lnSpc>
              <a:buClr>
                <a:srgbClr val="231F20"/>
              </a:buClr>
              <a:buSzPct val="105128"/>
              <a:buFont typeface="Lucida Sans Unicode"/>
              <a:buChar char="◦"/>
              <a:tabLst>
                <a:tab pos="301625" algn="l"/>
              </a:tabLst>
            </a:pPr>
            <a:r>
              <a:rPr sz="1950" spc="155" dirty="0">
                <a:solidFill>
                  <a:srgbClr val="FF0000"/>
                </a:solidFill>
                <a:latin typeface="Arial"/>
                <a:cs typeface="Arial"/>
              </a:rPr>
              <a:t>Equality </a:t>
            </a:r>
            <a:r>
              <a:rPr sz="1950" spc="215" dirty="0">
                <a:solidFill>
                  <a:srgbClr val="231F20"/>
                </a:solidFill>
                <a:latin typeface="Arial"/>
                <a:cs typeface="Arial"/>
              </a:rPr>
              <a:t>with </a:t>
            </a:r>
            <a:r>
              <a:rPr sz="1950" spc="145" dirty="0">
                <a:solidFill>
                  <a:srgbClr val="FF0000"/>
                </a:solidFill>
                <a:latin typeface="Arial"/>
                <a:cs typeface="Arial"/>
              </a:rPr>
              <a:t>uninterpreted </a:t>
            </a:r>
            <a:r>
              <a:rPr sz="1950" spc="175" dirty="0">
                <a:solidFill>
                  <a:srgbClr val="FF0000"/>
                </a:solidFill>
                <a:latin typeface="Arial"/>
                <a:cs typeface="Arial"/>
              </a:rPr>
              <a:t>function</a:t>
            </a:r>
            <a:r>
              <a:rPr sz="1950" spc="625" dirty="0">
                <a:solidFill>
                  <a:srgbClr val="FF0000"/>
                </a:solidFill>
                <a:latin typeface="Arial"/>
                <a:cs typeface="Arial"/>
              </a:rPr>
              <a:t> </a:t>
            </a:r>
            <a:r>
              <a:rPr sz="1950" spc="120" dirty="0">
                <a:solidFill>
                  <a:srgbClr val="FF0000"/>
                </a:solidFill>
                <a:latin typeface="Arial"/>
                <a:cs typeface="Arial"/>
              </a:rPr>
              <a:t>symbols</a:t>
            </a:r>
            <a:endParaRPr sz="1950">
              <a:latin typeface="Arial"/>
              <a:cs typeface="Arial"/>
            </a:endParaRPr>
          </a:p>
          <a:p>
            <a:pPr marL="615950">
              <a:lnSpc>
                <a:spcPct val="100000"/>
              </a:lnSpc>
              <a:spcBef>
                <a:spcPts val="484"/>
              </a:spcBef>
            </a:pPr>
            <a:r>
              <a:rPr sz="2050" i="1" spc="50" dirty="0">
                <a:solidFill>
                  <a:srgbClr val="0000FF"/>
                </a:solidFill>
                <a:latin typeface="Meiryo"/>
                <a:cs typeface="Meiryo"/>
              </a:rPr>
              <a:t>x</a:t>
            </a:r>
            <a:r>
              <a:rPr sz="2050" i="1" spc="-130" dirty="0">
                <a:solidFill>
                  <a:srgbClr val="0000FF"/>
                </a:solidFill>
                <a:latin typeface="Meiryo"/>
                <a:cs typeface="Meiryo"/>
              </a:rPr>
              <a:t> </a:t>
            </a:r>
            <a:r>
              <a:rPr sz="2050" spc="114" dirty="0">
                <a:solidFill>
                  <a:srgbClr val="0000FF"/>
                </a:solidFill>
                <a:latin typeface="Tahoma"/>
                <a:cs typeface="Tahoma"/>
              </a:rPr>
              <a:t>=</a:t>
            </a:r>
            <a:r>
              <a:rPr sz="2050" spc="-75" dirty="0">
                <a:solidFill>
                  <a:srgbClr val="0000FF"/>
                </a:solidFill>
                <a:latin typeface="Tahoma"/>
                <a:cs typeface="Tahoma"/>
              </a:rPr>
              <a:t> </a:t>
            </a:r>
            <a:r>
              <a:rPr sz="2050" i="1" spc="-145" dirty="0">
                <a:solidFill>
                  <a:srgbClr val="0000FF"/>
                </a:solidFill>
                <a:latin typeface="Meiryo"/>
                <a:cs typeface="Meiryo"/>
              </a:rPr>
              <a:t>y</a:t>
            </a:r>
            <a:r>
              <a:rPr sz="2050" i="1" spc="-170" dirty="0">
                <a:solidFill>
                  <a:srgbClr val="0000FF"/>
                </a:solidFill>
                <a:latin typeface="Meiryo"/>
                <a:cs typeface="Meiryo"/>
              </a:rPr>
              <a:t> </a:t>
            </a:r>
            <a:r>
              <a:rPr sz="2050" spc="-254"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i="1" spc="320" dirty="0">
                <a:solidFill>
                  <a:srgbClr val="0000FF"/>
                </a:solidFill>
                <a:latin typeface="Meiryo"/>
                <a:cs typeface="Meiryo"/>
              </a:rPr>
              <a:t>f</a:t>
            </a:r>
            <a:r>
              <a:rPr sz="2050" i="1" spc="-484" dirty="0">
                <a:solidFill>
                  <a:srgbClr val="0000FF"/>
                </a:solidFill>
                <a:latin typeface="Meiryo"/>
                <a:cs typeface="Meiryo"/>
              </a:rPr>
              <a:t> </a:t>
            </a:r>
            <a:r>
              <a:rPr sz="2050" spc="170" dirty="0">
                <a:solidFill>
                  <a:srgbClr val="0000FF"/>
                </a:solidFill>
                <a:latin typeface="Tahoma"/>
                <a:cs typeface="Tahoma"/>
              </a:rPr>
              <a:t>(</a:t>
            </a:r>
            <a:r>
              <a:rPr sz="2050" i="1" spc="170" dirty="0">
                <a:solidFill>
                  <a:srgbClr val="0000FF"/>
                </a:solidFill>
                <a:latin typeface="Meiryo"/>
                <a:cs typeface="Meiryo"/>
              </a:rPr>
              <a:t>f</a:t>
            </a:r>
            <a:r>
              <a:rPr sz="2050" i="1" spc="-484" dirty="0">
                <a:solidFill>
                  <a:srgbClr val="0000FF"/>
                </a:solidFill>
                <a:latin typeface="Meiryo"/>
                <a:cs typeface="Meiryo"/>
              </a:rPr>
              <a:t> </a:t>
            </a:r>
            <a:r>
              <a:rPr sz="2050" spc="170" dirty="0">
                <a:solidFill>
                  <a:srgbClr val="0000FF"/>
                </a:solidFill>
                <a:latin typeface="Tahoma"/>
                <a:cs typeface="Tahoma"/>
              </a:rPr>
              <a:t>(</a:t>
            </a:r>
            <a:r>
              <a:rPr sz="2050" i="1" spc="170" dirty="0">
                <a:solidFill>
                  <a:srgbClr val="0000FF"/>
                </a:solidFill>
                <a:latin typeface="Meiryo"/>
                <a:cs typeface="Meiryo"/>
              </a:rPr>
              <a:t>f</a:t>
            </a:r>
            <a:r>
              <a:rPr sz="2050" i="1" spc="-484" dirty="0">
                <a:solidFill>
                  <a:srgbClr val="0000FF"/>
                </a:solidFill>
                <a:latin typeface="Meiryo"/>
                <a:cs typeface="Meiryo"/>
              </a:rPr>
              <a:t> </a:t>
            </a:r>
            <a:r>
              <a:rPr sz="2050" spc="20" dirty="0">
                <a:solidFill>
                  <a:srgbClr val="0000FF"/>
                </a:solidFill>
                <a:latin typeface="Tahoma"/>
                <a:cs typeface="Tahoma"/>
              </a:rPr>
              <a:t>(</a:t>
            </a:r>
            <a:r>
              <a:rPr sz="2050" i="1" spc="20" dirty="0">
                <a:solidFill>
                  <a:srgbClr val="0000FF"/>
                </a:solidFill>
                <a:latin typeface="Meiryo"/>
                <a:cs typeface="Meiryo"/>
              </a:rPr>
              <a:t>x</a:t>
            </a:r>
            <a:r>
              <a:rPr sz="2050" spc="20" dirty="0">
                <a:solidFill>
                  <a:srgbClr val="0000FF"/>
                </a:solidFill>
                <a:latin typeface="Tahoma"/>
                <a:cs typeface="Tahoma"/>
              </a:rPr>
              <a:t>)))</a:t>
            </a:r>
            <a:r>
              <a:rPr sz="2050" spc="-75" dirty="0">
                <a:solidFill>
                  <a:srgbClr val="0000FF"/>
                </a:solidFill>
                <a:latin typeface="Tahoma"/>
                <a:cs typeface="Tahoma"/>
              </a:rPr>
              <a:t> </a:t>
            </a:r>
            <a:r>
              <a:rPr sz="2050" spc="114" dirty="0">
                <a:solidFill>
                  <a:srgbClr val="0000FF"/>
                </a:solidFill>
                <a:latin typeface="Tahoma"/>
                <a:cs typeface="Tahoma"/>
              </a:rPr>
              <a:t>=</a:t>
            </a:r>
            <a:r>
              <a:rPr sz="2050" spc="-75" dirty="0">
                <a:solidFill>
                  <a:srgbClr val="0000FF"/>
                </a:solidFill>
                <a:latin typeface="Tahoma"/>
                <a:cs typeface="Tahoma"/>
              </a:rPr>
              <a:t> </a:t>
            </a:r>
            <a:r>
              <a:rPr sz="2050" i="1" spc="320" dirty="0">
                <a:solidFill>
                  <a:srgbClr val="0000FF"/>
                </a:solidFill>
                <a:latin typeface="Meiryo"/>
                <a:cs typeface="Meiryo"/>
              </a:rPr>
              <a:t>f</a:t>
            </a:r>
            <a:r>
              <a:rPr sz="2050" i="1" spc="-484" dirty="0">
                <a:solidFill>
                  <a:srgbClr val="0000FF"/>
                </a:solidFill>
                <a:latin typeface="Meiryo"/>
                <a:cs typeface="Meiryo"/>
              </a:rPr>
              <a:t> </a:t>
            </a:r>
            <a:r>
              <a:rPr sz="2050" spc="25" dirty="0">
                <a:solidFill>
                  <a:srgbClr val="0000FF"/>
                </a:solidFill>
                <a:latin typeface="Tahoma"/>
                <a:cs typeface="Tahoma"/>
              </a:rPr>
              <a:t>(</a:t>
            </a:r>
            <a:r>
              <a:rPr sz="2050" i="1" spc="25" dirty="0">
                <a:solidFill>
                  <a:srgbClr val="0000FF"/>
                </a:solidFill>
                <a:latin typeface="Meiryo"/>
                <a:cs typeface="Meiryo"/>
              </a:rPr>
              <a:t>x</a:t>
            </a:r>
            <a:r>
              <a:rPr sz="2050" spc="25" dirty="0">
                <a:solidFill>
                  <a:srgbClr val="0000FF"/>
                </a:solidFill>
                <a:latin typeface="Tahoma"/>
                <a:cs typeface="Tahoma"/>
              </a:rPr>
              <a:t>)</a:t>
            </a:r>
            <a:r>
              <a:rPr sz="2050" spc="-75" dirty="0">
                <a:solidFill>
                  <a:srgbClr val="0000FF"/>
                </a:solidFill>
                <a:latin typeface="Tahoma"/>
                <a:cs typeface="Tahoma"/>
              </a:rPr>
              <a:t> </a:t>
            </a:r>
            <a:r>
              <a:rPr sz="2050" spc="-25" dirty="0">
                <a:solidFill>
                  <a:srgbClr val="0000FF"/>
                </a:solidFill>
                <a:latin typeface="Lucida Sans Unicode"/>
                <a:cs typeface="Lucida Sans Unicode"/>
              </a:rPr>
              <a:t>⊃</a:t>
            </a:r>
            <a:r>
              <a:rPr sz="2050" spc="-85" dirty="0">
                <a:solidFill>
                  <a:srgbClr val="0000FF"/>
                </a:solidFill>
                <a:latin typeface="Lucida Sans Unicode"/>
                <a:cs typeface="Lucida Sans Unicode"/>
              </a:rPr>
              <a:t> </a:t>
            </a:r>
            <a:r>
              <a:rPr sz="2050" i="1" spc="320" dirty="0">
                <a:solidFill>
                  <a:srgbClr val="0000FF"/>
                </a:solidFill>
                <a:latin typeface="Meiryo"/>
                <a:cs typeface="Meiryo"/>
              </a:rPr>
              <a:t>f</a:t>
            </a:r>
            <a:r>
              <a:rPr sz="2050" i="1" spc="-484" dirty="0">
                <a:solidFill>
                  <a:srgbClr val="0000FF"/>
                </a:solidFill>
                <a:latin typeface="Meiryo"/>
                <a:cs typeface="Meiryo"/>
              </a:rPr>
              <a:t> </a:t>
            </a:r>
            <a:r>
              <a:rPr sz="2050" spc="170" dirty="0">
                <a:solidFill>
                  <a:srgbClr val="0000FF"/>
                </a:solidFill>
                <a:latin typeface="Tahoma"/>
                <a:cs typeface="Tahoma"/>
              </a:rPr>
              <a:t>(</a:t>
            </a:r>
            <a:r>
              <a:rPr sz="2050" i="1" spc="170" dirty="0">
                <a:solidFill>
                  <a:srgbClr val="0000FF"/>
                </a:solidFill>
                <a:latin typeface="Meiryo"/>
                <a:cs typeface="Meiryo"/>
              </a:rPr>
              <a:t>f</a:t>
            </a:r>
            <a:r>
              <a:rPr sz="2050" i="1" spc="-484" dirty="0">
                <a:solidFill>
                  <a:srgbClr val="0000FF"/>
                </a:solidFill>
                <a:latin typeface="Meiryo"/>
                <a:cs typeface="Meiryo"/>
              </a:rPr>
              <a:t> </a:t>
            </a:r>
            <a:r>
              <a:rPr sz="2050" spc="170" dirty="0">
                <a:solidFill>
                  <a:srgbClr val="0000FF"/>
                </a:solidFill>
                <a:latin typeface="Tahoma"/>
                <a:cs typeface="Tahoma"/>
              </a:rPr>
              <a:t>(</a:t>
            </a:r>
            <a:r>
              <a:rPr sz="2050" i="1" spc="170" dirty="0">
                <a:solidFill>
                  <a:srgbClr val="0000FF"/>
                </a:solidFill>
                <a:latin typeface="Meiryo"/>
                <a:cs typeface="Meiryo"/>
              </a:rPr>
              <a:t>f</a:t>
            </a:r>
            <a:r>
              <a:rPr sz="2050" i="1" spc="-484" dirty="0">
                <a:solidFill>
                  <a:srgbClr val="0000FF"/>
                </a:solidFill>
                <a:latin typeface="Meiryo"/>
                <a:cs typeface="Meiryo"/>
              </a:rPr>
              <a:t> </a:t>
            </a:r>
            <a:r>
              <a:rPr sz="2050" spc="170" dirty="0">
                <a:solidFill>
                  <a:srgbClr val="0000FF"/>
                </a:solidFill>
                <a:latin typeface="Tahoma"/>
                <a:cs typeface="Tahoma"/>
              </a:rPr>
              <a:t>(</a:t>
            </a:r>
            <a:r>
              <a:rPr sz="2050" i="1" spc="170" dirty="0">
                <a:solidFill>
                  <a:srgbClr val="0000FF"/>
                </a:solidFill>
                <a:latin typeface="Meiryo"/>
                <a:cs typeface="Meiryo"/>
              </a:rPr>
              <a:t>f</a:t>
            </a:r>
            <a:r>
              <a:rPr sz="2050" i="1" spc="-484" dirty="0">
                <a:solidFill>
                  <a:srgbClr val="0000FF"/>
                </a:solidFill>
                <a:latin typeface="Meiryo"/>
                <a:cs typeface="Meiryo"/>
              </a:rPr>
              <a:t> </a:t>
            </a:r>
            <a:r>
              <a:rPr sz="2050" spc="170" dirty="0">
                <a:solidFill>
                  <a:srgbClr val="0000FF"/>
                </a:solidFill>
                <a:latin typeface="Tahoma"/>
                <a:cs typeface="Tahoma"/>
              </a:rPr>
              <a:t>(</a:t>
            </a:r>
            <a:r>
              <a:rPr sz="2050" i="1" spc="170" dirty="0">
                <a:solidFill>
                  <a:srgbClr val="0000FF"/>
                </a:solidFill>
                <a:latin typeface="Meiryo"/>
                <a:cs typeface="Meiryo"/>
              </a:rPr>
              <a:t>f</a:t>
            </a:r>
            <a:r>
              <a:rPr sz="2050" i="1" spc="-484" dirty="0">
                <a:solidFill>
                  <a:srgbClr val="0000FF"/>
                </a:solidFill>
                <a:latin typeface="Meiryo"/>
                <a:cs typeface="Meiryo"/>
              </a:rPr>
              <a:t> </a:t>
            </a:r>
            <a:r>
              <a:rPr sz="2050" spc="5" dirty="0">
                <a:solidFill>
                  <a:srgbClr val="0000FF"/>
                </a:solidFill>
                <a:latin typeface="Tahoma"/>
                <a:cs typeface="Tahoma"/>
              </a:rPr>
              <a:t>(</a:t>
            </a:r>
            <a:r>
              <a:rPr sz="2050" i="1" spc="5" dirty="0">
                <a:solidFill>
                  <a:srgbClr val="0000FF"/>
                </a:solidFill>
                <a:latin typeface="Meiryo"/>
                <a:cs typeface="Meiryo"/>
              </a:rPr>
              <a:t>y</a:t>
            </a:r>
            <a:r>
              <a:rPr sz="2050" spc="5" dirty="0">
                <a:solidFill>
                  <a:srgbClr val="0000FF"/>
                </a:solidFill>
                <a:latin typeface="Tahoma"/>
                <a:cs typeface="Tahoma"/>
              </a:rPr>
              <a:t>)))))</a:t>
            </a:r>
            <a:r>
              <a:rPr sz="2050" spc="-75" dirty="0">
                <a:solidFill>
                  <a:srgbClr val="0000FF"/>
                </a:solidFill>
                <a:latin typeface="Tahoma"/>
                <a:cs typeface="Tahoma"/>
              </a:rPr>
              <a:t> </a:t>
            </a:r>
            <a:r>
              <a:rPr sz="2050" spc="114" dirty="0">
                <a:solidFill>
                  <a:srgbClr val="0000FF"/>
                </a:solidFill>
                <a:latin typeface="Tahoma"/>
                <a:cs typeface="Tahoma"/>
              </a:rPr>
              <a:t>=</a:t>
            </a:r>
            <a:r>
              <a:rPr sz="2050" spc="-75" dirty="0">
                <a:solidFill>
                  <a:srgbClr val="0000FF"/>
                </a:solidFill>
                <a:latin typeface="Tahoma"/>
                <a:cs typeface="Tahoma"/>
              </a:rPr>
              <a:t> </a:t>
            </a:r>
            <a:r>
              <a:rPr sz="2050" i="1" spc="320" dirty="0">
                <a:solidFill>
                  <a:srgbClr val="0000FF"/>
                </a:solidFill>
                <a:latin typeface="Meiryo"/>
                <a:cs typeface="Meiryo"/>
              </a:rPr>
              <a:t>f</a:t>
            </a:r>
            <a:r>
              <a:rPr sz="2050" i="1" spc="-484" dirty="0">
                <a:solidFill>
                  <a:srgbClr val="0000FF"/>
                </a:solidFill>
                <a:latin typeface="Meiryo"/>
                <a:cs typeface="Meiryo"/>
              </a:rPr>
              <a:t> </a:t>
            </a:r>
            <a:r>
              <a:rPr sz="2050" spc="25" dirty="0">
                <a:solidFill>
                  <a:srgbClr val="0000FF"/>
                </a:solidFill>
                <a:latin typeface="Tahoma"/>
                <a:cs typeface="Tahoma"/>
              </a:rPr>
              <a:t>(</a:t>
            </a:r>
            <a:r>
              <a:rPr sz="2050" i="1" spc="25" dirty="0">
                <a:solidFill>
                  <a:srgbClr val="0000FF"/>
                </a:solidFill>
                <a:latin typeface="Meiryo"/>
                <a:cs typeface="Meiryo"/>
              </a:rPr>
              <a:t>x</a:t>
            </a:r>
            <a:r>
              <a:rPr sz="2050" spc="25" dirty="0">
                <a:solidFill>
                  <a:srgbClr val="0000FF"/>
                </a:solidFill>
                <a:latin typeface="Tahoma"/>
                <a:cs typeface="Tahoma"/>
              </a:rPr>
              <a:t>)</a:t>
            </a:r>
            <a:endParaRPr sz="2050">
              <a:latin typeface="Tahoma"/>
              <a:cs typeface="Tahoma"/>
            </a:endParaRPr>
          </a:p>
          <a:p>
            <a:pPr marL="300990" indent="-288290">
              <a:lnSpc>
                <a:spcPct val="100000"/>
              </a:lnSpc>
              <a:spcBef>
                <a:spcPts val="770"/>
              </a:spcBef>
              <a:buSzPct val="105128"/>
              <a:buFont typeface="Lucida Sans Unicode"/>
              <a:buChar char="◦"/>
              <a:tabLst>
                <a:tab pos="301625" algn="l"/>
              </a:tabLst>
            </a:pPr>
            <a:r>
              <a:rPr sz="1950" spc="170" dirty="0">
                <a:solidFill>
                  <a:srgbClr val="231F20"/>
                </a:solidFill>
                <a:latin typeface="Arial"/>
                <a:cs typeface="Arial"/>
              </a:rPr>
              <a:t>Function, </a:t>
            </a:r>
            <a:r>
              <a:rPr sz="1950" spc="120" dirty="0">
                <a:solidFill>
                  <a:srgbClr val="231F20"/>
                </a:solidFill>
                <a:latin typeface="Arial"/>
                <a:cs typeface="Arial"/>
              </a:rPr>
              <a:t>record, </a:t>
            </a:r>
            <a:r>
              <a:rPr sz="1950" spc="130" dirty="0">
                <a:solidFill>
                  <a:srgbClr val="231F20"/>
                </a:solidFill>
                <a:latin typeface="Arial"/>
                <a:cs typeface="Arial"/>
              </a:rPr>
              <a:t>and </a:t>
            </a:r>
            <a:r>
              <a:rPr sz="1950" spc="155" dirty="0">
                <a:solidFill>
                  <a:srgbClr val="231F20"/>
                </a:solidFill>
                <a:latin typeface="Arial"/>
                <a:cs typeface="Arial"/>
              </a:rPr>
              <a:t>tuple</a:t>
            </a:r>
            <a:r>
              <a:rPr sz="1950" spc="710" dirty="0">
                <a:solidFill>
                  <a:srgbClr val="231F20"/>
                </a:solidFill>
                <a:latin typeface="Arial"/>
                <a:cs typeface="Arial"/>
              </a:rPr>
              <a:t> </a:t>
            </a:r>
            <a:r>
              <a:rPr sz="1950" spc="135" dirty="0">
                <a:solidFill>
                  <a:srgbClr val="FF0000"/>
                </a:solidFill>
                <a:latin typeface="Arial"/>
                <a:cs typeface="Arial"/>
              </a:rPr>
              <a:t>updates</a:t>
            </a:r>
            <a:endParaRPr sz="1950">
              <a:latin typeface="Arial"/>
              <a:cs typeface="Arial"/>
            </a:endParaRPr>
          </a:p>
          <a:p>
            <a:pPr marL="615950">
              <a:lnSpc>
                <a:spcPct val="100000"/>
              </a:lnSpc>
              <a:spcBef>
                <a:spcPts val="509"/>
              </a:spcBef>
              <a:tabLst>
                <a:tab pos="888365" algn="l"/>
              </a:tabLst>
            </a:pPr>
            <a:r>
              <a:rPr sz="2050" i="1" spc="320" dirty="0">
                <a:solidFill>
                  <a:srgbClr val="0000FF"/>
                </a:solidFill>
                <a:latin typeface="Meiryo"/>
                <a:cs typeface="Meiryo"/>
              </a:rPr>
              <a:t>f	</a:t>
            </a:r>
            <a:r>
              <a:rPr sz="1950" spc="310" dirty="0">
                <a:solidFill>
                  <a:srgbClr val="0000FF"/>
                </a:solidFill>
                <a:latin typeface="Arial"/>
                <a:cs typeface="Arial"/>
              </a:rPr>
              <a:t>with </a:t>
            </a:r>
            <a:r>
              <a:rPr sz="2050" spc="-35" dirty="0">
                <a:solidFill>
                  <a:srgbClr val="0000FF"/>
                </a:solidFill>
                <a:latin typeface="Tahoma"/>
                <a:cs typeface="Tahoma"/>
              </a:rPr>
              <a:t>[(</a:t>
            </a:r>
            <a:r>
              <a:rPr sz="2050" i="1" spc="-35" dirty="0">
                <a:solidFill>
                  <a:srgbClr val="0000FF"/>
                </a:solidFill>
                <a:latin typeface="Meiryo"/>
                <a:cs typeface="Meiryo"/>
              </a:rPr>
              <a:t>x</a:t>
            </a:r>
            <a:r>
              <a:rPr sz="2050" spc="-35" dirty="0">
                <a:solidFill>
                  <a:srgbClr val="0000FF"/>
                </a:solidFill>
                <a:latin typeface="Tahoma"/>
                <a:cs typeface="Tahoma"/>
              </a:rPr>
              <a:t>) </a:t>
            </a:r>
            <a:r>
              <a:rPr sz="2050" spc="-20" dirty="0">
                <a:solidFill>
                  <a:srgbClr val="0000FF"/>
                </a:solidFill>
                <a:latin typeface="Tahoma"/>
                <a:cs typeface="Tahoma"/>
              </a:rPr>
              <a:t>:= </a:t>
            </a:r>
            <a:r>
              <a:rPr sz="2050" i="1" spc="-50" dirty="0">
                <a:solidFill>
                  <a:srgbClr val="0000FF"/>
                </a:solidFill>
                <a:latin typeface="Meiryo"/>
                <a:cs typeface="Meiryo"/>
              </a:rPr>
              <a:t>y</a:t>
            </a:r>
            <a:r>
              <a:rPr sz="2050" spc="-50" dirty="0">
                <a:solidFill>
                  <a:srgbClr val="0000FF"/>
                </a:solidFill>
                <a:latin typeface="Tahoma"/>
                <a:cs typeface="Tahoma"/>
              </a:rPr>
              <a:t>](</a:t>
            </a:r>
            <a:r>
              <a:rPr sz="2050" i="1" spc="-50" dirty="0">
                <a:solidFill>
                  <a:srgbClr val="0000FF"/>
                </a:solidFill>
                <a:latin typeface="Meiryo"/>
                <a:cs typeface="Meiryo"/>
              </a:rPr>
              <a:t>z</a:t>
            </a:r>
            <a:r>
              <a:rPr sz="2050" spc="-50" dirty="0">
                <a:solidFill>
                  <a:srgbClr val="0000FF"/>
                </a:solidFill>
                <a:latin typeface="Tahoma"/>
                <a:cs typeface="Tahoma"/>
              </a:rPr>
              <a:t>)  </a:t>
            </a:r>
            <a:r>
              <a:rPr sz="2050" spc="114" dirty="0">
                <a:solidFill>
                  <a:srgbClr val="0000FF"/>
                </a:solidFill>
                <a:latin typeface="Tahoma"/>
                <a:cs typeface="Tahoma"/>
              </a:rPr>
              <a:t>= </a:t>
            </a:r>
            <a:r>
              <a:rPr sz="1950" spc="220" dirty="0">
                <a:solidFill>
                  <a:srgbClr val="0000FF"/>
                </a:solidFill>
                <a:latin typeface="Arial"/>
                <a:cs typeface="Arial"/>
              </a:rPr>
              <a:t>if </a:t>
            </a:r>
            <a:r>
              <a:rPr sz="2050" i="1" spc="-80" dirty="0">
                <a:solidFill>
                  <a:srgbClr val="0000FF"/>
                </a:solidFill>
                <a:latin typeface="Meiryo"/>
                <a:cs typeface="Meiryo"/>
              </a:rPr>
              <a:t>z </a:t>
            </a:r>
            <a:r>
              <a:rPr sz="2050" spc="114" dirty="0">
                <a:solidFill>
                  <a:srgbClr val="0000FF"/>
                </a:solidFill>
                <a:latin typeface="Tahoma"/>
                <a:cs typeface="Tahoma"/>
              </a:rPr>
              <a:t>= </a:t>
            </a:r>
            <a:r>
              <a:rPr sz="2050" i="1" spc="50" dirty="0">
                <a:solidFill>
                  <a:srgbClr val="0000FF"/>
                </a:solidFill>
                <a:latin typeface="Meiryo"/>
                <a:cs typeface="Meiryo"/>
              </a:rPr>
              <a:t>x </a:t>
            </a:r>
            <a:r>
              <a:rPr sz="1950" spc="280" dirty="0">
                <a:solidFill>
                  <a:srgbClr val="0000FF"/>
                </a:solidFill>
                <a:latin typeface="Arial"/>
                <a:cs typeface="Arial"/>
              </a:rPr>
              <a:t>then </a:t>
            </a:r>
            <a:r>
              <a:rPr sz="2050" i="1" spc="-145" dirty="0">
                <a:solidFill>
                  <a:srgbClr val="0000FF"/>
                </a:solidFill>
                <a:latin typeface="Meiryo"/>
                <a:cs typeface="Meiryo"/>
              </a:rPr>
              <a:t>y  </a:t>
            </a:r>
            <a:r>
              <a:rPr sz="1950" spc="130" dirty="0">
                <a:solidFill>
                  <a:srgbClr val="0000FF"/>
                </a:solidFill>
                <a:latin typeface="Arial"/>
                <a:cs typeface="Arial"/>
              </a:rPr>
              <a:t>else </a:t>
            </a:r>
            <a:r>
              <a:rPr sz="2050" i="1" spc="320" dirty="0">
                <a:solidFill>
                  <a:srgbClr val="0000FF"/>
                </a:solidFill>
                <a:latin typeface="Meiryo"/>
                <a:cs typeface="Meiryo"/>
              </a:rPr>
              <a:t>f</a:t>
            </a:r>
            <a:r>
              <a:rPr sz="2050" i="1" spc="-285" dirty="0">
                <a:solidFill>
                  <a:srgbClr val="0000FF"/>
                </a:solidFill>
                <a:latin typeface="Meiryo"/>
                <a:cs typeface="Meiryo"/>
              </a:rPr>
              <a:t> </a:t>
            </a:r>
            <a:r>
              <a:rPr sz="2050" spc="15" dirty="0">
                <a:solidFill>
                  <a:srgbClr val="0000FF"/>
                </a:solidFill>
                <a:latin typeface="Tahoma"/>
                <a:cs typeface="Tahoma"/>
              </a:rPr>
              <a:t>(</a:t>
            </a:r>
            <a:r>
              <a:rPr sz="2050" i="1" spc="15" dirty="0">
                <a:solidFill>
                  <a:srgbClr val="0000FF"/>
                </a:solidFill>
                <a:latin typeface="Meiryo"/>
                <a:cs typeface="Meiryo"/>
              </a:rPr>
              <a:t>z</a:t>
            </a:r>
            <a:r>
              <a:rPr sz="2050" spc="15" dirty="0">
                <a:solidFill>
                  <a:srgbClr val="0000FF"/>
                </a:solidFill>
                <a:latin typeface="Tahoma"/>
                <a:cs typeface="Tahoma"/>
              </a:rPr>
              <a:t>)</a:t>
            </a:r>
            <a:endParaRPr sz="2050">
              <a:latin typeface="Tahoma"/>
              <a:cs typeface="Tahoma"/>
            </a:endParaRPr>
          </a:p>
          <a:p>
            <a:pPr marL="300990" indent="-288290">
              <a:lnSpc>
                <a:spcPct val="100000"/>
              </a:lnSpc>
              <a:spcBef>
                <a:spcPts val="770"/>
              </a:spcBef>
              <a:buClr>
                <a:srgbClr val="231F20"/>
              </a:buClr>
              <a:buSzPct val="105128"/>
              <a:buFont typeface="Lucida Sans Unicode"/>
              <a:buChar char="◦"/>
              <a:tabLst>
                <a:tab pos="301625" algn="l"/>
              </a:tabLst>
            </a:pPr>
            <a:r>
              <a:rPr sz="1950" spc="130" dirty="0">
                <a:solidFill>
                  <a:srgbClr val="FF0000"/>
                </a:solidFill>
                <a:latin typeface="Arial"/>
                <a:cs typeface="Arial"/>
              </a:rPr>
              <a:t>Linear </a:t>
            </a:r>
            <a:r>
              <a:rPr sz="1950" spc="170" dirty="0">
                <a:solidFill>
                  <a:srgbClr val="FF0000"/>
                </a:solidFill>
                <a:latin typeface="Arial"/>
                <a:cs typeface="Arial"/>
              </a:rPr>
              <a:t>arithmetic </a:t>
            </a:r>
            <a:r>
              <a:rPr sz="1950" spc="155" dirty="0">
                <a:solidFill>
                  <a:srgbClr val="231F20"/>
                </a:solidFill>
                <a:latin typeface="Arial"/>
                <a:cs typeface="Arial"/>
              </a:rPr>
              <a:t>(over </a:t>
            </a:r>
            <a:r>
              <a:rPr sz="1950" spc="114" dirty="0">
                <a:solidFill>
                  <a:srgbClr val="231F20"/>
                </a:solidFill>
                <a:latin typeface="Arial"/>
                <a:cs typeface="Arial"/>
              </a:rPr>
              <a:t>integers </a:t>
            </a:r>
            <a:r>
              <a:rPr sz="1950" spc="130" dirty="0">
                <a:solidFill>
                  <a:srgbClr val="231F20"/>
                </a:solidFill>
                <a:latin typeface="Arial"/>
                <a:cs typeface="Arial"/>
              </a:rPr>
              <a:t>and </a:t>
            </a:r>
            <a:r>
              <a:rPr sz="1950" spc="165" dirty="0">
                <a:solidFill>
                  <a:srgbClr val="231F20"/>
                </a:solidFill>
                <a:latin typeface="Arial"/>
                <a:cs typeface="Arial"/>
              </a:rPr>
              <a:t> </a:t>
            </a:r>
            <a:r>
              <a:rPr sz="1950" spc="150" dirty="0">
                <a:solidFill>
                  <a:srgbClr val="231F20"/>
                </a:solidFill>
                <a:latin typeface="Arial"/>
                <a:cs typeface="Arial"/>
              </a:rPr>
              <a:t>rationals)</a:t>
            </a:r>
            <a:endParaRPr sz="1950">
              <a:latin typeface="Arial"/>
              <a:cs typeface="Arial"/>
            </a:endParaRPr>
          </a:p>
          <a:p>
            <a:pPr marL="615950">
              <a:lnSpc>
                <a:spcPct val="100000"/>
              </a:lnSpc>
              <a:spcBef>
                <a:spcPts val="484"/>
              </a:spcBef>
            </a:pPr>
            <a:r>
              <a:rPr sz="2050" i="1" spc="50" dirty="0">
                <a:solidFill>
                  <a:srgbClr val="0000FF"/>
                </a:solidFill>
                <a:latin typeface="Meiryo"/>
                <a:cs typeface="Meiryo"/>
              </a:rPr>
              <a:t>x</a:t>
            </a:r>
            <a:r>
              <a:rPr sz="2050" i="1" spc="-130" dirty="0">
                <a:solidFill>
                  <a:srgbClr val="0000FF"/>
                </a:solidFill>
                <a:latin typeface="Meiryo"/>
                <a:cs typeface="Meiryo"/>
              </a:rPr>
              <a:t> </a:t>
            </a:r>
            <a:r>
              <a:rPr sz="2050" spc="-25" dirty="0">
                <a:solidFill>
                  <a:srgbClr val="0000FF"/>
                </a:solidFill>
                <a:latin typeface="Lucida Sans Unicode"/>
                <a:cs typeface="Lucida Sans Unicode"/>
              </a:rPr>
              <a:t>≤</a:t>
            </a:r>
            <a:r>
              <a:rPr sz="2050" spc="-80" dirty="0">
                <a:solidFill>
                  <a:srgbClr val="0000FF"/>
                </a:solidFill>
                <a:latin typeface="Lucida Sans Unicode"/>
                <a:cs typeface="Lucida Sans Unicode"/>
              </a:rPr>
              <a:t> </a:t>
            </a:r>
            <a:r>
              <a:rPr sz="2050" i="1" spc="-145" dirty="0">
                <a:solidFill>
                  <a:srgbClr val="0000FF"/>
                </a:solidFill>
                <a:latin typeface="Meiryo"/>
                <a:cs typeface="Meiryo"/>
              </a:rPr>
              <a:t>y</a:t>
            </a:r>
            <a:r>
              <a:rPr sz="2050" i="1" spc="-170" dirty="0">
                <a:solidFill>
                  <a:srgbClr val="0000FF"/>
                </a:solidFill>
                <a:latin typeface="Meiryo"/>
                <a:cs typeface="Meiryo"/>
              </a:rPr>
              <a:t> </a:t>
            </a:r>
            <a:r>
              <a:rPr sz="2050" spc="-254"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i="1" spc="50" dirty="0">
                <a:solidFill>
                  <a:srgbClr val="0000FF"/>
                </a:solidFill>
                <a:latin typeface="Meiryo"/>
                <a:cs typeface="Meiryo"/>
              </a:rPr>
              <a:t>x</a:t>
            </a:r>
            <a:r>
              <a:rPr sz="2050" i="1" spc="-130" dirty="0">
                <a:solidFill>
                  <a:srgbClr val="0000FF"/>
                </a:solidFill>
                <a:latin typeface="Meiryo"/>
                <a:cs typeface="Meiryo"/>
              </a:rPr>
              <a:t> </a:t>
            </a:r>
            <a:r>
              <a:rPr sz="2050" spc="-25" dirty="0">
                <a:solidFill>
                  <a:srgbClr val="0000FF"/>
                </a:solidFill>
                <a:latin typeface="Lucida Sans Unicode"/>
                <a:cs typeface="Lucida Sans Unicode"/>
              </a:rPr>
              <a:t>≤</a:t>
            </a:r>
            <a:r>
              <a:rPr sz="2050" spc="-85" dirty="0">
                <a:solidFill>
                  <a:srgbClr val="0000FF"/>
                </a:solidFill>
                <a:latin typeface="Lucida Sans Unicode"/>
                <a:cs typeface="Lucida Sans Unicode"/>
              </a:rPr>
              <a:t> </a:t>
            </a:r>
            <a:r>
              <a:rPr sz="2050" spc="-90" dirty="0">
                <a:solidFill>
                  <a:srgbClr val="0000FF"/>
                </a:solidFill>
                <a:latin typeface="Tahoma"/>
                <a:cs typeface="Tahoma"/>
              </a:rPr>
              <a:t>1</a:t>
            </a:r>
            <a:r>
              <a:rPr sz="2050" spc="-190" dirty="0">
                <a:solidFill>
                  <a:srgbClr val="0000FF"/>
                </a:solidFill>
                <a:latin typeface="Tahoma"/>
                <a:cs typeface="Tahoma"/>
              </a:rPr>
              <a:t> </a:t>
            </a:r>
            <a:r>
              <a:rPr sz="2050" spc="-25"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i="1" spc="-145" dirty="0">
                <a:solidFill>
                  <a:srgbClr val="0000FF"/>
                </a:solidFill>
                <a:latin typeface="Meiryo"/>
                <a:cs typeface="Meiryo"/>
              </a:rPr>
              <a:t>y</a:t>
            </a:r>
            <a:r>
              <a:rPr sz="2050" i="1" spc="-170" dirty="0">
                <a:solidFill>
                  <a:srgbClr val="0000FF"/>
                </a:solidFill>
                <a:latin typeface="Meiryo"/>
                <a:cs typeface="Meiryo"/>
              </a:rPr>
              <a:t> </a:t>
            </a:r>
            <a:r>
              <a:rPr sz="2050" spc="-254"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spc="-90" dirty="0">
                <a:solidFill>
                  <a:srgbClr val="0000FF"/>
                </a:solidFill>
                <a:latin typeface="Tahoma"/>
                <a:cs typeface="Tahoma"/>
              </a:rPr>
              <a:t>2</a:t>
            </a:r>
            <a:r>
              <a:rPr sz="2050" spc="-190" dirty="0">
                <a:solidFill>
                  <a:srgbClr val="0000FF"/>
                </a:solidFill>
                <a:latin typeface="Tahoma"/>
                <a:cs typeface="Tahoma"/>
              </a:rPr>
              <a:t> </a:t>
            </a:r>
            <a:r>
              <a:rPr sz="2050" spc="-25"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i="1" spc="50" dirty="0">
                <a:solidFill>
                  <a:srgbClr val="0000FF"/>
                </a:solidFill>
                <a:latin typeface="Meiryo"/>
                <a:cs typeface="Meiryo"/>
              </a:rPr>
              <a:t>x</a:t>
            </a:r>
            <a:r>
              <a:rPr sz="2050" i="1" spc="-130" dirty="0">
                <a:solidFill>
                  <a:srgbClr val="0000FF"/>
                </a:solidFill>
                <a:latin typeface="Meiryo"/>
                <a:cs typeface="Meiryo"/>
              </a:rPr>
              <a:t> </a:t>
            </a:r>
            <a:r>
              <a:rPr sz="2050" spc="-25" dirty="0">
                <a:solidFill>
                  <a:srgbClr val="0000FF"/>
                </a:solidFill>
                <a:latin typeface="Lucida Sans Unicode"/>
                <a:cs typeface="Lucida Sans Unicode"/>
              </a:rPr>
              <a:t>≥</a:t>
            </a:r>
            <a:r>
              <a:rPr sz="2050" spc="-80" dirty="0">
                <a:solidFill>
                  <a:srgbClr val="0000FF"/>
                </a:solidFill>
                <a:latin typeface="Lucida Sans Unicode"/>
                <a:cs typeface="Lucida Sans Unicode"/>
              </a:rPr>
              <a:t> </a:t>
            </a:r>
            <a:r>
              <a:rPr sz="2050" spc="-90" dirty="0">
                <a:solidFill>
                  <a:srgbClr val="0000FF"/>
                </a:solidFill>
                <a:latin typeface="Tahoma"/>
                <a:cs typeface="Tahoma"/>
              </a:rPr>
              <a:t>1</a:t>
            </a:r>
            <a:r>
              <a:rPr sz="2050" spc="-75" dirty="0">
                <a:solidFill>
                  <a:srgbClr val="0000FF"/>
                </a:solidFill>
                <a:latin typeface="Tahoma"/>
                <a:cs typeface="Tahoma"/>
              </a:rPr>
              <a:t> </a:t>
            </a:r>
            <a:r>
              <a:rPr sz="2050" spc="-25" dirty="0">
                <a:solidFill>
                  <a:srgbClr val="0000FF"/>
                </a:solidFill>
                <a:latin typeface="Lucida Sans Unicode"/>
                <a:cs typeface="Lucida Sans Unicode"/>
              </a:rPr>
              <a:t>⊃</a:t>
            </a:r>
            <a:r>
              <a:rPr sz="2050" spc="-80" dirty="0">
                <a:solidFill>
                  <a:srgbClr val="0000FF"/>
                </a:solidFill>
                <a:latin typeface="Lucida Sans Unicode"/>
                <a:cs typeface="Lucida Sans Unicode"/>
              </a:rPr>
              <a:t> </a:t>
            </a:r>
            <a:r>
              <a:rPr sz="2050" spc="-90" dirty="0">
                <a:solidFill>
                  <a:srgbClr val="0000FF"/>
                </a:solidFill>
                <a:latin typeface="Tahoma"/>
                <a:cs typeface="Tahoma"/>
              </a:rPr>
              <a:t>4</a:t>
            </a:r>
            <a:r>
              <a:rPr sz="2050" spc="-190" dirty="0">
                <a:solidFill>
                  <a:srgbClr val="0000FF"/>
                </a:solidFill>
                <a:latin typeface="Tahoma"/>
                <a:cs typeface="Tahoma"/>
              </a:rPr>
              <a:t> </a:t>
            </a:r>
            <a:r>
              <a:rPr sz="2050" spc="-25"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i="1" spc="50" dirty="0">
                <a:solidFill>
                  <a:srgbClr val="0000FF"/>
                </a:solidFill>
                <a:latin typeface="Meiryo"/>
                <a:cs typeface="Meiryo"/>
              </a:rPr>
              <a:t>x</a:t>
            </a:r>
            <a:r>
              <a:rPr sz="2050" i="1" spc="-130" dirty="0">
                <a:solidFill>
                  <a:srgbClr val="0000FF"/>
                </a:solidFill>
                <a:latin typeface="Meiryo"/>
                <a:cs typeface="Meiryo"/>
              </a:rPr>
              <a:t> </a:t>
            </a:r>
            <a:r>
              <a:rPr sz="2050" spc="114" dirty="0">
                <a:solidFill>
                  <a:srgbClr val="0000FF"/>
                </a:solidFill>
                <a:latin typeface="Tahoma"/>
                <a:cs typeface="Tahoma"/>
              </a:rPr>
              <a:t>=</a:t>
            </a:r>
            <a:r>
              <a:rPr sz="2050" spc="-75" dirty="0">
                <a:solidFill>
                  <a:srgbClr val="0000FF"/>
                </a:solidFill>
                <a:latin typeface="Tahoma"/>
                <a:cs typeface="Tahoma"/>
              </a:rPr>
              <a:t> </a:t>
            </a:r>
            <a:r>
              <a:rPr sz="2050" spc="-90" dirty="0">
                <a:solidFill>
                  <a:srgbClr val="0000FF"/>
                </a:solidFill>
                <a:latin typeface="Tahoma"/>
                <a:cs typeface="Tahoma"/>
              </a:rPr>
              <a:t>2</a:t>
            </a:r>
            <a:endParaRPr sz="2050">
              <a:latin typeface="Tahoma"/>
              <a:cs typeface="Tahoma"/>
            </a:endParaRPr>
          </a:p>
          <a:p>
            <a:pPr marL="300990" indent="-288290">
              <a:lnSpc>
                <a:spcPct val="100000"/>
              </a:lnSpc>
              <a:spcBef>
                <a:spcPts val="770"/>
              </a:spcBef>
              <a:buSzPct val="105128"/>
              <a:buFont typeface="Lucida Sans Unicode"/>
              <a:buChar char="◦"/>
              <a:tabLst>
                <a:tab pos="301625" algn="l"/>
                <a:tab pos="2921635" algn="l"/>
              </a:tabLst>
            </a:pPr>
            <a:r>
              <a:rPr sz="1950" spc="105" dirty="0">
                <a:solidFill>
                  <a:srgbClr val="231F20"/>
                </a:solidFill>
                <a:latin typeface="Arial"/>
                <a:cs typeface="Arial"/>
              </a:rPr>
              <a:t>Special </a:t>
            </a:r>
            <a:r>
              <a:rPr sz="1950" spc="220" dirty="0">
                <a:solidFill>
                  <a:srgbClr val="231F20"/>
                </a:solidFill>
                <a:latin typeface="Arial"/>
                <a:cs typeface="Arial"/>
              </a:rPr>
              <a:t> </a:t>
            </a:r>
            <a:r>
              <a:rPr sz="1950" spc="204" dirty="0">
                <a:solidFill>
                  <a:srgbClr val="231F20"/>
                </a:solidFill>
                <a:latin typeface="Arial"/>
                <a:cs typeface="Arial"/>
              </a:rPr>
              <a:t>(fast)</a:t>
            </a:r>
            <a:r>
              <a:rPr sz="1950" spc="869" dirty="0">
                <a:solidFill>
                  <a:srgbClr val="231F20"/>
                </a:solidFill>
                <a:latin typeface="Arial"/>
                <a:cs typeface="Arial"/>
              </a:rPr>
              <a:t> </a:t>
            </a:r>
            <a:r>
              <a:rPr sz="1950" spc="65" dirty="0">
                <a:solidFill>
                  <a:srgbClr val="231F20"/>
                </a:solidFill>
                <a:latin typeface="Arial"/>
                <a:cs typeface="Arial"/>
              </a:rPr>
              <a:t>case:	</a:t>
            </a:r>
            <a:r>
              <a:rPr sz="1950" spc="110" dirty="0">
                <a:solidFill>
                  <a:srgbClr val="FF0000"/>
                </a:solidFill>
                <a:latin typeface="Arial"/>
                <a:cs typeface="Arial"/>
              </a:rPr>
              <a:t>difference</a:t>
            </a:r>
            <a:r>
              <a:rPr sz="1950" spc="220" dirty="0">
                <a:solidFill>
                  <a:srgbClr val="FF0000"/>
                </a:solidFill>
                <a:latin typeface="Arial"/>
                <a:cs typeface="Arial"/>
              </a:rPr>
              <a:t> </a:t>
            </a:r>
            <a:r>
              <a:rPr sz="1950" spc="130" dirty="0">
                <a:solidFill>
                  <a:srgbClr val="FF0000"/>
                </a:solidFill>
                <a:latin typeface="Arial"/>
                <a:cs typeface="Arial"/>
              </a:rPr>
              <a:t>logic</a:t>
            </a:r>
            <a:endParaRPr sz="1950">
              <a:latin typeface="Arial"/>
              <a:cs typeface="Arial"/>
            </a:endParaRPr>
          </a:p>
          <a:p>
            <a:pPr marL="615950">
              <a:lnSpc>
                <a:spcPct val="100000"/>
              </a:lnSpc>
              <a:spcBef>
                <a:spcPts val="484"/>
              </a:spcBef>
            </a:pPr>
            <a:r>
              <a:rPr sz="2050" i="1" spc="50" dirty="0">
                <a:solidFill>
                  <a:srgbClr val="0000FF"/>
                </a:solidFill>
                <a:latin typeface="Meiryo"/>
                <a:cs typeface="Meiryo"/>
              </a:rPr>
              <a:t>x</a:t>
            </a:r>
            <a:r>
              <a:rPr sz="2050" i="1" spc="-490" dirty="0">
                <a:solidFill>
                  <a:srgbClr val="0000FF"/>
                </a:solidFill>
                <a:latin typeface="Meiryo"/>
                <a:cs typeface="Meiryo"/>
              </a:rPr>
              <a:t> </a:t>
            </a:r>
            <a:r>
              <a:rPr sz="2050" spc="-25" dirty="0">
                <a:solidFill>
                  <a:srgbClr val="0000FF"/>
                </a:solidFill>
                <a:latin typeface="Lucida Sans Unicode"/>
                <a:cs typeface="Lucida Sans Unicode"/>
              </a:rPr>
              <a:t>− </a:t>
            </a:r>
            <a:r>
              <a:rPr sz="2050" i="1" spc="-145" dirty="0">
                <a:solidFill>
                  <a:srgbClr val="0000FF"/>
                </a:solidFill>
                <a:latin typeface="Meiryo"/>
                <a:cs typeface="Meiryo"/>
              </a:rPr>
              <a:t>y </a:t>
            </a:r>
            <a:r>
              <a:rPr sz="2050" i="1" spc="-40" dirty="0">
                <a:solidFill>
                  <a:srgbClr val="0000FF"/>
                </a:solidFill>
                <a:latin typeface="Meiryo"/>
                <a:cs typeface="Meiryo"/>
              </a:rPr>
              <a:t>&lt; </a:t>
            </a:r>
            <a:r>
              <a:rPr sz="2050" i="1" spc="-145" dirty="0">
                <a:solidFill>
                  <a:srgbClr val="0000FF"/>
                </a:solidFill>
                <a:latin typeface="Meiryo"/>
                <a:cs typeface="Meiryo"/>
              </a:rPr>
              <a:t>c</a:t>
            </a:r>
            <a:endParaRPr sz="2050">
              <a:latin typeface="Meiryo"/>
              <a:cs typeface="Meiryo"/>
            </a:endParaRPr>
          </a:p>
        </p:txBody>
      </p:sp>
      <p:sp>
        <p:nvSpPr>
          <p:cNvPr id="5" name="object 5"/>
          <p:cNvSpPr txBox="1"/>
          <p:nvPr/>
        </p:nvSpPr>
        <p:spPr>
          <a:xfrm>
            <a:off x="896440" y="4750117"/>
            <a:ext cx="8357234" cy="1770380"/>
          </a:xfrm>
          <a:prstGeom prst="rect">
            <a:avLst/>
          </a:prstGeom>
        </p:spPr>
        <p:txBody>
          <a:bodyPr vert="horz" wrap="square" lIns="0" tIns="0" rIns="0" bIns="0" rtlCol="0">
            <a:spAutoFit/>
          </a:bodyPr>
          <a:lstStyle/>
          <a:p>
            <a:pPr marL="300990" indent="-288290">
              <a:lnSpc>
                <a:spcPct val="100000"/>
              </a:lnSpc>
              <a:buClr>
                <a:srgbClr val="231F20"/>
              </a:buClr>
              <a:buSzPct val="105128"/>
              <a:buFont typeface="Lucida Sans Unicode"/>
              <a:buChar char="•"/>
              <a:tabLst>
                <a:tab pos="301625" algn="l"/>
              </a:tabLst>
            </a:pPr>
            <a:r>
              <a:rPr sz="1950" spc="155" dirty="0">
                <a:solidFill>
                  <a:srgbClr val="FF0000"/>
                </a:solidFill>
                <a:latin typeface="Arial"/>
                <a:cs typeface="Arial"/>
              </a:rPr>
              <a:t>Combinations </a:t>
            </a:r>
            <a:r>
              <a:rPr sz="1950" spc="185" dirty="0">
                <a:solidFill>
                  <a:srgbClr val="231F20"/>
                </a:solidFill>
                <a:latin typeface="Arial"/>
                <a:cs typeface="Arial"/>
              </a:rPr>
              <a:t>of </a:t>
            </a:r>
            <a:r>
              <a:rPr sz="1950" spc="100" dirty="0">
                <a:solidFill>
                  <a:srgbClr val="231F20"/>
                </a:solidFill>
                <a:latin typeface="Arial"/>
                <a:cs typeface="Arial"/>
              </a:rPr>
              <a:t>decidable </a:t>
            </a:r>
            <a:r>
              <a:rPr sz="1950" spc="110" dirty="0">
                <a:solidFill>
                  <a:srgbClr val="231F20"/>
                </a:solidFill>
                <a:latin typeface="Arial"/>
                <a:cs typeface="Arial"/>
              </a:rPr>
              <a:t>theories </a:t>
            </a:r>
            <a:r>
              <a:rPr sz="1950" spc="65" dirty="0">
                <a:solidFill>
                  <a:srgbClr val="231F20"/>
                </a:solidFill>
                <a:latin typeface="Arial"/>
                <a:cs typeface="Arial"/>
              </a:rPr>
              <a:t>are </a:t>
            </a:r>
            <a:r>
              <a:rPr sz="1950" spc="145" dirty="0">
                <a:solidFill>
                  <a:srgbClr val="231F20"/>
                </a:solidFill>
                <a:latin typeface="Arial"/>
                <a:cs typeface="Arial"/>
              </a:rPr>
              <a:t>(usually) </a:t>
            </a:r>
            <a:r>
              <a:rPr sz="1950" spc="440" dirty="0">
                <a:solidFill>
                  <a:srgbClr val="231F20"/>
                </a:solidFill>
                <a:latin typeface="Arial"/>
                <a:cs typeface="Arial"/>
              </a:rPr>
              <a:t> </a:t>
            </a:r>
            <a:r>
              <a:rPr sz="1950" spc="100" dirty="0">
                <a:solidFill>
                  <a:srgbClr val="231F20"/>
                </a:solidFill>
                <a:latin typeface="Arial"/>
                <a:cs typeface="Arial"/>
              </a:rPr>
              <a:t>decidable</a:t>
            </a:r>
            <a:endParaRPr sz="1950">
              <a:latin typeface="Arial"/>
              <a:cs typeface="Arial"/>
            </a:endParaRPr>
          </a:p>
          <a:p>
            <a:pPr marL="300990">
              <a:lnSpc>
                <a:spcPct val="100000"/>
              </a:lnSpc>
              <a:spcBef>
                <a:spcPts val="1520"/>
              </a:spcBef>
            </a:pPr>
            <a:r>
              <a:rPr sz="2050" i="1" spc="-165" dirty="0">
                <a:solidFill>
                  <a:srgbClr val="231F20"/>
                </a:solidFill>
                <a:latin typeface="Meiryo"/>
                <a:cs typeface="Meiryo"/>
              </a:rPr>
              <a:t>e.g.,</a:t>
            </a:r>
            <a:r>
              <a:rPr sz="2050" i="1" spc="-360" dirty="0">
                <a:solidFill>
                  <a:srgbClr val="231F20"/>
                </a:solidFill>
                <a:latin typeface="Meiryo"/>
                <a:cs typeface="Meiryo"/>
              </a:rPr>
              <a:t> </a:t>
            </a:r>
            <a:r>
              <a:rPr sz="2050" spc="-90" dirty="0">
                <a:solidFill>
                  <a:srgbClr val="0000FF"/>
                </a:solidFill>
                <a:latin typeface="Tahoma"/>
                <a:cs typeface="Tahoma"/>
              </a:rPr>
              <a:t>2</a:t>
            </a:r>
            <a:r>
              <a:rPr sz="2050" spc="-190" dirty="0">
                <a:solidFill>
                  <a:srgbClr val="0000FF"/>
                </a:solidFill>
                <a:latin typeface="Tahoma"/>
                <a:cs typeface="Tahoma"/>
              </a:rPr>
              <a:t> </a:t>
            </a:r>
            <a:r>
              <a:rPr sz="2050" spc="-25"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i="1" spc="-5" dirty="0">
                <a:solidFill>
                  <a:srgbClr val="0000FF"/>
                </a:solidFill>
                <a:latin typeface="Meiryo"/>
                <a:cs typeface="Meiryo"/>
              </a:rPr>
              <a:t>car</a:t>
            </a:r>
            <a:r>
              <a:rPr sz="2050" spc="-5" dirty="0">
                <a:solidFill>
                  <a:srgbClr val="0000FF"/>
                </a:solidFill>
                <a:latin typeface="Tahoma"/>
                <a:cs typeface="Tahoma"/>
              </a:rPr>
              <a:t>(</a:t>
            </a:r>
            <a:r>
              <a:rPr sz="2050" i="1" spc="-5" dirty="0">
                <a:solidFill>
                  <a:srgbClr val="0000FF"/>
                </a:solidFill>
                <a:latin typeface="Meiryo"/>
                <a:cs typeface="Meiryo"/>
              </a:rPr>
              <a:t>x</a:t>
            </a:r>
            <a:r>
              <a:rPr sz="2050" spc="-5" dirty="0">
                <a:solidFill>
                  <a:srgbClr val="0000FF"/>
                </a:solidFill>
                <a:latin typeface="Tahoma"/>
                <a:cs typeface="Tahoma"/>
              </a:rPr>
              <a:t>)</a:t>
            </a:r>
            <a:r>
              <a:rPr sz="2050" spc="-190" dirty="0">
                <a:solidFill>
                  <a:srgbClr val="0000FF"/>
                </a:solidFill>
                <a:latin typeface="Tahoma"/>
                <a:cs typeface="Tahoma"/>
              </a:rPr>
              <a:t> </a:t>
            </a:r>
            <a:r>
              <a:rPr sz="2050" spc="-25"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spc="-90" dirty="0">
                <a:solidFill>
                  <a:srgbClr val="0000FF"/>
                </a:solidFill>
                <a:latin typeface="Tahoma"/>
                <a:cs typeface="Tahoma"/>
              </a:rPr>
              <a:t>3</a:t>
            </a:r>
            <a:r>
              <a:rPr sz="2050" spc="-190" dirty="0">
                <a:solidFill>
                  <a:srgbClr val="0000FF"/>
                </a:solidFill>
                <a:latin typeface="Tahoma"/>
                <a:cs typeface="Tahoma"/>
              </a:rPr>
              <a:t> </a:t>
            </a:r>
            <a:r>
              <a:rPr sz="2050" spc="-25"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i="1" spc="-15" dirty="0">
                <a:solidFill>
                  <a:srgbClr val="0000FF"/>
                </a:solidFill>
                <a:latin typeface="Meiryo"/>
                <a:cs typeface="Meiryo"/>
              </a:rPr>
              <a:t>cdr</a:t>
            </a:r>
            <a:r>
              <a:rPr sz="2050" spc="-15" dirty="0">
                <a:solidFill>
                  <a:srgbClr val="0000FF"/>
                </a:solidFill>
                <a:latin typeface="Tahoma"/>
                <a:cs typeface="Tahoma"/>
              </a:rPr>
              <a:t>(</a:t>
            </a:r>
            <a:r>
              <a:rPr sz="2050" i="1" spc="-15" dirty="0">
                <a:solidFill>
                  <a:srgbClr val="0000FF"/>
                </a:solidFill>
                <a:latin typeface="Meiryo"/>
                <a:cs typeface="Meiryo"/>
              </a:rPr>
              <a:t>x</a:t>
            </a:r>
            <a:r>
              <a:rPr sz="2050" spc="-15" dirty="0">
                <a:solidFill>
                  <a:srgbClr val="0000FF"/>
                </a:solidFill>
                <a:latin typeface="Tahoma"/>
                <a:cs typeface="Tahoma"/>
              </a:rPr>
              <a:t>)</a:t>
            </a:r>
            <a:r>
              <a:rPr sz="2050" spc="-75" dirty="0">
                <a:solidFill>
                  <a:srgbClr val="0000FF"/>
                </a:solidFill>
                <a:latin typeface="Tahoma"/>
                <a:cs typeface="Tahoma"/>
              </a:rPr>
              <a:t> </a:t>
            </a:r>
            <a:r>
              <a:rPr sz="2050" spc="114" dirty="0">
                <a:solidFill>
                  <a:srgbClr val="0000FF"/>
                </a:solidFill>
                <a:latin typeface="Tahoma"/>
                <a:cs typeface="Tahoma"/>
              </a:rPr>
              <a:t>=</a:t>
            </a:r>
            <a:r>
              <a:rPr sz="2050" spc="-75" dirty="0">
                <a:solidFill>
                  <a:srgbClr val="0000FF"/>
                </a:solidFill>
                <a:latin typeface="Tahoma"/>
                <a:cs typeface="Tahoma"/>
              </a:rPr>
              <a:t> </a:t>
            </a:r>
            <a:r>
              <a:rPr sz="2050" i="1" spc="320" dirty="0">
                <a:solidFill>
                  <a:srgbClr val="0000FF"/>
                </a:solidFill>
                <a:latin typeface="Meiryo"/>
                <a:cs typeface="Meiryo"/>
              </a:rPr>
              <a:t>f</a:t>
            </a:r>
            <a:r>
              <a:rPr sz="2050" i="1" spc="-484" dirty="0">
                <a:solidFill>
                  <a:srgbClr val="0000FF"/>
                </a:solidFill>
                <a:latin typeface="Meiryo"/>
                <a:cs typeface="Meiryo"/>
              </a:rPr>
              <a:t> </a:t>
            </a:r>
            <a:r>
              <a:rPr sz="2050" spc="-10" dirty="0">
                <a:solidFill>
                  <a:srgbClr val="0000FF"/>
                </a:solidFill>
                <a:latin typeface="Tahoma"/>
                <a:cs typeface="Tahoma"/>
              </a:rPr>
              <a:t>(</a:t>
            </a:r>
            <a:r>
              <a:rPr sz="2050" i="1" spc="-10" dirty="0">
                <a:solidFill>
                  <a:srgbClr val="0000FF"/>
                </a:solidFill>
                <a:latin typeface="Meiryo"/>
                <a:cs typeface="Meiryo"/>
              </a:rPr>
              <a:t>cdr</a:t>
            </a:r>
            <a:r>
              <a:rPr sz="2050" spc="-10" dirty="0">
                <a:solidFill>
                  <a:srgbClr val="0000FF"/>
                </a:solidFill>
                <a:latin typeface="Tahoma"/>
                <a:cs typeface="Tahoma"/>
              </a:rPr>
              <a:t>(</a:t>
            </a:r>
            <a:r>
              <a:rPr sz="2050" i="1" spc="-10" dirty="0">
                <a:solidFill>
                  <a:srgbClr val="0000FF"/>
                </a:solidFill>
                <a:latin typeface="Meiryo"/>
                <a:cs typeface="Meiryo"/>
              </a:rPr>
              <a:t>x</a:t>
            </a:r>
            <a:r>
              <a:rPr sz="2050" spc="-10" dirty="0">
                <a:solidFill>
                  <a:srgbClr val="0000FF"/>
                </a:solidFill>
                <a:latin typeface="Tahoma"/>
                <a:cs typeface="Tahoma"/>
              </a:rPr>
              <a:t>))</a:t>
            </a:r>
            <a:r>
              <a:rPr sz="2050" spc="-75" dirty="0">
                <a:solidFill>
                  <a:srgbClr val="0000FF"/>
                </a:solidFill>
                <a:latin typeface="Tahoma"/>
                <a:cs typeface="Tahoma"/>
              </a:rPr>
              <a:t> </a:t>
            </a:r>
            <a:r>
              <a:rPr sz="2050" spc="-25" dirty="0">
                <a:solidFill>
                  <a:srgbClr val="0000FF"/>
                </a:solidFill>
                <a:latin typeface="Lucida Sans Unicode"/>
                <a:cs typeface="Lucida Sans Unicode"/>
              </a:rPr>
              <a:t>⊃</a:t>
            </a:r>
            <a:endParaRPr sz="2050">
              <a:latin typeface="Lucida Sans Unicode"/>
              <a:cs typeface="Lucida Sans Unicode"/>
            </a:endParaRPr>
          </a:p>
          <a:p>
            <a:pPr marL="1082675">
              <a:lnSpc>
                <a:spcPct val="100000"/>
              </a:lnSpc>
              <a:spcBef>
                <a:spcPts val="1085"/>
              </a:spcBef>
            </a:pPr>
            <a:r>
              <a:rPr sz="2050" i="1" spc="320" dirty="0">
                <a:solidFill>
                  <a:srgbClr val="0000FF"/>
                </a:solidFill>
                <a:latin typeface="Meiryo"/>
                <a:cs typeface="Meiryo"/>
              </a:rPr>
              <a:t>f</a:t>
            </a:r>
            <a:r>
              <a:rPr sz="2050" i="1" spc="-480" dirty="0">
                <a:solidFill>
                  <a:srgbClr val="0000FF"/>
                </a:solidFill>
                <a:latin typeface="Meiryo"/>
                <a:cs typeface="Meiryo"/>
              </a:rPr>
              <a:t> </a:t>
            </a:r>
            <a:r>
              <a:rPr sz="2050" spc="-70" dirty="0">
                <a:solidFill>
                  <a:srgbClr val="0000FF"/>
                </a:solidFill>
                <a:latin typeface="Tahoma"/>
                <a:cs typeface="Tahoma"/>
              </a:rPr>
              <a:t>(</a:t>
            </a:r>
            <a:r>
              <a:rPr sz="2050" i="1" spc="-70" dirty="0">
                <a:solidFill>
                  <a:srgbClr val="0000FF"/>
                </a:solidFill>
                <a:latin typeface="Meiryo"/>
                <a:cs typeface="Meiryo"/>
              </a:rPr>
              <a:t>cons</a:t>
            </a:r>
            <a:r>
              <a:rPr sz="2050" spc="-70" dirty="0">
                <a:solidFill>
                  <a:srgbClr val="0000FF"/>
                </a:solidFill>
                <a:latin typeface="Tahoma"/>
                <a:cs typeface="Tahoma"/>
              </a:rPr>
              <a:t>(4</a:t>
            </a:r>
            <a:r>
              <a:rPr sz="2050" spc="-185" dirty="0">
                <a:solidFill>
                  <a:srgbClr val="0000FF"/>
                </a:solidFill>
                <a:latin typeface="Tahoma"/>
                <a:cs typeface="Tahoma"/>
              </a:rPr>
              <a:t> </a:t>
            </a:r>
            <a:r>
              <a:rPr sz="2050" spc="-25" dirty="0">
                <a:solidFill>
                  <a:srgbClr val="0000FF"/>
                </a:solidFill>
                <a:latin typeface="Lucida Sans Unicode"/>
                <a:cs typeface="Lucida Sans Unicode"/>
              </a:rPr>
              <a:t>×</a:t>
            </a:r>
            <a:r>
              <a:rPr sz="2050" spc="-190" dirty="0">
                <a:solidFill>
                  <a:srgbClr val="0000FF"/>
                </a:solidFill>
                <a:latin typeface="Lucida Sans Unicode"/>
                <a:cs typeface="Lucida Sans Unicode"/>
              </a:rPr>
              <a:t> </a:t>
            </a:r>
            <a:r>
              <a:rPr sz="2050" i="1" spc="-5" dirty="0">
                <a:solidFill>
                  <a:srgbClr val="0000FF"/>
                </a:solidFill>
                <a:latin typeface="Meiryo"/>
                <a:cs typeface="Meiryo"/>
              </a:rPr>
              <a:t>car</a:t>
            </a:r>
            <a:r>
              <a:rPr sz="2050" spc="-5" dirty="0">
                <a:solidFill>
                  <a:srgbClr val="0000FF"/>
                </a:solidFill>
                <a:latin typeface="Tahoma"/>
                <a:cs typeface="Tahoma"/>
              </a:rPr>
              <a:t>(</a:t>
            </a:r>
            <a:r>
              <a:rPr sz="2050" i="1" spc="-5" dirty="0">
                <a:solidFill>
                  <a:srgbClr val="0000FF"/>
                </a:solidFill>
                <a:latin typeface="Meiryo"/>
                <a:cs typeface="Meiryo"/>
              </a:rPr>
              <a:t>x</a:t>
            </a:r>
            <a:r>
              <a:rPr sz="2050" spc="-5" dirty="0">
                <a:solidFill>
                  <a:srgbClr val="0000FF"/>
                </a:solidFill>
                <a:latin typeface="Tahoma"/>
                <a:cs typeface="Tahoma"/>
              </a:rPr>
              <a:t>)</a:t>
            </a:r>
            <a:r>
              <a:rPr sz="2050" spc="-185" dirty="0">
                <a:solidFill>
                  <a:srgbClr val="0000FF"/>
                </a:solidFill>
                <a:latin typeface="Tahoma"/>
                <a:cs typeface="Tahoma"/>
              </a:rPr>
              <a:t> </a:t>
            </a:r>
            <a:r>
              <a:rPr sz="2050" spc="-25" dirty="0">
                <a:solidFill>
                  <a:srgbClr val="0000FF"/>
                </a:solidFill>
                <a:latin typeface="Lucida Sans Unicode"/>
                <a:cs typeface="Lucida Sans Unicode"/>
              </a:rPr>
              <a:t>−</a:t>
            </a:r>
            <a:r>
              <a:rPr sz="2050" spc="-195" dirty="0">
                <a:solidFill>
                  <a:srgbClr val="0000FF"/>
                </a:solidFill>
                <a:latin typeface="Lucida Sans Unicode"/>
                <a:cs typeface="Lucida Sans Unicode"/>
              </a:rPr>
              <a:t> </a:t>
            </a:r>
            <a:r>
              <a:rPr sz="2050" spc="-90" dirty="0">
                <a:solidFill>
                  <a:srgbClr val="0000FF"/>
                </a:solidFill>
                <a:latin typeface="Tahoma"/>
                <a:cs typeface="Tahoma"/>
              </a:rPr>
              <a:t>2</a:t>
            </a:r>
            <a:r>
              <a:rPr sz="2050" spc="-185" dirty="0">
                <a:solidFill>
                  <a:srgbClr val="0000FF"/>
                </a:solidFill>
                <a:latin typeface="Tahoma"/>
                <a:cs typeface="Tahoma"/>
              </a:rPr>
              <a:t> </a:t>
            </a:r>
            <a:r>
              <a:rPr sz="2050" spc="-25" dirty="0">
                <a:solidFill>
                  <a:srgbClr val="0000FF"/>
                </a:solidFill>
                <a:latin typeface="Lucida Sans Unicode"/>
                <a:cs typeface="Lucida Sans Unicode"/>
              </a:rPr>
              <a:t>×</a:t>
            </a:r>
            <a:r>
              <a:rPr sz="2050" spc="-190" dirty="0">
                <a:solidFill>
                  <a:srgbClr val="0000FF"/>
                </a:solidFill>
                <a:latin typeface="Lucida Sans Unicode"/>
                <a:cs typeface="Lucida Sans Unicode"/>
              </a:rPr>
              <a:t> </a:t>
            </a:r>
            <a:r>
              <a:rPr sz="2050" i="1" spc="320" dirty="0">
                <a:solidFill>
                  <a:srgbClr val="0000FF"/>
                </a:solidFill>
                <a:latin typeface="Meiryo"/>
                <a:cs typeface="Meiryo"/>
              </a:rPr>
              <a:t>f</a:t>
            </a:r>
            <a:r>
              <a:rPr sz="2050" i="1" spc="-480" dirty="0">
                <a:solidFill>
                  <a:srgbClr val="0000FF"/>
                </a:solidFill>
                <a:latin typeface="Meiryo"/>
                <a:cs typeface="Meiryo"/>
              </a:rPr>
              <a:t> </a:t>
            </a:r>
            <a:r>
              <a:rPr sz="2050" spc="-25" dirty="0">
                <a:solidFill>
                  <a:srgbClr val="0000FF"/>
                </a:solidFill>
                <a:latin typeface="Tahoma"/>
                <a:cs typeface="Tahoma"/>
              </a:rPr>
              <a:t>(</a:t>
            </a:r>
            <a:r>
              <a:rPr sz="2050" i="1" spc="-25" dirty="0">
                <a:solidFill>
                  <a:srgbClr val="0000FF"/>
                </a:solidFill>
                <a:latin typeface="Meiryo"/>
                <a:cs typeface="Meiryo"/>
              </a:rPr>
              <a:t>cdr</a:t>
            </a:r>
            <a:r>
              <a:rPr sz="2050" spc="-25" dirty="0">
                <a:solidFill>
                  <a:srgbClr val="0000FF"/>
                </a:solidFill>
                <a:latin typeface="Tahoma"/>
                <a:cs typeface="Tahoma"/>
              </a:rPr>
              <a:t>(</a:t>
            </a:r>
            <a:r>
              <a:rPr sz="2050" i="1" spc="-25" dirty="0">
                <a:solidFill>
                  <a:srgbClr val="0000FF"/>
                </a:solidFill>
                <a:latin typeface="Meiryo"/>
                <a:cs typeface="Meiryo"/>
              </a:rPr>
              <a:t>x</a:t>
            </a:r>
            <a:r>
              <a:rPr sz="2050" spc="-25" dirty="0">
                <a:solidFill>
                  <a:srgbClr val="0000FF"/>
                </a:solidFill>
                <a:latin typeface="Tahoma"/>
                <a:cs typeface="Tahoma"/>
              </a:rPr>
              <a:t>))</a:t>
            </a:r>
            <a:r>
              <a:rPr sz="2050" i="1" spc="-25" dirty="0">
                <a:solidFill>
                  <a:srgbClr val="0000FF"/>
                </a:solidFill>
                <a:latin typeface="Meiryo"/>
                <a:cs typeface="Meiryo"/>
              </a:rPr>
              <a:t>,</a:t>
            </a:r>
            <a:r>
              <a:rPr sz="2050" i="1" spc="-355" dirty="0">
                <a:solidFill>
                  <a:srgbClr val="0000FF"/>
                </a:solidFill>
                <a:latin typeface="Meiryo"/>
                <a:cs typeface="Meiryo"/>
              </a:rPr>
              <a:t> </a:t>
            </a:r>
            <a:r>
              <a:rPr sz="2050" i="1" spc="-15" dirty="0">
                <a:solidFill>
                  <a:srgbClr val="0000FF"/>
                </a:solidFill>
                <a:latin typeface="Meiryo"/>
                <a:cs typeface="Meiryo"/>
              </a:rPr>
              <a:t>y</a:t>
            </a:r>
            <a:r>
              <a:rPr sz="2050" spc="-15" dirty="0">
                <a:solidFill>
                  <a:srgbClr val="0000FF"/>
                </a:solidFill>
                <a:latin typeface="Tahoma"/>
                <a:cs typeface="Tahoma"/>
              </a:rPr>
              <a:t>))</a:t>
            </a:r>
            <a:r>
              <a:rPr sz="2050" spc="-70" dirty="0">
                <a:solidFill>
                  <a:srgbClr val="0000FF"/>
                </a:solidFill>
                <a:latin typeface="Tahoma"/>
                <a:cs typeface="Tahoma"/>
              </a:rPr>
              <a:t> </a:t>
            </a:r>
            <a:r>
              <a:rPr sz="2050" spc="114" dirty="0">
                <a:solidFill>
                  <a:srgbClr val="0000FF"/>
                </a:solidFill>
                <a:latin typeface="Tahoma"/>
                <a:cs typeface="Tahoma"/>
              </a:rPr>
              <a:t>=</a:t>
            </a:r>
            <a:r>
              <a:rPr sz="2050" spc="-70" dirty="0">
                <a:solidFill>
                  <a:srgbClr val="0000FF"/>
                </a:solidFill>
                <a:latin typeface="Tahoma"/>
                <a:cs typeface="Tahoma"/>
              </a:rPr>
              <a:t> </a:t>
            </a:r>
            <a:r>
              <a:rPr sz="2050" i="1" spc="320" dirty="0">
                <a:solidFill>
                  <a:srgbClr val="0000FF"/>
                </a:solidFill>
                <a:latin typeface="Meiryo"/>
                <a:cs typeface="Meiryo"/>
              </a:rPr>
              <a:t>f</a:t>
            </a:r>
            <a:r>
              <a:rPr sz="2050" i="1" spc="-480" dirty="0">
                <a:solidFill>
                  <a:srgbClr val="0000FF"/>
                </a:solidFill>
                <a:latin typeface="Meiryo"/>
                <a:cs typeface="Meiryo"/>
              </a:rPr>
              <a:t> </a:t>
            </a:r>
            <a:r>
              <a:rPr sz="2050" spc="-70" dirty="0">
                <a:solidFill>
                  <a:srgbClr val="0000FF"/>
                </a:solidFill>
                <a:latin typeface="Tahoma"/>
                <a:cs typeface="Tahoma"/>
              </a:rPr>
              <a:t>(</a:t>
            </a:r>
            <a:r>
              <a:rPr sz="2050" i="1" spc="-70" dirty="0">
                <a:solidFill>
                  <a:srgbClr val="0000FF"/>
                </a:solidFill>
                <a:latin typeface="Meiryo"/>
                <a:cs typeface="Meiryo"/>
              </a:rPr>
              <a:t>cons</a:t>
            </a:r>
            <a:r>
              <a:rPr sz="2050" spc="-70" dirty="0">
                <a:solidFill>
                  <a:srgbClr val="0000FF"/>
                </a:solidFill>
                <a:latin typeface="Tahoma"/>
                <a:cs typeface="Tahoma"/>
              </a:rPr>
              <a:t>(6</a:t>
            </a:r>
            <a:r>
              <a:rPr sz="2050" spc="-185" dirty="0">
                <a:solidFill>
                  <a:srgbClr val="0000FF"/>
                </a:solidFill>
                <a:latin typeface="Tahoma"/>
                <a:cs typeface="Tahoma"/>
              </a:rPr>
              <a:t> </a:t>
            </a:r>
            <a:r>
              <a:rPr sz="2050" spc="-25" dirty="0">
                <a:solidFill>
                  <a:srgbClr val="0000FF"/>
                </a:solidFill>
                <a:latin typeface="Lucida Sans Unicode"/>
                <a:cs typeface="Lucida Sans Unicode"/>
              </a:rPr>
              <a:t>×</a:t>
            </a:r>
            <a:r>
              <a:rPr sz="2050" spc="-190" dirty="0">
                <a:solidFill>
                  <a:srgbClr val="0000FF"/>
                </a:solidFill>
                <a:latin typeface="Lucida Sans Unicode"/>
                <a:cs typeface="Lucida Sans Unicode"/>
              </a:rPr>
              <a:t> </a:t>
            </a:r>
            <a:r>
              <a:rPr sz="2050" i="1" spc="-35" dirty="0">
                <a:solidFill>
                  <a:srgbClr val="0000FF"/>
                </a:solidFill>
                <a:latin typeface="Meiryo"/>
                <a:cs typeface="Meiryo"/>
              </a:rPr>
              <a:t>cdr</a:t>
            </a:r>
            <a:r>
              <a:rPr sz="2050" spc="-35" dirty="0">
                <a:solidFill>
                  <a:srgbClr val="0000FF"/>
                </a:solidFill>
                <a:latin typeface="Tahoma"/>
                <a:cs typeface="Tahoma"/>
              </a:rPr>
              <a:t>(</a:t>
            </a:r>
            <a:r>
              <a:rPr sz="2050" i="1" spc="-35" dirty="0">
                <a:solidFill>
                  <a:srgbClr val="0000FF"/>
                </a:solidFill>
                <a:latin typeface="Meiryo"/>
                <a:cs typeface="Meiryo"/>
              </a:rPr>
              <a:t>x</a:t>
            </a:r>
            <a:r>
              <a:rPr sz="2050" spc="-35" dirty="0">
                <a:solidFill>
                  <a:srgbClr val="0000FF"/>
                </a:solidFill>
                <a:latin typeface="Tahoma"/>
                <a:cs typeface="Tahoma"/>
              </a:rPr>
              <a:t>)</a:t>
            </a:r>
            <a:r>
              <a:rPr sz="2050" i="1" spc="-35" dirty="0">
                <a:solidFill>
                  <a:srgbClr val="0000FF"/>
                </a:solidFill>
                <a:latin typeface="Meiryo"/>
                <a:cs typeface="Meiryo"/>
              </a:rPr>
              <a:t>,</a:t>
            </a:r>
            <a:r>
              <a:rPr sz="2050" i="1" spc="-355" dirty="0">
                <a:solidFill>
                  <a:srgbClr val="0000FF"/>
                </a:solidFill>
                <a:latin typeface="Meiryo"/>
                <a:cs typeface="Meiryo"/>
              </a:rPr>
              <a:t> </a:t>
            </a:r>
            <a:r>
              <a:rPr sz="2050" i="1" spc="-15" dirty="0">
                <a:solidFill>
                  <a:srgbClr val="0000FF"/>
                </a:solidFill>
                <a:latin typeface="Meiryo"/>
                <a:cs typeface="Meiryo"/>
              </a:rPr>
              <a:t>y</a:t>
            </a:r>
            <a:r>
              <a:rPr sz="2050" spc="-15" dirty="0">
                <a:solidFill>
                  <a:srgbClr val="0000FF"/>
                </a:solidFill>
                <a:latin typeface="Tahoma"/>
                <a:cs typeface="Tahoma"/>
              </a:rPr>
              <a:t>))</a:t>
            </a:r>
            <a:endParaRPr sz="2050">
              <a:latin typeface="Tahoma"/>
              <a:cs typeface="Tahoma"/>
            </a:endParaRPr>
          </a:p>
          <a:p>
            <a:pPr marL="300990">
              <a:lnSpc>
                <a:spcPct val="100000"/>
              </a:lnSpc>
              <a:spcBef>
                <a:spcPts val="1595"/>
              </a:spcBef>
            </a:pPr>
            <a:r>
              <a:rPr sz="1950" spc="35" dirty="0">
                <a:solidFill>
                  <a:srgbClr val="231F20"/>
                </a:solidFill>
                <a:latin typeface="Arial"/>
                <a:cs typeface="Arial"/>
              </a:rPr>
              <a:t>Uses </a:t>
            </a:r>
            <a:r>
              <a:rPr sz="1950" spc="130" dirty="0">
                <a:solidFill>
                  <a:srgbClr val="FF0000"/>
                </a:solidFill>
                <a:latin typeface="Arial"/>
                <a:cs typeface="Arial"/>
              </a:rPr>
              <a:t>equality</a:t>
            </a:r>
            <a:r>
              <a:rPr sz="1950" spc="130" dirty="0">
                <a:solidFill>
                  <a:srgbClr val="231F20"/>
                </a:solidFill>
                <a:latin typeface="Arial"/>
                <a:cs typeface="Arial"/>
              </a:rPr>
              <a:t>, </a:t>
            </a:r>
            <a:r>
              <a:rPr sz="1950" spc="145" dirty="0">
                <a:solidFill>
                  <a:srgbClr val="FF0000"/>
                </a:solidFill>
                <a:latin typeface="Arial"/>
                <a:cs typeface="Arial"/>
              </a:rPr>
              <a:t>uninterpreted </a:t>
            </a:r>
            <a:r>
              <a:rPr sz="1950" spc="150" dirty="0">
                <a:solidFill>
                  <a:srgbClr val="FF0000"/>
                </a:solidFill>
                <a:latin typeface="Arial"/>
                <a:cs typeface="Arial"/>
              </a:rPr>
              <a:t>functions</a:t>
            </a:r>
            <a:r>
              <a:rPr sz="1950" spc="150" dirty="0">
                <a:solidFill>
                  <a:srgbClr val="231F20"/>
                </a:solidFill>
                <a:latin typeface="Arial"/>
                <a:cs typeface="Arial"/>
              </a:rPr>
              <a:t>, </a:t>
            </a:r>
            <a:r>
              <a:rPr sz="1950" spc="95" dirty="0">
                <a:solidFill>
                  <a:srgbClr val="FF0000"/>
                </a:solidFill>
                <a:latin typeface="Arial"/>
                <a:cs typeface="Arial"/>
              </a:rPr>
              <a:t>linear </a:t>
            </a:r>
            <a:r>
              <a:rPr sz="1950" spc="165" dirty="0">
                <a:solidFill>
                  <a:srgbClr val="FF0000"/>
                </a:solidFill>
                <a:latin typeface="Arial"/>
                <a:cs typeface="Arial"/>
              </a:rPr>
              <a:t>arithmetic</a:t>
            </a:r>
            <a:r>
              <a:rPr sz="1950" spc="165" dirty="0">
                <a:solidFill>
                  <a:srgbClr val="231F20"/>
                </a:solidFill>
                <a:latin typeface="Arial"/>
                <a:cs typeface="Arial"/>
              </a:rPr>
              <a:t>, </a:t>
            </a:r>
            <a:r>
              <a:rPr sz="1950" spc="500" dirty="0">
                <a:solidFill>
                  <a:srgbClr val="231F20"/>
                </a:solidFill>
                <a:latin typeface="Arial"/>
                <a:cs typeface="Arial"/>
              </a:rPr>
              <a:t> </a:t>
            </a:r>
            <a:r>
              <a:rPr sz="1950" spc="105" dirty="0">
                <a:solidFill>
                  <a:srgbClr val="FF0000"/>
                </a:solidFill>
                <a:latin typeface="Arial"/>
                <a:cs typeface="Arial"/>
              </a:rPr>
              <a:t>lists</a:t>
            </a:r>
            <a:endParaRPr sz="1950">
              <a:latin typeface="Arial"/>
              <a:cs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39" y="475981"/>
            <a:ext cx="7597775" cy="6022340"/>
          </a:xfrm>
          <a:prstGeom prst="rect">
            <a:avLst/>
          </a:prstGeom>
        </p:spPr>
        <p:txBody>
          <a:bodyPr vert="horz" wrap="square" lIns="0" tIns="0" rIns="0" bIns="0" rtlCol="0">
            <a:spAutoFit/>
          </a:bodyPr>
          <a:lstStyle/>
          <a:p>
            <a:pPr marL="668020" algn="ctr">
              <a:lnSpc>
                <a:spcPct val="100000"/>
              </a:lnSpc>
            </a:pPr>
            <a:r>
              <a:rPr sz="1950" spc="525" dirty="0">
                <a:solidFill>
                  <a:srgbClr val="231F20"/>
                </a:solidFill>
                <a:latin typeface="Arial"/>
                <a:cs typeface="Arial"/>
              </a:rPr>
              <a:t>SMT</a:t>
            </a:r>
            <a:r>
              <a:rPr sz="1950" spc="285" dirty="0">
                <a:solidFill>
                  <a:srgbClr val="231F20"/>
                </a:solidFill>
                <a:latin typeface="Arial"/>
                <a:cs typeface="Arial"/>
              </a:rPr>
              <a:t> </a:t>
            </a:r>
            <a:r>
              <a:rPr sz="1950" spc="220" dirty="0">
                <a:solidFill>
                  <a:srgbClr val="231F20"/>
                </a:solidFill>
                <a:latin typeface="Arial"/>
                <a:cs typeface="Arial"/>
              </a:rPr>
              <a:t>Solving</a:t>
            </a:r>
            <a:endParaRPr sz="1950">
              <a:latin typeface="Arial"/>
              <a:cs typeface="Arial"/>
            </a:endParaRPr>
          </a:p>
          <a:p>
            <a:pPr marL="300990" marR="666750" indent="-288290">
              <a:lnSpc>
                <a:spcPct val="125000"/>
              </a:lnSpc>
              <a:buSzPct val="105128"/>
              <a:buFont typeface="Lucida Sans Unicode"/>
              <a:buChar char="•"/>
              <a:tabLst>
                <a:tab pos="301625" algn="l"/>
              </a:tabLst>
            </a:pPr>
            <a:r>
              <a:rPr sz="1950" spc="125" dirty="0">
                <a:solidFill>
                  <a:srgbClr val="231F20"/>
                </a:solidFill>
                <a:latin typeface="Arial"/>
                <a:cs typeface="Arial"/>
              </a:rPr>
              <a:t>Individual </a:t>
            </a:r>
            <a:r>
              <a:rPr sz="1950" spc="130" dirty="0">
                <a:solidFill>
                  <a:srgbClr val="231F20"/>
                </a:solidFill>
                <a:latin typeface="Arial"/>
                <a:cs typeface="Arial"/>
              </a:rPr>
              <a:t>and </a:t>
            </a:r>
            <a:r>
              <a:rPr sz="1950" spc="145" dirty="0">
                <a:solidFill>
                  <a:srgbClr val="231F20"/>
                </a:solidFill>
                <a:latin typeface="Arial"/>
                <a:cs typeface="Arial"/>
              </a:rPr>
              <a:t>combined </a:t>
            </a:r>
            <a:r>
              <a:rPr sz="1950" spc="100" dirty="0">
                <a:solidFill>
                  <a:srgbClr val="231F20"/>
                </a:solidFill>
                <a:latin typeface="Arial"/>
                <a:cs typeface="Arial"/>
              </a:rPr>
              <a:t>decision </a:t>
            </a:r>
            <a:r>
              <a:rPr sz="1950" spc="105" dirty="0">
                <a:solidFill>
                  <a:srgbClr val="231F20"/>
                </a:solidFill>
                <a:latin typeface="Arial"/>
                <a:cs typeface="Arial"/>
              </a:rPr>
              <a:t>procedures </a:t>
            </a:r>
            <a:r>
              <a:rPr sz="1950" spc="95" dirty="0">
                <a:solidFill>
                  <a:srgbClr val="231F20"/>
                </a:solidFill>
                <a:latin typeface="Arial"/>
                <a:cs typeface="Arial"/>
              </a:rPr>
              <a:t>decide  </a:t>
            </a:r>
            <a:r>
              <a:rPr sz="1950" spc="150" dirty="0">
                <a:solidFill>
                  <a:srgbClr val="0000FF"/>
                </a:solidFill>
                <a:latin typeface="Arial"/>
                <a:cs typeface="Arial"/>
              </a:rPr>
              <a:t>conjunctions </a:t>
            </a:r>
            <a:r>
              <a:rPr sz="1950" spc="185" dirty="0">
                <a:solidFill>
                  <a:srgbClr val="231F20"/>
                </a:solidFill>
                <a:latin typeface="Arial"/>
                <a:cs typeface="Arial"/>
              </a:rPr>
              <a:t>of </a:t>
            </a:r>
            <a:r>
              <a:rPr sz="1950" spc="135" dirty="0">
                <a:solidFill>
                  <a:srgbClr val="231F20"/>
                </a:solidFill>
                <a:latin typeface="Arial"/>
                <a:cs typeface="Arial"/>
              </a:rPr>
              <a:t>formulas </a:t>
            </a:r>
            <a:r>
              <a:rPr sz="1950" spc="130" dirty="0">
                <a:solidFill>
                  <a:srgbClr val="231F20"/>
                </a:solidFill>
                <a:latin typeface="Arial"/>
                <a:cs typeface="Arial"/>
              </a:rPr>
              <a:t>in </a:t>
            </a:r>
            <a:r>
              <a:rPr sz="1950" spc="160" dirty="0">
                <a:solidFill>
                  <a:srgbClr val="231F20"/>
                </a:solidFill>
                <a:latin typeface="Arial"/>
                <a:cs typeface="Arial"/>
              </a:rPr>
              <a:t>their </a:t>
            </a:r>
            <a:r>
              <a:rPr sz="1950" spc="100" dirty="0">
                <a:solidFill>
                  <a:srgbClr val="231F20"/>
                </a:solidFill>
                <a:latin typeface="Arial"/>
                <a:cs typeface="Arial"/>
              </a:rPr>
              <a:t>decided </a:t>
            </a:r>
            <a:r>
              <a:rPr sz="1950" spc="270" dirty="0">
                <a:solidFill>
                  <a:srgbClr val="231F20"/>
                </a:solidFill>
                <a:latin typeface="Arial"/>
                <a:cs typeface="Arial"/>
              </a:rPr>
              <a:t> </a:t>
            </a:r>
            <a:r>
              <a:rPr sz="1950" spc="110" dirty="0">
                <a:solidFill>
                  <a:srgbClr val="231F20"/>
                </a:solidFill>
                <a:latin typeface="Arial"/>
                <a:cs typeface="Arial"/>
              </a:rPr>
              <a:t>theories</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350" dirty="0">
                <a:solidFill>
                  <a:srgbClr val="FF0000"/>
                </a:solidFill>
                <a:latin typeface="Arial"/>
                <a:cs typeface="Arial"/>
              </a:rPr>
              <a:t>SMT </a:t>
            </a:r>
            <a:r>
              <a:rPr sz="1950" spc="100" dirty="0">
                <a:solidFill>
                  <a:srgbClr val="FF0000"/>
                </a:solidFill>
                <a:latin typeface="Arial"/>
                <a:cs typeface="Arial"/>
              </a:rPr>
              <a:t>allows general </a:t>
            </a:r>
            <a:r>
              <a:rPr sz="1950" spc="140" dirty="0">
                <a:solidFill>
                  <a:srgbClr val="FF0000"/>
                </a:solidFill>
                <a:latin typeface="Arial"/>
                <a:cs typeface="Arial"/>
              </a:rPr>
              <a:t>propositional</a:t>
            </a:r>
            <a:r>
              <a:rPr sz="1950" spc="595" dirty="0">
                <a:solidFill>
                  <a:srgbClr val="FF0000"/>
                </a:solidFill>
                <a:latin typeface="Arial"/>
                <a:cs typeface="Arial"/>
              </a:rPr>
              <a:t> </a:t>
            </a:r>
            <a:r>
              <a:rPr sz="1950" spc="160" dirty="0">
                <a:solidFill>
                  <a:srgbClr val="FF0000"/>
                </a:solidFill>
                <a:latin typeface="Arial"/>
                <a:cs typeface="Arial"/>
              </a:rPr>
              <a:t>structure</a:t>
            </a:r>
            <a:endParaRPr sz="1950">
              <a:latin typeface="Arial"/>
              <a:cs typeface="Arial"/>
            </a:endParaRPr>
          </a:p>
          <a:p>
            <a:pPr marL="453390">
              <a:lnSpc>
                <a:spcPct val="100000"/>
              </a:lnSpc>
              <a:spcBef>
                <a:spcPts val="894"/>
              </a:spcBef>
              <a:tabLst>
                <a:tab pos="741680" algn="l"/>
              </a:tabLst>
            </a:pPr>
            <a:r>
              <a:rPr sz="2050" spc="-120" dirty="0">
                <a:solidFill>
                  <a:srgbClr val="231F20"/>
                </a:solidFill>
                <a:latin typeface="Lucida Sans Unicode"/>
                <a:cs typeface="Lucida Sans Unicode"/>
              </a:rPr>
              <a:t>◦	</a:t>
            </a:r>
            <a:r>
              <a:rPr sz="1950" spc="114" dirty="0">
                <a:solidFill>
                  <a:srgbClr val="231F20"/>
                </a:solidFill>
                <a:latin typeface="Arial"/>
                <a:cs typeface="Arial"/>
              </a:rPr>
              <a:t>e.g., </a:t>
            </a:r>
            <a:r>
              <a:rPr sz="2050" spc="30" dirty="0">
                <a:solidFill>
                  <a:srgbClr val="231F20"/>
                </a:solidFill>
                <a:latin typeface="Tahoma"/>
                <a:cs typeface="Tahoma"/>
              </a:rPr>
              <a:t>(</a:t>
            </a:r>
            <a:r>
              <a:rPr sz="2050" i="1" spc="30" dirty="0">
                <a:solidFill>
                  <a:srgbClr val="0000FF"/>
                </a:solidFill>
                <a:latin typeface="Meiryo"/>
                <a:cs typeface="Meiryo"/>
              </a:rPr>
              <a:t>x </a:t>
            </a:r>
            <a:r>
              <a:rPr sz="2050" spc="-25" dirty="0">
                <a:solidFill>
                  <a:srgbClr val="0000FF"/>
                </a:solidFill>
                <a:latin typeface="Lucida Sans Unicode"/>
                <a:cs typeface="Lucida Sans Unicode"/>
              </a:rPr>
              <a:t>≤ </a:t>
            </a:r>
            <a:r>
              <a:rPr sz="2050" i="1" spc="-145" dirty="0">
                <a:solidFill>
                  <a:srgbClr val="0000FF"/>
                </a:solidFill>
                <a:latin typeface="Meiryo"/>
                <a:cs typeface="Meiryo"/>
              </a:rPr>
              <a:t>y </a:t>
            </a:r>
            <a:r>
              <a:rPr sz="2050" spc="-254" dirty="0">
                <a:solidFill>
                  <a:srgbClr val="231F20"/>
                </a:solidFill>
                <a:latin typeface="Lucida Sans Unicode"/>
                <a:cs typeface="Lucida Sans Unicode"/>
              </a:rPr>
              <a:t>∨ </a:t>
            </a:r>
            <a:r>
              <a:rPr sz="2050" i="1" spc="-145" dirty="0">
                <a:solidFill>
                  <a:srgbClr val="0000FF"/>
                </a:solidFill>
                <a:latin typeface="Meiryo"/>
                <a:cs typeface="Meiryo"/>
              </a:rPr>
              <a:t>y </a:t>
            </a:r>
            <a:r>
              <a:rPr sz="2050" spc="114" dirty="0">
                <a:solidFill>
                  <a:srgbClr val="0000FF"/>
                </a:solidFill>
                <a:latin typeface="Tahoma"/>
                <a:cs typeface="Tahoma"/>
              </a:rPr>
              <a:t>= </a:t>
            </a:r>
            <a:r>
              <a:rPr sz="2050" spc="-40" dirty="0">
                <a:solidFill>
                  <a:srgbClr val="0000FF"/>
                </a:solidFill>
                <a:latin typeface="Tahoma"/>
                <a:cs typeface="Tahoma"/>
              </a:rPr>
              <a:t>5</a:t>
            </a:r>
            <a:r>
              <a:rPr sz="2050" spc="-40" dirty="0">
                <a:solidFill>
                  <a:srgbClr val="231F20"/>
                </a:solidFill>
                <a:latin typeface="Tahoma"/>
                <a:cs typeface="Tahoma"/>
              </a:rPr>
              <a:t>) </a:t>
            </a:r>
            <a:r>
              <a:rPr sz="2050" spc="-254" dirty="0">
                <a:solidFill>
                  <a:srgbClr val="231F20"/>
                </a:solidFill>
                <a:latin typeface="Lucida Sans Unicode"/>
                <a:cs typeface="Lucida Sans Unicode"/>
              </a:rPr>
              <a:t>∧ </a:t>
            </a:r>
            <a:r>
              <a:rPr sz="2050" spc="30" dirty="0">
                <a:solidFill>
                  <a:srgbClr val="231F20"/>
                </a:solidFill>
                <a:latin typeface="Tahoma"/>
                <a:cs typeface="Tahoma"/>
              </a:rPr>
              <a:t>(</a:t>
            </a:r>
            <a:r>
              <a:rPr sz="2050" i="1" spc="30" dirty="0">
                <a:solidFill>
                  <a:srgbClr val="0000FF"/>
                </a:solidFill>
                <a:latin typeface="Meiryo"/>
                <a:cs typeface="Meiryo"/>
              </a:rPr>
              <a:t>x </a:t>
            </a:r>
            <a:r>
              <a:rPr sz="2050" i="1" spc="-40" dirty="0">
                <a:solidFill>
                  <a:srgbClr val="0000FF"/>
                </a:solidFill>
                <a:latin typeface="Meiryo"/>
                <a:cs typeface="Meiryo"/>
              </a:rPr>
              <a:t>&lt; </a:t>
            </a:r>
            <a:r>
              <a:rPr sz="2050" spc="-90" dirty="0">
                <a:solidFill>
                  <a:srgbClr val="0000FF"/>
                </a:solidFill>
                <a:latin typeface="Tahoma"/>
                <a:cs typeface="Tahoma"/>
              </a:rPr>
              <a:t>0 </a:t>
            </a:r>
            <a:r>
              <a:rPr sz="2050" spc="-254" dirty="0">
                <a:solidFill>
                  <a:srgbClr val="231F20"/>
                </a:solidFill>
                <a:latin typeface="Lucida Sans Unicode"/>
                <a:cs typeface="Lucida Sans Unicode"/>
              </a:rPr>
              <a:t>∨ </a:t>
            </a:r>
            <a:r>
              <a:rPr sz="2050" i="1" spc="-145" dirty="0">
                <a:solidFill>
                  <a:srgbClr val="0000FF"/>
                </a:solidFill>
                <a:latin typeface="Meiryo"/>
                <a:cs typeface="Meiryo"/>
              </a:rPr>
              <a:t>y </a:t>
            </a:r>
            <a:r>
              <a:rPr sz="2050" spc="-25" dirty="0">
                <a:solidFill>
                  <a:srgbClr val="0000FF"/>
                </a:solidFill>
                <a:latin typeface="Lucida Sans Unicode"/>
                <a:cs typeface="Lucida Sans Unicode"/>
              </a:rPr>
              <a:t>≤ </a:t>
            </a:r>
            <a:r>
              <a:rPr sz="2050" i="1" spc="30" dirty="0">
                <a:solidFill>
                  <a:srgbClr val="0000FF"/>
                </a:solidFill>
                <a:latin typeface="Meiryo"/>
                <a:cs typeface="Meiryo"/>
              </a:rPr>
              <a:t>x</a:t>
            </a:r>
            <a:r>
              <a:rPr sz="2050" spc="30" dirty="0">
                <a:solidFill>
                  <a:srgbClr val="231F20"/>
                </a:solidFill>
                <a:latin typeface="Tahoma"/>
                <a:cs typeface="Tahoma"/>
              </a:rPr>
              <a:t>) </a:t>
            </a:r>
            <a:r>
              <a:rPr sz="2050" spc="-254" dirty="0">
                <a:solidFill>
                  <a:srgbClr val="231F20"/>
                </a:solidFill>
                <a:latin typeface="Lucida Sans Unicode"/>
                <a:cs typeface="Lucida Sans Unicode"/>
              </a:rPr>
              <a:t>∧ </a:t>
            </a:r>
            <a:r>
              <a:rPr sz="2050" i="1" spc="50" dirty="0">
                <a:solidFill>
                  <a:srgbClr val="0000FF"/>
                </a:solidFill>
                <a:latin typeface="Meiryo"/>
                <a:cs typeface="Meiryo"/>
              </a:rPr>
              <a:t>x</a:t>
            </a:r>
            <a:r>
              <a:rPr sz="2050" i="1" spc="-409" dirty="0">
                <a:solidFill>
                  <a:srgbClr val="0000FF"/>
                </a:solidFill>
                <a:latin typeface="Meiryo"/>
                <a:cs typeface="Meiryo"/>
              </a:rPr>
              <a:t> </a:t>
            </a:r>
            <a:r>
              <a:rPr sz="2050" spc="-340" dirty="0">
                <a:solidFill>
                  <a:srgbClr val="0000FF"/>
                </a:solidFill>
                <a:latin typeface="Lucida Sans Unicode"/>
                <a:cs typeface="Lucida Sans Unicode"/>
              </a:rPr>
              <a:t>ƒ</a:t>
            </a:r>
            <a:r>
              <a:rPr sz="2050" spc="-340" dirty="0">
                <a:solidFill>
                  <a:srgbClr val="0000FF"/>
                </a:solidFill>
                <a:latin typeface="Tahoma"/>
                <a:cs typeface="Tahoma"/>
              </a:rPr>
              <a:t>= </a:t>
            </a:r>
            <a:r>
              <a:rPr sz="2050" i="1" spc="-145" dirty="0">
                <a:solidFill>
                  <a:srgbClr val="0000FF"/>
                </a:solidFill>
                <a:latin typeface="Meiryo"/>
                <a:cs typeface="Meiryo"/>
              </a:rPr>
              <a:t>y</a:t>
            </a:r>
            <a:endParaRPr sz="2050">
              <a:latin typeface="Meiryo"/>
              <a:cs typeface="Meiryo"/>
            </a:endParaRPr>
          </a:p>
          <a:p>
            <a:pPr marL="1056640">
              <a:lnSpc>
                <a:spcPct val="100000"/>
              </a:lnSpc>
              <a:spcBef>
                <a:spcPts val="565"/>
              </a:spcBef>
            </a:pPr>
            <a:r>
              <a:rPr sz="1950" spc="145" dirty="0">
                <a:solidFill>
                  <a:srgbClr val="231F20"/>
                </a:solidFill>
                <a:latin typeface="Arial"/>
                <a:cs typeface="Arial"/>
              </a:rPr>
              <a:t>. . . </a:t>
            </a:r>
            <a:r>
              <a:rPr sz="1950" spc="100" dirty="0">
                <a:solidFill>
                  <a:srgbClr val="231F20"/>
                </a:solidFill>
                <a:latin typeface="Arial"/>
                <a:cs typeface="Arial"/>
              </a:rPr>
              <a:t>possibly </a:t>
            </a:r>
            <a:r>
              <a:rPr sz="1950" spc="150" dirty="0">
                <a:solidFill>
                  <a:srgbClr val="231F20"/>
                </a:solidFill>
                <a:latin typeface="Arial"/>
                <a:cs typeface="Arial"/>
              </a:rPr>
              <a:t>continued </a:t>
            </a:r>
            <a:r>
              <a:rPr sz="1950" spc="155" dirty="0">
                <a:solidFill>
                  <a:srgbClr val="231F20"/>
                </a:solidFill>
                <a:latin typeface="Arial"/>
                <a:cs typeface="Arial"/>
              </a:rPr>
              <a:t>for </a:t>
            </a:r>
            <a:r>
              <a:rPr sz="1950" spc="114" dirty="0">
                <a:solidFill>
                  <a:srgbClr val="231F20"/>
                </a:solidFill>
                <a:latin typeface="Arial"/>
                <a:cs typeface="Arial"/>
              </a:rPr>
              <a:t>1000s </a:t>
            </a:r>
            <a:r>
              <a:rPr sz="1950" spc="185" dirty="0">
                <a:solidFill>
                  <a:srgbClr val="231F20"/>
                </a:solidFill>
                <a:latin typeface="Arial"/>
                <a:cs typeface="Arial"/>
              </a:rPr>
              <a:t>of</a:t>
            </a:r>
            <a:r>
              <a:rPr sz="1950" spc="85" dirty="0">
                <a:solidFill>
                  <a:srgbClr val="231F20"/>
                </a:solidFill>
                <a:latin typeface="Arial"/>
                <a:cs typeface="Arial"/>
              </a:rPr>
              <a:t> </a:t>
            </a:r>
            <a:r>
              <a:rPr sz="1950" spc="160" dirty="0">
                <a:solidFill>
                  <a:srgbClr val="231F20"/>
                </a:solidFill>
                <a:latin typeface="Arial"/>
                <a:cs typeface="Arial"/>
              </a:rPr>
              <a:t>terms</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35" dirty="0">
                <a:solidFill>
                  <a:srgbClr val="231F20"/>
                </a:solidFill>
                <a:latin typeface="Arial"/>
                <a:cs typeface="Arial"/>
              </a:rPr>
              <a:t>Should </a:t>
            </a:r>
            <a:r>
              <a:rPr sz="1950" spc="145" dirty="0">
                <a:solidFill>
                  <a:srgbClr val="231F20"/>
                </a:solidFill>
                <a:latin typeface="Arial"/>
                <a:cs typeface="Arial"/>
              </a:rPr>
              <a:t>exploit </a:t>
            </a:r>
            <a:r>
              <a:rPr sz="1950" spc="75" dirty="0">
                <a:solidFill>
                  <a:srgbClr val="231F20"/>
                </a:solidFill>
                <a:latin typeface="Arial"/>
                <a:cs typeface="Arial"/>
              </a:rPr>
              <a:t>search </a:t>
            </a:r>
            <a:r>
              <a:rPr sz="1950" spc="120" dirty="0">
                <a:solidFill>
                  <a:srgbClr val="231F20"/>
                </a:solidFill>
                <a:latin typeface="Arial"/>
                <a:cs typeface="Arial"/>
              </a:rPr>
              <a:t>strategies </a:t>
            </a:r>
            <a:r>
              <a:rPr sz="1950" spc="185" dirty="0">
                <a:solidFill>
                  <a:srgbClr val="231F20"/>
                </a:solidFill>
                <a:latin typeface="Arial"/>
                <a:cs typeface="Arial"/>
              </a:rPr>
              <a:t>of </a:t>
            </a:r>
            <a:r>
              <a:rPr sz="1950" spc="170" dirty="0">
                <a:solidFill>
                  <a:srgbClr val="231F20"/>
                </a:solidFill>
                <a:latin typeface="Arial"/>
                <a:cs typeface="Arial"/>
              </a:rPr>
              <a:t>modern </a:t>
            </a:r>
            <a:r>
              <a:rPr sz="1950" spc="250" dirty="0">
                <a:solidFill>
                  <a:srgbClr val="231F20"/>
                </a:solidFill>
                <a:latin typeface="Arial"/>
                <a:cs typeface="Arial"/>
              </a:rPr>
              <a:t>SAT </a:t>
            </a:r>
            <a:r>
              <a:rPr sz="1950" spc="285" dirty="0">
                <a:solidFill>
                  <a:srgbClr val="231F20"/>
                </a:solidFill>
                <a:latin typeface="Arial"/>
                <a:cs typeface="Arial"/>
              </a:rPr>
              <a:t> </a:t>
            </a:r>
            <a:r>
              <a:rPr sz="1950" spc="75" dirty="0">
                <a:solidFill>
                  <a:srgbClr val="231F20"/>
                </a:solidFill>
                <a:latin typeface="Arial"/>
                <a:cs typeface="Arial"/>
              </a:rPr>
              <a:t>solvers</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14" dirty="0">
                <a:solidFill>
                  <a:srgbClr val="231F20"/>
                </a:solidFill>
                <a:latin typeface="Arial"/>
                <a:cs typeface="Arial"/>
              </a:rPr>
              <a:t>So </a:t>
            </a:r>
            <a:r>
              <a:rPr sz="1950" spc="95" dirty="0">
                <a:solidFill>
                  <a:srgbClr val="231F20"/>
                </a:solidFill>
                <a:latin typeface="Arial"/>
                <a:cs typeface="Arial"/>
              </a:rPr>
              <a:t>replace </a:t>
            </a:r>
            <a:r>
              <a:rPr sz="1950" spc="175" dirty="0">
                <a:solidFill>
                  <a:srgbClr val="231F20"/>
                </a:solidFill>
                <a:latin typeface="Arial"/>
                <a:cs typeface="Arial"/>
              </a:rPr>
              <a:t>the </a:t>
            </a:r>
            <a:r>
              <a:rPr sz="1950" spc="160" dirty="0">
                <a:solidFill>
                  <a:srgbClr val="FF0000"/>
                </a:solidFill>
                <a:latin typeface="Arial"/>
                <a:cs typeface="Arial"/>
              </a:rPr>
              <a:t>terms </a:t>
            </a:r>
            <a:r>
              <a:rPr sz="1950" spc="105" dirty="0">
                <a:solidFill>
                  <a:srgbClr val="231F20"/>
                </a:solidFill>
                <a:latin typeface="Arial"/>
                <a:cs typeface="Arial"/>
              </a:rPr>
              <a:t>by </a:t>
            </a:r>
            <a:r>
              <a:rPr sz="1950" spc="140" dirty="0">
                <a:solidFill>
                  <a:srgbClr val="0000FF"/>
                </a:solidFill>
                <a:latin typeface="Arial"/>
                <a:cs typeface="Arial"/>
              </a:rPr>
              <a:t>propositional </a:t>
            </a:r>
            <a:r>
              <a:rPr sz="1950" spc="335" dirty="0">
                <a:solidFill>
                  <a:srgbClr val="0000FF"/>
                </a:solidFill>
                <a:latin typeface="Arial"/>
                <a:cs typeface="Arial"/>
              </a:rPr>
              <a:t> </a:t>
            </a:r>
            <a:r>
              <a:rPr sz="1950" spc="85" dirty="0">
                <a:solidFill>
                  <a:srgbClr val="0000FF"/>
                </a:solidFill>
                <a:latin typeface="Arial"/>
                <a:cs typeface="Arial"/>
              </a:rPr>
              <a:t>variables</a:t>
            </a:r>
            <a:endParaRPr sz="1950">
              <a:latin typeface="Arial"/>
              <a:cs typeface="Arial"/>
            </a:endParaRPr>
          </a:p>
          <a:p>
            <a:pPr marL="453390">
              <a:lnSpc>
                <a:spcPct val="100000"/>
              </a:lnSpc>
              <a:spcBef>
                <a:spcPts val="894"/>
              </a:spcBef>
              <a:tabLst>
                <a:tab pos="741680" algn="l"/>
              </a:tabLst>
            </a:pPr>
            <a:r>
              <a:rPr sz="2050" spc="-120" dirty="0">
                <a:solidFill>
                  <a:srgbClr val="231F20"/>
                </a:solidFill>
                <a:latin typeface="Lucida Sans Unicode"/>
                <a:cs typeface="Lucida Sans Unicode"/>
              </a:rPr>
              <a:t>◦	</a:t>
            </a:r>
            <a:r>
              <a:rPr sz="1950" spc="110" dirty="0">
                <a:solidFill>
                  <a:srgbClr val="231F20"/>
                </a:solidFill>
                <a:latin typeface="Arial"/>
                <a:cs typeface="Arial"/>
              </a:rPr>
              <a:t>i.e.,</a:t>
            </a:r>
            <a:r>
              <a:rPr sz="1950" spc="270" dirty="0">
                <a:solidFill>
                  <a:srgbClr val="231F20"/>
                </a:solidFill>
                <a:latin typeface="Arial"/>
                <a:cs typeface="Arial"/>
              </a:rPr>
              <a:t> </a:t>
            </a:r>
            <a:r>
              <a:rPr sz="2050" spc="90" dirty="0">
                <a:solidFill>
                  <a:srgbClr val="231F20"/>
                </a:solidFill>
                <a:latin typeface="Tahoma"/>
                <a:cs typeface="Tahoma"/>
              </a:rPr>
              <a:t>(</a:t>
            </a:r>
            <a:r>
              <a:rPr sz="2050" i="1" spc="90" dirty="0">
                <a:solidFill>
                  <a:srgbClr val="231F20"/>
                </a:solidFill>
                <a:latin typeface="Meiryo"/>
                <a:cs typeface="Meiryo"/>
              </a:rPr>
              <a:t>A</a:t>
            </a:r>
            <a:r>
              <a:rPr sz="2050" i="1" spc="-250" dirty="0">
                <a:solidFill>
                  <a:srgbClr val="231F20"/>
                </a:solidFill>
                <a:latin typeface="Meiryo"/>
                <a:cs typeface="Meiryo"/>
              </a:rPr>
              <a:t> </a:t>
            </a:r>
            <a:r>
              <a:rPr sz="2050" spc="-254" dirty="0">
                <a:solidFill>
                  <a:srgbClr val="231F20"/>
                </a:solidFill>
                <a:latin typeface="Lucida Sans Unicode"/>
                <a:cs typeface="Lucida Sans Unicode"/>
              </a:rPr>
              <a:t>∨</a:t>
            </a:r>
            <a:r>
              <a:rPr sz="2050" spc="-200" dirty="0">
                <a:solidFill>
                  <a:srgbClr val="231F20"/>
                </a:solidFill>
                <a:latin typeface="Lucida Sans Unicode"/>
                <a:cs typeface="Lucida Sans Unicode"/>
              </a:rPr>
              <a:t> </a:t>
            </a:r>
            <a:r>
              <a:rPr sz="2050" i="1" spc="140" dirty="0">
                <a:solidFill>
                  <a:srgbClr val="231F20"/>
                </a:solidFill>
                <a:latin typeface="Meiryo"/>
                <a:cs typeface="Meiryo"/>
              </a:rPr>
              <a:t>B</a:t>
            </a:r>
            <a:r>
              <a:rPr sz="2050" spc="140" dirty="0">
                <a:solidFill>
                  <a:srgbClr val="231F20"/>
                </a:solidFill>
                <a:latin typeface="Tahoma"/>
                <a:cs typeface="Tahoma"/>
              </a:rPr>
              <a:t>)</a:t>
            </a:r>
            <a:r>
              <a:rPr sz="2050" spc="-195" dirty="0">
                <a:solidFill>
                  <a:srgbClr val="231F20"/>
                </a:solidFill>
                <a:latin typeface="Tahoma"/>
                <a:cs typeface="Tahoma"/>
              </a:rPr>
              <a:t> </a:t>
            </a:r>
            <a:r>
              <a:rPr sz="2050" spc="-254" dirty="0">
                <a:solidFill>
                  <a:srgbClr val="231F20"/>
                </a:solidFill>
                <a:latin typeface="Lucida Sans Unicode"/>
                <a:cs typeface="Lucida Sans Unicode"/>
              </a:rPr>
              <a:t>∧</a:t>
            </a:r>
            <a:r>
              <a:rPr sz="2050" spc="-204" dirty="0">
                <a:solidFill>
                  <a:srgbClr val="231F20"/>
                </a:solidFill>
                <a:latin typeface="Lucida Sans Unicode"/>
                <a:cs typeface="Lucida Sans Unicode"/>
              </a:rPr>
              <a:t> </a:t>
            </a:r>
            <a:r>
              <a:rPr sz="2050" spc="70" dirty="0">
                <a:solidFill>
                  <a:srgbClr val="231F20"/>
                </a:solidFill>
                <a:latin typeface="Tahoma"/>
                <a:cs typeface="Tahoma"/>
              </a:rPr>
              <a:t>(</a:t>
            </a:r>
            <a:r>
              <a:rPr sz="2050" i="1" spc="70" dirty="0">
                <a:solidFill>
                  <a:srgbClr val="231F20"/>
                </a:solidFill>
                <a:latin typeface="Meiryo"/>
                <a:cs typeface="Meiryo"/>
              </a:rPr>
              <a:t>C</a:t>
            </a:r>
            <a:r>
              <a:rPr sz="2050" i="1" spc="-105" dirty="0">
                <a:solidFill>
                  <a:srgbClr val="231F20"/>
                </a:solidFill>
                <a:latin typeface="Meiryo"/>
                <a:cs typeface="Meiryo"/>
              </a:rPr>
              <a:t> </a:t>
            </a:r>
            <a:r>
              <a:rPr sz="2050" spc="-254" dirty="0">
                <a:solidFill>
                  <a:srgbClr val="231F20"/>
                </a:solidFill>
                <a:latin typeface="Lucida Sans Unicode"/>
                <a:cs typeface="Lucida Sans Unicode"/>
              </a:rPr>
              <a:t>∨</a:t>
            </a:r>
            <a:r>
              <a:rPr sz="2050" spc="-200" dirty="0">
                <a:solidFill>
                  <a:srgbClr val="231F20"/>
                </a:solidFill>
                <a:latin typeface="Lucida Sans Unicode"/>
                <a:cs typeface="Lucida Sans Unicode"/>
              </a:rPr>
              <a:t> </a:t>
            </a:r>
            <a:r>
              <a:rPr sz="2050" i="1" spc="120" dirty="0">
                <a:solidFill>
                  <a:srgbClr val="231F20"/>
                </a:solidFill>
                <a:latin typeface="Meiryo"/>
                <a:cs typeface="Meiryo"/>
              </a:rPr>
              <a:t>D</a:t>
            </a:r>
            <a:r>
              <a:rPr sz="2050" spc="120" dirty="0">
                <a:solidFill>
                  <a:srgbClr val="231F20"/>
                </a:solidFill>
                <a:latin typeface="Tahoma"/>
                <a:cs typeface="Tahoma"/>
              </a:rPr>
              <a:t>)</a:t>
            </a:r>
            <a:r>
              <a:rPr sz="2050" spc="-195" dirty="0">
                <a:solidFill>
                  <a:srgbClr val="231F20"/>
                </a:solidFill>
                <a:latin typeface="Tahoma"/>
                <a:cs typeface="Tahoma"/>
              </a:rPr>
              <a:t> </a:t>
            </a:r>
            <a:r>
              <a:rPr sz="2050" spc="-254" dirty="0">
                <a:solidFill>
                  <a:srgbClr val="231F20"/>
                </a:solidFill>
                <a:latin typeface="Lucida Sans Unicode"/>
                <a:cs typeface="Lucida Sans Unicode"/>
              </a:rPr>
              <a:t>∧</a:t>
            </a:r>
            <a:r>
              <a:rPr sz="2050" spc="-204" dirty="0">
                <a:solidFill>
                  <a:srgbClr val="231F20"/>
                </a:solidFill>
                <a:latin typeface="Lucida Sans Unicode"/>
                <a:cs typeface="Lucida Sans Unicode"/>
              </a:rPr>
              <a:t> </a:t>
            </a:r>
            <a:r>
              <a:rPr sz="2050" i="1" spc="254" dirty="0">
                <a:solidFill>
                  <a:srgbClr val="231F20"/>
                </a:solidFill>
                <a:latin typeface="Meiryo"/>
                <a:cs typeface="Meiryo"/>
              </a:rPr>
              <a:t>E</a:t>
            </a:r>
            <a:endParaRPr sz="2050">
              <a:latin typeface="Meiryo"/>
              <a:cs typeface="Meiryo"/>
            </a:endParaRPr>
          </a:p>
          <a:p>
            <a:pPr marL="300990" indent="-288290">
              <a:lnSpc>
                <a:spcPct val="100000"/>
              </a:lnSpc>
              <a:spcBef>
                <a:spcPts val="1600"/>
              </a:spcBef>
              <a:buSzPct val="105128"/>
              <a:buFont typeface="Lucida Sans Unicode"/>
              <a:buChar char="•"/>
              <a:tabLst>
                <a:tab pos="301625" algn="l"/>
              </a:tabLst>
            </a:pPr>
            <a:r>
              <a:rPr sz="1950" spc="165" dirty="0">
                <a:solidFill>
                  <a:srgbClr val="231F20"/>
                </a:solidFill>
                <a:latin typeface="Arial"/>
                <a:cs typeface="Arial"/>
              </a:rPr>
              <a:t>Get </a:t>
            </a:r>
            <a:r>
              <a:rPr sz="1950" spc="85" dirty="0">
                <a:solidFill>
                  <a:srgbClr val="231F20"/>
                </a:solidFill>
                <a:latin typeface="Arial"/>
                <a:cs typeface="Arial"/>
              </a:rPr>
              <a:t>a </a:t>
            </a:r>
            <a:r>
              <a:rPr sz="1950" spc="145" dirty="0">
                <a:solidFill>
                  <a:srgbClr val="0000FF"/>
                </a:solidFill>
                <a:latin typeface="Arial"/>
                <a:cs typeface="Arial"/>
              </a:rPr>
              <a:t>solution </a:t>
            </a:r>
            <a:r>
              <a:rPr sz="1950" spc="210" dirty="0">
                <a:solidFill>
                  <a:srgbClr val="0000FF"/>
                </a:solidFill>
                <a:latin typeface="Arial"/>
                <a:cs typeface="Arial"/>
              </a:rPr>
              <a:t>from </a:t>
            </a:r>
            <a:r>
              <a:rPr sz="1950" spc="85" dirty="0">
                <a:solidFill>
                  <a:srgbClr val="0000FF"/>
                </a:solidFill>
                <a:latin typeface="Arial"/>
                <a:cs typeface="Arial"/>
              </a:rPr>
              <a:t>a </a:t>
            </a:r>
            <a:r>
              <a:rPr sz="1950" spc="250" dirty="0">
                <a:solidFill>
                  <a:srgbClr val="0000FF"/>
                </a:solidFill>
                <a:latin typeface="Arial"/>
                <a:cs typeface="Arial"/>
              </a:rPr>
              <a:t>SAT </a:t>
            </a:r>
            <a:r>
              <a:rPr sz="1950" spc="90" dirty="0">
                <a:solidFill>
                  <a:srgbClr val="0000FF"/>
                </a:solidFill>
                <a:latin typeface="Arial"/>
                <a:cs typeface="Arial"/>
              </a:rPr>
              <a:t>solver </a:t>
            </a:r>
            <a:r>
              <a:rPr sz="1950" spc="210" dirty="0">
                <a:solidFill>
                  <a:srgbClr val="231F20"/>
                </a:solidFill>
                <a:latin typeface="Arial"/>
                <a:cs typeface="Arial"/>
              </a:rPr>
              <a:t>(if </a:t>
            </a:r>
            <a:r>
              <a:rPr sz="1950" spc="125" dirty="0">
                <a:solidFill>
                  <a:srgbClr val="231F20"/>
                </a:solidFill>
                <a:latin typeface="Arial"/>
                <a:cs typeface="Arial"/>
              </a:rPr>
              <a:t>none, </a:t>
            </a:r>
            <a:r>
              <a:rPr sz="1950" spc="95" dirty="0">
                <a:solidFill>
                  <a:srgbClr val="231F20"/>
                </a:solidFill>
                <a:latin typeface="Arial"/>
                <a:cs typeface="Arial"/>
              </a:rPr>
              <a:t>we </a:t>
            </a:r>
            <a:r>
              <a:rPr sz="1950" spc="65" dirty="0">
                <a:solidFill>
                  <a:srgbClr val="231F20"/>
                </a:solidFill>
                <a:latin typeface="Arial"/>
                <a:cs typeface="Arial"/>
              </a:rPr>
              <a:t>are  </a:t>
            </a:r>
            <a:r>
              <a:rPr sz="1950" spc="415" dirty="0">
                <a:solidFill>
                  <a:srgbClr val="231F20"/>
                </a:solidFill>
                <a:latin typeface="Arial"/>
                <a:cs typeface="Arial"/>
              </a:rPr>
              <a:t> </a:t>
            </a:r>
            <a:r>
              <a:rPr sz="1950" spc="155" dirty="0">
                <a:solidFill>
                  <a:srgbClr val="231F20"/>
                </a:solidFill>
                <a:latin typeface="Arial"/>
                <a:cs typeface="Arial"/>
              </a:rPr>
              <a:t>done)</a:t>
            </a:r>
            <a:endParaRPr sz="1950">
              <a:latin typeface="Arial"/>
              <a:cs typeface="Arial"/>
            </a:endParaRPr>
          </a:p>
          <a:p>
            <a:pPr marL="741680" lvl="1" indent="-288290">
              <a:lnSpc>
                <a:spcPct val="100000"/>
              </a:lnSpc>
              <a:spcBef>
                <a:spcPts val="894"/>
              </a:spcBef>
              <a:buSzPct val="105128"/>
              <a:buFont typeface="Lucida Sans Unicode"/>
              <a:buChar char="◦"/>
              <a:tabLst>
                <a:tab pos="742315" algn="l"/>
              </a:tabLst>
            </a:pPr>
            <a:r>
              <a:rPr sz="1950" spc="114" dirty="0">
                <a:solidFill>
                  <a:srgbClr val="231F20"/>
                </a:solidFill>
                <a:latin typeface="Arial"/>
                <a:cs typeface="Arial"/>
              </a:rPr>
              <a:t>e.g.,</a:t>
            </a:r>
            <a:r>
              <a:rPr sz="1950" spc="245" dirty="0">
                <a:solidFill>
                  <a:srgbClr val="231F20"/>
                </a:solidFill>
                <a:latin typeface="Arial"/>
                <a:cs typeface="Arial"/>
              </a:rPr>
              <a:t> </a:t>
            </a:r>
            <a:r>
              <a:rPr sz="2050" i="1" spc="10" dirty="0">
                <a:solidFill>
                  <a:srgbClr val="231F20"/>
                </a:solidFill>
                <a:latin typeface="Meiryo"/>
                <a:cs typeface="Meiryo"/>
              </a:rPr>
              <a:t>A,</a:t>
            </a:r>
            <a:r>
              <a:rPr sz="2050" i="1" spc="-370" dirty="0">
                <a:solidFill>
                  <a:srgbClr val="231F20"/>
                </a:solidFill>
                <a:latin typeface="Meiryo"/>
                <a:cs typeface="Meiryo"/>
              </a:rPr>
              <a:t> </a:t>
            </a:r>
            <a:r>
              <a:rPr sz="2050" i="1" spc="40" dirty="0">
                <a:solidFill>
                  <a:srgbClr val="231F20"/>
                </a:solidFill>
                <a:latin typeface="Meiryo"/>
                <a:cs typeface="Meiryo"/>
              </a:rPr>
              <a:t>D,</a:t>
            </a:r>
            <a:r>
              <a:rPr sz="2050" i="1" spc="-370" dirty="0">
                <a:solidFill>
                  <a:srgbClr val="231F20"/>
                </a:solidFill>
                <a:latin typeface="Meiryo"/>
                <a:cs typeface="Meiryo"/>
              </a:rPr>
              <a:t> </a:t>
            </a:r>
            <a:r>
              <a:rPr sz="2050" i="1" spc="254" dirty="0">
                <a:solidFill>
                  <a:srgbClr val="231F20"/>
                </a:solidFill>
                <a:latin typeface="Meiryo"/>
                <a:cs typeface="Meiryo"/>
              </a:rPr>
              <a:t>E</a:t>
            </a:r>
            <a:endParaRPr sz="2050">
              <a:latin typeface="Meiryo"/>
              <a:cs typeface="Meiryo"/>
            </a:endParaRPr>
          </a:p>
          <a:p>
            <a:pPr marL="300990" marR="631825" indent="-288290">
              <a:lnSpc>
                <a:spcPct val="125000"/>
              </a:lnSpc>
              <a:spcBef>
                <a:spcPts val="1015"/>
              </a:spcBef>
              <a:buClr>
                <a:srgbClr val="231F20"/>
              </a:buClr>
              <a:buSzPct val="105128"/>
              <a:buFont typeface="Lucida Sans Unicode"/>
              <a:buChar char="•"/>
              <a:tabLst>
                <a:tab pos="301625" algn="l"/>
              </a:tabLst>
            </a:pPr>
            <a:r>
              <a:rPr sz="1950" spc="114" dirty="0">
                <a:solidFill>
                  <a:srgbClr val="0000FF"/>
                </a:solidFill>
                <a:latin typeface="Arial"/>
                <a:cs typeface="Arial"/>
              </a:rPr>
              <a:t>Restore </a:t>
            </a:r>
            <a:r>
              <a:rPr sz="1950" spc="175" dirty="0">
                <a:solidFill>
                  <a:srgbClr val="0000FF"/>
                </a:solidFill>
                <a:latin typeface="Arial"/>
                <a:cs typeface="Arial"/>
              </a:rPr>
              <a:t>the </a:t>
            </a:r>
            <a:r>
              <a:rPr sz="1950" spc="160" dirty="0">
                <a:solidFill>
                  <a:srgbClr val="0000FF"/>
                </a:solidFill>
                <a:latin typeface="Arial"/>
                <a:cs typeface="Arial"/>
              </a:rPr>
              <a:t>interpretation </a:t>
            </a:r>
            <a:r>
              <a:rPr sz="1950" spc="185" dirty="0">
                <a:solidFill>
                  <a:srgbClr val="0000FF"/>
                </a:solidFill>
                <a:latin typeface="Arial"/>
                <a:cs typeface="Arial"/>
              </a:rPr>
              <a:t>of </a:t>
            </a:r>
            <a:r>
              <a:rPr sz="1950" spc="85" dirty="0">
                <a:solidFill>
                  <a:srgbClr val="0000FF"/>
                </a:solidFill>
                <a:latin typeface="Arial"/>
                <a:cs typeface="Arial"/>
              </a:rPr>
              <a:t>variables </a:t>
            </a:r>
            <a:r>
              <a:rPr sz="1950" spc="130" dirty="0">
                <a:solidFill>
                  <a:srgbClr val="0000FF"/>
                </a:solidFill>
                <a:latin typeface="Arial"/>
                <a:cs typeface="Arial"/>
              </a:rPr>
              <a:t>and </a:t>
            </a:r>
            <a:r>
              <a:rPr sz="1950" spc="70" dirty="0">
                <a:solidFill>
                  <a:srgbClr val="0000FF"/>
                </a:solidFill>
                <a:latin typeface="Arial"/>
                <a:cs typeface="Arial"/>
              </a:rPr>
              <a:t>send </a:t>
            </a:r>
            <a:r>
              <a:rPr sz="1950" spc="175" dirty="0">
                <a:solidFill>
                  <a:srgbClr val="0000FF"/>
                </a:solidFill>
                <a:latin typeface="Arial"/>
                <a:cs typeface="Arial"/>
              </a:rPr>
              <a:t>the  </a:t>
            </a:r>
            <a:r>
              <a:rPr sz="1950" spc="165" dirty="0">
                <a:solidFill>
                  <a:srgbClr val="0000FF"/>
                </a:solidFill>
                <a:latin typeface="Arial"/>
                <a:cs typeface="Arial"/>
              </a:rPr>
              <a:t>conjunction </a:t>
            </a:r>
            <a:r>
              <a:rPr sz="1950" spc="250" dirty="0">
                <a:solidFill>
                  <a:srgbClr val="0000FF"/>
                </a:solidFill>
                <a:latin typeface="Arial"/>
                <a:cs typeface="Arial"/>
              </a:rPr>
              <a:t>to </a:t>
            </a:r>
            <a:r>
              <a:rPr sz="1950" spc="175" dirty="0">
                <a:solidFill>
                  <a:srgbClr val="0000FF"/>
                </a:solidFill>
                <a:latin typeface="Arial"/>
                <a:cs typeface="Arial"/>
              </a:rPr>
              <a:t>the </a:t>
            </a:r>
            <a:r>
              <a:rPr sz="1950" spc="95" dirty="0">
                <a:solidFill>
                  <a:srgbClr val="0000FF"/>
                </a:solidFill>
                <a:latin typeface="Arial"/>
                <a:cs typeface="Arial"/>
              </a:rPr>
              <a:t>core </a:t>
            </a:r>
            <a:r>
              <a:rPr sz="1950" spc="100" dirty="0">
                <a:solidFill>
                  <a:srgbClr val="0000FF"/>
                </a:solidFill>
                <a:latin typeface="Arial"/>
                <a:cs typeface="Arial"/>
              </a:rPr>
              <a:t>decision</a:t>
            </a:r>
            <a:r>
              <a:rPr sz="1950" spc="705" dirty="0">
                <a:solidFill>
                  <a:srgbClr val="0000FF"/>
                </a:solidFill>
                <a:latin typeface="Arial"/>
                <a:cs typeface="Arial"/>
              </a:rPr>
              <a:t> </a:t>
            </a:r>
            <a:r>
              <a:rPr sz="1950" spc="120" dirty="0">
                <a:solidFill>
                  <a:srgbClr val="0000FF"/>
                </a:solidFill>
                <a:latin typeface="Arial"/>
                <a:cs typeface="Arial"/>
              </a:rPr>
              <a:t>procedure</a:t>
            </a:r>
            <a:endParaRPr sz="1950">
              <a:latin typeface="Arial"/>
              <a:cs typeface="Arial"/>
            </a:endParaRPr>
          </a:p>
          <a:p>
            <a:pPr marL="741680" lvl="1" indent="-288290">
              <a:lnSpc>
                <a:spcPct val="100000"/>
              </a:lnSpc>
              <a:spcBef>
                <a:spcPts val="900"/>
              </a:spcBef>
              <a:buSzPct val="105128"/>
              <a:buFont typeface="Lucida Sans Unicode"/>
              <a:buChar char="◦"/>
              <a:tabLst>
                <a:tab pos="742315" algn="l"/>
              </a:tabLst>
            </a:pPr>
            <a:r>
              <a:rPr sz="1950" spc="110" dirty="0">
                <a:solidFill>
                  <a:srgbClr val="231F20"/>
                </a:solidFill>
                <a:latin typeface="Arial"/>
                <a:cs typeface="Arial"/>
              </a:rPr>
              <a:t>i.e., </a:t>
            </a:r>
            <a:r>
              <a:rPr sz="2050" i="1" spc="50" dirty="0">
                <a:solidFill>
                  <a:srgbClr val="0000FF"/>
                </a:solidFill>
                <a:latin typeface="Meiryo"/>
                <a:cs typeface="Meiryo"/>
              </a:rPr>
              <a:t>x </a:t>
            </a:r>
            <a:r>
              <a:rPr sz="2050" spc="-25" dirty="0">
                <a:solidFill>
                  <a:srgbClr val="0000FF"/>
                </a:solidFill>
                <a:latin typeface="Lucida Sans Unicode"/>
                <a:cs typeface="Lucida Sans Unicode"/>
              </a:rPr>
              <a:t>≤ </a:t>
            </a:r>
            <a:r>
              <a:rPr sz="2050" i="1" spc="-145" dirty="0">
                <a:solidFill>
                  <a:srgbClr val="0000FF"/>
                </a:solidFill>
                <a:latin typeface="Meiryo"/>
                <a:cs typeface="Meiryo"/>
              </a:rPr>
              <a:t>y </a:t>
            </a:r>
            <a:r>
              <a:rPr sz="2050" spc="-254" dirty="0">
                <a:solidFill>
                  <a:srgbClr val="231F20"/>
                </a:solidFill>
                <a:latin typeface="Lucida Sans Unicode"/>
                <a:cs typeface="Lucida Sans Unicode"/>
              </a:rPr>
              <a:t>∧ </a:t>
            </a:r>
            <a:r>
              <a:rPr sz="2050" i="1" spc="-145" dirty="0">
                <a:solidFill>
                  <a:srgbClr val="0000FF"/>
                </a:solidFill>
                <a:latin typeface="Meiryo"/>
                <a:cs typeface="Meiryo"/>
              </a:rPr>
              <a:t>y </a:t>
            </a:r>
            <a:r>
              <a:rPr sz="2050" spc="-25" dirty="0">
                <a:solidFill>
                  <a:srgbClr val="0000FF"/>
                </a:solidFill>
                <a:latin typeface="Lucida Sans Unicode"/>
                <a:cs typeface="Lucida Sans Unicode"/>
              </a:rPr>
              <a:t>≤ </a:t>
            </a:r>
            <a:r>
              <a:rPr sz="2050" i="1" spc="50" dirty="0">
                <a:solidFill>
                  <a:srgbClr val="0000FF"/>
                </a:solidFill>
                <a:latin typeface="Meiryo"/>
                <a:cs typeface="Meiryo"/>
              </a:rPr>
              <a:t>x </a:t>
            </a:r>
            <a:r>
              <a:rPr sz="2050" spc="-254" dirty="0">
                <a:solidFill>
                  <a:srgbClr val="231F20"/>
                </a:solidFill>
                <a:latin typeface="Lucida Sans Unicode"/>
                <a:cs typeface="Lucida Sans Unicode"/>
              </a:rPr>
              <a:t>∧ </a:t>
            </a:r>
            <a:r>
              <a:rPr sz="2050" i="1" spc="50" dirty="0">
                <a:solidFill>
                  <a:srgbClr val="0000FF"/>
                </a:solidFill>
                <a:latin typeface="Meiryo"/>
                <a:cs typeface="Meiryo"/>
              </a:rPr>
              <a:t>x</a:t>
            </a:r>
            <a:r>
              <a:rPr sz="2050" i="1" spc="-415" dirty="0">
                <a:solidFill>
                  <a:srgbClr val="0000FF"/>
                </a:solidFill>
                <a:latin typeface="Meiryo"/>
                <a:cs typeface="Meiryo"/>
              </a:rPr>
              <a:t> </a:t>
            </a:r>
            <a:r>
              <a:rPr sz="2050" spc="-340" dirty="0">
                <a:solidFill>
                  <a:srgbClr val="0000FF"/>
                </a:solidFill>
                <a:latin typeface="Lucida Sans Unicode"/>
                <a:cs typeface="Lucida Sans Unicode"/>
              </a:rPr>
              <a:t>ƒ</a:t>
            </a:r>
            <a:r>
              <a:rPr sz="2050" spc="-340" dirty="0">
                <a:solidFill>
                  <a:srgbClr val="0000FF"/>
                </a:solidFill>
                <a:latin typeface="Tahoma"/>
                <a:cs typeface="Tahoma"/>
              </a:rPr>
              <a:t>=  </a:t>
            </a:r>
            <a:r>
              <a:rPr sz="2050" i="1" spc="-145" dirty="0">
                <a:solidFill>
                  <a:srgbClr val="0000FF"/>
                </a:solidFill>
                <a:latin typeface="Meiryo"/>
                <a:cs typeface="Meiryo"/>
              </a:rPr>
              <a:t>y</a:t>
            </a:r>
            <a:endParaRPr sz="2050">
              <a:latin typeface="Meiryo"/>
              <a:cs typeface="Meiryo"/>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39" y="475981"/>
            <a:ext cx="7995920" cy="6089650"/>
          </a:xfrm>
          <a:prstGeom prst="rect">
            <a:avLst/>
          </a:prstGeom>
        </p:spPr>
        <p:txBody>
          <a:bodyPr vert="horz" wrap="square" lIns="0" tIns="0" rIns="0" bIns="0" rtlCol="0">
            <a:spAutoFit/>
          </a:bodyPr>
          <a:lstStyle/>
          <a:p>
            <a:pPr marL="1245235">
              <a:lnSpc>
                <a:spcPct val="100000"/>
              </a:lnSpc>
            </a:pPr>
            <a:r>
              <a:rPr sz="1950" spc="525" dirty="0">
                <a:solidFill>
                  <a:srgbClr val="231F20"/>
                </a:solidFill>
                <a:latin typeface="Arial"/>
                <a:cs typeface="Arial"/>
              </a:rPr>
              <a:t>SMT </a:t>
            </a:r>
            <a:r>
              <a:rPr sz="1950" spc="220" dirty="0">
                <a:solidFill>
                  <a:srgbClr val="231F20"/>
                </a:solidFill>
                <a:latin typeface="Arial"/>
                <a:cs typeface="Arial"/>
              </a:rPr>
              <a:t>Solving </a:t>
            </a:r>
            <a:r>
              <a:rPr sz="1950" spc="200" dirty="0">
                <a:solidFill>
                  <a:srgbClr val="231F20"/>
                </a:solidFill>
                <a:latin typeface="Arial"/>
                <a:cs typeface="Arial"/>
              </a:rPr>
              <a:t>by </a:t>
            </a:r>
            <a:r>
              <a:rPr sz="1950" spc="360" dirty="0">
                <a:solidFill>
                  <a:srgbClr val="231F20"/>
                </a:solidFill>
                <a:latin typeface="Arial"/>
                <a:cs typeface="Arial"/>
              </a:rPr>
              <a:t>“Lemmas </a:t>
            </a:r>
            <a:r>
              <a:rPr sz="1950" spc="425" dirty="0">
                <a:solidFill>
                  <a:srgbClr val="231F20"/>
                </a:solidFill>
                <a:latin typeface="Arial"/>
                <a:cs typeface="Arial"/>
              </a:rPr>
              <a:t>On</a:t>
            </a:r>
            <a:r>
              <a:rPr sz="1950" spc="509" dirty="0">
                <a:solidFill>
                  <a:srgbClr val="231F20"/>
                </a:solidFill>
                <a:latin typeface="Arial"/>
                <a:cs typeface="Arial"/>
              </a:rPr>
              <a:t> </a:t>
            </a:r>
            <a:r>
              <a:rPr sz="1950" spc="370" dirty="0">
                <a:solidFill>
                  <a:srgbClr val="231F20"/>
                </a:solidFill>
                <a:latin typeface="Arial"/>
                <a:cs typeface="Arial"/>
              </a:rPr>
              <a:t>Demand”</a:t>
            </a:r>
            <a:endParaRPr sz="1950">
              <a:latin typeface="Arial"/>
              <a:cs typeface="Arial"/>
            </a:endParaRPr>
          </a:p>
          <a:p>
            <a:pPr marL="300990" indent="-288290">
              <a:lnSpc>
                <a:spcPct val="100000"/>
              </a:lnSpc>
              <a:spcBef>
                <a:spcPts val="1614"/>
              </a:spcBef>
              <a:buSzPct val="105128"/>
              <a:buFont typeface="Lucida Sans Unicode"/>
              <a:buChar char="•"/>
              <a:tabLst>
                <a:tab pos="301625" algn="l"/>
              </a:tabLst>
            </a:pPr>
            <a:r>
              <a:rPr sz="1950" spc="150" dirty="0">
                <a:solidFill>
                  <a:srgbClr val="231F20"/>
                </a:solidFill>
                <a:latin typeface="Arial"/>
                <a:cs typeface="Arial"/>
              </a:rPr>
              <a:t>If </a:t>
            </a:r>
            <a:r>
              <a:rPr sz="1950" spc="110" dirty="0">
                <a:solidFill>
                  <a:srgbClr val="231F20"/>
                </a:solidFill>
                <a:latin typeface="Arial"/>
                <a:cs typeface="Arial"/>
              </a:rPr>
              <a:t>satisfiable, </a:t>
            </a:r>
            <a:r>
              <a:rPr sz="1950" spc="95" dirty="0">
                <a:solidFill>
                  <a:srgbClr val="231F20"/>
                </a:solidFill>
                <a:latin typeface="Arial"/>
                <a:cs typeface="Arial"/>
              </a:rPr>
              <a:t>we </a:t>
            </a:r>
            <a:r>
              <a:rPr sz="1950" spc="65" dirty="0">
                <a:solidFill>
                  <a:srgbClr val="231F20"/>
                </a:solidFill>
                <a:latin typeface="Arial"/>
                <a:cs typeface="Arial"/>
              </a:rPr>
              <a:t>are </a:t>
            </a:r>
            <a:r>
              <a:rPr sz="1950" spc="120" dirty="0">
                <a:solidFill>
                  <a:srgbClr val="231F20"/>
                </a:solidFill>
                <a:latin typeface="Arial"/>
                <a:cs typeface="Arial"/>
              </a:rPr>
              <a:t> </a:t>
            </a:r>
            <a:r>
              <a:rPr sz="1950" spc="120" dirty="0">
                <a:solidFill>
                  <a:srgbClr val="0000FF"/>
                </a:solidFill>
                <a:latin typeface="Arial"/>
                <a:cs typeface="Arial"/>
              </a:rPr>
              <a:t>done</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50" dirty="0">
                <a:solidFill>
                  <a:srgbClr val="231F20"/>
                </a:solidFill>
                <a:latin typeface="Arial"/>
                <a:cs typeface="Arial"/>
              </a:rPr>
              <a:t>If </a:t>
            </a:r>
            <a:r>
              <a:rPr sz="1950" spc="200" dirty="0">
                <a:solidFill>
                  <a:srgbClr val="231F20"/>
                </a:solidFill>
                <a:latin typeface="Arial"/>
                <a:cs typeface="Arial"/>
              </a:rPr>
              <a:t>not, </a:t>
            </a:r>
            <a:r>
              <a:rPr sz="1950" spc="85" dirty="0">
                <a:solidFill>
                  <a:srgbClr val="231F20"/>
                </a:solidFill>
                <a:latin typeface="Arial"/>
                <a:cs typeface="Arial"/>
              </a:rPr>
              <a:t>ask </a:t>
            </a:r>
            <a:r>
              <a:rPr sz="1950" spc="250" dirty="0">
                <a:solidFill>
                  <a:srgbClr val="231F20"/>
                </a:solidFill>
                <a:latin typeface="Arial"/>
                <a:cs typeface="Arial"/>
              </a:rPr>
              <a:t>SAT </a:t>
            </a:r>
            <a:r>
              <a:rPr sz="1950" spc="90" dirty="0">
                <a:solidFill>
                  <a:srgbClr val="231F20"/>
                </a:solidFill>
                <a:latin typeface="Arial"/>
                <a:cs typeface="Arial"/>
              </a:rPr>
              <a:t>solver </a:t>
            </a:r>
            <a:r>
              <a:rPr sz="1950" spc="155" dirty="0">
                <a:solidFill>
                  <a:srgbClr val="231F20"/>
                </a:solidFill>
                <a:latin typeface="Arial"/>
                <a:cs typeface="Arial"/>
              </a:rPr>
              <a:t>for </a:t>
            </a:r>
            <a:r>
              <a:rPr sz="1950" spc="85" dirty="0">
                <a:solidFill>
                  <a:srgbClr val="231F20"/>
                </a:solidFill>
                <a:latin typeface="Arial"/>
                <a:cs typeface="Arial"/>
              </a:rPr>
              <a:t>a </a:t>
            </a:r>
            <a:r>
              <a:rPr sz="1950" spc="135" dirty="0">
                <a:solidFill>
                  <a:srgbClr val="0000FF"/>
                </a:solidFill>
                <a:latin typeface="Arial"/>
                <a:cs typeface="Arial"/>
              </a:rPr>
              <a:t>new </a:t>
            </a:r>
            <a:r>
              <a:rPr sz="1950" spc="555" dirty="0">
                <a:solidFill>
                  <a:srgbClr val="0000FF"/>
                </a:solidFill>
                <a:latin typeface="Arial"/>
                <a:cs typeface="Arial"/>
              </a:rPr>
              <a:t> </a:t>
            </a:r>
            <a:r>
              <a:rPr sz="1950" spc="125" dirty="0">
                <a:solidFill>
                  <a:srgbClr val="0000FF"/>
                </a:solidFill>
                <a:latin typeface="Arial"/>
                <a:cs typeface="Arial"/>
              </a:rPr>
              <a:t>assignment</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275" dirty="0">
                <a:solidFill>
                  <a:srgbClr val="FF0000"/>
                </a:solidFill>
                <a:latin typeface="Arial"/>
                <a:cs typeface="Arial"/>
              </a:rPr>
              <a:t>But </a:t>
            </a:r>
            <a:r>
              <a:rPr sz="1950" spc="165" dirty="0">
                <a:solidFill>
                  <a:srgbClr val="FF0000"/>
                </a:solidFill>
                <a:latin typeface="Arial"/>
                <a:cs typeface="Arial"/>
              </a:rPr>
              <a:t>isn’t </a:t>
            </a:r>
            <a:r>
              <a:rPr sz="1950" spc="229" dirty="0">
                <a:solidFill>
                  <a:srgbClr val="FF0000"/>
                </a:solidFill>
                <a:latin typeface="Arial"/>
                <a:cs typeface="Arial"/>
              </a:rPr>
              <a:t>it </a:t>
            </a:r>
            <a:r>
              <a:rPr sz="1950" spc="80" dirty="0">
                <a:solidFill>
                  <a:srgbClr val="FF0000"/>
                </a:solidFill>
                <a:latin typeface="Arial"/>
                <a:cs typeface="Arial"/>
              </a:rPr>
              <a:t>expensive </a:t>
            </a:r>
            <a:r>
              <a:rPr sz="1950" spc="250" dirty="0">
                <a:solidFill>
                  <a:srgbClr val="FF0000"/>
                </a:solidFill>
                <a:latin typeface="Arial"/>
                <a:cs typeface="Arial"/>
              </a:rPr>
              <a:t>to </a:t>
            </a:r>
            <a:r>
              <a:rPr sz="1950" spc="75" dirty="0">
                <a:solidFill>
                  <a:srgbClr val="FF0000"/>
                </a:solidFill>
                <a:latin typeface="Arial"/>
                <a:cs typeface="Arial"/>
              </a:rPr>
              <a:t>keep </a:t>
            </a:r>
            <a:r>
              <a:rPr sz="1950" spc="145" dirty="0">
                <a:solidFill>
                  <a:srgbClr val="FF0000"/>
                </a:solidFill>
                <a:latin typeface="Arial"/>
                <a:cs typeface="Arial"/>
              </a:rPr>
              <a:t>doing </a:t>
            </a:r>
            <a:r>
              <a:rPr sz="1950" spc="210" dirty="0">
                <a:solidFill>
                  <a:srgbClr val="FF0000"/>
                </a:solidFill>
                <a:latin typeface="Arial"/>
                <a:cs typeface="Arial"/>
              </a:rPr>
              <a:t> </a:t>
            </a:r>
            <a:r>
              <a:rPr sz="1950" spc="135" dirty="0">
                <a:solidFill>
                  <a:srgbClr val="FF0000"/>
                </a:solidFill>
                <a:latin typeface="Arial"/>
                <a:cs typeface="Arial"/>
              </a:rPr>
              <a:t>this</a:t>
            </a:r>
            <a:r>
              <a:rPr sz="1950" spc="135" dirty="0">
                <a:solidFill>
                  <a:srgbClr val="231F20"/>
                </a:solidFill>
                <a:latin typeface="Arial"/>
                <a:cs typeface="Arial"/>
              </a:rPr>
              <a:t>?</a:t>
            </a:r>
            <a:endParaRPr sz="1950">
              <a:latin typeface="Arial"/>
              <a:cs typeface="Arial"/>
            </a:endParaRPr>
          </a:p>
          <a:p>
            <a:pPr marL="300990" marR="5080" indent="-288290">
              <a:lnSpc>
                <a:spcPct val="125000"/>
              </a:lnSpc>
              <a:spcBef>
                <a:spcPts val="1035"/>
              </a:spcBef>
              <a:buClr>
                <a:srgbClr val="231F20"/>
              </a:buClr>
              <a:buSzPct val="105128"/>
              <a:buFont typeface="Lucida Sans Unicode"/>
              <a:buChar char="•"/>
              <a:tabLst>
                <a:tab pos="301625" algn="l"/>
              </a:tabLst>
            </a:pPr>
            <a:r>
              <a:rPr sz="1950" spc="55" dirty="0">
                <a:solidFill>
                  <a:srgbClr val="0000FF"/>
                </a:solidFill>
                <a:latin typeface="Arial"/>
                <a:cs typeface="Arial"/>
              </a:rPr>
              <a:t>Yes, </a:t>
            </a:r>
            <a:r>
              <a:rPr sz="1950" spc="65" dirty="0">
                <a:solidFill>
                  <a:srgbClr val="0000FF"/>
                </a:solidFill>
                <a:latin typeface="Arial"/>
                <a:cs typeface="Arial"/>
              </a:rPr>
              <a:t>so </a:t>
            </a:r>
            <a:r>
              <a:rPr sz="1950" spc="160" dirty="0">
                <a:solidFill>
                  <a:srgbClr val="0000FF"/>
                </a:solidFill>
                <a:latin typeface="Arial"/>
                <a:cs typeface="Arial"/>
              </a:rPr>
              <a:t>first, </a:t>
            </a:r>
            <a:r>
              <a:rPr sz="1950" spc="155" dirty="0">
                <a:solidFill>
                  <a:srgbClr val="0000FF"/>
                </a:solidFill>
                <a:latin typeface="Arial"/>
                <a:cs typeface="Arial"/>
              </a:rPr>
              <a:t>do </a:t>
            </a:r>
            <a:r>
              <a:rPr sz="1950" spc="85" dirty="0">
                <a:solidFill>
                  <a:srgbClr val="0000FF"/>
                </a:solidFill>
                <a:latin typeface="Arial"/>
                <a:cs typeface="Arial"/>
              </a:rPr>
              <a:t>a </a:t>
            </a:r>
            <a:r>
              <a:rPr sz="1950" spc="175" dirty="0">
                <a:solidFill>
                  <a:srgbClr val="0000FF"/>
                </a:solidFill>
                <a:latin typeface="Arial"/>
                <a:cs typeface="Arial"/>
              </a:rPr>
              <a:t>little </a:t>
            </a:r>
            <a:r>
              <a:rPr sz="1950" spc="204" dirty="0">
                <a:solidFill>
                  <a:srgbClr val="0000FF"/>
                </a:solidFill>
                <a:latin typeface="Arial"/>
                <a:cs typeface="Arial"/>
              </a:rPr>
              <a:t>bit </a:t>
            </a:r>
            <a:r>
              <a:rPr sz="1950" spc="185" dirty="0">
                <a:solidFill>
                  <a:srgbClr val="0000FF"/>
                </a:solidFill>
                <a:latin typeface="Arial"/>
                <a:cs typeface="Arial"/>
              </a:rPr>
              <a:t>of </a:t>
            </a:r>
            <a:r>
              <a:rPr sz="1950" spc="155" dirty="0">
                <a:solidFill>
                  <a:srgbClr val="0000FF"/>
                </a:solidFill>
                <a:latin typeface="Arial"/>
                <a:cs typeface="Arial"/>
              </a:rPr>
              <a:t>work </a:t>
            </a:r>
            <a:r>
              <a:rPr sz="1950" spc="250" dirty="0">
                <a:solidFill>
                  <a:srgbClr val="0000FF"/>
                </a:solidFill>
                <a:latin typeface="Arial"/>
                <a:cs typeface="Arial"/>
              </a:rPr>
              <a:t>to </a:t>
            </a:r>
            <a:r>
              <a:rPr sz="1950" spc="160" dirty="0">
                <a:solidFill>
                  <a:srgbClr val="0000FF"/>
                </a:solidFill>
                <a:latin typeface="Arial"/>
                <a:cs typeface="Arial"/>
              </a:rPr>
              <a:t>find </a:t>
            </a:r>
            <a:r>
              <a:rPr sz="1950" spc="155" dirty="0">
                <a:solidFill>
                  <a:srgbClr val="0000FF"/>
                </a:solidFill>
                <a:latin typeface="Arial"/>
                <a:cs typeface="Arial"/>
              </a:rPr>
              <a:t>fragments </a:t>
            </a:r>
            <a:r>
              <a:rPr sz="1950" spc="235" dirty="0">
                <a:solidFill>
                  <a:srgbClr val="0000FF"/>
                </a:solidFill>
                <a:latin typeface="Arial"/>
                <a:cs typeface="Arial"/>
              </a:rPr>
              <a:t>that </a:t>
            </a:r>
            <a:r>
              <a:rPr sz="1950" spc="1010" dirty="0">
                <a:solidFill>
                  <a:srgbClr val="0000FF"/>
                </a:solidFill>
                <a:latin typeface="Arial"/>
                <a:cs typeface="Arial"/>
              </a:rPr>
              <a:t> </a:t>
            </a:r>
            <a:r>
              <a:rPr sz="1950" spc="105" dirty="0">
                <a:solidFill>
                  <a:srgbClr val="FF0000"/>
                </a:solidFill>
                <a:latin typeface="Arial"/>
                <a:cs typeface="Arial"/>
              </a:rPr>
              <a:t>explain </a:t>
            </a:r>
            <a:r>
              <a:rPr sz="1950" spc="175" dirty="0">
                <a:solidFill>
                  <a:srgbClr val="0000FF"/>
                </a:solidFill>
                <a:latin typeface="Arial"/>
                <a:cs typeface="Arial"/>
              </a:rPr>
              <a:t>the </a:t>
            </a:r>
            <a:r>
              <a:rPr sz="1950" spc="120" dirty="0">
                <a:solidFill>
                  <a:srgbClr val="0000FF"/>
                </a:solidFill>
                <a:latin typeface="Arial"/>
                <a:cs typeface="Arial"/>
              </a:rPr>
              <a:t>unsatisfiability, </a:t>
            </a:r>
            <a:r>
              <a:rPr sz="1950" spc="130" dirty="0">
                <a:solidFill>
                  <a:srgbClr val="0000FF"/>
                </a:solidFill>
                <a:latin typeface="Arial"/>
                <a:cs typeface="Arial"/>
              </a:rPr>
              <a:t>and </a:t>
            </a:r>
            <a:r>
              <a:rPr sz="1950" spc="70" dirty="0">
                <a:solidFill>
                  <a:srgbClr val="0000FF"/>
                </a:solidFill>
                <a:latin typeface="Arial"/>
                <a:cs typeface="Arial"/>
              </a:rPr>
              <a:t>send </a:t>
            </a:r>
            <a:r>
              <a:rPr sz="1950" spc="100" dirty="0">
                <a:solidFill>
                  <a:srgbClr val="0000FF"/>
                </a:solidFill>
                <a:latin typeface="Arial"/>
                <a:cs typeface="Arial"/>
              </a:rPr>
              <a:t>these </a:t>
            </a:r>
            <a:r>
              <a:rPr sz="1950" spc="135" dirty="0">
                <a:solidFill>
                  <a:srgbClr val="0000FF"/>
                </a:solidFill>
                <a:latin typeface="Arial"/>
                <a:cs typeface="Arial"/>
              </a:rPr>
              <a:t>back </a:t>
            </a:r>
            <a:r>
              <a:rPr sz="1950" spc="250" dirty="0">
                <a:solidFill>
                  <a:srgbClr val="0000FF"/>
                </a:solidFill>
                <a:latin typeface="Arial"/>
                <a:cs typeface="Arial"/>
              </a:rPr>
              <a:t>to </a:t>
            </a:r>
            <a:r>
              <a:rPr sz="1950" spc="175" dirty="0">
                <a:solidFill>
                  <a:srgbClr val="0000FF"/>
                </a:solidFill>
                <a:latin typeface="Arial"/>
                <a:cs typeface="Arial"/>
              </a:rPr>
              <a:t>the </a:t>
            </a:r>
            <a:r>
              <a:rPr sz="1950" spc="250" dirty="0">
                <a:solidFill>
                  <a:srgbClr val="0000FF"/>
                </a:solidFill>
                <a:latin typeface="Arial"/>
                <a:cs typeface="Arial"/>
              </a:rPr>
              <a:t>SAT  </a:t>
            </a:r>
            <a:r>
              <a:rPr sz="1950" spc="90" dirty="0">
                <a:solidFill>
                  <a:srgbClr val="0000FF"/>
                </a:solidFill>
                <a:latin typeface="Arial"/>
                <a:cs typeface="Arial"/>
              </a:rPr>
              <a:t>solver </a:t>
            </a:r>
            <a:r>
              <a:rPr sz="1950" spc="30" dirty="0">
                <a:solidFill>
                  <a:srgbClr val="0000FF"/>
                </a:solidFill>
                <a:latin typeface="Arial"/>
                <a:cs typeface="Arial"/>
              </a:rPr>
              <a:t>as </a:t>
            </a:r>
            <a:r>
              <a:rPr sz="1950" spc="145" dirty="0">
                <a:solidFill>
                  <a:srgbClr val="0000FF"/>
                </a:solidFill>
                <a:latin typeface="Arial"/>
                <a:cs typeface="Arial"/>
              </a:rPr>
              <a:t>additional constraints </a:t>
            </a:r>
            <a:r>
              <a:rPr sz="1950" spc="140" dirty="0">
                <a:solidFill>
                  <a:srgbClr val="0000FF"/>
                </a:solidFill>
                <a:latin typeface="Arial"/>
                <a:cs typeface="Arial"/>
              </a:rPr>
              <a:t>(i.e., </a:t>
            </a:r>
            <a:r>
              <a:rPr sz="1950" spc="345" dirty="0">
                <a:solidFill>
                  <a:srgbClr val="0000FF"/>
                </a:solidFill>
                <a:latin typeface="Arial"/>
                <a:cs typeface="Arial"/>
              </a:rPr>
              <a:t> </a:t>
            </a:r>
            <a:r>
              <a:rPr sz="1950" spc="155" dirty="0">
                <a:solidFill>
                  <a:srgbClr val="0000FF"/>
                </a:solidFill>
                <a:latin typeface="Arial"/>
                <a:cs typeface="Arial"/>
              </a:rPr>
              <a:t>lemmas)</a:t>
            </a:r>
            <a:endParaRPr sz="1950">
              <a:latin typeface="Arial"/>
              <a:cs typeface="Arial"/>
            </a:endParaRPr>
          </a:p>
          <a:p>
            <a:pPr marL="741680" lvl="1" indent="-288290">
              <a:lnSpc>
                <a:spcPct val="100000"/>
              </a:lnSpc>
              <a:spcBef>
                <a:spcPts val="900"/>
              </a:spcBef>
              <a:buFont typeface="Lucida Sans Unicode"/>
              <a:buChar char="◦"/>
              <a:tabLst>
                <a:tab pos="742315" algn="l"/>
              </a:tabLst>
            </a:pPr>
            <a:r>
              <a:rPr sz="2050" i="1" spc="160" dirty="0">
                <a:solidFill>
                  <a:srgbClr val="231F20"/>
                </a:solidFill>
                <a:latin typeface="Meiryo"/>
                <a:cs typeface="Meiryo"/>
              </a:rPr>
              <a:t>A </a:t>
            </a:r>
            <a:r>
              <a:rPr sz="2050" spc="-254" dirty="0">
                <a:solidFill>
                  <a:srgbClr val="231F20"/>
                </a:solidFill>
                <a:latin typeface="Lucida Sans Unicode"/>
                <a:cs typeface="Lucida Sans Unicode"/>
              </a:rPr>
              <a:t>∧ </a:t>
            </a:r>
            <a:r>
              <a:rPr sz="2050" i="1" spc="170" dirty="0">
                <a:solidFill>
                  <a:srgbClr val="231F20"/>
                </a:solidFill>
                <a:latin typeface="Meiryo"/>
                <a:cs typeface="Meiryo"/>
              </a:rPr>
              <a:t>D </a:t>
            </a:r>
            <a:r>
              <a:rPr sz="2050" spc="-25" dirty="0">
                <a:solidFill>
                  <a:srgbClr val="231F20"/>
                </a:solidFill>
                <a:latin typeface="Lucida Sans Unicode"/>
                <a:cs typeface="Lucida Sans Unicode"/>
              </a:rPr>
              <a:t>⊃ </a:t>
            </a:r>
            <a:r>
              <a:rPr sz="2050" i="1" spc="-440" dirty="0">
                <a:solidFill>
                  <a:srgbClr val="231F20"/>
                </a:solidFill>
                <a:latin typeface="Meiryo"/>
                <a:cs typeface="Meiryo"/>
              </a:rPr>
              <a:t>E</a:t>
            </a:r>
            <a:r>
              <a:rPr sz="3075" spc="-660" baseline="13550" dirty="0">
                <a:solidFill>
                  <a:srgbClr val="231F20"/>
                </a:solidFill>
                <a:latin typeface="Tahoma"/>
                <a:cs typeface="Tahoma"/>
              </a:rPr>
              <a:t>¯    </a:t>
            </a:r>
            <a:r>
              <a:rPr sz="1950" spc="125" dirty="0">
                <a:solidFill>
                  <a:srgbClr val="231F20"/>
                </a:solidFill>
                <a:latin typeface="Arial"/>
                <a:cs typeface="Arial"/>
              </a:rPr>
              <a:t>(equivalently, </a:t>
            </a:r>
            <a:r>
              <a:rPr sz="2050" i="1" spc="-465" dirty="0">
                <a:solidFill>
                  <a:srgbClr val="231F20"/>
                </a:solidFill>
                <a:latin typeface="Meiryo"/>
                <a:cs typeface="Meiryo"/>
              </a:rPr>
              <a:t>A</a:t>
            </a:r>
            <a:r>
              <a:rPr sz="3075" spc="-697" baseline="13550" dirty="0">
                <a:solidFill>
                  <a:srgbClr val="231F20"/>
                </a:solidFill>
                <a:latin typeface="Tahoma"/>
                <a:cs typeface="Tahoma"/>
              </a:rPr>
              <a:t>¯  </a:t>
            </a:r>
            <a:r>
              <a:rPr sz="2050" spc="-254" dirty="0">
                <a:solidFill>
                  <a:srgbClr val="231F20"/>
                </a:solidFill>
                <a:latin typeface="Lucida Sans Unicode"/>
                <a:cs typeface="Lucida Sans Unicode"/>
              </a:rPr>
              <a:t>∨ </a:t>
            </a:r>
            <a:r>
              <a:rPr sz="2050" i="1" spc="-575" dirty="0">
                <a:solidFill>
                  <a:srgbClr val="231F20"/>
                </a:solidFill>
                <a:latin typeface="Meiryo"/>
                <a:cs typeface="Meiryo"/>
              </a:rPr>
              <a:t>D</a:t>
            </a:r>
            <a:r>
              <a:rPr sz="3075" spc="-862" baseline="13550" dirty="0">
                <a:solidFill>
                  <a:srgbClr val="231F20"/>
                </a:solidFill>
                <a:latin typeface="Tahoma"/>
                <a:cs typeface="Tahoma"/>
              </a:rPr>
              <a:t>¯          </a:t>
            </a:r>
            <a:r>
              <a:rPr sz="2050" spc="-254" dirty="0">
                <a:solidFill>
                  <a:srgbClr val="231F20"/>
                </a:solidFill>
                <a:latin typeface="Lucida Sans Unicode"/>
                <a:cs typeface="Lucida Sans Unicode"/>
              </a:rPr>
              <a:t>∨</a:t>
            </a:r>
            <a:r>
              <a:rPr sz="2050" spc="-370" dirty="0">
                <a:solidFill>
                  <a:srgbClr val="231F20"/>
                </a:solidFill>
                <a:latin typeface="Lucida Sans Unicode"/>
                <a:cs typeface="Lucida Sans Unicode"/>
              </a:rPr>
              <a:t> </a:t>
            </a:r>
            <a:r>
              <a:rPr sz="2050" i="1" spc="-145" dirty="0">
                <a:solidFill>
                  <a:srgbClr val="231F20"/>
                </a:solidFill>
                <a:latin typeface="Meiryo"/>
                <a:cs typeface="Meiryo"/>
              </a:rPr>
              <a:t>E</a:t>
            </a:r>
            <a:r>
              <a:rPr sz="3075" spc="-217" baseline="13550" dirty="0">
                <a:solidFill>
                  <a:srgbClr val="231F20"/>
                </a:solidFill>
                <a:latin typeface="Tahoma"/>
                <a:cs typeface="Tahoma"/>
              </a:rPr>
              <a:t>¯</a:t>
            </a:r>
            <a:r>
              <a:rPr sz="1950" spc="-145" dirty="0">
                <a:solidFill>
                  <a:srgbClr val="231F20"/>
                </a:solidFill>
                <a:latin typeface="Arial"/>
                <a:cs typeface="Arial"/>
              </a:rPr>
              <a:t>)</a:t>
            </a:r>
            <a:endParaRPr sz="1950">
              <a:latin typeface="Arial"/>
              <a:cs typeface="Arial"/>
            </a:endParaRPr>
          </a:p>
          <a:p>
            <a:pPr marL="300990" indent="-288290">
              <a:lnSpc>
                <a:spcPct val="100000"/>
              </a:lnSpc>
              <a:spcBef>
                <a:spcPts val="1600"/>
              </a:spcBef>
              <a:buSzPct val="105128"/>
              <a:buFont typeface="Lucida Sans Unicode"/>
              <a:buChar char="•"/>
              <a:tabLst>
                <a:tab pos="301625" algn="l"/>
              </a:tabLst>
            </a:pPr>
            <a:r>
              <a:rPr sz="1950" spc="155" dirty="0">
                <a:solidFill>
                  <a:srgbClr val="231F20"/>
                </a:solidFill>
                <a:latin typeface="Arial"/>
                <a:cs typeface="Arial"/>
              </a:rPr>
              <a:t>Iterate </a:t>
            </a:r>
            <a:r>
              <a:rPr sz="1950" spc="250" dirty="0">
                <a:solidFill>
                  <a:srgbClr val="231F20"/>
                </a:solidFill>
                <a:latin typeface="Arial"/>
                <a:cs typeface="Arial"/>
              </a:rPr>
              <a:t>to</a:t>
            </a:r>
            <a:r>
              <a:rPr sz="1950" spc="365" dirty="0">
                <a:solidFill>
                  <a:srgbClr val="231F20"/>
                </a:solidFill>
                <a:latin typeface="Arial"/>
                <a:cs typeface="Arial"/>
              </a:rPr>
              <a:t> </a:t>
            </a:r>
            <a:r>
              <a:rPr sz="1950" spc="175" dirty="0">
                <a:solidFill>
                  <a:srgbClr val="231F20"/>
                </a:solidFill>
                <a:latin typeface="Arial"/>
                <a:cs typeface="Arial"/>
              </a:rPr>
              <a:t>termination</a:t>
            </a:r>
            <a:endParaRPr sz="1950">
              <a:latin typeface="Arial"/>
              <a:cs typeface="Arial"/>
            </a:endParaRPr>
          </a:p>
          <a:p>
            <a:pPr marL="453390">
              <a:lnSpc>
                <a:spcPct val="100000"/>
              </a:lnSpc>
              <a:spcBef>
                <a:spcPts val="894"/>
              </a:spcBef>
              <a:tabLst>
                <a:tab pos="741680" algn="l"/>
              </a:tabLst>
            </a:pPr>
            <a:r>
              <a:rPr sz="2050" spc="-120" dirty="0">
                <a:solidFill>
                  <a:srgbClr val="231F20"/>
                </a:solidFill>
                <a:latin typeface="Lucida Sans Unicode"/>
                <a:cs typeface="Lucida Sans Unicode"/>
              </a:rPr>
              <a:t>◦	</a:t>
            </a:r>
            <a:r>
              <a:rPr sz="1950" spc="114" dirty="0">
                <a:solidFill>
                  <a:srgbClr val="231F20"/>
                </a:solidFill>
                <a:latin typeface="Arial"/>
                <a:cs typeface="Arial"/>
              </a:rPr>
              <a:t>e.g.,</a:t>
            </a:r>
            <a:r>
              <a:rPr sz="1950" spc="250" dirty="0">
                <a:solidFill>
                  <a:srgbClr val="231F20"/>
                </a:solidFill>
                <a:latin typeface="Arial"/>
                <a:cs typeface="Arial"/>
              </a:rPr>
              <a:t> </a:t>
            </a:r>
            <a:r>
              <a:rPr sz="2050" i="1" spc="10" dirty="0">
                <a:solidFill>
                  <a:srgbClr val="231F20"/>
                </a:solidFill>
                <a:latin typeface="Meiryo"/>
                <a:cs typeface="Meiryo"/>
              </a:rPr>
              <a:t>A,</a:t>
            </a:r>
            <a:r>
              <a:rPr sz="2050" i="1" spc="-370" dirty="0">
                <a:solidFill>
                  <a:srgbClr val="231F20"/>
                </a:solidFill>
                <a:latin typeface="Meiryo"/>
                <a:cs typeface="Meiryo"/>
              </a:rPr>
              <a:t> </a:t>
            </a:r>
            <a:r>
              <a:rPr sz="2050" i="1" spc="5" dirty="0">
                <a:solidFill>
                  <a:srgbClr val="231F20"/>
                </a:solidFill>
                <a:latin typeface="Meiryo"/>
                <a:cs typeface="Meiryo"/>
              </a:rPr>
              <a:t>C,</a:t>
            </a:r>
            <a:r>
              <a:rPr sz="2050" i="1" spc="-370" dirty="0">
                <a:solidFill>
                  <a:srgbClr val="231F20"/>
                </a:solidFill>
                <a:latin typeface="Meiryo"/>
                <a:cs typeface="Meiryo"/>
              </a:rPr>
              <a:t> </a:t>
            </a:r>
            <a:r>
              <a:rPr sz="2050" i="1" spc="114" dirty="0">
                <a:solidFill>
                  <a:srgbClr val="231F20"/>
                </a:solidFill>
                <a:latin typeface="Meiryo"/>
                <a:cs typeface="Meiryo"/>
              </a:rPr>
              <a:t>E,</a:t>
            </a:r>
            <a:r>
              <a:rPr sz="2050" i="1" spc="-370" dirty="0">
                <a:solidFill>
                  <a:srgbClr val="231F20"/>
                </a:solidFill>
                <a:latin typeface="Meiryo"/>
                <a:cs typeface="Meiryo"/>
              </a:rPr>
              <a:t> </a:t>
            </a:r>
            <a:r>
              <a:rPr sz="2050" i="1" spc="-575" dirty="0">
                <a:solidFill>
                  <a:srgbClr val="231F20"/>
                </a:solidFill>
                <a:latin typeface="Meiryo"/>
                <a:cs typeface="Meiryo"/>
              </a:rPr>
              <a:t>D</a:t>
            </a:r>
            <a:r>
              <a:rPr sz="3075" spc="-862" baseline="13550" dirty="0">
                <a:solidFill>
                  <a:srgbClr val="231F20"/>
                </a:solidFill>
                <a:latin typeface="Tahoma"/>
                <a:cs typeface="Tahoma"/>
              </a:rPr>
              <a:t>¯</a:t>
            </a:r>
            <a:endParaRPr sz="3075" baseline="13550">
              <a:latin typeface="Tahoma"/>
              <a:cs typeface="Tahoma"/>
            </a:endParaRPr>
          </a:p>
          <a:p>
            <a:pPr marL="741680" lvl="1" indent="-288290">
              <a:lnSpc>
                <a:spcPct val="100000"/>
              </a:lnSpc>
              <a:spcBef>
                <a:spcPts val="670"/>
              </a:spcBef>
              <a:buSzPct val="105128"/>
              <a:buFont typeface="Lucida Sans Unicode"/>
              <a:buChar char="◦"/>
              <a:tabLst>
                <a:tab pos="742315" algn="l"/>
              </a:tabLst>
            </a:pPr>
            <a:r>
              <a:rPr sz="1950" spc="110" dirty="0">
                <a:solidFill>
                  <a:srgbClr val="231F20"/>
                </a:solidFill>
                <a:latin typeface="Arial"/>
                <a:cs typeface="Arial"/>
              </a:rPr>
              <a:t>i.e.,</a:t>
            </a:r>
            <a:r>
              <a:rPr sz="1950" spc="280" dirty="0">
                <a:solidFill>
                  <a:srgbClr val="231F20"/>
                </a:solidFill>
                <a:latin typeface="Arial"/>
                <a:cs typeface="Arial"/>
              </a:rPr>
              <a:t> </a:t>
            </a:r>
            <a:r>
              <a:rPr sz="2050" i="1" spc="50" dirty="0">
                <a:solidFill>
                  <a:srgbClr val="0000FF"/>
                </a:solidFill>
                <a:latin typeface="Meiryo"/>
                <a:cs typeface="Meiryo"/>
              </a:rPr>
              <a:t>x</a:t>
            </a:r>
            <a:r>
              <a:rPr sz="2050" i="1" spc="-130" dirty="0">
                <a:solidFill>
                  <a:srgbClr val="0000FF"/>
                </a:solidFill>
                <a:latin typeface="Meiryo"/>
                <a:cs typeface="Meiryo"/>
              </a:rPr>
              <a:t> </a:t>
            </a:r>
            <a:r>
              <a:rPr sz="2050" spc="-25" dirty="0">
                <a:solidFill>
                  <a:srgbClr val="0000FF"/>
                </a:solidFill>
                <a:latin typeface="Lucida Sans Unicode"/>
                <a:cs typeface="Lucida Sans Unicode"/>
              </a:rPr>
              <a:t>≤</a:t>
            </a:r>
            <a:r>
              <a:rPr sz="2050" spc="-80" dirty="0">
                <a:solidFill>
                  <a:srgbClr val="0000FF"/>
                </a:solidFill>
                <a:latin typeface="Lucida Sans Unicode"/>
                <a:cs typeface="Lucida Sans Unicode"/>
              </a:rPr>
              <a:t> </a:t>
            </a:r>
            <a:r>
              <a:rPr sz="2050" i="1" spc="-110" dirty="0">
                <a:solidFill>
                  <a:srgbClr val="0000FF"/>
                </a:solidFill>
                <a:latin typeface="Meiryo"/>
                <a:cs typeface="Meiryo"/>
              </a:rPr>
              <a:t>y</a:t>
            </a:r>
            <a:r>
              <a:rPr sz="2050" i="1" spc="-110" dirty="0">
                <a:solidFill>
                  <a:srgbClr val="231F20"/>
                </a:solidFill>
                <a:latin typeface="Meiryo"/>
                <a:cs typeface="Meiryo"/>
              </a:rPr>
              <a:t>,</a:t>
            </a:r>
            <a:r>
              <a:rPr sz="2050" i="1" spc="-360" dirty="0">
                <a:solidFill>
                  <a:srgbClr val="231F20"/>
                </a:solidFill>
                <a:latin typeface="Meiryo"/>
                <a:cs typeface="Meiryo"/>
              </a:rPr>
              <a:t> </a:t>
            </a:r>
            <a:r>
              <a:rPr sz="2050" i="1" spc="50" dirty="0">
                <a:solidFill>
                  <a:srgbClr val="0000FF"/>
                </a:solidFill>
                <a:latin typeface="Meiryo"/>
                <a:cs typeface="Meiryo"/>
              </a:rPr>
              <a:t>x</a:t>
            </a:r>
            <a:r>
              <a:rPr sz="2050" i="1" spc="-130" dirty="0">
                <a:solidFill>
                  <a:srgbClr val="0000FF"/>
                </a:solidFill>
                <a:latin typeface="Meiryo"/>
                <a:cs typeface="Meiryo"/>
              </a:rPr>
              <a:t> </a:t>
            </a:r>
            <a:r>
              <a:rPr sz="2050" i="1" spc="-40" dirty="0">
                <a:solidFill>
                  <a:srgbClr val="0000FF"/>
                </a:solidFill>
                <a:latin typeface="Meiryo"/>
                <a:cs typeface="Meiryo"/>
              </a:rPr>
              <a:t>&lt;</a:t>
            </a:r>
            <a:r>
              <a:rPr sz="2050" i="1" spc="-130" dirty="0">
                <a:solidFill>
                  <a:srgbClr val="0000FF"/>
                </a:solidFill>
                <a:latin typeface="Meiryo"/>
                <a:cs typeface="Meiryo"/>
              </a:rPr>
              <a:t> </a:t>
            </a:r>
            <a:r>
              <a:rPr sz="2050" spc="-114" dirty="0">
                <a:solidFill>
                  <a:srgbClr val="0000FF"/>
                </a:solidFill>
                <a:latin typeface="Tahoma"/>
                <a:cs typeface="Tahoma"/>
              </a:rPr>
              <a:t>0</a:t>
            </a:r>
            <a:r>
              <a:rPr sz="2050" i="1" spc="-114" dirty="0">
                <a:solidFill>
                  <a:srgbClr val="231F20"/>
                </a:solidFill>
                <a:latin typeface="Meiryo"/>
                <a:cs typeface="Meiryo"/>
              </a:rPr>
              <a:t>,</a:t>
            </a:r>
            <a:r>
              <a:rPr sz="2050" i="1" spc="-360" dirty="0">
                <a:solidFill>
                  <a:srgbClr val="231F20"/>
                </a:solidFill>
                <a:latin typeface="Meiryo"/>
                <a:cs typeface="Meiryo"/>
              </a:rPr>
              <a:t> </a:t>
            </a:r>
            <a:r>
              <a:rPr sz="2050" i="1" spc="50" dirty="0">
                <a:solidFill>
                  <a:srgbClr val="0000FF"/>
                </a:solidFill>
                <a:latin typeface="Meiryo"/>
                <a:cs typeface="Meiryo"/>
              </a:rPr>
              <a:t>x</a:t>
            </a:r>
            <a:r>
              <a:rPr sz="2050" i="1" spc="-130" dirty="0">
                <a:solidFill>
                  <a:srgbClr val="0000FF"/>
                </a:solidFill>
                <a:latin typeface="Meiryo"/>
                <a:cs typeface="Meiryo"/>
              </a:rPr>
              <a:t> </a:t>
            </a:r>
            <a:r>
              <a:rPr sz="2050" spc="-340" dirty="0">
                <a:solidFill>
                  <a:srgbClr val="0000FF"/>
                </a:solidFill>
                <a:latin typeface="Lucida Sans Unicode"/>
                <a:cs typeface="Lucida Sans Unicode"/>
              </a:rPr>
              <a:t>ƒ</a:t>
            </a:r>
            <a:r>
              <a:rPr sz="2050" spc="-340" dirty="0">
                <a:solidFill>
                  <a:srgbClr val="0000FF"/>
                </a:solidFill>
                <a:latin typeface="Tahoma"/>
                <a:cs typeface="Tahoma"/>
              </a:rPr>
              <a:t>=</a:t>
            </a:r>
            <a:r>
              <a:rPr sz="2050" spc="-75" dirty="0">
                <a:solidFill>
                  <a:srgbClr val="0000FF"/>
                </a:solidFill>
                <a:latin typeface="Tahoma"/>
                <a:cs typeface="Tahoma"/>
              </a:rPr>
              <a:t> </a:t>
            </a:r>
            <a:r>
              <a:rPr sz="2050" i="1" spc="-110" dirty="0">
                <a:solidFill>
                  <a:srgbClr val="0000FF"/>
                </a:solidFill>
                <a:latin typeface="Meiryo"/>
                <a:cs typeface="Meiryo"/>
              </a:rPr>
              <a:t>y</a:t>
            </a:r>
            <a:r>
              <a:rPr sz="2050" i="1" spc="-110"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0000FF"/>
                </a:solidFill>
                <a:latin typeface="Meiryo"/>
                <a:cs typeface="Meiryo"/>
              </a:rPr>
              <a:t>y</a:t>
            </a:r>
            <a:r>
              <a:rPr sz="2050" i="1" spc="-55" dirty="0">
                <a:solidFill>
                  <a:srgbClr val="0000FF"/>
                </a:solidFill>
                <a:latin typeface="Meiryo"/>
                <a:cs typeface="Meiryo"/>
              </a:rPr>
              <a:t> </a:t>
            </a:r>
            <a:r>
              <a:rPr sz="2050" spc="-415" dirty="0">
                <a:solidFill>
                  <a:srgbClr val="0000FF"/>
                </a:solidFill>
                <a:latin typeface="Lucida Sans Unicode"/>
                <a:cs typeface="Lucida Sans Unicode"/>
              </a:rPr>
              <a:t>ƒ≤ </a:t>
            </a:r>
            <a:r>
              <a:rPr sz="2050" spc="-315" dirty="0">
                <a:solidFill>
                  <a:srgbClr val="0000FF"/>
                </a:solidFill>
                <a:latin typeface="Lucida Sans Unicode"/>
                <a:cs typeface="Lucida Sans Unicode"/>
              </a:rPr>
              <a:t> </a:t>
            </a:r>
            <a:r>
              <a:rPr sz="2050" i="1" spc="50" dirty="0">
                <a:solidFill>
                  <a:srgbClr val="0000FF"/>
                </a:solidFill>
                <a:latin typeface="Meiryo"/>
                <a:cs typeface="Meiryo"/>
              </a:rPr>
              <a:t>x</a:t>
            </a:r>
            <a:r>
              <a:rPr sz="2050" i="1" spc="120" dirty="0">
                <a:solidFill>
                  <a:srgbClr val="0000FF"/>
                </a:solidFill>
                <a:latin typeface="Meiryo"/>
                <a:cs typeface="Meiryo"/>
              </a:rPr>
              <a:t> </a:t>
            </a:r>
            <a:r>
              <a:rPr sz="1950" spc="125" dirty="0">
                <a:solidFill>
                  <a:srgbClr val="231F20"/>
                </a:solidFill>
                <a:latin typeface="Arial"/>
                <a:cs typeface="Arial"/>
              </a:rPr>
              <a:t>(simplifies</a:t>
            </a:r>
            <a:r>
              <a:rPr sz="1950" spc="280" dirty="0">
                <a:solidFill>
                  <a:srgbClr val="231F20"/>
                </a:solidFill>
                <a:latin typeface="Arial"/>
                <a:cs typeface="Arial"/>
              </a:rPr>
              <a:t> </a:t>
            </a:r>
            <a:r>
              <a:rPr sz="1950" spc="250" dirty="0">
                <a:solidFill>
                  <a:srgbClr val="231F20"/>
                </a:solidFill>
                <a:latin typeface="Arial"/>
                <a:cs typeface="Arial"/>
              </a:rPr>
              <a:t>to</a:t>
            </a:r>
            <a:r>
              <a:rPr sz="1950" spc="280" dirty="0">
                <a:solidFill>
                  <a:srgbClr val="231F20"/>
                </a:solidFill>
                <a:latin typeface="Arial"/>
                <a:cs typeface="Arial"/>
              </a:rPr>
              <a:t> </a:t>
            </a:r>
            <a:r>
              <a:rPr sz="2050" i="1" spc="50" dirty="0">
                <a:solidFill>
                  <a:srgbClr val="0000FF"/>
                </a:solidFill>
                <a:latin typeface="Meiryo"/>
                <a:cs typeface="Meiryo"/>
              </a:rPr>
              <a:t>x</a:t>
            </a:r>
            <a:r>
              <a:rPr sz="2050" i="1" spc="-130" dirty="0">
                <a:solidFill>
                  <a:srgbClr val="0000FF"/>
                </a:solidFill>
                <a:latin typeface="Meiryo"/>
                <a:cs typeface="Meiryo"/>
              </a:rPr>
              <a:t> </a:t>
            </a:r>
            <a:r>
              <a:rPr sz="2050" i="1" spc="-40" dirty="0">
                <a:solidFill>
                  <a:srgbClr val="0000FF"/>
                </a:solidFill>
                <a:latin typeface="Meiryo"/>
                <a:cs typeface="Meiryo"/>
              </a:rPr>
              <a:t>&lt;</a:t>
            </a:r>
            <a:r>
              <a:rPr sz="2050" i="1" spc="-130" dirty="0">
                <a:solidFill>
                  <a:srgbClr val="0000FF"/>
                </a:solidFill>
                <a:latin typeface="Meiryo"/>
                <a:cs typeface="Meiryo"/>
              </a:rPr>
              <a:t> </a:t>
            </a:r>
            <a:r>
              <a:rPr sz="2050" i="1" spc="-110" dirty="0">
                <a:solidFill>
                  <a:srgbClr val="0000FF"/>
                </a:solidFill>
                <a:latin typeface="Meiryo"/>
                <a:cs typeface="Meiryo"/>
              </a:rPr>
              <a:t>y</a:t>
            </a:r>
            <a:r>
              <a:rPr sz="2050" i="1" spc="-110" dirty="0">
                <a:solidFill>
                  <a:srgbClr val="231F20"/>
                </a:solidFill>
                <a:latin typeface="Meiryo"/>
                <a:cs typeface="Meiryo"/>
              </a:rPr>
              <a:t>,</a:t>
            </a:r>
            <a:r>
              <a:rPr sz="2050" i="1" spc="-360" dirty="0">
                <a:solidFill>
                  <a:srgbClr val="231F20"/>
                </a:solidFill>
                <a:latin typeface="Meiryo"/>
                <a:cs typeface="Meiryo"/>
              </a:rPr>
              <a:t> </a:t>
            </a:r>
            <a:r>
              <a:rPr sz="2050" i="1" spc="50" dirty="0">
                <a:solidFill>
                  <a:srgbClr val="0000FF"/>
                </a:solidFill>
                <a:latin typeface="Meiryo"/>
                <a:cs typeface="Meiryo"/>
              </a:rPr>
              <a:t>x</a:t>
            </a:r>
            <a:r>
              <a:rPr sz="2050" i="1" spc="-130" dirty="0">
                <a:solidFill>
                  <a:srgbClr val="0000FF"/>
                </a:solidFill>
                <a:latin typeface="Meiryo"/>
                <a:cs typeface="Meiryo"/>
              </a:rPr>
              <a:t> </a:t>
            </a:r>
            <a:r>
              <a:rPr sz="2050" i="1" spc="-40" dirty="0">
                <a:solidFill>
                  <a:srgbClr val="0000FF"/>
                </a:solidFill>
                <a:latin typeface="Meiryo"/>
                <a:cs typeface="Meiryo"/>
              </a:rPr>
              <a:t>&lt;</a:t>
            </a:r>
            <a:r>
              <a:rPr sz="2050" i="1" spc="-130" dirty="0">
                <a:solidFill>
                  <a:srgbClr val="0000FF"/>
                </a:solidFill>
                <a:latin typeface="Meiryo"/>
                <a:cs typeface="Meiryo"/>
              </a:rPr>
              <a:t> </a:t>
            </a:r>
            <a:r>
              <a:rPr sz="2050" spc="110" dirty="0">
                <a:solidFill>
                  <a:srgbClr val="0000FF"/>
                </a:solidFill>
                <a:latin typeface="Tahoma"/>
                <a:cs typeface="Tahoma"/>
              </a:rPr>
              <a:t>0</a:t>
            </a:r>
            <a:r>
              <a:rPr sz="1950" spc="110" dirty="0">
                <a:solidFill>
                  <a:srgbClr val="231F20"/>
                </a:solidFill>
                <a:latin typeface="Arial"/>
                <a:cs typeface="Arial"/>
              </a:rPr>
              <a:t>)</a:t>
            </a:r>
            <a:endParaRPr sz="1950">
              <a:latin typeface="Arial"/>
              <a:cs typeface="Arial"/>
            </a:endParaRPr>
          </a:p>
          <a:p>
            <a:pPr marL="741680" lvl="1" indent="-288290">
              <a:lnSpc>
                <a:spcPct val="100000"/>
              </a:lnSpc>
              <a:spcBef>
                <a:spcPts val="670"/>
              </a:spcBef>
              <a:buSzPct val="105128"/>
              <a:buFont typeface="Lucida Sans Unicode"/>
              <a:buChar char="◦"/>
              <a:tabLst>
                <a:tab pos="742315" algn="l"/>
              </a:tabLst>
            </a:pPr>
            <a:r>
              <a:rPr sz="1950" spc="295" dirty="0">
                <a:solidFill>
                  <a:srgbClr val="231F20"/>
                </a:solidFill>
                <a:latin typeface="Arial"/>
                <a:cs typeface="Arial"/>
              </a:rPr>
              <a:t>A </a:t>
            </a:r>
            <a:r>
              <a:rPr sz="1950" spc="125" dirty="0">
                <a:solidFill>
                  <a:srgbClr val="231F20"/>
                </a:solidFill>
                <a:latin typeface="Arial"/>
                <a:cs typeface="Arial"/>
              </a:rPr>
              <a:t>satisfying assignment </a:t>
            </a:r>
            <a:r>
              <a:rPr sz="1950" spc="40" dirty="0">
                <a:solidFill>
                  <a:srgbClr val="231F20"/>
                </a:solidFill>
                <a:latin typeface="Arial"/>
                <a:cs typeface="Arial"/>
              </a:rPr>
              <a:t>is </a:t>
            </a:r>
            <a:r>
              <a:rPr sz="2050" i="1" spc="50" dirty="0">
                <a:solidFill>
                  <a:srgbClr val="FF0000"/>
                </a:solidFill>
                <a:latin typeface="Meiryo"/>
                <a:cs typeface="Meiryo"/>
              </a:rPr>
              <a:t>x </a:t>
            </a:r>
            <a:r>
              <a:rPr sz="2050" spc="114" dirty="0">
                <a:solidFill>
                  <a:srgbClr val="FF0000"/>
                </a:solidFill>
                <a:latin typeface="Tahoma"/>
                <a:cs typeface="Tahoma"/>
              </a:rPr>
              <a:t>= </a:t>
            </a:r>
            <a:r>
              <a:rPr sz="2050" spc="-85" dirty="0">
                <a:solidFill>
                  <a:srgbClr val="FF0000"/>
                </a:solidFill>
                <a:latin typeface="Lucida Sans Unicode"/>
                <a:cs typeface="Lucida Sans Unicode"/>
              </a:rPr>
              <a:t>−</a:t>
            </a:r>
            <a:r>
              <a:rPr sz="2050" spc="-85" dirty="0">
                <a:solidFill>
                  <a:srgbClr val="FF0000"/>
                </a:solidFill>
                <a:latin typeface="Tahoma"/>
                <a:cs typeface="Tahoma"/>
              </a:rPr>
              <a:t>3</a:t>
            </a:r>
            <a:r>
              <a:rPr sz="2050" i="1" spc="-85" dirty="0">
                <a:solidFill>
                  <a:srgbClr val="FF0000"/>
                </a:solidFill>
                <a:latin typeface="Meiryo"/>
                <a:cs typeface="Meiryo"/>
              </a:rPr>
              <a:t>, </a:t>
            </a:r>
            <a:r>
              <a:rPr sz="2050" i="1" spc="-145" dirty="0">
                <a:solidFill>
                  <a:srgbClr val="FF0000"/>
                </a:solidFill>
                <a:latin typeface="Meiryo"/>
                <a:cs typeface="Meiryo"/>
              </a:rPr>
              <a:t>y </a:t>
            </a:r>
            <a:r>
              <a:rPr sz="2050" spc="114" dirty="0">
                <a:solidFill>
                  <a:srgbClr val="FF0000"/>
                </a:solidFill>
                <a:latin typeface="Tahoma"/>
                <a:cs typeface="Tahoma"/>
              </a:rPr>
              <a:t>=</a:t>
            </a:r>
            <a:r>
              <a:rPr sz="2050" spc="-95" dirty="0">
                <a:solidFill>
                  <a:srgbClr val="FF0000"/>
                </a:solidFill>
                <a:latin typeface="Tahoma"/>
                <a:cs typeface="Tahoma"/>
              </a:rPr>
              <a:t> </a:t>
            </a:r>
            <a:r>
              <a:rPr sz="2050" spc="-90" dirty="0">
                <a:solidFill>
                  <a:srgbClr val="FF0000"/>
                </a:solidFill>
                <a:latin typeface="Tahoma"/>
                <a:cs typeface="Tahoma"/>
              </a:rPr>
              <a:t>1</a:t>
            </a:r>
            <a:endParaRPr sz="2050">
              <a:latin typeface="Tahoma"/>
              <a:cs typeface="Tahoma"/>
            </a:endParaRPr>
          </a:p>
          <a:p>
            <a:pPr marL="300990" marR="586105" indent="-288290">
              <a:lnSpc>
                <a:spcPct val="125000"/>
              </a:lnSpc>
              <a:spcBef>
                <a:spcPts val="1010"/>
              </a:spcBef>
              <a:buClr>
                <a:srgbClr val="231F20"/>
              </a:buClr>
              <a:buSzPct val="105128"/>
              <a:buFont typeface="Lucida Sans Unicode"/>
              <a:buChar char="•"/>
              <a:tabLst>
                <a:tab pos="301625" algn="l"/>
              </a:tabLst>
            </a:pPr>
            <a:r>
              <a:rPr sz="1950" spc="204" dirty="0">
                <a:solidFill>
                  <a:srgbClr val="0000FF"/>
                </a:solidFill>
                <a:latin typeface="Arial"/>
                <a:cs typeface="Arial"/>
              </a:rPr>
              <a:t>This </a:t>
            </a:r>
            <a:r>
              <a:rPr sz="1950" spc="40" dirty="0">
                <a:solidFill>
                  <a:srgbClr val="0000FF"/>
                </a:solidFill>
                <a:latin typeface="Arial"/>
                <a:cs typeface="Arial"/>
              </a:rPr>
              <a:t>is </a:t>
            </a:r>
            <a:r>
              <a:rPr sz="1950" spc="100" dirty="0">
                <a:solidFill>
                  <a:srgbClr val="0000FF"/>
                </a:solidFill>
                <a:latin typeface="Arial"/>
                <a:cs typeface="Arial"/>
              </a:rPr>
              <a:t>called </a:t>
            </a:r>
            <a:r>
              <a:rPr sz="1950" spc="195" dirty="0">
                <a:solidFill>
                  <a:srgbClr val="0000FF"/>
                </a:solidFill>
                <a:latin typeface="Arial"/>
                <a:cs typeface="Arial"/>
              </a:rPr>
              <a:t>“</a:t>
            </a:r>
            <a:r>
              <a:rPr sz="1950" spc="195" dirty="0">
                <a:solidFill>
                  <a:srgbClr val="FF0000"/>
                </a:solidFill>
                <a:latin typeface="Arial"/>
                <a:cs typeface="Arial"/>
              </a:rPr>
              <a:t>lemmas </a:t>
            </a:r>
            <a:r>
              <a:rPr sz="1950" spc="155" dirty="0">
                <a:solidFill>
                  <a:srgbClr val="FF0000"/>
                </a:solidFill>
                <a:latin typeface="Arial"/>
                <a:cs typeface="Arial"/>
              </a:rPr>
              <a:t>on </a:t>
            </a:r>
            <a:r>
              <a:rPr sz="1950" spc="204" dirty="0">
                <a:solidFill>
                  <a:srgbClr val="FF0000"/>
                </a:solidFill>
                <a:latin typeface="Arial"/>
                <a:cs typeface="Arial"/>
              </a:rPr>
              <a:t>demand” </a:t>
            </a:r>
            <a:r>
              <a:rPr sz="1950" spc="160" dirty="0">
                <a:solidFill>
                  <a:srgbClr val="0000FF"/>
                </a:solidFill>
                <a:latin typeface="Arial"/>
                <a:cs typeface="Arial"/>
              </a:rPr>
              <a:t>(de </a:t>
            </a:r>
            <a:r>
              <a:rPr sz="1950" spc="185" dirty="0">
                <a:solidFill>
                  <a:srgbClr val="0000FF"/>
                </a:solidFill>
                <a:latin typeface="Arial"/>
                <a:cs typeface="Arial"/>
              </a:rPr>
              <a:t>Moura, </a:t>
            </a:r>
            <a:r>
              <a:rPr sz="1950" spc="75" dirty="0">
                <a:solidFill>
                  <a:srgbClr val="0000FF"/>
                </a:solidFill>
                <a:latin typeface="Arial"/>
                <a:cs typeface="Arial"/>
              </a:rPr>
              <a:t>Ruess,  </a:t>
            </a:r>
            <a:r>
              <a:rPr sz="1950" spc="120" dirty="0">
                <a:solidFill>
                  <a:srgbClr val="0000FF"/>
                </a:solidFill>
                <a:latin typeface="Arial"/>
                <a:cs typeface="Arial"/>
              </a:rPr>
              <a:t>Sorea) </a:t>
            </a:r>
            <a:r>
              <a:rPr sz="1950" spc="130" dirty="0">
                <a:solidFill>
                  <a:srgbClr val="231F20"/>
                </a:solidFill>
                <a:latin typeface="Arial"/>
                <a:cs typeface="Arial"/>
              </a:rPr>
              <a:t>or </a:t>
            </a:r>
            <a:r>
              <a:rPr sz="1950" spc="375" dirty="0">
                <a:solidFill>
                  <a:srgbClr val="231F20"/>
                </a:solidFill>
                <a:latin typeface="Arial"/>
                <a:cs typeface="Arial"/>
              </a:rPr>
              <a:t>“DPLL(T)”; </a:t>
            </a:r>
            <a:r>
              <a:rPr sz="1950" spc="229" dirty="0">
                <a:solidFill>
                  <a:srgbClr val="FF0000"/>
                </a:solidFill>
                <a:latin typeface="Arial"/>
                <a:cs typeface="Arial"/>
              </a:rPr>
              <a:t>it </a:t>
            </a:r>
            <a:r>
              <a:rPr sz="1950" spc="80" dirty="0">
                <a:solidFill>
                  <a:srgbClr val="FF0000"/>
                </a:solidFill>
                <a:latin typeface="Arial"/>
                <a:cs typeface="Arial"/>
              </a:rPr>
              <a:t>yields </a:t>
            </a:r>
            <a:r>
              <a:rPr sz="1950" spc="120" dirty="0">
                <a:solidFill>
                  <a:srgbClr val="FF0000"/>
                </a:solidFill>
                <a:latin typeface="Arial"/>
                <a:cs typeface="Arial"/>
              </a:rPr>
              <a:t>effective </a:t>
            </a:r>
            <a:r>
              <a:rPr sz="1950" spc="350" dirty="0">
                <a:solidFill>
                  <a:srgbClr val="FF0000"/>
                </a:solidFill>
                <a:latin typeface="Arial"/>
                <a:cs typeface="Arial"/>
              </a:rPr>
              <a:t>SMT</a:t>
            </a:r>
            <a:r>
              <a:rPr sz="1950" spc="940" dirty="0">
                <a:solidFill>
                  <a:srgbClr val="FF0000"/>
                </a:solidFill>
                <a:latin typeface="Arial"/>
                <a:cs typeface="Arial"/>
              </a:rPr>
              <a:t> </a:t>
            </a:r>
            <a:r>
              <a:rPr sz="1950" spc="75" dirty="0">
                <a:solidFill>
                  <a:srgbClr val="FF0000"/>
                </a:solidFill>
                <a:latin typeface="Arial"/>
                <a:cs typeface="Arial"/>
              </a:rPr>
              <a:t>solvers</a:t>
            </a:r>
            <a:endParaRPr sz="1950">
              <a:latin typeface="Arial"/>
              <a:cs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88767" y="475981"/>
            <a:ext cx="4881880" cy="314960"/>
          </a:xfrm>
          <a:prstGeom prst="rect">
            <a:avLst/>
          </a:prstGeom>
        </p:spPr>
        <p:txBody>
          <a:bodyPr vert="horz" wrap="square" lIns="0" tIns="0" rIns="0" bIns="0" rtlCol="0">
            <a:spAutoFit/>
          </a:bodyPr>
          <a:lstStyle/>
          <a:p>
            <a:pPr marL="12700">
              <a:lnSpc>
                <a:spcPct val="100000"/>
              </a:lnSpc>
            </a:pPr>
            <a:r>
              <a:rPr sz="1950" spc="250" dirty="0">
                <a:solidFill>
                  <a:srgbClr val="231F20"/>
                </a:solidFill>
                <a:latin typeface="Arial"/>
                <a:cs typeface="Arial"/>
              </a:rPr>
              <a:t>Pros </a:t>
            </a:r>
            <a:r>
              <a:rPr sz="1950" spc="240" dirty="0">
                <a:solidFill>
                  <a:srgbClr val="231F20"/>
                </a:solidFill>
                <a:latin typeface="Arial"/>
                <a:cs typeface="Arial"/>
              </a:rPr>
              <a:t>and </a:t>
            </a:r>
            <a:r>
              <a:rPr sz="1950" spc="235" dirty="0">
                <a:solidFill>
                  <a:srgbClr val="231F20"/>
                </a:solidFill>
                <a:latin typeface="Arial"/>
                <a:cs typeface="Arial"/>
              </a:rPr>
              <a:t>Cons </a:t>
            </a:r>
            <a:r>
              <a:rPr sz="1950" spc="280" dirty="0">
                <a:solidFill>
                  <a:srgbClr val="231F20"/>
                </a:solidFill>
                <a:latin typeface="Arial"/>
                <a:cs typeface="Arial"/>
              </a:rPr>
              <a:t>of </a:t>
            </a:r>
            <a:r>
              <a:rPr sz="1950" spc="305" dirty="0">
                <a:solidFill>
                  <a:srgbClr val="231F20"/>
                </a:solidFill>
                <a:latin typeface="Arial"/>
                <a:cs typeface="Arial"/>
              </a:rPr>
              <a:t>Model</a:t>
            </a:r>
            <a:r>
              <a:rPr sz="1950" spc="780" dirty="0">
                <a:solidFill>
                  <a:srgbClr val="231F20"/>
                </a:solidFill>
                <a:latin typeface="Arial"/>
                <a:cs typeface="Arial"/>
              </a:rPr>
              <a:t> </a:t>
            </a:r>
            <a:r>
              <a:rPr sz="1950" spc="245" dirty="0">
                <a:solidFill>
                  <a:srgbClr val="231F20"/>
                </a:solidFill>
                <a:latin typeface="Arial"/>
                <a:cs typeface="Arial"/>
              </a:rPr>
              <a:t>Checking</a:t>
            </a:r>
            <a:endParaRPr sz="1950">
              <a:latin typeface="Arial"/>
              <a:cs typeface="Arial"/>
            </a:endParaRPr>
          </a:p>
        </p:txBody>
      </p:sp>
      <p:sp>
        <p:nvSpPr>
          <p:cNvPr id="3" name="object 3"/>
          <p:cNvSpPr txBox="1"/>
          <p:nvPr/>
        </p:nvSpPr>
        <p:spPr>
          <a:xfrm>
            <a:off x="896442" y="999247"/>
            <a:ext cx="7872095" cy="849630"/>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245" dirty="0">
                <a:solidFill>
                  <a:srgbClr val="231F20"/>
                </a:solidFill>
                <a:latin typeface="Arial"/>
                <a:cs typeface="Arial"/>
              </a:rPr>
              <a:t>“</a:t>
            </a:r>
            <a:r>
              <a:rPr sz="1950" i="1" spc="245" dirty="0">
                <a:solidFill>
                  <a:srgbClr val="0000FF"/>
                </a:solidFill>
                <a:latin typeface="Arial"/>
                <a:cs typeface="Arial"/>
              </a:rPr>
              <a:t>Model </a:t>
            </a:r>
            <a:r>
              <a:rPr sz="1950" i="1" spc="125" dirty="0">
                <a:solidFill>
                  <a:srgbClr val="0000FF"/>
                </a:solidFill>
                <a:latin typeface="Arial"/>
                <a:cs typeface="Arial"/>
              </a:rPr>
              <a:t>checking </a:t>
            </a:r>
            <a:r>
              <a:rPr sz="1950" i="1" spc="70" dirty="0">
                <a:solidFill>
                  <a:srgbClr val="0000FF"/>
                </a:solidFill>
                <a:latin typeface="Arial"/>
                <a:cs typeface="Arial"/>
              </a:rPr>
              <a:t>saved </a:t>
            </a:r>
            <a:r>
              <a:rPr sz="1950" i="1" spc="175" dirty="0">
                <a:solidFill>
                  <a:srgbClr val="0000FF"/>
                </a:solidFill>
                <a:latin typeface="Arial"/>
                <a:cs typeface="Arial"/>
              </a:rPr>
              <a:t>the </a:t>
            </a:r>
            <a:r>
              <a:rPr sz="1950" i="1" spc="170" dirty="0">
                <a:solidFill>
                  <a:srgbClr val="0000FF"/>
                </a:solidFill>
                <a:latin typeface="Arial"/>
                <a:cs typeface="Arial"/>
              </a:rPr>
              <a:t>reputation </a:t>
            </a:r>
            <a:r>
              <a:rPr sz="1950" i="1" spc="185" dirty="0">
                <a:solidFill>
                  <a:srgbClr val="0000FF"/>
                </a:solidFill>
                <a:latin typeface="Arial"/>
                <a:cs typeface="Arial"/>
              </a:rPr>
              <a:t>of </a:t>
            </a:r>
            <a:r>
              <a:rPr sz="1950" i="1" spc="160" dirty="0">
                <a:solidFill>
                  <a:srgbClr val="0000FF"/>
                </a:solidFill>
                <a:latin typeface="Arial"/>
                <a:cs typeface="Arial"/>
              </a:rPr>
              <a:t>formal </a:t>
            </a:r>
            <a:r>
              <a:rPr sz="1950" i="1" spc="300" dirty="0">
                <a:solidFill>
                  <a:srgbClr val="0000FF"/>
                </a:solidFill>
                <a:latin typeface="Arial"/>
                <a:cs typeface="Arial"/>
              </a:rPr>
              <a:t> </a:t>
            </a:r>
            <a:r>
              <a:rPr sz="1950" i="1" spc="220" dirty="0">
                <a:solidFill>
                  <a:srgbClr val="0000FF"/>
                </a:solidFill>
                <a:latin typeface="Arial"/>
                <a:cs typeface="Arial"/>
              </a:rPr>
              <a:t>methods</a:t>
            </a:r>
            <a:r>
              <a:rPr sz="1950" spc="220" dirty="0">
                <a:solidFill>
                  <a:srgbClr val="231F20"/>
                </a:solidFill>
                <a:latin typeface="Arial"/>
                <a:cs typeface="Arial"/>
              </a:rPr>
              <a:t>”</a:t>
            </a:r>
            <a:endParaRPr sz="1950">
              <a:latin typeface="Arial"/>
              <a:cs typeface="Arial"/>
            </a:endParaRPr>
          </a:p>
          <a:p>
            <a:pPr marL="12700">
              <a:lnSpc>
                <a:spcPct val="100000"/>
              </a:lnSpc>
              <a:spcBef>
                <a:spcPts val="1680"/>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4" name="object 4"/>
          <p:cNvSpPr txBox="1"/>
          <p:nvPr/>
        </p:nvSpPr>
        <p:spPr>
          <a:xfrm>
            <a:off x="1185163" y="1522514"/>
            <a:ext cx="7082155" cy="314325"/>
          </a:xfrm>
          <a:prstGeom prst="rect">
            <a:avLst/>
          </a:prstGeom>
        </p:spPr>
        <p:txBody>
          <a:bodyPr vert="horz" wrap="square" lIns="0" tIns="0" rIns="0" bIns="0" rtlCol="0">
            <a:spAutoFit/>
          </a:bodyPr>
          <a:lstStyle/>
          <a:p>
            <a:pPr marL="12700">
              <a:lnSpc>
                <a:spcPct val="100000"/>
              </a:lnSpc>
            </a:pPr>
            <a:r>
              <a:rPr sz="1950" spc="275" dirty="0">
                <a:solidFill>
                  <a:srgbClr val="231F20"/>
                </a:solidFill>
                <a:latin typeface="Arial"/>
                <a:cs typeface="Arial"/>
              </a:rPr>
              <a:t>But </a:t>
            </a:r>
            <a:r>
              <a:rPr sz="1950" spc="95" dirty="0">
                <a:solidFill>
                  <a:srgbClr val="231F20"/>
                </a:solidFill>
                <a:latin typeface="Arial"/>
                <a:cs typeface="Arial"/>
              </a:rPr>
              <a:t>have </a:t>
            </a:r>
            <a:r>
              <a:rPr sz="1950" spc="250" dirty="0">
                <a:solidFill>
                  <a:srgbClr val="231F20"/>
                </a:solidFill>
                <a:latin typeface="Arial"/>
                <a:cs typeface="Arial"/>
              </a:rPr>
              <a:t>to </a:t>
            </a:r>
            <a:r>
              <a:rPr sz="1950" spc="114" dirty="0">
                <a:solidFill>
                  <a:srgbClr val="231F20"/>
                </a:solidFill>
                <a:latin typeface="Arial"/>
                <a:cs typeface="Arial"/>
              </a:rPr>
              <a:t>be </a:t>
            </a:r>
            <a:r>
              <a:rPr sz="1950" spc="135" dirty="0">
                <a:solidFill>
                  <a:srgbClr val="231F20"/>
                </a:solidFill>
                <a:latin typeface="Arial"/>
                <a:cs typeface="Arial"/>
              </a:rPr>
              <a:t>explicit </a:t>
            </a:r>
            <a:r>
              <a:rPr sz="1950" spc="120" dirty="0">
                <a:solidFill>
                  <a:srgbClr val="231F20"/>
                </a:solidFill>
                <a:latin typeface="Arial"/>
                <a:cs typeface="Arial"/>
              </a:rPr>
              <a:t>where </a:t>
            </a:r>
            <a:r>
              <a:rPr sz="1950" spc="95" dirty="0">
                <a:solidFill>
                  <a:srgbClr val="231F20"/>
                </a:solidFill>
                <a:latin typeface="Arial"/>
                <a:cs typeface="Arial"/>
              </a:rPr>
              <a:t>we </a:t>
            </a:r>
            <a:r>
              <a:rPr sz="1950" spc="145" dirty="0">
                <a:solidFill>
                  <a:srgbClr val="231F20"/>
                </a:solidFill>
                <a:latin typeface="Arial"/>
                <a:cs typeface="Arial"/>
              </a:rPr>
              <a:t>may </a:t>
            </a:r>
            <a:r>
              <a:rPr sz="1950" spc="110" dirty="0">
                <a:solidFill>
                  <a:srgbClr val="231F20"/>
                </a:solidFill>
                <a:latin typeface="Arial"/>
                <a:cs typeface="Arial"/>
              </a:rPr>
              <a:t>prefer </a:t>
            </a:r>
            <a:r>
              <a:rPr sz="1950" spc="220" dirty="0">
                <a:solidFill>
                  <a:srgbClr val="231F20"/>
                </a:solidFill>
                <a:latin typeface="Arial"/>
                <a:cs typeface="Arial"/>
              </a:rPr>
              <a:t>not </a:t>
            </a:r>
            <a:r>
              <a:rPr sz="1950" spc="250" dirty="0">
                <a:solidFill>
                  <a:srgbClr val="231F20"/>
                </a:solidFill>
                <a:latin typeface="Arial"/>
                <a:cs typeface="Arial"/>
              </a:rPr>
              <a:t>to </a:t>
            </a:r>
            <a:r>
              <a:rPr sz="1950" spc="755" dirty="0">
                <a:solidFill>
                  <a:srgbClr val="231F20"/>
                </a:solidFill>
                <a:latin typeface="Arial"/>
                <a:cs typeface="Arial"/>
              </a:rPr>
              <a:t> </a:t>
            </a:r>
            <a:r>
              <a:rPr sz="1950" spc="114" dirty="0">
                <a:solidFill>
                  <a:srgbClr val="231F20"/>
                </a:solidFill>
                <a:latin typeface="Arial"/>
                <a:cs typeface="Arial"/>
              </a:rPr>
              <a:t>be</a:t>
            </a:r>
            <a:endParaRPr sz="1950">
              <a:latin typeface="Arial"/>
              <a:cs typeface="Arial"/>
            </a:endParaRPr>
          </a:p>
        </p:txBody>
      </p:sp>
      <p:sp>
        <p:nvSpPr>
          <p:cNvPr id="5" name="object 5"/>
          <p:cNvSpPr txBox="1"/>
          <p:nvPr/>
        </p:nvSpPr>
        <p:spPr>
          <a:xfrm>
            <a:off x="1337297" y="1879129"/>
            <a:ext cx="7382509" cy="1173480"/>
          </a:xfrm>
          <a:prstGeom prst="rect">
            <a:avLst/>
          </a:prstGeom>
        </p:spPr>
        <p:txBody>
          <a:bodyPr vert="horz" wrap="square" lIns="0" tIns="0" rIns="0" bIns="0" rtlCol="0">
            <a:spAutoFit/>
          </a:bodyPr>
          <a:lstStyle/>
          <a:p>
            <a:pPr marL="300990" marR="40005" indent="-288290">
              <a:lnSpc>
                <a:spcPct val="125000"/>
              </a:lnSpc>
              <a:buSzPct val="105128"/>
              <a:buFont typeface="Lucida Sans Unicode"/>
              <a:buChar char="◦"/>
              <a:tabLst>
                <a:tab pos="301625" algn="l"/>
              </a:tabLst>
            </a:pPr>
            <a:r>
              <a:rPr sz="1950" spc="160" dirty="0">
                <a:solidFill>
                  <a:srgbClr val="231F20"/>
                </a:solidFill>
                <a:latin typeface="Arial"/>
                <a:cs typeface="Arial"/>
              </a:rPr>
              <a:t>E.g., </a:t>
            </a:r>
            <a:r>
              <a:rPr sz="1950" spc="95" dirty="0">
                <a:solidFill>
                  <a:srgbClr val="231F20"/>
                </a:solidFill>
                <a:latin typeface="Arial"/>
                <a:cs typeface="Arial"/>
              </a:rPr>
              <a:t>have </a:t>
            </a:r>
            <a:r>
              <a:rPr sz="1950" spc="250" dirty="0">
                <a:solidFill>
                  <a:srgbClr val="231F20"/>
                </a:solidFill>
                <a:latin typeface="Arial"/>
                <a:cs typeface="Arial"/>
              </a:rPr>
              <a:t>to </a:t>
            </a:r>
            <a:r>
              <a:rPr sz="1950" spc="110" dirty="0">
                <a:solidFill>
                  <a:srgbClr val="231F20"/>
                </a:solidFill>
                <a:latin typeface="Arial"/>
                <a:cs typeface="Arial"/>
              </a:rPr>
              <a:t>specify </a:t>
            </a:r>
            <a:r>
              <a:rPr sz="1950" spc="175" dirty="0">
                <a:solidFill>
                  <a:srgbClr val="231F20"/>
                </a:solidFill>
                <a:latin typeface="Arial"/>
                <a:cs typeface="Arial"/>
              </a:rPr>
              <a:t>the </a:t>
            </a:r>
            <a:r>
              <a:rPr sz="1950" spc="265" dirty="0">
                <a:solidFill>
                  <a:srgbClr val="231F20"/>
                </a:solidFill>
                <a:latin typeface="Arial"/>
                <a:cs typeface="Arial"/>
              </a:rPr>
              <a:t>ALU </a:t>
            </a:r>
            <a:r>
              <a:rPr sz="1950" spc="204" dirty="0">
                <a:solidFill>
                  <a:srgbClr val="231F20"/>
                </a:solidFill>
                <a:latin typeface="Arial"/>
                <a:cs typeface="Arial"/>
              </a:rPr>
              <a:t>(Arithmetic </a:t>
            </a:r>
            <a:r>
              <a:rPr sz="1950" spc="170" dirty="0">
                <a:solidFill>
                  <a:srgbClr val="231F20"/>
                </a:solidFill>
                <a:latin typeface="Arial"/>
                <a:cs typeface="Arial"/>
              </a:rPr>
              <a:t>Logic </a:t>
            </a:r>
            <a:r>
              <a:rPr sz="1950" spc="225" dirty="0">
                <a:solidFill>
                  <a:srgbClr val="231F20"/>
                </a:solidFill>
                <a:latin typeface="Arial"/>
                <a:cs typeface="Arial"/>
              </a:rPr>
              <a:t>Unit)  </a:t>
            </a:r>
            <a:r>
              <a:rPr sz="1950" spc="140" dirty="0">
                <a:solidFill>
                  <a:srgbClr val="231F20"/>
                </a:solidFill>
                <a:latin typeface="Arial"/>
                <a:cs typeface="Arial"/>
              </a:rPr>
              <a:t>when </a:t>
            </a:r>
            <a:r>
              <a:rPr sz="1950" spc="125" dirty="0">
                <a:solidFill>
                  <a:srgbClr val="231F20"/>
                </a:solidFill>
                <a:latin typeface="Arial"/>
                <a:cs typeface="Arial"/>
              </a:rPr>
              <a:t>we’re </a:t>
            </a:r>
            <a:r>
              <a:rPr sz="1950" spc="100" dirty="0">
                <a:solidFill>
                  <a:srgbClr val="231F20"/>
                </a:solidFill>
                <a:latin typeface="Arial"/>
                <a:cs typeface="Arial"/>
              </a:rPr>
              <a:t>really </a:t>
            </a:r>
            <a:r>
              <a:rPr sz="1950" spc="135" dirty="0">
                <a:solidFill>
                  <a:srgbClr val="231F20"/>
                </a:solidFill>
                <a:latin typeface="Arial"/>
                <a:cs typeface="Arial"/>
              </a:rPr>
              <a:t>only </a:t>
            </a:r>
            <a:r>
              <a:rPr sz="1950" spc="130" dirty="0">
                <a:solidFill>
                  <a:srgbClr val="231F20"/>
                </a:solidFill>
                <a:latin typeface="Arial"/>
                <a:cs typeface="Arial"/>
              </a:rPr>
              <a:t>interested in </a:t>
            </a:r>
            <a:r>
              <a:rPr sz="1950" spc="175" dirty="0">
                <a:solidFill>
                  <a:srgbClr val="231F20"/>
                </a:solidFill>
                <a:latin typeface="Arial"/>
                <a:cs typeface="Arial"/>
              </a:rPr>
              <a:t>the </a:t>
            </a:r>
            <a:r>
              <a:rPr sz="1950" spc="110" dirty="0">
                <a:solidFill>
                  <a:srgbClr val="231F20"/>
                </a:solidFill>
                <a:latin typeface="Arial"/>
                <a:cs typeface="Arial"/>
              </a:rPr>
              <a:t>pipeline </a:t>
            </a:r>
            <a:r>
              <a:rPr sz="1950" spc="680" dirty="0">
                <a:solidFill>
                  <a:srgbClr val="231F20"/>
                </a:solidFill>
                <a:latin typeface="Arial"/>
                <a:cs typeface="Arial"/>
              </a:rPr>
              <a:t> </a:t>
            </a:r>
            <a:r>
              <a:rPr sz="1950" spc="130" dirty="0">
                <a:solidFill>
                  <a:srgbClr val="231F20"/>
                </a:solidFill>
                <a:latin typeface="Arial"/>
                <a:cs typeface="Arial"/>
              </a:rPr>
              <a:t>logic</a:t>
            </a:r>
            <a:endParaRPr sz="1950">
              <a:latin typeface="Arial"/>
              <a:cs typeface="Arial"/>
            </a:endParaRPr>
          </a:p>
          <a:p>
            <a:pPr marL="300990" indent="-288290">
              <a:lnSpc>
                <a:spcPct val="100000"/>
              </a:lnSpc>
              <a:spcBef>
                <a:spcPts val="815"/>
              </a:spcBef>
              <a:buSzPct val="105128"/>
              <a:buFont typeface="Lucida Sans Unicode"/>
              <a:buChar char="◦"/>
              <a:tabLst>
                <a:tab pos="301625" algn="l"/>
              </a:tabLst>
            </a:pPr>
            <a:r>
              <a:rPr sz="1950" spc="275" dirty="0">
                <a:solidFill>
                  <a:srgbClr val="231F20"/>
                </a:solidFill>
                <a:latin typeface="Arial"/>
                <a:cs typeface="Arial"/>
              </a:rPr>
              <a:t>But </a:t>
            </a:r>
            <a:r>
              <a:rPr sz="1950" spc="155" dirty="0">
                <a:solidFill>
                  <a:srgbClr val="231F20"/>
                </a:solidFill>
                <a:latin typeface="Arial"/>
                <a:cs typeface="Arial"/>
              </a:rPr>
              <a:t>infinite </a:t>
            </a:r>
            <a:r>
              <a:rPr sz="1950" spc="300" dirty="0">
                <a:solidFill>
                  <a:srgbClr val="231F20"/>
                </a:solidFill>
                <a:latin typeface="Arial"/>
                <a:cs typeface="Arial"/>
              </a:rPr>
              <a:t>BMC </a:t>
            </a:r>
            <a:r>
              <a:rPr sz="1950" spc="100" dirty="0">
                <a:solidFill>
                  <a:srgbClr val="231F20"/>
                </a:solidFill>
                <a:latin typeface="Arial"/>
                <a:cs typeface="Arial"/>
              </a:rPr>
              <a:t>allows </a:t>
            </a:r>
            <a:r>
              <a:rPr sz="1950" spc="45" dirty="0">
                <a:solidFill>
                  <a:srgbClr val="231F20"/>
                </a:solidFill>
                <a:latin typeface="Arial"/>
                <a:cs typeface="Arial"/>
              </a:rPr>
              <a:t>use </a:t>
            </a:r>
            <a:r>
              <a:rPr sz="1950" spc="185" dirty="0">
                <a:solidFill>
                  <a:srgbClr val="231F20"/>
                </a:solidFill>
                <a:latin typeface="Arial"/>
                <a:cs typeface="Arial"/>
              </a:rPr>
              <a:t>of </a:t>
            </a:r>
            <a:r>
              <a:rPr sz="1950" spc="145" dirty="0">
                <a:solidFill>
                  <a:srgbClr val="0000FF"/>
                </a:solidFill>
                <a:latin typeface="Arial"/>
                <a:cs typeface="Arial"/>
              </a:rPr>
              <a:t>uninterpreted </a:t>
            </a:r>
            <a:r>
              <a:rPr sz="1950" spc="200" dirty="0">
                <a:solidFill>
                  <a:srgbClr val="0000FF"/>
                </a:solidFill>
                <a:latin typeface="Arial"/>
                <a:cs typeface="Arial"/>
              </a:rPr>
              <a:t> </a:t>
            </a:r>
            <a:r>
              <a:rPr sz="1950" spc="155" dirty="0">
                <a:solidFill>
                  <a:srgbClr val="0000FF"/>
                </a:solidFill>
                <a:latin typeface="Arial"/>
                <a:cs typeface="Arial"/>
              </a:rPr>
              <a:t>functions</a:t>
            </a:r>
            <a:endParaRPr sz="1950">
              <a:latin typeface="Arial"/>
              <a:cs typeface="Arial"/>
            </a:endParaRPr>
          </a:p>
        </p:txBody>
      </p:sp>
      <p:sp>
        <p:nvSpPr>
          <p:cNvPr id="6" name="object 6"/>
          <p:cNvSpPr txBox="1"/>
          <p:nvPr/>
        </p:nvSpPr>
        <p:spPr>
          <a:xfrm>
            <a:off x="896440" y="3249586"/>
            <a:ext cx="8028940" cy="849630"/>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05" dirty="0">
                <a:solidFill>
                  <a:srgbClr val="231F20"/>
                </a:solidFill>
                <a:latin typeface="Arial"/>
                <a:cs typeface="Arial"/>
              </a:rPr>
              <a:t>Usually </a:t>
            </a:r>
            <a:r>
              <a:rPr sz="1950" spc="95" dirty="0">
                <a:solidFill>
                  <a:srgbClr val="231F20"/>
                </a:solidFill>
                <a:latin typeface="Arial"/>
                <a:cs typeface="Arial"/>
              </a:rPr>
              <a:t>have </a:t>
            </a:r>
            <a:r>
              <a:rPr sz="1950" spc="250" dirty="0">
                <a:solidFill>
                  <a:srgbClr val="231F20"/>
                </a:solidFill>
                <a:latin typeface="Arial"/>
                <a:cs typeface="Arial"/>
              </a:rPr>
              <a:t>to </a:t>
            </a:r>
            <a:r>
              <a:rPr sz="1950" spc="105" dirty="0">
                <a:solidFill>
                  <a:srgbClr val="231F20"/>
                </a:solidFill>
                <a:latin typeface="Arial"/>
                <a:cs typeface="Arial"/>
              </a:rPr>
              <a:t>downscale </a:t>
            </a:r>
            <a:r>
              <a:rPr sz="1950" spc="175" dirty="0">
                <a:solidFill>
                  <a:srgbClr val="231F20"/>
                </a:solidFill>
                <a:latin typeface="Arial"/>
                <a:cs typeface="Arial"/>
              </a:rPr>
              <a:t>the </a:t>
            </a:r>
            <a:r>
              <a:rPr sz="1950" spc="185" dirty="0">
                <a:solidFill>
                  <a:srgbClr val="231F20"/>
                </a:solidFill>
                <a:latin typeface="Arial"/>
                <a:cs typeface="Arial"/>
              </a:rPr>
              <a:t>model—can </a:t>
            </a:r>
            <a:r>
              <a:rPr sz="1950" spc="114" dirty="0">
                <a:solidFill>
                  <a:srgbClr val="231F20"/>
                </a:solidFill>
                <a:latin typeface="Arial"/>
                <a:cs typeface="Arial"/>
              </a:rPr>
              <a:t>be </a:t>
            </a:r>
            <a:r>
              <a:rPr sz="1950" spc="85" dirty="0">
                <a:solidFill>
                  <a:srgbClr val="231F20"/>
                </a:solidFill>
                <a:latin typeface="Arial"/>
                <a:cs typeface="Arial"/>
              </a:rPr>
              <a:t>a </a:t>
            </a:r>
            <a:r>
              <a:rPr sz="1950" spc="204" dirty="0">
                <a:solidFill>
                  <a:srgbClr val="231F20"/>
                </a:solidFill>
                <a:latin typeface="Arial"/>
                <a:cs typeface="Arial"/>
              </a:rPr>
              <a:t>lot </a:t>
            </a:r>
            <a:r>
              <a:rPr sz="1950" spc="185" dirty="0">
                <a:solidFill>
                  <a:srgbClr val="231F20"/>
                </a:solidFill>
                <a:latin typeface="Arial"/>
                <a:cs typeface="Arial"/>
              </a:rPr>
              <a:t>of </a:t>
            </a:r>
            <a:r>
              <a:rPr sz="1950" spc="780" dirty="0">
                <a:solidFill>
                  <a:srgbClr val="231F20"/>
                </a:solidFill>
                <a:latin typeface="Arial"/>
                <a:cs typeface="Arial"/>
              </a:rPr>
              <a:t> </a:t>
            </a:r>
            <a:r>
              <a:rPr sz="1950" spc="155" dirty="0">
                <a:solidFill>
                  <a:srgbClr val="231F20"/>
                </a:solidFill>
                <a:latin typeface="Arial"/>
                <a:cs typeface="Arial"/>
              </a:rPr>
              <a:t>work</a:t>
            </a:r>
            <a:endParaRPr sz="1950">
              <a:latin typeface="Arial"/>
              <a:cs typeface="Arial"/>
            </a:endParaRPr>
          </a:p>
          <a:p>
            <a:pPr marL="12700">
              <a:lnSpc>
                <a:spcPct val="100000"/>
              </a:lnSpc>
              <a:spcBef>
                <a:spcPts val="1680"/>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7" name="object 7"/>
          <p:cNvSpPr txBox="1"/>
          <p:nvPr/>
        </p:nvSpPr>
        <p:spPr>
          <a:xfrm>
            <a:off x="1185162" y="3772852"/>
            <a:ext cx="7665084" cy="314325"/>
          </a:xfrm>
          <a:prstGeom prst="rect">
            <a:avLst/>
          </a:prstGeom>
        </p:spPr>
        <p:txBody>
          <a:bodyPr vert="horz" wrap="square" lIns="0" tIns="0" rIns="0" bIns="0" rtlCol="0">
            <a:spAutoFit/>
          </a:bodyPr>
          <a:lstStyle/>
          <a:p>
            <a:pPr marL="12700">
              <a:lnSpc>
                <a:spcPct val="100000"/>
              </a:lnSpc>
            </a:pPr>
            <a:r>
              <a:rPr sz="1950" spc="225" dirty="0">
                <a:solidFill>
                  <a:srgbClr val="231F20"/>
                </a:solidFill>
                <a:latin typeface="Arial"/>
                <a:cs typeface="Arial"/>
              </a:rPr>
              <a:t>Often </a:t>
            </a:r>
            <a:r>
              <a:rPr sz="1950" spc="185" dirty="0">
                <a:solidFill>
                  <a:srgbClr val="231F20"/>
                </a:solidFill>
                <a:latin typeface="Arial"/>
                <a:cs typeface="Arial"/>
              </a:rPr>
              <a:t>good </a:t>
            </a:r>
            <a:r>
              <a:rPr sz="1950" spc="215" dirty="0">
                <a:solidFill>
                  <a:srgbClr val="231F20"/>
                </a:solidFill>
                <a:latin typeface="Arial"/>
                <a:cs typeface="Arial"/>
              </a:rPr>
              <a:t>at </a:t>
            </a:r>
            <a:r>
              <a:rPr sz="1950" spc="150" dirty="0">
                <a:solidFill>
                  <a:srgbClr val="231F20"/>
                </a:solidFill>
                <a:latin typeface="Arial"/>
                <a:cs typeface="Arial"/>
              </a:rPr>
              <a:t>finding </a:t>
            </a:r>
            <a:r>
              <a:rPr sz="1950" spc="114" dirty="0">
                <a:solidFill>
                  <a:srgbClr val="231F20"/>
                </a:solidFill>
                <a:latin typeface="Arial"/>
                <a:cs typeface="Arial"/>
              </a:rPr>
              <a:t>bugs, </a:t>
            </a:r>
            <a:r>
              <a:rPr sz="1950" spc="220" dirty="0">
                <a:solidFill>
                  <a:srgbClr val="231F20"/>
                </a:solidFill>
                <a:latin typeface="Arial"/>
                <a:cs typeface="Arial"/>
              </a:rPr>
              <a:t>but </a:t>
            </a:r>
            <a:r>
              <a:rPr sz="1950" spc="204" dirty="0">
                <a:solidFill>
                  <a:srgbClr val="231F20"/>
                </a:solidFill>
                <a:latin typeface="Arial"/>
                <a:cs typeface="Arial"/>
              </a:rPr>
              <a:t>what </a:t>
            </a:r>
            <a:r>
              <a:rPr sz="1950" spc="160" dirty="0">
                <a:solidFill>
                  <a:srgbClr val="231F20"/>
                </a:solidFill>
                <a:latin typeface="Arial"/>
                <a:cs typeface="Arial"/>
              </a:rPr>
              <a:t>if </a:t>
            </a:r>
            <a:r>
              <a:rPr sz="1950" spc="155" dirty="0">
                <a:solidFill>
                  <a:srgbClr val="231F20"/>
                </a:solidFill>
                <a:latin typeface="Arial"/>
                <a:cs typeface="Arial"/>
              </a:rPr>
              <a:t>no </a:t>
            </a:r>
            <a:r>
              <a:rPr sz="1950" spc="110" dirty="0">
                <a:solidFill>
                  <a:srgbClr val="231F20"/>
                </a:solidFill>
                <a:latin typeface="Arial"/>
                <a:cs typeface="Arial"/>
              </a:rPr>
              <a:t>bugs </a:t>
            </a:r>
            <a:r>
              <a:rPr sz="1950" spc="525" dirty="0">
                <a:solidFill>
                  <a:srgbClr val="231F20"/>
                </a:solidFill>
                <a:latin typeface="Arial"/>
                <a:cs typeface="Arial"/>
              </a:rPr>
              <a:t> </a:t>
            </a:r>
            <a:r>
              <a:rPr sz="1950" spc="140" dirty="0">
                <a:solidFill>
                  <a:srgbClr val="231F20"/>
                </a:solidFill>
                <a:latin typeface="Arial"/>
                <a:cs typeface="Arial"/>
              </a:rPr>
              <a:t>detected?</a:t>
            </a:r>
            <a:endParaRPr sz="1950">
              <a:latin typeface="Arial"/>
              <a:cs typeface="Arial"/>
            </a:endParaRPr>
          </a:p>
        </p:txBody>
      </p:sp>
      <p:sp>
        <p:nvSpPr>
          <p:cNvPr id="8" name="object 8"/>
          <p:cNvSpPr txBox="1"/>
          <p:nvPr/>
        </p:nvSpPr>
        <p:spPr>
          <a:xfrm>
            <a:off x="896440" y="4129468"/>
            <a:ext cx="7703820" cy="2190115"/>
          </a:xfrm>
          <a:prstGeom prst="rect">
            <a:avLst/>
          </a:prstGeom>
        </p:spPr>
        <p:txBody>
          <a:bodyPr vert="horz" wrap="square" lIns="0" tIns="0" rIns="0" bIns="0" rtlCol="0">
            <a:spAutoFit/>
          </a:bodyPr>
          <a:lstStyle/>
          <a:p>
            <a:pPr marL="741680" marR="5080" indent="-288290">
              <a:lnSpc>
                <a:spcPct val="125000"/>
              </a:lnSpc>
              <a:buClr>
                <a:srgbClr val="231F20"/>
              </a:buClr>
              <a:buSzPct val="105128"/>
              <a:buFont typeface="Lucida Sans Unicode"/>
              <a:buChar char="◦"/>
              <a:tabLst>
                <a:tab pos="742315" algn="l"/>
              </a:tabLst>
            </a:pPr>
            <a:r>
              <a:rPr sz="1950" spc="105" dirty="0">
                <a:solidFill>
                  <a:srgbClr val="FF0000"/>
                </a:solidFill>
                <a:latin typeface="Arial"/>
                <a:cs typeface="Arial"/>
              </a:rPr>
              <a:t>Have </a:t>
            </a:r>
            <a:r>
              <a:rPr sz="1950" spc="95" dirty="0">
                <a:solidFill>
                  <a:srgbClr val="FF0000"/>
                </a:solidFill>
                <a:latin typeface="Arial"/>
                <a:cs typeface="Arial"/>
              </a:rPr>
              <a:t>we achieved </a:t>
            </a:r>
            <a:r>
              <a:rPr sz="1950" spc="145" dirty="0">
                <a:solidFill>
                  <a:srgbClr val="FF0000"/>
                </a:solidFill>
                <a:latin typeface="Arial"/>
                <a:cs typeface="Arial"/>
              </a:rPr>
              <a:t>verification, </a:t>
            </a:r>
            <a:r>
              <a:rPr sz="1950" spc="130" dirty="0">
                <a:solidFill>
                  <a:srgbClr val="FF0000"/>
                </a:solidFill>
                <a:latin typeface="Arial"/>
                <a:cs typeface="Arial"/>
              </a:rPr>
              <a:t>or </a:t>
            </a:r>
            <a:r>
              <a:rPr sz="1950" spc="165" dirty="0">
                <a:solidFill>
                  <a:srgbClr val="FF0000"/>
                </a:solidFill>
                <a:latin typeface="Arial"/>
                <a:cs typeface="Arial"/>
              </a:rPr>
              <a:t>just </a:t>
            </a:r>
            <a:r>
              <a:rPr sz="1950" spc="220" dirty="0">
                <a:solidFill>
                  <a:srgbClr val="FF0000"/>
                </a:solidFill>
                <a:latin typeface="Arial"/>
                <a:cs typeface="Arial"/>
              </a:rPr>
              <a:t>got </a:t>
            </a:r>
            <a:r>
              <a:rPr sz="1950" spc="240" dirty="0">
                <a:solidFill>
                  <a:srgbClr val="FF0000"/>
                </a:solidFill>
                <a:latin typeface="Arial"/>
                <a:cs typeface="Arial"/>
              </a:rPr>
              <a:t>too </a:t>
            </a:r>
            <a:r>
              <a:rPr sz="1950" spc="125" dirty="0">
                <a:solidFill>
                  <a:srgbClr val="FF0000"/>
                </a:solidFill>
                <a:latin typeface="Arial"/>
                <a:cs typeface="Arial"/>
              </a:rPr>
              <a:t>crude </a:t>
            </a:r>
            <a:r>
              <a:rPr sz="1950" spc="85" dirty="0">
                <a:solidFill>
                  <a:srgbClr val="FF0000"/>
                </a:solidFill>
                <a:latin typeface="Arial"/>
                <a:cs typeface="Arial"/>
              </a:rPr>
              <a:t>a  </a:t>
            </a:r>
            <a:r>
              <a:rPr sz="1950" spc="160" dirty="0">
                <a:solidFill>
                  <a:srgbClr val="FF0000"/>
                </a:solidFill>
                <a:latin typeface="Arial"/>
                <a:cs typeface="Arial"/>
              </a:rPr>
              <a:t>model </a:t>
            </a:r>
            <a:r>
              <a:rPr sz="1950" spc="130" dirty="0">
                <a:solidFill>
                  <a:srgbClr val="FF0000"/>
                </a:solidFill>
                <a:latin typeface="Arial"/>
                <a:cs typeface="Arial"/>
              </a:rPr>
              <a:t>or</a:t>
            </a:r>
            <a:r>
              <a:rPr sz="1950" spc="320" dirty="0">
                <a:solidFill>
                  <a:srgbClr val="FF0000"/>
                </a:solidFill>
                <a:latin typeface="Arial"/>
                <a:cs typeface="Arial"/>
              </a:rPr>
              <a:t> </a:t>
            </a:r>
            <a:r>
              <a:rPr sz="1950" spc="145" dirty="0">
                <a:solidFill>
                  <a:srgbClr val="FF0000"/>
                </a:solidFill>
                <a:latin typeface="Arial"/>
                <a:cs typeface="Arial"/>
              </a:rPr>
              <a:t>property?</a:t>
            </a:r>
            <a:endParaRPr sz="1950">
              <a:latin typeface="Arial"/>
              <a:cs typeface="Arial"/>
            </a:endParaRPr>
          </a:p>
          <a:p>
            <a:pPr marL="300990" marR="127000" indent="-288290">
              <a:lnSpc>
                <a:spcPct val="125000"/>
              </a:lnSpc>
              <a:spcBef>
                <a:spcPts val="1195"/>
              </a:spcBef>
              <a:buSzPct val="105128"/>
              <a:buFont typeface="Lucida Sans Unicode"/>
              <a:buChar char="•"/>
              <a:tabLst>
                <a:tab pos="301625" algn="l"/>
              </a:tabLst>
            </a:pPr>
            <a:r>
              <a:rPr sz="1950" spc="145" dirty="0">
                <a:solidFill>
                  <a:srgbClr val="231F20"/>
                </a:solidFill>
                <a:latin typeface="Arial"/>
                <a:cs typeface="Arial"/>
              </a:rPr>
              <a:t>Sometimes </a:t>
            </a:r>
            <a:r>
              <a:rPr sz="1950" spc="170" dirty="0">
                <a:solidFill>
                  <a:srgbClr val="231F20"/>
                </a:solidFill>
                <a:latin typeface="Arial"/>
                <a:cs typeface="Arial"/>
              </a:rPr>
              <a:t>it’s </a:t>
            </a:r>
            <a:r>
              <a:rPr sz="1950" spc="90" dirty="0">
                <a:solidFill>
                  <a:srgbClr val="231F20"/>
                </a:solidFill>
                <a:latin typeface="Arial"/>
                <a:cs typeface="Arial"/>
              </a:rPr>
              <a:t>possible </a:t>
            </a:r>
            <a:r>
              <a:rPr sz="1950" spc="250" dirty="0">
                <a:solidFill>
                  <a:srgbClr val="231F20"/>
                </a:solidFill>
                <a:latin typeface="Arial"/>
                <a:cs typeface="Arial"/>
              </a:rPr>
              <a:t>to </a:t>
            </a:r>
            <a:r>
              <a:rPr sz="1950" spc="110" dirty="0">
                <a:solidFill>
                  <a:srgbClr val="0000FF"/>
                </a:solidFill>
                <a:latin typeface="Arial"/>
                <a:cs typeface="Arial"/>
              </a:rPr>
              <a:t>prove </a:t>
            </a:r>
            <a:r>
              <a:rPr sz="1950" spc="235" dirty="0">
                <a:solidFill>
                  <a:srgbClr val="231F20"/>
                </a:solidFill>
                <a:latin typeface="Arial"/>
                <a:cs typeface="Arial"/>
              </a:rPr>
              <a:t>that </a:t>
            </a:r>
            <a:r>
              <a:rPr sz="1950" spc="85" dirty="0">
                <a:solidFill>
                  <a:srgbClr val="231F20"/>
                </a:solidFill>
                <a:latin typeface="Arial"/>
                <a:cs typeface="Arial"/>
              </a:rPr>
              <a:t>a </a:t>
            </a:r>
            <a:r>
              <a:rPr sz="1950" spc="114" dirty="0">
                <a:solidFill>
                  <a:srgbClr val="231F20"/>
                </a:solidFill>
                <a:latin typeface="Arial"/>
                <a:cs typeface="Arial"/>
              </a:rPr>
              <a:t>small </a:t>
            </a:r>
            <a:r>
              <a:rPr sz="1950" spc="160" dirty="0">
                <a:solidFill>
                  <a:srgbClr val="231F20"/>
                </a:solidFill>
                <a:latin typeface="Arial"/>
                <a:cs typeface="Arial"/>
              </a:rPr>
              <a:t>model </a:t>
            </a:r>
            <a:r>
              <a:rPr sz="1950" spc="40" dirty="0">
                <a:solidFill>
                  <a:srgbClr val="231F20"/>
                </a:solidFill>
                <a:latin typeface="Arial"/>
                <a:cs typeface="Arial"/>
              </a:rPr>
              <a:t>is </a:t>
            </a:r>
            <a:r>
              <a:rPr sz="1950" spc="85" dirty="0">
                <a:solidFill>
                  <a:srgbClr val="231F20"/>
                </a:solidFill>
                <a:latin typeface="Arial"/>
                <a:cs typeface="Arial"/>
              </a:rPr>
              <a:t>a </a:t>
            </a:r>
            <a:r>
              <a:rPr sz="1950" spc="710" dirty="0">
                <a:solidFill>
                  <a:srgbClr val="231F20"/>
                </a:solidFill>
                <a:latin typeface="Arial"/>
                <a:cs typeface="Arial"/>
              </a:rPr>
              <a:t> </a:t>
            </a:r>
            <a:r>
              <a:rPr sz="1950" spc="125" dirty="0">
                <a:solidFill>
                  <a:srgbClr val="0000FF"/>
                </a:solidFill>
                <a:latin typeface="Arial"/>
                <a:cs typeface="Arial"/>
              </a:rPr>
              <a:t>property-preserving </a:t>
            </a:r>
            <a:r>
              <a:rPr sz="1950" spc="155" dirty="0">
                <a:solidFill>
                  <a:srgbClr val="0000FF"/>
                </a:solidFill>
                <a:latin typeface="Arial"/>
                <a:cs typeface="Arial"/>
              </a:rPr>
              <a:t>abstraction </a:t>
            </a:r>
            <a:r>
              <a:rPr sz="1950" spc="185" dirty="0">
                <a:solidFill>
                  <a:srgbClr val="231F20"/>
                </a:solidFill>
                <a:latin typeface="Arial"/>
                <a:cs typeface="Arial"/>
              </a:rPr>
              <a:t>of </a:t>
            </a:r>
            <a:r>
              <a:rPr sz="1950" spc="85" dirty="0">
                <a:solidFill>
                  <a:srgbClr val="231F20"/>
                </a:solidFill>
                <a:latin typeface="Arial"/>
                <a:cs typeface="Arial"/>
              </a:rPr>
              <a:t>a </a:t>
            </a:r>
            <a:r>
              <a:rPr sz="1950" spc="100" dirty="0">
                <a:solidFill>
                  <a:srgbClr val="231F20"/>
                </a:solidFill>
                <a:latin typeface="Arial"/>
                <a:cs typeface="Arial"/>
              </a:rPr>
              <a:t>large, </a:t>
            </a:r>
            <a:r>
              <a:rPr sz="1950" spc="135" dirty="0">
                <a:solidFill>
                  <a:srgbClr val="231F20"/>
                </a:solidFill>
                <a:latin typeface="Arial"/>
                <a:cs typeface="Arial"/>
              </a:rPr>
              <a:t>accurate </a:t>
            </a:r>
            <a:r>
              <a:rPr sz="1950" spc="350" dirty="0">
                <a:solidFill>
                  <a:srgbClr val="231F20"/>
                </a:solidFill>
                <a:latin typeface="Arial"/>
                <a:cs typeface="Arial"/>
              </a:rPr>
              <a:t> </a:t>
            </a:r>
            <a:r>
              <a:rPr sz="1950" spc="105" dirty="0">
                <a:solidFill>
                  <a:srgbClr val="231F20"/>
                </a:solidFill>
                <a:latin typeface="Arial"/>
                <a:cs typeface="Arial"/>
              </a:rPr>
              <a:t>one</a:t>
            </a:r>
            <a:endParaRPr sz="1950">
              <a:latin typeface="Arial"/>
              <a:cs typeface="Arial"/>
            </a:endParaRPr>
          </a:p>
          <a:p>
            <a:pPr marL="300990" indent="-288290">
              <a:lnSpc>
                <a:spcPct val="100000"/>
              </a:lnSpc>
              <a:spcBef>
                <a:spcPts val="1780"/>
              </a:spcBef>
              <a:buClr>
                <a:srgbClr val="231F20"/>
              </a:buClr>
              <a:buSzPct val="105128"/>
              <a:buFont typeface="Lucida Sans Unicode"/>
              <a:buChar char="•"/>
              <a:tabLst>
                <a:tab pos="301625" algn="l"/>
              </a:tabLst>
            </a:pPr>
            <a:r>
              <a:rPr sz="1950" spc="225" dirty="0">
                <a:solidFill>
                  <a:srgbClr val="FF0000"/>
                </a:solidFill>
                <a:latin typeface="Arial"/>
                <a:cs typeface="Arial"/>
              </a:rPr>
              <a:t>Then </a:t>
            </a:r>
            <a:r>
              <a:rPr sz="1950" spc="220" dirty="0">
                <a:solidFill>
                  <a:srgbClr val="FF0000"/>
                </a:solidFill>
                <a:latin typeface="Arial"/>
                <a:cs typeface="Arial"/>
              </a:rPr>
              <a:t>not </a:t>
            </a:r>
            <a:r>
              <a:rPr sz="1950" spc="155" dirty="0">
                <a:solidFill>
                  <a:srgbClr val="FF0000"/>
                </a:solidFill>
                <a:latin typeface="Arial"/>
                <a:cs typeface="Arial"/>
              </a:rPr>
              <a:t>detecting </a:t>
            </a:r>
            <a:r>
              <a:rPr sz="1950" spc="85" dirty="0">
                <a:solidFill>
                  <a:srgbClr val="FF0000"/>
                </a:solidFill>
                <a:latin typeface="Arial"/>
                <a:cs typeface="Arial"/>
              </a:rPr>
              <a:t>a </a:t>
            </a:r>
            <a:r>
              <a:rPr sz="1950" spc="155" dirty="0">
                <a:solidFill>
                  <a:srgbClr val="FF0000"/>
                </a:solidFill>
                <a:latin typeface="Arial"/>
                <a:cs typeface="Arial"/>
              </a:rPr>
              <a:t>bug </a:t>
            </a:r>
            <a:r>
              <a:rPr sz="1950" spc="40" dirty="0">
                <a:solidFill>
                  <a:srgbClr val="FF0000"/>
                </a:solidFill>
                <a:latin typeface="Arial"/>
                <a:cs typeface="Arial"/>
              </a:rPr>
              <a:t>is </a:t>
            </a:r>
            <a:r>
              <a:rPr sz="1950" spc="125" dirty="0">
                <a:solidFill>
                  <a:srgbClr val="FF0000"/>
                </a:solidFill>
                <a:latin typeface="Arial"/>
                <a:cs typeface="Arial"/>
              </a:rPr>
              <a:t>equivalent </a:t>
            </a:r>
            <a:r>
              <a:rPr sz="1950" spc="250" dirty="0">
                <a:solidFill>
                  <a:srgbClr val="FF0000"/>
                </a:solidFill>
                <a:latin typeface="Arial"/>
                <a:cs typeface="Arial"/>
              </a:rPr>
              <a:t>to </a:t>
            </a:r>
            <a:r>
              <a:rPr sz="1950" spc="455" dirty="0">
                <a:solidFill>
                  <a:srgbClr val="FF0000"/>
                </a:solidFill>
                <a:latin typeface="Arial"/>
                <a:cs typeface="Arial"/>
              </a:rPr>
              <a:t> </a:t>
            </a:r>
            <a:r>
              <a:rPr sz="1950" spc="145" dirty="0">
                <a:solidFill>
                  <a:srgbClr val="FF0000"/>
                </a:solidFill>
                <a:latin typeface="Arial"/>
                <a:cs typeface="Arial"/>
              </a:rPr>
              <a:t>verification</a:t>
            </a:r>
            <a:endParaRPr sz="1950">
              <a:latin typeface="Arial"/>
              <a:cs typeface="Ari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97745" y="475981"/>
            <a:ext cx="2393950" cy="314960"/>
          </a:xfrm>
          <a:prstGeom prst="rect">
            <a:avLst/>
          </a:prstGeom>
        </p:spPr>
        <p:txBody>
          <a:bodyPr vert="horz" wrap="square" lIns="0" tIns="0" rIns="0" bIns="0" rtlCol="0">
            <a:spAutoFit/>
          </a:bodyPr>
          <a:lstStyle/>
          <a:p>
            <a:pPr marL="12700">
              <a:lnSpc>
                <a:spcPct val="100000"/>
              </a:lnSpc>
            </a:pPr>
            <a:r>
              <a:rPr sz="1950" spc="305" dirty="0">
                <a:solidFill>
                  <a:srgbClr val="231F20"/>
                </a:solidFill>
                <a:latin typeface="Arial"/>
                <a:cs typeface="Arial"/>
              </a:rPr>
              <a:t>Model</a:t>
            </a:r>
            <a:r>
              <a:rPr sz="1950" spc="310" dirty="0">
                <a:solidFill>
                  <a:srgbClr val="231F20"/>
                </a:solidFill>
                <a:latin typeface="Arial"/>
                <a:cs typeface="Arial"/>
              </a:rPr>
              <a:t> </a:t>
            </a:r>
            <a:r>
              <a:rPr sz="1950" spc="240" dirty="0">
                <a:solidFill>
                  <a:srgbClr val="231F20"/>
                </a:solidFill>
                <a:latin typeface="Arial"/>
                <a:cs typeface="Arial"/>
              </a:rPr>
              <a:t>Checking:</a:t>
            </a:r>
            <a:endParaRPr sz="1950">
              <a:latin typeface="Arial"/>
              <a:cs typeface="Arial"/>
            </a:endParaRPr>
          </a:p>
        </p:txBody>
      </p:sp>
      <p:sp>
        <p:nvSpPr>
          <p:cNvPr id="3" name="object 3"/>
          <p:cNvSpPr txBox="1"/>
          <p:nvPr/>
        </p:nvSpPr>
        <p:spPr>
          <a:xfrm>
            <a:off x="5620086" y="475981"/>
            <a:ext cx="1341755" cy="314960"/>
          </a:xfrm>
          <a:prstGeom prst="rect">
            <a:avLst/>
          </a:prstGeom>
        </p:spPr>
        <p:txBody>
          <a:bodyPr vert="horz" wrap="square" lIns="0" tIns="0" rIns="0" bIns="0" rtlCol="0">
            <a:spAutoFit/>
          </a:bodyPr>
          <a:lstStyle/>
          <a:p>
            <a:pPr marL="12700">
              <a:lnSpc>
                <a:spcPct val="100000"/>
              </a:lnSpc>
            </a:pPr>
            <a:r>
              <a:rPr sz="1950" spc="360" dirty="0">
                <a:solidFill>
                  <a:srgbClr val="231F20"/>
                </a:solidFill>
                <a:latin typeface="Arial"/>
                <a:cs typeface="Arial"/>
              </a:rPr>
              <a:t>An</a:t>
            </a:r>
            <a:r>
              <a:rPr sz="1950" spc="285" dirty="0">
                <a:solidFill>
                  <a:srgbClr val="231F20"/>
                </a:solidFill>
                <a:latin typeface="Arial"/>
                <a:cs typeface="Arial"/>
              </a:rPr>
              <a:t> </a:t>
            </a:r>
            <a:r>
              <a:rPr sz="1950" spc="185" dirty="0">
                <a:solidFill>
                  <a:srgbClr val="231F20"/>
                </a:solidFill>
                <a:latin typeface="Arial"/>
                <a:cs typeface="Arial"/>
              </a:rPr>
              <a:t>Island</a:t>
            </a:r>
            <a:endParaRPr sz="1950">
              <a:latin typeface="Arial"/>
              <a:cs typeface="Arial"/>
            </a:endParaRPr>
          </a:p>
        </p:txBody>
      </p:sp>
      <p:sp>
        <p:nvSpPr>
          <p:cNvPr id="4" name="object 4"/>
          <p:cNvSpPr txBox="1"/>
          <p:nvPr/>
        </p:nvSpPr>
        <p:spPr>
          <a:xfrm>
            <a:off x="7482522" y="1708721"/>
            <a:ext cx="871219" cy="579755"/>
          </a:xfrm>
          <a:prstGeom prst="rect">
            <a:avLst/>
          </a:prstGeom>
        </p:spPr>
        <p:txBody>
          <a:bodyPr vert="horz" wrap="square" lIns="0" tIns="0" rIns="0" bIns="0" rtlCol="0">
            <a:spAutoFit/>
          </a:bodyPr>
          <a:lstStyle/>
          <a:p>
            <a:pPr marL="12700" marR="5080">
              <a:lnSpc>
                <a:spcPts val="2260"/>
              </a:lnSpc>
            </a:pPr>
            <a:r>
              <a:rPr sz="2000" spc="10" dirty="0">
                <a:latin typeface="Times New Roman"/>
                <a:cs typeface="Times New Roman"/>
              </a:rPr>
              <a:t>theorem  proving</a:t>
            </a:r>
            <a:endParaRPr sz="2000">
              <a:latin typeface="Times New Roman"/>
              <a:cs typeface="Times New Roman"/>
            </a:endParaRPr>
          </a:p>
        </p:txBody>
      </p:sp>
      <p:sp>
        <p:nvSpPr>
          <p:cNvPr id="5" name="object 5"/>
          <p:cNvSpPr txBox="1"/>
          <p:nvPr/>
        </p:nvSpPr>
        <p:spPr>
          <a:xfrm>
            <a:off x="3326574" y="3643388"/>
            <a:ext cx="956944" cy="579755"/>
          </a:xfrm>
          <a:prstGeom prst="rect">
            <a:avLst/>
          </a:prstGeom>
        </p:spPr>
        <p:txBody>
          <a:bodyPr vert="horz" wrap="square" lIns="0" tIns="0" rIns="0" bIns="0" rtlCol="0">
            <a:spAutoFit/>
          </a:bodyPr>
          <a:lstStyle/>
          <a:p>
            <a:pPr marL="12700" marR="5080" indent="142875">
              <a:lnSpc>
                <a:spcPts val="2260"/>
              </a:lnSpc>
            </a:pPr>
            <a:r>
              <a:rPr sz="2000" spc="15" dirty="0">
                <a:latin typeface="Times New Roman"/>
                <a:cs typeface="Times New Roman"/>
              </a:rPr>
              <a:t>model  </a:t>
            </a:r>
            <a:r>
              <a:rPr sz="2000" spc="10" dirty="0">
                <a:latin typeface="Times New Roman"/>
                <a:cs typeface="Times New Roman"/>
              </a:rPr>
              <a:t>checking</a:t>
            </a:r>
            <a:endParaRPr sz="2000">
              <a:latin typeface="Times New Roman"/>
              <a:cs typeface="Times New Roman"/>
            </a:endParaRPr>
          </a:p>
        </p:txBody>
      </p:sp>
      <p:sp>
        <p:nvSpPr>
          <p:cNvPr id="6" name="object 6"/>
          <p:cNvSpPr/>
          <p:nvPr/>
        </p:nvSpPr>
        <p:spPr>
          <a:xfrm>
            <a:off x="1046326" y="1897240"/>
            <a:ext cx="0" cy="229870"/>
          </a:xfrm>
          <a:custGeom>
            <a:avLst/>
            <a:gdLst/>
            <a:ahLst/>
            <a:cxnLst/>
            <a:rect l="l" t="t" r="r" b="b"/>
            <a:pathLst>
              <a:path h="229869">
                <a:moveTo>
                  <a:pt x="0" y="229298"/>
                </a:moveTo>
                <a:lnTo>
                  <a:pt x="0" y="0"/>
                </a:lnTo>
              </a:path>
            </a:pathLst>
          </a:custGeom>
          <a:ln w="14330">
            <a:solidFill>
              <a:srgbClr val="000000"/>
            </a:solidFill>
          </a:ln>
        </p:spPr>
        <p:txBody>
          <a:bodyPr wrap="square" lIns="0" tIns="0" rIns="0" bIns="0" rtlCol="0"/>
          <a:lstStyle/>
          <a:p>
            <a:endParaRPr/>
          </a:p>
        </p:txBody>
      </p:sp>
      <p:sp>
        <p:nvSpPr>
          <p:cNvPr id="7" name="object 7"/>
          <p:cNvSpPr/>
          <p:nvPr/>
        </p:nvSpPr>
        <p:spPr>
          <a:xfrm>
            <a:off x="989002" y="1897240"/>
            <a:ext cx="114935" cy="229870"/>
          </a:xfrm>
          <a:custGeom>
            <a:avLst/>
            <a:gdLst/>
            <a:ahLst/>
            <a:cxnLst/>
            <a:rect l="l" t="t" r="r" b="b"/>
            <a:pathLst>
              <a:path w="114934" h="229869">
                <a:moveTo>
                  <a:pt x="114647" y="229298"/>
                </a:moveTo>
                <a:lnTo>
                  <a:pt x="57323" y="0"/>
                </a:lnTo>
                <a:lnTo>
                  <a:pt x="0" y="229298"/>
                </a:lnTo>
                <a:lnTo>
                  <a:pt x="114647" y="229298"/>
                </a:lnTo>
                <a:close/>
              </a:path>
            </a:pathLst>
          </a:custGeom>
          <a:solidFill>
            <a:srgbClr val="000000"/>
          </a:solidFill>
        </p:spPr>
        <p:txBody>
          <a:bodyPr wrap="square" lIns="0" tIns="0" rIns="0" bIns="0" rtlCol="0"/>
          <a:lstStyle/>
          <a:p>
            <a:endParaRPr/>
          </a:p>
        </p:txBody>
      </p:sp>
      <p:sp>
        <p:nvSpPr>
          <p:cNvPr id="8" name="object 8"/>
          <p:cNvSpPr/>
          <p:nvPr/>
        </p:nvSpPr>
        <p:spPr>
          <a:xfrm>
            <a:off x="989002" y="1897240"/>
            <a:ext cx="114935" cy="229870"/>
          </a:xfrm>
          <a:custGeom>
            <a:avLst/>
            <a:gdLst/>
            <a:ahLst/>
            <a:cxnLst/>
            <a:rect l="l" t="t" r="r" b="b"/>
            <a:pathLst>
              <a:path w="114934" h="229869">
                <a:moveTo>
                  <a:pt x="114647" y="229298"/>
                </a:moveTo>
                <a:lnTo>
                  <a:pt x="57323" y="0"/>
                </a:lnTo>
                <a:lnTo>
                  <a:pt x="0" y="229298"/>
                </a:lnTo>
                <a:lnTo>
                  <a:pt x="114647" y="229298"/>
                </a:lnTo>
                <a:close/>
              </a:path>
            </a:pathLst>
          </a:custGeom>
          <a:ln w="14330">
            <a:solidFill>
              <a:srgbClr val="000000"/>
            </a:solidFill>
          </a:ln>
        </p:spPr>
        <p:txBody>
          <a:bodyPr wrap="square" lIns="0" tIns="0" rIns="0" bIns="0" rtlCol="0"/>
          <a:lstStyle/>
          <a:p>
            <a:endParaRPr/>
          </a:p>
        </p:txBody>
      </p:sp>
      <p:sp>
        <p:nvSpPr>
          <p:cNvPr id="9" name="object 9"/>
          <p:cNvSpPr/>
          <p:nvPr/>
        </p:nvSpPr>
        <p:spPr>
          <a:xfrm>
            <a:off x="1046326" y="5879325"/>
            <a:ext cx="7995284" cy="0"/>
          </a:xfrm>
          <a:custGeom>
            <a:avLst/>
            <a:gdLst/>
            <a:ahLst/>
            <a:cxnLst/>
            <a:rect l="l" t="t" r="r" b="b"/>
            <a:pathLst>
              <a:path w="7995284">
                <a:moveTo>
                  <a:pt x="0" y="0"/>
                </a:moveTo>
                <a:lnTo>
                  <a:pt x="7994713" y="0"/>
                </a:lnTo>
              </a:path>
            </a:pathLst>
          </a:custGeom>
          <a:ln w="14330">
            <a:solidFill>
              <a:srgbClr val="000000"/>
            </a:solidFill>
          </a:ln>
        </p:spPr>
        <p:txBody>
          <a:bodyPr wrap="square" lIns="0" tIns="0" rIns="0" bIns="0" rtlCol="0"/>
          <a:lstStyle/>
          <a:p>
            <a:endParaRPr/>
          </a:p>
        </p:txBody>
      </p:sp>
      <p:sp>
        <p:nvSpPr>
          <p:cNvPr id="10" name="object 10"/>
          <p:cNvSpPr/>
          <p:nvPr/>
        </p:nvSpPr>
        <p:spPr>
          <a:xfrm>
            <a:off x="8811742" y="5821997"/>
            <a:ext cx="229870" cy="114935"/>
          </a:xfrm>
          <a:custGeom>
            <a:avLst/>
            <a:gdLst/>
            <a:ahLst/>
            <a:cxnLst/>
            <a:rect l="l" t="t" r="r" b="b"/>
            <a:pathLst>
              <a:path w="229870" h="114935">
                <a:moveTo>
                  <a:pt x="229298" y="57327"/>
                </a:moveTo>
                <a:lnTo>
                  <a:pt x="0" y="0"/>
                </a:lnTo>
                <a:lnTo>
                  <a:pt x="0" y="114642"/>
                </a:lnTo>
                <a:lnTo>
                  <a:pt x="229298" y="57327"/>
                </a:lnTo>
                <a:close/>
              </a:path>
            </a:pathLst>
          </a:custGeom>
          <a:solidFill>
            <a:srgbClr val="000000"/>
          </a:solidFill>
        </p:spPr>
        <p:txBody>
          <a:bodyPr wrap="square" lIns="0" tIns="0" rIns="0" bIns="0" rtlCol="0"/>
          <a:lstStyle/>
          <a:p>
            <a:endParaRPr/>
          </a:p>
        </p:txBody>
      </p:sp>
      <p:sp>
        <p:nvSpPr>
          <p:cNvPr id="11" name="object 11"/>
          <p:cNvSpPr/>
          <p:nvPr/>
        </p:nvSpPr>
        <p:spPr>
          <a:xfrm>
            <a:off x="8811742" y="5821997"/>
            <a:ext cx="229870" cy="114935"/>
          </a:xfrm>
          <a:custGeom>
            <a:avLst/>
            <a:gdLst/>
            <a:ahLst/>
            <a:cxnLst/>
            <a:rect l="l" t="t" r="r" b="b"/>
            <a:pathLst>
              <a:path w="229870" h="114935">
                <a:moveTo>
                  <a:pt x="0" y="114642"/>
                </a:moveTo>
                <a:lnTo>
                  <a:pt x="229298" y="57327"/>
                </a:lnTo>
                <a:lnTo>
                  <a:pt x="0" y="0"/>
                </a:lnTo>
                <a:lnTo>
                  <a:pt x="0" y="114642"/>
                </a:lnTo>
                <a:close/>
              </a:path>
            </a:pathLst>
          </a:custGeom>
          <a:ln w="14330">
            <a:solidFill>
              <a:srgbClr val="000000"/>
            </a:solidFill>
          </a:ln>
        </p:spPr>
        <p:txBody>
          <a:bodyPr wrap="square" lIns="0" tIns="0" rIns="0" bIns="0" rtlCol="0"/>
          <a:lstStyle/>
          <a:p>
            <a:endParaRPr/>
          </a:p>
        </p:txBody>
      </p:sp>
      <p:sp>
        <p:nvSpPr>
          <p:cNvPr id="12" name="object 12"/>
          <p:cNvSpPr/>
          <p:nvPr/>
        </p:nvSpPr>
        <p:spPr>
          <a:xfrm>
            <a:off x="3267608" y="4159618"/>
            <a:ext cx="1290320" cy="1720214"/>
          </a:xfrm>
          <a:custGeom>
            <a:avLst/>
            <a:gdLst/>
            <a:ahLst/>
            <a:cxnLst/>
            <a:rect l="l" t="t" r="r" b="b"/>
            <a:pathLst>
              <a:path w="1290320" h="1720214">
                <a:moveTo>
                  <a:pt x="1289786" y="1719707"/>
                </a:moveTo>
                <a:lnTo>
                  <a:pt x="1289786" y="0"/>
                </a:lnTo>
                <a:lnTo>
                  <a:pt x="0" y="644880"/>
                </a:lnTo>
                <a:lnTo>
                  <a:pt x="0" y="1719707"/>
                </a:lnTo>
                <a:lnTo>
                  <a:pt x="1289786" y="1719707"/>
                </a:lnTo>
                <a:close/>
              </a:path>
            </a:pathLst>
          </a:custGeom>
          <a:solidFill>
            <a:srgbClr val="FFBFBF"/>
          </a:solidFill>
        </p:spPr>
        <p:txBody>
          <a:bodyPr wrap="square" lIns="0" tIns="0" rIns="0" bIns="0" rtlCol="0"/>
          <a:lstStyle/>
          <a:p>
            <a:endParaRPr/>
          </a:p>
        </p:txBody>
      </p:sp>
      <p:sp>
        <p:nvSpPr>
          <p:cNvPr id="13" name="object 13"/>
          <p:cNvSpPr/>
          <p:nvPr/>
        </p:nvSpPr>
        <p:spPr>
          <a:xfrm>
            <a:off x="3267608" y="4159618"/>
            <a:ext cx="1290320" cy="1720214"/>
          </a:xfrm>
          <a:custGeom>
            <a:avLst/>
            <a:gdLst/>
            <a:ahLst/>
            <a:cxnLst/>
            <a:rect l="l" t="t" r="r" b="b"/>
            <a:pathLst>
              <a:path w="1290320" h="1720214">
                <a:moveTo>
                  <a:pt x="0" y="1719707"/>
                </a:moveTo>
                <a:lnTo>
                  <a:pt x="0" y="644880"/>
                </a:lnTo>
                <a:lnTo>
                  <a:pt x="1289786" y="0"/>
                </a:lnTo>
                <a:lnTo>
                  <a:pt x="1289786" y="1719707"/>
                </a:lnTo>
                <a:lnTo>
                  <a:pt x="0" y="1719707"/>
                </a:lnTo>
                <a:close/>
              </a:path>
            </a:pathLst>
          </a:custGeom>
          <a:ln w="7165">
            <a:solidFill>
              <a:srgbClr val="000000"/>
            </a:solidFill>
          </a:ln>
        </p:spPr>
        <p:txBody>
          <a:bodyPr wrap="square" lIns="0" tIns="0" rIns="0" bIns="0" rtlCol="0"/>
          <a:lstStyle/>
          <a:p>
            <a:endParaRPr/>
          </a:p>
        </p:txBody>
      </p:sp>
      <p:sp>
        <p:nvSpPr>
          <p:cNvPr id="14" name="object 14"/>
          <p:cNvSpPr/>
          <p:nvPr/>
        </p:nvSpPr>
        <p:spPr>
          <a:xfrm>
            <a:off x="7566862" y="2296604"/>
            <a:ext cx="860425" cy="3583304"/>
          </a:xfrm>
          <a:custGeom>
            <a:avLst/>
            <a:gdLst/>
            <a:ahLst/>
            <a:cxnLst/>
            <a:rect l="l" t="t" r="r" b="b"/>
            <a:pathLst>
              <a:path w="860425" h="3583304">
                <a:moveTo>
                  <a:pt x="859853" y="3582720"/>
                </a:moveTo>
                <a:lnTo>
                  <a:pt x="859853" y="0"/>
                </a:lnTo>
                <a:lnTo>
                  <a:pt x="0" y="429920"/>
                </a:lnTo>
                <a:lnTo>
                  <a:pt x="0" y="3582720"/>
                </a:lnTo>
                <a:lnTo>
                  <a:pt x="859853" y="3582720"/>
                </a:lnTo>
                <a:close/>
              </a:path>
            </a:pathLst>
          </a:custGeom>
          <a:solidFill>
            <a:srgbClr val="86CEFF"/>
          </a:solidFill>
        </p:spPr>
        <p:txBody>
          <a:bodyPr wrap="square" lIns="0" tIns="0" rIns="0" bIns="0" rtlCol="0"/>
          <a:lstStyle/>
          <a:p>
            <a:endParaRPr/>
          </a:p>
        </p:txBody>
      </p:sp>
      <p:sp>
        <p:nvSpPr>
          <p:cNvPr id="15" name="object 15"/>
          <p:cNvSpPr/>
          <p:nvPr/>
        </p:nvSpPr>
        <p:spPr>
          <a:xfrm>
            <a:off x="7566862" y="2296604"/>
            <a:ext cx="860425" cy="3583304"/>
          </a:xfrm>
          <a:custGeom>
            <a:avLst/>
            <a:gdLst/>
            <a:ahLst/>
            <a:cxnLst/>
            <a:rect l="l" t="t" r="r" b="b"/>
            <a:pathLst>
              <a:path w="860425" h="3583304">
                <a:moveTo>
                  <a:pt x="859853" y="3582720"/>
                </a:moveTo>
                <a:lnTo>
                  <a:pt x="859853" y="0"/>
                </a:lnTo>
                <a:lnTo>
                  <a:pt x="0" y="429920"/>
                </a:lnTo>
                <a:lnTo>
                  <a:pt x="0" y="3582720"/>
                </a:lnTo>
                <a:lnTo>
                  <a:pt x="859853" y="3582720"/>
                </a:lnTo>
                <a:close/>
              </a:path>
            </a:pathLst>
          </a:custGeom>
          <a:ln w="7165">
            <a:solidFill>
              <a:srgbClr val="000000"/>
            </a:solidFill>
          </a:ln>
        </p:spPr>
        <p:txBody>
          <a:bodyPr wrap="square" lIns="0" tIns="0" rIns="0" bIns="0" rtlCol="0"/>
          <a:lstStyle/>
          <a:p>
            <a:endParaRPr/>
          </a:p>
        </p:txBody>
      </p:sp>
      <p:sp>
        <p:nvSpPr>
          <p:cNvPr id="16" name="object 16"/>
          <p:cNvSpPr txBox="1"/>
          <p:nvPr/>
        </p:nvSpPr>
        <p:spPr>
          <a:xfrm>
            <a:off x="3342627" y="4991671"/>
            <a:ext cx="5130165" cy="1397635"/>
          </a:xfrm>
          <a:prstGeom prst="rect">
            <a:avLst/>
          </a:prstGeom>
        </p:spPr>
        <p:txBody>
          <a:bodyPr vert="horz" wrap="square" lIns="0" tIns="0" rIns="0" bIns="0" rtlCol="0">
            <a:spAutoFit/>
          </a:bodyPr>
          <a:lstStyle/>
          <a:p>
            <a:pPr marL="12700">
              <a:lnSpc>
                <a:spcPct val="100000"/>
              </a:lnSpc>
            </a:pPr>
            <a:r>
              <a:rPr sz="2250" dirty="0">
                <a:latin typeface="Times New Roman"/>
                <a:cs typeface="Times New Roman"/>
              </a:rPr>
              <a:t>refutation</a:t>
            </a:r>
            <a:endParaRPr sz="2250">
              <a:latin typeface="Times New Roman"/>
              <a:cs typeface="Times New Roman"/>
            </a:endParaRPr>
          </a:p>
          <a:p>
            <a:pPr>
              <a:lnSpc>
                <a:spcPct val="100000"/>
              </a:lnSpc>
            </a:pPr>
            <a:endParaRPr sz="2200">
              <a:latin typeface="Times New Roman"/>
              <a:cs typeface="Times New Roman"/>
            </a:endParaRPr>
          </a:p>
          <a:p>
            <a:pPr>
              <a:lnSpc>
                <a:spcPct val="100000"/>
              </a:lnSpc>
              <a:spcBef>
                <a:spcPts val="30"/>
              </a:spcBef>
            </a:pPr>
            <a:endParaRPr sz="2100">
              <a:latin typeface="Times New Roman"/>
              <a:cs typeface="Times New Roman"/>
            </a:endParaRPr>
          </a:p>
          <a:p>
            <a:pPr marR="5080" algn="r">
              <a:lnSpc>
                <a:spcPct val="100000"/>
              </a:lnSpc>
            </a:pPr>
            <a:r>
              <a:rPr sz="2700" dirty="0">
                <a:latin typeface="Times New Roman"/>
                <a:cs typeface="Times New Roman"/>
              </a:rPr>
              <a:t>Effort</a:t>
            </a:r>
            <a:endParaRPr sz="2700">
              <a:latin typeface="Times New Roman"/>
              <a:cs typeface="Times New Roman"/>
            </a:endParaRPr>
          </a:p>
        </p:txBody>
      </p:sp>
      <p:sp>
        <p:nvSpPr>
          <p:cNvPr id="17" name="object 17"/>
          <p:cNvSpPr txBox="1"/>
          <p:nvPr/>
        </p:nvSpPr>
        <p:spPr>
          <a:xfrm>
            <a:off x="7845262" y="3425799"/>
            <a:ext cx="369570" cy="1610995"/>
          </a:xfrm>
          <a:prstGeom prst="rect">
            <a:avLst/>
          </a:prstGeom>
        </p:spPr>
        <p:txBody>
          <a:bodyPr vert="vert" wrap="square" lIns="0" tIns="0" rIns="0" bIns="0" rtlCol="0">
            <a:spAutoFit/>
          </a:bodyPr>
          <a:lstStyle/>
          <a:p>
            <a:pPr marL="12700">
              <a:lnSpc>
                <a:spcPts val="2820"/>
              </a:lnSpc>
            </a:pPr>
            <a:r>
              <a:rPr sz="2700" dirty="0">
                <a:latin typeface="Times New Roman"/>
                <a:cs typeface="Times New Roman"/>
              </a:rPr>
              <a:t>verification</a:t>
            </a:r>
            <a:endParaRPr sz="2700">
              <a:latin typeface="Times New Roman"/>
              <a:cs typeface="Times New Roman"/>
            </a:endParaRPr>
          </a:p>
        </p:txBody>
      </p:sp>
      <p:sp>
        <p:nvSpPr>
          <p:cNvPr id="18" name="object 18"/>
          <p:cNvSpPr txBox="1"/>
          <p:nvPr/>
        </p:nvSpPr>
        <p:spPr>
          <a:xfrm>
            <a:off x="1248589" y="1791881"/>
            <a:ext cx="1468120" cy="871219"/>
          </a:xfrm>
          <a:prstGeom prst="rect">
            <a:avLst/>
          </a:prstGeom>
        </p:spPr>
        <p:txBody>
          <a:bodyPr vert="horz" wrap="square" lIns="0" tIns="0" rIns="0" bIns="0" rtlCol="0">
            <a:spAutoFit/>
          </a:bodyPr>
          <a:lstStyle/>
          <a:p>
            <a:pPr marL="12700" marR="5080">
              <a:lnSpc>
                <a:spcPct val="104500"/>
              </a:lnSpc>
            </a:pPr>
            <a:r>
              <a:rPr sz="2700" dirty="0">
                <a:latin typeface="Times New Roman"/>
                <a:cs typeface="Times New Roman"/>
              </a:rPr>
              <a:t>Assurance  for</a:t>
            </a:r>
            <a:r>
              <a:rPr sz="2700" spc="-70" dirty="0">
                <a:latin typeface="Times New Roman"/>
                <a:cs typeface="Times New Roman"/>
              </a:rPr>
              <a:t> </a:t>
            </a:r>
            <a:r>
              <a:rPr sz="2700" dirty="0">
                <a:latin typeface="Times New Roman"/>
                <a:cs typeface="Times New Roman"/>
              </a:rPr>
              <a:t>system</a:t>
            </a:r>
            <a:endParaRPr sz="2700">
              <a:latin typeface="Times New Roman"/>
              <a:cs typeface="Times New Roman"/>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39" y="475981"/>
            <a:ext cx="8261350" cy="5974080"/>
          </a:xfrm>
          <a:prstGeom prst="rect">
            <a:avLst/>
          </a:prstGeom>
        </p:spPr>
        <p:txBody>
          <a:bodyPr vert="horz" wrap="square" lIns="0" tIns="0" rIns="0" bIns="0" rtlCol="0">
            <a:spAutoFit/>
          </a:bodyPr>
          <a:lstStyle/>
          <a:p>
            <a:pPr marL="585470">
              <a:lnSpc>
                <a:spcPct val="100000"/>
              </a:lnSpc>
            </a:pPr>
            <a:r>
              <a:rPr sz="1950" spc="270" dirty="0">
                <a:solidFill>
                  <a:srgbClr val="231F20"/>
                </a:solidFill>
                <a:latin typeface="Arial"/>
                <a:cs typeface="Arial"/>
              </a:rPr>
              <a:t>Combining </a:t>
            </a:r>
            <a:r>
              <a:rPr sz="1950" spc="305" dirty="0">
                <a:solidFill>
                  <a:srgbClr val="231F20"/>
                </a:solidFill>
                <a:latin typeface="Arial"/>
                <a:cs typeface="Arial"/>
              </a:rPr>
              <a:t>Model </a:t>
            </a:r>
            <a:r>
              <a:rPr sz="1950" spc="245" dirty="0">
                <a:solidFill>
                  <a:srgbClr val="231F20"/>
                </a:solidFill>
                <a:latin typeface="Arial"/>
                <a:cs typeface="Arial"/>
              </a:rPr>
              <a:t>Checking </a:t>
            </a:r>
            <a:r>
              <a:rPr sz="1950" spc="240" dirty="0">
                <a:solidFill>
                  <a:srgbClr val="231F20"/>
                </a:solidFill>
                <a:latin typeface="Arial"/>
                <a:cs typeface="Arial"/>
              </a:rPr>
              <a:t>and </a:t>
            </a:r>
            <a:r>
              <a:rPr sz="1950" spc="320" dirty="0">
                <a:solidFill>
                  <a:srgbClr val="231F20"/>
                </a:solidFill>
                <a:latin typeface="Arial"/>
                <a:cs typeface="Arial"/>
              </a:rPr>
              <a:t>Theorem</a:t>
            </a:r>
            <a:r>
              <a:rPr sz="1950" spc="805" dirty="0">
                <a:solidFill>
                  <a:srgbClr val="231F20"/>
                </a:solidFill>
                <a:latin typeface="Arial"/>
                <a:cs typeface="Arial"/>
              </a:rPr>
              <a:t> </a:t>
            </a:r>
            <a:r>
              <a:rPr sz="1950" spc="260" dirty="0">
                <a:solidFill>
                  <a:srgbClr val="231F20"/>
                </a:solidFill>
                <a:latin typeface="Arial"/>
                <a:cs typeface="Arial"/>
              </a:rPr>
              <a:t>Proving</a:t>
            </a:r>
            <a:endParaRPr sz="1950">
              <a:latin typeface="Arial"/>
              <a:cs typeface="Arial"/>
            </a:endParaRPr>
          </a:p>
          <a:p>
            <a:pPr marL="300990" marR="186690" indent="-288290">
              <a:lnSpc>
                <a:spcPct val="125000"/>
              </a:lnSpc>
              <a:spcBef>
                <a:spcPts val="1030"/>
              </a:spcBef>
              <a:buSzPct val="105128"/>
              <a:buFont typeface="Lucida Sans Unicode"/>
              <a:buChar char="•"/>
              <a:tabLst>
                <a:tab pos="301625" algn="l"/>
              </a:tabLst>
            </a:pPr>
            <a:r>
              <a:rPr sz="1950" spc="180" dirty="0">
                <a:solidFill>
                  <a:srgbClr val="231F20"/>
                </a:solidFill>
                <a:latin typeface="Arial"/>
                <a:cs typeface="Arial"/>
              </a:rPr>
              <a:t>Model </a:t>
            </a:r>
            <a:r>
              <a:rPr sz="1950" spc="125" dirty="0">
                <a:solidFill>
                  <a:srgbClr val="231F20"/>
                </a:solidFill>
                <a:latin typeface="Arial"/>
                <a:cs typeface="Arial"/>
              </a:rPr>
              <a:t>checking </a:t>
            </a:r>
            <a:r>
              <a:rPr sz="1950" spc="85" dirty="0">
                <a:solidFill>
                  <a:srgbClr val="231F20"/>
                </a:solidFill>
                <a:latin typeface="Arial"/>
                <a:cs typeface="Arial"/>
              </a:rPr>
              <a:t>a </a:t>
            </a:r>
            <a:r>
              <a:rPr sz="1950" spc="110" dirty="0">
                <a:solidFill>
                  <a:srgbClr val="231F20"/>
                </a:solidFill>
                <a:latin typeface="Arial"/>
                <a:cs typeface="Arial"/>
              </a:rPr>
              <a:t>downscaled </a:t>
            </a:r>
            <a:r>
              <a:rPr sz="1950" spc="120" dirty="0">
                <a:solidFill>
                  <a:srgbClr val="231F20"/>
                </a:solidFill>
                <a:latin typeface="Arial"/>
                <a:cs typeface="Arial"/>
              </a:rPr>
              <a:t>instance </a:t>
            </a:r>
            <a:r>
              <a:rPr sz="1950" spc="40" dirty="0">
                <a:solidFill>
                  <a:srgbClr val="231F20"/>
                </a:solidFill>
                <a:latin typeface="Arial"/>
                <a:cs typeface="Arial"/>
              </a:rPr>
              <a:t>is </a:t>
            </a:r>
            <a:r>
              <a:rPr sz="1950" spc="85" dirty="0">
                <a:solidFill>
                  <a:srgbClr val="231F20"/>
                </a:solidFill>
                <a:latin typeface="Arial"/>
                <a:cs typeface="Arial"/>
              </a:rPr>
              <a:t>a </a:t>
            </a:r>
            <a:r>
              <a:rPr sz="1950" spc="105" dirty="0">
                <a:solidFill>
                  <a:srgbClr val="231F20"/>
                </a:solidFill>
                <a:latin typeface="Arial"/>
                <a:cs typeface="Arial"/>
              </a:rPr>
              <a:t>useful </a:t>
            </a:r>
            <a:r>
              <a:rPr sz="1950" spc="100" dirty="0">
                <a:solidFill>
                  <a:srgbClr val="231F20"/>
                </a:solidFill>
                <a:latin typeface="Arial"/>
                <a:cs typeface="Arial"/>
              </a:rPr>
              <a:t>prelude </a:t>
            </a:r>
            <a:r>
              <a:rPr sz="1950" spc="250" dirty="0">
                <a:solidFill>
                  <a:srgbClr val="231F20"/>
                </a:solidFill>
                <a:latin typeface="Arial"/>
                <a:cs typeface="Arial"/>
              </a:rPr>
              <a:t>to  </a:t>
            </a:r>
            <a:r>
              <a:rPr sz="1950" spc="155" dirty="0">
                <a:solidFill>
                  <a:srgbClr val="231F20"/>
                </a:solidFill>
                <a:latin typeface="Arial"/>
                <a:cs typeface="Arial"/>
              </a:rPr>
              <a:t>theorem </a:t>
            </a:r>
            <a:r>
              <a:rPr sz="1950" spc="135" dirty="0">
                <a:solidFill>
                  <a:srgbClr val="231F20"/>
                </a:solidFill>
                <a:latin typeface="Arial"/>
                <a:cs typeface="Arial"/>
              </a:rPr>
              <a:t>proving </a:t>
            </a:r>
            <a:r>
              <a:rPr sz="1950" spc="175" dirty="0">
                <a:solidFill>
                  <a:srgbClr val="231F20"/>
                </a:solidFill>
                <a:latin typeface="Arial"/>
                <a:cs typeface="Arial"/>
              </a:rPr>
              <a:t>the </a:t>
            </a:r>
            <a:r>
              <a:rPr sz="1950" spc="100" dirty="0">
                <a:solidFill>
                  <a:srgbClr val="231F20"/>
                </a:solidFill>
                <a:latin typeface="Arial"/>
                <a:cs typeface="Arial"/>
              </a:rPr>
              <a:t>general</a:t>
            </a:r>
            <a:r>
              <a:rPr sz="1950" spc="605" dirty="0">
                <a:solidFill>
                  <a:srgbClr val="231F20"/>
                </a:solidFill>
                <a:latin typeface="Arial"/>
                <a:cs typeface="Arial"/>
              </a:rPr>
              <a:t> </a:t>
            </a:r>
            <a:r>
              <a:rPr sz="1950" spc="50" dirty="0">
                <a:solidFill>
                  <a:srgbClr val="231F20"/>
                </a:solidFill>
                <a:latin typeface="Arial"/>
                <a:cs typeface="Arial"/>
              </a:rPr>
              <a:t>case</a:t>
            </a:r>
            <a:endParaRPr sz="1950">
              <a:latin typeface="Arial"/>
              <a:cs typeface="Arial"/>
            </a:endParaRPr>
          </a:p>
          <a:p>
            <a:pPr marL="300990" marR="52705" indent="-288290">
              <a:lnSpc>
                <a:spcPct val="125000"/>
              </a:lnSpc>
              <a:spcBef>
                <a:spcPts val="409"/>
              </a:spcBef>
              <a:buSzPct val="105128"/>
              <a:buFont typeface="Lucida Sans Unicode"/>
              <a:buChar char="•"/>
              <a:tabLst>
                <a:tab pos="301625" algn="l"/>
              </a:tabLst>
            </a:pPr>
            <a:r>
              <a:rPr sz="1950" spc="275" dirty="0">
                <a:solidFill>
                  <a:srgbClr val="231F20"/>
                </a:solidFill>
                <a:latin typeface="Arial"/>
                <a:cs typeface="Arial"/>
              </a:rPr>
              <a:t>But </a:t>
            </a:r>
            <a:r>
              <a:rPr sz="1950" spc="85" dirty="0">
                <a:solidFill>
                  <a:srgbClr val="231F20"/>
                </a:solidFill>
                <a:latin typeface="Arial"/>
                <a:cs typeface="Arial"/>
              </a:rPr>
              <a:t>a </a:t>
            </a:r>
            <a:r>
              <a:rPr sz="1950" spc="145" dirty="0">
                <a:solidFill>
                  <a:srgbClr val="231F20"/>
                </a:solidFill>
                <a:latin typeface="Arial"/>
                <a:cs typeface="Arial"/>
              </a:rPr>
              <a:t>more </a:t>
            </a:r>
            <a:r>
              <a:rPr sz="1950" spc="140" dirty="0">
                <a:solidFill>
                  <a:srgbClr val="231F20"/>
                </a:solidFill>
                <a:latin typeface="Arial"/>
                <a:cs typeface="Arial"/>
              </a:rPr>
              <a:t>interesting </a:t>
            </a:r>
            <a:r>
              <a:rPr sz="1950" spc="165" dirty="0">
                <a:solidFill>
                  <a:srgbClr val="231F20"/>
                </a:solidFill>
                <a:latin typeface="Arial"/>
                <a:cs typeface="Arial"/>
              </a:rPr>
              <a:t>combination </a:t>
            </a:r>
            <a:r>
              <a:rPr sz="1950" spc="40" dirty="0">
                <a:solidFill>
                  <a:srgbClr val="231F20"/>
                </a:solidFill>
                <a:latin typeface="Arial"/>
                <a:cs typeface="Arial"/>
              </a:rPr>
              <a:t>is </a:t>
            </a:r>
            <a:r>
              <a:rPr sz="1950" spc="250" dirty="0">
                <a:solidFill>
                  <a:srgbClr val="231F20"/>
                </a:solidFill>
                <a:latin typeface="Arial"/>
                <a:cs typeface="Arial"/>
              </a:rPr>
              <a:t>to </a:t>
            </a:r>
            <a:r>
              <a:rPr sz="1950" spc="45" dirty="0">
                <a:solidFill>
                  <a:srgbClr val="231F20"/>
                </a:solidFill>
                <a:latin typeface="Arial"/>
                <a:cs typeface="Arial"/>
              </a:rPr>
              <a:t>use </a:t>
            </a:r>
            <a:r>
              <a:rPr sz="1950" spc="160" dirty="0">
                <a:solidFill>
                  <a:srgbClr val="231F20"/>
                </a:solidFill>
                <a:latin typeface="Arial"/>
                <a:cs typeface="Arial"/>
              </a:rPr>
              <a:t>model </a:t>
            </a:r>
            <a:r>
              <a:rPr sz="1950" spc="125" dirty="0">
                <a:solidFill>
                  <a:srgbClr val="231F20"/>
                </a:solidFill>
                <a:latin typeface="Arial"/>
                <a:cs typeface="Arial"/>
              </a:rPr>
              <a:t>checking  </a:t>
            </a:r>
            <a:r>
              <a:rPr sz="1950" spc="30" dirty="0">
                <a:solidFill>
                  <a:srgbClr val="231F20"/>
                </a:solidFill>
                <a:latin typeface="Arial"/>
                <a:cs typeface="Arial"/>
              </a:rPr>
              <a:t>as </a:t>
            </a:r>
            <a:r>
              <a:rPr sz="1950" spc="170" dirty="0">
                <a:solidFill>
                  <a:srgbClr val="231F20"/>
                </a:solidFill>
                <a:latin typeface="Arial"/>
                <a:cs typeface="Arial"/>
              </a:rPr>
              <a:t>part </a:t>
            </a:r>
            <a:r>
              <a:rPr sz="1950" spc="185" dirty="0">
                <a:solidFill>
                  <a:srgbClr val="231F20"/>
                </a:solidFill>
                <a:latin typeface="Arial"/>
                <a:cs typeface="Arial"/>
              </a:rPr>
              <a:t>of </a:t>
            </a:r>
            <a:r>
              <a:rPr sz="1950" spc="85" dirty="0">
                <a:solidFill>
                  <a:srgbClr val="231F20"/>
                </a:solidFill>
                <a:latin typeface="Arial"/>
                <a:cs typeface="Arial"/>
              </a:rPr>
              <a:t>a </a:t>
            </a:r>
            <a:r>
              <a:rPr sz="1950" spc="170" dirty="0">
                <a:solidFill>
                  <a:srgbClr val="231F20"/>
                </a:solidFill>
                <a:latin typeface="Arial"/>
                <a:cs typeface="Arial"/>
              </a:rPr>
              <a:t>proof </a:t>
            </a:r>
            <a:r>
              <a:rPr sz="1950" spc="155" dirty="0">
                <a:solidFill>
                  <a:srgbClr val="231F20"/>
                </a:solidFill>
                <a:latin typeface="Arial"/>
                <a:cs typeface="Arial"/>
              </a:rPr>
              <a:t>for </a:t>
            </a:r>
            <a:r>
              <a:rPr sz="1950" spc="175" dirty="0">
                <a:solidFill>
                  <a:srgbClr val="231F20"/>
                </a:solidFill>
                <a:latin typeface="Arial"/>
                <a:cs typeface="Arial"/>
              </a:rPr>
              <a:t>the </a:t>
            </a:r>
            <a:r>
              <a:rPr sz="1950" spc="100" dirty="0">
                <a:solidFill>
                  <a:srgbClr val="231F20"/>
                </a:solidFill>
                <a:latin typeface="Arial"/>
                <a:cs typeface="Arial"/>
              </a:rPr>
              <a:t>general </a:t>
            </a:r>
            <a:r>
              <a:rPr sz="1950" spc="590" dirty="0">
                <a:solidFill>
                  <a:srgbClr val="231F20"/>
                </a:solidFill>
                <a:latin typeface="Arial"/>
                <a:cs typeface="Arial"/>
              </a:rPr>
              <a:t> </a:t>
            </a:r>
            <a:r>
              <a:rPr sz="1950" spc="50" dirty="0">
                <a:solidFill>
                  <a:srgbClr val="231F20"/>
                </a:solidFill>
                <a:latin typeface="Arial"/>
                <a:cs typeface="Arial"/>
              </a:rPr>
              <a:t>case</a:t>
            </a:r>
            <a:endParaRPr sz="1950">
              <a:latin typeface="Arial"/>
              <a:cs typeface="Arial"/>
            </a:endParaRPr>
          </a:p>
          <a:p>
            <a:pPr marL="300990" marR="269240" indent="-288290">
              <a:lnSpc>
                <a:spcPct val="125000"/>
              </a:lnSpc>
              <a:spcBef>
                <a:spcPts val="414"/>
              </a:spcBef>
              <a:buSzPct val="105128"/>
              <a:buFont typeface="Lucida Sans Unicode"/>
              <a:buChar char="•"/>
              <a:tabLst>
                <a:tab pos="301625" algn="l"/>
              </a:tabLst>
            </a:pPr>
            <a:r>
              <a:rPr sz="1950" spc="185" dirty="0">
                <a:solidFill>
                  <a:srgbClr val="231F20"/>
                </a:solidFill>
                <a:latin typeface="Arial"/>
                <a:cs typeface="Arial"/>
              </a:rPr>
              <a:t>One </a:t>
            </a:r>
            <a:r>
              <a:rPr sz="1950" spc="125" dirty="0">
                <a:solidFill>
                  <a:srgbClr val="231F20"/>
                </a:solidFill>
                <a:latin typeface="Arial"/>
                <a:cs typeface="Arial"/>
              </a:rPr>
              <a:t>approach </a:t>
            </a:r>
            <a:r>
              <a:rPr sz="1950" spc="40" dirty="0">
                <a:solidFill>
                  <a:srgbClr val="231F20"/>
                </a:solidFill>
                <a:latin typeface="Arial"/>
                <a:cs typeface="Arial"/>
              </a:rPr>
              <a:t>is </a:t>
            </a:r>
            <a:r>
              <a:rPr sz="1950" spc="250" dirty="0">
                <a:solidFill>
                  <a:srgbClr val="231F20"/>
                </a:solidFill>
                <a:latin typeface="Arial"/>
                <a:cs typeface="Arial"/>
              </a:rPr>
              <a:t>to </a:t>
            </a:r>
            <a:r>
              <a:rPr sz="1950" spc="125" dirty="0">
                <a:solidFill>
                  <a:srgbClr val="231F20"/>
                </a:solidFill>
                <a:latin typeface="Arial"/>
                <a:cs typeface="Arial"/>
              </a:rPr>
              <a:t>create </a:t>
            </a:r>
            <a:r>
              <a:rPr sz="1950" spc="85" dirty="0">
                <a:solidFill>
                  <a:srgbClr val="231F20"/>
                </a:solidFill>
                <a:latin typeface="Arial"/>
                <a:cs typeface="Arial"/>
              </a:rPr>
              <a:t>a </a:t>
            </a:r>
            <a:r>
              <a:rPr sz="1950" spc="160" dirty="0">
                <a:solidFill>
                  <a:srgbClr val="231F20"/>
                </a:solidFill>
                <a:latin typeface="Arial"/>
                <a:cs typeface="Arial"/>
              </a:rPr>
              <a:t>finite </a:t>
            </a:r>
            <a:r>
              <a:rPr sz="1950" spc="155" dirty="0">
                <a:solidFill>
                  <a:srgbClr val="231F20"/>
                </a:solidFill>
                <a:latin typeface="Arial"/>
                <a:cs typeface="Arial"/>
              </a:rPr>
              <a:t>state </a:t>
            </a:r>
            <a:r>
              <a:rPr sz="1950" spc="125" dirty="0">
                <a:solidFill>
                  <a:srgbClr val="FF0000"/>
                </a:solidFill>
                <a:latin typeface="Arial"/>
                <a:cs typeface="Arial"/>
              </a:rPr>
              <a:t>property-preserving  </a:t>
            </a:r>
            <a:r>
              <a:rPr sz="1950" spc="155" dirty="0">
                <a:solidFill>
                  <a:srgbClr val="FF0000"/>
                </a:solidFill>
                <a:latin typeface="Arial"/>
                <a:cs typeface="Arial"/>
              </a:rPr>
              <a:t>abstraction </a:t>
            </a:r>
            <a:r>
              <a:rPr sz="1950" spc="185" dirty="0">
                <a:solidFill>
                  <a:srgbClr val="231F20"/>
                </a:solidFill>
                <a:latin typeface="Arial"/>
                <a:cs typeface="Arial"/>
              </a:rPr>
              <a:t>of </a:t>
            </a:r>
            <a:r>
              <a:rPr sz="1950" spc="175" dirty="0">
                <a:solidFill>
                  <a:srgbClr val="231F20"/>
                </a:solidFill>
                <a:latin typeface="Arial"/>
                <a:cs typeface="Arial"/>
              </a:rPr>
              <a:t>the </a:t>
            </a:r>
            <a:r>
              <a:rPr sz="1950" spc="120" dirty="0">
                <a:solidFill>
                  <a:srgbClr val="231F20"/>
                </a:solidFill>
                <a:latin typeface="Arial"/>
                <a:cs typeface="Arial"/>
              </a:rPr>
              <a:t>original</a:t>
            </a:r>
            <a:r>
              <a:rPr sz="1950" spc="595" dirty="0">
                <a:solidFill>
                  <a:srgbClr val="231F20"/>
                </a:solidFill>
                <a:latin typeface="Arial"/>
                <a:cs typeface="Arial"/>
              </a:rPr>
              <a:t> </a:t>
            </a:r>
            <a:r>
              <a:rPr sz="1950" spc="170" dirty="0">
                <a:solidFill>
                  <a:srgbClr val="231F20"/>
                </a:solidFill>
                <a:latin typeface="Arial"/>
                <a:cs typeface="Arial"/>
              </a:rPr>
              <a:t>protocol</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85" dirty="0">
                <a:solidFill>
                  <a:srgbClr val="231F20"/>
                </a:solidFill>
                <a:latin typeface="Arial"/>
                <a:cs typeface="Arial"/>
              </a:rPr>
              <a:t>Theorem </a:t>
            </a:r>
            <a:r>
              <a:rPr sz="1950" spc="135" dirty="0">
                <a:solidFill>
                  <a:srgbClr val="231F20"/>
                </a:solidFill>
                <a:latin typeface="Arial"/>
                <a:cs typeface="Arial"/>
              </a:rPr>
              <a:t>proving </a:t>
            </a:r>
            <a:r>
              <a:rPr sz="1950" spc="85" dirty="0">
                <a:solidFill>
                  <a:srgbClr val="231F20"/>
                </a:solidFill>
                <a:latin typeface="Arial"/>
                <a:cs typeface="Arial"/>
              </a:rPr>
              <a:t>shows </a:t>
            </a:r>
            <a:r>
              <a:rPr sz="1950" spc="155" dirty="0">
                <a:solidFill>
                  <a:srgbClr val="231F20"/>
                </a:solidFill>
                <a:latin typeface="Arial"/>
                <a:cs typeface="Arial"/>
              </a:rPr>
              <a:t>abstraction </a:t>
            </a:r>
            <a:r>
              <a:rPr sz="1950" spc="60" dirty="0">
                <a:solidFill>
                  <a:srgbClr val="231F20"/>
                </a:solidFill>
                <a:latin typeface="Arial"/>
                <a:cs typeface="Arial"/>
              </a:rPr>
              <a:t>preserves </a:t>
            </a:r>
            <a:r>
              <a:rPr sz="1950" spc="175" dirty="0">
                <a:solidFill>
                  <a:srgbClr val="231F20"/>
                </a:solidFill>
                <a:latin typeface="Arial"/>
                <a:cs typeface="Arial"/>
              </a:rPr>
              <a:t>the</a:t>
            </a:r>
            <a:r>
              <a:rPr sz="1950" spc="685" dirty="0">
                <a:solidFill>
                  <a:srgbClr val="231F20"/>
                </a:solidFill>
                <a:latin typeface="Arial"/>
                <a:cs typeface="Arial"/>
              </a:rPr>
              <a:t> </a:t>
            </a:r>
            <a:r>
              <a:rPr sz="1950" spc="150" dirty="0">
                <a:solidFill>
                  <a:srgbClr val="231F20"/>
                </a:solidFill>
                <a:latin typeface="Arial"/>
                <a:cs typeface="Arial"/>
              </a:rPr>
              <a:t>property</a:t>
            </a:r>
            <a:endParaRPr sz="1950">
              <a:latin typeface="Arial"/>
              <a:cs typeface="Arial"/>
            </a:endParaRPr>
          </a:p>
          <a:p>
            <a:pPr marL="741680" marR="309880" lvl="1" indent="-288290">
              <a:lnSpc>
                <a:spcPct val="119900"/>
              </a:lnSpc>
              <a:spcBef>
                <a:spcPts val="325"/>
              </a:spcBef>
              <a:buSzPct val="105128"/>
              <a:buFont typeface="Lucida Sans Unicode"/>
              <a:buChar char="◦"/>
              <a:tabLst>
                <a:tab pos="742315" algn="l"/>
              </a:tabLst>
            </a:pPr>
            <a:r>
              <a:rPr sz="1950" spc="180" dirty="0">
                <a:solidFill>
                  <a:srgbClr val="231F20"/>
                </a:solidFill>
                <a:latin typeface="Arial"/>
                <a:cs typeface="Arial"/>
              </a:rPr>
              <a:t>Model </a:t>
            </a:r>
            <a:r>
              <a:rPr sz="1950" spc="125" dirty="0">
                <a:solidFill>
                  <a:srgbClr val="231F20"/>
                </a:solidFill>
                <a:latin typeface="Arial"/>
                <a:cs typeface="Arial"/>
              </a:rPr>
              <a:t>checking </a:t>
            </a:r>
            <a:r>
              <a:rPr sz="1950" spc="85" dirty="0">
                <a:solidFill>
                  <a:srgbClr val="231F20"/>
                </a:solidFill>
                <a:latin typeface="Arial"/>
                <a:cs typeface="Arial"/>
              </a:rPr>
              <a:t>shows </a:t>
            </a:r>
            <a:r>
              <a:rPr sz="1950" spc="155" dirty="0">
                <a:solidFill>
                  <a:srgbClr val="231F20"/>
                </a:solidFill>
                <a:latin typeface="Arial"/>
                <a:cs typeface="Arial"/>
              </a:rPr>
              <a:t>abstraction </a:t>
            </a:r>
            <a:r>
              <a:rPr sz="1950" spc="90" dirty="0">
                <a:solidFill>
                  <a:srgbClr val="231F20"/>
                </a:solidFill>
                <a:latin typeface="Arial"/>
                <a:cs typeface="Arial"/>
              </a:rPr>
              <a:t>satisfies </a:t>
            </a:r>
            <a:r>
              <a:rPr sz="1950" spc="175" dirty="0">
                <a:solidFill>
                  <a:srgbClr val="231F20"/>
                </a:solidFill>
                <a:latin typeface="Arial"/>
                <a:cs typeface="Arial"/>
              </a:rPr>
              <a:t>the </a:t>
            </a:r>
            <a:r>
              <a:rPr sz="1950" spc="150" dirty="0">
                <a:solidFill>
                  <a:srgbClr val="231F20"/>
                </a:solidFill>
                <a:latin typeface="Arial"/>
                <a:cs typeface="Arial"/>
              </a:rPr>
              <a:t>property  </a:t>
            </a:r>
            <a:r>
              <a:rPr sz="1950" spc="114" dirty="0">
                <a:solidFill>
                  <a:srgbClr val="231F20"/>
                </a:solidFill>
                <a:latin typeface="Arial"/>
                <a:cs typeface="Arial"/>
              </a:rPr>
              <a:t>Instead </a:t>
            </a:r>
            <a:r>
              <a:rPr sz="1950" spc="185" dirty="0">
                <a:solidFill>
                  <a:srgbClr val="231F20"/>
                </a:solidFill>
                <a:latin typeface="Arial"/>
                <a:cs typeface="Arial"/>
              </a:rPr>
              <a:t>of </a:t>
            </a:r>
            <a:r>
              <a:rPr sz="1950" spc="135" dirty="0">
                <a:solidFill>
                  <a:srgbClr val="231F20"/>
                </a:solidFill>
                <a:latin typeface="Arial"/>
                <a:cs typeface="Arial"/>
              </a:rPr>
              <a:t>proving </a:t>
            </a:r>
            <a:r>
              <a:rPr sz="2050" spc="60" dirty="0">
                <a:solidFill>
                  <a:srgbClr val="0000FF"/>
                </a:solidFill>
                <a:latin typeface="SimSun"/>
                <a:cs typeface="SimSun"/>
              </a:rPr>
              <a:t>indinv(safe)</a:t>
            </a:r>
            <a:r>
              <a:rPr sz="1950" spc="60" dirty="0">
                <a:solidFill>
                  <a:srgbClr val="231F20"/>
                </a:solidFill>
                <a:latin typeface="Arial"/>
                <a:cs typeface="Arial"/>
              </a:rPr>
              <a:t>, </a:t>
            </a:r>
            <a:r>
              <a:rPr sz="1950" spc="95" dirty="0">
                <a:solidFill>
                  <a:srgbClr val="231F20"/>
                </a:solidFill>
                <a:latin typeface="Arial"/>
                <a:cs typeface="Arial"/>
              </a:rPr>
              <a:t>we </a:t>
            </a:r>
            <a:r>
              <a:rPr sz="1950" spc="114" dirty="0">
                <a:solidFill>
                  <a:srgbClr val="231F20"/>
                </a:solidFill>
                <a:latin typeface="Arial"/>
                <a:cs typeface="Arial"/>
              </a:rPr>
              <a:t>invoke </a:t>
            </a:r>
            <a:r>
              <a:rPr sz="1950" spc="85" dirty="0">
                <a:solidFill>
                  <a:srgbClr val="231F20"/>
                </a:solidFill>
                <a:latin typeface="Arial"/>
                <a:cs typeface="Arial"/>
              </a:rPr>
              <a:t>a </a:t>
            </a:r>
            <a:r>
              <a:rPr sz="1950" spc="160" dirty="0">
                <a:solidFill>
                  <a:srgbClr val="231F20"/>
                </a:solidFill>
                <a:latin typeface="Arial"/>
                <a:cs typeface="Arial"/>
              </a:rPr>
              <a:t>model  </a:t>
            </a:r>
            <a:r>
              <a:rPr sz="1950" spc="100" dirty="0">
                <a:solidFill>
                  <a:srgbClr val="231F20"/>
                </a:solidFill>
                <a:latin typeface="Arial"/>
                <a:cs typeface="Arial"/>
              </a:rPr>
              <a:t>checker </a:t>
            </a:r>
            <a:r>
              <a:rPr sz="1950" spc="250" dirty="0">
                <a:solidFill>
                  <a:srgbClr val="231F20"/>
                </a:solidFill>
                <a:latin typeface="Arial"/>
                <a:cs typeface="Arial"/>
              </a:rPr>
              <a:t>to </a:t>
            </a:r>
            <a:r>
              <a:rPr sz="1950" spc="114" dirty="0">
                <a:solidFill>
                  <a:srgbClr val="231F20"/>
                </a:solidFill>
                <a:latin typeface="Arial"/>
                <a:cs typeface="Arial"/>
              </a:rPr>
              <a:t>show </a:t>
            </a:r>
            <a:r>
              <a:rPr sz="2050" spc="95" dirty="0">
                <a:solidFill>
                  <a:srgbClr val="0000FF"/>
                </a:solidFill>
                <a:latin typeface="SimSun"/>
                <a:cs typeface="SimSun"/>
              </a:rPr>
              <a:t>abs </a:t>
            </a:r>
            <a:r>
              <a:rPr sz="2050" spc="55" dirty="0">
                <a:solidFill>
                  <a:srgbClr val="0000FF"/>
                </a:solidFill>
                <a:latin typeface="SimSun"/>
                <a:cs typeface="SimSun"/>
              </a:rPr>
              <a:t>system |- G(safe)</a:t>
            </a:r>
            <a:r>
              <a:rPr sz="2050" spc="-295" dirty="0">
                <a:solidFill>
                  <a:srgbClr val="0000FF"/>
                </a:solidFill>
                <a:latin typeface="SimSun"/>
                <a:cs typeface="SimSun"/>
              </a:rPr>
              <a:t> </a:t>
            </a:r>
            <a:r>
              <a:rPr sz="1950" spc="260" dirty="0">
                <a:solidFill>
                  <a:srgbClr val="231F20"/>
                </a:solidFill>
                <a:latin typeface="Arial"/>
                <a:cs typeface="Arial"/>
              </a:rPr>
              <a:t>[LTL]</a:t>
            </a:r>
            <a:endParaRPr sz="1950">
              <a:latin typeface="Arial"/>
              <a:cs typeface="Arial"/>
            </a:endParaRPr>
          </a:p>
          <a:p>
            <a:pPr marL="300990" marR="182245">
              <a:lnSpc>
                <a:spcPct val="125000"/>
              </a:lnSpc>
              <a:spcBef>
                <a:spcPts val="390"/>
              </a:spcBef>
            </a:pPr>
            <a:r>
              <a:rPr sz="1950" spc="135" dirty="0">
                <a:solidFill>
                  <a:srgbClr val="FF0000"/>
                </a:solidFill>
                <a:latin typeface="Arial"/>
                <a:cs typeface="Arial"/>
              </a:rPr>
              <a:t>Can </a:t>
            </a:r>
            <a:r>
              <a:rPr sz="1950" spc="140" dirty="0">
                <a:solidFill>
                  <a:srgbClr val="FF0000"/>
                </a:solidFill>
                <a:latin typeface="Arial"/>
                <a:cs typeface="Arial"/>
              </a:rPr>
              <a:t>actually </a:t>
            </a:r>
            <a:r>
              <a:rPr sz="1950" spc="155" dirty="0">
                <a:solidFill>
                  <a:srgbClr val="FF0000"/>
                </a:solidFill>
                <a:latin typeface="Arial"/>
                <a:cs typeface="Arial"/>
              </a:rPr>
              <a:t>do </a:t>
            </a:r>
            <a:r>
              <a:rPr sz="1950" spc="105" dirty="0">
                <a:solidFill>
                  <a:srgbClr val="FF0000"/>
                </a:solidFill>
                <a:latin typeface="Arial"/>
                <a:cs typeface="Arial"/>
              </a:rPr>
              <a:t>all </a:t>
            </a:r>
            <a:r>
              <a:rPr sz="1950" spc="185" dirty="0">
                <a:solidFill>
                  <a:srgbClr val="FF0000"/>
                </a:solidFill>
                <a:latin typeface="Arial"/>
                <a:cs typeface="Arial"/>
              </a:rPr>
              <a:t>of </a:t>
            </a:r>
            <a:r>
              <a:rPr sz="1950" spc="145" dirty="0">
                <a:solidFill>
                  <a:srgbClr val="FF0000"/>
                </a:solidFill>
                <a:latin typeface="Arial"/>
                <a:cs typeface="Arial"/>
              </a:rPr>
              <a:t>this </a:t>
            </a:r>
            <a:r>
              <a:rPr sz="1950" spc="185" dirty="0">
                <a:solidFill>
                  <a:srgbClr val="FF0000"/>
                </a:solidFill>
                <a:latin typeface="Arial"/>
                <a:cs typeface="Arial"/>
              </a:rPr>
              <a:t>within </a:t>
            </a:r>
            <a:r>
              <a:rPr sz="1950" spc="190" dirty="0">
                <a:solidFill>
                  <a:srgbClr val="FF0000"/>
                </a:solidFill>
                <a:latin typeface="Arial"/>
                <a:cs typeface="Arial"/>
              </a:rPr>
              <a:t>PVS, </a:t>
            </a:r>
            <a:r>
              <a:rPr sz="1950" spc="80" dirty="0">
                <a:solidFill>
                  <a:srgbClr val="FF0000"/>
                </a:solidFill>
                <a:latin typeface="Arial"/>
                <a:cs typeface="Arial"/>
              </a:rPr>
              <a:t>because </a:t>
            </a:r>
            <a:r>
              <a:rPr sz="1950" spc="229" dirty="0">
                <a:solidFill>
                  <a:srgbClr val="FF0000"/>
                </a:solidFill>
                <a:latin typeface="Arial"/>
                <a:cs typeface="Arial"/>
              </a:rPr>
              <a:t>it </a:t>
            </a:r>
            <a:r>
              <a:rPr sz="1950" spc="100" dirty="0">
                <a:solidFill>
                  <a:srgbClr val="FF0000"/>
                </a:solidFill>
                <a:latin typeface="Arial"/>
                <a:cs typeface="Arial"/>
              </a:rPr>
              <a:t>includes </a:t>
            </a:r>
            <a:r>
              <a:rPr sz="1950" spc="85" dirty="0">
                <a:solidFill>
                  <a:srgbClr val="FF0000"/>
                </a:solidFill>
                <a:latin typeface="Arial"/>
                <a:cs typeface="Arial"/>
              </a:rPr>
              <a:t>a </a:t>
            </a:r>
            <a:r>
              <a:rPr sz="1950" spc="710" dirty="0">
                <a:solidFill>
                  <a:srgbClr val="FF0000"/>
                </a:solidFill>
                <a:latin typeface="Arial"/>
                <a:cs typeface="Arial"/>
              </a:rPr>
              <a:t> </a:t>
            </a:r>
            <a:r>
              <a:rPr sz="1950" spc="140" dirty="0">
                <a:solidFill>
                  <a:srgbClr val="FF0000"/>
                </a:solidFill>
                <a:latin typeface="Arial"/>
                <a:cs typeface="Arial"/>
              </a:rPr>
              <a:t>symbolic </a:t>
            </a:r>
            <a:r>
              <a:rPr sz="1950" spc="160" dirty="0">
                <a:solidFill>
                  <a:srgbClr val="FF0000"/>
                </a:solidFill>
                <a:latin typeface="Arial"/>
                <a:cs typeface="Arial"/>
              </a:rPr>
              <a:t>model </a:t>
            </a:r>
            <a:r>
              <a:rPr sz="1950" spc="100" dirty="0">
                <a:solidFill>
                  <a:srgbClr val="FF0000"/>
                </a:solidFill>
                <a:latin typeface="Arial"/>
                <a:cs typeface="Arial"/>
              </a:rPr>
              <a:t>checker </a:t>
            </a:r>
            <a:r>
              <a:rPr sz="1950" spc="195" dirty="0">
                <a:solidFill>
                  <a:srgbClr val="FF0000"/>
                </a:solidFill>
                <a:latin typeface="Arial"/>
                <a:cs typeface="Arial"/>
              </a:rPr>
              <a:t>(for</a:t>
            </a:r>
            <a:r>
              <a:rPr sz="1950" spc="695" dirty="0">
                <a:solidFill>
                  <a:srgbClr val="FF0000"/>
                </a:solidFill>
                <a:latin typeface="Arial"/>
                <a:cs typeface="Arial"/>
              </a:rPr>
              <a:t> </a:t>
            </a:r>
            <a:r>
              <a:rPr sz="1950" spc="345" dirty="0">
                <a:solidFill>
                  <a:srgbClr val="FF0000"/>
                </a:solidFill>
                <a:latin typeface="Arial"/>
                <a:cs typeface="Arial"/>
              </a:rPr>
              <a:t>CTL)</a:t>
            </a:r>
            <a:endParaRPr sz="1950">
              <a:latin typeface="Arial"/>
              <a:cs typeface="Arial"/>
            </a:endParaRPr>
          </a:p>
          <a:p>
            <a:pPr marL="741680" lvl="1" indent="-288290">
              <a:lnSpc>
                <a:spcPct val="100000"/>
              </a:lnSpc>
              <a:spcBef>
                <a:spcPts val="900"/>
              </a:spcBef>
              <a:buSzPct val="105128"/>
              <a:buFont typeface="Lucida Sans Unicode"/>
              <a:buChar char="◦"/>
              <a:tabLst>
                <a:tab pos="742315" algn="l"/>
              </a:tabLst>
            </a:pPr>
            <a:r>
              <a:rPr sz="1950" spc="210" dirty="0">
                <a:solidFill>
                  <a:srgbClr val="231F20"/>
                </a:solidFill>
                <a:latin typeface="Arial"/>
                <a:cs typeface="Arial"/>
              </a:rPr>
              <a:t>Built </a:t>
            </a:r>
            <a:r>
              <a:rPr sz="1950" spc="155" dirty="0">
                <a:solidFill>
                  <a:srgbClr val="231F20"/>
                </a:solidFill>
                <a:latin typeface="Arial"/>
                <a:cs typeface="Arial"/>
              </a:rPr>
              <a:t>on </a:t>
            </a:r>
            <a:r>
              <a:rPr sz="1950" spc="85" dirty="0">
                <a:solidFill>
                  <a:srgbClr val="231F20"/>
                </a:solidFill>
                <a:latin typeface="Arial"/>
                <a:cs typeface="Arial"/>
              </a:rPr>
              <a:t>a </a:t>
            </a:r>
            <a:r>
              <a:rPr sz="1950" spc="100" dirty="0">
                <a:solidFill>
                  <a:srgbClr val="231F20"/>
                </a:solidFill>
                <a:latin typeface="Arial"/>
                <a:cs typeface="Arial"/>
              </a:rPr>
              <a:t>decision </a:t>
            </a:r>
            <a:r>
              <a:rPr sz="1950" spc="120" dirty="0">
                <a:solidFill>
                  <a:srgbClr val="231F20"/>
                </a:solidFill>
                <a:latin typeface="Arial"/>
                <a:cs typeface="Arial"/>
              </a:rPr>
              <a:t>procedure </a:t>
            </a:r>
            <a:r>
              <a:rPr sz="1950" spc="155" dirty="0">
                <a:solidFill>
                  <a:srgbClr val="231F20"/>
                </a:solidFill>
                <a:latin typeface="Arial"/>
                <a:cs typeface="Arial"/>
              </a:rPr>
              <a:t>for </a:t>
            </a:r>
            <a:r>
              <a:rPr sz="1950" spc="160" dirty="0">
                <a:solidFill>
                  <a:srgbClr val="231F20"/>
                </a:solidFill>
                <a:latin typeface="Arial"/>
                <a:cs typeface="Arial"/>
              </a:rPr>
              <a:t>finite </a:t>
            </a:r>
            <a:r>
              <a:rPr sz="1950" spc="450" dirty="0">
                <a:solidFill>
                  <a:srgbClr val="231F20"/>
                </a:solidFill>
                <a:latin typeface="Arial"/>
                <a:cs typeface="Arial"/>
              </a:rPr>
              <a:t> </a:t>
            </a:r>
            <a:r>
              <a:rPr sz="2050" i="1" spc="95" dirty="0">
                <a:solidFill>
                  <a:srgbClr val="231F20"/>
                </a:solidFill>
                <a:latin typeface="Meiryo"/>
                <a:cs typeface="Meiryo"/>
              </a:rPr>
              <a:t>µ</a:t>
            </a:r>
            <a:r>
              <a:rPr sz="1950" spc="95" dirty="0">
                <a:solidFill>
                  <a:srgbClr val="231F20"/>
                </a:solidFill>
                <a:latin typeface="Arial"/>
                <a:cs typeface="Arial"/>
              </a:rPr>
              <a:t>-calculus</a:t>
            </a:r>
            <a:endParaRPr sz="1950">
              <a:latin typeface="Arial"/>
              <a:cs typeface="Arial"/>
            </a:endParaRPr>
          </a:p>
          <a:p>
            <a:pPr marL="741680" lvl="1" indent="-288290">
              <a:lnSpc>
                <a:spcPct val="100000"/>
              </a:lnSpc>
              <a:spcBef>
                <a:spcPts val="670"/>
              </a:spcBef>
              <a:buSzPct val="105128"/>
              <a:buFont typeface="Lucida Sans Unicode"/>
              <a:buChar char="◦"/>
              <a:tabLst>
                <a:tab pos="742315" algn="l"/>
              </a:tabLst>
            </a:pPr>
            <a:r>
              <a:rPr sz="1950" spc="195" dirty="0">
                <a:solidFill>
                  <a:srgbClr val="231F20"/>
                </a:solidFill>
                <a:latin typeface="Arial"/>
                <a:cs typeface="Arial"/>
              </a:rPr>
              <a:t>We </a:t>
            </a:r>
            <a:r>
              <a:rPr sz="1950" spc="45" dirty="0">
                <a:solidFill>
                  <a:srgbClr val="231F20"/>
                </a:solidFill>
                <a:latin typeface="Arial"/>
                <a:cs typeface="Arial"/>
              </a:rPr>
              <a:t>use </a:t>
            </a:r>
            <a:r>
              <a:rPr sz="1950" spc="229" dirty="0">
                <a:solidFill>
                  <a:srgbClr val="231F20"/>
                </a:solidFill>
                <a:latin typeface="Arial"/>
                <a:cs typeface="Arial"/>
              </a:rPr>
              <a:t>it </a:t>
            </a:r>
            <a:r>
              <a:rPr sz="1950" spc="250" dirty="0">
                <a:solidFill>
                  <a:srgbClr val="231F20"/>
                </a:solidFill>
                <a:latin typeface="Arial"/>
                <a:cs typeface="Arial"/>
              </a:rPr>
              <a:t>to </a:t>
            </a:r>
            <a:r>
              <a:rPr sz="1950" spc="110" dirty="0">
                <a:solidFill>
                  <a:srgbClr val="231F20"/>
                </a:solidFill>
                <a:latin typeface="Arial"/>
                <a:cs typeface="Arial"/>
              </a:rPr>
              <a:t>prove </a:t>
            </a:r>
            <a:r>
              <a:rPr sz="2050" spc="55" dirty="0">
                <a:solidFill>
                  <a:srgbClr val="0000FF"/>
                </a:solidFill>
                <a:latin typeface="SimSun"/>
                <a:cs typeface="SimSun"/>
              </a:rPr>
              <a:t>init(s) =&gt; AG(safe)(s)</a:t>
            </a:r>
            <a:r>
              <a:rPr sz="2050" spc="335" dirty="0">
                <a:solidFill>
                  <a:srgbClr val="0000FF"/>
                </a:solidFill>
                <a:latin typeface="SimSun"/>
                <a:cs typeface="SimSun"/>
              </a:rPr>
              <a:t> </a:t>
            </a:r>
            <a:r>
              <a:rPr sz="1950" spc="275" dirty="0">
                <a:solidFill>
                  <a:srgbClr val="231F20"/>
                </a:solidFill>
                <a:latin typeface="Arial"/>
                <a:cs typeface="Arial"/>
              </a:rPr>
              <a:t>[CTL]</a:t>
            </a:r>
            <a:endParaRPr sz="1950">
              <a:latin typeface="Arial"/>
              <a:cs typeface="Ari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87283" y="505127"/>
            <a:ext cx="6686550" cy="297180"/>
          </a:xfrm>
          <a:prstGeom prst="rect">
            <a:avLst/>
          </a:prstGeom>
        </p:spPr>
        <p:txBody>
          <a:bodyPr vert="horz" wrap="square" lIns="0" tIns="0" rIns="0" bIns="0" rtlCol="0">
            <a:spAutoFit/>
          </a:bodyPr>
          <a:lstStyle/>
          <a:p>
            <a:pPr marL="12700">
              <a:lnSpc>
                <a:spcPct val="100000"/>
              </a:lnSpc>
            </a:pPr>
            <a:r>
              <a:rPr sz="1950" spc="245" dirty="0">
                <a:solidFill>
                  <a:srgbClr val="231F20"/>
                </a:solidFill>
                <a:latin typeface="Arial"/>
                <a:cs typeface="Arial"/>
              </a:rPr>
              <a:t>Conditions for Property-Preserving</a:t>
            </a:r>
            <a:r>
              <a:rPr sz="1950" spc="675"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240" dirty="0">
                <a:solidFill>
                  <a:srgbClr val="231F20"/>
                </a:solidFill>
                <a:latin typeface="Arial"/>
                <a:cs typeface="Arial"/>
              </a:rPr>
              <a:t>Want </a:t>
            </a:r>
            <a:r>
              <a:rPr sz="1950" spc="120" dirty="0">
                <a:solidFill>
                  <a:srgbClr val="231F20"/>
                </a:solidFill>
                <a:latin typeface="Arial"/>
                <a:cs typeface="Arial"/>
              </a:rPr>
              <a:t>an </a:t>
            </a:r>
            <a:r>
              <a:rPr sz="1950" spc="145" dirty="0">
                <a:solidFill>
                  <a:srgbClr val="231F20"/>
                </a:solidFill>
                <a:latin typeface="Arial"/>
                <a:cs typeface="Arial"/>
              </a:rPr>
              <a:t>abstracted </a:t>
            </a:r>
            <a:r>
              <a:rPr sz="1950" spc="155" dirty="0">
                <a:solidFill>
                  <a:srgbClr val="231F20"/>
                </a:solidFill>
                <a:latin typeface="Arial"/>
                <a:cs typeface="Arial"/>
              </a:rPr>
              <a:t>state </a:t>
            </a:r>
            <a:r>
              <a:rPr sz="1950" spc="160" dirty="0">
                <a:solidFill>
                  <a:srgbClr val="231F20"/>
                </a:solidFill>
                <a:latin typeface="Arial"/>
                <a:cs typeface="Arial"/>
              </a:rPr>
              <a:t>type </a:t>
            </a:r>
            <a:r>
              <a:rPr spc="70" dirty="0"/>
              <a:t>abstract</a:t>
            </a:r>
            <a:r>
              <a:rPr spc="185" dirty="0"/>
              <a:t> </a:t>
            </a:r>
            <a:r>
              <a:rPr spc="55" dirty="0"/>
              <a:t>state</a:t>
            </a:r>
            <a:endParaRPr sz="1950">
              <a:latin typeface="Arial"/>
              <a:cs typeface="Arial"/>
            </a:endParaRPr>
          </a:p>
        </p:txBody>
      </p:sp>
      <p:sp>
        <p:nvSpPr>
          <p:cNvPr id="4" name="object 4"/>
          <p:cNvSpPr txBox="1"/>
          <p:nvPr/>
        </p:nvSpPr>
        <p:spPr>
          <a:xfrm>
            <a:off x="896440" y="1379969"/>
            <a:ext cx="8526145" cy="5059680"/>
          </a:xfrm>
          <a:prstGeom prst="rect">
            <a:avLst/>
          </a:prstGeom>
        </p:spPr>
        <p:txBody>
          <a:bodyPr vert="horz" wrap="square" lIns="0" tIns="0" rIns="0" bIns="0" rtlCol="0">
            <a:spAutoFit/>
          </a:bodyPr>
          <a:lstStyle/>
          <a:p>
            <a:pPr marL="741680" indent="-288290">
              <a:lnSpc>
                <a:spcPct val="100000"/>
              </a:lnSpc>
              <a:buSzPct val="105128"/>
              <a:buFont typeface="Lucida Sans Unicode"/>
              <a:buChar char="◦"/>
              <a:tabLst>
                <a:tab pos="742315" algn="l"/>
              </a:tabLst>
            </a:pPr>
            <a:r>
              <a:rPr sz="1950" spc="200" dirty="0">
                <a:solidFill>
                  <a:srgbClr val="231F20"/>
                </a:solidFill>
                <a:latin typeface="Arial"/>
                <a:cs typeface="Arial"/>
              </a:rPr>
              <a:t>And </a:t>
            </a:r>
            <a:r>
              <a:rPr sz="1950" spc="125" dirty="0">
                <a:solidFill>
                  <a:srgbClr val="231F20"/>
                </a:solidFill>
                <a:latin typeface="Arial"/>
                <a:cs typeface="Arial"/>
              </a:rPr>
              <a:t>corresponding </a:t>
            </a:r>
            <a:r>
              <a:rPr sz="1950" spc="160" dirty="0">
                <a:solidFill>
                  <a:srgbClr val="231F20"/>
                </a:solidFill>
                <a:latin typeface="Arial"/>
                <a:cs typeface="Arial"/>
              </a:rPr>
              <a:t>transition </a:t>
            </a:r>
            <a:r>
              <a:rPr sz="1950" spc="145" dirty="0">
                <a:solidFill>
                  <a:srgbClr val="231F20"/>
                </a:solidFill>
                <a:latin typeface="Arial"/>
                <a:cs typeface="Arial"/>
              </a:rPr>
              <a:t>relation </a:t>
            </a:r>
            <a:r>
              <a:rPr sz="2050" spc="185" dirty="0">
                <a:solidFill>
                  <a:srgbClr val="0000FF"/>
                </a:solidFill>
                <a:latin typeface="SimSun"/>
                <a:cs typeface="SimSun"/>
              </a:rPr>
              <a:t>a</a:t>
            </a:r>
            <a:r>
              <a:rPr sz="2050" spc="85" dirty="0">
                <a:solidFill>
                  <a:srgbClr val="0000FF"/>
                </a:solidFill>
                <a:latin typeface="SimSun"/>
                <a:cs typeface="SimSun"/>
              </a:rPr>
              <a:t> </a:t>
            </a:r>
            <a:r>
              <a:rPr sz="2050" spc="55" dirty="0">
                <a:solidFill>
                  <a:srgbClr val="0000FF"/>
                </a:solidFill>
                <a:latin typeface="SimSun"/>
                <a:cs typeface="SimSun"/>
              </a:rPr>
              <a:t>trans</a:t>
            </a:r>
            <a:endParaRPr sz="2050">
              <a:latin typeface="SimSun"/>
              <a:cs typeface="SimSun"/>
            </a:endParaRPr>
          </a:p>
          <a:p>
            <a:pPr marL="741680" indent="-288290">
              <a:lnSpc>
                <a:spcPct val="100000"/>
              </a:lnSpc>
              <a:spcBef>
                <a:spcPts val="725"/>
              </a:spcBef>
              <a:buSzPct val="105128"/>
              <a:buFont typeface="Lucida Sans Unicode"/>
              <a:buChar char="◦"/>
              <a:tabLst>
                <a:tab pos="742315" algn="l"/>
              </a:tabLst>
            </a:pPr>
            <a:r>
              <a:rPr sz="1950" spc="200" dirty="0">
                <a:solidFill>
                  <a:srgbClr val="231F20"/>
                </a:solidFill>
                <a:latin typeface="Arial"/>
                <a:cs typeface="Arial"/>
              </a:rPr>
              <a:t>And </a:t>
            </a:r>
            <a:r>
              <a:rPr sz="1950" spc="155" dirty="0">
                <a:solidFill>
                  <a:srgbClr val="231F20"/>
                </a:solidFill>
                <a:latin typeface="Arial"/>
                <a:cs typeface="Arial"/>
              </a:rPr>
              <a:t>initiality </a:t>
            </a:r>
            <a:r>
              <a:rPr sz="1950" spc="120" dirty="0">
                <a:solidFill>
                  <a:srgbClr val="231F20"/>
                </a:solidFill>
                <a:latin typeface="Arial"/>
                <a:cs typeface="Arial"/>
              </a:rPr>
              <a:t>predicate </a:t>
            </a:r>
            <a:r>
              <a:rPr sz="2050" spc="185" dirty="0">
                <a:solidFill>
                  <a:srgbClr val="0000FF"/>
                </a:solidFill>
                <a:latin typeface="SimSun"/>
                <a:cs typeface="SimSun"/>
              </a:rPr>
              <a:t>a</a:t>
            </a:r>
            <a:r>
              <a:rPr sz="2050" spc="-40" dirty="0">
                <a:solidFill>
                  <a:srgbClr val="0000FF"/>
                </a:solidFill>
                <a:latin typeface="SimSun"/>
                <a:cs typeface="SimSun"/>
              </a:rPr>
              <a:t> </a:t>
            </a:r>
            <a:r>
              <a:rPr sz="2050" spc="55" dirty="0">
                <a:solidFill>
                  <a:srgbClr val="0000FF"/>
                </a:solidFill>
                <a:latin typeface="SimSun"/>
                <a:cs typeface="SimSun"/>
              </a:rPr>
              <a:t>init</a:t>
            </a:r>
            <a:endParaRPr sz="2050">
              <a:latin typeface="SimSun"/>
              <a:cs typeface="SimSun"/>
            </a:endParaRPr>
          </a:p>
          <a:p>
            <a:pPr marL="741680" indent="-288290">
              <a:lnSpc>
                <a:spcPct val="100000"/>
              </a:lnSpc>
              <a:spcBef>
                <a:spcPts val="725"/>
              </a:spcBef>
              <a:buSzPct val="105128"/>
              <a:buFont typeface="Lucida Sans Unicode"/>
              <a:buChar char="◦"/>
              <a:tabLst>
                <a:tab pos="742315" algn="l"/>
              </a:tabLst>
            </a:pPr>
            <a:r>
              <a:rPr sz="1950" spc="175" dirty="0">
                <a:solidFill>
                  <a:srgbClr val="231F20"/>
                </a:solidFill>
                <a:latin typeface="Arial"/>
                <a:cs typeface="Arial"/>
              </a:rPr>
              <a:t>Together </a:t>
            </a:r>
            <a:r>
              <a:rPr sz="1950" spc="215" dirty="0">
                <a:solidFill>
                  <a:srgbClr val="231F20"/>
                </a:solidFill>
                <a:latin typeface="Arial"/>
                <a:cs typeface="Arial"/>
              </a:rPr>
              <a:t>with </a:t>
            </a:r>
            <a:r>
              <a:rPr sz="1950" spc="145" dirty="0">
                <a:solidFill>
                  <a:srgbClr val="231F20"/>
                </a:solidFill>
                <a:latin typeface="Arial"/>
                <a:cs typeface="Arial"/>
              </a:rPr>
              <a:t>abstracted </a:t>
            </a:r>
            <a:r>
              <a:rPr sz="1950" spc="114" dirty="0">
                <a:solidFill>
                  <a:srgbClr val="231F20"/>
                </a:solidFill>
                <a:latin typeface="Arial"/>
                <a:cs typeface="Arial"/>
              </a:rPr>
              <a:t>safety </a:t>
            </a:r>
            <a:r>
              <a:rPr sz="1950" spc="150" dirty="0">
                <a:solidFill>
                  <a:srgbClr val="231F20"/>
                </a:solidFill>
                <a:latin typeface="Arial"/>
                <a:cs typeface="Arial"/>
              </a:rPr>
              <a:t>property </a:t>
            </a:r>
            <a:r>
              <a:rPr sz="2050" spc="185" dirty="0">
                <a:solidFill>
                  <a:srgbClr val="0000FF"/>
                </a:solidFill>
                <a:latin typeface="SimSun"/>
                <a:cs typeface="SimSun"/>
              </a:rPr>
              <a:t>a</a:t>
            </a:r>
            <a:r>
              <a:rPr sz="2050" spc="204" dirty="0">
                <a:solidFill>
                  <a:srgbClr val="0000FF"/>
                </a:solidFill>
                <a:latin typeface="SimSun"/>
                <a:cs typeface="SimSun"/>
              </a:rPr>
              <a:t> </a:t>
            </a:r>
            <a:r>
              <a:rPr sz="2050" spc="55" dirty="0">
                <a:solidFill>
                  <a:srgbClr val="0000FF"/>
                </a:solidFill>
                <a:latin typeface="SimSun"/>
                <a:cs typeface="SimSun"/>
              </a:rPr>
              <a:t>safe</a:t>
            </a:r>
            <a:endParaRPr sz="2050">
              <a:latin typeface="SimSun"/>
              <a:cs typeface="SimSun"/>
            </a:endParaRPr>
          </a:p>
          <a:p>
            <a:pPr marL="300990" indent="-288290">
              <a:lnSpc>
                <a:spcPct val="100000"/>
              </a:lnSpc>
              <a:spcBef>
                <a:spcPts val="1805"/>
              </a:spcBef>
              <a:buSzPct val="105128"/>
              <a:buFont typeface="Lucida Sans Unicode"/>
              <a:buChar char="•"/>
              <a:tabLst>
                <a:tab pos="301625" algn="l"/>
              </a:tabLst>
            </a:pPr>
            <a:r>
              <a:rPr sz="1950" spc="200" dirty="0">
                <a:solidFill>
                  <a:srgbClr val="231F20"/>
                </a:solidFill>
                <a:latin typeface="Arial"/>
                <a:cs typeface="Arial"/>
              </a:rPr>
              <a:t>And </a:t>
            </a:r>
            <a:r>
              <a:rPr sz="1950" spc="120" dirty="0">
                <a:solidFill>
                  <a:srgbClr val="231F20"/>
                </a:solidFill>
                <a:latin typeface="Arial"/>
                <a:cs typeface="Arial"/>
              </a:rPr>
              <a:t>an </a:t>
            </a:r>
            <a:r>
              <a:rPr sz="1950" spc="155" dirty="0">
                <a:solidFill>
                  <a:srgbClr val="231F20"/>
                </a:solidFill>
                <a:latin typeface="Arial"/>
                <a:cs typeface="Arial"/>
              </a:rPr>
              <a:t>abstraction </a:t>
            </a:r>
            <a:r>
              <a:rPr sz="1950" spc="175" dirty="0">
                <a:solidFill>
                  <a:srgbClr val="231F20"/>
                </a:solidFill>
                <a:latin typeface="Arial"/>
                <a:cs typeface="Arial"/>
              </a:rPr>
              <a:t>function </a:t>
            </a:r>
            <a:r>
              <a:rPr sz="2050" spc="55" dirty="0">
                <a:solidFill>
                  <a:srgbClr val="0000FF"/>
                </a:solidFill>
                <a:latin typeface="SimSun"/>
                <a:cs typeface="SimSun"/>
              </a:rPr>
              <a:t>abst </a:t>
            </a:r>
            <a:r>
              <a:rPr sz="1950" spc="210" dirty="0">
                <a:solidFill>
                  <a:srgbClr val="231F20"/>
                </a:solidFill>
                <a:latin typeface="Arial"/>
                <a:cs typeface="Arial"/>
              </a:rPr>
              <a:t>from </a:t>
            </a:r>
            <a:r>
              <a:rPr sz="2050" spc="55" dirty="0">
                <a:solidFill>
                  <a:srgbClr val="0000FF"/>
                </a:solidFill>
                <a:latin typeface="SimSun"/>
                <a:cs typeface="SimSun"/>
              </a:rPr>
              <a:t>state</a:t>
            </a:r>
            <a:r>
              <a:rPr sz="2050" spc="70" dirty="0">
                <a:solidFill>
                  <a:srgbClr val="0000FF"/>
                </a:solidFill>
                <a:latin typeface="SimSun"/>
                <a:cs typeface="SimSun"/>
              </a:rPr>
              <a:t> </a:t>
            </a:r>
            <a:r>
              <a:rPr sz="1950" spc="250" dirty="0">
                <a:solidFill>
                  <a:srgbClr val="231F20"/>
                </a:solidFill>
                <a:latin typeface="Arial"/>
                <a:cs typeface="Arial"/>
              </a:rPr>
              <a:t>to</a:t>
            </a:r>
            <a:endParaRPr sz="1950">
              <a:latin typeface="Arial"/>
              <a:cs typeface="Arial"/>
            </a:endParaRPr>
          </a:p>
          <a:p>
            <a:pPr marL="300990">
              <a:lnSpc>
                <a:spcPct val="100000"/>
              </a:lnSpc>
              <a:spcBef>
                <a:spcPts val="465"/>
              </a:spcBef>
            </a:pPr>
            <a:r>
              <a:rPr sz="2050" spc="70" dirty="0">
                <a:solidFill>
                  <a:srgbClr val="0000FF"/>
                </a:solidFill>
                <a:latin typeface="SimSun"/>
                <a:cs typeface="SimSun"/>
              </a:rPr>
              <a:t>abstract state</a:t>
            </a:r>
            <a:r>
              <a:rPr sz="1950" spc="70" dirty="0">
                <a:solidFill>
                  <a:srgbClr val="231F20"/>
                </a:solidFill>
                <a:latin typeface="Arial"/>
                <a:cs typeface="Arial"/>
              </a:rPr>
              <a:t>, </a:t>
            </a:r>
            <a:r>
              <a:rPr sz="1950" spc="100" dirty="0">
                <a:solidFill>
                  <a:srgbClr val="231F20"/>
                </a:solidFill>
                <a:latin typeface="Arial"/>
                <a:cs typeface="Arial"/>
              </a:rPr>
              <a:t>such </a:t>
            </a:r>
            <a:r>
              <a:rPr sz="1950" spc="235" dirty="0">
                <a:solidFill>
                  <a:srgbClr val="231F20"/>
                </a:solidFill>
                <a:latin typeface="Arial"/>
                <a:cs typeface="Arial"/>
              </a:rPr>
              <a:t>that </a:t>
            </a:r>
            <a:r>
              <a:rPr sz="1950" spc="150" dirty="0">
                <a:solidFill>
                  <a:srgbClr val="231F20"/>
                </a:solidFill>
                <a:latin typeface="Arial"/>
                <a:cs typeface="Arial"/>
              </a:rPr>
              <a:t>following </a:t>
            </a:r>
            <a:r>
              <a:rPr sz="1950" spc="125" dirty="0">
                <a:solidFill>
                  <a:srgbClr val="231F20"/>
                </a:solidFill>
                <a:latin typeface="Arial"/>
                <a:cs typeface="Arial"/>
              </a:rPr>
              <a:t>properties</a:t>
            </a:r>
            <a:r>
              <a:rPr sz="1950" spc="380" dirty="0">
                <a:solidFill>
                  <a:srgbClr val="231F20"/>
                </a:solidFill>
                <a:latin typeface="Arial"/>
                <a:cs typeface="Arial"/>
              </a:rPr>
              <a:t> </a:t>
            </a:r>
            <a:r>
              <a:rPr sz="1950" spc="140" dirty="0">
                <a:solidFill>
                  <a:srgbClr val="231F20"/>
                </a:solidFill>
                <a:latin typeface="Arial"/>
                <a:cs typeface="Arial"/>
              </a:rPr>
              <a:t>hold</a:t>
            </a:r>
            <a:endParaRPr sz="1950">
              <a:latin typeface="Arial"/>
              <a:cs typeface="Arial"/>
            </a:endParaRPr>
          </a:p>
          <a:p>
            <a:pPr marL="17780">
              <a:lnSpc>
                <a:spcPct val="100000"/>
              </a:lnSpc>
              <a:spcBef>
                <a:spcPts val="670"/>
              </a:spcBef>
            </a:pPr>
            <a:r>
              <a:rPr sz="2050" spc="55" dirty="0">
                <a:solidFill>
                  <a:srgbClr val="0000FF"/>
                </a:solidFill>
                <a:latin typeface="SimSun"/>
                <a:cs typeface="SimSun"/>
              </a:rPr>
              <a:t>init_simulation:</a:t>
            </a:r>
            <a:r>
              <a:rPr sz="2050" spc="-35" dirty="0">
                <a:solidFill>
                  <a:srgbClr val="0000FF"/>
                </a:solidFill>
                <a:latin typeface="SimSun"/>
                <a:cs typeface="SimSun"/>
              </a:rPr>
              <a:t> </a:t>
            </a:r>
            <a:r>
              <a:rPr sz="2050" spc="55" dirty="0">
                <a:solidFill>
                  <a:srgbClr val="0000FF"/>
                </a:solidFill>
                <a:latin typeface="SimSun"/>
                <a:cs typeface="SimSun"/>
              </a:rPr>
              <a:t>THEOREM</a:t>
            </a:r>
            <a:endParaRPr sz="2050">
              <a:latin typeface="SimSun"/>
              <a:cs typeface="SimSun"/>
            </a:endParaRPr>
          </a:p>
          <a:p>
            <a:pPr marL="17780" marR="3954145" indent="274955">
              <a:lnSpc>
                <a:spcPct val="118900"/>
              </a:lnSpc>
            </a:pPr>
            <a:r>
              <a:rPr sz="2050" spc="55" dirty="0">
                <a:solidFill>
                  <a:srgbClr val="0000FF"/>
                </a:solidFill>
                <a:latin typeface="SimSun"/>
                <a:cs typeface="SimSun"/>
              </a:rPr>
              <a:t>init(s) IMPLIES a_init(abst(s))  trans_simulation:</a:t>
            </a:r>
            <a:r>
              <a:rPr sz="2050" spc="-35" dirty="0">
                <a:solidFill>
                  <a:srgbClr val="0000FF"/>
                </a:solidFill>
                <a:latin typeface="SimSun"/>
                <a:cs typeface="SimSun"/>
              </a:rPr>
              <a:t> </a:t>
            </a:r>
            <a:r>
              <a:rPr sz="2050" spc="55" dirty="0">
                <a:solidFill>
                  <a:srgbClr val="0000FF"/>
                </a:solidFill>
                <a:latin typeface="SimSun"/>
                <a:cs typeface="SimSun"/>
              </a:rPr>
              <a:t>THEOREM</a:t>
            </a:r>
            <a:endParaRPr sz="2050">
              <a:latin typeface="SimSun"/>
              <a:cs typeface="SimSun"/>
            </a:endParaRPr>
          </a:p>
          <a:p>
            <a:pPr marL="17780" marR="5080" indent="275590">
              <a:lnSpc>
                <a:spcPct val="118900"/>
              </a:lnSpc>
            </a:pPr>
            <a:r>
              <a:rPr sz="2050" spc="55" dirty="0">
                <a:solidFill>
                  <a:srgbClr val="0000FF"/>
                </a:solidFill>
                <a:latin typeface="SimSun"/>
                <a:cs typeface="SimSun"/>
              </a:rPr>
              <a:t>transitions(pre,</a:t>
            </a:r>
            <a:r>
              <a:rPr sz="2050" spc="-670" dirty="0">
                <a:solidFill>
                  <a:srgbClr val="0000FF"/>
                </a:solidFill>
                <a:latin typeface="SimSun"/>
                <a:cs typeface="SimSun"/>
              </a:rPr>
              <a:t> </a:t>
            </a:r>
            <a:r>
              <a:rPr sz="2050" spc="55" dirty="0">
                <a:solidFill>
                  <a:srgbClr val="0000FF"/>
                </a:solidFill>
                <a:latin typeface="SimSun"/>
                <a:cs typeface="SimSun"/>
              </a:rPr>
              <a:t>post)</a:t>
            </a:r>
            <a:r>
              <a:rPr sz="2050" spc="30" dirty="0">
                <a:solidFill>
                  <a:srgbClr val="0000FF"/>
                </a:solidFill>
                <a:latin typeface="SimSun"/>
                <a:cs typeface="SimSun"/>
              </a:rPr>
              <a:t> </a:t>
            </a:r>
            <a:r>
              <a:rPr sz="2050" spc="55" dirty="0">
                <a:solidFill>
                  <a:srgbClr val="0000FF"/>
                </a:solidFill>
                <a:latin typeface="SimSun"/>
                <a:cs typeface="SimSun"/>
              </a:rPr>
              <a:t>IMPLIES</a:t>
            </a:r>
            <a:r>
              <a:rPr sz="2050" spc="30" dirty="0">
                <a:solidFill>
                  <a:srgbClr val="0000FF"/>
                </a:solidFill>
                <a:latin typeface="SimSun"/>
                <a:cs typeface="SimSun"/>
              </a:rPr>
              <a:t> </a:t>
            </a:r>
            <a:r>
              <a:rPr sz="2050" spc="55" dirty="0">
                <a:solidFill>
                  <a:srgbClr val="0000FF"/>
                </a:solidFill>
                <a:latin typeface="SimSun"/>
                <a:cs typeface="SimSun"/>
              </a:rPr>
              <a:t>a_trans(abst(pre),</a:t>
            </a:r>
            <a:r>
              <a:rPr sz="2050" spc="-670" dirty="0">
                <a:solidFill>
                  <a:srgbClr val="0000FF"/>
                </a:solidFill>
                <a:latin typeface="SimSun"/>
                <a:cs typeface="SimSun"/>
              </a:rPr>
              <a:t> </a:t>
            </a:r>
            <a:r>
              <a:rPr sz="2050" spc="55" dirty="0">
                <a:solidFill>
                  <a:srgbClr val="0000FF"/>
                </a:solidFill>
                <a:latin typeface="SimSun"/>
                <a:cs typeface="SimSun"/>
              </a:rPr>
              <a:t>abst(post))  safety_preserved:</a:t>
            </a:r>
            <a:r>
              <a:rPr sz="2050" spc="-35" dirty="0">
                <a:solidFill>
                  <a:srgbClr val="0000FF"/>
                </a:solidFill>
                <a:latin typeface="SimSun"/>
                <a:cs typeface="SimSun"/>
              </a:rPr>
              <a:t> </a:t>
            </a:r>
            <a:r>
              <a:rPr sz="2050" spc="55" dirty="0">
                <a:solidFill>
                  <a:srgbClr val="0000FF"/>
                </a:solidFill>
                <a:latin typeface="SimSun"/>
                <a:cs typeface="SimSun"/>
              </a:rPr>
              <a:t>THEOREM</a:t>
            </a:r>
            <a:endParaRPr sz="2050">
              <a:latin typeface="SimSun"/>
              <a:cs typeface="SimSun"/>
            </a:endParaRPr>
          </a:p>
          <a:p>
            <a:pPr marL="293370">
              <a:lnSpc>
                <a:spcPct val="100000"/>
              </a:lnSpc>
              <a:spcBef>
                <a:spcPts val="465"/>
              </a:spcBef>
            </a:pPr>
            <a:r>
              <a:rPr sz="2050" spc="55" dirty="0">
                <a:solidFill>
                  <a:srgbClr val="0000FF"/>
                </a:solidFill>
                <a:latin typeface="SimSun"/>
                <a:cs typeface="SimSun"/>
              </a:rPr>
              <a:t>a_safe(abst(s)) IMPLIES</a:t>
            </a:r>
            <a:r>
              <a:rPr sz="2050" spc="-30" dirty="0">
                <a:solidFill>
                  <a:srgbClr val="0000FF"/>
                </a:solidFill>
                <a:latin typeface="SimSun"/>
                <a:cs typeface="SimSun"/>
              </a:rPr>
              <a:t> </a:t>
            </a:r>
            <a:r>
              <a:rPr sz="2050" spc="55" dirty="0">
                <a:solidFill>
                  <a:srgbClr val="0000FF"/>
                </a:solidFill>
                <a:latin typeface="SimSun"/>
                <a:cs typeface="SimSun"/>
              </a:rPr>
              <a:t>safe(s)</a:t>
            </a:r>
            <a:endParaRPr sz="2050">
              <a:latin typeface="SimSun"/>
              <a:cs typeface="SimSun"/>
            </a:endParaRPr>
          </a:p>
          <a:p>
            <a:pPr marL="293370" marR="1198880" indent="-275590">
              <a:lnSpc>
                <a:spcPct val="118900"/>
              </a:lnSpc>
              <a:tabLst>
                <a:tab pos="4425950" algn="l"/>
              </a:tabLst>
            </a:pPr>
            <a:r>
              <a:rPr sz="2050" spc="55" dirty="0">
                <a:solidFill>
                  <a:srgbClr val="0000FF"/>
                </a:solidFill>
                <a:latin typeface="SimSun"/>
                <a:cs typeface="SimSun"/>
              </a:rPr>
              <a:t>abs_invariant_ctl: </a:t>
            </a:r>
            <a:r>
              <a:rPr sz="2050" spc="325" dirty="0">
                <a:solidFill>
                  <a:srgbClr val="0000FF"/>
                </a:solidFill>
                <a:latin typeface="SimSun"/>
                <a:cs typeface="SimSun"/>
              </a:rPr>
              <a:t> </a:t>
            </a:r>
            <a:r>
              <a:rPr sz="2050" spc="55" dirty="0">
                <a:solidFill>
                  <a:srgbClr val="0000FF"/>
                </a:solidFill>
                <a:latin typeface="SimSun"/>
                <a:cs typeface="SimSun"/>
              </a:rPr>
              <a:t>THEOREM	</a:t>
            </a:r>
            <a:r>
              <a:rPr sz="2050" spc="-969" dirty="0">
                <a:solidFill>
                  <a:srgbClr val="0000FF"/>
                </a:solidFill>
                <a:latin typeface="SimSun"/>
                <a:cs typeface="SimSun"/>
              </a:rPr>
              <a:t>                   </a:t>
            </a:r>
            <a:r>
              <a:rPr sz="2050" spc="55" dirty="0">
                <a:solidFill>
                  <a:srgbClr val="0000FF"/>
                </a:solidFill>
                <a:latin typeface="SimSun"/>
                <a:cs typeface="SimSun"/>
              </a:rPr>
              <a:t>a_safe</a:t>
            </a:r>
            <a:r>
              <a:rPr sz="2050" spc="35" dirty="0">
                <a:solidFill>
                  <a:srgbClr val="0000FF"/>
                </a:solidFill>
                <a:latin typeface="SimSun"/>
                <a:cs typeface="SimSun"/>
              </a:rPr>
              <a:t> </a:t>
            </a:r>
            <a:r>
              <a:rPr sz="2050" spc="55" dirty="0">
                <a:solidFill>
                  <a:srgbClr val="0000FF"/>
                </a:solidFill>
                <a:latin typeface="SimSun"/>
                <a:cs typeface="SimSun"/>
              </a:rPr>
              <a:t>is</a:t>
            </a:r>
            <a:r>
              <a:rPr sz="2050" spc="30" dirty="0">
                <a:solidFill>
                  <a:srgbClr val="0000FF"/>
                </a:solidFill>
                <a:latin typeface="SimSun"/>
                <a:cs typeface="SimSun"/>
              </a:rPr>
              <a:t> </a:t>
            </a:r>
            <a:r>
              <a:rPr sz="2050" spc="55" dirty="0">
                <a:solidFill>
                  <a:srgbClr val="0000FF"/>
                </a:solidFill>
                <a:latin typeface="SimSun"/>
                <a:cs typeface="SimSun"/>
              </a:rPr>
              <a:t>invariant  a_init(as) IMPLIES AG(a_trans,</a:t>
            </a:r>
            <a:r>
              <a:rPr sz="2050" spc="-20" dirty="0">
                <a:solidFill>
                  <a:srgbClr val="0000FF"/>
                </a:solidFill>
                <a:latin typeface="SimSun"/>
                <a:cs typeface="SimSun"/>
              </a:rPr>
              <a:t> </a:t>
            </a:r>
            <a:r>
              <a:rPr sz="2050" spc="55" dirty="0">
                <a:solidFill>
                  <a:srgbClr val="0000FF"/>
                </a:solidFill>
                <a:latin typeface="SimSun"/>
                <a:cs typeface="SimSun"/>
              </a:rPr>
              <a:t>a_safe)(as)</a:t>
            </a:r>
            <a:endParaRPr sz="2050">
              <a:latin typeface="SimSun"/>
              <a:cs typeface="SimSun"/>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714871"/>
            <a:ext cx="8108950" cy="5454015"/>
          </a:xfrm>
          <a:prstGeom prst="rect">
            <a:avLst/>
          </a:prstGeom>
        </p:spPr>
        <p:txBody>
          <a:bodyPr vert="horz" wrap="square" lIns="0" tIns="0" rIns="0" bIns="0" rtlCol="0">
            <a:spAutoFit/>
          </a:bodyPr>
          <a:lstStyle/>
          <a:p>
            <a:pPr marL="156845" algn="ctr">
              <a:lnSpc>
                <a:spcPct val="100000"/>
              </a:lnSpc>
            </a:pPr>
            <a:r>
              <a:rPr sz="1950" spc="275" dirty="0">
                <a:solidFill>
                  <a:srgbClr val="231F20"/>
                </a:solidFill>
                <a:latin typeface="Arial"/>
                <a:cs typeface="Arial"/>
              </a:rPr>
              <a:t>Abstracted</a:t>
            </a:r>
            <a:r>
              <a:rPr sz="1950" spc="310" dirty="0">
                <a:solidFill>
                  <a:srgbClr val="231F20"/>
                </a:solidFill>
                <a:latin typeface="Arial"/>
                <a:cs typeface="Arial"/>
              </a:rPr>
              <a:t> </a:t>
            </a:r>
            <a:r>
              <a:rPr sz="1950" spc="305" dirty="0">
                <a:solidFill>
                  <a:srgbClr val="231F20"/>
                </a:solidFill>
                <a:latin typeface="Arial"/>
                <a:cs typeface="Arial"/>
              </a:rPr>
              <a:t>Model</a:t>
            </a:r>
            <a:endParaRPr sz="1950">
              <a:latin typeface="Arial"/>
              <a:cs typeface="Arial"/>
            </a:endParaRPr>
          </a:p>
          <a:p>
            <a:pPr marL="300990" marR="156845" indent="-288290">
              <a:lnSpc>
                <a:spcPct val="125000"/>
              </a:lnSpc>
              <a:spcBef>
                <a:spcPts val="1345"/>
              </a:spcBef>
              <a:buSzPct val="105128"/>
              <a:buFont typeface="Lucida Sans Unicode"/>
              <a:buChar char="•"/>
              <a:tabLst>
                <a:tab pos="301625" algn="l"/>
              </a:tabLst>
            </a:pPr>
            <a:r>
              <a:rPr sz="1950" spc="220" dirty="0">
                <a:solidFill>
                  <a:srgbClr val="231F20"/>
                </a:solidFill>
                <a:latin typeface="Arial"/>
                <a:cs typeface="Arial"/>
              </a:rPr>
              <a:t>It </a:t>
            </a:r>
            <a:r>
              <a:rPr sz="1950" spc="160" dirty="0">
                <a:solidFill>
                  <a:srgbClr val="231F20"/>
                </a:solidFill>
                <a:latin typeface="Arial"/>
                <a:cs typeface="Arial"/>
              </a:rPr>
              <a:t>doesn’t </a:t>
            </a:r>
            <a:r>
              <a:rPr sz="1950" spc="210" dirty="0">
                <a:solidFill>
                  <a:srgbClr val="231F20"/>
                </a:solidFill>
                <a:latin typeface="Arial"/>
                <a:cs typeface="Arial"/>
              </a:rPr>
              <a:t>matter </a:t>
            </a:r>
            <a:r>
              <a:rPr sz="1950" spc="250" dirty="0">
                <a:solidFill>
                  <a:srgbClr val="231F20"/>
                </a:solidFill>
                <a:latin typeface="Arial"/>
                <a:cs typeface="Arial"/>
              </a:rPr>
              <a:t>to </a:t>
            </a:r>
            <a:r>
              <a:rPr sz="1950" spc="175" dirty="0">
                <a:solidFill>
                  <a:srgbClr val="231F20"/>
                </a:solidFill>
                <a:latin typeface="Arial"/>
                <a:cs typeface="Arial"/>
              </a:rPr>
              <a:t>the </a:t>
            </a:r>
            <a:r>
              <a:rPr sz="1950" spc="170" dirty="0">
                <a:solidFill>
                  <a:srgbClr val="231F20"/>
                </a:solidFill>
                <a:latin typeface="Arial"/>
                <a:cs typeface="Arial"/>
              </a:rPr>
              <a:t>protocol </a:t>
            </a:r>
            <a:r>
              <a:rPr sz="1950" spc="204" dirty="0">
                <a:solidFill>
                  <a:srgbClr val="231F20"/>
                </a:solidFill>
                <a:latin typeface="Arial"/>
                <a:cs typeface="Arial"/>
              </a:rPr>
              <a:t>what </a:t>
            </a:r>
            <a:r>
              <a:rPr sz="1950" spc="175" dirty="0">
                <a:solidFill>
                  <a:srgbClr val="231F20"/>
                </a:solidFill>
                <a:latin typeface="Arial"/>
                <a:cs typeface="Arial"/>
              </a:rPr>
              <a:t>the </a:t>
            </a:r>
            <a:r>
              <a:rPr sz="1950" spc="150" dirty="0">
                <a:solidFill>
                  <a:srgbClr val="231F20"/>
                </a:solidFill>
                <a:latin typeface="Arial"/>
                <a:cs typeface="Arial"/>
              </a:rPr>
              <a:t>actual </a:t>
            </a:r>
            <a:r>
              <a:rPr sz="1950" spc="75" dirty="0">
                <a:solidFill>
                  <a:srgbClr val="231F20"/>
                </a:solidFill>
                <a:latin typeface="Arial"/>
                <a:cs typeface="Arial"/>
              </a:rPr>
              <a:t>values </a:t>
            </a:r>
            <a:r>
              <a:rPr sz="1950" spc="185" dirty="0">
                <a:solidFill>
                  <a:srgbClr val="231F20"/>
                </a:solidFill>
                <a:latin typeface="Arial"/>
                <a:cs typeface="Arial"/>
              </a:rPr>
              <a:t>of  </a:t>
            </a:r>
            <a:r>
              <a:rPr sz="1950" spc="175" dirty="0">
                <a:solidFill>
                  <a:srgbClr val="231F20"/>
                </a:solidFill>
                <a:latin typeface="Arial"/>
                <a:cs typeface="Arial"/>
              </a:rPr>
              <a:t>the </a:t>
            </a:r>
            <a:r>
              <a:rPr sz="1950" spc="150" dirty="0">
                <a:solidFill>
                  <a:srgbClr val="231F20"/>
                </a:solidFill>
                <a:latin typeface="Arial"/>
                <a:cs typeface="Arial"/>
              </a:rPr>
              <a:t>tickets</a:t>
            </a:r>
            <a:r>
              <a:rPr sz="1950" spc="305" dirty="0">
                <a:solidFill>
                  <a:srgbClr val="231F20"/>
                </a:solidFill>
                <a:latin typeface="Arial"/>
                <a:cs typeface="Arial"/>
              </a:rPr>
              <a:t> </a:t>
            </a:r>
            <a:r>
              <a:rPr sz="1950" spc="65" dirty="0">
                <a:solidFill>
                  <a:srgbClr val="231F20"/>
                </a:solidFill>
                <a:latin typeface="Arial"/>
                <a:cs typeface="Arial"/>
              </a:rPr>
              <a:t>are</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170" dirty="0">
                <a:solidFill>
                  <a:srgbClr val="231F20"/>
                </a:solidFill>
                <a:latin typeface="Arial"/>
                <a:cs typeface="Arial"/>
              </a:rPr>
              <a:t>All </a:t>
            </a:r>
            <a:r>
              <a:rPr sz="1950" spc="235" dirty="0">
                <a:solidFill>
                  <a:srgbClr val="231F20"/>
                </a:solidFill>
                <a:latin typeface="Arial"/>
                <a:cs typeface="Arial"/>
              </a:rPr>
              <a:t>that </a:t>
            </a:r>
            <a:r>
              <a:rPr sz="1950" spc="175" dirty="0">
                <a:solidFill>
                  <a:srgbClr val="231F20"/>
                </a:solidFill>
                <a:latin typeface="Arial"/>
                <a:cs typeface="Arial"/>
              </a:rPr>
              <a:t>matters </a:t>
            </a:r>
            <a:r>
              <a:rPr sz="1950" spc="40" dirty="0">
                <a:solidFill>
                  <a:srgbClr val="231F20"/>
                </a:solidFill>
                <a:latin typeface="Arial"/>
                <a:cs typeface="Arial"/>
              </a:rPr>
              <a:t>is </a:t>
            </a:r>
            <a:r>
              <a:rPr sz="1950" spc="155" dirty="0">
                <a:solidFill>
                  <a:srgbClr val="231F20"/>
                </a:solidFill>
                <a:latin typeface="Arial"/>
                <a:cs typeface="Arial"/>
              </a:rPr>
              <a:t>whether </a:t>
            </a:r>
            <a:r>
              <a:rPr sz="1950" spc="130" dirty="0">
                <a:solidFill>
                  <a:srgbClr val="231F20"/>
                </a:solidFill>
                <a:latin typeface="Arial"/>
                <a:cs typeface="Arial"/>
              </a:rPr>
              <a:t>or </a:t>
            </a:r>
            <a:r>
              <a:rPr sz="1950" spc="220" dirty="0">
                <a:solidFill>
                  <a:srgbClr val="231F20"/>
                </a:solidFill>
                <a:latin typeface="Arial"/>
                <a:cs typeface="Arial"/>
              </a:rPr>
              <a:t>not </a:t>
            </a:r>
            <a:r>
              <a:rPr sz="1950" spc="90" dirty="0">
                <a:solidFill>
                  <a:srgbClr val="231F20"/>
                </a:solidFill>
                <a:latin typeface="Arial"/>
                <a:cs typeface="Arial"/>
              </a:rPr>
              <a:t>each </a:t>
            </a:r>
            <a:r>
              <a:rPr sz="1950" spc="185" dirty="0">
                <a:solidFill>
                  <a:srgbClr val="231F20"/>
                </a:solidFill>
                <a:latin typeface="Arial"/>
                <a:cs typeface="Arial"/>
              </a:rPr>
              <a:t>of </a:t>
            </a:r>
            <a:r>
              <a:rPr sz="1950" spc="204" dirty="0">
                <a:solidFill>
                  <a:srgbClr val="231F20"/>
                </a:solidFill>
                <a:latin typeface="Arial"/>
                <a:cs typeface="Arial"/>
              </a:rPr>
              <a:t>them </a:t>
            </a:r>
            <a:r>
              <a:rPr sz="1950" spc="40" dirty="0">
                <a:solidFill>
                  <a:srgbClr val="231F20"/>
                </a:solidFill>
                <a:latin typeface="Arial"/>
                <a:cs typeface="Arial"/>
              </a:rPr>
              <a:t>is </a:t>
            </a:r>
            <a:r>
              <a:rPr sz="1950" spc="114" dirty="0">
                <a:solidFill>
                  <a:srgbClr val="231F20"/>
                </a:solidFill>
                <a:latin typeface="Arial"/>
                <a:cs typeface="Arial"/>
              </a:rPr>
              <a:t>zero, </a:t>
            </a:r>
            <a:r>
              <a:rPr sz="1950" spc="130" dirty="0">
                <a:solidFill>
                  <a:srgbClr val="231F20"/>
                </a:solidFill>
                <a:latin typeface="Arial"/>
                <a:cs typeface="Arial"/>
              </a:rPr>
              <a:t>and  </a:t>
            </a:r>
            <a:r>
              <a:rPr sz="1950" spc="155" dirty="0">
                <a:solidFill>
                  <a:srgbClr val="231F20"/>
                </a:solidFill>
                <a:latin typeface="Arial"/>
                <a:cs typeface="Arial"/>
              </a:rPr>
              <a:t>whether </a:t>
            </a:r>
            <a:r>
              <a:rPr sz="1950" spc="105" dirty="0">
                <a:solidFill>
                  <a:srgbClr val="231F20"/>
                </a:solidFill>
                <a:latin typeface="Arial"/>
                <a:cs typeface="Arial"/>
              </a:rPr>
              <a:t>one </a:t>
            </a:r>
            <a:r>
              <a:rPr sz="1950" spc="40" dirty="0">
                <a:solidFill>
                  <a:srgbClr val="231F20"/>
                </a:solidFill>
                <a:latin typeface="Arial"/>
                <a:cs typeface="Arial"/>
              </a:rPr>
              <a:t>is </a:t>
            </a:r>
            <a:r>
              <a:rPr sz="1950" spc="15" dirty="0">
                <a:solidFill>
                  <a:srgbClr val="231F20"/>
                </a:solidFill>
                <a:latin typeface="Arial"/>
                <a:cs typeface="Arial"/>
              </a:rPr>
              <a:t>less </a:t>
            </a:r>
            <a:r>
              <a:rPr sz="1950" spc="185" dirty="0">
                <a:solidFill>
                  <a:srgbClr val="231F20"/>
                </a:solidFill>
                <a:latin typeface="Arial"/>
                <a:cs typeface="Arial"/>
              </a:rPr>
              <a:t>than </a:t>
            </a:r>
            <a:r>
              <a:rPr sz="1950" spc="175" dirty="0">
                <a:solidFill>
                  <a:srgbClr val="231F20"/>
                </a:solidFill>
                <a:latin typeface="Arial"/>
                <a:cs typeface="Arial"/>
              </a:rPr>
              <a:t>the </a:t>
            </a:r>
            <a:r>
              <a:rPr sz="1950" spc="455" dirty="0">
                <a:solidFill>
                  <a:srgbClr val="231F20"/>
                </a:solidFill>
                <a:latin typeface="Arial"/>
                <a:cs typeface="Arial"/>
              </a:rPr>
              <a:t> </a:t>
            </a:r>
            <a:r>
              <a:rPr sz="1950" spc="170" dirty="0">
                <a:solidFill>
                  <a:srgbClr val="231F20"/>
                </a:solidFill>
                <a:latin typeface="Arial"/>
                <a:cs typeface="Arial"/>
              </a:rPr>
              <a:t>other</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95" dirty="0">
                <a:solidFill>
                  <a:srgbClr val="231F20"/>
                </a:solidFill>
                <a:latin typeface="Arial"/>
                <a:cs typeface="Arial"/>
              </a:rPr>
              <a:t>We </a:t>
            </a:r>
            <a:r>
              <a:rPr sz="1950" spc="120" dirty="0">
                <a:solidFill>
                  <a:srgbClr val="231F20"/>
                </a:solidFill>
                <a:latin typeface="Arial"/>
                <a:cs typeface="Arial"/>
              </a:rPr>
              <a:t>can </a:t>
            </a:r>
            <a:r>
              <a:rPr sz="1950" spc="45" dirty="0">
                <a:solidFill>
                  <a:srgbClr val="231F20"/>
                </a:solidFill>
                <a:latin typeface="Arial"/>
                <a:cs typeface="Arial"/>
              </a:rPr>
              <a:t>use </a:t>
            </a:r>
            <a:r>
              <a:rPr sz="1950" spc="130" dirty="0">
                <a:solidFill>
                  <a:srgbClr val="231F20"/>
                </a:solidFill>
                <a:latin typeface="Arial"/>
                <a:cs typeface="Arial"/>
              </a:rPr>
              <a:t>Booleans </a:t>
            </a:r>
            <a:r>
              <a:rPr sz="1950" spc="250" dirty="0">
                <a:solidFill>
                  <a:srgbClr val="231F20"/>
                </a:solidFill>
                <a:latin typeface="Arial"/>
                <a:cs typeface="Arial"/>
              </a:rPr>
              <a:t>to </a:t>
            </a:r>
            <a:r>
              <a:rPr sz="1950" spc="105" dirty="0">
                <a:solidFill>
                  <a:srgbClr val="231F20"/>
                </a:solidFill>
                <a:latin typeface="Arial"/>
                <a:cs typeface="Arial"/>
              </a:rPr>
              <a:t>represent </a:t>
            </a:r>
            <a:r>
              <a:rPr sz="1950" spc="100" dirty="0">
                <a:solidFill>
                  <a:srgbClr val="231F20"/>
                </a:solidFill>
                <a:latin typeface="Arial"/>
                <a:cs typeface="Arial"/>
              </a:rPr>
              <a:t>these </a:t>
            </a:r>
            <a:r>
              <a:rPr sz="1950" spc="455" dirty="0">
                <a:solidFill>
                  <a:srgbClr val="231F20"/>
                </a:solidFill>
                <a:latin typeface="Arial"/>
                <a:cs typeface="Arial"/>
              </a:rPr>
              <a:t> </a:t>
            </a:r>
            <a:r>
              <a:rPr sz="1950" spc="125" dirty="0">
                <a:solidFill>
                  <a:srgbClr val="231F20"/>
                </a:solidFill>
                <a:latin typeface="Arial"/>
                <a:cs typeface="Arial"/>
              </a:rPr>
              <a:t>relations</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204" dirty="0">
                <a:solidFill>
                  <a:srgbClr val="231F20"/>
                </a:solidFill>
                <a:latin typeface="Arial"/>
                <a:cs typeface="Arial"/>
              </a:rPr>
              <a:t>This </a:t>
            </a:r>
            <a:r>
              <a:rPr sz="1950" spc="40" dirty="0">
                <a:solidFill>
                  <a:srgbClr val="231F20"/>
                </a:solidFill>
                <a:latin typeface="Arial"/>
                <a:cs typeface="Arial"/>
              </a:rPr>
              <a:t>is </a:t>
            </a:r>
            <a:r>
              <a:rPr sz="1950" spc="100" dirty="0">
                <a:solidFill>
                  <a:srgbClr val="231F20"/>
                </a:solidFill>
                <a:latin typeface="Arial"/>
                <a:cs typeface="Arial"/>
              </a:rPr>
              <a:t>called </a:t>
            </a:r>
            <a:r>
              <a:rPr sz="1950" spc="120" dirty="0">
                <a:solidFill>
                  <a:srgbClr val="0000FF"/>
                </a:solidFill>
                <a:latin typeface="Arial"/>
                <a:cs typeface="Arial"/>
              </a:rPr>
              <a:t>predicate</a:t>
            </a:r>
            <a:r>
              <a:rPr sz="1950" spc="760" dirty="0">
                <a:solidFill>
                  <a:srgbClr val="0000FF"/>
                </a:solidFill>
                <a:latin typeface="Arial"/>
                <a:cs typeface="Arial"/>
              </a:rPr>
              <a:t> </a:t>
            </a:r>
            <a:r>
              <a:rPr sz="1950" spc="155" dirty="0">
                <a:solidFill>
                  <a:srgbClr val="0000FF"/>
                </a:solidFill>
                <a:latin typeface="Arial"/>
                <a:cs typeface="Arial"/>
              </a:rPr>
              <a:t>abstraction</a:t>
            </a:r>
            <a:endParaRPr sz="1950">
              <a:latin typeface="Arial"/>
              <a:cs typeface="Arial"/>
            </a:endParaRPr>
          </a:p>
          <a:p>
            <a:pPr lvl="1">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ts val="2275"/>
              </a:lnSpc>
              <a:buSzPct val="105128"/>
              <a:buFont typeface="Lucida Sans Unicode"/>
              <a:buChar char="•"/>
              <a:tabLst>
                <a:tab pos="301625" algn="l"/>
              </a:tabLst>
            </a:pPr>
            <a:r>
              <a:rPr sz="1950" spc="114" dirty="0">
                <a:solidFill>
                  <a:srgbClr val="231F20"/>
                </a:solidFill>
                <a:latin typeface="Arial"/>
                <a:cs typeface="Arial"/>
              </a:rPr>
              <a:t>So </a:t>
            </a:r>
            <a:r>
              <a:rPr sz="1950" spc="160" dirty="0">
                <a:solidFill>
                  <a:srgbClr val="231F20"/>
                </a:solidFill>
                <a:latin typeface="Arial"/>
                <a:cs typeface="Arial"/>
              </a:rPr>
              <a:t>introduce </a:t>
            </a:r>
            <a:r>
              <a:rPr sz="1950" spc="175" dirty="0">
                <a:solidFill>
                  <a:srgbClr val="231F20"/>
                </a:solidFill>
                <a:latin typeface="Arial"/>
                <a:cs typeface="Arial"/>
              </a:rPr>
              <a:t>the </a:t>
            </a:r>
            <a:r>
              <a:rPr sz="1950" spc="145" dirty="0">
                <a:solidFill>
                  <a:srgbClr val="231F20"/>
                </a:solidFill>
                <a:latin typeface="Arial"/>
                <a:cs typeface="Arial"/>
              </a:rPr>
              <a:t>abstracted </a:t>
            </a:r>
            <a:r>
              <a:rPr sz="1950" spc="195" dirty="0">
                <a:solidFill>
                  <a:srgbClr val="231F20"/>
                </a:solidFill>
                <a:latin typeface="Arial"/>
                <a:cs typeface="Arial"/>
              </a:rPr>
              <a:t>(finite) </a:t>
            </a:r>
            <a:r>
              <a:rPr sz="1950" spc="155" dirty="0">
                <a:solidFill>
                  <a:srgbClr val="231F20"/>
                </a:solidFill>
                <a:latin typeface="Arial"/>
                <a:cs typeface="Arial"/>
              </a:rPr>
              <a:t>state </a:t>
            </a:r>
            <a:r>
              <a:rPr sz="1950" spc="200" dirty="0">
                <a:solidFill>
                  <a:srgbClr val="231F20"/>
                </a:solidFill>
                <a:latin typeface="Arial"/>
                <a:cs typeface="Arial"/>
              </a:rPr>
              <a:t> </a:t>
            </a:r>
            <a:r>
              <a:rPr sz="1950" spc="160" dirty="0">
                <a:solidFill>
                  <a:srgbClr val="231F20"/>
                </a:solidFill>
                <a:latin typeface="Arial"/>
                <a:cs typeface="Arial"/>
              </a:rPr>
              <a:t>type</a:t>
            </a:r>
            <a:endParaRPr sz="1950">
              <a:latin typeface="Arial"/>
              <a:cs typeface="Arial"/>
            </a:endParaRPr>
          </a:p>
          <a:p>
            <a:pPr marL="576580" indent="-275590">
              <a:lnSpc>
                <a:spcPts val="2395"/>
              </a:lnSpc>
            </a:pPr>
            <a:r>
              <a:rPr sz="2050" spc="55" dirty="0">
                <a:solidFill>
                  <a:srgbClr val="0000FF"/>
                </a:solidFill>
                <a:latin typeface="SimSun"/>
                <a:cs typeface="SimSun"/>
              </a:rPr>
              <a:t>abstract_state: TYPE</a:t>
            </a:r>
            <a:r>
              <a:rPr sz="2050" spc="-2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576580">
              <a:lnSpc>
                <a:spcPct val="100000"/>
              </a:lnSpc>
              <a:spcBef>
                <a:spcPts val="465"/>
              </a:spcBef>
            </a:pPr>
            <a:r>
              <a:rPr sz="2050" spc="55" dirty="0">
                <a:solidFill>
                  <a:srgbClr val="0000FF"/>
                </a:solidFill>
                <a:latin typeface="SimSun"/>
                <a:cs typeface="SimSun"/>
              </a:rPr>
              <a:t>[# pc1, pc2:</a:t>
            </a:r>
            <a:r>
              <a:rPr sz="2050" spc="-15" dirty="0">
                <a:solidFill>
                  <a:srgbClr val="0000FF"/>
                </a:solidFill>
                <a:latin typeface="SimSun"/>
                <a:cs typeface="SimSun"/>
              </a:rPr>
              <a:t> </a:t>
            </a:r>
            <a:r>
              <a:rPr sz="2050" spc="55" dirty="0">
                <a:solidFill>
                  <a:srgbClr val="0000FF"/>
                </a:solidFill>
                <a:latin typeface="SimSun"/>
                <a:cs typeface="SimSun"/>
              </a:rPr>
              <a:t>phase,</a:t>
            </a:r>
            <a:endParaRPr sz="2050">
              <a:latin typeface="SimSun"/>
              <a:cs typeface="SimSun"/>
            </a:endParaRPr>
          </a:p>
          <a:p>
            <a:pPr marL="989965">
              <a:lnSpc>
                <a:spcPct val="100000"/>
              </a:lnSpc>
              <a:spcBef>
                <a:spcPts val="465"/>
              </a:spcBef>
            </a:pPr>
            <a:r>
              <a:rPr sz="2050" spc="55" dirty="0">
                <a:solidFill>
                  <a:srgbClr val="0000FF"/>
                </a:solidFill>
                <a:latin typeface="SimSun"/>
                <a:cs typeface="SimSun"/>
              </a:rPr>
              <a:t>t1_is_0, t2_is_0, t1_lt_t2: bool</a:t>
            </a:r>
            <a:r>
              <a:rPr sz="2050" spc="-10"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a:lnSpc>
                <a:spcPct val="100000"/>
              </a:lnSpc>
              <a:spcBef>
                <a:spcPts val="56"/>
              </a:spcBef>
            </a:pPr>
            <a:endParaRPr sz="2900">
              <a:latin typeface="Times New Roman"/>
              <a:cs typeface="Times New Roman"/>
            </a:endParaRPr>
          </a:p>
          <a:p>
            <a:pPr marL="576580">
              <a:lnSpc>
                <a:spcPct val="100000"/>
              </a:lnSpc>
            </a:pPr>
            <a:r>
              <a:rPr sz="2050" spc="55" dirty="0">
                <a:solidFill>
                  <a:srgbClr val="0000FF"/>
                </a:solidFill>
                <a:latin typeface="SimSun"/>
                <a:cs typeface="SimSun"/>
              </a:rPr>
              <a:t>as, a_pre, a_post: VAR</a:t>
            </a:r>
            <a:r>
              <a:rPr sz="2050" spc="-10" dirty="0">
                <a:solidFill>
                  <a:srgbClr val="0000FF"/>
                </a:solidFill>
                <a:latin typeface="SimSun"/>
                <a:cs typeface="SimSun"/>
              </a:rPr>
              <a:t> </a:t>
            </a:r>
            <a:r>
              <a:rPr sz="2050" spc="55" dirty="0">
                <a:solidFill>
                  <a:srgbClr val="0000FF"/>
                </a:solidFill>
                <a:latin typeface="SimSun"/>
                <a:cs typeface="SimSun"/>
              </a:rPr>
              <a:t>abstract_state</a:t>
            </a:r>
            <a:endParaRPr sz="2050">
              <a:latin typeface="SimSun"/>
              <a:cs typeface="SimSun"/>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697" y="475981"/>
            <a:ext cx="6638290" cy="5391150"/>
          </a:xfrm>
          <a:prstGeom prst="rect">
            <a:avLst/>
          </a:prstGeom>
        </p:spPr>
        <p:txBody>
          <a:bodyPr vert="horz" wrap="square" lIns="0" tIns="0" rIns="0" bIns="0" rtlCol="0">
            <a:spAutoFit/>
          </a:bodyPr>
          <a:lstStyle/>
          <a:p>
            <a:pPr marL="2635885">
              <a:lnSpc>
                <a:spcPct val="100000"/>
              </a:lnSpc>
            </a:pPr>
            <a:r>
              <a:rPr sz="1950" spc="275" dirty="0">
                <a:solidFill>
                  <a:srgbClr val="231F20"/>
                </a:solidFill>
                <a:latin typeface="Arial"/>
                <a:cs typeface="Arial"/>
              </a:rPr>
              <a:t>Abstraction</a:t>
            </a:r>
            <a:r>
              <a:rPr sz="1950" spc="305" dirty="0">
                <a:solidFill>
                  <a:srgbClr val="231F20"/>
                </a:solidFill>
                <a:latin typeface="Arial"/>
                <a:cs typeface="Arial"/>
              </a:rPr>
              <a:t> </a:t>
            </a:r>
            <a:r>
              <a:rPr sz="1950" spc="280" dirty="0">
                <a:solidFill>
                  <a:srgbClr val="231F20"/>
                </a:solidFill>
                <a:latin typeface="Arial"/>
                <a:cs typeface="Arial"/>
              </a:rPr>
              <a:t>Function</a:t>
            </a:r>
            <a:endParaRPr sz="1950">
              <a:latin typeface="Arial"/>
              <a:cs typeface="Arial"/>
            </a:endParaRPr>
          </a:p>
          <a:p>
            <a:pPr marL="1677670">
              <a:lnSpc>
                <a:spcPct val="100000"/>
              </a:lnSpc>
              <a:spcBef>
                <a:spcPts val="585"/>
              </a:spcBef>
            </a:pPr>
            <a:r>
              <a:rPr sz="1950" spc="330" dirty="0">
                <a:solidFill>
                  <a:srgbClr val="231F20"/>
                </a:solidFill>
                <a:latin typeface="Arial"/>
                <a:cs typeface="Arial"/>
              </a:rPr>
              <a:t>And </a:t>
            </a:r>
            <a:r>
              <a:rPr sz="1950" spc="275" dirty="0">
                <a:solidFill>
                  <a:srgbClr val="231F20"/>
                </a:solidFill>
                <a:latin typeface="Arial"/>
                <a:cs typeface="Arial"/>
              </a:rPr>
              <a:t>Abstracted </a:t>
            </a:r>
            <a:r>
              <a:rPr sz="1950" spc="250" dirty="0">
                <a:solidFill>
                  <a:srgbClr val="231F20"/>
                </a:solidFill>
                <a:latin typeface="Arial"/>
                <a:cs typeface="Arial"/>
              </a:rPr>
              <a:t>Properties </a:t>
            </a:r>
            <a:r>
              <a:rPr sz="1950" spc="210" dirty="0">
                <a:solidFill>
                  <a:srgbClr val="231F20"/>
                </a:solidFill>
                <a:latin typeface="Arial"/>
                <a:cs typeface="Arial"/>
              </a:rPr>
              <a:t>in</a:t>
            </a:r>
            <a:r>
              <a:rPr sz="1950" spc="555" dirty="0">
                <a:solidFill>
                  <a:srgbClr val="231F20"/>
                </a:solidFill>
                <a:latin typeface="Arial"/>
                <a:cs typeface="Arial"/>
              </a:rPr>
              <a:t> </a:t>
            </a:r>
            <a:r>
              <a:rPr sz="1950" spc="360" dirty="0">
                <a:solidFill>
                  <a:srgbClr val="231F20"/>
                </a:solidFill>
                <a:latin typeface="Arial"/>
                <a:cs typeface="Arial"/>
              </a:rPr>
              <a:t>PVS</a:t>
            </a:r>
            <a:endParaRPr sz="1950">
              <a:latin typeface="Arial"/>
              <a:cs typeface="Arial"/>
            </a:endParaRPr>
          </a:p>
          <a:p>
            <a:pPr>
              <a:lnSpc>
                <a:spcPct val="100000"/>
              </a:lnSpc>
            </a:pPr>
            <a:endParaRPr sz="2000">
              <a:latin typeface="Times New Roman"/>
              <a:cs typeface="Times New Roman"/>
            </a:endParaRPr>
          </a:p>
          <a:p>
            <a:pPr>
              <a:lnSpc>
                <a:spcPct val="100000"/>
              </a:lnSpc>
              <a:spcBef>
                <a:spcPts val="27"/>
              </a:spcBef>
            </a:pPr>
            <a:endParaRPr sz="2550">
              <a:latin typeface="Times New Roman"/>
              <a:cs typeface="Times New Roman"/>
            </a:endParaRPr>
          </a:p>
          <a:p>
            <a:pPr marL="12700">
              <a:lnSpc>
                <a:spcPct val="100000"/>
              </a:lnSpc>
            </a:pPr>
            <a:r>
              <a:rPr sz="2050" spc="55" dirty="0">
                <a:solidFill>
                  <a:srgbClr val="0000FF"/>
                </a:solidFill>
                <a:latin typeface="SimSun"/>
                <a:cs typeface="SimSun"/>
              </a:rPr>
              <a:t>abst(s): abstract_state</a:t>
            </a:r>
            <a:r>
              <a:rPr sz="2050" spc="-2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287655">
              <a:lnSpc>
                <a:spcPct val="100000"/>
              </a:lnSpc>
              <a:spcBef>
                <a:spcPts val="465"/>
              </a:spcBef>
            </a:pPr>
            <a:r>
              <a:rPr sz="2050" spc="55" dirty="0">
                <a:solidFill>
                  <a:srgbClr val="0000FF"/>
                </a:solidFill>
                <a:latin typeface="SimSun"/>
                <a:cs typeface="SimSun"/>
              </a:rPr>
              <a:t>(# pc1 := </a:t>
            </a:r>
            <a:r>
              <a:rPr sz="2050" spc="-120" dirty="0">
                <a:solidFill>
                  <a:srgbClr val="0000FF"/>
                </a:solidFill>
                <a:latin typeface="SimSun"/>
                <a:cs typeface="SimSun"/>
              </a:rPr>
              <a:t>s‘pc1, </a:t>
            </a:r>
            <a:r>
              <a:rPr sz="2050" spc="55" dirty="0">
                <a:solidFill>
                  <a:srgbClr val="0000FF"/>
                </a:solidFill>
                <a:latin typeface="SimSun"/>
                <a:cs typeface="SimSun"/>
              </a:rPr>
              <a:t>pc2 :=</a:t>
            </a:r>
            <a:r>
              <a:rPr sz="2050" spc="235" dirty="0">
                <a:solidFill>
                  <a:srgbClr val="0000FF"/>
                </a:solidFill>
                <a:latin typeface="SimSun"/>
                <a:cs typeface="SimSun"/>
              </a:rPr>
              <a:t> </a:t>
            </a:r>
            <a:r>
              <a:rPr sz="2050" spc="-120" dirty="0">
                <a:solidFill>
                  <a:srgbClr val="0000FF"/>
                </a:solidFill>
                <a:latin typeface="SimSun"/>
                <a:cs typeface="SimSun"/>
              </a:rPr>
              <a:t>s‘pc2,</a:t>
            </a:r>
            <a:endParaRPr sz="2050">
              <a:latin typeface="SimSun"/>
              <a:cs typeface="SimSun"/>
            </a:endParaRPr>
          </a:p>
          <a:p>
            <a:pPr marL="701040" marR="280035">
              <a:lnSpc>
                <a:spcPct val="118900"/>
              </a:lnSpc>
            </a:pPr>
            <a:r>
              <a:rPr sz="2050" spc="55" dirty="0">
                <a:solidFill>
                  <a:srgbClr val="0000FF"/>
                </a:solidFill>
                <a:latin typeface="SimSun"/>
                <a:cs typeface="SimSun"/>
              </a:rPr>
              <a:t>t1_is_0 := </a:t>
            </a:r>
            <a:r>
              <a:rPr sz="2050" spc="-204" dirty="0">
                <a:solidFill>
                  <a:srgbClr val="0000FF"/>
                </a:solidFill>
                <a:latin typeface="SimSun"/>
                <a:cs typeface="SimSun"/>
              </a:rPr>
              <a:t>s‘t1 </a:t>
            </a:r>
            <a:r>
              <a:rPr sz="2050" spc="55" dirty="0">
                <a:solidFill>
                  <a:srgbClr val="0000FF"/>
                </a:solidFill>
                <a:latin typeface="SimSun"/>
                <a:cs typeface="SimSun"/>
              </a:rPr>
              <a:t>= 0, t2_is_0 := </a:t>
            </a:r>
            <a:r>
              <a:rPr sz="2050" spc="-204" dirty="0">
                <a:solidFill>
                  <a:srgbClr val="0000FF"/>
                </a:solidFill>
                <a:latin typeface="SimSun"/>
                <a:cs typeface="SimSun"/>
              </a:rPr>
              <a:t>s‘t2 </a:t>
            </a:r>
            <a:r>
              <a:rPr sz="2050" spc="55" dirty="0">
                <a:solidFill>
                  <a:srgbClr val="0000FF"/>
                </a:solidFill>
                <a:latin typeface="SimSun"/>
                <a:cs typeface="SimSun"/>
              </a:rPr>
              <a:t>= 0,  t1_lt_t2 := </a:t>
            </a:r>
            <a:r>
              <a:rPr sz="2050" spc="-204" dirty="0">
                <a:solidFill>
                  <a:srgbClr val="0000FF"/>
                </a:solidFill>
                <a:latin typeface="SimSun"/>
                <a:cs typeface="SimSun"/>
              </a:rPr>
              <a:t>s‘t1 </a:t>
            </a:r>
            <a:r>
              <a:rPr sz="2050" spc="55" dirty="0">
                <a:solidFill>
                  <a:srgbClr val="0000FF"/>
                </a:solidFill>
                <a:latin typeface="SimSun"/>
                <a:cs typeface="SimSun"/>
              </a:rPr>
              <a:t>&lt; </a:t>
            </a:r>
            <a:r>
              <a:rPr sz="2050" spc="-204" dirty="0">
                <a:solidFill>
                  <a:srgbClr val="0000FF"/>
                </a:solidFill>
                <a:latin typeface="SimSun"/>
                <a:cs typeface="SimSun"/>
              </a:rPr>
              <a:t>s‘t2</a:t>
            </a:r>
            <a:r>
              <a:rPr sz="2050" spc="290"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a:lnSpc>
                <a:spcPct val="100000"/>
              </a:lnSpc>
              <a:spcBef>
                <a:spcPts val="57"/>
              </a:spcBef>
            </a:pPr>
            <a:endParaRPr sz="2900">
              <a:latin typeface="Times New Roman"/>
              <a:cs typeface="Times New Roman"/>
            </a:endParaRPr>
          </a:p>
          <a:p>
            <a:pPr marL="12700">
              <a:lnSpc>
                <a:spcPct val="100000"/>
              </a:lnSpc>
            </a:pPr>
            <a:r>
              <a:rPr sz="2050" spc="55" dirty="0">
                <a:solidFill>
                  <a:srgbClr val="0000FF"/>
                </a:solidFill>
                <a:latin typeface="SimSun"/>
                <a:cs typeface="SimSun"/>
              </a:rPr>
              <a:t>a_init(as): bool</a:t>
            </a:r>
            <a:r>
              <a:rPr sz="2050" spc="-2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701040" marR="1933575" indent="-275590">
              <a:lnSpc>
                <a:spcPct val="118900"/>
              </a:lnSpc>
            </a:pPr>
            <a:r>
              <a:rPr sz="2050" spc="-120" dirty="0">
                <a:solidFill>
                  <a:srgbClr val="0000FF"/>
                </a:solidFill>
                <a:latin typeface="SimSun"/>
                <a:cs typeface="SimSun"/>
              </a:rPr>
              <a:t>as‘pc1 </a:t>
            </a:r>
            <a:r>
              <a:rPr sz="2050" spc="55" dirty="0">
                <a:solidFill>
                  <a:srgbClr val="0000FF"/>
                </a:solidFill>
                <a:latin typeface="SimSun"/>
                <a:cs typeface="SimSun"/>
              </a:rPr>
              <a:t>= idle AND </a:t>
            </a:r>
            <a:r>
              <a:rPr sz="2050" spc="-120" dirty="0">
                <a:solidFill>
                  <a:srgbClr val="0000FF"/>
                </a:solidFill>
                <a:latin typeface="SimSun"/>
                <a:cs typeface="SimSun"/>
              </a:rPr>
              <a:t>as‘pc2 </a:t>
            </a:r>
            <a:r>
              <a:rPr sz="2050" spc="55" dirty="0">
                <a:solidFill>
                  <a:srgbClr val="0000FF"/>
                </a:solidFill>
                <a:latin typeface="SimSun"/>
                <a:cs typeface="SimSun"/>
              </a:rPr>
              <a:t>= idle  AND </a:t>
            </a:r>
            <a:r>
              <a:rPr sz="2050" spc="-50" dirty="0">
                <a:solidFill>
                  <a:srgbClr val="0000FF"/>
                </a:solidFill>
                <a:latin typeface="SimSun"/>
                <a:cs typeface="SimSun"/>
              </a:rPr>
              <a:t>as‘t1_is_0 </a:t>
            </a:r>
            <a:r>
              <a:rPr sz="2050" spc="55" dirty="0">
                <a:solidFill>
                  <a:srgbClr val="0000FF"/>
                </a:solidFill>
                <a:latin typeface="SimSun"/>
                <a:cs typeface="SimSun"/>
              </a:rPr>
              <a:t>AND</a:t>
            </a:r>
            <a:r>
              <a:rPr sz="2050" spc="135" dirty="0">
                <a:solidFill>
                  <a:srgbClr val="0000FF"/>
                </a:solidFill>
                <a:latin typeface="SimSun"/>
                <a:cs typeface="SimSun"/>
              </a:rPr>
              <a:t> </a:t>
            </a:r>
            <a:r>
              <a:rPr sz="2050" spc="-50" dirty="0">
                <a:solidFill>
                  <a:srgbClr val="0000FF"/>
                </a:solidFill>
                <a:latin typeface="SimSun"/>
                <a:cs typeface="SimSun"/>
              </a:rPr>
              <a:t>as‘t2_is_0</a:t>
            </a:r>
            <a:endParaRPr sz="2050">
              <a:latin typeface="SimSun"/>
              <a:cs typeface="SimSun"/>
            </a:endParaRPr>
          </a:p>
          <a:p>
            <a:pPr>
              <a:lnSpc>
                <a:spcPct val="100000"/>
              </a:lnSpc>
              <a:spcBef>
                <a:spcPts val="56"/>
              </a:spcBef>
            </a:pPr>
            <a:endParaRPr sz="2900">
              <a:latin typeface="Times New Roman"/>
              <a:cs typeface="Times New Roman"/>
            </a:endParaRPr>
          </a:p>
          <a:p>
            <a:pPr marL="12700">
              <a:lnSpc>
                <a:spcPct val="100000"/>
              </a:lnSpc>
            </a:pPr>
            <a:r>
              <a:rPr sz="2050" spc="55" dirty="0">
                <a:solidFill>
                  <a:srgbClr val="0000FF"/>
                </a:solidFill>
                <a:latin typeface="SimSun"/>
                <a:cs typeface="SimSun"/>
              </a:rPr>
              <a:t>a_safe(as): bool</a:t>
            </a:r>
            <a:r>
              <a:rPr sz="2050" spc="-2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marL="425450">
              <a:lnSpc>
                <a:spcPct val="100000"/>
              </a:lnSpc>
              <a:spcBef>
                <a:spcPts val="465"/>
              </a:spcBef>
            </a:pPr>
            <a:r>
              <a:rPr sz="2050" spc="55" dirty="0">
                <a:solidFill>
                  <a:srgbClr val="0000FF"/>
                </a:solidFill>
                <a:latin typeface="SimSun"/>
                <a:cs typeface="SimSun"/>
              </a:rPr>
              <a:t>NOT </a:t>
            </a:r>
            <a:r>
              <a:rPr sz="2050" spc="-95" dirty="0">
                <a:solidFill>
                  <a:srgbClr val="0000FF"/>
                </a:solidFill>
                <a:latin typeface="SimSun"/>
                <a:cs typeface="SimSun"/>
              </a:rPr>
              <a:t>(as‘pc1 </a:t>
            </a:r>
            <a:r>
              <a:rPr sz="2050" spc="55" dirty="0">
                <a:solidFill>
                  <a:srgbClr val="0000FF"/>
                </a:solidFill>
                <a:latin typeface="SimSun"/>
                <a:cs typeface="SimSun"/>
              </a:rPr>
              <a:t>= critical AND </a:t>
            </a:r>
            <a:r>
              <a:rPr sz="2050" spc="-120" dirty="0">
                <a:solidFill>
                  <a:srgbClr val="0000FF"/>
                </a:solidFill>
                <a:latin typeface="SimSun"/>
                <a:cs typeface="SimSun"/>
              </a:rPr>
              <a:t>as‘pc2 </a:t>
            </a:r>
            <a:r>
              <a:rPr sz="2050" spc="55" dirty="0">
                <a:solidFill>
                  <a:srgbClr val="0000FF"/>
                </a:solidFill>
                <a:latin typeface="SimSun"/>
                <a:cs typeface="SimSun"/>
              </a:rPr>
              <a:t>=</a:t>
            </a:r>
            <a:r>
              <a:rPr sz="2050" spc="390"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87028" y="475981"/>
            <a:ext cx="5286375" cy="314960"/>
          </a:xfrm>
          <a:prstGeom prst="rect">
            <a:avLst/>
          </a:prstGeom>
        </p:spPr>
        <p:txBody>
          <a:bodyPr vert="horz" wrap="square" lIns="0" tIns="0" rIns="0" bIns="0" rtlCol="0">
            <a:spAutoFit/>
          </a:bodyPr>
          <a:lstStyle/>
          <a:p>
            <a:pPr marL="12700">
              <a:lnSpc>
                <a:spcPct val="100000"/>
              </a:lnSpc>
            </a:pPr>
            <a:r>
              <a:rPr sz="1950" spc="305" dirty="0">
                <a:solidFill>
                  <a:srgbClr val="231F20"/>
                </a:solidFill>
                <a:latin typeface="Arial"/>
                <a:cs typeface="Arial"/>
              </a:rPr>
              <a:t>More </a:t>
            </a:r>
            <a:r>
              <a:rPr sz="1950" spc="280" dirty="0">
                <a:solidFill>
                  <a:srgbClr val="231F20"/>
                </a:solidFill>
                <a:latin typeface="Arial"/>
                <a:cs typeface="Arial"/>
              </a:rPr>
              <a:t>of </a:t>
            </a:r>
            <a:r>
              <a:rPr sz="1950" spc="285" dirty="0">
                <a:solidFill>
                  <a:srgbClr val="231F20"/>
                </a:solidFill>
                <a:latin typeface="Arial"/>
                <a:cs typeface="Arial"/>
              </a:rPr>
              <a:t>the </a:t>
            </a:r>
            <a:r>
              <a:rPr sz="1950" spc="275" dirty="0">
                <a:solidFill>
                  <a:srgbClr val="231F20"/>
                </a:solidFill>
                <a:latin typeface="Arial"/>
                <a:cs typeface="Arial"/>
              </a:rPr>
              <a:t>Abstracted</a:t>
            </a:r>
            <a:r>
              <a:rPr sz="1950" spc="540" dirty="0">
                <a:solidFill>
                  <a:srgbClr val="231F20"/>
                </a:solidFill>
                <a:latin typeface="Arial"/>
                <a:cs typeface="Arial"/>
              </a:rPr>
              <a:t> </a:t>
            </a:r>
            <a:r>
              <a:rPr sz="1950" spc="240" dirty="0">
                <a:solidFill>
                  <a:srgbClr val="231F20"/>
                </a:solidFill>
                <a:latin typeface="Arial"/>
                <a:cs typeface="Arial"/>
              </a:rPr>
              <a:t>Specification</a:t>
            </a:r>
            <a:endParaRPr sz="1950">
              <a:latin typeface="Arial"/>
              <a:cs typeface="Arial"/>
            </a:endParaRPr>
          </a:p>
        </p:txBody>
      </p:sp>
      <p:sp>
        <p:nvSpPr>
          <p:cNvPr id="3" name="object 3"/>
          <p:cNvSpPr txBox="1">
            <a:spLocks noGrp="1"/>
          </p:cNvSpPr>
          <p:nvPr>
            <p:ph type="title"/>
          </p:nvPr>
        </p:nvSpPr>
        <p:spPr>
          <a:xfrm>
            <a:off x="901700" y="1039744"/>
            <a:ext cx="6638290" cy="1115060"/>
          </a:xfrm>
          <a:prstGeom prst="rect">
            <a:avLst/>
          </a:prstGeom>
        </p:spPr>
        <p:txBody>
          <a:bodyPr vert="horz" wrap="square" lIns="0" tIns="0" rIns="0" bIns="0" rtlCol="0">
            <a:spAutoFit/>
          </a:bodyPr>
          <a:lstStyle/>
          <a:p>
            <a:pPr marL="149860" marR="1382395" indent="-137795">
              <a:lnSpc>
                <a:spcPct val="118900"/>
              </a:lnSpc>
            </a:pPr>
            <a:r>
              <a:rPr spc="55" dirty="0"/>
              <a:t>a_P1_transition(a_pre, a_post): bool =  IF </a:t>
            </a:r>
            <a:r>
              <a:rPr spc="-60" dirty="0"/>
              <a:t>a_pre‘pc1 </a:t>
            </a:r>
            <a:r>
              <a:rPr spc="55" dirty="0"/>
              <a:t>=</a:t>
            </a:r>
            <a:r>
              <a:rPr spc="110" dirty="0"/>
              <a:t> </a:t>
            </a:r>
            <a:r>
              <a:rPr spc="55" dirty="0"/>
              <a:t>idle</a:t>
            </a:r>
          </a:p>
          <a:p>
            <a:pPr marL="425450">
              <a:lnSpc>
                <a:spcPct val="100000"/>
              </a:lnSpc>
              <a:spcBef>
                <a:spcPts val="465"/>
              </a:spcBef>
            </a:pPr>
            <a:r>
              <a:rPr spc="55" dirty="0"/>
              <a:t>THEN a_post = a_pre WITH [(t1_is_0) :=</a:t>
            </a:r>
            <a:r>
              <a:rPr spc="15" dirty="0"/>
              <a:t> </a:t>
            </a:r>
            <a:r>
              <a:rPr spc="55" dirty="0"/>
              <a:t>false,</a:t>
            </a:r>
          </a:p>
        </p:txBody>
      </p:sp>
      <p:sp>
        <p:nvSpPr>
          <p:cNvPr id="4" name="object 4"/>
          <p:cNvSpPr txBox="1">
            <a:spLocks noGrp="1"/>
          </p:cNvSpPr>
          <p:nvPr>
            <p:ph type="body" idx="1"/>
          </p:nvPr>
        </p:nvSpPr>
        <p:spPr>
          <a:prstGeom prst="rect">
            <a:avLst/>
          </a:prstGeom>
        </p:spPr>
        <p:txBody>
          <a:bodyPr vert="horz" wrap="square" lIns="0" tIns="746411" rIns="0" bIns="0" rtlCol="0">
            <a:spAutoFit/>
          </a:bodyPr>
          <a:lstStyle/>
          <a:p>
            <a:pPr marL="4202430" marR="1658620">
              <a:lnSpc>
                <a:spcPct val="118900"/>
              </a:lnSpc>
            </a:pPr>
            <a:r>
              <a:rPr sz="2050" spc="55" dirty="0">
                <a:solidFill>
                  <a:srgbClr val="0000FF"/>
                </a:solidFill>
                <a:latin typeface="SimSun"/>
                <a:cs typeface="SimSun"/>
              </a:rPr>
              <a:t>(t1_lt_t2) :=</a:t>
            </a:r>
            <a:r>
              <a:rPr sz="2050" spc="-25" dirty="0">
                <a:solidFill>
                  <a:srgbClr val="0000FF"/>
                </a:solidFill>
                <a:latin typeface="SimSun"/>
                <a:cs typeface="SimSun"/>
              </a:rPr>
              <a:t> </a:t>
            </a:r>
            <a:r>
              <a:rPr sz="2050" spc="55" dirty="0">
                <a:solidFill>
                  <a:srgbClr val="0000FF"/>
                </a:solidFill>
                <a:latin typeface="SimSun"/>
                <a:cs typeface="SimSun"/>
              </a:rPr>
              <a:t>false,  (pc1) :=</a:t>
            </a:r>
            <a:r>
              <a:rPr sz="2050" spc="-25" dirty="0">
                <a:solidFill>
                  <a:srgbClr val="0000FF"/>
                </a:solidFill>
                <a:latin typeface="SimSun"/>
                <a:cs typeface="SimSun"/>
              </a:rPr>
              <a:t> </a:t>
            </a:r>
            <a:r>
              <a:rPr sz="2050" spc="55" dirty="0">
                <a:solidFill>
                  <a:srgbClr val="0000FF"/>
                </a:solidFill>
                <a:latin typeface="SimSun"/>
                <a:cs typeface="SimSun"/>
              </a:rPr>
              <a:t>trying]</a:t>
            </a:r>
            <a:endParaRPr sz="2050">
              <a:latin typeface="SimSun"/>
              <a:cs typeface="SimSun"/>
            </a:endParaRPr>
          </a:p>
          <a:p>
            <a:pPr marL="344805">
              <a:lnSpc>
                <a:spcPct val="100000"/>
              </a:lnSpc>
              <a:spcBef>
                <a:spcPts val="465"/>
              </a:spcBef>
            </a:pPr>
            <a:r>
              <a:rPr sz="2050" spc="55" dirty="0">
                <a:solidFill>
                  <a:srgbClr val="0000FF"/>
                </a:solidFill>
                <a:latin typeface="SimSun"/>
                <a:cs typeface="SimSun"/>
              </a:rPr>
              <a:t>ELSIF </a:t>
            </a:r>
            <a:r>
              <a:rPr sz="2050" spc="-60" dirty="0">
                <a:solidFill>
                  <a:srgbClr val="0000FF"/>
                </a:solidFill>
                <a:latin typeface="SimSun"/>
                <a:cs typeface="SimSun"/>
              </a:rPr>
              <a:t>a_pre‘pc1 </a:t>
            </a:r>
            <a:r>
              <a:rPr sz="2050" spc="55" dirty="0">
                <a:solidFill>
                  <a:srgbClr val="0000FF"/>
                </a:solidFill>
                <a:latin typeface="SimSun"/>
                <a:cs typeface="SimSun"/>
              </a:rPr>
              <a:t>=</a:t>
            </a:r>
            <a:r>
              <a:rPr sz="2050" spc="110" dirty="0">
                <a:solidFill>
                  <a:srgbClr val="0000FF"/>
                </a:solidFill>
                <a:latin typeface="SimSun"/>
                <a:cs typeface="SimSun"/>
              </a:rPr>
              <a:t> </a:t>
            </a:r>
            <a:r>
              <a:rPr sz="2050" spc="55" dirty="0">
                <a:solidFill>
                  <a:srgbClr val="0000FF"/>
                </a:solidFill>
                <a:latin typeface="SimSun"/>
                <a:cs typeface="SimSun"/>
              </a:rPr>
              <a:t>trying</a:t>
            </a:r>
            <a:endParaRPr sz="2050">
              <a:latin typeface="SimSun"/>
              <a:cs typeface="SimSun"/>
            </a:endParaRPr>
          </a:p>
          <a:p>
            <a:pPr marL="620395" marR="1932939" indent="826135">
              <a:lnSpc>
                <a:spcPct val="118900"/>
              </a:lnSpc>
            </a:pPr>
            <a:r>
              <a:rPr sz="2050" spc="55" dirty="0">
                <a:solidFill>
                  <a:srgbClr val="0000FF"/>
                </a:solidFill>
                <a:latin typeface="SimSun"/>
                <a:cs typeface="SimSun"/>
              </a:rPr>
              <a:t>AND </a:t>
            </a:r>
            <a:r>
              <a:rPr sz="2050" spc="-20" dirty="0">
                <a:solidFill>
                  <a:srgbClr val="0000FF"/>
                </a:solidFill>
                <a:latin typeface="SimSun"/>
                <a:cs typeface="SimSun"/>
              </a:rPr>
              <a:t>(a_pre‘t2_is_0 </a:t>
            </a:r>
            <a:r>
              <a:rPr sz="2050" spc="55" dirty="0">
                <a:solidFill>
                  <a:srgbClr val="0000FF"/>
                </a:solidFill>
                <a:latin typeface="SimSun"/>
                <a:cs typeface="SimSun"/>
              </a:rPr>
              <a:t>OR </a:t>
            </a:r>
            <a:r>
              <a:rPr sz="2050" spc="-15" dirty="0">
                <a:solidFill>
                  <a:srgbClr val="0000FF"/>
                </a:solidFill>
                <a:latin typeface="SimSun"/>
                <a:cs typeface="SimSun"/>
              </a:rPr>
              <a:t>a_pre‘t1_lt_t2)  </a:t>
            </a:r>
            <a:r>
              <a:rPr sz="2050" spc="55" dirty="0">
                <a:solidFill>
                  <a:srgbClr val="0000FF"/>
                </a:solidFill>
                <a:latin typeface="SimSun"/>
                <a:cs typeface="SimSun"/>
              </a:rPr>
              <a:t>THEN a_post = a_pre WITH [(pc1) :=</a:t>
            </a:r>
            <a:r>
              <a:rPr sz="2050" spc="15"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marL="344805">
              <a:lnSpc>
                <a:spcPct val="100000"/>
              </a:lnSpc>
              <a:spcBef>
                <a:spcPts val="465"/>
              </a:spcBef>
            </a:pPr>
            <a:r>
              <a:rPr sz="2050" spc="55" dirty="0">
                <a:solidFill>
                  <a:srgbClr val="0000FF"/>
                </a:solidFill>
                <a:latin typeface="SimSun"/>
                <a:cs typeface="SimSun"/>
              </a:rPr>
              <a:t>ELSIF </a:t>
            </a:r>
            <a:r>
              <a:rPr sz="2050" spc="-60" dirty="0">
                <a:solidFill>
                  <a:srgbClr val="0000FF"/>
                </a:solidFill>
                <a:latin typeface="SimSun"/>
                <a:cs typeface="SimSun"/>
              </a:rPr>
              <a:t>a_pre‘pc1 </a:t>
            </a:r>
            <a:r>
              <a:rPr sz="2050" spc="55" dirty="0">
                <a:solidFill>
                  <a:srgbClr val="0000FF"/>
                </a:solidFill>
                <a:latin typeface="SimSun"/>
                <a:cs typeface="SimSun"/>
              </a:rPr>
              <a:t>=</a:t>
            </a:r>
            <a:r>
              <a:rPr sz="2050" spc="110"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marL="620395">
              <a:lnSpc>
                <a:spcPct val="100000"/>
              </a:lnSpc>
              <a:spcBef>
                <a:spcPts val="465"/>
              </a:spcBef>
            </a:pPr>
            <a:r>
              <a:rPr sz="2050" spc="55" dirty="0">
                <a:solidFill>
                  <a:srgbClr val="0000FF"/>
                </a:solidFill>
                <a:latin typeface="SimSun"/>
                <a:cs typeface="SimSun"/>
              </a:rPr>
              <a:t>THEN a_post = a_pre WITH [(t1_is_0) :=</a:t>
            </a:r>
            <a:r>
              <a:rPr sz="2050" spc="15" dirty="0">
                <a:solidFill>
                  <a:srgbClr val="0000FF"/>
                </a:solidFill>
                <a:latin typeface="SimSun"/>
                <a:cs typeface="SimSun"/>
              </a:rPr>
              <a:t> </a:t>
            </a:r>
            <a:r>
              <a:rPr sz="2050" spc="55" dirty="0">
                <a:solidFill>
                  <a:srgbClr val="0000FF"/>
                </a:solidFill>
                <a:latin typeface="SimSun"/>
                <a:cs typeface="SimSun"/>
              </a:rPr>
              <a:t>true,</a:t>
            </a:r>
            <a:endParaRPr sz="2050">
              <a:latin typeface="SimSun"/>
              <a:cs typeface="SimSun"/>
            </a:endParaRPr>
          </a:p>
          <a:p>
            <a:pPr marL="4202430" marR="5080">
              <a:lnSpc>
                <a:spcPct val="118900"/>
              </a:lnSpc>
            </a:pPr>
            <a:r>
              <a:rPr sz="2050" spc="55" dirty="0">
                <a:solidFill>
                  <a:srgbClr val="0000FF"/>
                </a:solidFill>
                <a:latin typeface="SimSun"/>
                <a:cs typeface="SimSun"/>
              </a:rPr>
              <a:t>(t1_lt_t2) := NOT </a:t>
            </a:r>
            <a:r>
              <a:rPr sz="2050" spc="-20" dirty="0">
                <a:solidFill>
                  <a:srgbClr val="0000FF"/>
                </a:solidFill>
                <a:latin typeface="SimSun"/>
                <a:cs typeface="SimSun"/>
              </a:rPr>
              <a:t>a_pre‘t2_is_0,  </a:t>
            </a:r>
            <a:r>
              <a:rPr sz="2050" spc="55" dirty="0">
                <a:solidFill>
                  <a:srgbClr val="0000FF"/>
                </a:solidFill>
                <a:latin typeface="SimSun"/>
                <a:cs typeface="SimSun"/>
              </a:rPr>
              <a:t>(pc1) :=</a:t>
            </a:r>
            <a:r>
              <a:rPr sz="2050" spc="-25" dirty="0">
                <a:solidFill>
                  <a:srgbClr val="0000FF"/>
                </a:solidFill>
                <a:latin typeface="SimSun"/>
                <a:cs typeface="SimSun"/>
              </a:rPr>
              <a:t> </a:t>
            </a:r>
            <a:r>
              <a:rPr sz="2050" spc="55" dirty="0">
                <a:solidFill>
                  <a:srgbClr val="0000FF"/>
                </a:solidFill>
                <a:latin typeface="SimSun"/>
                <a:cs typeface="SimSun"/>
              </a:rPr>
              <a:t>idle]</a:t>
            </a:r>
            <a:endParaRPr sz="2050">
              <a:latin typeface="SimSun"/>
              <a:cs typeface="SimSun"/>
            </a:endParaRPr>
          </a:p>
          <a:p>
            <a:pPr marL="207645" marR="5652770" indent="137160">
              <a:lnSpc>
                <a:spcPct val="118900"/>
              </a:lnSpc>
            </a:pPr>
            <a:r>
              <a:rPr sz="2050" spc="55" dirty="0">
                <a:solidFill>
                  <a:srgbClr val="0000FF"/>
                </a:solidFill>
                <a:latin typeface="SimSun"/>
                <a:cs typeface="SimSun"/>
              </a:rPr>
              <a:t>ELSE a_post = a_pre  ENDIF</a:t>
            </a:r>
            <a:endParaRPr sz="2050">
              <a:latin typeface="SimSun"/>
              <a:cs typeface="SimSun"/>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080132" y="475981"/>
            <a:ext cx="5900420" cy="31496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54" dirty="0">
                <a:solidFill>
                  <a:srgbClr val="231F20"/>
                </a:solidFill>
                <a:latin typeface="Arial"/>
                <a:cs typeface="Arial"/>
              </a:rPr>
              <a:t>Rest </a:t>
            </a:r>
            <a:r>
              <a:rPr sz="1950" spc="280" dirty="0">
                <a:solidFill>
                  <a:srgbClr val="231F20"/>
                </a:solidFill>
                <a:latin typeface="Arial"/>
                <a:cs typeface="Arial"/>
              </a:rPr>
              <a:t>of </a:t>
            </a:r>
            <a:r>
              <a:rPr sz="1950" spc="285" dirty="0">
                <a:solidFill>
                  <a:srgbClr val="231F20"/>
                </a:solidFill>
                <a:latin typeface="Arial"/>
                <a:cs typeface="Arial"/>
              </a:rPr>
              <a:t>the </a:t>
            </a:r>
            <a:r>
              <a:rPr sz="1950" spc="275" dirty="0">
                <a:solidFill>
                  <a:srgbClr val="231F20"/>
                </a:solidFill>
                <a:latin typeface="Arial"/>
                <a:cs typeface="Arial"/>
              </a:rPr>
              <a:t>Abstracted</a:t>
            </a:r>
            <a:r>
              <a:rPr sz="1950" spc="600" dirty="0">
                <a:solidFill>
                  <a:srgbClr val="231F20"/>
                </a:solidFill>
                <a:latin typeface="Arial"/>
                <a:cs typeface="Arial"/>
              </a:rPr>
              <a:t> </a:t>
            </a:r>
            <a:r>
              <a:rPr sz="1950" spc="240" dirty="0">
                <a:solidFill>
                  <a:srgbClr val="231F20"/>
                </a:solidFill>
                <a:latin typeface="Arial"/>
                <a:cs typeface="Arial"/>
              </a:rPr>
              <a:t>Specification</a:t>
            </a:r>
            <a:endParaRPr sz="1950">
              <a:latin typeface="Arial"/>
              <a:cs typeface="Arial"/>
            </a:endParaRPr>
          </a:p>
        </p:txBody>
      </p:sp>
      <p:sp>
        <p:nvSpPr>
          <p:cNvPr id="3" name="object 3"/>
          <p:cNvSpPr txBox="1">
            <a:spLocks noGrp="1"/>
          </p:cNvSpPr>
          <p:nvPr>
            <p:ph type="title"/>
          </p:nvPr>
        </p:nvSpPr>
        <p:spPr>
          <a:xfrm>
            <a:off x="901700" y="1039744"/>
            <a:ext cx="6638290" cy="1115060"/>
          </a:xfrm>
          <a:prstGeom prst="rect">
            <a:avLst/>
          </a:prstGeom>
        </p:spPr>
        <p:txBody>
          <a:bodyPr vert="horz" wrap="square" lIns="0" tIns="0" rIns="0" bIns="0" rtlCol="0">
            <a:spAutoFit/>
          </a:bodyPr>
          <a:lstStyle/>
          <a:p>
            <a:pPr marL="149860" marR="1382395" indent="-137795">
              <a:lnSpc>
                <a:spcPct val="118900"/>
              </a:lnSpc>
            </a:pPr>
            <a:r>
              <a:rPr spc="55" dirty="0"/>
              <a:t>a_P2_transition(a_pre, a_post): bool =  IF </a:t>
            </a:r>
            <a:r>
              <a:rPr spc="-60" dirty="0"/>
              <a:t>a_pre‘pc2 </a:t>
            </a:r>
            <a:r>
              <a:rPr spc="55" dirty="0"/>
              <a:t>=</a:t>
            </a:r>
            <a:r>
              <a:rPr spc="110" dirty="0"/>
              <a:t> </a:t>
            </a:r>
            <a:r>
              <a:rPr spc="55" dirty="0"/>
              <a:t>idle</a:t>
            </a:r>
          </a:p>
          <a:p>
            <a:pPr marL="425450">
              <a:lnSpc>
                <a:spcPct val="100000"/>
              </a:lnSpc>
              <a:spcBef>
                <a:spcPts val="465"/>
              </a:spcBef>
            </a:pPr>
            <a:r>
              <a:rPr spc="55" dirty="0"/>
              <a:t>THEN a_post = a_pre WITH [(t2_is_0) :=</a:t>
            </a:r>
            <a:r>
              <a:rPr spc="15" dirty="0"/>
              <a:t> </a:t>
            </a:r>
            <a:r>
              <a:rPr spc="55" dirty="0"/>
              <a:t>false,</a:t>
            </a:r>
          </a:p>
        </p:txBody>
      </p:sp>
      <p:sp>
        <p:nvSpPr>
          <p:cNvPr id="4" name="object 4"/>
          <p:cNvSpPr txBox="1"/>
          <p:nvPr/>
        </p:nvSpPr>
        <p:spPr>
          <a:xfrm>
            <a:off x="901705" y="2154397"/>
            <a:ext cx="6913880" cy="4087495"/>
          </a:xfrm>
          <a:prstGeom prst="rect">
            <a:avLst/>
          </a:prstGeom>
        </p:spPr>
        <p:txBody>
          <a:bodyPr vert="horz" wrap="square" lIns="0" tIns="0" rIns="0" bIns="0" rtlCol="0">
            <a:spAutoFit/>
          </a:bodyPr>
          <a:lstStyle/>
          <a:p>
            <a:pPr marL="4007485" marR="280035">
              <a:lnSpc>
                <a:spcPct val="118900"/>
              </a:lnSpc>
            </a:pPr>
            <a:r>
              <a:rPr sz="2050" spc="55" dirty="0">
                <a:solidFill>
                  <a:srgbClr val="0000FF"/>
                </a:solidFill>
                <a:latin typeface="SimSun"/>
                <a:cs typeface="SimSun"/>
              </a:rPr>
              <a:t>(t1_lt_t2) := true,  (pc2) :=</a:t>
            </a:r>
            <a:r>
              <a:rPr sz="2050" spc="-25" dirty="0">
                <a:solidFill>
                  <a:srgbClr val="0000FF"/>
                </a:solidFill>
                <a:latin typeface="SimSun"/>
                <a:cs typeface="SimSun"/>
              </a:rPr>
              <a:t> </a:t>
            </a:r>
            <a:r>
              <a:rPr sz="2050" spc="55" dirty="0">
                <a:solidFill>
                  <a:srgbClr val="0000FF"/>
                </a:solidFill>
                <a:latin typeface="SimSun"/>
                <a:cs typeface="SimSun"/>
              </a:rPr>
              <a:t>trying]</a:t>
            </a:r>
            <a:endParaRPr sz="2050">
              <a:latin typeface="SimSun"/>
              <a:cs typeface="SimSun"/>
            </a:endParaRPr>
          </a:p>
          <a:p>
            <a:pPr marL="149860">
              <a:lnSpc>
                <a:spcPct val="100000"/>
              </a:lnSpc>
              <a:spcBef>
                <a:spcPts val="465"/>
              </a:spcBef>
            </a:pPr>
            <a:r>
              <a:rPr sz="2050" spc="55" dirty="0">
                <a:solidFill>
                  <a:srgbClr val="0000FF"/>
                </a:solidFill>
                <a:latin typeface="SimSun"/>
                <a:cs typeface="SimSun"/>
              </a:rPr>
              <a:t>ELSIF </a:t>
            </a:r>
            <a:r>
              <a:rPr sz="2050" spc="-60" dirty="0">
                <a:solidFill>
                  <a:srgbClr val="0000FF"/>
                </a:solidFill>
                <a:latin typeface="SimSun"/>
                <a:cs typeface="SimSun"/>
              </a:rPr>
              <a:t>a_pre‘pc2 </a:t>
            </a:r>
            <a:r>
              <a:rPr sz="2050" spc="55" dirty="0">
                <a:solidFill>
                  <a:srgbClr val="0000FF"/>
                </a:solidFill>
                <a:latin typeface="SimSun"/>
                <a:cs typeface="SimSun"/>
              </a:rPr>
              <a:t>=</a:t>
            </a:r>
            <a:r>
              <a:rPr sz="2050" spc="110" dirty="0">
                <a:solidFill>
                  <a:srgbClr val="0000FF"/>
                </a:solidFill>
                <a:latin typeface="SimSun"/>
                <a:cs typeface="SimSun"/>
              </a:rPr>
              <a:t> </a:t>
            </a:r>
            <a:r>
              <a:rPr sz="2050" spc="55" dirty="0">
                <a:solidFill>
                  <a:srgbClr val="0000FF"/>
                </a:solidFill>
                <a:latin typeface="SimSun"/>
                <a:cs typeface="SimSun"/>
              </a:rPr>
              <a:t>trying</a:t>
            </a:r>
            <a:endParaRPr sz="2050">
              <a:latin typeface="SimSun"/>
              <a:cs typeface="SimSun"/>
            </a:endParaRPr>
          </a:p>
          <a:p>
            <a:pPr marL="425450" marR="5080" indent="826135">
              <a:lnSpc>
                <a:spcPct val="118900"/>
              </a:lnSpc>
            </a:pPr>
            <a:r>
              <a:rPr sz="2050" spc="55" dirty="0">
                <a:solidFill>
                  <a:srgbClr val="0000FF"/>
                </a:solidFill>
                <a:latin typeface="SimSun"/>
                <a:cs typeface="SimSun"/>
              </a:rPr>
              <a:t>AND </a:t>
            </a:r>
            <a:r>
              <a:rPr sz="2050" spc="-20" dirty="0">
                <a:solidFill>
                  <a:srgbClr val="0000FF"/>
                </a:solidFill>
                <a:latin typeface="SimSun"/>
                <a:cs typeface="SimSun"/>
              </a:rPr>
              <a:t>(a_pre‘t1_is_0 </a:t>
            </a:r>
            <a:r>
              <a:rPr sz="2050" spc="55" dirty="0">
                <a:solidFill>
                  <a:srgbClr val="0000FF"/>
                </a:solidFill>
                <a:latin typeface="SimSun"/>
                <a:cs typeface="SimSun"/>
              </a:rPr>
              <a:t>OR NOT </a:t>
            </a:r>
            <a:r>
              <a:rPr sz="2050" spc="-15" dirty="0">
                <a:solidFill>
                  <a:srgbClr val="0000FF"/>
                </a:solidFill>
                <a:latin typeface="SimSun"/>
                <a:cs typeface="SimSun"/>
              </a:rPr>
              <a:t>a_pre‘t1_lt_t2)  </a:t>
            </a:r>
            <a:r>
              <a:rPr sz="2050" spc="55" dirty="0">
                <a:solidFill>
                  <a:srgbClr val="0000FF"/>
                </a:solidFill>
                <a:latin typeface="SimSun"/>
                <a:cs typeface="SimSun"/>
              </a:rPr>
              <a:t>THEN a_post = a_pre WITH [(pc2) :=</a:t>
            </a:r>
            <a:r>
              <a:rPr sz="2050" spc="15"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marL="149860">
              <a:lnSpc>
                <a:spcPct val="100000"/>
              </a:lnSpc>
              <a:spcBef>
                <a:spcPts val="465"/>
              </a:spcBef>
            </a:pPr>
            <a:r>
              <a:rPr sz="2050" spc="55" dirty="0">
                <a:solidFill>
                  <a:srgbClr val="0000FF"/>
                </a:solidFill>
                <a:latin typeface="SimSun"/>
                <a:cs typeface="SimSun"/>
              </a:rPr>
              <a:t>ELSIF </a:t>
            </a:r>
            <a:r>
              <a:rPr sz="2050" spc="-60" dirty="0">
                <a:solidFill>
                  <a:srgbClr val="0000FF"/>
                </a:solidFill>
                <a:latin typeface="SimSun"/>
                <a:cs typeface="SimSun"/>
              </a:rPr>
              <a:t>a_pre‘pc2 </a:t>
            </a:r>
            <a:r>
              <a:rPr sz="2050" spc="55" dirty="0">
                <a:solidFill>
                  <a:srgbClr val="0000FF"/>
                </a:solidFill>
                <a:latin typeface="SimSun"/>
                <a:cs typeface="SimSun"/>
              </a:rPr>
              <a:t>=</a:t>
            </a:r>
            <a:r>
              <a:rPr sz="2050" spc="110" dirty="0">
                <a:solidFill>
                  <a:srgbClr val="0000FF"/>
                </a:solidFill>
                <a:latin typeface="SimSun"/>
                <a:cs typeface="SimSun"/>
              </a:rPr>
              <a:t> </a:t>
            </a:r>
            <a:r>
              <a:rPr sz="2050" spc="55" dirty="0">
                <a:solidFill>
                  <a:srgbClr val="0000FF"/>
                </a:solidFill>
                <a:latin typeface="SimSun"/>
                <a:cs typeface="SimSun"/>
              </a:rPr>
              <a:t>critical</a:t>
            </a:r>
            <a:endParaRPr sz="2050">
              <a:latin typeface="SimSun"/>
              <a:cs typeface="SimSun"/>
            </a:endParaRPr>
          </a:p>
          <a:p>
            <a:pPr marL="425450">
              <a:lnSpc>
                <a:spcPct val="100000"/>
              </a:lnSpc>
              <a:spcBef>
                <a:spcPts val="465"/>
              </a:spcBef>
            </a:pPr>
            <a:r>
              <a:rPr sz="2050" spc="55" dirty="0">
                <a:solidFill>
                  <a:srgbClr val="0000FF"/>
                </a:solidFill>
                <a:latin typeface="SimSun"/>
                <a:cs typeface="SimSun"/>
              </a:rPr>
              <a:t>THEN a_post = a_pre WITH [(t2_is_0) :=</a:t>
            </a:r>
            <a:r>
              <a:rPr sz="2050" spc="15" dirty="0">
                <a:solidFill>
                  <a:srgbClr val="0000FF"/>
                </a:solidFill>
                <a:latin typeface="SimSun"/>
                <a:cs typeface="SimSun"/>
              </a:rPr>
              <a:t> </a:t>
            </a:r>
            <a:r>
              <a:rPr sz="2050" spc="55" dirty="0">
                <a:solidFill>
                  <a:srgbClr val="0000FF"/>
                </a:solidFill>
                <a:latin typeface="SimSun"/>
                <a:cs typeface="SimSun"/>
              </a:rPr>
              <a:t>true,</a:t>
            </a:r>
            <a:endParaRPr sz="2050">
              <a:latin typeface="SimSun"/>
              <a:cs typeface="SimSun"/>
            </a:endParaRPr>
          </a:p>
          <a:p>
            <a:pPr marL="4007485" marR="142240">
              <a:lnSpc>
                <a:spcPct val="118900"/>
              </a:lnSpc>
            </a:pPr>
            <a:r>
              <a:rPr sz="2050" spc="55" dirty="0">
                <a:solidFill>
                  <a:srgbClr val="0000FF"/>
                </a:solidFill>
                <a:latin typeface="SimSun"/>
                <a:cs typeface="SimSun"/>
              </a:rPr>
              <a:t>(t1_lt_t2) := false,  (pc2) :=</a:t>
            </a:r>
            <a:r>
              <a:rPr sz="2050" spc="-25" dirty="0">
                <a:solidFill>
                  <a:srgbClr val="0000FF"/>
                </a:solidFill>
                <a:latin typeface="SimSun"/>
                <a:cs typeface="SimSun"/>
              </a:rPr>
              <a:t> </a:t>
            </a:r>
            <a:r>
              <a:rPr sz="2050" spc="55" dirty="0">
                <a:solidFill>
                  <a:srgbClr val="0000FF"/>
                </a:solidFill>
                <a:latin typeface="SimSun"/>
                <a:cs typeface="SimSun"/>
              </a:rPr>
              <a:t>idle]</a:t>
            </a:r>
            <a:endParaRPr sz="2050">
              <a:latin typeface="SimSun"/>
              <a:cs typeface="SimSun"/>
            </a:endParaRPr>
          </a:p>
          <a:p>
            <a:pPr marL="12700" marR="4137660" indent="137160">
              <a:lnSpc>
                <a:spcPct val="118900"/>
              </a:lnSpc>
            </a:pPr>
            <a:r>
              <a:rPr sz="2050" spc="55" dirty="0">
                <a:solidFill>
                  <a:srgbClr val="0000FF"/>
                </a:solidFill>
                <a:latin typeface="SimSun"/>
                <a:cs typeface="SimSun"/>
              </a:rPr>
              <a:t>ELSE a_post =</a:t>
            </a:r>
            <a:r>
              <a:rPr sz="2050" spc="-15" dirty="0">
                <a:solidFill>
                  <a:srgbClr val="0000FF"/>
                </a:solidFill>
                <a:latin typeface="SimSun"/>
                <a:cs typeface="SimSun"/>
              </a:rPr>
              <a:t> </a:t>
            </a:r>
            <a:r>
              <a:rPr sz="2050" spc="55" dirty="0">
                <a:solidFill>
                  <a:srgbClr val="0000FF"/>
                </a:solidFill>
                <a:latin typeface="SimSun"/>
                <a:cs typeface="SimSun"/>
              </a:rPr>
              <a:t>a_pre  ENDIF</a:t>
            </a:r>
            <a:endParaRPr sz="2050">
              <a:latin typeface="SimSun"/>
              <a:cs typeface="SimSun"/>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608313" y="529932"/>
            <a:ext cx="4843145" cy="314960"/>
          </a:xfrm>
          <a:prstGeom prst="rect">
            <a:avLst/>
          </a:prstGeom>
        </p:spPr>
        <p:txBody>
          <a:bodyPr vert="horz" wrap="square" lIns="0" tIns="0" rIns="0" bIns="0" rtlCol="0">
            <a:spAutoFit/>
          </a:bodyPr>
          <a:lstStyle/>
          <a:p>
            <a:pPr marL="12700">
              <a:lnSpc>
                <a:spcPct val="100000"/>
              </a:lnSpc>
            </a:pPr>
            <a:r>
              <a:rPr sz="1950" spc="275" dirty="0">
                <a:solidFill>
                  <a:srgbClr val="231F20"/>
                </a:solidFill>
                <a:latin typeface="Arial"/>
                <a:cs typeface="Arial"/>
              </a:rPr>
              <a:t>Proofs </a:t>
            </a:r>
            <a:r>
              <a:rPr sz="1950" spc="355" dirty="0">
                <a:solidFill>
                  <a:srgbClr val="231F20"/>
                </a:solidFill>
                <a:latin typeface="Arial"/>
                <a:cs typeface="Arial"/>
              </a:rPr>
              <a:t>to </a:t>
            </a:r>
            <a:r>
              <a:rPr sz="1950" spc="245" dirty="0">
                <a:solidFill>
                  <a:srgbClr val="231F20"/>
                </a:solidFill>
                <a:latin typeface="Arial"/>
                <a:cs typeface="Arial"/>
              </a:rPr>
              <a:t>Justify </a:t>
            </a:r>
            <a:r>
              <a:rPr sz="1950" spc="390" dirty="0">
                <a:solidFill>
                  <a:srgbClr val="231F20"/>
                </a:solidFill>
                <a:latin typeface="Arial"/>
                <a:cs typeface="Arial"/>
              </a:rPr>
              <a:t>The</a:t>
            </a:r>
            <a:r>
              <a:rPr sz="1950" spc="560"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p:txBody>
      </p:sp>
      <p:sp>
        <p:nvSpPr>
          <p:cNvPr id="3" name="object 3"/>
          <p:cNvSpPr txBox="1">
            <a:spLocks noGrp="1"/>
          </p:cNvSpPr>
          <p:nvPr>
            <p:ph type="title"/>
          </p:nvPr>
        </p:nvSpPr>
        <p:spPr>
          <a:xfrm>
            <a:off x="896442" y="1000310"/>
            <a:ext cx="7705725" cy="743585"/>
          </a:xfrm>
          <a:prstGeom prst="rect">
            <a:avLst/>
          </a:prstGeom>
        </p:spPr>
        <p:txBody>
          <a:bodyPr vert="horz" wrap="square" lIns="0" tIns="0" rIns="0" bIns="0" rtlCol="0">
            <a:spAutoFit/>
          </a:bodyPr>
          <a:lstStyle/>
          <a:p>
            <a:pPr marL="300990" marR="5080" indent="-288290">
              <a:lnSpc>
                <a:spcPct val="118900"/>
              </a:lnSpc>
              <a:buSzPct val="105128"/>
              <a:buFont typeface="Lucida Sans Unicode"/>
              <a:buChar char="•"/>
              <a:tabLst>
                <a:tab pos="301625" algn="l"/>
              </a:tabLst>
            </a:pPr>
            <a:r>
              <a:rPr sz="1950" spc="250" dirty="0">
                <a:solidFill>
                  <a:srgbClr val="231F20"/>
                </a:solidFill>
                <a:latin typeface="Arial"/>
                <a:cs typeface="Arial"/>
              </a:rPr>
              <a:t>The</a:t>
            </a:r>
            <a:r>
              <a:rPr sz="1950" spc="275" dirty="0">
                <a:solidFill>
                  <a:srgbClr val="231F20"/>
                </a:solidFill>
                <a:latin typeface="Arial"/>
                <a:cs typeface="Arial"/>
              </a:rPr>
              <a:t> </a:t>
            </a:r>
            <a:r>
              <a:rPr sz="1950" spc="145" dirty="0">
                <a:solidFill>
                  <a:srgbClr val="231F20"/>
                </a:solidFill>
                <a:latin typeface="Arial"/>
                <a:cs typeface="Arial"/>
              </a:rPr>
              <a:t>conditions</a:t>
            </a:r>
            <a:r>
              <a:rPr sz="1950" spc="270" dirty="0">
                <a:solidFill>
                  <a:srgbClr val="231F20"/>
                </a:solidFill>
                <a:latin typeface="Arial"/>
                <a:cs typeface="Arial"/>
              </a:rPr>
              <a:t> </a:t>
            </a:r>
            <a:r>
              <a:rPr spc="85" dirty="0"/>
              <a:t>init</a:t>
            </a:r>
            <a:r>
              <a:rPr spc="-380" dirty="0"/>
              <a:t> </a:t>
            </a:r>
            <a:r>
              <a:rPr spc="55" dirty="0"/>
              <a:t>simulation</a:t>
            </a:r>
            <a:r>
              <a:rPr spc="-210" dirty="0"/>
              <a:t> </a:t>
            </a:r>
            <a:r>
              <a:rPr sz="1950" spc="130" dirty="0">
                <a:solidFill>
                  <a:srgbClr val="231F20"/>
                </a:solidFill>
                <a:latin typeface="Arial"/>
                <a:cs typeface="Arial"/>
              </a:rPr>
              <a:t>and</a:t>
            </a:r>
            <a:r>
              <a:rPr sz="1950" spc="275" dirty="0">
                <a:solidFill>
                  <a:srgbClr val="231F20"/>
                </a:solidFill>
                <a:latin typeface="Arial"/>
                <a:cs typeface="Arial"/>
              </a:rPr>
              <a:t> </a:t>
            </a:r>
            <a:r>
              <a:rPr spc="75" dirty="0"/>
              <a:t>safety</a:t>
            </a:r>
            <a:r>
              <a:rPr spc="-380" dirty="0"/>
              <a:t> </a:t>
            </a:r>
            <a:r>
              <a:rPr spc="55" dirty="0"/>
              <a:t>preserved</a:t>
            </a:r>
            <a:r>
              <a:rPr spc="-210" dirty="0"/>
              <a:t> </a:t>
            </a:r>
            <a:r>
              <a:rPr sz="1950" spc="65" dirty="0">
                <a:solidFill>
                  <a:srgbClr val="231F20"/>
                </a:solidFill>
                <a:latin typeface="Arial"/>
                <a:cs typeface="Arial"/>
              </a:rPr>
              <a:t>are  </a:t>
            </a:r>
            <a:r>
              <a:rPr sz="1950" spc="114" dirty="0">
                <a:solidFill>
                  <a:srgbClr val="231F20"/>
                </a:solidFill>
                <a:latin typeface="Arial"/>
                <a:cs typeface="Arial"/>
              </a:rPr>
              <a:t>proved </a:t>
            </a:r>
            <a:r>
              <a:rPr sz="1950" spc="105" dirty="0">
                <a:solidFill>
                  <a:srgbClr val="231F20"/>
                </a:solidFill>
                <a:latin typeface="Arial"/>
                <a:cs typeface="Arial"/>
              </a:rPr>
              <a:t>by</a:t>
            </a:r>
            <a:r>
              <a:rPr sz="1950" spc="365" dirty="0">
                <a:solidFill>
                  <a:srgbClr val="231F20"/>
                </a:solidFill>
                <a:latin typeface="Arial"/>
                <a:cs typeface="Arial"/>
              </a:rPr>
              <a:t> </a:t>
            </a:r>
            <a:r>
              <a:rPr spc="55" dirty="0"/>
              <a:t>(GRIND)</a:t>
            </a:r>
            <a:endParaRPr sz="1950">
              <a:latin typeface="Arial"/>
              <a:cs typeface="Arial"/>
            </a:endParaRPr>
          </a:p>
        </p:txBody>
      </p:sp>
      <p:sp>
        <p:nvSpPr>
          <p:cNvPr id="4" name="object 4"/>
          <p:cNvSpPr txBox="1"/>
          <p:nvPr/>
        </p:nvSpPr>
        <p:spPr>
          <a:xfrm>
            <a:off x="896440" y="1868144"/>
            <a:ext cx="8092440" cy="1480185"/>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200" dirty="0">
                <a:solidFill>
                  <a:srgbClr val="231F20"/>
                </a:solidFill>
                <a:latin typeface="Arial"/>
                <a:cs typeface="Arial"/>
              </a:rPr>
              <a:t>And </a:t>
            </a:r>
            <a:r>
              <a:rPr sz="2050" spc="95" dirty="0">
                <a:solidFill>
                  <a:srgbClr val="0000FF"/>
                </a:solidFill>
                <a:latin typeface="SimSun"/>
                <a:cs typeface="SimSun"/>
              </a:rPr>
              <a:t>abs </a:t>
            </a:r>
            <a:r>
              <a:rPr sz="2050" spc="65" dirty="0">
                <a:solidFill>
                  <a:srgbClr val="0000FF"/>
                </a:solidFill>
                <a:latin typeface="SimSun"/>
                <a:cs typeface="SimSun"/>
              </a:rPr>
              <a:t>invariant </a:t>
            </a:r>
            <a:r>
              <a:rPr sz="2050" spc="55" dirty="0">
                <a:solidFill>
                  <a:srgbClr val="0000FF"/>
                </a:solidFill>
                <a:latin typeface="SimSun"/>
                <a:cs typeface="SimSun"/>
              </a:rPr>
              <a:t>ctl</a:t>
            </a:r>
            <a:r>
              <a:rPr sz="2050" spc="-455" dirty="0">
                <a:solidFill>
                  <a:srgbClr val="0000FF"/>
                </a:solidFill>
                <a:latin typeface="SimSun"/>
                <a:cs typeface="SimSun"/>
              </a:rPr>
              <a:t> </a:t>
            </a:r>
            <a:r>
              <a:rPr sz="1950" spc="40" dirty="0">
                <a:solidFill>
                  <a:srgbClr val="231F20"/>
                </a:solidFill>
                <a:latin typeface="Arial"/>
                <a:cs typeface="Arial"/>
              </a:rPr>
              <a:t>is </a:t>
            </a:r>
            <a:r>
              <a:rPr sz="1950" spc="114" dirty="0">
                <a:solidFill>
                  <a:srgbClr val="231F20"/>
                </a:solidFill>
                <a:latin typeface="Arial"/>
                <a:cs typeface="Arial"/>
              </a:rPr>
              <a:t>proved </a:t>
            </a:r>
            <a:r>
              <a:rPr sz="1950" spc="105" dirty="0">
                <a:solidFill>
                  <a:srgbClr val="231F20"/>
                </a:solidFill>
                <a:latin typeface="Arial"/>
                <a:cs typeface="Arial"/>
              </a:rPr>
              <a:t>by </a:t>
            </a:r>
            <a:r>
              <a:rPr sz="2050" spc="55" dirty="0">
                <a:solidFill>
                  <a:srgbClr val="0000FF"/>
                </a:solidFill>
                <a:latin typeface="SimSun"/>
                <a:cs typeface="SimSun"/>
              </a:rPr>
              <a:t>(MODEL-CHECK)</a:t>
            </a:r>
            <a:endParaRPr sz="2050">
              <a:latin typeface="SimSun"/>
              <a:cs typeface="SimSun"/>
            </a:endParaRPr>
          </a:p>
          <a:p>
            <a:pPr marL="741680" lvl="1" indent="-288290">
              <a:lnSpc>
                <a:spcPct val="100000"/>
              </a:lnSpc>
              <a:spcBef>
                <a:spcPts val="980"/>
              </a:spcBef>
              <a:buSzPct val="105128"/>
              <a:buFont typeface="Lucida Sans Unicode"/>
              <a:buChar char="◦"/>
              <a:tabLst>
                <a:tab pos="742315" algn="l"/>
              </a:tabLst>
            </a:pPr>
            <a:r>
              <a:rPr sz="1950" spc="285" dirty="0">
                <a:solidFill>
                  <a:srgbClr val="231F20"/>
                </a:solidFill>
                <a:latin typeface="Arial"/>
                <a:cs typeface="Arial"/>
              </a:rPr>
              <a:t>Or </a:t>
            </a:r>
            <a:r>
              <a:rPr sz="1950" spc="140" dirty="0">
                <a:solidFill>
                  <a:srgbClr val="231F20"/>
                </a:solidFill>
                <a:latin typeface="Arial"/>
                <a:cs typeface="Arial"/>
              </a:rPr>
              <a:t>could </a:t>
            </a:r>
            <a:r>
              <a:rPr sz="1950" spc="45" dirty="0">
                <a:solidFill>
                  <a:srgbClr val="231F20"/>
                </a:solidFill>
                <a:latin typeface="Arial"/>
                <a:cs typeface="Arial"/>
              </a:rPr>
              <a:t>use </a:t>
            </a:r>
            <a:r>
              <a:rPr sz="2050" spc="55" dirty="0">
                <a:solidFill>
                  <a:srgbClr val="0000FF"/>
                </a:solidFill>
                <a:latin typeface="SimSun"/>
                <a:cs typeface="SimSun"/>
              </a:rPr>
              <a:t>sal-smc </a:t>
            </a:r>
            <a:r>
              <a:rPr sz="1950" spc="155" dirty="0">
                <a:solidFill>
                  <a:srgbClr val="231F20"/>
                </a:solidFill>
                <a:latin typeface="Arial"/>
                <a:cs typeface="Arial"/>
              </a:rPr>
              <a:t>on </a:t>
            </a:r>
            <a:r>
              <a:rPr sz="1950" spc="175" dirty="0">
                <a:solidFill>
                  <a:srgbClr val="231F20"/>
                </a:solidFill>
                <a:latin typeface="Arial"/>
                <a:cs typeface="Arial"/>
              </a:rPr>
              <a:t>the </a:t>
            </a:r>
            <a:r>
              <a:rPr sz="1950" spc="225" dirty="0">
                <a:solidFill>
                  <a:srgbClr val="231F20"/>
                </a:solidFill>
                <a:latin typeface="Arial"/>
                <a:cs typeface="Arial"/>
              </a:rPr>
              <a:t>SAL</a:t>
            </a:r>
            <a:r>
              <a:rPr sz="1950" spc="600" dirty="0">
                <a:solidFill>
                  <a:srgbClr val="231F20"/>
                </a:solidFill>
                <a:latin typeface="Arial"/>
                <a:cs typeface="Arial"/>
              </a:rPr>
              <a:t> </a:t>
            </a:r>
            <a:r>
              <a:rPr sz="1950" spc="125" dirty="0">
                <a:solidFill>
                  <a:srgbClr val="231F20"/>
                </a:solidFill>
                <a:latin typeface="Arial"/>
                <a:cs typeface="Arial"/>
              </a:rPr>
              <a:t>equivalent</a:t>
            </a:r>
            <a:endParaRPr sz="1950">
              <a:latin typeface="Arial"/>
              <a:cs typeface="Arial"/>
            </a:endParaRPr>
          </a:p>
          <a:p>
            <a:pPr marL="300990" indent="-288290">
              <a:lnSpc>
                <a:spcPts val="2385"/>
              </a:lnSpc>
              <a:spcBef>
                <a:spcPts val="980"/>
              </a:spcBef>
              <a:buSzPct val="105128"/>
              <a:buFont typeface="Lucida Sans Unicode"/>
              <a:buChar char="•"/>
              <a:tabLst>
                <a:tab pos="301625" algn="l"/>
              </a:tabLst>
            </a:pPr>
            <a:r>
              <a:rPr sz="1950" spc="275" dirty="0">
                <a:solidFill>
                  <a:srgbClr val="231F20"/>
                </a:solidFill>
                <a:latin typeface="Arial"/>
                <a:cs typeface="Arial"/>
              </a:rPr>
              <a:t>But </a:t>
            </a:r>
            <a:r>
              <a:rPr sz="2050" spc="80" dirty="0">
                <a:solidFill>
                  <a:srgbClr val="0000FF"/>
                </a:solidFill>
                <a:latin typeface="SimSun"/>
                <a:cs typeface="SimSun"/>
              </a:rPr>
              <a:t>trans </a:t>
            </a:r>
            <a:r>
              <a:rPr sz="2050" spc="55" dirty="0">
                <a:solidFill>
                  <a:srgbClr val="0000FF"/>
                </a:solidFill>
                <a:latin typeface="SimSun"/>
                <a:cs typeface="SimSun"/>
              </a:rPr>
              <a:t>simulation </a:t>
            </a:r>
            <a:r>
              <a:rPr sz="1950" spc="70" dirty="0">
                <a:solidFill>
                  <a:srgbClr val="231F20"/>
                </a:solidFill>
                <a:latin typeface="Arial"/>
                <a:cs typeface="Arial"/>
              </a:rPr>
              <a:t>has </a:t>
            </a:r>
            <a:r>
              <a:rPr sz="1950" spc="155" dirty="0">
                <a:solidFill>
                  <a:srgbClr val="231F20"/>
                </a:solidFill>
                <a:latin typeface="Arial"/>
                <a:cs typeface="Arial"/>
              </a:rPr>
              <a:t>2 </a:t>
            </a:r>
            <a:r>
              <a:rPr sz="1950" spc="125" dirty="0">
                <a:solidFill>
                  <a:srgbClr val="231F20"/>
                </a:solidFill>
                <a:latin typeface="Arial"/>
                <a:cs typeface="Arial"/>
              </a:rPr>
              <a:t>unproved </a:t>
            </a:r>
            <a:r>
              <a:rPr sz="1950" spc="105" dirty="0">
                <a:solidFill>
                  <a:srgbClr val="231F20"/>
                </a:solidFill>
                <a:latin typeface="Arial"/>
                <a:cs typeface="Arial"/>
              </a:rPr>
              <a:t>cases—here’s </a:t>
            </a:r>
            <a:r>
              <a:rPr sz="1950" spc="175" dirty="0">
                <a:solidFill>
                  <a:srgbClr val="231F20"/>
                </a:solidFill>
                <a:latin typeface="Arial"/>
                <a:cs typeface="Arial"/>
              </a:rPr>
              <a:t>the</a:t>
            </a:r>
            <a:r>
              <a:rPr sz="1950" spc="229" dirty="0">
                <a:solidFill>
                  <a:srgbClr val="231F20"/>
                </a:solidFill>
                <a:latin typeface="Arial"/>
                <a:cs typeface="Arial"/>
              </a:rPr>
              <a:t> </a:t>
            </a:r>
            <a:r>
              <a:rPr sz="1950" spc="165" dirty="0">
                <a:solidFill>
                  <a:srgbClr val="231F20"/>
                </a:solidFill>
                <a:latin typeface="Arial"/>
                <a:cs typeface="Arial"/>
              </a:rPr>
              <a:t>first</a:t>
            </a:r>
            <a:endParaRPr sz="1950">
              <a:latin typeface="Arial"/>
              <a:cs typeface="Arial"/>
            </a:endParaRPr>
          </a:p>
          <a:p>
            <a:pPr marL="300990">
              <a:lnSpc>
                <a:spcPts val="2385"/>
              </a:lnSpc>
            </a:pPr>
            <a:r>
              <a:rPr sz="2050" spc="55" dirty="0">
                <a:solidFill>
                  <a:srgbClr val="0000FF"/>
                </a:solidFill>
                <a:latin typeface="SimSun"/>
                <a:cs typeface="SimSun"/>
              </a:rPr>
              <a:t>trans_simulation.2.6.1</a:t>
            </a:r>
            <a:r>
              <a:rPr sz="2050" spc="-35"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p:txBody>
      </p:sp>
      <p:sp>
        <p:nvSpPr>
          <p:cNvPr id="5" name="object 5"/>
          <p:cNvSpPr txBox="1"/>
          <p:nvPr/>
        </p:nvSpPr>
        <p:spPr>
          <a:xfrm>
            <a:off x="1185162" y="3406965"/>
            <a:ext cx="576580" cy="710565"/>
          </a:xfrm>
          <a:prstGeom prst="rect">
            <a:avLst/>
          </a:prstGeom>
        </p:spPr>
        <p:txBody>
          <a:bodyPr vert="horz" wrap="square" lIns="0" tIns="0" rIns="0" bIns="0" rtlCol="0">
            <a:spAutoFit/>
          </a:bodyPr>
          <a:lstStyle/>
          <a:p>
            <a:pPr marL="12700">
              <a:lnSpc>
                <a:spcPct val="100000"/>
              </a:lnSpc>
            </a:pPr>
            <a:r>
              <a:rPr sz="2050" spc="50" dirty="0">
                <a:solidFill>
                  <a:srgbClr val="0000FF"/>
                </a:solidFill>
                <a:latin typeface="SimSun"/>
                <a:cs typeface="SimSun"/>
              </a:rPr>
              <a:t>[-1</a:t>
            </a:r>
            <a:r>
              <a:rPr sz="2050" spc="55" dirty="0">
                <a:solidFill>
                  <a:srgbClr val="0000FF"/>
                </a:solidFill>
                <a:latin typeface="SimSun"/>
                <a:cs typeface="SimSun"/>
              </a:rPr>
              <a:t>]</a:t>
            </a:r>
            <a:endParaRPr sz="2050">
              <a:latin typeface="SimSun"/>
              <a:cs typeface="SimSun"/>
            </a:endParaRPr>
          </a:p>
          <a:p>
            <a:pPr marL="12700">
              <a:lnSpc>
                <a:spcPct val="100000"/>
              </a:lnSpc>
              <a:spcBef>
                <a:spcPts val="465"/>
              </a:spcBef>
            </a:pPr>
            <a:r>
              <a:rPr sz="2050" spc="210" dirty="0">
                <a:solidFill>
                  <a:srgbClr val="0000FF"/>
                </a:solidFill>
                <a:latin typeface="Lucida Sans Unicode"/>
                <a:cs typeface="Lucida Sans Unicode"/>
              </a:rPr>
              <a:t>{</a:t>
            </a:r>
            <a:r>
              <a:rPr sz="2050" spc="210" dirty="0">
                <a:solidFill>
                  <a:srgbClr val="0000FF"/>
                </a:solidFill>
                <a:latin typeface="SimSun"/>
                <a:cs typeface="SimSun"/>
              </a:rPr>
              <a:t>-2</a:t>
            </a:r>
            <a:r>
              <a:rPr sz="2050" spc="210" dirty="0">
                <a:solidFill>
                  <a:srgbClr val="0000FF"/>
                </a:solidFill>
                <a:latin typeface="Lucida Sans Unicode"/>
                <a:cs typeface="Lucida Sans Unicode"/>
              </a:rPr>
              <a:t>}</a:t>
            </a:r>
            <a:endParaRPr sz="2050">
              <a:latin typeface="Lucida Sans Unicode"/>
              <a:cs typeface="Lucida Sans Unicode"/>
            </a:endParaRPr>
          </a:p>
        </p:txBody>
      </p:sp>
      <p:sp>
        <p:nvSpPr>
          <p:cNvPr id="6" name="object 6"/>
          <p:cNvSpPr txBox="1"/>
          <p:nvPr/>
        </p:nvSpPr>
        <p:spPr>
          <a:xfrm>
            <a:off x="1998637" y="3347918"/>
            <a:ext cx="2229485" cy="768985"/>
          </a:xfrm>
          <a:prstGeom prst="rect">
            <a:avLst/>
          </a:prstGeom>
        </p:spPr>
        <p:txBody>
          <a:bodyPr vert="horz" wrap="square" lIns="0" tIns="0" rIns="0" bIns="0" rtlCol="0">
            <a:spAutoFit/>
          </a:bodyPr>
          <a:lstStyle/>
          <a:p>
            <a:pPr marL="12700" marR="5080" indent="12700">
              <a:lnSpc>
                <a:spcPct val="118900"/>
              </a:lnSpc>
            </a:pPr>
            <a:r>
              <a:rPr sz="2050" spc="55" dirty="0">
                <a:solidFill>
                  <a:srgbClr val="0000FF"/>
                </a:solidFill>
                <a:latin typeface="SimSun"/>
                <a:cs typeface="SimSun"/>
              </a:rPr>
              <a:t>post!1 = pre!1  </a:t>
            </a:r>
            <a:r>
              <a:rPr sz="2050" spc="50" dirty="0">
                <a:solidFill>
                  <a:srgbClr val="0000FF"/>
                </a:solidFill>
                <a:latin typeface="SimSun"/>
                <a:cs typeface="SimSun"/>
              </a:rPr>
              <a:t>idle?(pre!1</a:t>
            </a:r>
            <a:r>
              <a:rPr sz="2050" spc="-975" dirty="0">
                <a:solidFill>
                  <a:srgbClr val="0000FF"/>
                </a:solidFill>
                <a:latin typeface="SimSun"/>
                <a:cs typeface="SimSun"/>
              </a:rPr>
              <a:t>‘</a:t>
            </a:r>
            <a:r>
              <a:rPr sz="2050" spc="50" dirty="0">
                <a:solidFill>
                  <a:srgbClr val="0000FF"/>
                </a:solidFill>
                <a:latin typeface="SimSun"/>
                <a:cs typeface="SimSun"/>
              </a:rPr>
              <a:t>pc1</a:t>
            </a:r>
            <a:r>
              <a:rPr sz="2050" spc="55" dirty="0">
                <a:solidFill>
                  <a:srgbClr val="0000FF"/>
                </a:solidFill>
                <a:latin typeface="SimSun"/>
                <a:cs typeface="SimSun"/>
              </a:rPr>
              <a:t>)</a:t>
            </a:r>
            <a:endParaRPr sz="2050">
              <a:latin typeface="SimSun"/>
              <a:cs typeface="SimSun"/>
            </a:endParaRPr>
          </a:p>
        </p:txBody>
      </p:sp>
      <p:sp>
        <p:nvSpPr>
          <p:cNvPr id="7" name="object 7"/>
          <p:cNvSpPr txBox="1"/>
          <p:nvPr/>
        </p:nvSpPr>
        <p:spPr>
          <a:xfrm>
            <a:off x="1185162" y="4150143"/>
            <a:ext cx="3594100" cy="2197100"/>
          </a:xfrm>
          <a:prstGeom prst="rect">
            <a:avLst/>
          </a:prstGeom>
        </p:spPr>
        <p:txBody>
          <a:bodyPr vert="horz" wrap="square" lIns="0" tIns="0" rIns="0" bIns="0" rtlCol="0">
            <a:spAutoFit/>
          </a:bodyPr>
          <a:lstStyle/>
          <a:p>
            <a:pPr marL="287655">
              <a:lnSpc>
                <a:spcPct val="100000"/>
              </a:lnSpc>
            </a:pPr>
            <a:r>
              <a:rPr sz="2050" spc="55" dirty="0">
                <a:solidFill>
                  <a:srgbClr val="0000FF"/>
                </a:solidFill>
                <a:latin typeface="SimSun"/>
                <a:cs typeface="SimSun"/>
              </a:rPr>
              <a:t>|-------</a:t>
            </a:r>
            <a:endParaRPr sz="2050">
              <a:latin typeface="SimSun"/>
              <a:cs typeface="SimSun"/>
            </a:endParaRPr>
          </a:p>
          <a:p>
            <a:pPr marL="12700">
              <a:lnSpc>
                <a:spcPct val="100000"/>
              </a:lnSpc>
              <a:spcBef>
                <a:spcPts val="465"/>
              </a:spcBef>
              <a:tabLst>
                <a:tab pos="825500" algn="l"/>
              </a:tabLst>
            </a:pPr>
            <a:r>
              <a:rPr sz="2050" spc="260" dirty="0">
                <a:solidFill>
                  <a:srgbClr val="0000FF"/>
                </a:solidFill>
                <a:latin typeface="Lucida Sans Unicode"/>
                <a:cs typeface="Lucida Sans Unicode"/>
              </a:rPr>
              <a:t>{</a:t>
            </a:r>
            <a:r>
              <a:rPr sz="2050" spc="260" dirty="0">
                <a:solidFill>
                  <a:srgbClr val="0000FF"/>
                </a:solidFill>
                <a:latin typeface="SimSun"/>
                <a:cs typeface="SimSun"/>
              </a:rPr>
              <a:t>1</a:t>
            </a:r>
            <a:r>
              <a:rPr sz="2050" spc="260" dirty="0">
                <a:solidFill>
                  <a:srgbClr val="0000FF"/>
                </a:solidFill>
                <a:latin typeface="Lucida Sans Unicode"/>
                <a:cs typeface="Lucida Sans Unicode"/>
              </a:rPr>
              <a:t>}	</a:t>
            </a:r>
            <a:r>
              <a:rPr sz="2050" dirty="0">
                <a:solidFill>
                  <a:srgbClr val="0000FF"/>
                </a:solidFill>
                <a:latin typeface="SimSun"/>
                <a:cs typeface="SimSun"/>
              </a:rPr>
              <a:t>critical?(pre!1‘pc2)</a:t>
            </a:r>
            <a:endParaRPr sz="2050">
              <a:latin typeface="SimSun"/>
              <a:cs typeface="SimSun"/>
            </a:endParaRPr>
          </a:p>
          <a:p>
            <a:pPr marL="12700">
              <a:lnSpc>
                <a:spcPct val="100000"/>
              </a:lnSpc>
              <a:spcBef>
                <a:spcPts val="465"/>
              </a:spcBef>
              <a:tabLst>
                <a:tab pos="838835" algn="l"/>
              </a:tabLst>
            </a:pPr>
            <a:r>
              <a:rPr sz="2050" spc="55" dirty="0">
                <a:solidFill>
                  <a:srgbClr val="0000FF"/>
                </a:solidFill>
                <a:latin typeface="SimSun"/>
                <a:cs typeface="SimSun"/>
              </a:rPr>
              <a:t>[2]	</a:t>
            </a:r>
            <a:r>
              <a:rPr sz="2050" spc="-75" dirty="0">
                <a:solidFill>
                  <a:srgbClr val="0000FF"/>
                </a:solidFill>
                <a:latin typeface="SimSun"/>
                <a:cs typeface="SimSun"/>
              </a:rPr>
              <a:t>pre!1‘t1 </a:t>
            </a:r>
            <a:r>
              <a:rPr sz="2050" spc="55" dirty="0">
                <a:solidFill>
                  <a:srgbClr val="0000FF"/>
                </a:solidFill>
                <a:latin typeface="SimSun"/>
                <a:cs typeface="SimSun"/>
              </a:rPr>
              <a:t>=</a:t>
            </a:r>
            <a:r>
              <a:rPr sz="2050" spc="120" dirty="0">
                <a:solidFill>
                  <a:srgbClr val="0000FF"/>
                </a:solidFill>
                <a:latin typeface="SimSun"/>
                <a:cs typeface="SimSun"/>
              </a:rPr>
              <a:t> </a:t>
            </a:r>
            <a:r>
              <a:rPr sz="2050" spc="55" dirty="0">
                <a:solidFill>
                  <a:srgbClr val="0000FF"/>
                </a:solidFill>
                <a:latin typeface="SimSun"/>
                <a:cs typeface="SimSun"/>
              </a:rPr>
              <a:t>0</a:t>
            </a:r>
            <a:endParaRPr sz="2050">
              <a:latin typeface="SimSun"/>
              <a:cs typeface="SimSun"/>
            </a:endParaRPr>
          </a:p>
          <a:p>
            <a:pPr marL="12700">
              <a:lnSpc>
                <a:spcPct val="100000"/>
              </a:lnSpc>
              <a:spcBef>
                <a:spcPts val="465"/>
              </a:spcBef>
              <a:tabLst>
                <a:tab pos="838835" algn="l"/>
              </a:tabLst>
            </a:pPr>
            <a:r>
              <a:rPr sz="2050" spc="55" dirty="0">
                <a:solidFill>
                  <a:srgbClr val="0000FF"/>
                </a:solidFill>
                <a:latin typeface="SimSun"/>
                <a:cs typeface="SimSun"/>
              </a:rPr>
              <a:t>[3]	</a:t>
            </a:r>
            <a:r>
              <a:rPr sz="2050" spc="-75" dirty="0">
                <a:solidFill>
                  <a:srgbClr val="0000FF"/>
                </a:solidFill>
                <a:latin typeface="SimSun"/>
                <a:cs typeface="SimSun"/>
              </a:rPr>
              <a:t>pre!1‘t1 </a:t>
            </a:r>
            <a:r>
              <a:rPr sz="2050" spc="55" dirty="0">
                <a:solidFill>
                  <a:srgbClr val="0000FF"/>
                </a:solidFill>
                <a:latin typeface="SimSun"/>
                <a:cs typeface="SimSun"/>
              </a:rPr>
              <a:t>&gt;</a:t>
            </a:r>
            <a:r>
              <a:rPr sz="2050" spc="135" dirty="0">
                <a:solidFill>
                  <a:srgbClr val="0000FF"/>
                </a:solidFill>
                <a:latin typeface="SimSun"/>
                <a:cs typeface="SimSun"/>
              </a:rPr>
              <a:t> </a:t>
            </a:r>
            <a:r>
              <a:rPr sz="2050" spc="-75" dirty="0">
                <a:solidFill>
                  <a:srgbClr val="0000FF"/>
                </a:solidFill>
                <a:latin typeface="SimSun"/>
                <a:cs typeface="SimSun"/>
              </a:rPr>
              <a:t>pre!1‘t2</a:t>
            </a:r>
            <a:endParaRPr sz="2050">
              <a:latin typeface="SimSun"/>
              <a:cs typeface="SimSun"/>
            </a:endParaRPr>
          </a:p>
          <a:p>
            <a:pPr marL="12700">
              <a:lnSpc>
                <a:spcPct val="100000"/>
              </a:lnSpc>
              <a:spcBef>
                <a:spcPts val="465"/>
              </a:spcBef>
              <a:tabLst>
                <a:tab pos="825500" algn="l"/>
              </a:tabLst>
            </a:pPr>
            <a:r>
              <a:rPr sz="2050" spc="260" dirty="0">
                <a:solidFill>
                  <a:srgbClr val="0000FF"/>
                </a:solidFill>
                <a:latin typeface="Lucida Sans Unicode"/>
                <a:cs typeface="Lucida Sans Unicode"/>
              </a:rPr>
              <a:t>{</a:t>
            </a:r>
            <a:r>
              <a:rPr sz="2050" spc="260" dirty="0">
                <a:solidFill>
                  <a:srgbClr val="0000FF"/>
                </a:solidFill>
                <a:latin typeface="SimSun"/>
                <a:cs typeface="SimSun"/>
              </a:rPr>
              <a:t>4</a:t>
            </a:r>
            <a:r>
              <a:rPr sz="2050" spc="260" dirty="0">
                <a:solidFill>
                  <a:srgbClr val="0000FF"/>
                </a:solidFill>
                <a:latin typeface="Lucida Sans Unicode"/>
                <a:cs typeface="Lucida Sans Unicode"/>
              </a:rPr>
              <a:t>}	</a:t>
            </a:r>
            <a:r>
              <a:rPr sz="2050" spc="-10" dirty="0">
                <a:solidFill>
                  <a:srgbClr val="0000FF"/>
                </a:solidFill>
                <a:latin typeface="SimSun"/>
                <a:cs typeface="SimSun"/>
              </a:rPr>
              <a:t>idle?(pre!1‘pc2)</a:t>
            </a:r>
            <a:endParaRPr sz="2050">
              <a:latin typeface="SimSun"/>
              <a:cs typeface="SimSun"/>
            </a:endParaRPr>
          </a:p>
          <a:p>
            <a:pPr marL="12700">
              <a:lnSpc>
                <a:spcPct val="100000"/>
              </a:lnSpc>
              <a:spcBef>
                <a:spcPts val="465"/>
              </a:spcBef>
              <a:tabLst>
                <a:tab pos="825500" algn="l"/>
              </a:tabLst>
            </a:pPr>
            <a:r>
              <a:rPr sz="2050" spc="260" dirty="0">
                <a:solidFill>
                  <a:srgbClr val="0000FF"/>
                </a:solidFill>
                <a:latin typeface="Lucida Sans Unicode"/>
                <a:cs typeface="Lucida Sans Unicode"/>
              </a:rPr>
              <a:t>{</a:t>
            </a:r>
            <a:r>
              <a:rPr sz="2050" spc="260" dirty="0">
                <a:solidFill>
                  <a:srgbClr val="0000FF"/>
                </a:solidFill>
                <a:latin typeface="SimSun"/>
                <a:cs typeface="SimSun"/>
              </a:rPr>
              <a:t>5</a:t>
            </a:r>
            <a:r>
              <a:rPr sz="2050" spc="260" dirty="0">
                <a:solidFill>
                  <a:srgbClr val="0000FF"/>
                </a:solidFill>
                <a:latin typeface="Lucida Sans Unicode"/>
                <a:cs typeface="Lucida Sans Unicode"/>
              </a:rPr>
              <a:t>}	</a:t>
            </a:r>
            <a:r>
              <a:rPr sz="2050" spc="-75" dirty="0">
                <a:solidFill>
                  <a:srgbClr val="0000FF"/>
                </a:solidFill>
                <a:latin typeface="SimSun"/>
                <a:cs typeface="SimSun"/>
              </a:rPr>
              <a:t>pre!1‘t1 </a:t>
            </a:r>
            <a:r>
              <a:rPr sz="2050" spc="55" dirty="0">
                <a:solidFill>
                  <a:srgbClr val="0000FF"/>
                </a:solidFill>
                <a:latin typeface="SimSun"/>
                <a:cs typeface="SimSun"/>
              </a:rPr>
              <a:t>&lt;</a:t>
            </a:r>
            <a:r>
              <a:rPr sz="2050" spc="135" dirty="0">
                <a:solidFill>
                  <a:srgbClr val="0000FF"/>
                </a:solidFill>
                <a:latin typeface="SimSun"/>
                <a:cs typeface="SimSun"/>
              </a:rPr>
              <a:t> </a:t>
            </a:r>
            <a:r>
              <a:rPr sz="2050" spc="-75" dirty="0">
                <a:solidFill>
                  <a:srgbClr val="0000FF"/>
                </a:solidFill>
                <a:latin typeface="SimSun"/>
                <a:cs typeface="SimSun"/>
              </a:rPr>
              <a:t>pre!1‘t2</a:t>
            </a:r>
            <a:endParaRPr sz="2050">
              <a:latin typeface="SimSun"/>
              <a:cs typeface="SimSun"/>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134539" y="475981"/>
            <a:ext cx="5791835" cy="31496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85" dirty="0">
                <a:solidFill>
                  <a:srgbClr val="231F20"/>
                </a:solidFill>
                <a:latin typeface="Arial"/>
                <a:cs typeface="Arial"/>
              </a:rPr>
              <a:t>Problem </a:t>
            </a:r>
            <a:r>
              <a:rPr sz="1950" spc="240" dirty="0">
                <a:solidFill>
                  <a:srgbClr val="231F20"/>
                </a:solidFill>
                <a:latin typeface="Arial"/>
                <a:cs typeface="Arial"/>
              </a:rPr>
              <a:t>Justifying </a:t>
            </a:r>
            <a:r>
              <a:rPr sz="1950" spc="390" dirty="0">
                <a:solidFill>
                  <a:srgbClr val="231F20"/>
                </a:solidFill>
                <a:latin typeface="Arial"/>
                <a:cs typeface="Arial"/>
              </a:rPr>
              <a:t>The</a:t>
            </a:r>
            <a:r>
              <a:rPr sz="1950" spc="520"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300990" marR="5080" indent="-288290">
              <a:lnSpc>
                <a:spcPct val="121900"/>
              </a:lnSpc>
              <a:buSzPct val="105128"/>
              <a:buFont typeface="Lucida Sans Unicode"/>
              <a:buChar char="•"/>
              <a:tabLst>
                <a:tab pos="301625" algn="l"/>
              </a:tabLst>
            </a:pPr>
            <a:r>
              <a:rPr sz="1950" spc="250" dirty="0">
                <a:solidFill>
                  <a:srgbClr val="231F20"/>
                </a:solidFill>
                <a:latin typeface="Arial"/>
                <a:cs typeface="Arial"/>
              </a:rPr>
              <a:t>The </a:t>
            </a:r>
            <a:r>
              <a:rPr sz="1950" spc="140" dirty="0">
                <a:solidFill>
                  <a:srgbClr val="231F20"/>
                </a:solidFill>
                <a:latin typeface="Arial"/>
                <a:cs typeface="Arial"/>
              </a:rPr>
              <a:t>problem </a:t>
            </a:r>
            <a:r>
              <a:rPr sz="1950" spc="90" dirty="0">
                <a:solidFill>
                  <a:srgbClr val="231F20"/>
                </a:solidFill>
                <a:latin typeface="Arial"/>
                <a:cs typeface="Arial"/>
              </a:rPr>
              <a:t>here </a:t>
            </a:r>
            <a:r>
              <a:rPr sz="1950" spc="40" dirty="0">
                <a:solidFill>
                  <a:srgbClr val="231F20"/>
                </a:solidFill>
                <a:latin typeface="Arial"/>
                <a:cs typeface="Arial"/>
              </a:rPr>
              <a:t>is </a:t>
            </a:r>
            <a:r>
              <a:rPr sz="1950" spc="235" dirty="0">
                <a:solidFill>
                  <a:srgbClr val="231F20"/>
                </a:solidFill>
                <a:latin typeface="Arial"/>
                <a:cs typeface="Arial"/>
              </a:rPr>
              <a:t>that </a:t>
            </a:r>
            <a:r>
              <a:rPr sz="1950" spc="140" dirty="0">
                <a:solidFill>
                  <a:srgbClr val="231F20"/>
                </a:solidFill>
                <a:latin typeface="Arial"/>
                <a:cs typeface="Arial"/>
              </a:rPr>
              <a:t>when </a:t>
            </a:r>
            <a:r>
              <a:rPr sz="1950" spc="175" dirty="0">
                <a:solidFill>
                  <a:srgbClr val="231F20"/>
                </a:solidFill>
                <a:latin typeface="Arial"/>
                <a:cs typeface="Arial"/>
              </a:rPr>
              <a:t>the </a:t>
            </a:r>
            <a:r>
              <a:rPr sz="1950" spc="200" dirty="0">
                <a:solidFill>
                  <a:srgbClr val="231F20"/>
                </a:solidFill>
                <a:latin typeface="Arial"/>
                <a:cs typeface="Arial"/>
              </a:rPr>
              <a:t>two </a:t>
            </a:r>
            <a:r>
              <a:rPr sz="1950" spc="150" dirty="0">
                <a:solidFill>
                  <a:srgbClr val="231F20"/>
                </a:solidFill>
                <a:latin typeface="Arial"/>
                <a:cs typeface="Arial"/>
              </a:rPr>
              <a:t>tickets </a:t>
            </a:r>
            <a:r>
              <a:rPr sz="1950" spc="65" dirty="0">
                <a:solidFill>
                  <a:srgbClr val="231F20"/>
                </a:solidFill>
                <a:latin typeface="Arial"/>
                <a:cs typeface="Arial"/>
              </a:rPr>
              <a:t>are </a:t>
            </a:r>
            <a:r>
              <a:rPr sz="1950" spc="105" dirty="0">
                <a:solidFill>
                  <a:srgbClr val="231F20"/>
                </a:solidFill>
                <a:latin typeface="Arial"/>
                <a:cs typeface="Arial"/>
              </a:rPr>
              <a:t>equal </a:t>
            </a:r>
            <a:r>
              <a:rPr sz="1950" spc="220" dirty="0">
                <a:solidFill>
                  <a:srgbClr val="231F20"/>
                </a:solidFill>
                <a:latin typeface="Arial"/>
                <a:cs typeface="Arial"/>
              </a:rPr>
              <a:t>but  </a:t>
            </a:r>
            <a:r>
              <a:rPr sz="1950" spc="130" dirty="0">
                <a:solidFill>
                  <a:srgbClr val="231F20"/>
                </a:solidFill>
                <a:latin typeface="Arial"/>
                <a:cs typeface="Arial"/>
              </a:rPr>
              <a:t>nonzero, </a:t>
            </a:r>
            <a:r>
              <a:rPr sz="1950" spc="175" dirty="0">
                <a:solidFill>
                  <a:srgbClr val="231F20"/>
                </a:solidFill>
                <a:latin typeface="Arial"/>
                <a:cs typeface="Arial"/>
              </a:rPr>
              <a:t>the </a:t>
            </a:r>
            <a:r>
              <a:rPr sz="1950" spc="135" dirty="0">
                <a:solidFill>
                  <a:srgbClr val="231F20"/>
                </a:solidFill>
                <a:latin typeface="Arial"/>
                <a:cs typeface="Arial"/>
              </a:rPr>
              <a:t>concrete </a:t>
            </a:r>
            <a:r>
              <a:rPr sz="1950" spc="170" dirty="0">
                <a:solidFill>
                  <a:srgbClr val="231F20"/>
                </a:solidFill>
                <a:latin typeface="Arial"/>
                <a:cs typeface="Arial"/>
              </a:rPr>
              <a:t>protocol </a:t>
            </a:r>
            <a:r>
              <a:rPr sz="1950" spc="120" dirty="0">
                <a:solidFill>
                  <a:srgbClr val="231F20"/>
                </a:solidFill>
                <a:latin typeface="Arial"/>
                <a:cs typeface="Arial"/>
              </a:rPr>
              <a:t>drops </a:t>
            </a:r>
            <a:r>
              <a:rPr sz="1950" spc="185" dirty="0">
                <a:solidFill>
                  <a:srgbClr val="231F20"/>
                </a:solidFill>
                <a:latin typeface="Arial"/>
                <a:cs typeface="Arial"/>
              </a:rPr>
              <a:t>through </a:t>
            </a:r>
            <a:r>
              <a:rPr sz="1950" spc="250" dirty="0">
                <a:solidFill>
                  <a:srgbClr val="231F20"/>
                </a:solidFill>
                <a:latin typeface="Arial"/>
                <a:cs typeface="Arial"/>
              </a:rPr>
              <a:t>to </a:t>
            </a:r>
            <a:r>
              <a:rPr sz="1950" spc="175" dirty="0">
                <a:solidFill>
                  <a:srgbClr val="231F20"/>
                </a:solidFill>
                <a:latin typeface="Arial"/>
                <a:cs typeface="Arial"/>
              </a:rPr>
              <a:t>the </a:t>
            </a:r>
            <a:r>
              <a:rPr spc="55" dirty="0">
                <a:solidFill>
                  <a:srgbClr val="231F20"/>
                </a:solidFill>
              </a:rPr>
              <a:t>ELSE  </a:t>
            </a:r>
            <a:r>
              <a:rPr sz="1950" spc="50" dirty="0">
                <a:solidFill>
                  <a:srgbClr val="231F20"/>
                </a:solidFill>
                <a:latin typeface="Arial"/>
                <a:cs typeface="Arial"/>
              </a:rPr>
              <a:t>case </a:t>
            </a:r>
            <a:r>
              <a:rPr sz="1950" spc="130" dirty="0">
                <a:solidFill>
                  <a:srgbClr val="231F20"/>
                </a:solidFill>
                <a:latin typeface="Arial"/>
                <a:cs typeface="Arial"/>
              </a:rPr>
              <a:t>and </a:t>
            </a:r>
            <a:r>
              <a:rPr sz="1950" spc="95" dirty="0">
                <a:solidFill>
                  <a:srgbClr val="231F20"/>
                </a:solidFill>
                <a:latin typeface="Arial"/>
                <a:cs typeface="Arial"/>
              </a:rPr>
              <a:t>requires </a:t>
            </a:r>
            <a:r>
              <a:rPr sz="1950" spc="175" dirty="0">
                <a:solidFill>
                  <a:srgbClr val="231F20"/>
                </a:solidFill>
                <a:latin typeface="Arial"/>
                <a:cs typeface="Arial"/>
              </a:rPr>
              <a:t>the </a:t>
            </a:r>
            <a:r>
              <a:rPr sz="1950" spc="90" dirty="0">
                <a:solidFill>
                  <a:srgbClr val="231F20"/>
                </a:solidFill>
                <a:latin typeface="Arial"/>
                <a:cs typeface="Arial"/>
              </a:rPr>
              <a:t>pre </a:t>
            </a:r>
            <a:r>
              <a:rPr sz="1950" spc="130" dirty="0">
                <a:solidFill>
                  <a:srgbClr val="231F20"/>
                </a:solidFill>
                <a:latin typeface="Arial"/>
                <a:cs typeface="Arial"/>
              </a:rPr>
              <a:t>and </a:t>
            </a:r>
            <a:r>
              <a:rPr sz="1950" spc="175" dirty="0">
                <a:solidFill>
                  <a:srgbClr val="231F20"/>
                </a:solidFill>
                <a:latin typeface="Arial"/>
                <a:cs typeface="Arial"/>
              </a:rPr>
              <a:t>post </a:t>
            </a:r>
            <a:r>
              <a:rPr sz="1950" spc="125" dirty="0">
                <a:solidFill>
                  <a:srgbClr val="231F20"/>
                </a:solidFill>
                <a:latin typeface="Arial"/>
                <a:cs typeface="Arial"/>
              </a:rPr>
              <a:t>states </a:t>
            </a:r>
            <a:r>
              <a:rPr sz="1950" spc="250" dirty="0">
                <a:solidFill>
                  <a:srgbClr val="231F20"/>
                </a:solidFill>
                <a:latin typeface="Arial"/>
                <a:cs typeface="Arial"/>
              </a:rPr>
              <a:t>to </a:t>
            </a:r>
            <a:r>
              <a:rPr sz="1950" spc="114" dirty="0">
                <a:solidFill>
                  <a:srgbClr val="231F20"/>
                </a:solidFill>
                <a:latin typeface="Arial"/>
                <a:cs typeface="Arial"/>
              </a:rPr>
              <a:t>be </a:t>
            </a:r>
            <a:r>
              <a:rPr sz="1950" spc="175" dirty="0">
                <a:solidFill>
                  <a:srgbClr val="231F20"/>
                </a:solidFill>
                <a:latin typeface="Arial"/>
                <a:cs typeface="Arial"/>
              </a:rPr>
              <a:t>the  </a:t>
            </a:r>
            <a:r>
              <a:rPr sz="1950" spc="295" dirty="0">
                <a:solidFill>
                  <a:srgbClr val="231F20"/>
                </a:solidFill>
                <a:latin typeface="Arial"/>
                <a:cs typeface="Arial"/>
              </a:rPr>
              <a:t> </a:t>
            </a:r>
            <a:r>
              <a:rPr sz="1950" spc="95" dirty="0">
                <a:solidFill>
                  <a:srgbClr val="231F20"/>
                </a:solidFill>
                <a:latin typeface="Arial"/>
                <a:cs typeface="Arial"/>
              </a:rPr>
              <a:t>same</a:t>
            </a:r>
            <a:endParaRPr sz="1950">
              <a:latin typeface="Arial"/>
              <a:cs typeface="Arial"/>
            </a:endParaRPr>
          </a:p>
        </p:txBody>
      </p:sp>
      <p:sp>
        <p:nvSpPr>
          <p:cNvPr id="4" name="object 4"/>
          <p:cNvSpPr txBox="1"/>
          <p:nvPr/>
        </p:nvSpPr>
        <p:spPr>
          <a:xfrm>
            <a:off x="896440" y="2166023"/>
            <a:ext cx="8104505" cy="4157979"/>
          </a:xfrm>
          <a:prstGeom prst="rect">
            <a:avLst/>
          </a:prstGeom>
        </p:spPr>
        <p:txBody>
          <a:bodyPr vert="horz" wrap="square" lIns="0" tIns="0" rIns="0" bIns="0" rtlCol="0">
            <a:spAutoFit/>
          </a:bodyPr>
          <a:lstStyle/>
          <a:p>
            <a:pPr marL="300990" marR="5080" indent="-288290">
              <a:lnSpc>
                <a:spcPct val="125000"/>
              </a:lnSpc>
              <a:buSzPct val="105128"/>
              <a:buFont typeface="Lucida Sans Unicode"/>
              <a:buChar char="•"/>
              <a:tabLst>
                <a:tab pos="301625" algn="l"/>
              </a:tabLst>
            </a:pPr>
            <a:r>
              <a:rPr sz="1950" spc="275" dirty="0">
                <a:solidFill>
                  <a:srgbClr val="231F20"/>
                </a:solidFill>
                <a:latin typeface="Arial"/>
                <a:cs typeface="Arial"/>
              </a:rPr>
              <a:t>But </a:t>
            </a:r>
            <a:r>
              <a:rPr sz="1950" spc="130" dirty="0">
                <a:solidFill>
                  <a:srgbClr val="231F20"/>
                </a:solidFill>
                <a:latin typeface="Arial"/>
                <a:cs typeface="Arial"/>
              </a:rPr>
              <a:t>in </a:t>
            </a:r>
            <a:r>
              <a:rPr sz="1950" spc="175" dirty="0">
                <a:solidFill>
                  <a:srgbClr val="231F20"/>
                </a:solidFill>
                <a:latin typeface="Arial"/>
                <a:cs typeface="Arial"/>
              </a:rPr>
              <a:t>the </a:t>
            </a:r>
            <a:r>
              <a:rPr sz="1950" spc="145" dirty="0">
                <a:solidFill>
                  <a:srgbClr val="231F20"/>
                </a:solidFill>
                <a:latin typeface="Arial"/>
                <a:cs typeface="Arial"/>
              </a:rPr>
              <a:t>abstracted </a:t>
            </a:r>
            <a:r>
              <a:rPr sz="1950" spc="165" dirty="0">
                <a:solidFill>
                  <a:srgbClr val="231F20"/>
                </a:solidFill>
                <a:latin typeface="Arial"/>
                <a:cs typeface="Arial"/>
              </a:rPr>
              <a:t>protocol, </a:t>
            </a:r>
            <a:r>
              <a:rPr sz="1950" spc="145" dirty="0">
                <a:solidFill>
                  <a:srgbClr val="231F20"/>
                </a:solidFill>
                <a:latin typeface="Arial"/>
                <a:cs typeface="Arial"/>
              </a:rPr>
              <a:t>this </a:t>
            </a:r>
            <a:r>
              <a:rPr sz="1950" spc="160" dirty="0">
                <a:solidFill>
                  <a:srgbClr val="231F20"/>
                </a:solidFill>
                <a:latin typeface="Arial"/>
                <a:cs typeface="Arial"/>
              </a:rPr>
              <a:t>situation </a:t>
            </a:r>
            <a:r>
              <a:rPr sz="1950" spc="120" dirty="0">
                <a:solidFill>
                  <a:srgbClr val="231F20"/>
                </a:solidFill>
                <a:latin typeface="Arial"/>
                <a:cs typeface="Arial"/>
              </a:rPr>
              <a:t>can satisfy </a:t>
            </a:r>
            <a:r>
              <a:rPr sz="1950" spc="175" dirty="0">
                <a:solidFill>
                  <a:srgbClr val="231F20"/>
                </a:solidFill>
                <a:latin typeface="Arial"/>
                <a:cs typeface="Arial"/>
              </a:rPr>
              <a:t>the  </a:t>
            </a:r>
            <a:r>
              <a:rPr sz="1950" spc="160" dirty="0">
                <a:solidFill>
                  <a:srgbClr val="231F20"/>
                </a:solidFill>
                <a:latin typeface="Arial"/>
                <a:cs typeface="Arial"/>
              </a:rPr>
              <a:t>condition </a:t>
            </a:r>
            <a:r>
              <a:rPr sz="1950" spc="155" dirty="0">
                <a:solidFill>
                  <a:srgbClr val="231F20"/>
                </a:solidFill>
                <a:latin typeface="Arial"/>
                <a:cs typeface="Arial"/>
              </a:rPr>
              <a:t>for </a:t>
            </a:r>
            <a:r>
              <a:rPr sz="1950" spc="105" dirty="0">
                <a:solidFill>
                  <a:srgbClr val="231F20"/>
                </a:solidFill>
                <a:latin typeface="Arial"/>
                <a:cs typeface="Arial"/>
              </a:rPr>
              <a:t>Process </a:t>
            </a:r>
            <a:r>
              <a:rPr sz="1950" spc="155" dirty="0">
                <a:solidFill>
                  <a:srgbClr val="231F20"/>
                </a:solidFill>
                <a:latin typeface="Arial"/>
                <a:cs typeface="Arial"/>
              </a:rPr>
              <a:t>2 </a:t>
            </a:r>
            <a:r>
              <a:rPr sz="1950" spc="250" dirty="0">
                <a:solidFill>
                  <a:srgbClr val="231F20"/>
                </a:solidFill>
                <a:latin typeface="Arial"/>
                <a:cs typeface="Arial"/>
              </a:rPr>
              <a:t>to </a:t>
            </a:r>
            <a:r>
              <a:rPr sz="1950" spc="140" dirty="0">
                <a:solidFill>
                  <a:srgbClr val="231F20"/>
                </a:solidFill>
                <a:latin typeface="Arial"/>
                <a:cs typeface="Arial"/>
              </a:rPr>
              <a:t>enter </a:t>
            </a:r>
            <a:r>
              <a:rPr sz="1950" spc="145" dirty="0">
                <a:solidFill>
                  <a:srgbClr val="231F20"/>
                </a:solidFill>
                <a:latin typeface="Arial"/>
                <a:cs typeface="Arial"/>
              </a:rPr>
              <a:t>its </a:t>
            </a:r>
            <a:r>
              <a:rPr sz="1950" spc="150" dirty="0">
                <a:solidFill>
                  <a:srgbClr val="231F20"/>
                </a:solidFill>
                <a:latin typeface="Arial"/>
                <a:cs typeface="Arial"/>
              </a:rPr>
              <a:t>critical </a:t>
            </a:r>
            <a:r>
              <a:rPr sz="1950" spc="445" dirty="0">
                <a:solidFill>
                  <a:srgbClr val="231F20"/>
                </a:solidFill>
                <a:latin typeface="Arial"/>
                <a:cs typeface="Arial"/>
              </a:rPr>
              <a:t> </a:t>
            </a:r>
            <a:r>
              <a:rPr sz="1950" spc="125" dirty="0">
                <a:solidFill>
                  <a:srgbClr val="231F20"/>
                </a:solidFill>
                <a:latin typeface="Arial"/>
                <a:cs typeface="Arial"/>
              </a:rPr>
              <a:t>section</a:t>
            </a:r>
            <a:endParaRPr sz="1950">
              <a:latin typeface="Arial"/>
              <a:cs typeface="Arial"/>
            </a:endParaRPr>
          </a:p>
          <a:p>
            <a:pPr marL="741680" lvl="1" indent="-288290">
              <a:lnSpc>
                <a:spcPct val="100000"/>
              </a:lnSpc>
              <a:spcBef>
                <a:spcPts val="915"/>
              </a:spcBef>
              <a:buSzPct val="105128"/>
              <a:buFont typeface="Lucida Sans Unicode"/>
              <a:buChar char="◦"/>
              <a:tabLst>
                <a:tab pos="742315" algn="l"/>
              </a:tabLst>
            </a:pPr>
            <a:r>
              <a:rPr sz="1950" spc="95" dirty="0">
                <a:solidFill>
                  <a:srgbClr val="231F20"/>
                </a:solidFill>
                <a:latin typeface="Arial"/>
                <a:cs typeface="Arial"/>
              </a:rPr>
              <a:t>Because</a:t>
            </a:r>
            <a:r>
              <a:rPr sz="1950" spc="285" dirty="0">
                <a:solidFill>
                  <a:srgbClr val="231F20"/>
                </a:solidFill>
                <a:latin typeface="Arial"/>
                <a:cs typeface="Arial"/>
              </a:rPr>
              <a:t> </a:t>
            </a:r>
            <a:r>
              <a:rPr sz="2050" spc="55" dirty="0">
                <a:solidFill>
                  <a:srgbClr val="0000FF"/>
                </a:solidFill>
                <a:latin typeface="SimSun"/>
                <a:cs typeface="SimSun"/>
              </a:rPr>
              <a:t>NOT</a:t>
            </a:r>
            <a:r>
              <a:rPr sz="2050" spc="65" dirty="0">
                <a:solidFill>
                  <a:srgbClr val="0000FF"/>
                </a:solidFill>
                <a:latin typeface="SimSun"/>
                <a:cs typeface="SimSun"/>
              </a:rPr>
              <a:t> </a:t>
            </a:r>
            <a:r>
              <a:rPr sz="2050" spc="185" dirty="0">
                <a:solidFill>
                  <a:srgbClr val="0000FF"/>
                </a:solidFill>
                <a:latin typeface="SimSun"/>
                <a:cs typeface="SimSun"/>
              </a:rPr>
              <a:t>a</a:t>
            </a:r>
            <a:r>
              <a:rPr sz="2050" spc="-380" dirty="0">
                <a:solidFill>
                  <a:srgbClr val="0000FF"/>
                </a:solidFill>
                <a:latin typeface="SimSun"/>
                <a:cs typeface="SimSun"/>
              </a:rPr>
              <a:t> </a:t>
            </a:r>
            <a:r>
              <a:rPr sz="2050" spc="-95" dirty="0">
                <a:solidFill>
                  <a:srgbClr val="0000FF"/>
                </a:solidFill>
                <a:latin typeface="SimSun"/>
                <a:cs typeface="SimSun"/>
              </a:rPr>
              <a:t>pre‘t1</a:t>
            </a:r>
            <a:r>
              <a:rPr sz="2050" spc="-375" dirty="0">
                <a:solidFill>
                  <a:srgbClr val="0000FF"/>
                </a:solidFill>
                <a:latin typeface="SimSun"/>
                <a:cs typeface="SimSun"/>
              </a:rPr>
              <a:t> </a:t>
            </a:r>
            <a:r>
              <a:rPr sz="2050" spc="120" dirty="0">
                <a:solidFill>
                  <a:srgbClr val="0000FF"/>
                </a:solidFill>
                <a:latin typeface="SimSun"/>
                <a:cs typeface="SimSun"/>
              </a:rPr>
              <a:t>lt</a:t>
            </a:r>
            <a:r>
              <a:rPr sz="2050" spc="-380" dirty="0">
                <a:solidFill>
                  <a:srgbClr val="0000FF"/>
                </a:solidFill>
                <a:latin typeface="SimSun"/>
                <a:cs typeface="SimSun"/>
              </a:rPr>
              <a:t> </a:t>
            </a:r>
            <a:r>
              <a:rPr sz="2050" spc="55" dirty="0">
                <a:solidFill>
                  <a:srgbClr val="0000FF"/>
                </a:solidFill>
                <a:latin typeface="SimSun"/>
                <a:cs typeface="SimSun"/>
              </a:rPr>
              <a:t>t2</a:t>
            </a:r>
            <a:r>
              <a:rPr sz="2050" spc="-200" dirty="0">
                <a:solidFill>
                  <a:srgbClr val="0000FF"/>
                </a:solidFill>
                <a:latin typeface="SimSun"/>
                <a:cs typeface="SimSun"/>
              </a:rPr>
              <a:t> </a:t>
            </a:r>
            <a:r>
              <a:rPr sz="1950" spc="140" dirty="0">
                <a:solidFill>
                  <a:srgbClr val="231F20"/>
                </a:solidFill>
                <a:latin typeface="Arial"/>
                <a:cs typeface="Arial"/>
              </a:rPr>
              <a:t>abstracts</a:t>
            </a:r>
            <a:r>
              <a:rPr sz="1950" spc="290" dirty="0">
                <a:solidFill>
                  <a:srgbClr val="231F20"/>
                </a:solidFill>
                <a:latin typeface="Arial"/>
                <a:cs typeface="Arial"/>
              </a:rPr>
              <a:t> </a:t>
            </a:r>
            <a:r>
              <a:rPr sz="2050" spc="-120" dirty="0">
                <a:solidFill>
                  <a:srgbClr val="0000FF"/>
                </a:solidFill>
                <a:latin typeface="SimSun"/>
                <a:cs typeface="SimSun"/>
              </a:rPr>
              <a:t>pre‘t1</a:t>
            </a:r>
            <a:r>
              <a:rPr sz="2050" spc="65" dirty="0">
                <a:solidFill>
                  <a:srgbClr val="0000FF"/>
                </a:solidFill>
                <a:latin typeface="SimSun"/>
                <a:cs typeface="SimSun"/>
              </a:rPr>
              <a:t> </a:t>
            </a:r>
            <a:r>
              <a:rPr sz="2050" spc="55" dirty="0">
                <a:solidFill>
                  <a:srgbClr val="0000FF"/>
                </a:solidFill>
                <a:latin typeface="SimSun"/>
                <a:cs typeface="SimSun"/>
              </a:rPr>
              <a:t>&gt;=</a:t>
            </a:r>
            <a:r>
              <a:rPr sz="2050" spc="65" dirty="0">
                <a:solidFill>
                  <a:srgbClr val="0000FF"/>
                </a:solidFill>
                <a:latin typeface="SimSun"/>
                <a:cs typeface="SimSun"/>
              </a:rPr>
              <a:t> </a:t>
            </a:r>
            <a:r>
              <a:rPr sz="2050" spc="-120" dirty="0">
                <a:solidFill>
                  <a:srgbClr val="0000FF"/>
                </a:solidFill>
                <a:latin typeface="SimSun"/>
                <a:cs typeface="SimSun"/>
              </a:rPr>
              <a:t>pre‘t2</a:t>
            </a:r>
            <a:endParaRPr sz="2050">
              <a:latin typeface="SimSun"/>
              <a:cs typeface="SimSun"/>
            </a:endParaRPr>
          </a:p>
          <a:p>
            <a:pPr marL="741680">
              <a:lnSpc>
                <a:spcPct val="100000"/>
              </a:lnSpc>
              <a:spcBef>
                <a:spcPts val="465"/>
              </a:spcBef>
            </a:pPr>
            <a:r>
              <a:rPr sz="1950" spc="155" dirty="0">
                <a:solidFill>
                  <a:srgbClr val="231F20"/>
                </a:solidFill>
                <a:latin typeface="Arial"/>
                <a:cs typeface="Arial"/>
              </a:rPr>
              <a:t>rather </a:t>
            </a:r>
            <a:r>
              <a:rPr sz="1950" spc="185" dirty="0">
                <a:solidFill>
                  <a:srgbClr val="231F20"/>
                </a:solidFill>
                <a:latin typeface="Arial"/>
                <a:cs typeface="Arial"/>
              </a:rPr>
              <a:t>than </a:t>
            </a:r>
            <a:r>
              <a:rPr sz="2050" spc="-120" dirty="0">
                <a:solidFill>
                  <a:srgbClr val="0000FF"/>
                </a:solidFill>
                <a:latin typeface="SimSun"/>
                <a:cs typeface="SimSun"/>
              </a:rPr>
              <a:t>pre‘t1 </a:t>
            </a:r>
            <a:r>
              <a:rPr sz="2050" spc="55" dirty="0">
                <a:solidFill>
                  <a:srgbClr val="0000FF"/>
                </a:solidFill>
                <a:latin typeface="SimSun"/>
                <a:cs typeface="SimSun"/>
              </a:rPr>
              <a:t>&gt;</a:t>
            </a:r>
            <a:r>
              <a:rPr sz="2050" spc="455" dirty="0">
                <a:solidFill>
                  <a:srgbClr val="0000FF"/>
                </a:solidFill>
                <a:latin typeface="SimSun"/>
                <a:cs typeface="SimSun"/>
              </a:rPr>
              <a:t> </a:t>
            </a:r>
            <a:r>
              <a:rPr sz="2050" spc="-120" dirty="0">
                <a:solidFill>
                  <a:srgbClr val="0000FF"/>
                </a:solidFill>
                <a:latin typeface="SimSun"/>
                <a:cs typeface="SimSun"/>
              </a:rPr>
              <a:t>pre‘t2</a:t>
            </a:r>
            <a:endParaRPr sz="2050">
              <a:latin typeface="SimSun"/>
              <a:cs typeface="SimSun"/>
            </a:endParaRPr>
          </a:p>
          <a:p>
            <a:pPr marL="300990" marR="502920" indent="-288290">
              <a:lnSpc>
                <a:spcPct val="125000"/>
              </a:lnSpc>
              <a:spcBef>
                <a:spcPts val="1075"/>
              </a:spcBef>
              <a:buSzPct val="105128"/>
              <a:buFont typeface="Lucida Sans Unicode"/>
              <a:buChar char="•"/>
              <a:tabLst>
                <a:tab pos="301625" algn="l"/>
              </a:tabLst>
            </a:pPr>
            <a:r>
              <a:rPr sz="1950" spc="275" dirty="0">
                <a:solidFill>
                  <a:srgbClr val="231F20"/>
                </a:solidFill>
                <a:latin typeface="Arial"/>
                <a:cs typeface="Arial"/>
              </a:rPr>
              <a:t>But </a:t>
            </a:r>
            <a:r>
              <a:rPr sz="1950" spc="145" dirty="0">
                <a:solidFill>
                  <a:srgbClr val="231F20"/>
                </a:solidFill>
                <a:latin typeface="Arial"/>
                <a:cs typeface="Arial"/>
              </a:rPr>
              <a:t>this </a:t>
            </a:r>
            <a:r>
              <a:rPr sz="1950" spc="160" dirty="0">
                <a:solidFill>
                  <a:srgbClr val="231F20"/>
                </a:solidFill>
                <a:latin typeface="Arial"/>
                <a:cs typeface="Arial"/>
              </a:rPr>
              <a:t>situation </a:t>
            </a:r>
            <a:r>
              <a:rPr sz="1950" spc="120" dirty="0">
                <a:solidFill>
                  <a:srgbClr val="231F20"/>
                </a:solidFill>
                <a:latin typeface="Arial"/>
                <a:cs typeface="Arial"/>
              </a:rPr>
              <a:t>can </a:t>
            </a:r>
            <a:r>
              <a:rPr sz="1950" spc="95" dirty="0">
                <a:solidFill>
                  <a:srgbClr val="231F20"/>
                </a:solidFill>
                <a:latin typeface="Arial"/>
                <a:cs typeface="Arial"/>
              </a:rPr>
              <a:t>never </a:t>
            </a:r>
            <a:r>
              <a:rPr sz="1950" spc="70" dirty="0">
                <a:solidFill>
                  <a:srgbClr val="231F20"/>
                </a:solidFill>
                <a:latin typeface="Arial"/>
                <a:cs typeface="Arial"/>
              </a:rPr>
              <a:t>arise, </a:t>
            </a:r>
            <a:r>
              <a:rPr sz="1950" spc="80" dirty="0">
                <a:solidFill>
                  <a:srgbClr val="231F20"/>
                </a:solidFill>
                <a:latin typeface="Arial"/>
                <a:cs typeface="Arial"/>
              </a:rPr>
              <a:t>because </a:t>
            </a:r>
            <a:r>
              <a:rPr sz="1950" spc="90" dirty="0">
                <a:solidFill>
                  <a:srgbClr val="231F20"/>
                </a:solidFill>
                <a:latin typeface="Arial"/>
                <a:cs typeface="Arial"/>
              </a:rPr>
              <a:t>each </a:t>
            </a:r>
            <a:r>
              <a:rPr sz="1950" spc="180" dirty="0">
                <a:solidFill>
                  <a:srgbClr val="231F20"/>
                </a:solidFill>
                <a:latin typeface="Arial"/>
                <a:cs typeface="Arial"/>
              </a:rPr>
              <a:t>ticket </a:t>
            </a:r>
            <a:r>
              <a:rPr sz="1950" spc="40" dirty="0">
                <a:solidFill>
                  <a:srgbClr val="231F20"/>
                </a:solidFill>
                <a:latin typeface="Arial"/>
                <a:cs typeface="Arial"/>
              </a:rPr>
              <a:t>is  </a:t>
            </a:r>
            <a:r>
              <a:rPr sz="1950" spc="80" dirty="0">
                <a:solidFill>
                  <a:srgbClr val="231F20"/>
                </a:solidFill>
                <a:latin typeface="Arial"/>
                <a:cs typeface="Arial"/>
              </a:rPr>
              <a:t>always </a:t>
            </a:r>
            <a:r>
              <a:rPr sz="1950" spc="140" dirty="0">
                <a:solidFill>
                  <a:srgbClr val="231F20"/>
                </a:solidFill>
                <a:latin typeface="Arial"/>
                <a:cs typeface="Arial"/>
              </a:rPr>
              <a:t>incremented </a:t>
            </a:r>
            <a:r>
              <a:rPr sz="1950" spc="250" dirty="0">
                <a:solidFill>
                  <a:srgbClr val="231F20"/>
                </a:solidFill>
                <a:latin typeface="Arial"/>
                <a:cs typeface="Arial"/>
              </a:rPr>
              <a:t>to </a:t>
            </a:r>
            <a:r>
              <a:rPr sz="1950" spc="114" dirty="0">
                <a:solidFill>
                  <a:srgbClr val="231F20"/>
                </a:solidFill>
                <a:latin typeface="Arial"/>
                <a:cs typeface="Arial"/>
              </a:rPr>
              <a:t>be </a:t>
            </a:r>
            <a:r>
              <a:rPr sz="1950" spc="165" dirty="0">
                <a:solidFill>
                  <a:srgbClr val="231F20"/>
                </a:solidFill>
                <a:latin typeface="Arial"/>
                <a:cs typeface="Arial"/>
              </a:rPr>
              <a:t>strictly </a:t>
            </a:r>
            <a:r>
              <a:rPr sz="1950" spc="135" dirty="0">
                <a:solidFill>
                  <a:srgbClr val="231F20"/>
                </a:solidFill>
                <a:latin typeface="Arial"/>
                <a:cs typeface="Arial"/>
              </a:rPr>
              <a:t>greater </a:t>
            </a:r>
            <a:r>
              <a:rPr sz="1950" spc="185" dirty="0">
                <a:solidFill>
                  <a:srgbClr val="231F20"/>
                </a:solidFill>
                <a:latin typeface="Arial"/>
                <a:cs typeface="Arial"/>
              </a:rPr>
              <a:t>than </a:t>
            </a:r>
            <a:r>
              <a:rPr sz="1950" spc="175" dirty="0">
                <a:solidFill>
                  <a:srgbClr val="231F20"/>
                </a:solidFill>
                <a:latin typeface="Arial"/>
                <a:cs typeface="Arial"/>
              </a:rPr>
              <a:t>the </a:t>
            </a:r>
            <a:r>
              <a:rPr sz="1950" spc="475" dirty="0">
                <a:solidFill>
                  <a:srgbClr val="231F20"/>
                </a:solidFill>
                <a:latin typeface="Arial"/>
                <a:cs typeface="Arial"/>
              </a:rPr>
              <a:t> </a:t>
            </a:r>
            <a:r>
              <a:rPr sz="1950" spc="170" dirty="0">
                <a:solidFill>
                  <a:srgbClr val="231F20"/>
                </a:solidFill>
                <a:latin typeface="Arial"/>
                <a:cs typeface="Arial"/>
              </a:rPr>
              <a:t>other</a:t>
            </a:r>
            <a:endParaRPr sz="1950">
              <a:latin typeface="Arial"/>
              <a:cs typeface="Arial"/>
            </a:endParaRPr>
          </a:p>
          <a:p>
            <a:pPr marL="300990" indent="-288290">
              <a:lnSpc>
                <a:spcPts val="2190"/>
              </a:lnSpc>
              <a:spcBef>
                <a:spcPts val="1680"/>
              </a:spcBef>
              <a:buSzPct val="105128"/>
              <a:buFont typeface="Lucida Sans Unicode"/>
              <a:buChar char="•"/>
              <a:tabLst>
                <a:tab pos="301625" algn="l"/>
              </a:tabLst>
            </a:pPr>
            <a:r>
              <a:rPr sz="1950" spc="195" dirty="0">
                <a:solidFill>
                  <a:srgbClr val="231F20"/>
                </a:solidFill>
                <a:latin typeface="Arial"/>
                <a:cs typeface="Arial"/>
              </a:rPr>
              <a:t>We </a:t>
            </a:r>
            <a:r>
              <a:rPr sz="1950" spc="120" dirty="0">
                <a:solidFill>
                  <a:srgbClr val="231F20"/>
                </a:solidFill>
                <a:latin typeface="Arial"/>
                <a:cs typeface="Arial"/>
              </a:rPr>
              <a:t>can </a:t>
            </a:r>
            <a:r>
              <a:rPr sz="1950" spc="110" dirty="0">
                <a:solidFill>
                  <a:srgbClr val="231F20"/>
                </a:solidFill>
                <a:latin typeface="Arial"/>
                <a:cs typeface="Arial"/>
              </a:rPr>
              <a:t>prove </a:t>
            </a:r>
            <a:r>
              <a:rPr sz="1950" spc="145" dirty="0">
                <a:solidFill>
                  <a:srgbClr val="231F20"/>
                </a:solidFill>
                <a:latin typeface="Arial"/>
                <a:cs typeface="Arial"/>
              </a:rPr>
              <a:t>this </a:t>
            </a:r>
            <a:r>
              <a:rPr sz="1950" spc="30" dirty="0">
                <a:solidFill>
                  <a:srgbClr val="231F20"/>
                </a:solidFill>
                <a:latin typeface="Arial"/>
                <a:cs typeface="Arial"/>
              </a:rPr>
              <a:t>as </a:t>
            </a:r>
            <a:r>
              <a:rPr sz="1950" spc="120" dirty="0">
                <a:solidFill>
                  <a:srgbClr val="231F20"/>
                </a:solidFill>
                <a:latin typeface="Arial"/>
                <a:cs typeface="Arial"/>
              </a:rPr>
              <a:t>an </a:t>
            </a:r>
            <a:r>
              <a:rPr sz="1950" spc="385" dirty="0">
                <a:solidFill>
                  <a:srgbClr val="231F20"/>
                </a:solidFill>
                <a:latin typeface="Arial"/>
                <a:cs typeface="Arial"/>
              </a:rPr>
              <a:t> </a:t>
            </a:r>
            <a:r>
              <a:rPr sz="1950" spc="140" dirty="0">
                <a:solidFill>
                  <a:srgbClr val="231F20"/>
                </a:solidFill>
                <a:latin typeface="Arial"/>
                <a:cs typeface="Arial"/>
              </a:rPr>
              <a:t>invariant</a:t>
            </a:r>
            <a:endParaRPr sz="1950">
              <a:latin typeface="Arial"/>
              <a:cs typeface="Arial"/>
            </a:endParaRPr>
          </a:p>
          <a:p>
            <a:pPr marL="300990">
              <a:lnSpc>
                <a:spcPts val="2310"/>
              </a:lnSpc>
            </a:pPr>
            <a:r>
              <a:rPr sz="2050" spc="55" dirty="0">
                <a:solidFill>
                  <a:srgbClr val="0000FF"/>
                </a:solidFill>
                <a:latin typeface="SimSun"/>
                <a:cs typeface="SimSun"/>
              </a:rPr>
              <a:t>not_eq(s): bool = </a:t>
            </a:r>
            <a:r>
              <a:rPr sz="2050" spc="-204" dirty="0">
                <a:solidFill>
                  <a:srgbClr val="0000FF"/>
                </a:solidFill>
                <a:latin typeface="SimSun"/>
                <a:cs typeface="SimSun"/>
              </a:rPr>
              <a:t>s‘t1 </a:t>
            </a:r>
            <a:r>
              <a:rPr sz="2050" spc="55" dirty="0">
                <a:solidFill>
                  <a:srgbClr val="0000FF"/>
                </a:solidFill>
                <a:latin typeface="SimSun"/>
                <a:cs typeface="SimSun"/>
              </a:rPr>
              <a:t>= </a:t>
            </a:r>
            <a:r>
              <a:rPr sz="2050" spc="-204" dirty="0">
                <a:solidFill>
                  <a:srgbClr val="0000FF"/>
                </a:solidFill>
                <a:latin typeface="SimSun"/>
                <a:cs typeface="SimSun"/>
              </a:rPr>
              <a:t>s‘t2 </a:t>
            </a:r>
            <a:r>
              <a:rPr sz="2050" spc="55" dirty="0">
                <a:solidFill>
                  <a:srgbClr val="0000FF"/>
                </a:solidFill>
                <a:latin typeface="SimSun"/>
                <a:cs typeface="SimSun"/>
              </a:rPr>
              <a:t>=&gt; </a:t>
            </a:r>
            <a:r>
              <a:rPr sz="2050" spc="-204" dirty="0">
                <a:solidFill>
                  <a:srgbClr val="0000FF"/>
                </a:solidFill>
                <a:latin typeface="SimSun"/>
                <a:cs typeface="SimSun"/>
              </a:rPr>
              <a:t>s‘t1 </a:t>
            </a:r>
            <a:r>
              <a:rPr sz="2050" spc="55" dirty="0">
                <a:solidFill>
                  <a:srgbClr val="0000FF"/>
                </a:solidFill>
                <a:latin typeface="SimSun"/>
                <a:cs typeface="SimSun"/>
              </a:rPr>
              <a:t>=</a:t>
            </a:r>
            <a:r>
              <a:rPr sz="2050" spc="865" dirty="0">
                <a:solidFill>
                  <a:srgbClr val="0000FF"/>
                </a:solidFill>
                <a:latin typeface="SimSun"/>
                <a:cs typeface="SimSun"/>
              </a:rPr>
              <a:t> </a:t>
            </a:r>
            <a:r>
              <a:rPr sz="2050" spc="55" dirty="0">
                <a:solidFill>
                  <a:srgbClr val="0000FF"/>
                </a:solidFill>
                <a:latin typeface="SimSun"/>
                <a:cs typeface="SimSun"/>
              </a:rPr>
              <a:t>0</a:t>
            </a:r>
            <a:endParaRPr sz="2050">
              <a:latin typeface="SimSun"/>
              <a:cs typeface="SimSun"/>
            </a:endParaRPr>
          </a:p>
          <a:p>
            <a:pPr marL="300990">
              <a:lnSpc>
                <a:spcPct val="100000"/>
              </a:lnSpc>
              <a:spcBef>
                <a:spcPts val="1800"/>
              </a:spcBef>
            </a:pPr>
            <a:r>
              <a:rPr sz="2050" spc="55" dirty="0">
                <a:solidFill>
                  <a:srgbClr val="0000FF"/>
                </a:solidFill>
                <a:latin typeface="SimSun"/>
                <a:cs typeface="SimSun"/>
              </a:rPr>
              <a:t>extra: LEMMA</a:t>
            </a:r>
            <a:r>
              <a:rPr sz="2050" spc="-30" dirty="0">
                <a:solidFill>
                  <a:srgbClr val="0000FF"/>
                </a:solidFill>
                <a:latin typeface="SimSun"/>
                <a:cs typeface="SimSun"/>
              </a:rPr>
              <a:t> </a:t>
            </a:r>
            <a:r>
              <a:rPr sz="2050" spc="55" dirty="0">
                <a:solidFill>
                  <a:srgbClr val="0000FF"/>
                </a:solidFill>
                <a:latin typeface="SimSun"/>
                <a:cs typeface="SimSun"/>
              </a:rPr>
              <a:t>indinv(not_eq)</a:t>
            </a:r>
            <a:endParaRPr sz="2050">
              <a:latin typeface="SimSun"/>
              <a:cs typeface="SimSun"/>
            </a:endParaRPr>
          </a:p>
          <a:p>
            <a:pPr marL="300990" indent="-288290">
              <a:lnSpc>
                <a:spcPct val="100000"/>
              </a:lnSpc>
              <a:spcBef>
                <a:spcPts val="545"/>
              </a:spcBef>
              <a:buSzPct val="105128"/>
              <a:buFont typeface="Lucida Sans Unicode"/>
              <a:buChar char="•"/>
              <a:tabLst>
                <a:tab pos="301625" algn="l"/>
              </a:tabLst>
            </a:pPr>
            <a:r>
              <a:rPr sz="1950" spc="204" dirty="0">
                <a:solidFill>
                  <a:srgbClr val="231F20"/>
                </a:solidFill>
                <a:latin typeface="Arial"/>
                <a:cs typeface="Arial"/>
              </a:rPr>
              <a:t>This </a:t>
            </a:r>
            <a:r>
              <a:rPr sz="1950" spc="40" dirty="0">
                <a:solidFill>
                  <a:srgbClr val="231F20"/>
                </a:solidFill>
                <a:latin typeface="Arial"/>
                <a:cs typeface="Arial"/>
              </a:rPr>
              <a:t>is </a:t>
            </a:r>
            <a:r>
              <a:rPr sz="1950" spc="114" dirty="0">
                <a:solidFill>
                  <a:srgbClr val="231F20"/>
                </a:solidFill>
                <a:latin typeface="Arial"/>
                <a:cs typeface="Arial"/>
              </a:rPr>
              <a:t>proved </a:t>
            </a:r>
            <a:r>
              <a:rPr sz="1950" spc="215" dirty="0">
                <a:solidFill>
                  <a:srgbClr val="231F20"/>
                </a:solidFill>
                <a:latin typeface="Arial"/>
                <a:cs typeface="Arial"/>
              </a:rPr>
              <a:t>with</a:t>
            </a:r>
            <a:r>
              <a:rPr sz="1950" spc="700" dirty="0">
                <a:solidFill>
                  <a:srgbClr val="231F20"/>
                </a:solidFill>
                <a:latin typeface="Arial"/>
                <a:cs typeface="Arial"/>
              </a:rPr>
              <a:t> </a:t>
            </a:r>
            <a:r>
              <a:rPr sz="2050" spc="55" dirty="0">
                <a:solidFill>
                  <a:srgbClr val="0000FF"/>
                </a:solidFill>
                <a:latin typeface="SimSun"/>
                <a:cs typeface="SimSun"/>
              </a:rPr>
              <a:t>(GRIND)</a:t>
            </a:r>
            <a:endParaRPr sz="2050">
              <a:latin typeface="SimSun"/>
              <a:cs typeface="SimSun"/>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7584"/>
            <a:ext cx="8261350" cy="5965190"/>
          </a:xfrm>
          <a:prstGeom prst="rect">
            <a:avLst/>
          </a:prstGeom>
        </p:spPr>
        <p:txBody>
          <a:bodyPr vert="horz" wrap="square" lIns="0" tIns="0" rIns="0" bIns="0" rtlCol="0">
            <a:spAutoFit/>
          </a:bodyPr>
          <a:lstStyle/>
          <a:p>
            <a:pPr marL="1753870">
              <a:lnSpc>
                <a:spcPct val="100000"/>
              </a:lnSpc>
            </a:pPr>
            <a:r>
              <a:rPr sz="1950" spc="459" dirty="0">
                <a:solidFill>
                  <a:srgbClr val="231F20"/>
                </a:solidFill>
                <a:latin typeface="Arial"/>
                <a:cs typeface="Arial"/>
              </a:rPr>
              <a:t>A </a:t>
            </a:r>
            <a:r>
              <a:rPr sz="1950" spc="245" dirty="0">
                <a:solidFill>
                  <a:srgbClr val="231F20"/>
                </a:solidFill>
                <a:latin typeface="Arial"/>
                <a:cs typeface="Arial"/>
              </a:rPr>
              <a:t>Justification </a:t>
            </a:r>
            <a:r>
              <a:rPr sz="1950" spc="280" dirty="0">
                <a:solidFill>
                  <a:srgbClr val="231F20"/>
                </a:solidFill>
                <a:latin typeface="Arial"/>
                <a:cs typeface="Arial"/>
              </a:rPr>
              <a:t>of </a:t>
            </a:r>
            <a:r>
              <a:rPr sz="1950" spc="285" dirty="0">
                <a:solidFill>
                  <a:srgbClr val="231F20"/>
                </a:solidFill>
                <a:latin typeface="Arial"/>
                <a:cs typeface="Arial"/>
              </a:rPr>
              <a:t>the</a:t>
            </a:r>
            <a:r>
              <a:rPr sz="1950" spc="470"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295" dirty="0">
                <a:solidFill>
                  <a:srgbClr val="231F20"/>
                </a:solidFill>
                <a:latin typeface="Arial"/>
                <a:cs typeface="Arial"/>
              </a:rPr>
              <a:t>A </a:t>
            </a:r>
            <a:r>
              <a:rPr sz="1950" spc="140" dirty="0">
                <a:solidFill>
                  <a:srgbClr val="231F20"/>
                </a:solidFill>
                <a:latin typeface="Arial"/>
                <a:cs typeface="Arial"/>
              </a:rPr>
              <a:t>stronger </a:t>
            </a:r>
            <a:r>
              <a:rPr sz="1950" spc="100" dirty="0">
                <a:solidFill>
                  <a:srgbClr val="231F20"/>
                </a:solidFill>
                <a:latin typeface="Arial"/>
                <a:cs typeface="Arial"/>
              </a:rPr>
              <a:t>version </a:t>
            </a:r>
            <a:r>
              <a:rPr sz="1950" spc="185" dirty="0">
                <a:solidFill>
                  <a:srgbClr val="231F20"/>
                </a:solidFill>
                <a:latin typeface="Arial"/>
                <a:cs typeface="Arial"/>
              </a:rPr>
              <a:t>of </a:t>
            </a:r>
            <a:r>
              <a:rPr sz="1950" spc="175" dirty="0">
                <a:solidFill>
                  <a:srgbClr val="231F20"/>
                </a:solidFill>
                <a:latin typeface="Arial"/>
                <a:cs typeface="Arial"/>
              </a:rPr>
              <a:t>the </a:t>
            </a:r>
            <a:r>
              <a:rPr sz="1950" spc="150" dirty="0">
                <a:solidFill>
                  <a:srgbClr val="231F20"/>
                </a:solidFill>
                <a:latin typeface="Arial"/>
                <a:cs typeface="Arial"/>
              </a:rPr>
              <a:t>simulation property </a:t>
            </a:r>
            <a:r>
              <a:rPr sz="1950" spc="100" dirty="0">
                <a:solidFill>
                  <a:srgbClr val="231F20"/>
                </a:solidFill>
                <a:latin typeface="Arial"/>
                <a:cs typeface="Arial"/>
              </a:rPr>
              <a:t>allows </a:t>
            </a:r>
            <a:r>
              <a:rPr sz="1950" spc="65" dirty="0">
                <a:solidFill>
                  <a:srgbClr val="231F20"/>
                </a:solidFill>
                <a:latin typeface="Arial"/>
                <a:cs typeface="Arial"/>
              </a:rPr>
              <a:t>us </a:t>
            </a:r>
            <a:r>
              <a:rPr sz="1950" spc="250" dirty="0">
                <a:solidFill>
                  <a:srgbClr val="231F20"/>
                </a:solidFill>
                <a:latin typeface="Arial"/>
                <a:cs typeface="Arial"/>
              </a:rPr>
              <a:t>to </a:t>
            </a:r>
            <a:r>
              <a:rPr sz="1950" spc="45" dirty="0">
                <a:solidFill>
                  <a:srgbClr val="231F20"/>
                </a:solidFill>
                <a:latin typeface="Arial"/>
                <a:cs typeface="Arial"/>
              </a:rPr>
              <a:t>use  </a:t>
            </a:r>
            <a:r>
              <a:rPr sz="1950" spc="85" dirty="0">
                <a:solidFill>
                  <a:srgbClr val="231F20"/>
                </a:solidFill>
                <a:latin typeface="Arial"/>
                <a:cs typeface="Arial"/>
              </a:rPr>
              <a:t>a </a:t>
            </a:r>
            <a:r>
              <a:rPr sz="1950" spc="165" dirty="0">
                <a:solidFill>
                  <a:srgbClr val="231F20"/>
                </a:solidFill>
                <a:latin typeface="Arial"/>
                <a:cs typeface="Arial"/>
              </a:rPr>
              <a:t>known </a:t>
            </a:r>
            <a:r>
              <a:rPr sz="1950" spc="140" dirty="0">
                <a:solidFill>
                  <a:srgbClr val="231F20"/>
                </a:solidFill>
                <a:latin typeface="Arial"/>
                <a:cs typeface="Arial"/>
              </a:rPr>
              <a:t>invariant </a:t>
            </a:r>
            <a:r>
              <a:rPr sz="1950" spc="250" dirty="0">
                <a:solidFill>
                  <a:srgbClr val="231F20"/>
                </a:solidFill>
                <a:latin typeface="Arial"/>
                <a:cs typeface="Arial"/>
              </a:rPr>
              <a:t>to </a:t>
            </a:r>
            <a:r>
              <a:rPr sz="1950" spc="100" dirty="0">
                <a:solidFill>
                  <a:srgbClr val="231F20"/>
                </a:solidFill>
                <a:latin typeface="Arial"/>
                <a:cs typeface="Arial"/>
              </a:rPr>
              <a:t>establish </a:t>
            </a:r>
            <a:r>
              <a:rPr sz="1950" spc="114" dirty="0">
                <a:solidFill>
                  <a:srgbClr val="231F20"/>
                </a:solidFill>
                <a:latin typeface="Arial"/>
                <a:cs typeface="Arial"/>
              </a:rPr>
              <a:t> </a:t>
            </a:r>
            <a:r>
              <a:rPr sz="1950" spc="229" dirty="0">
                <a:solidFill>
                  <a:srgbClr val="231F20"/>
                </a:solidFill>
                <a:latin typeface="Arial"/>
                <a:cs typeface="Arial"/>
              </a:rPr>
              <a:t>it</a:t>
            </a:r>
            <a:endParaRPr sz="1950">
              <a:latin typeface="Arial"/>
              <a:cs typeface="Arial"/>
            </a:endParaRPr>
          </a:p>
          <a:p>
            <a:pPr marL="300990">
              <a:lnSpc>
                <a:spcPts val="2325"/>
              </a:lnSpc>
            </a:pPr>
            <a:r>
              <a:rPr sz="2050" spc="55" dirty="0">
                <a:solidFill>
                  <a:srgbClr val="0000FF"/>
                </a:solidFill>
                <a:latin typeface="SimSun"/>
                <a:cs typeface="SimSun"/>
              </a:rPr>
              <a:t>strong_trans_simulation:</a:t>
            </a:r>
            <a:r>
              <a:rPr sz="2050" spc="-35" dirty="0">
                <a:solidFill>
                  <a:srgbClr val="0000FF"/>
                </a:solidFill>
                <a:latin typeface="SimSun"/>
                <a:cs typeface="SimSun"/>
              </a:rPr>
              <a:t> </a:t>
            </a:r>
            <a:r>
              <a:rPr sz="2050" spc="55" dirty="0">
                <a:solidFill>
                  <a:srgbClr val="0000FF"/>
                </a:solidFill>
                <a:latin typeface="SimSun"/>
                <a:cs typeface="SimSun"/>
              </a:rPr>
              <a:t>THEOREM</a:t>
            </a:r>
            <a:endParaRPr sz="2050">
              <a:latin typeface="SimSun"/>
              <a:cs typeface="SimSun"/>
            </a:endParaRPr>
          </a:p>
          <a:p>
            <a:pPr marL="714375">
              <a:lnSpc>
                <a:spcPct val="100000"/>
              </a:lnSpc>
              <a:spcBef>
                <a:spcPts val="465"/>
              </a:spcBef>
            </a:pPr>
            <a:r>
              <a:rPr sz="2050" spc="55" dirty="0">
                <a:solidFill>
                  <a:srgbClr val="0000FF"/>
                </a:solidFill>
                <a:latin typeface="SimSun"/>
                <a:cs typeface="SimSun"/>
              </a:rPr>
              <a:t>indinv(not_eq)</a:t>
            </a:r>
            <a:endParaRPr sz="2050">
              <a:latin typeface="SimSun"/>
              <a:cs typeface="SimSun"/>
            </a:endParaRPr>
          </a:p>
          <a:p>
            <a:pPr marL="852169" marR="2992120">
              <a:lnSpc>
                <a:spcPct val="118900"/>
              </a:lnSpc>
            </a:pPr>
            <a:r>
              <a:rPr sz="2050" spc="55" dirty="0">
                <a:solidFill>
                  <a:srgbClr val="0000FF"/>
                </a:solidFill>
                <a:latin typeface="SimSun"/>
                <a:cs typeface="SimSun"/>
              </a:rPr>
              <a:t>AND not_eq(pre) AND not_eq(post)  AND transitions(pre,</a:t>
            </a:r>
            <a:r>
              <a:rPr sz="2050" spc="-25" dirty="0">
                <a:solidFill>
                  <a:srgbClr val="0000FF"/>
                </a:solidFill>
                <a:latin typeface="SimSun"/>
                <a:cs typeface="SimSun"/>
              </a:rPr>
              <a:t> </a:t>
            </a:r>
            <a:r>
              <a:rPr sz="2050" spc="55" dirty="0">
                <a:solidFill>
                  <a:srgbClr val="0000FF"/>
                </a:solidFill>
                <a:latin typeface="SimSun"/>
                <a:cs typeface="SimSun"/>
              </a:rPr>
              <a:t>post)</a:t>
            </a:r>
            <a:endParaRPr sz="2050">
              <a:latin typeface="SimSun"/>
              <a:cs typeface="SimSun"/>
            </a:endParaRPr>
          </a:p>
          <a:p>
            <a:pPr marL="1127760">
              <a:lnSpc>
                <a:spcPct val="100000"/>
              </a:lnSpc>
              <a:spcBef>
                <a:spcPts val="465"/>
              </a:spcBef>
            </a:pPr>
            <a:r>
              <a:rPr sz="2050" spc="55" dirty="0">
                <a:solidFill>
                  <a:srgbClr val="0000FF"/>
                </a:solidFill>
                <a:latin typeface="SimSun"/>
                <a:cs typeface="SimSun"/>
              </a:rPr>
              <a:t>IMPLIES a_trans(abst(pre),</a:t>
            </a:r>
            <a:r>
              <a:rPr sz="2050" spc="-30" dirty="0">
                <a:solidFill>
                  <a:srgbClr val="0000FF"/>
                </a:solidFill>
                <a:latin typeface="SimSun"/>
                <a:cs typeface="SimSun"/>
              </a:rPr>
              <a:t> </a:t>
            </a:r>
            <a:r>
              <a:rPr sz="2050" spc="55" dirty="0">
                <a:solidFill>
                  <a:srgbClr val="0000FF"/>
                </a:solidFill>
                <a:latin typeface="SimSun"/>
                <a:cs typeface="SimSun"/>
              </a:rPr>
              <a:t>abst(post))</a:t>
            </a:r>
            <a:endParaRPr sz="2050">
              <a:latin typeface="SimSun"/>
              <a:cs typeface="SimSun"/>
            </a:endParaRPr>
          </a:p>
          <a:p>
            <a:pPr marL="300990" indent="-288290">
              <a:lnSpc>
                <a:spcPts val="2275"/>
              </a:lnSpc>
              <a:spcBef>
                <a:spcPts val="980"/>
              </a:spcBef>
              <a:buSzPct val="105128"/>
              <a:buFont typeface="Lucida Sans Unicode"/>
              <a:buChar char="•"/>
              <a:tabLst>
                <a:tab pos="301625" algn="l"/>
              </a:tabLst>
            </a:pPr>
            <a:r>
              <a:rPr sz="1950" spc="204" dirty="0">
                <a:solidFill>
                  <a:srgbClr val="231F20"/>
                </a:solidFill>
                <a:latin typeface="Arial"/>
                <a:cs typeface="Arial"/>
              </a:rPr>
              <a:t>This </a:t>
            </a:r>
            <a:r>
              <a:rPr sz="1950" spc="40" dirty="0">
                <a:solidFill>
                  <a:srgbClr val="231F20"/>
                </a:solidFill>
                <a:latin typeface="Arial"/>
                <a:cs typeface="Arial"/>
              </a:rPr>
              <a:t>is </a:t>
            </a:r>
            <a:r>
              <a:rPr sz="1950" spc="114" dirty="0">
                <a:solidFill>
                  <a:srgbClr val="231F20"/>
                </a:solidFill>
                <a:latin typeface="Arial"/>
                <a:cs typeface="Arial"/>
              </a:rPr>
              <a:t>proved</a:t>
            </a:r>
            <a:r>
              <a:rPr sz="1950" spc="530" dirty="0">
                <a:solidFill>
                  <a:srgbClr val="231F20"/>
                </a:solidFill>
                <a:latin typeface="Arial"/>
                <a:cs typeface="Arial"/>
              </a:rPr>
              <a:t> </a:t>
            </a:r>
            <a:r>
              <a:rPr sz="1950" spc="105" dirty="0">
                <a:solidFill>
                  <a:srgbClr val="231F20"/>
                </a:solidFill>
                <a:latin typeface="Arial"/>
                <a:cs typeface="Arial"/>
              </a:rPr>
              <a:t>by</a:t>
            </a:r>
            <a:endParaRPr sz="1950">
              <a:latin typeface="Arial"/>
              <a:cs typeface="Arial"/>
            </a:endParaRPr>
          </a:p>
          <a:p>
            <a:pPr marL="438784">
              <a:lnSpc>
                <a:spcPts val="2395"/>
              </a:lnSpc>
            </a:pPr>
            <a:r>
              <a:rPr sz="2050" spc="55" dirty="0">
                <a:solidFill>
                  <a:srgbClr val="0000FF"/>
                </a:solidFill>
                <a:latin typeface="SimSun"/>
                <a:cs typeface="SimSun"/>
              </a:rPr>
              <a:t>(SKOSIMP)</a:t>
            </a:r>
            <a:endParaRPr sz="2050">
              <a:latin typeface="SimSun"/>
              <a:cs typeface="SimSun"/>
            </a:endParaRPr>
          </a:p>
          <a:p>
            <a:pPr marL="438784" marR="4783455">
              <a:lnSpc>
                <a:spcPct val="118900"/>
              </a:lnSpc>
            </a:pPr>
            <a:r>
              <a:rPr sz="2050" spc="55" dirty="0">
                <a:solidFill>
                  <a:srgbClr val="0000FF"/>
                </a:solidFill>
                <a:latin typeface="SimSun"/>
                <a:cs typeface="SimSun"/>
              </a:rPr>
              <a:t>(EXPAND "transitions")  (GROUND)</a:t>
            </a:r>
            <a:endParaRPr sz="2050">
              <a:latin typeface="SimSun"/>
              <a:cs typeface="SimSun"/>
            </a:endParaRPr>
          </a:p>
          <a:p>
            <a:pPr marL="438784">
              <a:lnSpc>
                <a:spcPct val="100000"/>
              </a:lnSpc>
              <a:spcBef>
                <a:spcPts val="465"/>
              </a:spcBef>
            </a:pPr>
            <a:r>
              <a:rPr sz="2050" spc="55" dirty="0">
                <a:solidFill>
                  <a:srgbClr val="0000FF"/>
                </a:solidFill>
                <a:latin typeface="SimSun"/>
                <a:cs typeface="SimSun"/>
              </a:rPr>
              <a:t>(("1" (EXPAND</a:t>
            </a:r>
            <a:r>
              <a:rPr sz="2050" spc="-30" dirty="0">
                <a:solidFill>
                  <a:srgbClr val="0000FF"/>
                </a:solidFill>
                <a:latin typeface="SimSun"/>
                <a:cs typeface="SimSun"/>
              </a:rPr>
              <a:t> </a:t>
            </a:r>
            <a:r>
              <a:rPr sz="2050" spc="55" dirty="0">
                <a:solidFill>
                  <a:srgbClr val="0000FF"/>
                </a:solidFill>
                <a:latin typeface="SimSun"/>
                <a:cs typeface="SimSun"/>
              </a:rPr>
              <a:t>"P1_transition")</a:t>
            </a:r>
            <a:endParaRPr sz="2050">
              <a:latin typeface="SimSun"/>
              <a:cs typeface="SimSun"/>
            </a:endParaRPr>
          </a:p>
          <a:p>
            <a:pPr marL="1265555">
              <a:lnSpc>
                <a:spcPct val="100000"/>
              </a:lnSpc>
              <a:spcBef>
                <a:spcPts val="465"/>
              </a:spcBef>
            </a:pPr>
            <a:r>
              <a:rPr sz="2050" spc="55" dirty="0">
                <a:solidFill>
                  <a:srgbClr val="0000FF"/>
                </a:solidFill>
                <a:latin typeface="SimSun"/>
                <a:cs typeface="SimSun"/>
              </a:rPr>
              <a:t>(APPLY (THEN (GROUND)</a:t>
            </a:r>
            <a:r>
              <a:rPr sz="2050" spc="-20" dirty="0">
                <a:solidFill>
                  <a:srgbClr val="0000FF"/>
                </a:solidFill>
                <a:latin typeface="SimSun"/>
                <a:cs typeface="SimSun"/>
              </a:rPr>
              <a:t> </a:t>
            </a:r>
            <a:r>
              <a:rPr sz="2050" spc="55" dirty="0">
                <a:solidFill>
                  <a:srgbClr val="0000FF"/>
                </a:solidFill>
                <a:latin typeface="SimSun"/>
                <a:cs typeface="SimSun"/>
              </a:rPr>
              <a:t>(GRIND))))</a:t>
            </a:r>
            <a:endParaRPr sz="2050">
              <a:latin typeface="SimSun"/>
              <a:cs typeface="SimSun"/>
            </a:endParaRPr>
          </a:p>
          <a:p>
            <a:pPr marL="576580">
              <a:lnSpc>
                <a:spcPct val="100000"/>
              </a:lnSpc>
              <a:spcBef>
                <a:spcPts val="465"/>
              </a:spcBef>
            </a:pPr>
            <a:r>
              <a:rPr sz="2050" spc="55" dirty="0">
                <a:solidFill>
                  <a:srgbClr val="0000FF"/>
                </a:solidFill>
                <a:latin typeface="SimSun"/>
                <a:cs typeface="SimSun"/>
              </a:rPr>
              <a:t>("2" (EXPAND</a:t>
            </a:r>
            <a:r>
              <a:rPr sz="2050" spc="-30" dirty="0">
                <a:solidFill>
                  <a:srgbClr val="0000FF"/>
                </a:solidFill>
                <a:latin typeface="SimSun"/>
                <a:cs typeface="SimSun"/>
              </a:rPr>
              <a:t> </a:t>
            </a:r>
            <a:r>
              <a:rPr sz="2050" spc="55" dirty="0">
                <a:solidFill>
                  <a:srgbClr val="0000FF"/>
                </a:solidFill>
                <a:latin typeface="SimSun"/>
                <a:cs typeface="SimSun"/>
              </a:rPr>
              <a:t>"P2_transition")</a:t>
            </a:r>
            <a:endParaRPr sz="2050">
              <a:latin typeface="SimSun"/>
              <a:cs typeface="SimSun"/>
            </a:endParaRPr>
          </a:p>
          <a:p>
            <a:pPr marL="1265555">
              <a:lnSpc>
                <a:spcPct val="100000"/>
              </a:lnSpc>
              <a:spcBef>
                <a:spcPts val="465"/>
              </a:spcBef>
            </a:pPr>
            <a:r>
              <a:rPr sz="2050" spc="55" dirty="0">
                <a:solidFill>
                  <a:srgbClr val="0000FF"/>
                </a:solidFill>
                <a:latin typeface="SimSun"/>
                <a:cs typeface="SimSun"/>
              </a:rPr>
              <a:t>(APPLY (THEN (GROUND)</a:t>
            </a:r>
            <a:r>
              <a:rPr sz="2050" spc="-20" dirty="0">
                <a:solidFill>
                  <a:srgbClr val="0000FF"/>
                </a:solidFill>
                <a:latin typeface="SimSun"/>
                <a:cs typeface="SimSun"/>
              </a:rPr>
              <a:t> </a:t>
            </a:r>
            <a:r>
              <a:rPr sz="2050" spc="55" dirty="0">
                <a:solidFill>
                  <a:srgbClr val="0000FF"/>
                </a:solidFill>
                <a:latin typeface="SimSun"/>
                <a:cs typeface="SimSun"/>
              </a:rPr>
              <a:t>(GRIND)))))</a:t>
            </a:r>
            <a:endParaRPr sz="2050">
              <a:latin typeface="SimSun"/>
              <a:cs typeface="SimSun"/>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1775688"/>
            <a:ext cx="8260080" cy="3237865"/>
          </a:xfrm>
          <a:prstGeom prst="rect">
            <a:avLst/>
          </a:prstGeom>
        </p:spPr>
        <p:txBody>
          <a:bodyPr vert="horz" wrap="square" lIns="0" tIns="0" rIns="0" bIns="0" rtlCol="0">
            <a:spAutoFit/>
          </a:bodyPr>
          <a:lstStyle/>
          <a:p>
            <a:pPr marL="357505">
              <a:lnSpc>
                <a:spcPct val="100000"/>
              </a:lnSpc>
            </a:pPr>
            <a:r>
              <a:rPr sz="1950" spc="250" dirty="0">
                <a:solidFill>
                  <a:srgbClr val="231F20"/>
                </a:solidFill>
                <a:latin typeface="Arial"/>
                <a:cs typeface="Arial"/>
              </a:rPr>
              <a:t>Pros </a:t>
            </a:r>
            <a:r>
              <a:rPr sz="1950" spc="240" dirty="0">
                <a:solidFill>
                  <a:srgbClr val="231F20"/>
                </a:solidFill>
                <a:latin typeface="Arial"/>
                <a:cs typeface="Arial"/>
              </a:rPr>
              <a:t>and </a:t>
            </a:r>
            <a:r>
              <a:rPr sz="1950" spc="235" dirty="0">
                <a:solidFill>
                  <a:srgbClr val="231F20"/>
                </a:solidFill>
                <a:latin typeface="Arial"/>
                <a:cs typeface="Arial"/>
              </a:rPr>
              <a:t>Cons </a:t>
            </a:r>
            <a:r>
              <a:rPr sz="1950" spc="280" dirty="0">
                <a:solidFill>
                  <a:srgbClr val="231F20"/>
                </a:solidFill>
                <a:latin typeface="Arial"/>
                <a:cs typeface="Arial"/>
              </a:rPr>
              <a:t>of </a:t>
            </a:r>
            <a:r>
              <a:rPr sz="1950" spc="265" dirty="0">
                <a:solidFill>
                  <a:srgbClr val="231F20"/>
                </a:solidFill>
                <a:latin typeface="Arial"/>
                <a:cs typeface="Arial"/>
              </a:rPr>
              <a:t>Manually-Constructed</a:t>
            </a:r>
            <a:r>
              <a:rPr sz="1950" spc="755" dirty="0">
                <a:solidFill>
                  <a:srgbClr val="231F20"/>
                </a:solidFill>
                <a:latin typeface="Arial"/>
                <a:cs typeface="Arial"/>
              </a:rPr>
              <a:t> </a:t>
            </a:r>
            <a:r>
              <a:rPr sz="1950" spc="260" dirty="0">
                <a:solidFill>
                  <a:srgbClr val="231F20"/>
                </a:solidFill>
                <a:latin typeface="Arial"/>
                <a:cs typeface="Arial"/>
              </a:rPr>
              <a:t>Abstractions</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150" dirty="0">
                <a:solidFill>
                  <a:srgbClr val="231F20"/>
                </a:solidFill>
                <a:latin typeface="Arial"/>
                <a:cs typeface="Arial"/>
              </a:rPr>
              <a:t>Justifying </a:t>
            </a:r>
            <a:r>
              <a:rPr sz="1950" spc="175" dirty="0">
                <a:solidFill>
                  <a:srgbClr val="231F20"/>
                </a:solidFill>
                <a:latin typeface="Arial"/>
                <a:cs typeface="Arial"/>
              </a:rPr>
              <a:t>the </a:t>
            </a:r>
            <a:r>
              <a:rPr sz="1950" spc="155" dirty="0">
                <a:solidFill>
                  <a:srgbClr val="231F20"/>
                </a:solidFill>
                <a:latin typeface="Arial"/>
                <a:cs typeface="Arial"/>
              </a:rPr>
              <a:t>abstraction </a:t>
            </a:r>
            <a:r>
              <a:rPr sz="1950" spc="40" dirty="0">
                <a:solidFill>
                  <a:srgbClr val="231F20"/>
                </a:solidFill>
                <a:latin typeface="Arial"/>
                <a:cs typeface="Arial"/>
              </a:rPr>
              <a:t>is </a:t>
            </a:r>
            <a:r>
              <a:rPr sz="1950" spc="100" dirty="0">
                <a:solidFill>
                  <a:srgbClr val="231F20"/>
                </a:solidFill>
                <a:latin typeface="Arial"/>
                <a:cs typeface="Arial"/>
              </a:rPr>
              <a:t>usually </a:t>
            </a:r>
            <a:r>
              <a:rPr sz="1950" spc="160" dirty="0">
                <a:solidFill>
                  <a:srgbClr val="231F20"/>
                </a:solidFill>
                <a:latin typeface="Arial"/>
                <a:cs typeface="Arial"/>
              </a:rPr>
              <a:t>almost </a:t>
            </a:r>
            <a:r>
              <a:rPr sz="1950" spc="30" dirty="0">
                <a:solidFill>
                  <a:srgbClr val="231F20"/>
                </a:solidFill>
                <a:latin typeface="Arial"/>
                <a:cs typeface="Arial"/>
              </a:rPr>
              <a:t>as </a:t>
            </a:r>
            <a:r>
              <a:rPr sz="1950" spc="120" dirty="0">
                <a:solidFill>
                  <a:srgbClr val="231F20"/>
                </a:solidFill>
                <a:latin typeface="Arial"/>
                <a:cs typeface="Arial"/>
              </a:rPr>
              <a:t>hard </a:t>
            </a:r>
            <a:r>
              <a:rPr sz="1950" spc="30" dirty="0">
                <a:solidFill>
                  <a:srgbClr val="231F20"/>
                </a:solidFill>
                <a:latin typeface="Arial"/>
                <a:cs typeface="Arial"/>
              </a:rPr>
              <a:t>as </a:t>
            </a:r>
            <a:r>
              <a:rPr sz="1950" spc="135" dirty="0">
                <a:solidFill>
                  <a:srgbClr val="231F20"/>
                </a:solidFill>
                <a:latin typeface="Arial"/>
                <a:cs typeface="Arial"/>
              </a:rPr>
              <a:t>proving </a:t>
            </a:r>
            <a:r>
              <a:rPr sz="1950" spc="810" dirty="0">
                <a:solidFill>
                  <a:srgbClr val="231F20"/>
                </a:solidFill>
                <a:latin typeface="Arial"/>
                <a:cs typeface="Arial"/>
              </a:rPr>
              <a:t> </a:t>
            </a:r>
            <a:r>
              <a:rPr sz="1950" spc="175" dirty="0">
                <a:solidFill>
                  <a:srgbClr val="231F20"/>
                </a:solidFill>
                <a:latin typeface="Arial"/>
                <a:cs typeface="Arial"/>
              </a:rPr>
              <a:t>the </a:t>
            </a:r>
            <a:r>
              <a:rPr sz="1950" spc="150" dirty="0">
                <a:solidFill>
                  <a:srgbClr val="231F20"/>
                </a:solidFill>
                <a:latin typeface="Arial"/>
                <a:cs typeface="Arial"/>
              </a:rPr>
              <a:t>property</a:t>
            </a:r>
            <a:r>
              <a:rPr sz="1950" spc="330" dirty="0">
                <a:solidFill>
                  <a:srgbClr val="231F20"/>
                </a:solidFill>
                <a:latin typeface="Arial"/>
                <a:cs typeface="Arial"/>
              </a:rPr>
              <a:t> </a:t>
            </a:r>
            <a:r>
              <a:rPr sz="1950" spc="145" dirty="0">
                <a:solidFill>
                  <a:srgbClr val="231F20"/>
                </a:solidFill>
                <a:latin typeface="Arial"/>
                <a:cs typeface="Arial"/>
              </a:rPr>
              <a:t>directly</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00" dirty="0">
                <a:solidFill>
                  <a:srgbClr val="231F20"/>
                </a:solidFill>
                <a:latin typeface="Arial"/>
                <a:cs typeface="Arial"/>
              </a:rPr>
              <a:t>And </a:t>
            </a:r>
            <a:r>
              <a:rPr sz="1950" spc="105" dirty="0">
                <a:solidFill>
                  <a:srgbClr val="231F20"/>
                </a:solidFill>
                <a:latin typeface="Arial"/>
                <a:cs typeface="Arial"/>
              </a:rPr>
              <a:t>generally </a:t>
            </a:r>
            <a:r>
              <a:rPr sz="1950" spc="95" dirty="0">
                <a:solidFill>
                  <a:srgbClr val="231F20"/>
                </a:solidFill>
                <a:latin typeface="Arial"/>
                <a:cs typeface="Arial"/>
              </a:rPr>
              <a:t>requires </a:t>
            </a:r>
            <a:r>
              <a:rPr sz="1950" spc="110" dirty="0">
                <a:solidFill>
                  <a:srgbClr val="231F20"/>
                </a:solidFill>
                <a:latin typeface="Arial"/>
                <a:cs typeface="Arial"/>
              </a:rPr>
              <a:t>auxiliary</a:t>
            </a:r>
            <a:r>
              <a:rPr sz="1950" spc="690" dirty="0">
                <a:solidFill>
                  <a:srgbClr val="231F20"/>
                </a:solidFill>
                <a:latin typeface="Arial"/>
                <a:cs typeface="Arial"/>
              </a:rPr>
              <a:t> </a:t>
            </a:r>
            <a:r>
              <a:rPr sz="1950" spc="125" dirty="0">
                <a:solidFill>
                  <a:srgbClr val="231F20"/>
                </a:solidFill>
                <a:latin typeface="Arial"/>
                <a:cs typeface="Arial"/>
              </a:rPr>
              <a:t>invariants</a:t>
            </a:r>
            <a:endParaRPr sz="1950">
              <a:latin typeface="Arial"/>
              <a:cs typeface="Arial"/>
            </a:endParaRPr>
          </a:p>
          <a:p>
            <a:pPr marL="300990" marR="252729" indent="-288290">
              <a:lnSpc>
                <a:spcPct val="125000"/>
              </a:lnSpc>
              <a:spcBef>
                <a:spcPts val="1345"/>
              </a:spcBef>
              <a:buSzPct val="105128"/>
              <a:buFont typeface="Lucida Sans Unicode"/>
              <a:buChar char="•"/>
              <a:tabLst>
                <a:tab pos="301625" algn="l"/>
              </a:tabLst>
            </a:pPr>
            <a:r>
              <a:rPr sz="1950" spc="155" dirty="0">
                <a:solidFill>
                  <a:srgbClr val="231F20"/>
                </a:solidFill>
                <a:latin typeface="Arial"/>
                <a:cs typeface="Arial"/>
              </a:rPr>
              <a:t>Bounded </a:t>
            </a:r>
            <a:r>
              <a:rPr sz="1950" spc="120" dirty="0">
                <a:solidFill>
                  <a:srgbClr val="231F20"/>
                </a:solidFill>
                <a:latin typeface="Arial"/>
                <a:cs typeface="Arial"/>
              </a:rPr>
              <a:t>retransmission </a:t>
            </a:r>
            <a:r>
              <a:rPr sz="1950" spc="170" dirty="0">
                <a:solidFill>
                  <a:srgbClr val="231F20"/>
                </a:solidFill>
                <a:latin typeface="Arial"/>
                <a:cs typeface="Arial"/>
              </a:rPr>
              <a:t>protocol </a:t>
            </a:r>
            <a:r>
              <a:rPr sz="1950" spc="114" dirty="0">
                <a:solidFill>
                  <a:srgbClr val="231F20"/>
                </a:solidFill>
                <a:latin typeface="Arial"/>
                <a:cs typeface="Arial"/>
              </a:rPr>
              <a:t>required </a:t>
            </a:r>
            <a:r>
              <a:rPr sz="1950" spc="155" dirty="0">
                <a:solidFill>
                  <a:srgbClr val="FF0000"/>
                </a:solidFill>
                <a:latin typeface="Arial"/>
                <a:cs typeface="Arial"/>
              </a:rPr>
              <a:t>45 </a:t>
            </a:r>
            <a:r>
              <a:rPr sz="1950" spc="185" dirty="0">
                <a:solidFill>
                  <a:srgbClr val="231F20"/>
                </a:solidFill>
                <a:latin typeface="Arial"/>
                <a:cs typeface="Arial"/>
              </a:rPr>
              <a:t>of </a:t>
            </a:r>
            <a:r>
              <a:rPr sz="1950" spc="175" dirty="0">
                <a:solidFill>
                  <a:srgbClr val="231F20"/>
                </a:solidFill>
                <a:latin typeface="Arial"/>
                <a:cs typeface="Arial"/>
              </a:rPr>
              <a:t>the </a:t>
            </a:r>
            <a:r>
              <a:rPr sz="1950" spc="120" dirty="0">
                <a:solidFill>
                  <a:srgbClr val="231F20"/>
                </a:solidFill>
                <a:latin typeface="Arial"/>
                <a:cs typeface="Arial"/>
              </a:rPr>
              <a:t>original  </a:t>
            </a:r>
            <a:r>
              <a:rPr sz="1950" spc="155" dirty="0">
                <a:solidFill>
                  <a:srgbClr val="0000FF"/>
                </a:solidFill>
                <a:latin typeface="Arial"/>
                <a:cs typeface="Arial"/>
              </a:rPr>
              <a:t>57 </a:t>
            </a:r>
            <a:r>
              <a:rPr sz="1950" spc="125" dirty="0">
                <a:solidFill>
                  <a:srgbClr val="231F20"/>
                </a:solidFill>
                <a:latin typeface="Arial"/>
                <a:cs typeface="Arial"/>
              </a:rPr>
              <a:t>invariants </a:t>
            </a:r>
            <a:r>
              <a:rPr sz="1950" spc="250" dirty="0">
                <a:solidFill>
                  <a:srgbClr val="231F20"/>
                </a:solidFill>
                <a:latin typeface="Arial"/>
                <a:cs typeface="Arial"/>
              </a:rPr>
              <a:t>to </a:t>
            </a:r>
            <a:r>
              <a:rPr sz="1950" spc="160" dirty="0">
                <a:solidFill>
                  <a:srgbClr val="231F20"/>
                </a:solidFill>
                <a:latin typeface="Arial"/>
                <a:cs typeface="Arial"/>
              </a:rPr>
              <a:t>justify </a:t>
            </a:r>
            <a:r>
              <a:rPr sz="1950" spc="120" dirty="0">
                <a:solidFill>
                  <a:srgbClr val="231F20"/>
                </a:solidFill>
                <a:latin typeface="Arial"/>
                <a:cs typeface="Arial"/>
              </a:rPr>
              <a:t>an</a:t>
            </a:r>
            <a:r>
              <a:rPr sz="1950" spc="670" dirty="0">
                <a:solidFill>
                  <a:srgbClr val="231F20"/>
                </a:solidFill>
                <a:latin typeface="Arial"/>
                <a:cs typeface="Arial"/>
              </a:rPr>
              <a:t> </a:t>
            </a:r>
            <a:r>
              <a:rPr sz="1950" spc="155" dirty="0">
                <a:solidFill>
                  <a:srgbClr val="231F20"/>
                </a:solidFill>
                <a:latin typeface="Arial"/>
                <a:cs typeface="Arial"/>
              </a:rPr>
              <a:t>abstraction</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275" dirty="0">
                <a:solidFill>
                  <a:srgbClr val="FF0000"/>
                </a:solidFill>
                <a:latin typeface="Arial"/>
                <a:cs typeface="Arial"/>
              </a:rPr>
              <a:t>But </a:t>
            </a:r>
            <a:r>
              <a:rPr sz="1950" spc="130" dirty="0">
                <a:solidFill>
                  <a:srgbClr val="FF0000"/>
                </a:solidFill>
                <a:latin typeface="Arial"/>
                <a:cs typeface="Arial"/>
              </a:rPr>
              <a:t>there’s </a:t>
            </a:r>
            <a:r>
              <a:rPr sz="1950" spc="175" dirty="0">
                <a:solidFill>
                  <a:srgbClr val="FF0000"/>
                </a:solidFill>
                <a:latin typeface="Arial"/>
                <a:cs typeface="Arial"/>
              </a:rPr>
              <a:t>the </a:t>
            </a:r>
            <a:r>
              <a:rPr sz="1950" spc="160" dirty="0">
                <a:solidFill>
                  <a:srgbClr val="FF0000"/>
                </a:solidFill>
                <a:latin typeface="Arial"/>
                <a:cs typeface="Arial"/>
              </a:rPr>
              <a:t>germ </a:t>
            </a:r>
            <a:r>
              <a:rPr sz="1950" spc="185" dirty="0">
                <a:solidFill>
                  <a:srgbClr val="FF0000"/>
                </a:solidFill>
                <a:latin typeface="Arial"/>
                <a:cs typeface="Arial"/>
              </a:rPr>
              <a:t>of </a:t>
            </a:r>
            <a:r>
              <a:rPr sz="1950" spc="120" dirty="0">
                <a:solidFill>
                  <a:srgbClr val="FF0000"/>
                </a:solidFill>
                <a:latin typeface="Arial"/>
                <a:cs typeface="Arial"/>
              </a:rPr>
              <a:t>an </a:t>
            </a:r>
            <a:r>
              <a:rPr sz="1950" spc="90" dirty="0">
                <a:solidFill>
                  <a:srgbClr val="FF0000"/>
                </a:solidFill>
                <a:latin typeface="Arial"/>
                <a:cs typeface="Arial"/>
              </a:rPr>
              <a:t>idea </a:t>
            </a:r>
            <a:r>
              <a:rPr sz="1950" spc="240" dirty="0">
                <a:solidFill>
                  <a:srgbClr val="FF0000"/>
                </a:solidFill>
                <a:latin typeface="Arial"/>
                <a:cs typeface="Arial"/>
              </a:rPr>
              <a:t> </a:t>
            </a:r>
            <a:r>
              <a:rPr sz="1950" spc="90" dirty="0">
                <a:solidFill>
                  <a:srgbClr val="FF0000"/>
                </a:solidFill>
                <a:latin typeface="Arial"/>
                <a:cs typeface="Arial"/>
              </a:rPr>
              <a:t>here</a:t>
            </a:r>
            <a:endParaRPr sz="1950">
              <a:latin typeface="Arial"/>
              <a:cs typeface="Arial"/>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1800498" y="1783073"/>
            <a:ext cx="6269151" cy="4424794"/>
          </a:xfrm>
          <a:prstGeom prst="rect">
            <a:avLst/>
          </a:prstGeom>
          <a:blipFill>
            <a:blip r:embed="rId2" cstate="print"/>
            <a:stretch>
              <a:fillRect/>
            </a:stretch>
          </a:blipFill>
        </p:spPr>
        <p:txBody>
          <a:bodyPr wrap="square" lIns="0" tIns="0" rIns="0" bIns="0" rtlCol="0"/>
          <a:lstStyle/>
          <a:p>
            <a:endParaRPr/>
          </a:p>
        </p:txBody>
      </p:sp>
      <p:sp>
        <p:nvSpPr>
          <p:cNvPr id="3" name="object 3"/>
          <p:cNvSpPr txBox="1"/>
          <p:nvPr/>
        </p:nvSpPr>
        <p:spPr>
          <a:xfrm>
            <a:off x="1801469" y="475981"/>
            <a:ext cx="6457950" cy="1932939"/>
          </a:xfrm>
          <a:prstGeom prst="rect">
            <a:avLst/>
          </a:prstGeom>
        </p:spPr>
        <p:txBody>
          <a:bodyPr vert="horz" wrap="square" lIns="0" tIns="0" rIns="0" bIns="0" rtlCol="0">
            <a:spAutoFit/>
          </a:bodyPr>
          <a:lstStyle/>
          <a:p>
            <a:pPr algn="ctr">
              <a:lnSpc>
                <a:spcPct val="100000"/>
              </a:lnSpc>
            </a:pPr>
            <a:r>
              <a:rPr sz="1950" spc="275" dirty="0">
                <a:solidFill>
                  <a:srgbClr val="FF0000"/>
                </a:solidFill>
                <a:latin typeface="Arial"/>
                <a:cs typeface="Arial"/>
              </a:rPr>
              <a:t>Abstraction </a:t>
            </a:r>
            <a:r>
              <a:rPr sz="1950" spc="120" dirty="0">
                <a:solidFill>
                  <a:srgbClr val="FF0000"/>
                </a:solidFill>
                <a:latin typeface="Arial"/>
                <a:cs typeface="Arial"/>
              </a:rPr>
              <a:t>Is </a:t>
            </a:r>
            <a:r>
              <a:rPr sz="1950" spc="390" dirty="0">
                <a:solidFill>
                  <a:srgbClr val="FF0000"/>
                </a:solidFill>
                <a:latin typeface="Arial"/>
                <a:cs typeface="Arial"/>
              </a:rPr>
              <a:t>The</a:t>
            </a:r>
            <a:r>
              <a:rPr sz="1950" spc="645" dirty="0">
                <a:solidFill>
                  <a:srgbClr val="FF0000"/>
                </a:solidFill>
                <a:latin typeface="Arial"/>
                <a:cs typeface="Arial"/>
              </a:rPr>
              <a:t> </a:t>
            </a:r>
            <a:r>
              <a:rPr sz="1950" spc="265" dirty="0">
                <a:solidFill>
                  <a:srgbClr val="FF0000"/>
                </a:solidFill>
                <a:latin typeface="Arial"/>
                <a:cs typeface="Arial"/>
              </a:rPr>
              <a:t>Bridge</a:t>
            </a:r>
            <a:endParaRPr sz="1950">
              <a:latin typeface="Arial"/>
              <a:cs typeface="Arial"/>
            </a:endParaRPr>
          </a:p>
          <a:p>
            <a:pPr marL="12700" marR="5080" algn="ctr">
              <a:lnSpc>
                <a:spcPct val="125000"/>
              </a:lnSpc>
            </a:pPr>
            <a:r>
              <a:rPr sz="1950" spc="270" dirty="0">
                <a:solidFill>
                  <a:srgbClr val="231F20"/>
                </a:solidFill>
                <a:latin typeface="Arial"/>
                <a:cs typeface="Arial"/>
              </a:rPr>
              <a:t>Between Deductive </a:t>
            </a:r>
            <a:r>
              <a:rPr sz="1950" spc="240" dirty="0">
                <a:solidFill>
                  <a:srgbClr val="231F20"/>
                </a:solidFill>
                <a:latin typeface="Arial"/>
                <a:cs typeface="Arial"/>
              </a:rPr>
              <a:t>and </a:t>
            </a:r>
            <a:r>
              <a:rPr sz="1950" spc="275" dirty="0">
                <a:solidFill>
                  <a:srgbClr val="231F20"/>
                </a:solidFill>
                <a:latin typeface="Arial"/>
                <a:cs typeface="Arial"/>
              </a:rPr>
              <a:t>Algorithmic </a:t>
            </a:r>
            <a:r>
              <a:rPr sz="1950" spc="305" dirty="0">
                <a:solidFill>
                  <a:srgbClr val="231F20"/>
                </a:solidFill>
                <a:latin typeface="Arial"/>
                <a:cs typeface="Arial"/>
              </a:rPr>
              <a:t>Methods  </a:t>
            </a:r>
            <a:r>
              <a:rPr sz="1950" spc="330" dirty="0">
                <a:solidFill>
                  <a:srgbClr val="231F20"/>
                </a:solidFill>
                <a:latin typeface="Arial"/>
                <a:cs typeface="Arial"/>
              </a:rPr>
              <a:t>And </a:t>
            </a:r>
            <a:r>
              <a:rPr sz="1950" spc="270" dirty="0">
                <a:solidFill>
                  <a:srgbClr val="231F20"/>
                </a:solidFill>
                <a:latin typeface="Arial"/>
                <a:cs typeface="Arial"/>
              </a:rPr>
              <a:t>Between </a:t>
            </a:r>
            <a:r>
              <a:rPr sz="1950" spc="280" dirty="0">
                <a:solidFill>
                  <a:srgbClr val="231F20"/>
                </a:solidFill>
                <a:latin typeface="Arial"/>
                <a:cs typeface="Arial"/>
              </a:rPr>
              <a:t>Refutation </a:t>
            </a:r>
            <a:r>
              <a:rPr sz="1950" spc="240" dirty="0">
                <a:solidFill>
                  <a:srgbClr val="231F20"/>
                </a:solidFill>
                <a:latin typeface="Arial"/>
                <a:cs typeface="Arial"/>
              </a:rPr>
              <a:t>and</a:t>
            </a:r>
            <a:r>
              <a:rPr sz="1950" spc="575" dirty="0">
                <a:solidFill>
                  <a:srgbClr val="231F20"/>
                </a:solidFill>
                <a:latin typeface="Arial"/>
                <a:cs typeface="Arial"/>
              </a:rPr>
              <a:t> </a:t>
            </a:r>
            <a:r>
              <a:rPr sz="1950" spc="245" dirty="0">
                <a:solidFill>
                  <a:srgbClr val="231F20"/>
                </a:solidFill>
                <a:latin typeface="Arial"/>
                <a:cs typeface="Arial"/>
              </a:rPr>
              <a:t>Verification</a:t>
            </a:r>
            <a:endParaRPr sz="1950">
              <a:latin typeface="Arial"/>
              <a:cs typeface="Arial"/>
            </a:endParaRPr>
          </a:p>
          <a:p>
            <a:pPr>
              <a:lnSpc>
                <a:spcPct val="100000"/>
              </a:lnSpc>
            </a:pPr>
            <a:endParaRPr sz="2000">
              <a:latin typeface="Times New Roman"/>
              <a:cs typeface="Times New Roman"/>
            </a:endParaRPr>
          </a:p>
          <a:p>
            <a:pPr>
              <a:lnSpc>
                <a:spcPct val="100000"/>
              </a:lnSpc>
              <a:spcBef>
                <a:spcPts val="27"/>
              </a:spcBef>
            </a:pPr>
            <a:endParaRPr sz="1550">
              <a:latin typeface="Times New Roman"/>
              <a:cs typeface="Times New Roman"/>
            </a:endParaRPr>
          </a:p>
          <a:p>
            <a:pPr marR="166370" algn="ctr">
              <a:lnSpc>
                <a:spcPct val="100000"/>
              </a:lnSpc>
            </a:pPr>
            <a:r>
              <a:rPr sz="2250" spc="-80" dirty="0">
                <a:solidFill>
                  <a:srgbClr val="FF0000"/>
                </a:solidFill>
                <a:latin typeface="Tahoma"/>
                <a:cs typeface="Tahoma"/>
              </a:rPr>
              <a:t>eorem</a:t>
            </a:r>
            <a:r>
              <a:rPr sz="2250" spc="-25" dirty="0">
                <a:solidFill>
                  <a:srgbClr val="FF0000"/>
                </a:solidFill>
                <a:latin typeface="Tahoma"/>
                <a:cs typeface="Tahoma"/>
              </a:rPr>
              <a:t> </a:t>
            </a:r>
            <a:r>
              <a:rPr sz="2250" spc="40" dirty="0">
                <a:solidFill>
                  <a:srgbClr val="FF0000"/>
                </a:solidFill>
                <a:latin typeface="Tahoma"/>
                <a:cs typeface="Tahoma"/>
              </a:rPr>
              <a:t>Proving</a:t>
            </a:r>
            <a:endParaRPr sz="2250">
              <a:latin typeface="Tahoma"/>
              <a:cs typeface="Tahoma"/>
            </a:endParaRPr>
          </a:p>
        </p:txBody>
      </p:sp>
      <p:sp>
        <p:nvSpPr>
          <p:cNvPr id="4" name="object 4"/>
          <p:cNvSpPr txBox="1"/>
          <p:nvPr/>
        </p:nvSpPr>
        <p:spPr>
          <a:xfrm>
            <a:off x="2437663" y="3692664"/>
            <a:ext cx="1209675" cy="396240"/>
          </a:xfrm>
          <a:prstGeom prst="rect">
            <a:avLst/>
          </a:prstGeom>
        </p:spPr>
        <p:txBody>
          <a:bodyPr vert="horz" wrap="square" lIns="0" tIns="0" rIns="0" bIns="0" rtlCol="0">
            <a:spAutoFit/>
          </a:bodyPr>
          <a:lstStyle/>
          <a:p>
            <a:pPr marL="12700">
              <a:lnSpc>
                <a:spcPct val="100000"/>
              </a:lnSpc>
            </a:pPr>
            <a:r>
              <a:rPr sz="2450" spc="-10" dirty="0">
                <a:solidFill>
                  <a:srgbClr val="FF0000"/>
                </a:solidFill>
                <a:latin typeface="Cambria"/>
                <a:cs typeface="Cambria"/>
              </a:rPr>
              <a:t>stra</a:t>
            </a:r>
            <a:r>
              <a:rPr sz="2450" spc="-5" dirty="0">
                <a:solidFill>
                  <a:srgbClr val="FF0000"/>
                </a:solidFill>
                <a:latin typeface="Cambria"/>
                <a:cs typeface="Cambria"/>
              </a:rPr>
              <a:t>c</a:t>
            </a:r>
            <a:r>
              <a:rPr sz="2450" spc="60" dirty="0">
                <a:solidFill>
                  <a:srgbClr val="FF0000"/>
                </a:solidFill>
                <a:latin typeface="Cambria"/>
                <a:cs typeface="Cambria"/>
              </a:rPr>
              <a:t>t</a:t>
            </a:r>
            <a:r>
              <a:rPr sz="2450" spc="40" dirty="0">
                <a:solidFill>
                  <a:srgbClr val="FF0000"/>
                </a:solidFill>
                <a:latin typeface="Cambria"/>
                <a:cs typeface="Cambria"/>
              </a:rPr>
              <a:t>i</a:t>
            </a:r>
            <a:r>
              <a:rPr sz="2450" spc="-90" dirty="0">
                <a:solidFill>
                  <a:srgbClr val="FF0000"/>
                </a:solidFill>
                <a:latin typeface="Cambria"/>
                <a:cs typeface="Cambria"/>
              </a:rPr>
              <a:t>o</a:t>
            </a:r>
            <a:r>
              <a:rPr sz="2450" spc="-20" dirty="0">
                <a:solidFill>
                  <a:srgbClr val="FF0000"/>
                </a:solidFill>
                <a:latin typeface="Cambria"/>
                <a:cs typeface="Cambria"/>
              </a:rPr>
              <a:t>n</a:t>
            </a:r>
            <a:endParaRPr sz="2450">
              <a:latin typeface="Cambria"/>
              <a:cs typeface="Cambria"/>
            </a:endParaRPr>
          </a:p>
        </p:txBody>
      </p:sp>
      <p:sp>
        <p:nvSpPr>
          <p:cNvPr id="5" name="object 5"/>
          <p:cNvSpPr txBox="1"/>
          <p:nvPr/>
        </p:nvSpPr>
        <p:spPr>
          <a:xfrm>
            <a:off x="6124909" y="3692664"/>
            <a:ext cx="1355090" cy="396240"/>
          </a:xfrm>
          <a:prstGeom prst="rect">
            <a:avLst/>
          </a:prstGeom>
        </p:spPr>
        <p:txBody>
          <a:bodyPr vert="horz" wrap="square" lIns="0" tIns="0" rIns="0" bIns="0" rtlCol="0">
            <a:spAutoFit/>
          </a:bodyPr>
          <a:lstStyle/>
          <a:p>
            <a:pPr marL="12700">
              <a:lnSpc>
                <a:spcPct val="100000"/>
              </a:lnSpc>
            </a:pPr>
            <a:r>
              <a:rPr sz="2450" spc="-20" dirty="0">
                <a:solidFill>
                  <a:srgbClr val="FF0000"/>
                </a:solidFill>
                <a:latin typeface="Cambria"/>
                <a:cs typeface="Cambria"/>
              </a:rPr>
              <a:t>m</a:t>
            </a:r>
            <a:r>
              <a:rPr sz="2450" spc="50" dirty="0">
                <a:solidFill>
                  <a:srgbClr val="FF0000"/>
                </a:solidFill>
                <a:latin typeface="Cambria"/>
                <a:cs typeface="Cambria"/>
              </a:rPr>
              <a:t>p</a:t>
            </a:r>
            <a:r>
              <a:rPr sz="2450" spc="-90" dirty="0">
                <a:solidFill>
                  <a:srgbClr val="FF0000"/>
                </a:solidFill>
                <a:latin typeface="Cambria"/>
                <a:cs typeface="Cambria"/>
              </a:rPr>
              <a:t>o</a:t>
            </a:r>
            <a:r>
              <a:rPr sz="2450" spc="-65" dirty="0">
                <a:solidFill>
                  <a:srgbClr val="FF0000"/>
                </a:solidFill>
                <a:latin typeface="Cambria"/>
                <a:cs typeface="Cambria"/>
              </a:rPr>
              <a:t>s</a:t>
            </a:r>
            <a:r>
              <a:rPr sz="2450" spc="-45" dirty="0">
                <a:solidFill>
                  <a:srgbClr val="FF0000"/>
                </a:solidFill>
                <a:latin typeface="Cambria"/>
                <a:cs typeface="Cambria"/>
              </a:rPr>
              <a:t>i</a:t>
            </a:r>
            <a:r>
              <a:rPr sz="2450" spc="60" dirty="0">
                <a:solidFill>
                  <a:srgbClr val="FF0000"/>
                </a:solidFill>
                <a:latin typeface="Cambria"/>
                <a:cs typeface="Cambria"/>
              </a:rPr>
              <a:t>t</a:t>
            </a:r>
            <a:r>
              <a:rPr sz="2450" spc="40" dirty="0">
                <a:solidFill>
                  <a:srgbClr val="FF0000"/>
                </a:solidFill>
                <a:latin typeface="Cambria"/>
                <a:cs typeface="Cambria"/>
              </a:rPr>
              <a:t>i</a:t>
            </a:r>
            <a:r>
              <a:rPr sz="2450" spc="-90" dirty="0">
                <a:solidFill>
                  <a:srgbClr val="FF0000"/>
                </a:solidFill>
                <a:latin typeface="Cambria"/>
                <a:cs typeface="Cambria"/>
              </a:rPr>
              <a:t>o</a:t>
            </a:r>
            <a:r>
              <a:rPr sz="2450" spc="-20" dirty="0">
                <a:solidFill>
                  <a:srgbClr val="FF0000"/>
                </a:solidFill>
                <a:latin typeface="Cambria"/>
                <a:cs typeface="Cambria"/>
              </a:rPr>
              <a:t>n</a:t>
            </a:r>
            <a:endParaRPr sz="2450">
              <a:latin typeface="Cambria"/>
              <a:cs typeface="Cambria"/>
            </a:endParaRPr>
          </a:p>
        </p:txBody>
      </p:sp>
      <p:sp>
        <p:nvSpPr>
          <p:cNvPr id="6" name="object 6"/>
          <p:cNvSpPr txBox="1"/>
          <p:nvPr/>
        </p:nvSpPr>
        <p:spPr>
          <a:xfrm>
            <a:off x="4510494" y="5394197"/>
            <a:ext cx="865505" cy="647065"/>
          </a:xfrm>
          <a:prstGeom prst="rect">
            <a:avLst/>
          </a:prstGeom>
        </p:spPr>
        <p:txBody>
          <a:bodyPr vert="horz" wrap="square" lIns="0" tIns="0" rIns="0" bIns="0" rtlCol="0">
            <a:spAutoFit/>
          </a:bodyPr>
          <a:lstStyle/>
          <a:p>
            <a:pPr marL="12700" marR="5080" indent="238125">
              <a:lnSpc>
                <a:spcPts val="2460"/>
              </a:lnSpc>
            </a:pPr>
            <a:r>
              <a:rPr sz="2450" spc="-40" dirty="0">
                <a:solidFill>
                  <a:srgbClr val="FF0000"/>
                </a:solidFill>
                <a:latin typeface="Cambria"/>
                <a:cs typeface="Cambria"/>
              </a:rPr>
              <a:t>del  </a:t>
            </a:r>
            <a:r>
              <a:rPr sz="2450" spc="-120" dirty="0">
                <a:solidFill>
                  <a:srgbClr val="FF0000"/>
                </a:solidFill>
                <a:latin typeface="Cambria"/>
                <a:cs typeface="Cambria"/>
              </a:rPr>
              <a:t>e</a:t>
            </a:r>
            <a:r>
              <a:rPr sz="2450" spc="-75" dirty="0">
                <a:solidFill>
                  <a:srgbClr val="FF0000"/>
                </a:solidFill>
                <a:latin typeface="Cambria"/>
                <a:cs typeface="Cambria"/>
              </a:rPr>
              <a:t>c</a:t>
            </a:r>
            <a:r>
              <a:rPr sz="2450" spc="-5" dirty="0">
                <a:solidFill>
                  <a:srgbClr val="FF0000"/>
                </a:solidFill>
                <a:latin typeface="Cambria"/>
                <a:cs typeface="Cambria"/>
              </a:rPr>
              <a:t>k</a:t>
            </a:r>
            <a:r>
              <a:rPr sz="2450" spc="-15" dirty="0">
                <a:solidFill>
                  <a:srgbClr val="FF0000"/>
                </a:solidFill>
                <a:latin typeface="Cambria"/>
                <a:cs typeface="Cambria"/>
              </a:rPr>
              <a:t>i</a:t>
            </a:r>
            <a:r>
              <a:rPr sz="2450" spc="-20" dirty="0">
                <a:solidFill>
                  <a:srgbClr val="FF0000"/>
                </a:solidFill>
                <a:latin typeface="Cambria"/>
                <a:cs typeface="Cambria"/>
              </a:rPr>
              <a:t>n</a:t>
            </a:r>
            <a:r>
              <a:rPr sz="2450" dirty="0">
                <a:solidFill>
                  <a:srgbClr val="FF0000"/>
                </a:solidFill>
                <a:latin typeface="Cambria"/>
                <a:cs typeface="Cambria"/>
              </a:rPr>
              <a:t>g</a:t>
            </a:r>
            <a:endParaRPr sz="2450">
              <a:latin typeface="Cambria"/>
              <a:cs typeface="Cambria"/>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8158480" cy="6049010"/>
          </a:xfrm>
          <a:prstGeom prst="rect">
            <a:avLst/>
          </a:prstGeom>
        </p:spPr>
        <p:txBody>
          <a:bodyPr vert="horz" wrap="square" lIns="0" tIns="0" rIns="0" bIns="0" rtlCol="0">
            <a:spAutoFit/>
          </a:bodyPr>
          <a:lstStyle/>
          <a:p>
            <a:pPr marL="1704975">
              <a:lnSpc>
                <a:spcPct val="100000"/>
              </a:lnSpc>
            </a:pPr>
            <a:r>
              <a:rPr sz="1950" spc="250" dirty="0">
                <a:solidFill>
                  <a:srgbClr val="231F20"/>
                </a:solidFill>
                <a:latin typeface="Arial"/>
                <a:cs typeface="Arial"/>
              </a:rPr>
              <a:t>Failure-Tolerant </a:t>
            </a:r>
            <a:r>
              <a:rPr sz="1950" spc="320" dirty="0">
                <a:solidFill>
                  <a:srgbClr val="231F20"/>
                </a:solidFill>
                <a:latin typeface="Arial"/>
                <a:cs typeface="Arial"/>
              </a:rPr>
              <a:t>Theorem</a:t>
            </a:r>
            <a:r>
              <a:rPr sz="1950" spc="490" dirty="0">
                <a:solidFill>
                  <a:srgbClr val="231F20"/>
                </a:solidFill>
                <a:latin typeface="Arial"/>
                <a:cs typeface="Arial"/>
              </a:rPr>
              <a:t> </a:t>
            </a:r>
            <a:r>
              <a:rPr sz="1950" spc="260" dirty="0">
                <a:solidFill>
                  <a:srgbClr val="231F20"/>
                </a:solidFill>
                <a:latin typeface="Arial"/>
                <a:cs typeface="Arial"/>
              </a:rPr>
              <a:t>Proving</a:t>
            </a:r>
            <a:endParaRPr sz="1950">
              <a:latin typeface="Arial"/>
              <a:cs typeface="Arial"/>
            </a:endParaRPr>
          </a:p>
          <a:p>
            <a:pPr marL="300990" indent="-288290">
              <a:lnSpc>
                <a:spcPct val="100000"/>
              </a:lnSpc>
              <a:spcBef>
                <a:spcPts val="1614"/>
              </a:spcBef>
              <a:buSzPct val="105128"/>
              <a:buFont typeface="Lucida Sans Unicode"/>
              <a:buChar char="•"/>
              <a:tabLst>
                <a:tab pos="301625" algn="l"/>
              </a:tabLst>
            </a:pPr>
            <a:r>
              <a:rPr sz="1950" spc="180" dirty="0">
                <a:solidFill>
                  <a:srgbClr val="231F20"/>
                </a:solidFill>
                <a:latin typeface="Arial"/>
                <a:cs typeface="Arial"/>
              </a:rPr>
              <a:t>Model </a:t>
            </a:r>
            <a:r>
              <a:rPr sz="1950" spc="125" dirty="0">
                <a:solidFill>
                  <a:srgbClr val="231F20"/>
                </a:solidFill>
                <a:latin typeface="Arial"/>
                <a:cs typeface="Arial"/>
              </a:rPr>
              <a:t>checking </a:t>
            </a:r>
            <a:r>
              <a:rPr sz="1950" spc="40" dirty="0">
                <a:solidFill>
                  <a:srgbClr val="231F20"/>
                </a:solidFill>
                <a:latin typeface="Arial"/>
                <a:cs typeface="Arial"/>
              </a:rPr>
              <a:t>is </a:t>
            </a:r>
            <a:r>
              <a:rPr sz="1950" spc="75" dirty="0">
                <a:solidFill>
                  <a:srgbClr val="231F20"/>
                </a:solidFill>
                <a:latin typeface="Arial"/>
                <a:cs typeface="Arial"/>
              </a:rPr>
              <a:t>based </a:t>
            </a:r>
            <a:r>
              <a:rPr sz="1950" spc="155" dirty="0">
                <a:solidFill>
                  <a:srgbClr val="231F20"/>
                </a:solidFill>
                <a:latin typeface="Arial"/>
                <a:cs typeface="Arial"/>
              </a:rPr>
              <a:t>on </a:t>
            </a:r>
            <a:r>
              <a:rPr sz="1950" spc="254" dirty="0">
                <a:solidFill>
                  <a:srgbClr val="231F20"/>
                </a:solidFill>
                <a:latin typeface="Arial"/>
                <a:cs typeface="Arial"/>
              </a:rPr>
              <a:t> </a:t>
            </a:r>
            <a:r>
              <a:rPr sz="1950" spc="75" dirty="0">
                <a:solidFill>
                  <a:srgbClr val="231F20"/>
                </a:solidFill>
                <a:latin typeface="Arial"/>
                <a:cs typeface="Arial"/>
              </a:rPr>
              <a:t>search</a:t>
            </a:r>
            <a:endParaRPr sz="1950">
              <a:latin typeface="Arial"/>
              <a:cs typeface="Arial"/>
            </a:endParaRPr>
          </a:p>
          <a:p>
            <a:pPr marL="300990" marR="1557020" indent="-288290">
              <a:lnSpc>
                <a:spcPct val="125000"/>
              </a:lnSpc>
              <a:spcBef>
                <a:spcPts val="1035"/>
              </a:spcBef>
              <a:buClr>
                <a:srgbClr val="231F20"/>
              </a:buClr>
              <a:buSzPct val="105128"/>
              <a:buFont typeface="Lucida Sans Unicode"/>
              <a:buChar char="•"/>
              <a:tabLst>
                <a:tab pos="301625" algn="l"/>
              </a:tabLst>
            </a:pPr>
            <a:r>
              <a:rPr sz="1950" spc="95" dirty="0">
                <a:solidFill>
                  <a:srgbClr val="0000FF"/>
                </a:solidFill>
                <a:latin typeface="Arial"/>
                <a:cs typeface="Arial"/>
              </a:rPr>
              <a:t>Safe </a:t>
            </a:r>
            <a:r>
              <a:rPr sz="1950" spc="250" dirty="0">
                <a:solidFill>
                  <a:srgbClr val="231F20"/>
                </a:solidFill>
                <a:latin typeface="Arial"/>
                <a:cs typeface="Arial"/>
              </a:rPr>
              <a:t>to </a:t>
            </a:r>
            <a:r>
              <a:rPr sz="1950" spc="155" dirty="0">
                <a:solidFill>
                  <a:srgbClr val="231F20"/>
                </a:solidFill>
                <a:latin typeface="Arial"/>
                <a:cs typeface="Arial"/>
              </a:rPr>
              <a:t>do </a:t>
            </a:r>
            <a:r>
              <a:rPr sz="1950" spc="80" dirty="0">
                <a:solidFill>
                  <a:srgbClr val="231F20"/>
                </a:solidFill>
                <a:latin typeface="Arial"/>
                <a:cs typeface="Arial"/>
              </a:rPr>
              <a:t>because </a:t>
            </a:r>
            <a:r>
              <a:rPr sz="1950" spc="175" dirty="0">
                <a:solidFill>
                  <a:srgbClr val="231F20"/>
                </a:solidFill>
                <a:latin typeface="Arial"/>
                <a:cs typeface="Arial"/>
              </a:rPr>
              <a:t>the </a:t>
            </a:r>
            <a:r>
              <a:rPr sz="1950" spc="75" dirty="0">
                <a:solidFill>
                  <a:srgbClr val="231F20"/>
                </a:solidFill>
                <a:latin typeface="Arial"/>
                <a:cs typeface="Arial"/>
              </a:rPr>
              <a:t>search </a:t>
            </a:r>
            <a:r>
              <a:rPr sz="1950" spc="70" dirty="0">
                <a:solidFill>
                  <a:srgbClr val="231F20"/>
                </a:solidFill>
                <a:latin typeface="Arial"/>
                <a:cs typeface="Arial"/>
              </a:rPr>
              <a:t>space </a:t>
            </a:r>
            <a:r>
              <a:rPr sz="1950" spc="40" dirty="0">
                <a:solidFill>
                  <a:srgbClr val="231F20"/>
                </a:solidFill>
                <a:latin typeface="Arial"/>
                <a:cs typeface="Arial"/>
              </a:rPr>
              <a:t>is </a:t>
            </a:r>
            <a:r>
              <a:rPr sz="1950" spc="140" dirty="0">
                <a:solidFill>
                  <a:srgbClr val="231F20"/>
                </a:solidFill>
                <a:latin typeface="Arial"/>
                <a:cs typeface="Arial"/>
              </a:rPr>
              <a:t>bounded,  </a:t>
            </a:r>
            <a:r>
              <a:rPr sz="1950" spc="130" dirty="0">
                <a:solidFill>
                  <a:srgbClr val="231F20"/>
                </a:solidFill>
                <a:latin typeface="Arial"/>
                <a:cs typeface="Arial"/>
              </a:rPr>
              <a:t>and </a:t>
            </a:r>
            <a:r>
              <a:rPr sz="1950" spc="135" dirty="0">
                <a:solidFill>
                  <a:srgbClr val="0000FF"/>
                </a:solidFill>
                <a:latin typeface="Arial"/>
                <a:cs typeface="Arial"/>
              </a:rPr>
              <a:t>efficient </a:t>
            </a:r>
            <a:r>
              <a:rPr sz="1950" spc="80" dirty="0">
                <a:solidFill>
                  <a:srgbClr val="231F20"/>
                </a:solidFill>
                <a:latin typeface="Arial"/>
                <a:cs typeface="Arial"/>
              </a:rPr>
              <a:t>because </a:t>
            </a:r>
            <a:r>
              <a:rPr sz="1950" spc="95" dirty="0">
                <a:solidFill>
                  <a:srgbClr val="231F20"/>
                </a:solidFill>
                <a:latin typeface="Arial"/>
                <a:cs typeface="Arial"/>
              </a:rPr>
              <a:t>we </a:t>
            </a:r>
            <a:r>
              <a:rPr sz="1950" spc="170" dirty="0">
                <a:solidFill>
                  <a:srgbClr val="231F20"/>
                </a:solidFill>
                <a:latin typeface="Arial"/>
                <a:cs typeface="Arial"/>
              </a:rPr>
              <a:t>know </a:t>
            </a:r>
            <a:r>
              <a:rPr sz="1950" spc="145" dirty="0">
                <a:solidFill>
                  <a:srgbClr val="231F20"/>
                </a:solidFill>
                <a:latin typeface="Arial"/>
                <a:cs typeface="Arial"/>
              </a:rPr>
              <a:t>its </a:t>
            </a:r>
            <a:r>
              <a:rPr sz="1950" spc="409" dirty="0">
                <a:solidFill>
                  <a:srgbClr val="231F20"/>
                </a:solidFill>
                <a:latin typeface="Arial"/>
                <a:cs typeface="Arial"/>
              </a:rPr>
              <a:t> </a:t>
            </a:r>
            <a:r>
              <a:rPr sz="1950" spc="160" dirty="0">
                <a:solidFill>
                  <a:srgbClr val="231F20"/>
                </a:solidFill>
                <a:latin typeface="Arial"/>
                <a:cs typeface="Arial"/>
              </a:rPr>
              <a:t>structure</a:t>
            </a:r>
            <a:endParaRPr sz="1950">
              <a:latin typeface="Arial"/>
              <a:cs typeface="Arial"/>
            </a:endParaRPr>
          </a:p>
          <a:p>
            <a:pPr marL="300990" marR="111760" indent="-288290">
              <a:lnSpc>
                <a:spcPct val="125000"/>
              </a:lnSpc>
              <a:spcBef>
                <a:spcPts val="1035"/>
              </a:spcBef>
              <a:buSzPct val="105128"/>
              <a:buFont typeface="Lucida Sans Unicode"/>
              <a:buChar char="•"/>
              <a:tabLst>
                <a:tab pos="301625" algn="l"/>
              </a:tabLst>
            </a:pPr>
            <a:r>
              <a:rPr sz="1950" spc="150" dirty="0">
                <a:solidFill>
                  <a:srgbClr val="231F20"/>
                </a:solidFill>
                <a:latin typeface="Arial"/>
                <a:cs typeface="Arial"/>
              </a:rPr>
              <a:t>Verification </a:t>
            </a:r>
            <a:r>
              <a:rPr sz="1950" spc="100" dirty="0">
                <a:solidFill>
                  <a:srgbClr val="231F20"/>
                </a:solidFill>
                <a:latin typeface="Arial"/>
                <a:cs typeface="Arial"/>
              </a:rPr>
              <a:t>systems </a:t>
            </a:r>
            <a:r>
              <a:rPr sz="1950" spc="175" dirty="0">
                <a:solidFill>
                  <a:srgbClr val="231F20"/>
                </a:solidFill>
                <a:latin typeface="Arial"/>
                <a:cs typeface="Arial"/>
              </a:rPr>
              <a:t>(theorem </a:t>
            </a:r>
            <a:r>
              <a:rPr sz="1950" spc="95" dirty="0">
                <a:solidFill>
                  <a:srgbClr val="231F20"/>
                </a:solidFill>
                <a:latin typeface="Arial"/>
                <a:cs typeface="Arial"/>
              </a:rPr>
              <a:t>provers </a:t>
            </a:r>
            <a:r>
              <a:rPr sz="1950" spc="130" dirty="0">
                <a:solidFill>
                  <a:srgbClr val="231F20"/>
                </a:solidFill>
                <a:latin typeface="Arial"/>
                <a:cs typeface="Arial"/>
              </a:rPr>
              <a:t>aimed </a:t>
            </a:r>
            <a:r>
              <a:rPr sz="1950" spc="215" dirty="0">
                <a:solidFill>
                  <a:srgbClr val="231F20"/>
                </a:solidFill>
                <a:latin typeface="Arial"/>
                <a:cs typeface="Arial"/>
              </a:rPr>
              <a:t>at </a:t>
            </a:r>
            <a:r>
              <a:rPr sz="1950" spc="155" dirty="0">
                <a:solidFill>
                  <a:srgbClr val="231F20"/>
                </a:solidFill>
                <a:latin typeface="Arial"/>
                <a:cs typeface="Arial"/>
              </a:rPr>
              <a:t>verification)  </a:t>
            </a:r>
            <a:r>
              <a:rPr sz="1950" spc="165" dirty="0">
                <a:solidFill>
                  <a:srgbClr val="231F20"/>
                </a:solidFill>
                <a:latin typeface="Arial"/>
                <a:cs typeface="Arial"/>
              </a:rPr>
              <a:t>tend </a:t>
            </a:r>
            <a:r>
              <a:rPr sz="1950" spc="250" dirty="0">
                <a:solidFill>
                  <a:srgbClr val="231F20"/>
                </a:solidFill>
                <a:latin typeface="Arial"/>
                <a:cs typeface="Arial"/>
              </a:rPr>
              <a:t>to </a:t>
            </a:r>
            <a:r>
              <a:rPr sz="1950" spc="125" dirty="0">
                <a:solidFill>
                  <a:srgbClr val="231F20"/>
                </a:solidFill>
                <a:latin typeface="Arial"/>
                <a:cs typeface="Arial"/>
              </a:rPr>
              <a:t>avoid </a:t>
            </a:r>
            <a:r>
              <a:rPr sz="1950" spc="75" dirty="0">
                <a:solidFill>
                  <a:srgbClr val="231F20"/>
                </a:solidFill>
                <a:latin typeface="Arial"/>
                <a:cs typeface="Arial"/>
              </a:rPr>
              <a:t>search </a:t>
            </a:r>
            <a:r>
              <a:rPr sz="1950" spc="215" dirty="0">
                <a:solidFill>
                  <a:srgbClr val="231F20"/>
                </a:solidFill>
                <a:latin typeface="Arial"/>
                <a:cs typeface="Arial"/>
              </a:rPr>
              <a:t>at </a:t>
            </a:r>
            <a:r>
              <a:rPr sz="1950" spc="175" dirty="0">
                <a:solidFill>
                  <a:srgbClr val="231F20"/>
                </a:solidFill>
                <a:latin typeface="Arial"/>
                <a:cs typeface="Arial"/>
              </a:rPr>
              <a:t>the </a:t>
            </a:r>
            <a:r>
              <a:rPr sz="1950" spc="220" dirty="0">
                <a:solidFill>
                  <a:srgbClr val="231F20"/>
                </a:solidFill>
                <a:latin typeface="Arial"/>
                <a:cs typeface="Arial"/>
              </a:rPr>
              <a:t>top</a:t>
            </a:r>
            <a:r>
              <a:rPr sz="1950" spc="930" dirty="0">
                <a:solidFill>
                  <a:srgbClr val="231F20"/>
                </a:solidFill>
                <a:latin typeface="Arial"/>
                <a:cs typeface="Arial"/>
              </a:rPr>
              <a:t> </a:t>
            </a:r>
            <a:r>
              <a:rPr sz="1950" spc="75" dirty="0">
                <a:solidFill>
                  <a:srgbClr val="231F20"/>
                </a:solidFill>
                <a:latin typeface="Arial"/>
                <a:cs typeface="Arial"/>
              </a:rPr>
              <a:t>level</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250" dirty="0">
                <a:solidFill>
                  <a:srgbClr val="231F20"/>
                </a:solidFill>
                <a:latin typeface="Arial"/>
                <a:cs typeface="Arial"/>
              </a:rPr>
              <a:t>Too </a:t>
            </a:r>
            <a:r>
              <a:rPr sz="1950" spc="140" dirty="0">
                <a:solidFill>
                  <a:srgbClr val="231F20"/>
                </a:solidFill>
                <a:latin typeface="Arial"/>
                <a:cs typeface="Arial"/>
              </a:rPr>
              <a:t>big </a:t>
            </a:r>
            <a:r>
              <a:rPr sz="1950" spc="85" dirty="0">
                <a:solidFill>
                  <a:srgbClr val="231F20"/>
                </a:solidFill>
                <a:latin typeface="Arial"/>
                <a:cs typeface="Arial"/>
              </a:rPr>
              <a:t>a </a:t>
            </a:r>
            <a:r>
              <a:rPr sz="1950" spc="70" dirty="0">
                <a:solidFill>
                  <a:srgbClr val="231F20"/>
                </a:solidFill>
                <a:latin typeface="Arial"/>
                <a:cs typeface="Arial"/>
              </a:rPr>
              <a:t>space </a:t>
            </a:r>
            <a:r>
              <a:rPr sz="1950" spc="250" dirty="0">
                <a:solidFill>
                  <a:srgbClr val="231F20"/>
                </a:solidFill>
                <a:latin typeface="Arial"/>
                <a:cs typeface="Arial"/>
              </a:rPr>
              <a:t>to </a:t>
            </a:r>
            <a:r>
              <a:rPr sz="1950" spc="85" dirty="0">
                <a:solidFill>
                  <a:srgbClr val="231F20"/>
                </a:solidFill>
                <a:latin typeface="Arial"/>
                <a:cs typeface="Arial"/>
              </a:rPr>
              <a:t>search, </a:t>
            </a:r>
            <a:r>
              <a:rPr sz="1950" spc="240" dirty="0">
                <a:solidFill>
                  <a:srgbClr val="231F20"/>
                </a:solidFill>
                <a:latin typeface="Arial"/>
                <a:cs typeface="Arial"/>
              </a:rPr>
              <a:t>too </a:t>
            </a:r>
            <a:r>
              <a:rPr sz="1950" spc="175" dirty="0">
                <a:solidFill>
                  <a:srgbClr val="231F20"/>
                </a:solidFill>
                <a:latin typeface="Arial"/>
                <a:cs typeface="Arial"/>
              </a:rPr>
              <a:t>little </a:t>
            </a:r>
            <a:r>
              <a:rPr sz="1950" spc="165" dirty="0">
                <a:solidFill>
                  <a:srgbClr val="231F20"/>
                </a:solidFill>
                <a:latin typeface="Arial"/>
                <a:cs typeface="Arial"/>
              </a:rPr>
              <a:t>known </a:t>
            </a:r>
            <a:r>
              <a:rPr sz="1950" spc="190" dirty="0">
                <a:solidFill>
                  <a:srgbClr val="231F20"/>
                </a:solidFill>
                <a:latin typeface="Arial"/>
                <a:cs typeface="Arial"/>
              </a:rPr>
              <a:t>about </a:t>
            </a:r>
            <a:r>
              <a:rPr sz="1950" spc="610" dirty="0">
                <a:solidFill>
                  <a:srgbClr val="231F20"/>
                </a:solidFill>
                <a:latin typeface="Arial"/>
                <a:cs typeface="Arial"/>
              </a:rPr>
              <a:t> </a:t>
            </a:r>
            <a:r>
              <a:rPr sz="1950" spc="229" dirty="0">
                <a:solidFill>
                  <a:srgbClr val="231F20"/>
                </a:solidFill>
                <a:latin typeface="Arial"/>
                <a:cs typeface="Arial"/>
              </a:rPr>
              <a:t>it</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90" dirty="0">
                <a:solidFill>
                  <a:srgbClr val="231F20"/>
                </a:solidFill>
                <a:latin typeface="Arial"/>
                <a:cs typeface="Arial"/>
              </a:rPr>
              <a:t>When </a:t>
            </a:r>
            <a:r>
              <a:rPr sz="1950" spc="160" dirty="0">
                <a:solidFill>
                  <a:srgbClr val="231F20"/>
                </a:solidFill>
                <a:latin typeface="Arial"/>
                <a:cs typeface="Arial"/>
              </a:rPr>
              <a:t>they </a:t>
            </a:r>
            <a:r>
              <a:rPr sz="1950" spc="155" dirty="0">
                <a:solidFill>
                  <a:srgbClr val="231F20"/>
                </a:solidFill>
                <a:latin typeface="Arial"/>
                <a:cs typeface="Arial"/>
              </a:rPr>
              <a:t>do </a:t>
            </a:r>
            <a:r>
              <a:rPr sz="1950" spc="85" dirty="0">
                <a:solidFill>
                  <a:srgbClr val="231F20"/>
                </a:solidFill>
                <a:latin typeface="Arial"/>
                <a:cs typeface="Arial"/>
              </a:rPr>
              <a:t>search, </a:t>
            </a:r>
            <a:r>
              <a:rPr sz="1950" spc="160" dirty="0">
                <a:solidFill>
                  <a:srgbClr val="231F20"/>
                </a:solidFill>
                <a:latin typeface="Arial"/>
                <a:cs typeface="Arial"/>
              </a:rPr>
              <a:t>they </a:t>
            </a:r>
            <a:r>
              <a:rPr sz="1950" spc="95" dirty="0">
                <a:solidFill>
                  <a:srgbClr val="231F20"/>
                </a:solidFill>
                <a:latin typeface="Arial"/>
                <a:cs typeface="Arial"/>
              </a:rPr>
              <a:t>have </a:t>
            </a:r>
            <a:r>
              <a:rPr sz="1950" spc="250" dirty="0">
                <a:solidFill>
                  <a:srgbClr val="231F20"/>
                </a:solidFill>
                <a:latin typeface="Arial"/>
                <a:cs typeface="Arial"/>
              </a:rPr>
              <a:t>to </a:t>
            </a:r>
            <a:r>
              <a:rPr sz="1950" spc="105" dirty="0">
                <a:solidFill>
                  <a:srgbClr val="231F20"/>
                </a:solidFill>
                <a:latin typeface="Arial"/>
                <a:cs typeface="Arial"/>
              </a:rPr>
              <a:t>rely </a:t>
            </a:r>
            <a:r>
              <a:rPr sz="1950" spc="155" dirty="0">
                <a:solidFill>
                  <a:srgbClr val="231F20"/>
                </a:solidFill>
                <a:latin typeface="Arial"/>
                <a:cs typeface="Arial"/>
              </a:rPr>
              <a:t>on </a:t>
            </a:r>
            <a:r>
              <a:rPr sz="1950" spc="590" dirty="0">
                <a:solidFill>
                  <a:srgbClr val="231F20"/>
                </a:solidFill>
                <a:latin typeface="Arial"/>
                <a:cs typeface="Arial"/>
              </a:rPr>
              <a:t> </a:t>
            </a:r>
            <a:r>
              <a:rPr sz="1950" spc="114" dirty="0">
                <a:solidFill>
                  <a:srgbClr val="231F20"/>
                </a:solidFill>
                <a:latin typeface="Arial"/>
                <a:cs typeface="Arial"/>
              </a:rPr>
              <a:t>heuristics</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95" dirty="0">
                <a:solidFill>
                  <a:srgbClr val="231F20"/>
                </a:solidFill>
                <a:latin typeface="Arial"/>
                <a:cs typeface="Arial"/>
              </a:rPr>
              <a:t>Which </a:t>
            </a:r>
            <a:r>
              <a:rPr sz="1950" spc="175" dirty="0">
                <a:solidFill>
                  <a:srgbClr val="231F20"/>
                </a:solidFill>
                <a:latin typeface="Arial"/>
                <a:cs typeface="Arial"/>
              </a:rPr>
              <a:t>often</a:t>
            </a:r>
            <a:r>
              <a:rPr sz="1950" spc="315" dirty="0">
                <a:solidFill>
                  <a:srgbClr val="231F20"/>
                </a:solidFill>
                <a:latin typeface="Arial"/>
                <a:cs typeface="Arial"/>
              </a:rPr>
              <a:t> </a:t>
            </a:r>
            <a:r>
              <a:rPr sz="1950" spc="130" dirty="0">
                <a:solidFill>
                  <a:srgbClr val="231F20"/>
                </a:solidFill>
                <a:latin typeface="Arial"/>
                <a:cs typeface="Arial"/>
              </a:rPr>
              <a:t>fail</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80" dirty="0">
                <a:solidFill>
                  <a:srgbClr val="0000FF"/>
                </a:solidFill>
                <a:latin typeface="Arial"/>
                <a:cs typeface="Arial"/>
              </a:rPr>
              <a:t>Classical </a:t>
            </a:r>
            <a:r>
              <a:rPr sz="1950" spc="145" dirty="0">
                <a:solidFill>
                  <a:srgbClr val="0000FF"/>
                </a:solidFill>
                <a:latin typeface="Arial"/>
                <a:cs typeface="Arial"/>
              </a:rPr>
              <a:t>verification </a:t>
            </a:r>
            <a:r>
              <a:rPr sz="1950" spc="65" dirty="0">
                <a:solidFill>
                  <a:srgbClr val="0000FF"/>
                </a:solidFill>
                <a:latin typeface="Arial"/>
                <a:cs typeface="Arial"/>
              </a:rPr>
              <a:t>poses </a:t>
            </a:r>
            <a:r>
              <a:rPr sz="1950" spc="105" dirty="0">
                <a:solidFill>
                  <a:srgbClr val="0000FF"/>
                </a:solidFill>
                <a:latin typeface="Arial"/>
                <a:cs typeface="Arial"/>
              </a:rPr>
              <a:t>correctness </a:t>
            </a:r>
            <a:r>
              <a:rPr sz="1950" spc="30" dirty="0">
                <a:solidFill>
                  <a:srgbClr val="0000FF"/>
                </a:solidFill>
                <a:latin typeface="Arial"/>
                <a:cs typeface="Arial"/>
              </a:rPr>
              <a:t>as </a:t>
            </a:r>
            <a:r>
              <a:rPr sz="1950" spc="105" dirty="0">
                <a:solidFill>
                  <a:srgbClr val="0000FF"/>
                </a:solidFill>
                <a:latin typeface="Arial"/>
                <a:cs typeface="Arial"/>
              </a:rPr>
              <a:t>one </a:t>
            </a:r>
            <a:r>
              <a:rPr sz="1950" spc="250" dirty="0">
                <a:solidFill>
                  <a:srgbClr val="0000FF"/>
                </a:solidFill>
                <a:latin typeface="Arial"/>
                <a:cs typeface="Arial"/>
              </a:rPr>
              <a:t>“big </a:t>
            </a:r>
            <a:r>
              <a:rPr sz="1950" spc="660" dirty="0">
                <a:solidFill>
                  <a:srgbClr val="0000FF"/>
                </a:solidFill>
                <a:latin typeface="Arial"/>
                <a:cs typeface="Arial"/>
              </a:rPr>
              <a:t> </a:t>
            </a:r>
            <a:r>
              <a:rPr sz="1950" spc="210" dirty="0">
                <a:solidFill>
                  <a:srgbClr val="0000FF"/>
                </a:solidFill>
                <a:latin typeface="Arial"/>
                <a:cs typeface="Arial"/>
              </a:rPr>
              <a:t>theorem”</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14" dirty="0">
                <a:solidFill>
                  <a:srgbClr val="0000FF"/>
                </a:solidFill>
                <a:latin typeface="Arial"/>
                <a:cs typeface="Arial"/>
              </a:rPr>
              <a:t>So </a:t>
            </a:r>
            <a:r>
              <a:rPr sz="1950" spc="125" dirty="0">
                <a:solidFill>
                  <a:srgbClr val="0000FF"/>
                </a:solidFill>
                <a:latin typeface="Arial"/>
                <a:cs typeface="Arial"/>
              </a:rPr>
              <a:t>failure </a:t>
            </a:r>
            <a:r>
              <a:rPr sz="1950" spc="250" dirty="0">
                <a:solidFill>
                  <a:srgbClr val="0000FF"/>
                </a:solidFill>
                <a:latin typeface="Arial"/>
                <a:cs typeface="Arial"/>
              </a:rPr>
              <a:t>to </a:t>
            </a:r>
            <a:r>
              <a:rPr sz="1950" spc="110" dirty="0">
                <a:solidFill>
                  <a:srgbClr val="0000FF"/>
                </a:solidFill>
                <a:latin typeface="Arial"/>
                <a:cs typeface="Arial"/>
              </a:rPr>
              <a:t>prove </a:t>
            </a:r>
            <a:r>
              <a:rPr sz="1950" spc="229" dirty="0">
                <a:solidFill>
                  <a:srgbClr val="0000FF"/>
                </a:solidFill>
                <a:latin typeface="Arial"/>
                <a:cs typeface="Arial"/>
              </a:rPr>
              <a:t>it </a:t>
            </a:r>
            <a:r>
              <a:rPr sz="1950" spc="175" dirty="0">
                <a:solidFill>
                  <a:srgbClr val="0000FF"/>
                </a:solidFill>
                <a:latin typeface="Arial"/>
                <a:cs typeface="Arial"/>
              </a:rPr>
              <a:t>(when </a:t>
            </a:r>
            <a:r>
              <a:rPr sz="1950" spc="200" dirty="0">
                <a:solidFill>
                  <a:srgbClr val="0000FF"/>
                </a:solidFill>
                <a:latin typeface="Arial"/>
                <a:cs typeface="Arial"/>
              </a:rPr>
              <a:t>true) </a:t>
            </a:r>
            <a:r>
              <a:rPr sz="1950" spc="40" dirty="0">
                <a:solidFill>
                  <a:srgbClr val="0000FF"/>
                </a:solidFill>
                <a:latin typeface="Arial"/>
                <a:cs typeface="Arial"/>
              </a:rPr>
              <a:t>is </a:t>
            </a:r>
            <a:r>
              <a:rPr sz="1950" spc="459" dirty="0">
                <a:solidFill>
                  <a:srgbClr val="0000FF"/>
                </a:solidFill>
                <a:latin typeface="Arial"/>
                <a:cs typeface="Arial"/>
              </a:rPr>
              <a:t> </a:t>
            </a:r>
            <a:r>
              <a:rPr sz="1950" spc="150" dirty="0">
                <a:solidFill>
                  <a:srgbClr val="0000FF"/>
                </a:solidFill>
                <a:latin typeface="Arial"/>
                <a:cs typeface="Arial"/>
              </a:rPr>
              <a:t>catastrophic</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20" dirty="0">
                <a:solidFill>
                  <a:srgbClr val="231F20"/>
                </a:solidFill>
                <a:latin typeface="Arial"/>
                <a:cs typeface="Arial"/>
              </a:rPr>
              <a:t>Instead, </a:t>
            </a:r>
            <a:r>
              <a:rPr sz="1950" spc="140" dirty="0">
                <a:solidFill>
                  <a:srgbClr val="231F20"/>
                </a:solidFill>
                <a:latin typeface="Arial"/>
                <a:cs typeface="Arial"/>
              </a:rPr>
              <a:t>let’s </a:t>
            </a:r>
            <a:r>
              <a:rPr sz="1950" spc="215" dirty="0">
                <a:solidFill>
                  <a:srgbClr val="231F20"/>
                </a:solidFill>
                <a:latin typeface="Arial"/>
                <a:cs typeface="Arial"/>
              </a:rPr>
              <a:t>try </a:t>
            </a:r>
            <a:r>
              <a:rPr sz="1950" spc="200" dirty="0">
                <a:solidFill>
                  <a:srgbClr val="FF0000"/>
                </a:solidFill>
                <a:latin typeface="Arial"/>
                <a:cs typeface="Arial"/>
              </a:rPr>
              <a:t>“failure-tolerant” </a:t>
            </a:r>
            <a:r>
              <a:rPr sz="1950" spc="155" dirty="0">
                <a:solidFill>
                  <a:srgbClr val="FF0000"/>
                </a:solidFill>
                <a:latin typeface="Arial"/>
                <a:cs typeface="Arial"/>
              </a:rPr>
              <a:t>theorem</a:t>
            </a:r>
            <a:r>
              <a:rPr sz="1950" spc="710" dirty="0">
                <a:solidFill>
                  <a:srgbClr val="FF0000"/>
                </a:solidFill>
                <a:latin typeface="Arial"/>
                <a:cs typeface="Arial"/>
              </a:rPr>
              <a:t> </a:t>
            </a:r>
            <a:r>
              <a:rPr sz="1950" spc="135" dirty="0">
                <a:solidFill>
                  <a:srgbClr val="FF0000"/>
                </a:solidFill>
                <a:latin typeface="Arial"/>
                <a:cs typeface="Arial"/>
              </a:rPr>
              <a:t>proving</a:t>
            </a:r>
            <a:endParaRPr sz="1950">
              <a:latin typeface="Arial"/>
              <a:cs typeface="Arial"/>
            </a:endParaRPr>
          </a:p>
          <a:p>
            <a:pPr marL="741680" lvl="1" indent="-288290">
              <a:lnSpc>
                <a:spcPct val="100000"/>
              </a:lnSpc>
              <a:spcBef>
                <a:spcPts val="994"/>
              </a:spcBef>
              <a:buClr>
                <a:srgbClr val="231F20"/>
              </a:buClr>
              <a:buSzPct val="105128"/>
              <a:buFont typeface="Lucida Sans Unicode"/>
              <a:buChar char="◦"/>
              <a:tabLst>
                <a:tab pos="742315" algn="l"/>
              </a:tabLst>
            </a:pPr>
            <a:r>
              <a:rPr sz="1950" spc="145" dirty="0">
                <a:solidFill>
                  <a:srgbClr val="0000FF"/>
                </a:solidFill>
                <a:latin typeface="Arial"/>
                <a:cs typeface="Arial"/>
              </a:rPr>
              <a:t>Prove lots </a:t>
            </a:r>
            <a:r>
              <a:rPr sz="1950" spc="185" dirty="0">
                <a:solidFill>
                  <a:srgbClr val="0000FF"/>
                </a:solidFill>
                <a:latin typeface="Arial"/>
                <a:cs typeface="Arial"/>
              </a:rPr>
              <a:t>of </a:t>
            </a:r>
            <a:r>
              <a:rPr sz="1950" spc="114" dirty="0">
                <a:solidFill>
                  <a:srgbClr val="0000FF"/>
                </a:solidFill>
                <a:latin typeface="Arial"/>
                <a:cs typeface="Arial"/>
              </a:rPr>
              <a:t>small </a:t>
            </a:r>
            <a:r>
              <a:rPr sz="1950" spc="130" dirty="0">
                <a:solidFill>
                  <a:srgbClr val="0000FF"/>
                </a:solidFill>
                <a:latin typeface="Arial"/>
                <a:cs typeface="Arial"/>
              </a:rPr>
              <a:t>theorems </a:t>
            </a:r>
            <a:r>
              <a:rPr sz="1950" spc="120" dirty="0">
                <a:solidFill>
                  <a:srgbClr val="0000FF"/>
                </a:solidFill>
                <a:latin typeface="Arial"/>
                <a:cs typeface="Arial"/>
              </a:rPr>
              <a:t>instead </a:t>
            </a:r>
            <a:r>
              <a:rPr sz="1950" spc="185" dirty="0">
                <a:solidFill>
                  <a:srgbClr val="0000FF"/>
                </a:solidFill>
                <a:latin typeface="Arial"/>
                <a:cs typeface="Arial"/>
              </a:rPr>
              <a:t>of </a:t>
            </a:r>
            <a:r>
              <a:rPr sz="1950" spc="105" dirty="0">
                <a:solidFill>
                  <a:srgbClr val="0000FF"/>
                </a:solidFill>
                <a:latin typeface="Arial"/>
                <a:cs typeface="Arial"/>
              </a:rPr>
              <a:t>one </a:t>
            </a:r>
            <a:r>
              <a:rPr sz="1950" spc="140" dirty="0">
                <a:solidFill>
                  <a:srgbClr val="0000FF"/>
                </a:solidFill>
                <a:latin typeface="Arial"/>
                <a:cs typeface="Arial"/>
              </a:rPr>
              <a:t>big </a:t>
            </a:r>
            <a:r>
              <a:rPr sz="1950" spc="740" dirty="0">
                <a:solidFill>
                  <a:srgbClr val="0000FF"/>
                </a:solidFill>
                <a:latin typeface="Arial"/>
                <a:cs typeface="Arial"/>
              </a:rPr>
              <a:t> </a:t>
            </a:r>
            <a:r>
              <a:rPr sz="1950" spc="105" dirty="0">
                <a:solidFill>
                  <a:srgbClr val="0000FF"/>
                </a:solidFill>
                <a:latin typeface="Arial"/>
                <a:cs typeface="Arial"/>
              </a:rPr>
              <a:t>one</a:t>
            </a:r>
            <a:endParaRPr sz="1950">
              <a:latin typeface="Arial"/>
              <a:cs typeface="Arial"/>
            </a:endParaRPr>
          </a:p>
          <a:p>
            <a:pPr marL="741680" lvl="1" indent="-288290">
              <a:lnSpc>
                <a:spcPct val="100000"/>
              </a:lnSpc>
              <a:spcBef>
                <a:spcPts val="790"/>
              </a:spcBef>
              <a:buClr>
                <a:srgbClr val="231F20"/>
              </a:buClr>
              <a:buSzPct val="105128"/>
              <a:buFont typeface="Lucida Sans Unicode"/>
              <a:buChar char="◦"/>
              <a:tabLst>
                <a:tab pos="742315" algn="l"/>
              </a:tabLst>
            </a:pPr>
            <a:r>
              <a:rPr sz="1950" spc="120" dirty="0">
                <a:solidFill>
                  <a:srgbClr val="0000FF"/>
                </a:solidFill>
                <a:latin typeface="Arial"/>
                <a:cs typeface="Arial"/>
              </a:rPr>
              <a:t>In </a:t>
            </a:r>
            <a:r>
              <a:rPr sz="1950" spc="85" dirty="0">
                <a:solidFill>
                  <a:srgbClr val="0000FF"/>
                </a:solidFill>
                <a:latin typeface="Arial"/>
                <a:cs typeface="Arial"/>
              </a:rPr>
              <a:t>a </a:t>
            </a:r>
            <a:r>
              <a:rPr sz="1950" spc="180" dirty="0">
                <a:solidFill>
                  <a:srgbClr val="0000FF"/>
                </a:solidFill>
                <a:latin typeface="Arial"/>
                <a:cs typeface="Arial"/>
              </a:rPr>
              <a:t>context </a:t>
            </a:r>
            <a:r>
              <a:rPr sz="1950" spc="120" dirty="0">
                <a:solidFill>
                  <a:srgbClr val="0000FF"/>
                </a:solidFill>
                <a:latin typeface="Arial"/>
                <a:cs typeface="Arial"/>
              </a:rPr>
              <a:t>where </a:t>
            </a:r>
            <a:r>
              <a:rPr sz="1950" spc="110" dirty="0">
                <a:solidFill>
                  <a:srgbClr val="0000FF"/>
                </a:solidFill>
                <a:latin typeface="Arial"/>
                <a:cs typeface="Arial"/>
              </a:rPr>
              <a:t>some </a:t>
            </a:r>
            <a:r>
              <a:rPr sz="1950" spc="105" dirty="0">
                <a:solidFill>
                  <a:srgbClr val="0000FF"/>
                </a:solidFill>
                <a:latin typeface="Arial"/>
                <a:cs typeface="Arial"/>
              </a:rPr>
              <a:t>failures </a:t>
            </a:r>
            <a:r>
              <a:rPr sz="1950" spc="120" dirty="0">
                <a:solidFill>
                  <a:srgbClr val="0000FF"/>
                </a:solidFill>
                <a:latin typeface="Arial"/>
                <a:cs typeface="Arial"/>
              </a:rPr>
              <a:t>can </a:t>
            </a:r>
            <a:r>
              <a:rPr sz="1950" spc="114" dirty="0">
                <a:solidFill>
                  <a:srgbClr val="0000FF"/>
                </a:solidFill>
                <a:latin typeface="Arial"/>
                <a:cs typeface="Arial"/>
              </a:rPr>
              <a:t>be </a:t>
            </a:r>
            <a:r>
              <a:rPr sz="1950" spc="730" dirty="0">
                <a:solidFill>
                  <a:srgbClr val="0000FF"/>
                </a:solidFill>
                <a:latin typeface="Arial"/>
                <a:cs typeface="Arial"/>
              </a:rPr>
              <a:t> </a:t>
            </a:r>
            <a:r>
              <a:rPr sz="1950" spc="155" dirty="0">
                <a:solidFill>
                  <a:srgbClr val="0000FF"/>
                </a:solidFill>
                <a:latin typeface="Arial"/>
                <a:cs typeface="Arial"/>
              </a:rPr>
              <a:t>tolerated</a:t>
            </a:r>
            <a:endParaRPr sz="1950">
              <a:latin typeface="Arial"/>
              <a:cs typeface="Arial"/>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652079" y="475981"/>
            <a:ext cx="6757034" cy="314960"/>
          </a:xfrm>
          <a:prstGeom prst="rect">
            <a:avLst/>
          </a:prstGeom>
        </p:spPr>
        <p:txBody>
          <a:bodyPr vert="horz" wrap="square" lIns="0" tIns="0" rIns="0" bIns="0" rtlCol="0">
            <a:spAutoFit/>
          </a:bodyPr>
          <a:lstStyle/>
          <a:p>
            <a:pPr marL="12700">
              <a:lnSpc>
                <a:spcPct val="100000"/>
              </a:lnSpc>
            </a:pPr>
            <a:r>
              <a:rPr sz="1950" spc="270" dirty="0">
                <a:solidFill>
                  <a:srgbClr val="231F20"/>
                </a:solidFill>
                <a:latin typeface="Arial"/>
                <a:cs typeface="Arial"/>
              </a:rPr>
              <a:t>Contexts </a:t>
            </a:r>
            <a:r>
              <a:rPr sz="1950" spc="245" dirty="0">
                <a:solidFill>
                  <a:srgbClr val="231F20"/>
                </a:solidFill>
                <a:latin typeface="Arial"/>
                <a:cs typeface="Arial"/>
              </a:rPr>
              <a:t>for </a:t>
            </a:r>
            <a:r>
              <a:rPr sz="1950" spc="250" dirty="0">
                <a:solidFill>
                  <a:srgbClr val="231F20"/>
                </a:solidFill>
                <a:latin typeface="Arial"/>
                <a:cs typeface="Arial"/>
              </a:rPr>
              <a:t>Failure-Tolerant </a:t>
            </a:r>
            <a:r>
              <a:rPr sz="1950" spc="320" dirty="0">
                <a:solidFill>
                  <a:srgbClr val="231F20"/>
                </a:solidFill>
                <a:latin typeface="Arial"/>
                <a:cs typeface="Arial"/>
              </a:rPr>
              <a:t>Theorem</a:t>
            </a:r>
            <a:r>
              <a:rPr sz="1950" spc="755" dirty="0">
                <a:solidFill>
                  <a:srgbClr val="231F20"/>
                </a:solidFill>
                <a:latin typeface="Arial"/>
                <a:cs typeface="Arial"/>
              </a:rPr>
              <a:t> </a:t>
            </a:r>
            <a:r>
              <a:rPr sz="1950" spc="260" dirty="0">
                <a:solidFill>
                  <a:srgbClr val="231F20"/>
                </a:solidFill>
                <a:latin typeface="Arial"/>
                <a:cs typeface="Arial"/>
              </a:rPr>
              <a:t>Proving</a:t>
            </a:r>
            <a:endParaRPr sz="1950">
              <a:latin typeface="Arial"/>
              <a:cs typeface="Arial"/>
            </a:endParaRPr>
          </a:p>
        </p:txBody>
      </p:sp>
      <p:sp>
        <p:nvSpPr>
          <p:cNvPr id="3" name="object 3"/>
          <p:cNvSpPr txBox="1"/>
          <p:nvPr/>
        </p:nvSpPr>
        <p:spPr>
          <a:xfrm>
            <a:off x="896439" y="987018"/>
            <a:ext cx="4977130" cy="837565"/>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50" dirty="0">
                <a:solidFill>
                  <a:srgbClr val="231F20"/>
                </a:solidFill>
                <a:latin typeface="Arial"/>
                <a:cs typeface="Arial"/>
              </a:rPr>
              <a:t>Extended </a:t>
            </a:r>
            <a:r>
              <a:rPr sz="1950" spc="165" dirty="0">
                <a:solidFill>
                  <a:srgbClr val="231F20"/>
                </a:solidFill>
                <a:latin typeface="Arial"/>
                <a:cs typeface="Arial"/>
              </a:rPr>
              <a:t>static </a:t>
            </a:r>
            <a:r>
              <a:rPr sz="1950" spc="125" dirty="0">
                <a:solidFill>
                  <a:srgbClr val="231F20"/>
                </a:solidFill>
                <a:latin typeface="Arial"/>
                <a:cs typeface="Arial"/>
              </a:rPr>
              <a:t>checking </a:t>
            </a:r>
            <a:r>
              <a:rPr sz="1950" spc="75" dirty="0">
                <a:solidFill>
                  <a:srgbClr val="231F20"/>
                </a:solidFill>
                <a:latin typeface="Arial"/>
                <a:cs typeface="Arial"/>
              </a:rPr>
              <a:t>(see</a:t>
            </a:r>
            <a:r>
              <a:rPr sz="1950" spc="660" dirty="0">
                <a:solidFill>
                  <a:srgbClr val="231F20"/>
                </a:solidFill>
                <a:latin typeface="Arial"/>
                <a:cs typeface="Arial"/>
              </a:rPr>
              <a:t> </a:t>
            </a:r>
            <a:r>
              <a:rPr sz="1950" spc="175" dirty="0">
                <a:solidFill>
                  <a:srgbClr val="231F20"/>
                </a:solidFill>
                <a:latin typeface="Arial"/>
                <a:cs typeface="Arial"/>
              </a:rPr>
              <a:t>later)</a:t>
            </a:r>
            <a:endParaRPr sz="1950">
              <a:latin typeface="Arial"/>
              <a:cs typeface="Arial"/>
            </a:endParaRPr>
          </a:p>
          <a:p>
            <a:pPr marL="12700">
              <a:lnSpc>
                <a:spcPct val="100000"/>
              </a:lnSpc>
              <a:spcBef>
                <a:spcPts val="1580"/>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4" name="object 4"/>
          <p:cNvSpPr txBox="1"/>
          <p:nvPr/>
        </p:nvSpPr>
        <p:spPr>
          <a:xfrm>
            <a:off x="1185161" y="1498053"/>
            <a:ext cx="4190365" cy="314325"/>
          </a:xfrm>
          <a:prstGeom prst="rect">
            <a:avLst/>
          </a:prstGeom>
        </p:spPr>
        <p:txBody>
          <a:bodyPr vert="horz" wrap="square" lIns="0" tIns="0" rIns="0" bIns="0" rtlCol="0">
            <a:spAutoFit/>
          </a:bodyPr>
          <a:lstStyle/>
          <a:p>
            <a:pPr marL="12700">
              <a:lnSpc>
                <a:spcPct val="100000"/>
              </a:lnSpc>
            </a:pPr>
            <a:r>
              <a:rPr sz="1950" spc="175" dirty="0">
                <a:solidFill>
                  <a:srgbClr val="231F20"/>
                </a:solidFill>
                <a:latin typeface="Arial"/>
                <a:cs typeface="Arial"/>
              </a:rPr>
              <a:t>Property </a:t>
            </a:r>
            <a:r>
              <a:rPr sz="1950" spc="95" dirty="0">
                <a:solidFill>
                  <a:srgbClr val="231F20"/>
                </a:solidFill>
                <a:latin typeface="Arial"/>
                <a:cs typeface="Arial"/>
              </a:rPr>
              <a:t>preserving</a:t>
            </a:r>
            <a:r>
              <a:rPr sz="1950" spc="340" dirty="0">
                <a:solidFill>
                  <a:srgbClr val="231F20"/>
                </a:solidFill>
                <a:latin typeface="Arial"/>
                <a:cs typeface="Arial"/>
              </a:rPr>
              <a:t> </a:t>
            </a:r>
            <a:r>
              <a:rPr sz="1950" spc="140" dirty="0">
                <a:solidFill>
                  <a:srgbClr val="231F20"/>
                </a:solidFill>
                <a:latin typeface="Arial"/>
                <a:cs typeface="Arial"/>
              </a:rPr>
              <a:t>abstractions</a:t>
            </a:r>
            <a:endParaRPr sz="1950">
              <a:latin typeface="Arial"/>
              <a:cs typeface="Arial"/>
            </a:endParaRPr>
          </a:p>
        </p:txBody>
      </p:sp>
      <p:sp>
        <p:nvSpPr>
          <p:cNvPr id="5" name="object 5"/>
          <p:cNvSpPr txBox="1"/>
          <p:nvPr/>
        </p:nvSpPr>
        <p:spPr>
          <a:xfrm>
            <a:off x="896433" y="1924849"/>
            <a:ext cx="8197850" cy="4434205"/>
          </a:xfrm>
          <a:prstGeom prst="rect">
            <a:avLst/>
          </a:prstGeom>
        </p:spPr>
        <p:txBody>
          <a:bodyPr vert="horz" wrap="square" lIns="0" tIns="0" rIns="0" bIns="0" rtlCol="0">
            <a:spAutoFit/>
          </a:bodyPr>
          <a:lstStyle/>
          <a:p>
            <a:pPr marL="741680" indent="-288290">
              <a:lnSpc>
                <a:spcPct val="100000"/>
              </a:lnSpc>
              <a:buSzPct val="105128"/>
              <a:buFont typeface="Lucida Sans Unicode"/>
              <a:buChar char="◦"/>
              <a:tabLst>
                <a:tab pos="742315" algn="l"/>
              </a:tabLst>
            </a:pPr>
            <a:r>
              <a:rPr sz="1950" spc="114" dirty="0">
                <a:solidFill>
                  <a:srgbClr val="231F20"/>
                </a:solidFill>
                <a:latin typeface="Arial"/>
                <a:cs typeface="Arial"/>
              </a:rPr>
              <a:t>Instead </a:t>
            </a:r>
            <a:r>
              <a:rPr sz="1950" spc="185" dirty="0">
                <a:solidFill>
                  <a:srgbClr val="231F20"/>
                </a:solidFill>
                <a:latin typeface="Arial"/>
                <a:cs typeface="Arial"/>
              </a:rPr>
              <a:t>of </a:t>
            </a:r>
            <a:r>
              <a:rPr sz="1950" spc="150" dirty="0">
                <a:solidFill>
                  <a:srgbClr val="0000FF"/>
                </a:solidFill>
                <a:latin typeface="Arial"/>
                <a:cs typeface="Arial"/>
              </a:rPr>
              <a:t>justifying </a:t>
            </a:r>
            <a:r>
              <a:rPr sz="1950" spc="120" dirty="0">
                <a:solidFill>
                  <a:srgbClr val="231F20"/>
                </a:solidFill>
                <a:latin typeface="Arial"/>
                <a:cs typeface="Arial"/>
              </a:rPr>
              <a:t>an</a:t>
            </a:r>
            <a:r>
              <a:rPr sz="1950" spc="660" dirty="0">
                <a:solidFill>
                  <a:srgbClr val="231F20"/>
                </a:solidFill>
                <a:latin typeface="Arial"/>
                <a:cs typeface="Arial"/>
              </a:rPr>
              <a:t> </a:t>
            </a:r>
            <a:r>
              <a:rPr sz="1950" spc="155" dirty="0">
                <a:solidFill>
                  <a:srgbClr val="231F20"/>
                </a:solidFill>
                <a:latin typeface="Arial"/>
                <a:cs typeface="Arial"/>
              </a:rPr>
              <a:t>abstraction,</a:t>
            </a:r>
            <a:endParaRPr sz="1950">
              <a:latin typeface="Arial"/>
              <a:cs typeface="Arial"/>
            </a:endParaRPr>
          </a:p>
          <a:p>
            <a:pPr marL="741680" indent="-288290">
              <a:lnSpc>
                <a:spcPct val="100000"/>
              </a:lnSpc>
              <a:spcBef>
                <a:spcPts val="800"/>
              </a:spcBef>
              <a:buSzPct val="105128"/>
              <a:buFont typeface="Lucida Sans Unicode"/>
              <a:buChar char="◦"/>
              <a:tabLst>
                <a:tab pos="742315" algn="l"/>
              </a:tabLst>
            </a:pPr>
            <a:r>
              <a:rPr sz="1950" spc="60" dirty="0">
                <a:solidFill>
                  <a:srgbClr val="231F20"/>
                </a:solidFill>
                <a:latin typeface="Arial"/>
                <a:cs typeface="Arial"/>
              </a:rPr>
              <a:t>Use </a:t>
            </a:r>
            <a:r>
              <a:rPr sz="1950" spc="150" dirty="0">
                <a:solidFill>
                  <a:srgbClr val="231F20"/>
                </a:solidFill>
                <a:latin typeface="Arial"/>
                <a:cs typeface="Arial"/>
              </a:rPr>
              <a:t>deduction </a:t>
            </a:r>
            <a:r>
              <a:rPr sz="1950" spc="250" dirty="0">
                <a:solidFill>
                  <a:srgbClr val="231F20"/>
                </a:solidFill>
                <a:latin typeface="Arial"/>
                <a:cs typeface="Arial"/>
              </a:rPr>
              <a:t>to </a:t>
            </a:r>
            <a:r>
              <a:rPr sz="1950" spc="130" dirty="0">
                <a:solidFill>
                  <a:srgbClr val="FF0000"/>
                </a:solidFill>
                <a:latin typeface="Arial"/>
                <a:cs typeface="Arial"/>
              </a:rPr>
              <a:t>calculate</a:t>
            </a:r>
            <a:r>
              <a:rPr sz="1950" spc="615" dirty="0">
                <a:solidFill>
                  <a:srgbClr val="FF0000"/>
                </a:solidFill>
                <a:latin typeface="Arial"/>
                <a:cs typeface="Arial"/>
              </a:rPr>
              <a:t> </a:t>
            </a:r>
            <a:r>
              <a:rPr sz="1950" spc="229" dirty="0">
                <a:solidFill>
                  <a:srgbClr val="231F20"/>
                </a:solidFill>
                <a:latin typeface="Arial"/>
                <a:cs typeface="Arial"/>
              </a:rPr>
              <a:t>it</a:t>
            </a:r>
            <a:endParaRPr sz="1950">
              <a:latin typeface="Arial"/>
              <a:cs typeface="Arial"/>
            </a:endParaRPr>
          </a:p>
          <a:p>
            <a:pPr marL="300990" marR="156210" indent="-288290">
              <a:lnSpc>
                <a:spcPct val="118900"/>
              </a:lnSpc>
              <a:spcBef>
                <a:spcPts val="1115"/>
              </a:spcBef>
              <a:buSzPct val="105128"/>
              <a:buFont typeface="Lucida Sans Unicode"/>
              <a:buChar char="•"/>
              <a:tabLst>
                <a:tab pos="301625" algn="l"/>
              </a:tabLst>
            </a:pPr>
            <a:r>
              <a:rPr sz="1950" spc="105" dirty="0">
                <a:solidFill>
                  <a:srgbClr val="231F20"/>
                </a:solidFill>
                <a:latin typeface="Arial"/>
                <a:cs typeface="Arial"/>
              </a:rPr>
              <a:t>Given </a:t>
            </a:r>
            <a:r>
              <a:rPr sz="1950" spc="85" dirty="0">
                <a:solidFill>
                  <a:srgbClr val="231F20"/>
                </a:solidFill>
                <a:latin typeface="Arial"/>
                <a:cs typeface="Arial"/>
              </a:rPr>
              <a:t>a </a:t>
            </a:r>
            <a:r>
              <a:rPr sz="1950" spc="160" dirty="0">
                <a:solidFill>
                  <a:srgbClr val="231F20"/>
                </a:solidFill>
                <a:latin typeface="Arial"/>
                <a:cs typeface="Arial"/>
              </a:rPr>
              <a:t>transition </a:t>
            </a:r>
            <a:r>
              <a:rPr sz="1950" spc="145" dirty="0">
                <a:solidFill>
                  <a:srgbClr val="231F20"/>
                </a:solidFill>
                <a:latin typeface="Arial"/>
                <a:cs typeface="Arial"/>
              </a:rPr>
              <a:t>relation </a:t>
            </a:r>
            <a:r>
              <a:rPr sz="2050" i="1" spc="30" dirty="0">
                <a:solidFill>
                  <a:srgbClr val="231F20"/>
                </a:solidFill>
                <a:latin typeface="Meiryo"/>
                <a:cs typeface="Meiryo"/>
              </a:rPr>
              <a:t>tt </a:t>
            </a:r>
            <a:r>
              <a:rPr sz="1950" spc="155" dirty="0">
                <a:solidFill>
                  <a:srgbClr val="231F20"/>
                </a:solidFill>
                <a:latin typeface="Arial"/>
                <a:cs typeface="Arial"/>
              </a:rPr>
              <a:t>on </a:t>
            </a:r>
            <a:r>
              <a:rPr sz="2050" i="1" spc="-35" dirty="0">
                <a:solidFill>
                  <a:srgbClr val="231F20"/>
                </a:solidFill>
                <a:latin typeface="Meiryo"/>
                <a:cs typeface="Meiryo"/>
              </a:rPr>
              <a:t>S </a:t>
            </a:r>
            <a:r>
              <a:rPr sz="1950" spc="130" dirty="0">
                <a:solidFill>
                  <a:srgbClr val="231F20"/>
                </a:solidFill>
                <a:latin typeface="Arial"/>
                <a:cs typeface="Arial"/>
              </a:rPr>
              <a:t>and </a:t>
            </a:r>
            <a:r>
              <a:rPr sz="1950" spc="150" dirty="0">
                <a:solidFill>
                  <a:srgbClr val="231F20"/>
                </a:solidFill>
                <a:latin typeface="Arial"/>
                <a:cs typeface="Arial"/>
              </a:rPr>
              <a:t>property </a:t>
            </a:r>
            <a:r>
              <a:rPr sz="2050" i="1" spc="65" dirty="0">
                <a:solidFill>
                  <a:srgbClr val="231F20"/>
                </a:solidFill>
                <a:latin typeface="Meiryo"/>
                <a:cs typeface="Meiryo"/>
              </a:rPr>
              <a:t>P </a:t>
            </a:r>
            <a:r>
              <a:rPr sz="1950" spc="145" dirty="0">
                <a:solidFill>
                  <a:srgbClr val="231F20"/>
                </a:solidFill>
                <a:latin typeface="Arial"/>
                <a:cs typeface="Arial"/>
              </a:rPr>
              <a:t>, </a:t>
            </a:r>
            <a:r>
              <a:rPr sz="1950" spc="85" dirty="0">
                <a:solidFill>
                  <a:srgbClr val="231F20"/>
                </a:solidFill>
                <a:latin typeface="Arial"/>
                <a:cs typeface="Arial"/>
              </a:rPr>
              <a:t>a  </a:t>
            </a:r>
            <a:r>
              <a:rPr sz="1950" spc="125" dirty="0">
                <a:solidFill>
                  <a:srgbClr val="231F20"/>
                </a:solidFill>
                <a:latin typeface="Arial"/>
                <a:cs typeface="Arial"/>
              </a:rPr>
              <a:t>property-preserving </a:t>
            </a:r>
            <a:r>
              <a:rPr sz="1950" spc="155" dirty="0">
                <a:solidFill>
                  <a:srgbClr val="231F20"/>
                </a:solidFill>
                <a:latin typeface="Arial"/>
                <a:cs typeface="Arial"/>
              </a:rPr>
              <a:t>abstraction </a:t>
            </a:r>
            <a:r>
              <a:rPr sz="1950" spc="80" dirty="0">
                <a:solidFill>
                  <a:srgbClr val="231F20"/>
                </a:solidFill>
                <a:latin typeface="Arial"/>
                <a:cs typeface="Arial"/>
              </a:rPr>
              <a:t>yields </a:t>
            </a:r>
            <a:r>
              <a:rPr sz="1950" spc="85" dirty="0">
                <a:solidFill>
                  <a:srgbClr val="231F20"/>
                </a:solidFill>
                <a:latin typeface="Arial"/>
                <a:cs typeface="Arial"/>
              </a:rPr>
              <a:t>a </a:t>
            </a:r>
            <a:r>
              <a:rPr sz="1950" spc="160" dirty="0">
                <a:solidFill>
                  <a:srgbClr val="231F20"/>
                </a:solidFill>
                <a:latin typeface="Arial"/>
                <a:cs typeface="Arial"/>
              </a:rPr>
              <a:t>transition </a:t>
            </a:r>
            <a:r>
              <a:rPr sz="1950" spc="145" dirty="0">
                <a:solidFill>
                  <a:srgbClr val="231F20"/>
                </a:solidFill>
                <a:latin typeface="Arial"/>
                <a:cs typeface="Arial"/>
              </a:rPr>
              <a:t>relation </a:t>
            </a:r>
            <a:r>
              <a:rPr sz="2050" i="1" spc="-550" dirty="0">
                <a:solidFill>
                  <a:srgbClr val="231F20"/>
                </a:solidFill>
                <a:latin typeface="Meiryo"/>
                <a:cs typeface="Meiryo"/>
              </a:rPr>
              <a:t>tt</a:t>
            </a:r>
            <a:r>
              <a:rPr sz="3075" spc="-825" baseline="13550" dirty="0">
                <a:solidFill>
                  <a:srgbClr val="231F20"/>
                </a:solidFill>
                <a:latin typeface="Tahoma"/>
                <a:cs typeface="Tahoma"/>
              </a:rPr>
              <a:t>ˆ  </a:t>
            </a:r>
            <a:r>
              <a:rPr sz="1950" spc="155" dirty="0">
                <a:solidFill>
                  <a:srgbClr val="231F20"/>
                </a:solidFill>
                <a:latin typeface="Arial"/>
                <a:cs typeface="Arial"/>
              </a:rPr>
              <a:t>on </a:t>
            </a:r>
            <a:r>
              <a:rPr sz="2050" i="1" spc="-520" dirty="0">
                <a:solidFill>
                  <a:srgbClr val="231F20"/>
                </a:solidFill>
                <a:latin typeface="Meiryo"/>
                <a:cs typeface="Meiryo"/>
              </a:rPr>
              <a:t>S</a:t>
            </a:r>
            <a:r>
              <a:rPr sz="3075" spc="-780" baseline="13550" dirty="0">
                <a:solidFill>
                  <a:srgbClr val="231F20"/>
                </a:solidFill>
                <a:latin typeface="Tahoma"/>
                <a:cs typeface="Tahoma"/>
              </a:rPr>
              <a:t>ˆ     </a:t>
            </a:r>
            <a:r>
              <a:rPr sz="3075" spc="-600" baseline="13550" dirty="0">
                <a:solidFill>
                  <a:srgbClr val="231F20"/>
                </a:solidFill>
                <a:latin typeface="Tahoma"/>
                <a:cs typeface="Tahoma"/>
              </a:rPr>
              <a:t> </a:t>
            </a:r>
            <a:r>
              <a:rPr sz="1950" spc="130" dirty="0">
                <a:solidFill>
                  <a:srgbClr val="231F20"/>
                </a:solidFill>
                <a:latin typeface="Arial"/>
                <a:cs typeface="Arial"/>
              </a:rPr>
              <a:t>and </a:t>
            </a:r>
            <a:r>
              <a:rPr sz="1950" spc="150" dirty="0">
                <a:solidFill>
                  <a:srgbClr val="231F20"/>
                </a:solidFill>
                <a:latin typeface="Arial"/>
                <a:cs typeface="Arial"/>
              </a:rPr>
              <a:t>property </a:t>
            </a:r>
            <a:r>
              <a:rPr sz="2050" i="1" spc="-445" dirty="0">
                <a:solidFill>
                  <a:srgbClr val="231F20"/>
                </a:solidFill>
                <a:latin typeface="Meiryo"/>
                <a:cs typeface="Meiryo"/>
              </a:rPr>
              <a:t>P</a:t>
            </a:r>
            <a:r>
              <a:rPr sz="3075" spc="-667" baseline="13550" dirty="0">
                <a:solidFill>
                  <a:srgbClr val="231F20"/>
                </a:solidFill>
                <a:latin typeface="Tahoma"/>
                <a:cs typeface="Tahoma"/>
              </a:rPr>
              <a:t>ˆ     </a:t>
            </a:r>
            <a:r>
              <a:rPr sz="1950" spc="100" dirty="0">
                <a:solidFill>
                  <a:srgbClr val="231F20"/>
                </a:solidFill>
                <a:latin typeface="Arial"/>
                <a:cs typeface="Arial"/>
              </a:rPr>
              <a:t>such</a:t>
            </a:r>
            <a:r>
              <a:rPr sz="1950" spc="595" dirty="0">
                <a:solidFill>
                  <a:srgbClr val="231F20"/>
                </a:solidFill>
                <a:latin typeface="Arial"/>
                <a:cs typeface="Arial"/>
              </a:rPr>
              <a:t> </a:t>
            </a:r>
            <a:r>
              <a:rPr sz="1950" spc="235" dirty="0">
                <a:solidFill>
                  <a:srgbClr val="231F20"/>
                </a:solidFill>
                <a:latin typeface="Arial"/>
                <a:cs typeface="Arial"/>
              </a:rPr>
              <a:t>that</a:t>
            </a:r>
            <a:endParaRPr sz="1950">
              <a:latin typeface="Arial"/>
              <a:cs typeface="Arial"/>
            </a:endParaRPr>
          </a:p>
          <a:p>
            <a:pPr marL="314325" algn="ctr">
              <a:lnSpc>
                <a:spcPct val="100000"/>
              </a:lnSpc>
              <a:spcBef>
                <a:spcPts val="1714"/>
              </a:spcBef>
            </a:pPr>
            <a:r>
              <a:rPr sz="2050" i="1" spc="-550" dirty="0">
                <a:solidFill>
                  <a:srgbClr val="231F20"/>
                </a:solidFill>
                <a:latin typeface="Meiryo"/>
                <a:cs typeface="Meiryo"/>
              </a:rPr>
              <a:t>tt</a:t>
            </a:r>
            <a:r>
              <a:rPr sz="3075" spc="-825" baseline="13550" dirty="0">
                <a:solidFill>
                  <a:srgbClr val="231F20"/>
                </a:solidFill>
                <a:latin typeface="Tahoma"/>
                <a:cs typeface="Tahoma"/>
              </a:rPr>
              <a:t>ˆ        </a:t>
            </a:r>
            <a:r>
              <a:rPr sz="2050" spc="-215" dirty="0">
                <a:solidFill>
                  <a:srgbClr val="231F20"/>
                </a:solidFill>
                <a:latin typeface="Lucida Sans Unicode"/>
                <a:cs typeface="Lucida Sans Unicode"/>
              </a:rPr>
              <a:t>|</a:t>
            </a:r>
            <a:r>
              <a:rPr sz="2050" spc="-215" dirty="0">
                <a:solidFill>
                  <a:srgbClr val="231F20"/>
                </a:solidFill>
                <a:latin typeface="Tahoma"/>
                <a:cs typeface="Tahoma"/>
              </a:rPr>
              <a:t>= </a:t>
            </a:r>
            <a:r>
              <a:rPr sz="2050" i="1" spc="-445" dirty="0">
                <a:solidFill>
                  <a:srgbClr val="231F20"/>
                </a:solidFill>
                <a:latin typeface="Meiryo"/>
                <a:cs typeface="Meiryo"/>
              </a:rPr>
              <a:t>P</a:t>
            </a:r>
            <a:r>
              <a:rPr sz="3075" spc="-667" baseline="13550" dirty="0">
                <a:solidFill>
                  <a:srgbClr val="231F20"/>
                </a:solidFill>
                <a:latin typeface="Tahoma"/>
                <a:cs typeface="Tahoma"/>
              </a:rPr>
              <a:t>ˆ   </a:t>
            </a:r>
            <a:r>
              <a:rPr sz="2050" spc="140" dirty="0">
                <a:solidFill>
                  <a:srgbClr val="231F20"/>
                </a:solidFill>
                <a:latin typeface="Lucida Sans Unicode"/>
                <a:cs typeface="Lucida Sans Unicode"/>
              </a:rPr>
              <a:t>⇒ </a:t>
            </a:r>
            <a:r>
              <a:rPr sz="2050" i="1" spc="30" dirty="0">
                <a:solidFill>
                  <a:srgbClr val="231F20"/>
                </a:solidFill>
                <a:latin typeface="Meiryo"/>
                <a:cs typeface="Meiryo"/>
              </a:rPr>
              <a:t>tt </a:t>
            </a:r>
            <a:r>
              <a:rPr sz="2050" spc="-215" dirty="0">
                <a:solidFill>
                  <a:srgbClr val="231F20"/>
                </a:solidFill>
                <a:latin typeface="Lucida Sans Unicode"/>
                <a:cs typeface="Lucida Sans Unicode"/>
              </a:rPr>
              <a:t>|</a:t>
            </a:r>
            <a:r>
              <a:rPr sz="2050" spc="-215" dirty="0">
                <a:solidFill>
                  <a:srgbClr val="231F20"/>
                </a:solidFill>
                <a:latin typeface="Tahoma"/>
                <a:cs typeface="Tahoma"/>
              </a:rPr>
              <a:t>=</a:t>
            </a:r>
            <a:r>
              <a:rPr sz="2050" spc="-285" dirty="0">
                <a:solidFill>
                  <a:srgbClr val="231F20"/>
                </a:solidFill>
                <a:latin typeface="Tahoma"/>
                <a:cs typeface="Tahoma"/>
              </a:rPr>
              <a:t> </a:t>
            </a:r>
            <a:r>
              <a:rPr sz="2050" i="1" spc="65" dirty="0">
                <a:solidFill>
                  <a:srgbClr val="231F20"/>
                </a:solidFill>
                <a:latin typeface="Meiryo"/>
                <a:cs typeface="Meiryo"/>
              </a:rPr>
              <a:t>P</a:t>
            </a:r>
            <a:endParaRPr sz="2050">
              <a:latin typeface="Meiryo"/>
              <a:cs typeface="Meiryo"/>
            </a:endParaRPr>
          </a:p>
          <a:p>
            <a:pPr marL="288290" algn="ctr">
              <a:lnSpc>
                <a:spcPct val="100000"/>
              </a:lnSpc>
              <a:spcBef>
                <a:spcPts val="1714"/>
              </a:spcBef>
            </a:pPr>
            <a:r>
              <a:rPr sz="1950" spc="160" dirty="0">
                <a:solidFill>
                  <a:srgbClr val="231F20"/>
                </a:solidFill>
                <a:latin typeface="Arial"/>
                <a:cs typeface="Arial"/>
              </a:rPr>
              <a:t>Where </a:t>
            </a:r>
            <a:r>
              <a:rPr sz="2050" i="1" spc="-550" dirty="0">
                <a:solidFill>
                  <a:srgbClr val="231F20"/>
                </a:solidFill>
                <a:latin typeface="Meiryo"/>
                <a:cs typeface="Meiryo"/>
              </a:rPr>
              <a:t>tt</a:t>
            </a:r>
            <a:r>
              <a:rPr sz="3075" spc="-825" baseline="13550" dirty="0">
                <a:solidFill>
                  <a:srgbClr val="231F20"/>
                </a:solidFill>
                <a:latin typeface="Tahoma"/>
                <a:cs typeface="Tahoma"/>
              </a:rPr>
              <a:t>ˆ          </a:t>
            </a:r>
            <a:r>
              <a:rPr sz="1950" spc="130" dirty="0">
                <a:solidFill>
                  <a:srgbClr val="231F20"/>
                </a:solidFill>
                <a:latin typeface="Arial"/>
                <a:cs typeface="Arial"/>
              </a:rPr>
              <a:t>and </a:t>
            </a:r>
            <a:r>
              <a:rPr sz="2050" i="1" spc="-445" dirty="0">
                <a:solidFill>
                  <a:srgbClr val="231F20"/>
                </a:solidFill>
                <a:latin typeface="Meiryo"/>
                <a:cs typeface="Meiryo"/>
              </a:rPr>
              <a:t>P</a:t>
            </a:r>
            <a:r>
              <a:rPr sz="3075" spc="-667" baseline="13550" dirty="0">
                <a:solidFill>
                  <a:srgbClr val="231F20"/>
                </a:solidFill>
                <a:latin typeface="Tahoma"/>
                <a:cs typeface="Tahoma"/>
              </a:rPr>
              <a:t>ˆ     </a:t>
            </a:r>
            <a:r>
              <a:rPr sz="1950" spc="235" dirty="0">
                <a:solidFill>
                  <a:srgbClr val="231F20"/>
                </a:solidFill>
                <a:latin typeface="Arial"/>
                <a:cs typeface="Arial"/>
              </a:rPr>
              <a:t>that </a:t>
            </a:r>
            <a:r>
              <a:rPr sz="1950" spc="65" dirty="0">
                <a:solidFill>
                  <a:srgbClr val="231F20"/>
                </a:solidFill>
                <a:latin typeface="Arial"/>
                <a:cs typeface="Arial"/>
              </a:rPr>
              <a:t>are </a:t>
            </a:r>
            <a:r>
              <a:rPr sz="1950" spc="110" dirty="0">
                <a:solidFill>
                  <a:srgbClr val="231F20"/>
                </a:solidFill>
                <a:latin typeface="Arial"/>
                <a:cs typeface="Arial"/>
              </a:rPr>
              <a:t>simple </a:t>
            </a:r>
            <a:r>
              <a:rPr sz="1950" spc="250" dirty="0">
                <a:solidFill>
                  <a:srgbClr val="231F20"/>
                </a:solidFill>
                <a:latin typeface="Arial"/>
                <a:cs typeface="Arial"/>
              </a:rPr>
              <a:t>to </a:t>
            </a:r>
            <a:r>
              <a:rPr sz="1950" spc="95" dirty="0">
                <a:solidFill>
                  <a:srgbClr val="231F20"/>
                </a:solidFill>
                <a:latin typeface="Arial"/>
                <a:cs typeface="Arial"/>
              </a:rPr>
              <a:t>analyze </a:t>
            </a:r>
            <a:r>
              <a:rPr sz="1950" spc="150" dirty="0">
                <a:solidFill>
                  <a:srgbClr val="231F20"/>
                </a:solidFill>
                <a:latin typeface="Arial"/>
                <a:cs typeface="Arial"/>
              </a:rPr>
              <a:t>(e.g., </a:t>
            </a:r>
            <a:r>
              <a:rPr sz="1950" spc="160" dirty="0">
                <a:solidFill>
                  <a:srgbClr val="231F20"/>
                </a:solidFill>
                <a:latin typeface="Arial"/>
                <a:cs typeface="Arial"/>
              </a:rPr>
              <a:t>finite </a:t>
            </a:r>
            <a:r>
              <a:rPr sz="1950" spc="645" dirty="0">
                <a:solidFill>
                  <a:srgbClr val="231F20"/>
                </a:solidFill>
                <a:latin typeface="Arial"/>
                <a:cs typeface="Arial"/>
              </a:rPr>
              <a:t> </a:t>
            </a:r>
            <a:r>
              <a:rPr sz="1950" spc="180" dirty="0">
                <a:solidFill>
                  <a:srgbClr val="231F20"/>
                </a:solidFill>
                <a:latin typeface="Arial"/>
                <a:cs typeface="Arial"/>
              </a:rPr>
              <a:t>state)</a:t>
            </a:r>
            <a:endParaRPr sz="1950">
              <a:latin typeface="Arial"/>
              <a:cs typeface="Arial"/>
            </a:endParaRPr>
          </a:p>
          <a:p>
            <a:pPr marL="300990" marR="588645" indent="-288290">
              <a:lnSpc>
                <a:spcPct val="125000"/>
              </a:lnSpc>
              <a:spcBef>
                <a:spcPts val="1075"/>
              </a:spcBef>
              <a:buSzPct val="105128"/>
              <a:buFont typeface="Lucida Sans Unicode"/>
              <a:buChar char="•"/>
              <a:tabLst>
                <a:tab pos="301625" algn="l"/>
              </a:tabLst>
            </a:pPr>
            <a:r>
              <a:rPr sz="1950" spc="295" dirty="0">
                <a:solidFill>
                  <a:srgbClr val="231F20"/>
                </a:solidFill>
                <a:latin typeface="Arial"/>
                <a:cs typeface="Arial"/>
              </a:rPr>
              <a:t>A </a:t>
            </a:r>
            <a:r>
              <a:rPr sz="1950" spc="185" dirty="0">
                <a:solidFill>
                  <a:srgbClr val="231F20"/>
                </a:solidFill>
                <a:latin typeface="Arial"/>
                <a:cs typeface="Arial"/>
              </a:rPr>
              <a:t>good </a:t>
            </a:r>
            <a:r>
              <a:rPr sz="1950" spc="155" dirty="0">
                <a:solidFill>
                  <a:srgbClr val="231F20"/>
                </a:solidFill>
                <a:latin typeface="Arial"/>
                <a:cs typeface="Arial"/>
              </a:rPr>
              <a:t>abstraction </a:t>
            </a:r>
            <a:r>
              <a:rPr sz="1950" spc="135" dirty="0">
                <a:solidFill>
                  <a:srgbClr val="231F20"/>
                </a:solidFill>
                <a:latin typeface="Arial"/>
                <a:cs typeface="Arial"/>
              </a:rPr>
              <a:t>typically </a:t>
            </a:r>
            <a:r>
              <a:rPr sz="1950" spc="195" dirty="0">
                <a:solidFill>
                  <a:srgbClr val="231F20"/>
                </a:solidFill>
                <a:latin typeface="Arial"/>
                <a:cs typeface="Arial"/>
              </a:rPr>
              <a:t>(for </a:t>
            </a:r>
            <a:r>
              <a:rPr sz="1950" spc="114" dirty="0">
                <a:solidFill>
                  <a:srgbClr val="231F20"/>
                </a:solidFill>
                <a:latin typeface="Arial"/>
                <a:cs typeface="Arial"/>
              </a:rPr>
              <a:t>safety </a:t>
            </a:r>
            <a:r>
              <a:rPr sz="1950" spc="140" dirty="0">
                <a:solidFill>
                  <a:srgbClr val="231F20"/>
                </a:solidFill>
                <a:latin typeface="Arial"/>
                <a:cs typeface="Arial"/>
              </a:rPr>
              <a:t>properties)  introduces </a:t>
            </a:r>
            <a:r>
              <a:rPr sz="1950" spc="150" dirty="0">
                <a:solidFill>
                  <a:srgbClr val="231F20"/>
                </a:solidFill>
                <a:latin typeface="Arial"/>
                <a:cs typeface="Arial"/>
              </a:rPr>
              <a:t>nondeterminism </a:t>
            </a:r>
            <a:r>
              <a:rPr sz="1950" spc="125" dirty="0">
                <a:solidFill>
                  <a:srgbClr val="231F20"/>
                </a:solidFill>
                <a:latin typeface="Arial"/>
                <a:cs typeface="Arial"/>
              </a:rPr>
              <a:t>while </a:t>
            </a:r>
            <a:r>
              <a:rPr sz="1950" spc="95" dirty="0">
                <a:solidFill>
                  <a:srgbClr val="231F20"/>
                </a:solidFill>
                <a:latin typeface="Arial"/>
                <a:cs typeface="Arial"/>
              </a:rPr>
              <a:t>preserving </a:t>
            </a:r>
            <a:r>
              <a:rPr sz="1950" spc="175" dirty="0">
                <a:solidFill>
                  <a:srgbClr val="231F20"/>
                </a:solidFill>
                <a:latin typeface="Arial"/>
                <a:cs typeface="Arial"/>
              </a:rPr>
              <a:t>the </a:t>
            </a:r>
            <a:r>
              <a:rPr sz="1950" spc="235" dirty="0">
                <a:solidFill>
                  <a:srgbClr val="231F20"/>
                </a:solidFill>
                <a:latin typeface="Arial"/>
                <a:cs typeface="Arial"/>
              </a:rPr>
              <a:t> </a:t>
            </a:r>
            <a:r>
              <a:rPr sz="1950" spc="150" dirty="0">
                <a:solidFill>
                  <a:srgbClr val="231F20"/>
                </a:solidFill>
                <a:latin typeface="Arial"/>
                <a:cs typeface="Arial"/>
              </a:rPr>
              <a:t>property</a:t>
            </a:r>
            <a:endParaRPr sz="1950">
              <a:latin typeface="Arial"/>
              <a:cs typeface="Arial"/>
            </a:endParaRPr>
          </a:p>
          <a:p>
            <a:pPr marL="300990" indent="-288290">
              <a:lnSpc>
                <a:spcPct val="100000"/>
              </a:lnSpc>
              <a:spcBef>
                <a:spcPts val="1680"/>
              </a:spcBef>
              <a:buSzPct val="105128"/>
              <a:buFont typeface="Lucida Sans Unicode"/>
              <a:buChar char="•"/>
              <a:tabLst>
                <a:tab pos="301625" algn="l"/>
              </a:tabLst>
            </a:pPr>
            <a:r>
              <a:rPr sz="1950" spc="180" dirty="0">
                <a:solidFill>
                  <a:srgbClr val="231F20"/>
                </a:solidFill>
                <a:latin typeface="Arial"/>
                <a:cs typeface="Arial"/>
              </a:rPr>
              <a:t>Note </a:t>
            </a:r>
            <a:r>
              <a:rPr sz="1950" spc="235" dirty="0">
                <a:solidFill>
                  <a:srgbClr val="231F20"/>
                </a:solidFill>
                <a:latin typeface="Arial"/>
                <a:cs typeface="Arial"/>
              </a:rPr>
              <a:t>that </a:t>
            </a:r>
            <a:r>
              <a:rPr sz="1950" spc="155" dirty="0">
                <a:solidFill>
                  <a:srgbClr val="231F20"/>
                </a:solidFill>
                <a:latin typeface="Arial"/>
                <a:cs typeface="Arial"/>
              </a:rPr>
              <a:t>abstraction </a:t>
            </a:r>
            <a:r>
              <a:rPr sz="1950" spc="40" dirty="0">
                <a:solidFill>
                  <a:srgbClr val="231F20"/>
                </a:solidFill>
                <a:latin typeface="Arial"/>
                <a:cs typeface="Arial"/>
              </a:rPr>
              <a:t>is </a:t>
            </a:r>
            <a:r>
              <a:rPr sz="1950" spc="220" dirty="0">
                <a:solidFill>
                  <a:srgbClr val="231F20"/>
                </a:solidFill>
                <a:latin typeface="Arial"/>
                <a:cs typeface="Arial"/>
              </a:rPr>
              <a:t>not </a:t>
            </a:r>
            <a:r>
              <a:rPr sz="1950" spc="175" dirty="0">
                <a:solidFill>
                  <a:srgbClr val="231F20"/>
                </a:solidFill>
                <a:latin typeface="Arial"/>
                <a:cs typeface="Arial"/>
              </a:rPr>
              <a:t>the </a:t>
            </a:r>
            <a:r>
              <a:rPr sz="1950" spc="80" dirty="0">
                <a:solidFill>
                  <a:srgbClr val="231F20"/>
                </a:solidFill>
                <a:latin typeface="Arial"/>
                <a:cs typeface="Arial"/>
              </a:rPr>
              <a:t>inverse </a:t>
            </a:r>
            <a:r>
              <a:rPr sz="1950" spc="185" dirty="0">
                <a:solidFill>
                  <a:srgbClr val="231F20"/>
                </a:solidFill>
                <a:latin typeface="Arial"/>
                <a:cs typeface="Arial"/>
              </a:rPr>
              <a:t>of </a:t>
            </a:r>
            <a:r>
              <a:rPr sz="1950" spc="420" dirty="0">
                <a:solidFill>
                  <a:srgbClr val="231F20"/>
                </a:solidFill>
                <a:latin typeface="Arial"/>
                <a:cs typeface="Arial"/>
              </a:rPr>
              <a:t> </a:t>
            </a:r>
            <a:r>
              <a:rPr sz="1950" spc="150" dirty="0">
                <a:solidFill>
                  <a:srgbClr val="231F20"/>
                </a:solidFill>
                <a:latin typeface="Arial"/>
                <a:cs typeface="Arial"/>
              </a:rPr>
              <a:t>refinement</a:t>
            </a:r>
            <a:endParaRPr sz="1950">
              <a:latin typeface="Arial"/>
              <a:cs typeface="Ari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8131809" cy="5887085"/>
          </a:xfrm>
          <a:prstGeom prst="rect">
            <a:avLst/>
          </a:prstGeom>
        </p:spPr>
        <p:txBody>
          <a:bodyPr vert="horz" wrap="square" lIns="0" tIns="0" rIns="0" bIns="0" rtlCol="0">
            <a:spAutoFit/>
          </a:bodyPr>
          <a:lstStyle/>
          <a:p>
            <a:pPr marL="2252345">
              <a:lnSpc>
                <a:spcPct val="100000"/>
              </a:lnSpc>
            </a:pPr>
            <a:r>
              <a:rPr sz="1950" spc="240" dirty="0">
                <a:solidFill>
                  <a:srgbClr val="231F20"/>
                </a:solidFill>
                <a:latin typeface="Arial"/>
                <a:cs typeface="Arial"/>
              </a:rPr>
              <a:t>Calculating </a:t>
            </a:r>
            <a:r>
              <a:rPr sz="1950" spc="225" dirty="0">
                <a:solidFill>
                  <a:srgbClr val="231F20"/>
                </a:solidFill>
                <a:latin typeface="Arial"/>
                <a:cs typeface="Arial"/>
              </a:rPr>
              <a:t>an</a:t>
            </a:r>
            <a:r>
              <a:rPr sz="1950" spc="440"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a:p>
            <a:pPr marL="300990" marR="264160" indent="-288290">
              <a:lnSpc>
                <a:spcPct val="125000"/>
              </a:lnSpc>
              <a:spcBef>
                <a:spcPts val="1030"/>
              </a:spcBef>
              <a:buSzPct val="105128"/>
              <a:buFont typeface="Lucida Sans Unicode"/>
              <a:buChar char="•"/>
              <a:tabLst>
                <a:tab pos="301625" algn="l"/>
              </a:tabLst>
            </a:pPr>
            <a:r>
              <a:rPr sz="1950" spc="195" dirty="0">
                <a:solidFill>
                  <a:srgbClr val="231F20"/>
                </a:solidFill>
                <a:latin typeface="Arial"/>
                <a:cs typeface="Arial"/>
              </a:rPr>
              <a:t>We </a:t>
            </a:r>
            <a:r>
              <a:rPr sz="1950" spc="80" dirty="0">
                <a:solidFill>
                  <a:srgbClr val="231F20"/>
                </a:solidFill>
                <a:latin typeface="Arial"/>
                <a:cs typeface="Arial"/>
              </a:rPr>
              <a:t>need </a:t>
            </a:r>
            <a:r>
              <a:rPr sz="1950" spc="250" dirty="0">
                <a:solidFill>
                  <a:srgbClr val="231F20"/>
                </a:solidFill>
                <a:latin typeface="Arial"/>
                <a:cs typeface="Arial"/>
              </a:rPr>
              <a:t>to </a:t>
            </a:r>
            <a:r>
              <a:rPr sz="1950" spc="135" dirty="0">
                <a:solidFill>
                  <a:srgbClr val="231F20"/>
                </a:solidFill>
                <a:latin typeface="Arial"/>
                <a:cs typeface="Arial"/>
              </a:rPr>
              <a:t>figure </a:t>
            </a:r>
            <a:r>
              <a:rPr sz="1950" spc="220" dirty="0">
                <a:solidFill>
                  <a:srgbClr val="231F20"/>
                </a:solidFill>
                <a:latin typeface="Arial"/>
                <a:cs typeface="Arial"/>
              </a:rPr>
              <a:t>out </a:t>
            </a:r>
            <a:r>
              <a:rPr sz="1950" spc="160" dirty="0">
                <a:solidFill>
                  <a:srgbClr val="231F20"/>
                </a:solidFill>
                <a:latin typeface="Arial"/>
                <a:cs typeface="Arial"/>
              </a:rPr>
              <a:t>if </a:t>
            </a:r>
            <a:r>
              <a:rPr sz="1950" spc="95" dirty="0">
                <a:solidFill>
                  <a:srgbClr val="231F20"/>
                </a:solidFill>
                <a:latin typeface="Arial"/>
                <a:cs typeface="Arial"/>
              </a:rPr>
              <a:t>we </a:t>
            </a:r>
            <a:r>
              <a:rPr sz="1950" spc="80" dirty="0">
                <a:solidFill>
                  <a:srgbClr val="231F20"/>
                </a:solidFill>
                <a:latin typeface="Arial"/>
                <a:cs typeface="Arial"/>
              </a:rPr>
              <a:t>need </a:t>
            </a:r>
            <a:r>
              <a:rPr sz="1950" spc="85" dirty="0">
                <a:solidFill>
                  <a:srgbClr val="231F20"/>
                </a:solidFill>
                <a:latin typeface="Arial"/>
                <a:cs typeface="Arial"/>
              </a:rPr>
              <a:t>a </a:t>
            </a:r>
            <a:r>
              <a:rPr sz="1950" spc="160" dirty="0">
                <a:solidFill>
                  <a:srgbClr val="231F20"/>
                </a:solidFill>
                <a:latin typeface="Arial"/>
                <a:cs typeface="Arial"/>
              </a:rPr>
              <a:t>transition </a:t>
            </a:r>
            <a:r>
              <a:rPr sz="1950" spc="120" dirty="0">
                <a:solidFill>
                  <a:srgbClr val="231F20"/>
                </a:solidFill>
                <a:latin typeface="Arial"/>
                <a:cs typeface="Arial"/>
              </a:rPr>
              <a:t>between any  </a:t>
            </a:r>
            <a:r>
              <a:rPr sz="1950" spc="130" dirty="0">
                <a:solidFill>
                  <a:srgbClr val="231F20"/>
                </a:solidFill>
                <a:latin typeface="Arial"/>
                <a:cs typeface="Arial"/>
              </a:rPr>
              <a:t>pair </a:t>
            </a:r>
            <a:r>
              <a:rPr sz="1950" spc="185" dirty="0">
                <a:solidFill>
                  <a:srgbClr val="231F20"/>
                </a:solidFill>
                <a:latin typeface="Arial"/>
                <a:cs typeface="Arial"/>
              </a:rPr>
              <a:t>of </a:t>
            </a:r>
            <a:r>
              <a:rPr sz="1950" spc="160" dirty="0">
                <a:solidFill>
                  <a:srgbClr val="231F20"/>
                </a:solidFill>
                <a:latin typeface="Arial"/>
                <a:cs typeface="Arial"/>
              </a:rPr>
              <a:t>abstract</a:t>
            </a:r>
            <a:r>
              <a:rPr sz="1950" spc="470" dirty="0">
                <a:solidFill>
                  <a:srgbClr val="231F20"/>
                </a:solidFill>
                <a:latin typeface="Arial"/>
                <a:cs typeface="Arial"/>
              </a:rPr>
              <a:t> </a:t>
            </a:r>
            <a:r>
              <a:rPr sz="1950" spc="125" dirty="0">
                <a:solidFill>
                  <a:srgbClr val="231F20"/>
                </a:solidFill>
                <a:latin typeface="Arial"/>
                <a:cs typeface="Arial"/>
              </a:rPr>
              <a:t>states</a:t>
            </a:r>
            <a:endParaRPr sz="1950">
              <a:latin typeface="Arial"/>
              <a:cs typeface="Arial"/>
            </a:endParaRPr>
          </a:p>
          <a:p>
            <a:pPr marL="300990" indent="-288290">
              <a:lnSpc>
                <a:spcPct val="100000"/>
              </a:lnSpc>
              <a:spcBef>
                <a:spcPts val="1520"/>
              </a:spcBef>
              <a:buSzPct val="105128"/>
              <a:buFont typeface="Lucida Sans Unicode"/>
              <a:buChar char="•"/>
              <a:tabLst>
                <a:tab pos="301625" algn="l"/>
              </a:tabLst>
            </a:pPr>
            <a:r>
              <a:rPr sz="1950" spc="105" dirty="0">
                <a:solidFill>
                  <a:srgbClr val="231F20"/>
                </a:solidFill>
                <a:latin typeface="Arial"/>
                <a:cs typeface="Arial"/>
              </a:rPr>
              <a:t>Given </a:t>
            </a:r>
            <a:r>
              <a:rPr sz="1950" spc="155" dirty="0">
                <a:solidFill>
                  <a:srgbClr val="231F20"/>
                </a:solidFill>
                <a:latin typeface="Arial"/>
                <a:cs typeface="Arial"/>
              </a:rPr>
              <a:t>abstraction </a:t>
            </a:r>
            <a:r>
              <a:rPr sz="1950" spc="175" dirty="0">
                <a:solidFill>
                  <a:srgbClr val="231F20"/>
                </a:solidFill>
                <a:latin typeface="Arial"/>
                <a:cs typeface="Arial"/>
              </a:rPr>
              <a:t>function </a:t>
            </a:r>
            <a:r>
              <a:rPr sz="2050" i="1" spc="-345" dirty="0">
                <a:solidFill>
                  <a:srgbClr val="231F20"/>
                </a:solidFill>
                <a:latin typeface="Meiryo"/>
                <a:cs typeface="Meiryo"/>
              </a:rPr>
              <a:t>φ  </a:t>
            </a:r>
            <a:r>
              <a:rPr sz="2050" spc="-155" dirty="0">
                <a:solidFill>
                  <a:srgbClr val="231F20"/>
                </a:solidFill>
                <a:latin typeface="Tahoma"/>
                <a:cs typeface="Tahoma"/>
              </a:rPr>
              <a:t>: </a:t>
            </a:r>
            <a:r>
              <a:rPr sz="2050" spc="-210" dirty="0">
                <a:solidFill>
                  <a:srgbClr val="231F20"/>
                </a:solidFill>
                <a:latin typeface="Tahoma"/>
                <a:cs typeface="Tahoma"/>
              </a:rPr>
              <a:t>[</a:t>
            </a:r>
            <a:r>
              <a:rPr sz="2050" i="1" spc="-210" dirty="0">
                <a:solidFill>
                  <a:srgbClr val="231F20"/>
                </a:solidFill>
                <a:latin typeface="Meiryo"/>
                <a:cs typeface="Meiryo"/>
              </a:rPr>
              <a:t>S</a:t>
            </a:r>
            <a:r>
              <a:rPr sz="2050" spc="-210" dirty="0">
                <a:solidFill>
                  <a:srgbClr val="231F20"/>
                </a:solidFill>
                <a:latin typeface="Lucida Sans Unicode"/>
                <a:cs typeface="Lucida Sans Unicode"/>
              </a:rPr>
              <a:t>→</a:t>
            </a:r>
            <a:r>
              <a:rPr sz="2050" i="1" spc="-210" dirty="0">
                <a:solidFill>
                  <a:srgbClr val="231F20"/>
                </a:solidFill>
                <a:latin typeface="Meiryo"/>
                <a:cs typeface="Meiryo"/>
              </a:rPr>
              <a:t>S</a:t>
            </a:r>
            <a:r>
              <a:rPr sz="3075" spc="-315" baseline="13550" dirty="0">
                <a:solidFill>
                  <a:srgbClr val="231F20"/>
                </a:solidFill>
                <a:latin typeface="Tahoma"/>
                <a:cs typeface="Tahoma"/>
              </a:rPr>
              <a:t>ˆ</a:t>
            </a:r>
            <a:r>
              <a:rPr sz="2050" spc="-210" dirty="0">
                <a:solidFill>
                  <a:srgbClr val="231F20"/>
                </a:solidFill>
                <a:latin typeface="Tahoma"/>
                <a:cs typeface="Tahoma"/>
              </a:rPr>
              <a:t>]  </a:t>
            </a:r>
            <a:r>
              <a:rPr sz="1950" spc="95" dirty="0">
                <a:solidFill>
                  <a:srgbClr val="231F20"/>
                </a:solidFill>
                <a:latin typeface="Arial"/>
                <a:cs typeface="Arial"/>
              </a:rPr>
              <a:t>we</a:t>
            </a:r>
            <a:r>
              <a:rPr sz="1950" spc="600" dirty="0">
                <a:solidFill>
                  <a:srgbClr val="231F20"/>
                </a:solidFill>
                <a:latin typeface="Arial"/>
                <a:cs typeface="Arial"/>
              </a:rPr>
              <a:t> </a:t>
            </a:r>
            <a:r>
              <a:rPr sz="1950" spc="95" dirty="0">
                <a:solidFill>
                  <a:srgbClr val="231F20"/>
                </a:solidFill>
                <a:latin typeface="Arial"/>
                <a:cs typeface="Arial"/>
              </a:rPr>
              <a:t>have</a:t>
            </a:r>
            <a:endParaRPr sz="1950">
              <a:latin typeface="Arial"/>
              <a:cs typeface="Arial"/>
            </a:endParaRPr>
          </a:p>
          <a:p>
            <a:pPr marL="416559" algn="ctr">
              <a:lnSpc>
                <a:spcPct val="100000"/>
              </a:lnSpc>
              <a:spcBef>
                <a:spcPts val="1500"/>
              </a:spcBef>
            </a:pPr>
            <a:r>
              <a:rPr sz="2050" i="1" spc="-325" dirty="0">
                <a:solidFill>
                  <a:srgbClr val="231F20"/>
                </a:solidFill>
                <a:latin typeface="Meiryo"/>
                <a:cs typeface="Meiryo"/>
              </a:rPr>
              <a:t>tt</a:t>
            </a:r>
            <a:r>
              <a:rPr sz="3075" spc="-487" baseline="13550" dirty="0">
                <a:solidFill>
                  <a:srgbClr val="231F20"/>
                </a:solidFill>
                <a:latin typeface="Tahoma"/>
                <a:cs typeface="Tahoma"/>
              </a:rPr>
              <a:t>ˆ</a:t>
            </a:r>
            <a:r>
              <a:rPr sz="2050" spc="-325" dirty="0">
                <a:solidFill>
                  <a:srgbClr val="231F20"/>
                </a:solidFill>
                <a:latin typeface="Tahoma"/>
                <a:cs typeface="Tahoma"/>
              </a:rPr>
              <a:t>(</a:t>
            </a:r>
            <a:r>
              <a:rPr sz="2050" i="1" spc="-325" dirty="0">
                <a:solidFill>
                  <a:srgbClr val="231F20"/>
                </a:solidFill>
                <a:latin typeface="Meiryo"/>
                <a:cs typeface="Meiryo"/>
              </a:rPr>
              <a:t>s</a:t>
            </a:r>
            <a:r>
              <a:rPr sz="2050" spc="-325" dirty="0">
                <a:solidFill>
                  <a:srgbClr val="231F20"/>
                </a:solidFill>
                <a:latin typeface="Tahoma"/>
                <a:cs typeface="Tahoma"/>
              </a:rPr>
              <a:t>ˆ</a:t>
            </a:r>
            <a:r>
              <a:rPr sz="2175" spc="-487" baseline="-11494" dirty="0">
                <a:solidFill>
                  <a:srgbClr val="231F20"/>
                </a:solidFill>
                <a:latin typeface="PMingLiU"/>
                <a:cs typeface="PMingLiU"/>
              </a:rPr>
              <a:t>1</a:t>
            </a:r>
            <a:r>
              <a:rPr sz="2050" i="1" spc="-325" dirty="0">
                <a:solidFill>
                  <a:srgbClr val="231F20"/>
                </a:solidFill>
                <a:latin typeface="Meiryo"/>
                <a:cs typeface="Meiryo"/>
              </a:rPr>
              <a:t>,</a:t>
            </a:r>
            <a:r>
              <a:rPr sz="2050" i="1" spc="-355" dirty="0">
                <a:solidFill>
                  <a:srgbClr val="231F20"/>
                </a:solidFill>
                <a:latin typeface="Meiryo"/>
                <a:cs typeface="Meiryo"/>
              </a:rPr>
              <a:t> </a:t>
            </a:r>
            <a:r>
              <a:rPr sz="2050" i="1" spc="-229" dirty="0">
                <a:solidFill>
                  <a:srgbClr val="231F20"/>
                </a:solidFill>
                <a:latin typeface="Meiryo"/>
                <a:cs typeface="Meiryo"/>
              </a:rPr>
              <a:t>s</a:t>
            </a:r>
            <a:r>
              <a:rPr sz="2050" spc="-229" dirty="0">
                <a:solidFill>
                  <a:srgbClr val="231F20"/>
                </a:solidFill>
                <a:latin typeface="Tahoma"/>
                <a:cs typeface="Tahoma"/>
              </a:rPr>
              <a:t>ˆ</a:t>
            </a:r>
            <a:r>
              <a:rPr sz="2175" spc="-345" baseline="-11494" dirty="0">
                <a:solidFill>
                  <a:srgbClr val="231F20"/>
                </a:solidFill>
                <a:latin typeface="PMingLiU"/>
                <a:cs typeface="PMingLiU"/>
              </a:rPr>
              <a:t>2</a:t>
            </a:r>
            <a:r>
              <a:rPr sz="2050" spc="-229" dirty="0">
                <a:solidFill>
                  <a:srgbClr val="231F20"/>
                </a:solidFill>
                <a:latin typeface="Tahoma"/>
                <a:cs typeface="Tahoma"/>
              </a:rPr>
              <a:t>)</a:t>
            </a:r>
            <a:r>
              <a:rPr sz="2050" spc="-70" dirty="0">
                <a:solidFill>
                  <a:srgbClr val="231F20"/>
                </a:solidFill>
                <a:latin typeface="Tahoma"/>
                <a:cs typeface="Tahoma"/>
              </a:rPr>
              <a:t> </a:t>
            </a:r>
            <a:r>
              <a:rPr sz="2050" spc="-405" dirty="0">
                <a:solidFill>
                  <a:srgbClr val="231F20"/>
                </a:solidFill>
                <a:latin typeface="Lucida Sans Unicode"/>
                <a:cs typeface="Lucida Sans Unicode"/>
              </a:rPr>
              <a:t>⇔ </a:t>
            </a:r>
            <a:r>
              <a:rPr sz="2050" spc="-320" dirty="0">
                <a:solidFill>
                  <a:srgbClr val="231F20"/>
                </a:solidFill>
                <a:latin typeface="Lucida Sans Unicode"/>
                <a:cs typeface="Lucida Sans Unicode"/>
              </a:rPr>
              <a:t> </a:t>
            </a:r>
            <a:r>
              <a:rPr sz="2050" spc="-45" dirty="0">
                <a:solidFill>
                  <a:srgbClr val="231F20"/>
                </a:solidFill>
                <a:latin typeface="Lucida Sans Unicode"/>
                <a:cs typeface="Lucida Sans Unicode"/>
              </a:rPr>
              <a:t>∃</a:t>
            </a:r>
            <a:r>
              <a:rPr sz="2050" i="1" spc="-45" dirty="0">
                <a:solidFill>
                  <a:srgbClr val="231F20"/>
                </a:solidFill>
                <a:latin typeface="Meiryo"/>
                <a:cs typeface="Meiryo"/>
              </a:rPr>
              <a:t>s</a:t>
            </a:r>
            <a:r>
              <a:rPr sz="2175" spc="-67" baseline="-11494" dirty="0">
                <a:solidFill>
                  <a:srgbClr val="231F20"/>
                </a:solidFill>
                <a:latin typeface="PMingLiU"/>
                <a:cs typeface="PMingLiU"/>
              </a:rPr>
              <a:t>1</a:t>
            </a:r>
            <a:r>
              <a:rPr sz="2050" i="1" spc="-45" dirty="0">
                <a:solidFill>
                  <a:srgbClr val="231F20"/>
                </a:solidFill>
                <a:latin typeface="Meiryo"/>
                <a:cs typeface="Meiryo"/>
              </a:rPr>
              <a:t>,</a:t>
            </a:r>
            <a:r>
              <a:rPr sz="2050" i="1" spc="-355" dirty="0">
                <a:solidFill>
                  <a:srgbClr val="231F20"/>
                </a:solidFill>
                <a:latin typeface="Meiryo"/>
                <a:cs typeface="Meiryo"/>
              </a:rPr>
              <a:t> </a:t>
            </a:r>
            <a:r>
              <a:rPr sz="2050" i="1" spc="40" dirty="0">
                <a:solidFill>
                  <a:srgbClr val="231F20"/>
                </a:solidFill>
                <a:latin typeface="Meiryo"/>
                <a:cs typeface="Meiryo"/>
              </a:rPr>
              <a:t>s</a:t>
            </a:r>
            <a:r>
              <a:rPr sz="2175" spc="60" baseline="-11494" dirty="0">
                <a:solidFill>
                  <a:srgbClr val="231F20"/>
                </a:solidFill>
                <a:latin typeface="PMingLiU"/>
                <a:cs typeface="PMingLiU"/>
              </a:rPr>
              <a:t>2</a:t>
            </a:r>
            <a:r>
              <a:rPr sz="2175" spc="442" baseline="-11494" dirty="0">
                <a:solidFill>
                  <a:srgbClr val="231F20"/>
                </a:solidFill>
                <a:latin typeface="PMingLiU"/>
                <a:cs typeface="PMingLiU"/>
              </a:rPr>
              <a:t> </a:t>
            </a:r>
            <a:r>
              <a:rPr sz="2050" spc="-155" dirty="0">
                <a:solidFill>
                  <a:srgbClr val="231F20"/>
                </a:solidFill>
                <a:latin typeface="Tahoma"/>
                <a:cs typeface="Tahoma"/>
              </a:rPr>
              <a:t>:</a:t>
            </a:r>
            <a:r>
              <a:rPr sz="2050" spc="-70" dirty="0">
                <a:solidFill>
                  <a:srgbClr val="231F20"/>
                </a:solidFill>
                <a:latin typeface="Tahoma"/>
                <a:cs typeface="Tahoma"/>
              </a:rPr>
              <a:t> </a:t>
            </a:r>
            <a:r>
              <a:rPr sz="2050" i="1" spc="-345" dirty="0">
                <a:solidFill>
                  <a:srgbClr val="231F20"/>
                </a:solidFill>
                <a:latin typeface="Meiryo"/>
                <a:cs typeface="Meiryo"/>
              </a:rPr>
              <a:t>s</a:t>
            </a:r>
            <a:r>
              <a:rPr sz="2050" spc="-345" dirty="0">
                <a:solidFill>
                  <a:srgbClr val="231F20"/>
                </a:solidFill>
                <a:latin typeface="Tahoma"/>
                <a:cs typeface="Tahoma"/>
              </a:rPr>
              <a:t>ˆ</a:t>
            </a:r>
            <a:r>
              <a:rPr sz="2175" spc="-517" baseline="-11494" dirty="0">
                <a:solidFill>
                  <a:srgbClr val="231F20"/>
                </a:solidFill>
                <a:latin typeface="PMingLiU"/>
                <a:cs typeface="PMingLiU"/>
              </a:rPr>
              <a:t>1                    </a:t>
            </a:r>
            <a:r>
              <a:rPr sz="2175" spc="-509" baseline="-11494" dirty="0">
                <a:solidFill>
                  <a:srgbClr val="231F20"/>
                </a:solidFill>
                <a:latin typeface="PMingLiU"/>
                <a:cs typeface="PMingLiU"/>
              </a:rPr>
              <a:t> </a:t>
            </a:r>
            <a:r>
              <a:rPr sz="2050" spc="114" dirty="0">
                <a:solidFill>
                  <a:srgbClr val="231F20"/>
                </a:solidFill>
                <a:latin typeface="Tahoma"/>
                <a:cs typeface="Tahoma"/>
              </a:rPr>
              <a:t>=</a:t>
            </a:r>
            <a:r>
              <a:rPr sz="2050" spc="-70" dirty="0">
                <a:solidFill>
                  <a:srgbClr val="231F20"/>
                </a:solidFill>
                <a:latin typeface="Tahoma"/>
                <a:cs typeface="Tahoma"/>
              </a:rPr>
              <a:t> </a:t>
            </a:r>
            <a:r>
              <a:rPr sz="2050" i="1" spc="-25" dirty="0">
                <a:solidFill>
                  <a:srgbClr val="231F20"/>
                </a:solidFill>
                <a:latin typeface="Meiryo"/>
                <a:cs typeface="Meiryo"/>
              </a:rPr>
              <a:t>φ</a:t>
            </a:r>
            <a:r>
              <a:rPr sz="2050" spc="-25" dirty="0">
                <a:solidFill>
                  <a:srgbClr val="231F20"/>
                </a:solidFill>
                <a:latin typeface="Tahoma"/>
                <a:cs typeface="Tahoma"/>
              </a:rPr>
              <a:t>(</a:t>
            </a:r>
            <a:r>
              <a:rPr sz="2050" i="1" spc="-25" dirty="0">
                <a:solidFill>
                  <a:srgbClr val="231F20"/>
                </a:solidFill>
                <a:latin typeface="Meiryo"/>
                <a:cs typeface="Meiryo"/>
              </a:rPr>
              <a:t>s</a:t>
            </a:r>
            <a:r>
              <a:rPr sz="2175" spc="-37" baseline="-11494" dirty="0">
                <a:solidFill>
                  <a:srgbClr val="231F20"/>
                </a:solidFill>
                <a:latin typeface="PMingLiU"/>
                <a:cs typeface="PMingLiU"/>
              </a:rPr>
              <a:t>1</a:t>
            </a:r>
            <a:r>
              <a:rPr sz="2050" spc="-25" dirty="0">
                <a:solidFill>
                  <a:srgbClr val="231F20"/>
                </a:solidFill>
                <a:latin typeface="Tahoma"/>
                <a:cs typeface="Tahoma"/>
              </a:rPr>
              <a:t>)</a:t>
            </a:r>
            <a:r>
              <a:rPr sz="2050" spc="-185" dirty="0">
                <a:solidFill>
                  <a:srgbClr val="231F20"/>
                </a:solidFill>
                <a:latin typeface="Tahoma"/>
                <a:cs typeface="Tahoma"/>
              </a:rPr>
              <a:t> </a:t>
            </a:r>
            <a:r>
              <a:rPr sz="2050" spc="-254" dirty="0">
                <a:solidFill>
                  <a:srgbClr val="231F20"/>
                </a:solidFill>
                <a:latin typeface="Lucida Sans Unicode"/>
                <a:cs typeface="Lucida Sans Unicode"/>
              </a:rPr>
              <a:t>∧</a:t>
            </a:r>
            <a:r>
              <a:rPr sz="2050" spc="-190" dirty="0">
                <a:solidFill>
                  <a:srgbClr val="231F20"/>
                </a:solidFill>
                <a:latin typeface="Lucida Sans Unicode"/>
                <a:cs typeface="Lucida Sans Unicode"/>
              </a:rPr>
              <a:t> </a:t>
            </a:r>
            <a:r>
              <a:rPr sz="2050" i="1" spc="-345" dirty="0">
                <a:solidFill>
                  <a:srgbClr val="231F20"/>
                </a:solidFill>
                <a:latin typeface="Meiryo"/>
                <a:cs typeface="Meiryo"/>
              </a:rPr>
              <a:t>s</a:t>
            </a:r>
            <a:r>
              <a:rPr sz="2050" spc="-345" dirty="0">
                <a:solidFill>
                  <a:srgbClr val="231F20"/>
                </a:solidFill>
                <a:latin typeface="Tahoma"/>
                <a:cs typeface="Tahoma"/>
              </a:rPr>
              <a:t>ˆ</a:t>
            </a:r>
            <a:r>
              <a:rPr sz="2175" spc="-517" baseline="-11494" dirty="0">
                <a:solidFill>
                  <a:srgbClr val="231F20"/>
                </a:solidFill>
                <a:latin typeface="PMingLiU"/>
                <a:cs typeface="PMingLiU"/>
              </a:rPr>
              <a:t>2                    </a:t>
            </a:r>
            <a:r>
              <a:rPr sz="2175" spc="-509" baseline="-11494" dirty="0">
                <a:solidFill>
                  <a:srgbClr val="231F20"/>
                </a:solidFill>
                <a:latin typeface="PMingLiU"/>
                <a:cs typeface="PMingLiU"/>
              </a:rPr>
              <a:t> </a:t>
            </a:r>
            <a:r>
              <a:rPr sz="2050" spc="114" dirty="0">
                <a:solidFill>
                  <a:srgbClr val="231F20"/>
                </a:solidFill>
                <a:latin typeface="Tahoma"/>
                <a:cs typeface="Tahoma"/>
              </a:rPr>
              <a:t>=</a:t>
            </a:r>
            <a:r>
              <a:rPr sz="2050" spc="-70" dirty="0">
                <a:solidFill>
                  <a:srgbClr val="231F20"/>
                </a:solidFill>
                <a:latin typeface="Tahoma"/>
                <a:cs typeface="Tahoma"/>
              </a:rPr>
              <a:t> </a:t>
            </a:r>
            <a:r>
              <a:rPr sz="2050" i="1" spc="-25" dirty="0">
                <a:solidFill>
                  <a:srgbClr val="231F20"/>
                </a:solidFill>
                <a:latin typeface="Meiryo"/>
                <a:cs typeface="Meiryo"/>
              </a:rPr>
              <a:t>φ</a:t>
            </a:r>
            <a:r>
              <a:rPr sz="2050" spc="-25" dirty="0">
                <a:solidFill>
                  <a:srgbClr val="231F20"/>
                </a:solidFill>
                <a:latin typeface="Tahoma"/>
                <a:cs typeface="Tahoma"/>
              </a:rPr>
              <a:t>(</a:t>
            </a:r>
            <a:r>
              <a:rPr sz="2050" i="1" spc="-25" dirty="0">
                <a:solidFill>
                  <a:srgbClr val="231F20"/>
                </a:solidFill>
                <a:latin typeface="Meiryo"/>
                <a:cs typeface="Meiryo"/>
              </a:rPr>
              <a:t>s</a:t>
            </a:r>
            <a:r>
              <a:rPr sz="2175" spc="-37" baseline="-11494" dirty="0">
                <a:solidFill>
                  <a:srgbClr val="231F20"/>
                </a:solidFill>
                <a:latin typeface="PMingLiU"/>
                <a:cs typeface="PMingLiU"/>
              </a:rPr>
              <a:t>2</a:t>
            </a:r>
            <a:r>
              <a:rPr sz="2050" spc="-25" dirty="0">
                <a:solidFill>
                  <a:srgbClr val="231F20"/>
                </a:solidFill>
                <a:latin typeface="Tahoma"/>
                <a:cs typeface="Tahoma"/>
              </a:rPr>
              <a:t>)</a:t>
            </a:r>
            <a:r>
              <a:rPr sz="2050" spc="-185" dirty="0">
                <a:solidFill>
                  <a:srgbClr val="231F20"/>
                </a:solidFill>
                <a:latin typeface="Tahoma"/>
                <a:cs typeface="Tahoma"/>
              </a:rPr>
              <a:t> </a:t>
            </a:r>
            <a:r>
              <a:rPr sz="2050" spc="-254" dirty="0">
                <a:solidFill>
                  <a:srgbClr val="231F20"/>
                </a:solidFill>
                <a:latin typeface="Lucida Sans Unicode"/>
                <a:cs typeface="Lucida Sans Unicode"/>
              </a:rPr>
              <a:t>∧</a:t>
            </a:r>
            <a:r>
              <a:rPr sz="2050" spc="-190" dirty="0">
                <a:solidFill>
                  <a:srgbClr val="231F20"/>
                </a:solidFill>
                <a:latin typeface="Lucida Sans Unicode"/>
                <a:cs typeface="Lucida Sans Unicode"/>
              </a:rPr>
              <a:t> </a:t>
            </a:r>
            <a:r>
              <a:rPr sz="2050" i="1" spc="20" dirty="0">
                <a:solidFill>
                  <a:srgbClr val="231F20"/>
                </a:solidFill>
                <a:latin typeface="Meiryo"/>
                <a:cs typeface="Meiryo"/>
              </a:rPr>
              <a:t>tt</a:t>
            </a:r>
            <a:r>
              <a:rPr sz="2050" spc="20" dirty="0">
                <a:solidFill>
                  <a:srgbClr val="231F20"/>
                </a:solidFill>
                <a:latin typeface="Tahoma"/>
                <a:cs typeface="Tahoma"/>
              </a:rPr>
              <a:t>(</a:t>
            </a:r>
            <a:r>
              <a:rPr sz="2050" i="1" spc="20" dirty="0">
                <a:solidFill>
                  <a:srgbClr val="231F20"/>
                </a:solidFill>
                <a:latin typeface="Meiryo"/>
                <a:cs typeface="Meiryo"/>
              </a:rPr>
              <a:t>s</a:t>
            </a:r>
            <a:r>
              <a:rPr sz="2175" spc="30" baseline="-11494" dirty="0">
                <a:solidFill>
                  <a:srgbClr val="231F20"/>
                </a:solidFill>
                <a:latin typeface="PMingLiU"/>
                <a:cs typeface="PMingLiU"/>
              </a:rPr>
              <a:t>1</a:t>
            </a:r>
            <a:r>
              <a:rPr sz="2050" i="1" spc="20" dirty="0">
                <a:solidFill>
                  <a:srgbClr val="231F20"/>
                </a:solidFill>
                <a:latin typeface="Meiryo"/>
                <a:cs typeface="Meiryo"/>
              </a:rPr>
              <a:t>,</a:t>
            </a:r>
            <a:r>
              <a:rPr sz="2050" i="1" spc="-355" dirty="0">
                <a:solidFill>
                  <a:srgbClr val="231F20"/>
                </a:solidFill>
                <a:latin typeface="Meiryo"/>
                <a:cs typeface="Meiryo"/>
              </a:rPr>
              <a:t> </a:t>
            </a:r>
            <a:r>
              <a:rPr sz="2050" i="1" spc="65" dirty="0">
                <a:solidFill>
                  <a:srgbClr val="231F20"/>
                </a:solidFill>
                <a:latin typeface="Meiryo"/>
                <a:cs typeface="Meiryo"/>
              </a:rPr>
              <a:t>s</a:t>
            </a:r>
            <a:r>
              <a:rPr sz="2175" spc="97" baseline="-11494" dirty="0">
                <a:solidFill>
                  <a:srgbClr val="231F20"/>
                </a:solidFill>
                <a:latin typeface="PMingLiU"/>
                <a:cs typeface="PMingLiU"/>
              </a:rPr>
              <a:t>2</a:t>
            </a:r>
            <a:r>
              <a:rPr sz="2050" spc="65" dirty="0">
                <a:solidFill>
                  <a:srgbClr val="231F20"/>
                </a:solidFill>
                <a:latin typeface="Tahoma"/>
                <a:cs typeface="Tahoma"/>
              </a:rPr>
              <a:t>)</a:t>
            </a:r>
            <a:endParaRPr sz="2050">
              <a:latin typeface="Tahoma"/>
              <a:cs typeface="Tahoma"/>
            </a:endParaRPr>
          </a:p>
          <a:p>
            <a:pPr marL="300990" marR="913130" indent="-288290">
              <a:lnSpc>
                <a:spcPct val="125000"/>
              </a:lnSpc>
              <a:spcBef>
                <a:spcPts val="1425"/>
              </a:spcBef>
              <a:buSzPct val="105128"/>
              <a:buFont typeface="Lucida Sans Unicode"/>
              <a:buChar char="•"/>
              <a:tabLst>
                <a:tab pos="301625" algn="l"/>
                <a:tab pos="1619885" algn="l"/>
              </a:tabLst>
            </a:pPr>
            <a:r>
              <a:rPr sz="1950" spc="170" dirty="0">
                <a:solidFill>
                  <a:srgbClr val="231F20"/>
                </a:solidFill>
                <a:latin typeface="Arial"/>
                <a:cs typeface="Arial"/>
              </a:rPr>
              <a:t>We’ll </a:t>
            </a:r>
            <a:r>
              <a:rPr sz="1950" spc="45" dirty="0">
                <a:solidFill>
                  <a:srgbClr val="231F20"/>
                </a:solidFill>
                <a:latin typeface="Arial"/>
                <a:cs typeface="Arial"/>
              </a:rPr>
              <a:t>use </a:t>
            </a:r>
            <a:r>
              <a:rPr sz="1950" spc="135" dirty="0">
                <a:solidFill>
                  <a:srgbClr val="231F20"/>
                </a:solidFill>
                <a:latin typeface="Arial"/>
                <a:cs typeface="Arial"/>
              </a:rPr>
              <a:t>highly </a:t>
            </a:r>
            <a:r>
              <a:rPr sz="1950" spc="180" dirty="0">
                <a:solidFill>
                  <a:srgbClr val="231F20"/>
                </a:solidFill>
                <a:latin typeface="Arial"/>
                <a:cs typeface="Arial"/>
              </a:rPr>
              <a:t>automated </a:t>
            </a:r>
            <a:r>
              <a:rPr sz="1950" spc="155" dirty="0">
                <a:solidFill>
                  <a:srgbClr val="231F20"/>
                </a:solidFill>
                <a:latin typeface="Arial"/>
                <a:cs typeface="Arial"/>
              </a:rPr>
              <a:t>theorem </a:t>
            </a:r>
            <a:r>
              <a:rPr sz="1950" spc="135" dirty="0">
                <a:solidFill>
                  <a:srgbClr val="231F20"/>
                </a:solidFill>
                <a:latin typeface="Arial"/>
                <a:cs typeface="Arial"/>
              </a:rPr>
              <a:t>proving </a:t>
            </a:r>
            <a:r>
              <a:rPr sz="1950" spc="155" dirty="0">
                <a:solidFill>
                  <a:srgbClr val="231F20"/>
                </a:solidFill>
                <a:latin typeface="Arial"/>
                <a:cs typeface="Arial"/>
              </a:rPr>
              <a:t>on </a:t>
            </a:r>
            <a:r>
              <a:rPr sz="1950" spc="100" dirty="0">
                <a:solidFill>
                  <a:srgbClr val="231F20"/>
                </a:solidFill>
                <a:latin typeface="Arial"/>
                <a:cs typeface="Arial"/>
              </a:rPr>
              <a:t>these  </a:t>
            </a:r>
            <a:r>
              <a:rPr sz="1950" spc="135" dirty="0">
                <a:solidFill>
                  <a:srgbClr val="231F20"/>
                </a:solidFill>
                <a:latin typeface="Arial"/>
                <a:cs typeface="Arial"/>
              </a:rPr>
              <a:t>formulas:	</a:t>
            </a:r>
            <a:r>
              <a:rPr sz="1950" spc="114" dirty="0">
                <a:solidFill>
                  <a:srgbClr val="231F20"/>
                </a:solidFill>
                <a:latin typeface="Arial"/>
                <a:cs typeface="Arial"/>
              </a:rPr>
              <a:t>include </a:t>
            </a:r>
            <a:r>
              <a:rPr sz="1950" spc="160" dirty="0">
                <a:solidFill>
                  <a:srgbClr val="231F20"/>
                </a:solidFill>
                <a:latin typeface="Arial"/>
                <a:cs typeface="Arial"/>
              </a:rPr>
              <a:t>transition </a:t>
            </a:r>
            <a:r>
              <a:rPr sz="1950" spc="155" dirty="0">
                <a:solidFill>
                  <a:srgbClr val="231F20"/>
                </a:solidFill>
                <a:latin typeface="Arial"/>
                <a:cs typeface="Arial"/>
              </a:rPr>
              <a:t>iff </a:t>
            </a:r>
            <a:r>
              <a:rPr sz="1950" spc="175" dirty="0">
                <a:solidFill>
                  <a:srgbClr val="231F20"/>
                </a:solidFill>
                <a:latin typeface="Arial"/>
                <a:cs typeface="Arial"/>
              </a:rPr>
              <a:t>the </a:t>
            </a:r>
            <a:r>
              <a:rPr sz="1950" spc="160" dirty="0">
                <a:solidFill>
                  <a:srgbClr val="231F20"/>
                </a:solidFill>
                <a:latin typeface="Arial"/>
                <a:cs typeface="Arial"/>
              </a:rPr>
              <a:t>formula </a:t>
            </a:r>
            <a:r>
              <a:rPr sz="1950" spc="40" dirty="0">
                <a:solidFill>
                  <a:srgbClr val="231F20"/>
                </a:solidFill>
                <a:latin typeface="Arial"/>
                <a:cs typeface="Arial"/>
              </a:rPr>
              <a:t>is </a:t>
            </a:r>
            <a:r>
              <a:rPr sz="1950" spc="350" dirty="0">
                <a:solidFill>
                  <a:srgbClr val="231F20"/>
                </a:solidFill>
                <a:latin typeface="Arial"/>
                <a:cs typeface="Arial"/>
              </a:rPr>
              <a:t> </a:t>
            </a:r>
            <a:r>
              <a:rPr sz="1950" spc="114" dirty="0">
                <a:solidFill>
                  <a:srgbClr val="231F20"/>
                </a:solidFill>
                <a:latin typeface="Arial"/>
                <a:cs typeface="Arial"/>
              </a:rPr>
              <a:t>proved</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65" dirty="0">
                <a:solidFill>
                  <a:srgbClr val="231F20"/>
                </a:solidFill>
                <a:latin typeface="Arial"/>
                <a:cs typeface="Arial"/>
              </a:rPr>
              <a:t>There’s </a:t>
            </a:r>
            <a:r>
              <a:rPr sz="1950" spc="85" dirty="0">
                <a:solidFill>
                  <a:srgbClr val="231F20"/>
                </a:solidFill>
                <a:latin typeface="Arial"/>
                <a:cs typeface="Arial"/>
              </a:rPr>
              <a:t>a </a:t>
            </a:r>
            <a:r>
              <a:rPr sz="1950" spc="110" dirty="0">
                <a:solidFill>
                  <a:srgbClr val="231F20"/>
                </a:solidFill>
                <a:latin typeface="Arial"/>
                <a:cs typeface="Arial"/>
              </a:rPr>
              <a:t>chance </a:t>
            </a:r>
            <a:r>
              <a:rPr sz="1950" spc="95" dirty="0">
                <a:solidFill>
                  <a:srgbClr val="231F20"/>
                </a:solidFill>
                <a:latin typeface="Arial"/>
                <a:cs typeface="Arial"/>
              </a:rPr>
              <a:t>we </a:t>
            </a:r>
            <a:r>
              <a:rPr sz="1950" spc="145" dirty="0">
                <a:solidFill>
                  <a:srgbClr val="231F20"/>
                </a:solidFill>
                <a:latin typeface="Arial"/>
                <a:cs typeface="Arial"/>
              </a:rPr>
              <a:t>may </a:t>
            </a:r>
            <a:r>
              <a:rPr sz="1950" spc="130" dirty="0">
                <a:solidFill>
                  <a:srgbClr val="231F20"/>
                </a:solidFill>
                <a:latin typeface="Arial"/>
                <a:cs typeface="Arial"/>
              </a:rPr>
              <a:t>fail </a:t>
            </a:r>
            <a:r>
              <a:rPr sz="1950" spc="250" dirty="0">
                <a:solidFill>
                  <a:srgbClr val="231F20"/>
                </a:solidFill>
                <a:latin typeface="Arial"/>
                <a:cs typeface="Arial"/>
              </a:rPr>
              <a:t>to </a:t>
            </a:r>
            <a:r>
              <a:rPr sz="1950" spc="110" dirty="0">
                <a:solidFill>
                  <a:srgbClr val="231F20"/>
                </a:solidFill>
                <a:latin typeface="Arial"/>
                <a:cs typeface="Arial"/>
              </a:rPr>
              <a:t>prove </a:t>
            </a:r>
            <a:r>
              <a:rPr sz="1950" spc="170" dirty="0">
                <a:solidFill>
                  <a:srgbClr val="231F20"/>
                </a:solidFill>
                <a:latin typeface="Arial"/>
                <a:cs typeface="Arial"/>
              </a:rPr>
              <a:t>true </a:t>
            </a:r>
            <a:r>
              <a:rPr sz="1950" spc="730" dirty="0">
                <a:solidFill>
                  <a:srgbClr val="231F20"/>
                </a:solidFill>
                <a:latin typeface="Arial"/>
                <a:cs typeface="Arial"/>
              </a:rPr>
              <a:t> </a:t>
            </a:r>
            <a:r>
              <a:rPr sz="1950" spc="135" dirty="0">
                <a:solidFill>
                  <a:srgbClr val="231F20"/>
                </a:solidFill>
                <a:latin typeface="Arial"/>
                <a:cs typeface="Arial"/>
              </a:rPr>
              <a:t>formulas</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204" dirty="0">
                <a:solidFill>
                  <a:srgbClr val="231F20"/>
                </a:solidFill>
                <a:latin typeface="Arial"/>
                <a:cs typeface="Arial"/>
              </a:rPr>
              <a:t>This </a:t>
            </a:r>
            <a:r>
              <a:rPr sz="1950" spc="145" dirty="0">
                <a:solidFill>
                  <a:srgbClr val="231F20"/>
                </a:solidFill>
                <a:latin typeface="Arial"/>
                <a:cs typeface="Arial"/>
              </a:rPr>
              <a:t>will </a:t>
            </a:r>
            <a:r>
              <a:rPr sz="1950" spc="130" dirty="0">
                <a:solidFill>
                  <a:srgbClr val="231F20"/>
                </a:solidFill>
                <a:latin typeface="Arial"/>
                <a:cs typeface="Arial"/>
              </a:rPr>
              <a:t>produce </a:t>
            </a:r>
            <a:r>
              <a:rPr sz="1950" spc="125" dirty="0">
                <a:solidFill>
                  <a:srgbClr val="FF0000"/>
                </a:solidFill>
                <a:latin typeface="Arial"/>
                <a:cs typeface="Arial"/>
              </a:rPr>
              <a:t>unsound</a:t>
            </a:r>
            <a:r>
              <a:rPr sz="1950" spc="630" dirty="0">
                <a:solidFill>
                  <a:srgbClr val="FF0000"/>
                </a:solidFill>
                <a:latin typeface="Arial"/>
                <a:cs typeface="Arial"/>
              </a:rPr>
              <a:t> </a:t>
            </a:r>
            <a:r>
              <a:rPr sz="1950" spc="140" dirty="0">
                <a:solidFill>
                  <a:srgbClr val="231F20"/>
                </a:solidFill>
                <a:latin typeface="Arial"/>
                <a:cs typeface="Arial"/>
              </a:rPr>
              <a:t>abstractions</a:t>
            </a:r>
            <a:endParaRPr sz="1950">
              <a:latin typeface="Arial"/>
              <a:cs typeface="Arial"/>
            </a:endParaRPr>
          </a:p>
          <a:p>
            <a:pPr marL="300990" marR="322580" indent="-288290">
              <a:lnSpc>
                <a:spcPct val="125000"/>
              </a:lnSpc>
              <a:spcBef>
                <a:spcPts val="1035"/>
              </a:spcBef>
              <a:buSzPct val="105128"/>
              <a:buFont typeface="Lucida Sans Unicode"/>
              <a:buChar char="•"/>
              <a:tabLst>
                <a:tab pos="301625" algn="l"/>
                <a:tab pos="2696210" algn="l"/>
              </a:tabLst>
            </a:pPr>
            <a:r>
              <a:rPr sz="1950" spc="114" dirty="0">
                <a:solidFill>
                  <a:srgbClr val="231F20"/>
                </a:solidFill>
                <a:latin typeface="Arial"/>
                <a:cs typeface="Arial"/>
              </a:rPr>
              <a:t>So </a:t>
            </a:r>
            <a:r>
              <a:rPr sz="1950" spc="204" dirty="0">
                <a:solidFill>
                  <a:srgbClr val="231F20"/>
                </a:solidFill>
                <a:latin typeface="Arial"/>
                <a:cs typeface="Arial"/>
              </a:rPr>
              <a:t>turn </a:t>
            </a:r>
            <a:r>
              <a:rPr sz="1950" spc="175" dirty="0">
                <a:solidFill>
                  <a:srgbClr val="231F20"/>
                </a:solidFill>
                <a:latin typeface="Arial"/>
                <a:cs typeface="Arial"/>
              </a:rPr>
              <a:t>the </a:t>
            </a:r>
            <a:r>
              <a:rPr sz="1950" spc="140" dirty="0">
                <a:solidFill>
                  <a:srgbClr val="231F20"/>
                </a:solidFill>
                <a:latin typeface="Arial"/>
                <a:cs typeface="Arial"/>
              </a:rPr>
              <a:t>problem </a:t>
            </a:r>
            <a:r>
              <a:rPr sz="1950" spc="135" dirty="0">
                <a:solidFill>
                  <a:srgbClr val="231F20"/>
                </a:solidFill>
                <a:latin typeface="Arial"/>
                <a:cs typeface="Arial"/>
              </a:rPr>
              <a:t>around </a:t>
            </a:r>
            <a:r>
              <a:rPr sz="1950" spc="130" dirty="0">
                <a:solidFill>
                  <a:srgbClr val="231F20"/>
                </a:solidFill>
                <a:latin typeface="Arial"/>
                <a:cs typeface="Arial"/>
              </a:rPr>
              <a:t>and calculate </a:t>
            </a:r>
            <a:r>
              <a:rPr sz="1950" spc="140" dirty="0">
                <a:solidFill>
                  <a:srgbClr val="231F20"/>
                </a:solidFill>
                <a:latin typeface="Arial"/>
                <a:cs typeface="Arial"/>
              </a:rPr>
              <a:t>when </a:t>
            </a:r>
            <a:r>
              <a:rPr sz="1950" spc="95" dirty="0">
                <a:solidFill>
                  <a:srgbClr val="231F20"/>
                </a:solidFill>
                <a:latin typeface="Arial"/>
                <a:cs typeface="Arial"/>
              </a:rPr>
              <a:t>we </a:t>
            </a:r>
            <a:r>
              <a:rPr sz="1950" spc="210" dirty="0">
                <a:solidFill>
                  <a:srgbClr val="FF0000"/>
                </a:solidFill>
                <a:latin typeface="Arial"/>
                <a:cs typeface="Arial"/>
              </a:rPr>
              <a:t>don’t  </a:t>
            </a:r>
            <a:r>
              <a:rPr sz="1950" spc="80" dirty="0">
                <a:solidFill>
                  <a:srgbClr val="231F20"/>
                </a:solidFill>
                <a:latin typeface="Arial"/>
                <a:cs typeface="Arial"/>
              </a:rPr>
              <a:t>need </a:t>
            </a:r>
            <a:r>
              <a:rPr sz="1950" spc="235" dirty="0">
                <a:solidFill>
                  <a:srgbClr val="231F20"/>
                </a:solidFill>
                <a:latin typeface="Arial"/>
                <a:cs typeface="Arial"/>
              </a:rPr>
              <a:t> </a:t>
            </a:r>
            <a:r>
              <a:rPr sz="1950" spc="85" dirty="0">
                <a:solidFill>
                  <a:srgbClr val="231F20"/>
                </a:solidFill>
                <a:latin typeface="Arial"/>
                <a:cs typeface="Arial"/>
              </a:rPr>
              <a:t>a </a:t>
            </a:r>
            <a:r>
              <a:rPr sz="1950" spc="229" dirty="0">
                <a:solidFill>
                  <a:srgbClr val="231F20"/>
                </a:solidFill>
                <a:latin typeface="Arial"/>
                <a:cs typeface="Arial"/>
              </a:rPr>
              <a:t> </a:t>
            </a:r>
            <a:r>
              <a:rPr sz="1950" spc="160" dirty="0">
                <a:solidFill>
                  <a:srgbClr val="231F20"/>
                </a:solidFill>
                <a:latin typeface="Arial"/>
                <a:cs typeface="Arial"/>
              </a:rPr>
              <a:t>transition:	</a:t>
            </a:r>
            <a:r>
              <a:rPr sz="1950" spc="229" dirty="0">
                <a:solidFill>
                  <a:srgbClr val="231F20"/>
                </a:solidFill>
                <a:latin typeface="Arial"/>
                <a:cs typeface="Arial"/>
              </a:rPr>
              <a:t>omit </a:t>
            </a:r>
            <a:r>
              <a:rPr sz="1950" spc="160" dirty="0">
                <a:solidFill>
                  <a:srgbClr val="231F20"/>
                </a:solidFill>
                <a:latin typeface="Arial"/>
                <a:cs typeface="Arial"/>
              </a:rPr>
              <a:t>transition </a:t>
            </a:r>
            <a:r>
              <a:rPr sz="1950" spc="155" dirty="0">
                <a:solidFill>
                  <a:srgbClr val="231F20"/>
                </a:solidFill>
                <a:latin typeface="Arial"/>
                <a:cs typeface="Arial"/>
              </a:rPr>
              <a:t>iff </a:t>
            </a:r>
            <a:r>
              <a:rPr sz="1950" spc="175" dirty="0">
                <a:solidFill>
                  <a:srgbClr val="231F20"/>
                </a:solidFill>
                <a:latin typeface="Arial"/>
                <a:cs typeface="Arial"/>
              </a:rPr>
              <a:t>the </a:t>
            </a:r>
            <a:r>
              <a:rPr sz="1950" spc="160" dirty="0">
                <a:solidFill>
                  <a:srgbClr val="231F20"/>
                </a:solidFill>
                <a:latin typeface="Arial"/>
                <a:cs typeface="Arial"/>
              </a:rPr>
              <a:t>formula </a:t>
            </a:r>
            <a:r>
              <a:rPr sz="1950" spc="40" dirty="0">
                <a:solidFill>
                  <a:srgbClr val="231F20"/>
                </a:solidFill>
                <a:latin typeface="Arial"/>
                <a:cs typeface="Arial"/>
              </a:rPr>
              <a:t>is </a:t>
            </a:r>
            <a:r>
              <a:rPr sz="1950" spc="210" dirty="0">
                <a:solidFill>
                  <a:srgbClr val="231F20"/>
                </a:solidFill>
                <a:latin typeface="Arial"/>
                <a:cs typeface="Arial"/>
              </a:rPr>
              <a:t> </a:t>
            </a:r>
            <a:r>
              <a:rPr sz="1950" spc="114" dirty="0">
                <a:solidFill>
                  <a:srgbClr val="231F20"/>
                </a:solidFill>
                <a:latin typeface="Arial"/>
                <a:cs typeface="Arial"/>
              </a:rPr>
              <a:t>proved</a:t>
            </a:r>
            <a:endParaRPr sz="1950">
              <a:latin typeface="Arial"/>
              <a:cs typeface="Arial"/>
            </a:endParaRPr>
          </a:p>
          <a:p>
            <a:pPr marL="416559" algn="ctr">
              <a:lnSpc>
                <a:spcPct val="100000"/>
              </a:lnSpc>
              <a:spcBef>
                <a:spcPts val="1520"/>
              </a:spcBef>
            </a:pPr>
            <a:r>
              <a:rPr sz="2050" spc="-320" dirty="0">
                <a:solidFill>
                  <a:srgbClr val="231F20"/>
                </a:solidFill>
                <a:latin typeface="Lucida Sans Unicode"/>
                <a:cs typeface="Lucida Sans Unicode"/>
              </a:rPr>
              <a:t>¬</a:t>
            </a:r>
            <a:r>
              <a:rPr sz="2050" i="1" spc="-320" dirty="0">
                <a:solidFill>
                  <a:srgbClr val="231F20"/>
                </a:solidFill>
                <a:latin typeface="Meiryo"/>
                <a:cs typeface="Meiryo"/>
              </a:rPr>
              <a:t>tt</a:t>
            </a:r>
            <a:r>
              <a:rPr sz="3075" spc="-480" baseline="13550" dirty="0">
                <a:solidFill>
                  <a:srgbClr val="231F20"/>
                </a:solidFill>
                <a:latin typeface="Tahoma"/>
                <a:cs typeface="Tahoma"/>
              </a:rPr>
              <a:t>ˆ</a:t>
            </a:r>
            <a:r>
              <a:rPr sz="2050" spc="-320" dirty="0">
                <a:solidFill>
                  <a:srgbClr val="231F20"/>
                </a:solidFill>
                <a:latin typeface="Tahoma"/>
                <a:cs typeface="Tahoma"/>
              </a:rPr>
              <a:t>(</a:t>
            </a:r>
            <a:r>
              <a:rPr sz="2050" i="1" spc="-320" dirty="0">
                <a:solidFill>
                  <a:srgbClr val="231F20"/>
                </a:solidFill>
                <a:latin typeface="Meiryo"/>
                <a:cs typeface="Meiryo"/>
              </a:rPr>
              <a:t>s</a:t>
            </a:r>
            <a:r>
              <a:rPr sz="2050" spc="-320" dirty="0">
                <a:solidFill>
                  <a:srgbClr val="231F20"/>
                </a:solidFill>
                <a:latin typeface="Tahoma"/>
                <a:cs typeface="Tahoma"/>
              </a:rPr>
              <a:t>ˆ</a:t>
            </a:r>
            <a:r>
              <a:rPr sz="2175" spc="-480" baseline="-11494" dirty="0">
                <a:solidFill>
                  <a:srgbClr val="231F20"/>
                </a:solidFill>
                <a:latin typeface="PMingLiU"/>
                <a:cs typeface="PMingLiU"/>
              </a:rPr>
              <a:t>1</a:t>
            </a:r>
            <a:r>
              <a:rPr sz="2050" i="1" spc="-320" dirty="0">
                <a:solidFill>
                  <a:srgbClr val="231F20"/>
                </a:solidFill>
                <a:latin typeface="Meiryo"/>
                <a:cs typeface="Meiryo"/>
              </a:rPr>
              <a:t>, </a:t>
            </a:r>
            <a:r>
              <a:rPr sz="2050" i="1" spc="-229" dirty="0">
                <a:solidFill>
                  <a:srgbClr val="231F20"/>
                </a:solidFill>
                <a:latin typeface="Meiryo"/>
                <a:cs typeface="Meiryo"/>
              </a:rPr>
              <a:t>s</a:t>
            </a:r>
            <a:r>
              <a:rPr sz="2050" spc="-229" dirty="0">
                <a:solidFill>
                  <a:srgbClr val="231F20"/>
                </a:solidFill>
                <a:latin typeface="Tahoma"/>
                <a:cs typeface="Tahoma"/>
              </a:rPr>
              <a:t>ˆ</a:t>
            </a:r>
            <a:r>
              <a:rPr sz="2175" spc="-345" baseline="-11494" dirty="0">
                <a:solidFill>
                  <a:srgbClr val="231F20"/>
                </a:solidFill>
                <a:latin typeface="PMingLiU"/>
                <a:cs typeface="PMingLiU"/>
              </a:rPr>
              <a:t>2</a:t>
            </a:r>
            <a:r>
              <a:rPr sz="2050" spc="-229" dirty="0">
                <a:solidFill>
                  <a:srgbClr val="231F20"/>
                </a:solidFill>
                <a:latin typeface="Tahoma"/>
                <a:cs typeface="Tahoma"/>
              </a:rPr>
              <a:t>) </a:t>
            </a:r>
            <a:r>
              <a:rPr sz="2050" spc="-405" dirty="0">
                <a:solidFill>
                  <a:srgbClr val="231F20"/>
                </a:solidFill>
                <a:latin typeface="Lucida Sans Unicode"/>
                <a:cs typeface="Lucida Sans Unicode"/>
              </a:rPr>
              <a:t>⇔  </a:t>
            </a:r>
            <a:r>
              <a:rPr sz="2050" spc="-370" dirty="0">
                <a:solidFill>
                  <a:srgbClr val="0000FF"/>
                </a:solidFill>
                <a:latin typeface="Lucida Sans Unicode"/>
                <a:cs typeface="Lucida Sans Unicode"/>
              </a:rPr>
              <a:t>⊢  </a:t>
            </a:r>
            <a:r>
              <a:rPr sz="2050" spc="-160" dirty="0">
                <a:solidFill>
                  <a:srgbClr val="0000FF"/>
                </a:solidFill>
                <a:latin typeface="Lucida Sans Unicode"/>
                <a:cs typeface="Lucida Sans Unicode"/>
              </a:rPr>
              <a:t>∀</a:t>
            </a:r>
            <a:r>
              <a:rPr sz="2050" i="1" spc="-160" dirty="0">
                <a:solidFill>
                  <a:srgbClr val="0000FF"/>
                </a:solidFill>
                <a:latin typeface="Meiryo"/>
                <a:cs typeface="Meiryo"/>
              </a:rPr>
              <a:t>s</a:t>
            </a:r>
            <a:r>
              <a:rPr sz="2175" spc="-240" baseline="-11494" dirty="0">
                <a:solidFill>
                  <a:srgbClr val="0000FF"/>
                </a:solidFill>
                <a:latin typeface="PMingLiU"/>
                <a:cs typeface="PMingLiU"/>
              </a:rPr>
              <a:t>1</a:t>
            </a:r>
            <a:r>
              <a:rPr sz="2050" i="1" spc="-160" dirty="0">
                <a:solidFill>
                  <a:srgbClr val="0000FF"/>
                </a:solidFill>
                <a:latin typeface="Meiryo"/>
                <a:cs typeface="Meiryo"/>
              </a:rPr>
              <a:t>, </a:t>
            </a:r>
            <a:r>
              <a:rPr sz="2050" i="1" spc="40" dirty="0">
                <a:solidFill>
                  <a:srgbClr val="0000FF"/>
                </a:solidFill>
                <a:latin typeface="Meiryo"/>
                <a:cs typeface="Meiryo"/>
              </a:rPr>
              <a:t>s</a:t>
            </a:r>
            <a:r>
              <a:rPr sz="2175" spc="60" baseline="-11494" dirty="0">
                <a:solidFill>
                  <a:srgbClr val="0000FF"/>
                </a:solidFill>
                <a:latin typeface="PMingLiU"/>
                <a:cs typeface="PMingLiU"/>
              </a:rPr>
              <a:t>2 </a:t>
            </a:r>
            <a:r>
              <a:rPr sz="2050" spc="-155" dirty="0">
                <a:solidFill>
                  <a:srgbClr val="0000FF"/>
                </a:solidFill>
                <a:latin typeface="Tahoma"/>
                <a:cs typeface="Tahoma"/>
              </a:rPr>
              <a:t>: </a:t>
            </a:r>
            <a:r>
              <a:rPr sz="2050" i="1" spc="-345" dirty="0">
                <a:solidFill>
                  <a:srgbClr val="0000FF"/>
                </a:solidFill>
                <a:latin typeface="Meiryo"/>
                <a:cs typeface="Meiryo"/>
              </a:rPr>
              <a:t>s</a:t>
            </a:r>
            <a:r>
              <a:rPr sz="2050" spc="-345" dirty="0">
                <a:solidFill>
                  <a:srgbClr val="0000FF"/>
                </a:solidFill>
                <a:latin typeface="Tahoma"/>
                <a:cs typeface="Tahoma"/>
              </a:rPr>
              <a:t>ˆ</a:t>
            </a:r>
            <a:r>
              <a:rPr sz="2175" spc="-517" baseline="-11494" dirty="0">
                <a:solidFill>
                  <a:srgbClr val="0000FF"/>
                </a:solidFill>
                <a:latin typeface="PMingLiU"/>
                <a:cs typeface="PMingLiU"/>
              </a:rPr>
              <a:t>1                     </a:t>
            </a:r>
            <a:r>
              <a:rPr sz="2050" spc="-340" dirty="0">
                <a:solidFill>
                  <a:srgbClr val="0000FF"/>
                </a:solidFill>
                <a:latin typeface="Lucida Sans Unicode"/>
                <a:cs typeface="Lucida Sans Unicode"/>
              </a:rPr>
              <a:t>ƒ</a:t>
            </a:r>
            <a:r>
              <a:rPr sz="2050" spc="-340" dirty="0">
                <a:solidFill>
                  <a:srgbClr val="0000FF"/>
                </a:solidFill>
                <a:latin typeface="Tahoma"/>
                <a:cs typeface="Tahoma"/>
              </a:rPr>
              <a:t>=  </a:t>
            </a:r>
            <a:r>
              <a:rPr sz="2050" i="1" spc="-25" dirty="0">
                <a:solidFill>
                  <a:srgbClr val="0000FF"/>
                </a:solidFill>
                <a:latin typeface="Meiryo"/>
                <a:cs typeface="Meiryo"/>
              </a:rPr>
              <a:t>φ</a:t>
            </a:r>
            <a:r>
              <a:rPr sz="2050" spc="-25" dirty="0">
                <a:solidFill>
                  <a:srgbClr val="0000FF"/>
                </a:solidFill>
                <a:latin typeface="Tahoma"/>
                <a:cs typeface="Tahoma"/>
              </a:rPr>
              <a:t>(</a:t>
            </a:r>
            <a:r>
              <a:rPr sz="2050" i="1" spc="-25" dirty="0">
                <a:solidFill>
                  <a:srgbClr val="0000FF"/>
                </a:solidFill>
                <a:latin typeface="Meiryo"/>
                <a:cs typeface="Meiryo"/>
              </a:rPr>
              <a:t>s</a:t>
            </a:r>
            <a:r>
              <a:rPr sz="2175" spc="-37" baseline="-11494" dirty="0">
                <a:solidFill>
                  <a:srgbClr val="0000FF"/>
                </a:solidFill>
                <a:latin typeface="PMingLiU"/>
                <a:cs typeface="PMingLiU"/>
              </a:rPr>
              <a:t>1</a:t>
            </a:r>
            <a:r>
              <a:rPr sz="2050" spc="-25" dirty="0">
                <a:solidFill>
                  <a:srgbClr val="0000FF"/>
                </a:solidFill>
                <a:latin typeface="Tahoma"/>
                <a:cs typeface="Tahoma"/>
              </a:rPr>
              <a:t>) </a:t>
            </a:r>
            <a:r>
              <a:rPr sz="2050" spc="-254" dirty="0">
                <a:solidFill>
                  <a:srgbClr val="0000FF"/>
                </a:solidFill>
                <a:latin typeface="Lucida Sans Unicode"/>
                <a:cs typeface="Lucida Sans Unicode"/>
              </a:rPr>
              <a:t>∨ </a:t>
            </a:r>
            <a:r>
              <a:rPr sz="2050" i="1" spc="-345" dirty="0">
                <a:solidFill>
                  <a:srgbClr val="0000FF"/>
                </a:solidFill>
                <a:latin typeface="Meiryo"/>
                <a:cs typeface="Meiryo"/>
              </a:rPr>
              <a:t>s</a:t>
            </a:r>
            <a:r>
              <a:rPr sz="2050" spc="-345" dirty="0">
                <a:solidFill>
                  <a:srgbClr val="0000FF"/>
                </a:solidFill>
                <a:latin typeface="Tahoma"/>
                <a:cs typeface="Tahoma"/>
              </a:rPr>
              <a:t>ˆ</a:t>
            </a:r>
            <a:r>
              <a:rPr sz="2175" spc="-517" baseline="-11494" dirty="0">
                <a:solidFill>
                  <a:srgbClr val="0000FF"/>
                </a:solidFill>
                <a:latin typeface="PMingLiU"/>
                <a:cs typeface="PMingLiU"/>
              </a:rPr>
              <a:t>2                     </a:t>
            </a:r>
            <a:r>
              <a:rPr sz="2050" spc="-340" dirty="0">
                <a:solidFill>
                  <a:srgbClr val="0000FF"/>
                </a:solidFill>
                <a:latin typeface="Lucida Sans Unicode"/>
                <a:cs typeface="Lucida Sans Unicode"/>
              </a:rPr>
              <a:t>ƒ</a:t>
            </a:r>
            <a:r>
              <a:rPr sz="2050" spc="-340" dirty="0">
                <a:solidFill>
                  <a:srgbClr val="0000FF"/>
                </a:solidFill>
                <a:latin typeface="Tahoma"/>
                <a:cs typeface="Tahoma"/>
              </a:rPr>
              <a:t>=  </a:t>
            </a:r>
            <a:r>
              <a:rPr sz="2050" i="1" spc="-25" dirty="0">
                <a:solidFill>
                  <a:srgbClr val="0000FF"/>
                </a:solidFill>
                <a:latin typeface="Meiryo"/>
                <a:cs typeface="Meiryo"/>
              </a:rPr>
              <a:t>φ</a:t>
            </a:r>
            <a:r>
              <a:rPr sz="2050" spc="-25" dirty="0">
                <a:solidFill>
                  <a:srgbClr val="0000FF"/>
                </a:solidFill>
                <a:latin typeface="Tahoma"/>
                <a:cs typeface="Tahoma"/>
              </a:rPr>
              <a:t>(</a:t>
            </a:r>
            <a:r>
              <a:rPr sz="2050" i="1" spc="-25" dirty="0">
                <a:solidFill>
                  <a:srgbClr val="0000FF"/>
                </a:solidFill>
                <a:latin typeface="Meiryo"/>
                <a:cs typeface="Meiryo"/>
              </a:rPr>
              <a:t>s</a:t>
            </a:r>
            <a:r>
              <a:rPr sz="2175" spc="-37" baseline="-11494" dirty="0">
                <a:solidFill>
                  <a:srgbClr val="0000FF"/>
                </a:solidFill>
                <a:latin typeface="PMingLiU"/>
                <a:cs typeface="PMingLiU"/>
              </a:rPr>
              <a:t>2</a:t>
            </a:r>
            <a:r>
              <a:rPr sz="2050" spc="-25" dirty="0">
                <a:solidFill>
                  <a:srgbClr val="0000FF"/>
                </a:solidFill>
                <a:latin typeface="Tahoma"/>
                <a:cs typeface="Tahoma"/>
              </a:rPr>
              <a:t>) </a:t>
            </a:r>
            <a:r>
              <a:rPr sz="2050" spc="-254" dirty="0">
                <a:solidFill>
                  <a:srgbClr val="0000FF"/>
                </a:solidFill>
                <a:latin typeface="Lucida Sans Unicode"/>
                <a:cs typeface="Lucida Sans Unicode"/>
              </a:rPr>
              <a:t>∨ </a:t>
            </a:r>
            <a:r>
              <a:rPr sz="2050" spc="-20" dirty="0">
                <a:solidFill>
                  <a:srgbClr val="0000FF"/>
                </a:solidFill>
                <a:latin typeface="Lucida Sans Unicode"/>
                <a:cs typeface="Lucida Sans Unicode"/>
              </a:rPr>
              <a:t>¬</a:t>
            </a:r>
            <a:r>
              <a:rPr sz="2050" i="1" spc="-20" dirty="0">
                <a:solidFill>
                  <a:srgbClr val="0000FF"/>
                </a:solidFill>
                <a:latin typeface="Meiryo"/>
                <a:cs typeface="Meiryo"/>
              </a:rPr>
              <a:t>tt</a:t>
            </a:r>
            <a:r>
              <a:rPr sz="2050" spc="-20" dirty="0">
                <a:solidFill>
                  <a:srgbClr val="0000FF"/>
                </a:solidFill>
                <a:latin typeface="Tahoma"/>
                <a:cs typeface="Tahoma"/>
              </a:rPr>
              <a:t>(</a:t>
            </a:r>
            <a:r>
              <a:rPr sz="2050" i="1" spc="-20" dirty="0">
                <a:solidFill>
                  <a:srgbClr val="0000FF"/>
                </a:solidFill>
                <a:latin typeface="Meiryo"/>
                <a:cs typeface="Meiryo"/>
              </a:rPr>
              <a:t>s</a:t>
            </a:r>
            <a:r>
              <a:rPr sz="2175" spc="-30" baseline="-11494" dirty="0">
                <a:solidFill>
                  <a:srgbClr val="0000FF"/>
                </a:solidFill>
                <a:latin typeface="PMingLiU"/>
                <a:cs typeface="PMingLiU"/>
              </a:rPr>
              <a:t>1</a:t>
            </a:r>
            <a:r>
              <a:rPr sz="2050" i="1" spc="-20" dirty="0">
                <a:solidFill>
                  <a:srgbClr val="0000FF"/>
                </a:solidFill>
                <a:latin typeface="Meiryo"/>
                <a:cs typeface="Meiryo"/>
              </a:rPr>
              <a:t>,</a:t>
            </a:r>
            <a:r>
              <a:rPr sz="2050" i="1" spc="-180" dirty="0">
                <a:solidFill>
                  <a:srgbClr val="0000FF"/>
                </a:solidFill>
                <a:latin typeface="Meiryo"/>
                <a:cs typeface="Meiryo"/>
              </a:rPr>
              <a:t> </a:t>
            </a:r>
            <a:r>
              <a:rPr sz="2050" i="1" spc="65" dirty="0">
                <a:solidFill>
                  <a:srgbClr val="0000FF"/>
                </a:solidFill>
                <a:latin typeface="Meiryo"/>
                <a:cs typeface="Meiryo"/>
              </a:rPr>
              <a:t>s</a:t>
            </a:r>
            <a:r>
              <a:rPr sz="2175" spc="97" baseline="-11494" dirty="0">
                <a:solidFill>
                  <a:srgbClr val="0000FF"/>
                </a:solidFill>
                <a:latin typeface="PMingLiU"/>
                <a:cs typeface="PMingLiU"/>
              </a:rPr>
              <a:t>2</a:t>
            </a:r>
            <a:r>
              <a:rPr sz="2050" spc="65" dirty="0">
                <a:solidFill>
                  <a:srgbClr val="0000FF"/>
                </a:solidFill>
                <a:latin typeface="Tahoma"/>
                <a:cs typeface="Tahoma"/>
              </a:rPr>
              <a:t>)</a:t>
            </a:r>
            <a:endParaRPr sz="2050">
              <a:latin typeface="Tahoma"/>
              <a:cs typeface="Tahoma"/>
            </a:endParaRPr>
          </a:p>
          <a:p>
            <a:pPr marL="300990" indent="-288290">
              <a:lnSpc>
                <a:spcPct val="100000"/>
              </a:lnSpc>
              <a:spcBef>
                <a:spcPts val="2010"/>
              </a:spcBef>
              <a:buClr>
                <a:srgbClr val="231F20"/>
              </a:buClr>
              <a:buSzPct val="105128"/>
              <a:buFont typeface="Lucida Sans Unicode"/>
              <a:buChar char="•"/>
              <a:tabLst>
                <a:tab pos="301625" algn="l"/>
              </a:tabLst>
            </a:pPr>
            <a:r>
              <a:rPr sz="1950" spc="175" dirty="0">
                <a:solidFill>
                  <a:srgbClr val="FF0000"/>
                </a:solidFill>
                <a:latin typeface="Arial"/>
                <a:cs typeface="Arial"/>
              </a:rPr>
              <a:t>Now </a:t>
            </a:r>
            <a:r>
              <a:rPr sz="1950" spc="145" dirty="0">
                <a:solidFill>
                  <a:srgbClr val="FF0000"/>
                </a:solidFill>
                <a:latin typeface="Arial"/>
                <a:cs typeface="Arial"/>
              </a:rPr>
              <a:t>theorem-proving </a:t>
            </a:r>
            <a:r>
              <a:rPr sz="1950" spc="125" dirty="0">
                <a:solidFill>
                  <a:srgbClr val="FF0000"/>
                </a:solidFill>
                <a:latin typeface="Arial"/>
                <a:cs typeface="Arial"/>
              </a:rPr>
              <a:t>failure </a:t>
            </a:r>
            <a:r>
              <a:rPr sz="1950" spc="130" dirty="0">
                <a:solidFill>
                  <a:srgbClr val="FF0000"/>
                </a:solidFill>
                <a:latin typeface="Arial"/>
                <a:cs typeface="Arial"/>
              </a:rPr>
              <a:t>affects </a:t>
            </a:r>
            <a:r>
              <a:rPr sz="1950" spc="100" dirty="0">
                <a:solidFill>
                  <a:srgbClr val="FF0000"/>
                </a:solidFill>
                <a:latin typeface="Arial"/>
                <a:cs typeface="Arial"/>
              </a:rPr>
              <a:t>accuracy, </a:t>
            </a:r>
            <a:r>
              <a:rPr sz="1950" spc="220" dirty="0">
                <a:solidFill>
                  <a:srgbClr val="FF0000"/>
                </a:solidFill>
                <a:latin typeface="Arial"/>
                <a:cs typeface="Arial"/>
              </a:rPr>
              <a:t>not </a:t>
            </a:r>
            <a:r>
              <a:rPr sz="1950" spc="300" dirty="0">
                <a:solidFill>
                  <a:srgbClr val="FF0000"/>
                </a:solidFill>
                <a:latin typeface="Arial"/>
                <a:cs typeface="Arial"/>
              </a:rPr>
              <a:t> </a:t>
            </a:r>
            <a:r>
              <a:rPr sz="1950" spc="75" dirty="0">
                <a:solidFill>
                  <a:srgbClr val="FF0000"/>
                </a:solidFill>
                <a:latin typeface="Arial"/>
                <a:cs typeface="Arial"/>
              </a:rPr>
              <a:t>soundness</a:t>
            </a:r>
            <a:endParaRPr sz="1950">
              <a:latin typeface="Arial"/>
              <a:cs typeface="Arial"/>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1441361"/>
            <a:ext cx="8261350" cy="3930015"/>
          </a:xfrm>
          <a:prstGeom prst="rect">
            <a:avLst/>
          </a:prstGeom>
        </p:spPr>
        <p:txBody>
          <a:bodyPr vert="horz" wrap="square" lIns="0" tIns="0" rIns="0" bIns="0" rtlCol="0">
            <a:spAutoFit/>
          </a:bodyPr>
          <a:lstStyle/>
          <a:p>
            <a:pPr marL="2470785">
              <a:lnSpc>
                <a:spcPct val="100000"/>
              </a:lnSpc>
            </a:pPr>
            <a:r>
              <a:rPr sz="1950" spc="330" dirty="0">
                <a:solidFill>
                  <a:srgbClr val="231F20"/>
                </a:solidFill>
                <a:latin typeface="Arial"/>
                <a:cs typeface="Arial"/>
              </a:rPr>
              <a:t>Automated</a:t>
            </a:r>
            <a:r>
              <a:rPr sz="1950" spc="295"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50" dirty="0">
                <a:solidFill>
                  <a:srgbClr val="231F20"/>
                </a:solidFill>
                <a:latin typeface="Arial"/>
                <a:cs typeface="Arial"/>
              </a:rPr>
              <a:t>The </a:t>
            </a:r>
            <a:r>
              <a:rPr sz="1950" spc="200" dirty="0">
                <a:solidFill>
                  <a:srgbClr val="231F20"/>
                </a:solidFill>
                <a:latin typeface="Arial"/>
                <a:cs typeface="Arial"/>
              </a:rPr>
              <a:t>method </a:t>
            </a:r>
            <a:r>
              <a:rPr sz="1950" spc="100" dirty="0">
                <a:solidFill>
                  <a:srgbClr val="231F20"/>
                </a:solidFill>
                <a:latin typeface="Arial"/>
                <a:cs typeface="Arial"/>
              </a:rPr>
              <a:t>described </a:t>
            </a:r>
            <a:r>
              <a:rPr sz="1950" spc="40" dirty="0">
                <a:solidFill>
                  <a:srgbClr val="231F20"/>
                </a:solidFill>
                <a:latin typeface="Arial"/>
                <a:cs typeface="Arial"/>
              </a:rPr>
              <a:t>is </a:t>
            </a:r>
            <a:r>
              <a:rPr sz="1950" spc="180" dirty="0">
                <a:solidFill>
                  <a:srgbClr val="231F20"/>
                </a:solidFill>
                <a:latin typeface="Arial"/>
                <a:cs typeface="Arial"/>
              </a:rPr>
              <a:t>automated </a:t>
            </a:r>
            <a:r>
              <a:rPr sz="1950" spc="130" dirty="0">
                <a:solidFill>
                  <a:srgbClr val="231F20"/>
                </a:solidFill>
                <a:latin typeface="Arial"/>
                <a:cs typeface="Arial"/>
              </a:rPr>
              <a:t>in </a:t>
            </a:r>
            <a:r>
              <a:rPr sz="1950" spc="270" dirty="0">
                <a:solidFill>
                  <a:srgbClr val="231F20"/>
                </a:solidFill>
                <a:latin typeface="Arial"/>
                <a:cs typeface="Arial"/>
              </a:rPr>
              <a:t> </a:t>
            </a:r>
            <a:r>
              <a:rPr sz="1950" spc="150" dirty="0">
                <a:solidFill>
                  <a:srgbClr val="0000FF"/>
                </a:solidFill>
                <a:latin typeface="Arial"/>
                <a:cs typeface="Arial"/>
              </a:rPr>
              <a:t>InVeSt</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220" dirty="0">
                <a:solidFill>
                  <a:srgbClr val="231F20"/>
                </a:solidFill>
                <a:latin typeface="Arial"/>
                <a:cs typeface="Arial"/>
              </a:rPr>
              <a:t>An </a:t>
            </a:r>
            <a:r>
              <a:rPr sz="1950" spc="170" dirty="0">
                <a:solidFill>
                  <a:srgbClr val="231F20"/>
                </a:solidFill>
                <a:latin typeface="Arial"/>
                <a:cs typeface="Arial"/>
              </a:rPr>
              <a:t>adjunct </a:t>
            </a:r>
            <a:r>
              <a:rPr sz="1950" spc="250" dirty="0">
                <a:solidFill>
                  <a:srgbClr val="231F20"/>
                </a:solidFill>
                <a:latin typeface="Arial"/>
                <a:cs typeface="Arial"/>
              </a:rPr>
              <a:t>to </a:t>
            </a:r>
            <a:r>
              <a:rPr sz="1950" spc="204" dirty="0">
                <a:solidFill>
                  <a:srgbClr val="231F20"/>
                </a:solidFill>
                <a:latin typeface="Arial"/>
                <a:cs typeface="Arial"/>
              </a:rPr>
              <a:t>PVS </a:t>
            </a:r>
            <a:r>
              <a:rPr sz="1950" spc="105" dirty="0">
                <a:solidFill>
                  <a:srgbClr val="231F20"/>
                </a:solidFill>
                <a:latin typeface="Arial"/>
                <a:cs typeface="Arial"/>
              </a:rPr>
              <a:t>developed </a:t>
            </a:r>
            <a:r>
              <a:rPr sz="1950" spc="130" dirty="0">
                <a:solidFill>
                  <a:srgbClr val="231F20"/>
                </a:solidFill>
                <a:latin typeface="Arial"/>
                <a:cs typeface="Arial"/>
              </a:rPr>
              <a:t>in </a:t>
            </a:r>
            <a:r>
              <a:rPr sz="1950" spc="165" dirty="0">
                <a:solidFill>
                  <a:srgbClr val="231F20"/>
                </a:solidFill>
                <a:latin typeface="Arial"/>
                <a:cs typeface="Arial"/>
              </a:rPr>
              <a:t>conjunction </a:t>
            </a:r>
            <a:r>
              <a:rPr sz="1950" spc="215" dirty="0">
                <a:solidFill>
                  <a:srgbClr val="231F20"/>
                </a:solidFill>
                <a:latin typeface="Arial"/>
                <a:cs typeface="Arial"/>
              </a:rPr>
              <a:t>with</a:t>
            </a:r>
            <a:r>
              <a:rPr sz="1950" spc="335" dirty="0">
                <a:solidFill>
                  <a:srgbClr val="231F20"/>
                </a:solidFill>
                <a:latin typeface="Arial"/>
                <a:cs typeface="Arial"/>
              </a:rPr>
              <a:t> </a:t>
            </a:r>
            <a:r>
              <a:rPr sz="1950" spc="150" dirty="0">
                <a:solidFill>
                  <a:srgbClr val="231F20"/>
                </a:solidFill>
                <a:latin typeface="Arial"/>
                <a:cs typeface="Arial"/>
              </a:rPr>
              <a:t>Verimag</a:t>
            </a:r>
            <a:endParaRPr sz="1950">
              <a:latin typeface="Arial"/>
              <a:cs typeface="Arial"/>
            </a:endParaRPr>
          </a:p>
          <a:p>
            <a:pPr marL="300990" marR="1592580" indent="-288290">
              <a:lnSpc>
                <a:spcPct val="125000"/>
              </a:lnSpc>
              <a:spcBef>
                <a:spcPts val="1340"/>
              </a:spcBef>
              <a:buSzPct val="105128"/>
              <a:buFont typeface="Lucida Sans Unicode"/>
              <a:buChar char="•"/>
              <a:tabLst>
                <a:tab pos="301625" algn="l"/>
              </a:tabLst>
            </a:pPr>
            <a:r>
              <a:rPr sz="1950" spc="295" dirty="0">
                <a:solidFill>
                  <a:srgbClr val="231F20"/>
                </a:solidFill>
                <a:latin typeface="Arial"/>
                <a:cs typeface="Arial"/>
              </a:rPr>
              <a:t>A </a:t>
            </a:r>
            <a:r>
              <a:rPr sz="1950" spc="145" dirty="0">
                <a:solidFill>
                  <a:srgbClr val="231F20"/>
                </a:solidFill>
                <a:latin typeface="Arial"/>
                <a:cs typeface="Arial"/>
              </a:rPr>
              <a:t>different </a:t>
            </a:r>
            <a:r>
              <a:rPr sz="1950" spc="200" dirty="0">
                <a:solidFill>
                  <a:srgbClr val="231F20"/>
                </a:solidFill>
                <a:latin typeface="Arial"/>
                <a:cs typeface="Arial"/>
              </a:rPr>
              <a:t>method </a:t>
            </a:r>
            <a:r>
              <a:rPr sz="1950" spc="155" dirty="0">
                <a:solidFill>
                  <a:srgbClr val="231F20"/>
                </a:solidFill>
                <a:latin typeface="Arial"/>
                <a:cs typeface="Arial"/>
              </a:rPr>
              <a:t>(due </a:t>
            </a:r>
            <a:r>
              <a:rPr sz="1950" spc="250" dirty="0">
                <a:solidFill>
                  <a:srgbClr val="231F20"/>
                </a:solidFill>
                <a:latin typeface="Arial"/>
                <a:cs typeface="Arial"/>
              </a:rPr>
              <a:t>to </a:t>
            </a:r>
            <a:r>
              <a:rPr sz="1950" spc="-35" dirty="0">
                <a:solidFill>
                  <a:srgbClr val="231F20"/>
                </a:solidFill>
                <a:latin typeface="Arial"/>
                <a:cs typeface="Arial"/>
              </a:rPr>
              <a:t>Sa¨ıdi </a:t>
            </a:r>
            <a:r>
              <a:rPr sz="1950" spc="130" dirty="0">
                <a:solidFill>
                  <a:srgbClr val="231F20"/>
                </a:solidFill>
                <a:latin typeface="Arial"/>
                <a:cs typeface="Arial"/>
              </a:rPr>
              <a:t>and </a:t>
            </a:r>
            <a:r>
              <a:rPr sz="1950" spc="135" dirty="0">
                <a:solidFill>
                  <a:srgbClr val="231F20"/>
                </a:solidFill>
                <a:latin typeface="Arial"/>
                <a:cs typeface="Arial"/>
              </a:rPr>
              <a:t>Shankar) </a:t>
            </a:r>
            <a:r>
              <a:rPr sz="1950" spc="40" dirty="0">
                <a:solidFill>
                  <a:srgbClr val="231F20"/>
                </a:solidFill>
                <a:latin typeface="Arial"/>
                <a:cs typeface="Arial"/>
              </a:rPr>
              <a:t>is  </a:t>
            </a:r>
            <a:r>
              <a:rPr sz="1950" spc="150" dirty="0">
                <a:solidFill>
                  <a:srgbClr val="231F20"/>
                </a:solidFill>
                <a:latin typeface="Arial"/>
                <a:cs typeface="Arial"/>
              </a:rPr>
              <a:t>implemented </a:t>
            </a:r>
            <a:r>
              <a:rPr sz="1950" spc="130" dirty="0">
                <a:solidFill>
                  <a:srgbClr val="231F20"/>
                </a:solidFill>
                <a:latin typeface="Arial"/>
                <a:cs typeface="Arial"/>
              </a:rPr>
              <a:t>in</a:t>
            </a:r>
            <a:r>
              <a:rPr sz="1950" spc="375" dirty="0">
                <a:solidFill>
                  <a:srgbClr val="231F20"/>
                </a:solidFill>
                <a:latin typeface="Arial"/>
                <a:cs typeface="Arial"/>
              </a:rPr>
              <a:t> </a:t>
            </a:r>
            <a:r>
              <a:rPr sz="1950" spc="204" dirty="0">
                <a:solidFill>
                  <a:srgbClr val="231F20"/>
                </a:solidFill>
                <a:latin typeface="Arial"/>
                <a:cs typeface="Arial"/>
              </a:rPr>
              <a:t>PVS</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150" dirty="0">
                <a:solidFill>
                  <a:srgbClr val="231F20"/>
                </a:solidFill>
                <a:latin typeface="Arial"/>
                <a:cs typeface="Arial"/>
              </a:rPr>
              <a:t>Exponentially </a:t>
            </a:r>
            <a:r>
              <a:rPr sz="1950" spc="145" dirty="0">
                <a:solidFill>
                  <a:srgbClr val="231F20"/>
                </a:solidFill>
                <a:latin typeface="Arial"/>
                <a:cs typeface="Arial"/>
              </a:rPr>
              <a:t>more</a:t>
            </a:r>
            <a:r>
              <a:rPr sz="1950" spc="360" dirty="0">
                <a:solidFill>
                  <a:srgbClr val="231F20"/>
                </a:solidFill>
                <a:latin typeface="Arial"/>
                <a:cs typeface="Arial"/>
              </a:rPr>
              <a:t> </a:t>
            </a:r>
            <a:r>
              <a:rPr sz="1950" spc="135" dirty="0">
                <a:solidFill>
                  <a:srgbClr val="231F20"/>
                </a:solidFill>
                <a:latin typeface="Arial"/>
                <a:cs typeface="Arial"/>
              </a:rPr>
              <a:t>efficient</a:t>
            </a:r>
            <a:endParaRPr sz="1950">
              <a:latin typeface="Arial"/>
              <a:cs typeface="Arial"/>
            </a:endParaRPr>
          </a:p>
          <a:p>
            <a:pPr marL="300990" marR="155575" indent="-288290">
              <a:lnSpc>
                <a:spcPct val="125000"/>
              </a:lnSpc>
              <a:spcBef>
                <a:spcPts val="1340"/>
              </a:spcBef>
              <a:buSzPct val="105128"/>
              <a:buFont typeface="Lucida Sans Unicode"/>
              <a:buChar char="•"/>
              <a:tabLst>
                <a:tab pos="301625" algn="l"/>
              </a:tabLst>
            </a:pPr>
            <a:r>
              <a:rPr sz="1950" spc="250" dirty="0">
                <a:solidFill>
                  <a:srgbClr val="231F20"/>
                </a:solidFill>
                <a:latin typeface="Arial"/>
                <a:cs typeface="Arial"/>
              </a:rPr>
              <a:t>The </a:t>
            </a:r>
            <a:r>
              <a:rPr sz="1950" spc="155" dirty="0">
                <a:solidFill>
                  <a:srgbClr val="231F20"/>
                </a:solidFill>
                <a:latin typeface="Arial"/>
                <a:cs typeface="Arial"/>
              </a:rPr>
              <a:t>abstraction </a:t>
            </a:r>
            <a:r>
              <a:rPr sz="1950" spc="40" dirty="0">
                <a:solidFill>
                  <a:srgbClr val="231F20"/>
                </a:solidFill>
                <a:latin typeface="Arial"/>
                <a:cs typeface="Arial"/>
              </a:rPr>
              <a:t>is </a:t>
            </a:r>
            <a:r>
              <a:rPr sz="1950" spc="105" dirty="0">
                <a:solidFill>
                  <a:srgbClr val="231F20"/>
                </a:solidFill>
                <a:latin typeface="Arial"/>
                <a:cs typeface="Arial"/>
              </a:rPr>
              <a:t>specified </a:t>
            </a:r>
            <a:r>
              <a:rPr sz="1950" spc="130" dirty="0">
                <a:solidFill>
                  <a:srgbClr val="231F20"/>
                </a:solidFill>
                <a:latin typeface="Arial"/>
                <a:cs typeface="Arial"/>
              </a:rPr>
              <a:t>in </a:t>
            </a:r>
            <a:r>
              <a:rPr sz="1950" spc="175" dirty="0">
                <a:solidFill>
                  <a:srgbClr val="231F20"/>
                </a:solidFill>
                <a:latin typeface="Arial"/>
                <a:cs typeface="Arial"/>
              </a:rPr>
              <a:t>the </a:t>
            </a:r>
            <a:r>
              <a:rPr sz="1950" spc="170" dirty="0">
                <a:solidFill>
                  <a:srgbClr val="231F20"/>
                </a:solidFill>
                <a:latin typeface="Arial"/>
                <a:cs typeface="Arial"/>
              </a:rPr>
              <a:t>proof </a:t>
            </a:r>
            <a:r>
              <a:rPr sz="1950" spc="180" dirty="0">
                <a:solidFill>
                  <a:srgbClr val="231F20"/>
                </a:solidFill>
                <a:latin typeface="Arial"/>
                <a:cs typeface="Arial"/>
              </a:rPr>
              <a:t>command </a:t>
            </a:r>
            <a:r>
              <a:rPr sz="1950" spc="105" dirty="0">
                <a:solidFill>
                  <a:srgbClr val="231F20"/>
                </a:solidFill>
                <a:latin typeface="Arial"/>
                <a:cs typeface="Arial"/>
              </a:rPr>
              <a:t>by </a:t>
            </a:r>
            <a:r>
              <a:rPr sz="1950" spc="135" dirty="0">
                <a:solidFill>
                  <a:srgbClr val="231F20"/>
                </a:solidFill>
                <a:latin typeface="Arial"/>
                <a:cs typeface="Arial"/>
              </a:rPr>
              <a:t>giving  </a:t>
            </a:r>
            <a:r>
              <a:rPr sz="1950" spc="175" dirty="0">
                <a:solidFill>
                  <a:srgbClr val="231F20"/>
                </a:solidFill>
                <a:latin typeface="Arial"/>
                <a:cs typeface="Arial"/>
              </a:rPr>
              <a:t>the </a:t>
            </a:r>
            <a:r>
              <a:rPr sz="1950" spc="135" dirty="0">
                <a:solidFill>
                  <a:srgbClr val="231F20"/>
                </a:solidFill>
                <a:latin typeface="Arial"/>
                <a:cs typeface="Arial"/>
              </a:rPr>
              <a:t>concrete </a:t>
            </a:r>
            <a:r>
              <a:rPr sz="1950" spc="175" dirty="0">
                <a:solidFill>
                  <a:srgbClr val="231F20"/>
                </a:solidFill>
                <a:latin typeface="Arial"/>
                <a:cs typeface="Arial"/>
              </a:rPr>
              <a:t>function </a:t>
            </a:r>
            <a:r>
              <a:rPr sz="1950" spc="130" dirty="0">
                <a:solidFill>
                  <a:srgbClr val="231F20"/>
                </a:solidFill>
                <a:latin typeface="Arial"/>
                <a:cs typeface="Arial"/>
              </a:rPr>
              <a:t>or </a:t>
            </a:r>
            <a:r>
              <a:rPr sz="1950" spc="120" dirty="0">
                <a:solidFill>
                  <a:srgbClr val="231F20"/>
                </a:solidFill>
                <a:latin typeface="Arial"/>
                <a:cs typeface="Arial"/>
              </a:rPr>
              <a:t>predicate </a:t>
            </a:r>
            <a:r>
              <a:rPr sz="1950" spc="235" dirty="0">
                <a:solidFill>
                  <a:srgbClr val="231F20"/>
                </a:solidFill>
                <a:latin typeface="Arial"/>
                <a:cs typeface="Arial"/>
              </a:rPr>
              <a:t>that </a:t>
            </a:r>
            <a:r>
              <a:rPr sz="1950" spc="90" dirty="0">
                <a:solidFill>
                  <a:srgbClr val="231F20"/>
                </a:solidFill>
                <a:latin typeface="Arial"/>
                <a:cs typeface="Arial"/>
              </a:rPr>
              <a:t>defines </a:t>
            </a:r>
            <a:r>
              <a:rPr sz="1950" spc="175" dirty="0">
                <a:solidFill>
                  <a:srgbClr val="231F20"/>
                </a:solidFill>
                <a:latin typeface="Arial"/>
                <a:cs typeface="Arial"/>
              </a:rPr>
              <a:t>the </a:t>
            </a:r>
            <a:r>
              <a:rPr sz="1950" spc="95" dirty="0">
                <a:solidFill>
                  <a:srgbClr val="231F20"/>
                </a:solidFill>
                <a:latin typeface="Arial"/>
                <a:cs typeface="Arial"/>
              </a:rPr>
              <a:t>value </a:t>
            </a:r>
            <a:r>
              <a:rPr sz="1950" spc="185" dirty="0">
                <a:solidFill>
                  <a:srgbClr val="231F20"/>
                </a:solidFill>
                <a:latin typeface="Arial"/>
                <a:cs typeface="Arial"/>
              </a:rPr>
              <a:t>of  </a:t>
            </a:r>
            <a:r>
              <a:rPr sz="1950" spc="90" dirty="0">
                <a:solidFill>
                  <a:srgbClr val="231F20"/>
                </a:solidFill>
                <a:latin typeface="Arial"/>
                <a:cs typeface="Arial"/>
              </a:rPr>
              <a:t>each </a:t>
            </a:r>
            <a:r>
              <a:rPr sz="1950" spc="160" dirty="0">
                <a:solidFill>
                  <a:srgbClr val="231F20"/>
                </a:solidFill>
                <a:latin typeface="Arial"/>
                <a:cs typeface="Arial"/>
              </a:rPr>
              <a:t>abstract </a:t>
            </a:r>
            <a:r>
              <a:rPr sz="1950" spc="155" dirty="0">
                <a:solidFill>
                  <a:srgbClr val="231F20"/>
                </a:solidFill>
                <a:latin typeface="Arial"/>
                <a:cs typeface="Arial"/>
              </a:rPr>
              <a:t>state</a:t>
            </a:r>
            <a:r>
              <a:rPr sz="1950" spc="580" dirty="0">
                <a:solidFill>
                  <a:srgbClr val="231F20"/>
                </a:solidFill>
                <a:latin typeface="Arial"/>
                <a:cs typeface="Arial"/>
              </a:rPr>
              <a:t> </a:t>
            </a:r>
            <a:r>
              <a:rPr sz="1950" spc="95" dirty="0">
                <a:solidFill>
                  <a:srgbClr val="231F20"/>
                </a:solidFill>
                <a:latin typeface="Arial"/>
                <a:cs typeface="Arial"/>
              </a:rPr>
              <a:t>variable</a:t>
            </a:r>
            <a:endParaRPr sz="1950">
              <a:latin typeface="Arial"/>
              <a:cs typeface="Ari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798851" y="1679676"/>
            <a:ext cx="4462780" cy="297180"/>
          </a:xfrm>
          <a:prstGeom prst="rect">
            <a:avLst/>
          </a:prstGeom>
        </p:spPr>
        <p:txBody>
          <a:bodyPr vert="horz" wrap="square" lIns="0" tIns="0" rIns="0" bIns="0" rtlCol="0">
            <a:spAutoFit/>
          </a:bodyPr>
          <a:lstStyle/>
          <a:p>
            <a:pPr marL="12700">
              <a:lnSpc>
                <a:spcPct val="100000"/>
              </a:lnSpc>
            </a:pPr>
            <a:r>
              <a:rPr sz="1950" spc="330" dirty="0">
                <a:solidFill>
                  <a:srgbClr val="231F20"/>
                </a:solidFill>
                <a:latin typeface="Arial"/>
                <a:cs typeface="Arial"/>
              </a:rPr>
              <a:t>Automated </a:t>
            </a:r>
            <a:r>
              <a:rPr sz="1950" spc="275" dirty="0">
                <a:solidFill>
                  <a:srgbClr val="231F20"/>
                </a:solidFill>
                <a:latin typeface="Arial"/>
                <a:cs typeface="Arial"/>
              </a:rPr>
              <a:t>Abstraction </a:t>
            </a:r>
            <a:r>
              <a:rPr sz="1950" spc="210" dirty="0">
                <a:solidFill>
                  <a:srgbClr val="231F20"/>
                </a:solidFill>
                <a:latin typeface="Arial"/>
                <a:cs typeface="Arial"/>
              </a:rPr>
              <a:t>in</a:t>
            </a:r>
            <a:r>
              <a:rPr sz="1950" spc="434" dirty="0">
                <a:solidFill>
                  <a:srgbClr val="231F20"/>
                </a:solidFill>
                <a:latin typeface="Arial"/>
                <a:cs typeface="Arial"/>
              </a:rPr>
              <a:t> </a:t>
            </a:r>
            <a:r>
              <a:rPr sz="1950" spc="360" dirty="0">
                <a:solidFill>
                  <a:srgbClr val="231F20"/>
                </a:solidFill>
                <a:latin typeface="Arial"/>
                <a:cs typeface="Arial"/>
              </a:rPr>
              <a:t>PVS</a:t>
            </a:r>
            <a:endParaRPr sz="1950">
              <a:latin typeface="Arial"/>
              <a:cs typeface="Arial"/>
            </a:endParaRPr>
          </a:p>
        </p:txBody>
      </p:sp>
      <p:sp>
        <p:nvSpPr>
          <p:cNvPr id="3" name="object 3"/>
          <p:cNvSpPr txBox="1">
            <a:spLocks noGrp="1"/>
          </p:cNvSpPr>
          <p:nvPr>
            <p:ph type="title"/>
          </p:nvPr>
        </p:nvSpPr>
        <p:spPr>
          <a:xfrm>
            <a:off x="896442" y="2104174"/>
            <a:ext cx="6238240" cy="684530"/>
          </a:xfrm>
          <a:prstGeom prst="rect">
            <a:avLst/>
          </a:prstGeom>
        </p:spPr>
        <p:txBody>
          <a:bodyPr vert="horz" wrap="square" lIns="0" tIns="0" rIns="0" bIns="0" rtlCol="0">
            <a:spAutoFit/>
          </a:bodyPr>
          <a:lstStyle/>
          <a:p>
            <a:pPr marL="300990" indent="-288290">
              <a:lnSpc>
                <a:spcPct val="100000"/>
              </a:lnSpc>
              <a:buClr>
                <a:srgbClr val="231F20"/>
              </a:buClr>
              <a:buFont typeface="Lucida Sans Unicode"/>
              <a:buChar char="•"/>
              <a:tabLst>
                <a:tab pos="301625" algn="l"/>
              </a:tabLst>
            </a:pPr>
            <a:r>
              <a:rPr spc="55" dirty="0"/>
              <a:t>auto_abstract:</a:t>
            </a:r>
            <a:r>
              <a:rPr spc="-35" dirty="0"/>
              <a:t> </a:t>
            </a:r>
            <a:r>
              <a:rPr spc="55" dirty="0"/>
              <a:t>THEOREM</a:t>
            </a:r>
          </a:p>
          <a:p>
            <a:pPr marL="714375">
              <a:lnSpc>
                <a:spcPct val="100000"/>
              </a:lnSpc>
              <a:spcBef>
                <a:spcPts val="465"/>
              </a:spcBef>
            </a:pPr>
            <a:r>
              <a:rPr spc="55" dirty="0"/>
              <a:t>init(s) IMPLIES AG(transitions,</a:t>
            </a:r>
            <a:r>
              <a:rPr spc="-20" dirty="0"/>
              <a:t> </a:t>
            </a:r>
            <a:r>
              <a:rPr spc="55" dirty="0"/>
              <a:t>safe)(s)</a:t>
            </a:r>
          </a:p>
        </p:txBody>
      </p:sp>
      <p:sp>
        <p:nvSpPr>
          <p:cNvPr id="4" name="object 4"/>
          <p:cNvSpPr txBox="1">
            <a:spLocks noGrp="1"/>
          </p:cNvSpPr>
          <p:nvPr>
            <p:ph type="body" idx="1"/>
          </p:nvPr>
        </p:nvSpPr>
        <p:spPr>
          <a:prstGeom prst="rect">
            <a:avLst/>
          </a:prstGeom>
        </p:spPr>
        <p:txBody>
          <a:bodyPr vert="horz" wrap="square" lIns="0" tIns="1543850" rIns="0" bIns="0" rtlCol="0">
            <a:spAutoFit/>
          </a:bodyPr>
          <a:lstStyle/>
          <a:p>
            <a:pPr marL="490855" indent="-288290">
              <a:lnSpc>
                <a:spcPts val="2275"/>
              </a:lnSpc>
              <a:buSzPct val="105128"/>
              <a:buFont typeface="Lucida Sans Unicode"/>
              <a:buChar char="•"/>
              <a:tabLst>
                <a:tab pos="491490" algn="l"/>
              </a:tabLst>
            </a:pPr>
            <a:r>
              <a:rPr spc="204" dirty="0"/>
              <a:t>This </a:t>
            </a:r>
            <a:r>
              <a:rPr spc="40" dirty="0"/>
              <a:t>is </a:t>
            </a:r>
            <a:r>
              <a:rPr spc="114" dirty="0"/>
              <a:t>proved</a:t>
            </a:r>
            <a:r>
              <a:rPr spc="530" dirty="0"/>
              <a:t> </a:t>
            </a:r>
            <a:r>
              <a:rPr spc="105" dirty="0"/>
              <a:t>by</a:t>
            </a:r>
          </a:p>
          <a:p>
            <a:pPr marL="628650">
              <a:lnSpc>
                <a:spcPts val="2395"/>
              </a:lnSpc>
            </a:pPr>
            <a:r>
              <a:rPr sz="2050" spc="55" dirty="0">
                <a:solidFill>
                  <a:srgbClr val="0000FF"/>
                </a:solidFill>
                <a:latin typeface="SimSun"/>
                <a:cs typeface="SimSun"/>
              </a:rPr>
              <a:t>(abstract-and-mc "state"</a:t>
            </a:r>
            <a:r>
              <a:rPr sz="2050" spc="-30" dirty="0">
                <a:solidFill>
                  <a:srgbClr val="0000FF"/>
                </a:solidFill>
                <a:latin typeface="SimSun"/>
                <a:cs typeface="SimSun"/>
              </a:rPr>
              <a:t> </a:t>
            </a:r>
            <a:r>
              <a:rPr sz="2050" spc="55" dirty="0">
                <a:solidFill>
                  <a:srgbClr val="0000FF"/>
                </a:solidFill>
                <a:latin typeface="SimSun"/>
                <a:cs typeface="SimSun"/>
              </a:rPr>
              <a:t>"abstract_state"</a:t>
            </a:r>
            <a:endParaRPr sz="2050">
              <a:latin typeface="SimSun"/>
              <a:cs typeface="SimSun"/>
            </a:endParaRPr>
          </a:p>
          <a:p>
            <a:pPr marL="766445">
              <a:lnSpc>
                <a:spcPct val="100000"/>
              </a:lnSpc>
              <a:spcBef>
                <a:spcPts val="465"/>
              </a:spcBef>
            </a:pPr>
            <a:r>
              <a:rPr sz="2050" spc="55" dirty="0">
                <a:solidFill>
                  <a:srgbClr val="0000FF"/>
                </a:solidFill>
                <a:latin typeface="SimSun"/>
                <a:cs typeface="SimSun"/>
              </a:rPr>
              <a:t>(("t1_is_0" "lambda (s):</a:t>
            </a:r>
            <a:r>
              <a:rPr sz="2050" spc="-5" dirty="0">
                <a:solidFill>
                  <a:srgbClr val="0000FF"/>
                </a:solidFill>
                <a:latin typeface="SimSun"/>
                <a:cs typeface="SimSun"/>
              </a:rPr>
              <a:t> </a:t>
            </a:r>
            <a:r>
              <a:rPr sz="2050" spc="-75" dirty="0">
                <a:solidFill>
                  <a:srgbClr val="0000FF"/>
                </a:solidFill>
                <a:latin typeface="SimSun"/>
                <a:cs typeface="SimSun"/>
              </a:rPr>
              <a:t>s‘t1=0")</a:t>
            </a:r>
            <a:endParaRPr sz="2050">
              <a:latin typeface="SimSun"/>
              <a:cs typeface="SimSun"/>
            </a:endParaRPr>
          </a:p>
          <a:p>
            <a:pPr marL="904240">
              <a:lnSpc>
                <a:spcPct val="100000"/>
              </a:lnSpc>
              <a:spcBef>
                <a:spcPts val="465"/>
              </a:spcBef>
            </a:pPr>
            <a:r>
              <a:rPr sz="2050" spc="55" dirty="0">
                <a:solidFill>
                  <a:srgbClr val="0000FF"/>
                </a:solidFill>
                <a:latin typeface="SimSun"/>
                <a:cs typeface="SimSun"/>
              </a:rPr>
              <a:t>("t2_is_0" "lambda (s):</a:t>
            </a:r>
            <a:r>
              <a:rPr sz="2050" spc="-5" dirty="0">
                <a:solidFill>
                  <a:srgbClr val="0000FF"/>
                </a:solidFill>
                <a:latin typeface="SimSun"/>
                <a:cs typeface="SimSun"/>
              </a:rPr>
              <a:t> </a:t>
            </a:r>
            <a:r>
              <a:rPr sz="2050" spc="-75" dirty="0">
                <a:solidFill>
                  <a:srgbClr val="0000FF"/>
                </a:solidFill>
                <a:latin typeface="SimSun"/>
                <a:cs typeface="SimSun"/>
              </a:rPr>
              <a:t>s‘t2=0")</a:t>
            </a:r>
            <a:endParaRPr sz="2050">
              <a:latin typeface="SimSun"/>
              <a:cs typeface="SimSun"/>
            </a:endParaRPr>
          </a:p>
          <a:p>
            <a:pPr marL="904240">
              <a:lnSpc>
                <a:spcPct val="100000"/>
              </a:lnSpc>
              <a:spcBef>
                <a:spcPts val="465"/>
              </a:spcBef>
            </a:pPr>
            <a:r>
              <a:rPr sz="2050" spc="55" dirty="0">
                <a:solidFill>
                  <a:srgbClr val="0000FF"/>
                </a:solidFill>
                <a:latin typeface="SimSun"/>
                <a:cs typeface="SimSun"/>
              </a:rPr>
              <a:t>("t1_lt_t2" "lambda (s): </a:t>
            </a:r>
            <a:r>
              <a:rPr sz="2050" spc="-204" dirty="0">
                <a:solidFill>
                  <a:srgbClr val="0000FF"/>
                </a:solidFill>
                <a:latin typeface="SimSun"/>
                <a:cs typeface="SimSun"/>
              </a:rPr>
              <a:t>s‘t1 </a:t>
            </a:r>
            <a:r>
              <a:rPr sz="2050" spc="55" dirty="0">
                <a:solidFill>
                  <a:srgbClr val="0000FF"/>
                </a:solidFill>
                <a:latin typeface="SimSun"/>
                <a:cs typeface="SimSun"/>
              </a:rPr>
              <a:t>&lt;</a:t>
            </a:r>
            <a:r>
              <a:rPr sz="2050" spc="285" dirty="0">
                <a:solidFill>
                  <a:srgbClr val="0000FF"/>
                </a:solidFill>
                <a:latin typeface="SimSun"/>
                <a:cs typeface="SimSun"/>
              </a:rPr>
              <a:t> </a:t>
            </a:r>
            <a:r>
              <a:rPr sz="2050" spc="-75" dirty="0">
                <a:solidFill>
                  <a:srgbClr val="0000FF"/>
                </a:solidFill>
                <a:latin typeface="SimSun"/>
                <a:cs typeface="SimSun"/>
              </a:rPr>
              <a:t>s‘t2")))</a:t>
            </a:r>
            <a:endParaRPr sz="2050">
              <a:latin typeface="SimSun"/>
              <a:cs typeface="SimSun"/>
            </a:endParaRPr>
          </a:p>
          <a:p>
            <a:pPr marL="490855" indent="-288290">
              <a:lnSpc>
                <a:spcPct val="100000"/>
              </a:lnSpc>
              <a:spcBef>
                <a:spcPts val="975"/>
              </a:spcBef>
              <a:buSzPct val="105128"/>
              <a:buFont typeface="Lucida Sans Unicode"/>
              <a:buChar char="•"/>
              <a:tabLst>
                <a:tab pos="491490" algn="l"/>
              </a:tabLst>
            </a:pPr>
            <a:r>
              <a:rPr spc="175" dirty="0"/>
              <a:t>Now </a:t>
            </a:r>
            <a:r>
              <a:rPr spc="140" dirty="0"/>
              <a:t>let’s </a:t>
            </a:r>
            <a:r>
              <a:rPr dirty="0"/>
              <a:t>see  </a:t>
            </a:r>
            <a:r>
              <a:rPr spc="145" dirty="0"/>
              <a:t>this </a:t>
            </a:r>
            <a:r>
              <a:rPr spc="155" dirty="0"/>
              <a:t>work </a:t>
            </a:r>
            <a:r>
              <a:rPr spc="130" dirty="0"/>
              <a:t>in</a:t>
            </a:r>
            <a:r>
              <a:rPr spc="520" dirty="0"/>
              <a:t> </a:t>
            </a:r>
            <a:r>
              <a:rPr spc="130" dirty="0"/>
              <a:t>practice</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2689402"/>
            <a:ext cx="7614920" cy="1410335"/>
          </a:xfrm>
          <a:prstGeom prst="rect">
            <a:avLst/>
          </a:prstGeom>
        </p:spPr>
        <p:txBody>
          <a:bodyPr vert="horz" wrap="square" lIns="0" tIns="0" rIns="0" bIns="0" rtlCol="0">
            <a:spAutoFit/>
          </a:bodyPr>
          <a:lstStyle/>
          <a:p>
            <a:pPr marL="2194560">
              <a:lnSpc>
                <a:spcPct val="100000"/>
              </a:lnSpc>
            </a:pPr>
            <a:r>
              <a:rPr sz="1950" spc="335" dirty="0">
                <a:solidFill>
                  <a:srgbClr val="231F20"/>
                </a:solidFill>
                <a:latin typeface="Arial"/>
                <a:cs typeface="Arial"/>
              </a:rPr>
              <a:t>Other </a:t>
            </a:r>
            <a:r>
              <a:rPr sz="1950" spc="254" dirty="0">
                <a:solidFill>
                  <a:srgbClr val="231F20"/>
                </a:solidFill>
                <a:latin typeface="Arial"/>
                <a:cs typeface="Arial"/>
              </a:rPr>
              <a:t>Kinds </a:t>
            </a:r>
            <a:r>
              <a:rPr sz="1950" spc="280" dirty="0">
                <a:solidFill>
                  <a:srgbClr val="231F20"/>
                </a:solidFill>
                <a:latin typeface="Arial"/>
                <a:cs typeface="Arial"/>
              </a:rPr>
              <a:t>of</a:t>
            </a:r>
            <a:r>
              <a:rPr sz="1950" spc="480"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55" dirty="0">
                <a:solidFill>
                  <a:srgbClr val="231F20"/>
                </a:solidFill>
                <a:latin typeface="Arial"/>
                <a:cs typeface="Arial"/>
              </a:rPr>
              <a:t>We’ve </a:t>
            </a:r>
            <a:r>
              <a:rPr sz="1950" spc="35" dirty="0">
                <a:solidFill>
                  <a:srgbClr val="231F20"/>
                </a:solidFill>
                <a:latin typeface="Arial"/>
                <a:cs typeface="Arial"/>
              </a:rPr>
              <a:t>seen </a:t>
            </a:r>
            <a:r>
              <a:rPr sz="1950" spc="120" dirty="0">
                <a:solidFill>
                  <a:srgbClr val="231F20"/>
                </a:solidFill>
                <a:latin typeface="Arial"/>
                <a:cs typeface="Arial"/>
              </a:rPr>
              <a:t>predicate </a:t>
            </a:r>
            <a:r>
              <a:rPr sz="1950" spc="155" dirty="0">
                <a:solidFill>
                  <a:srgbClr val="231F20"/>
                </a:solidFill>
                <a:latin typeface="Arial"/>
                <a:cs typeface="Arial"/>
              </a:rPr>
              <a:t>abstraction </a:t>
            </a:r>
            <a:r>
              <a:rPr sz="1950" spc="150" dirty="0">
                <a:solidFill>
                  <a:srgbClr val="231F20"/>
                </a:solidFill>
                <a:latin typeface="Arial"/>
                <a:cs typeface="Arial"/>
              </a:rPr>
              <a:t>[Graf </a:t>
            </a:r>
            <a:r>
              <a:rPr sz="1950" spc="130" dirty="0">
                <a:solidFill>
                  <a:srgbClr val="231F20"/>
                </a:solidFill>
                <a:latin typeface="Arial"/>
                <a:cs typeface="Arial"/>
              </a:rPr>
              <a:t>and </a:t>
            </a:r>
            <a:r>
              <a:rPr sz="1950" spc="425" dirty="0">
                <a:solidFill>
                  <a:srgbClr val="231F20"/>
                </a:solidFill>
                <a:latin typeface="Arial"/>
                <a:cs typeface="Arial"/>
              </a:rPr>
              <a:t> </a:t>
            </a:r>
            <a:r>
              <a:rPr sz="1950" spc="-10" dirty="0">
                <a:solidFill>
                  <a:srgbClr val="231F20"/>
                </a:solidFill>
                <a:latin typeface="Arial"/>
                <a:cs typeface="Arial"/>
              </a:rPr>
              <a:t>Sa¨ıdi]</a:t>
            </a:r>
            <a:endParaRPr sz="1950">
              <a:latin typeface="Arial"/>
              <a:cs typeface="Arial"/>
            </a:endParaRPr>
          </a:p>
          <a:p>
            <a:pPr>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40" dirty="0">
                <a:solidFill>
                  <a:srgbClr val="231F20"/>
                </a:solidFill>
                <a:latin typeface="Arial"/>
                <a:cs typeface="Arial"/>
              </a:rPr>
              <a:t>I’ll </a:t>
            </a:r>
            <a:r>
              <a:rPr sz="1950" spc="120" dirty="0">
                <a:solidFill>
                  <a:srgbClr val="231F20"/>
                </a:solidFill>
                <a:latin typeface="Arial"/>
                <a:cs typeface="Arial"/>
              </a:rPr>
              <a:t>briefly sketch </a:t>
            </a:r>
            <a:r>
              <a:rPr sz="1950" spc="170" dirty="0">
                <a:solidFill>
                  <a:srgbClr val="231F20"/>
                </a:solidFill>
                <a:latin typeface="Arial"/>
                <a:cs typeface="Arial"/>
              </a:rPr>
              <a:t>data </a:t>
            </a:r>
            <a:r>
              <a:rPr sz="1950" spc="155" dirty="0">
                <a:solidFill>
                  <a:srgbClr val="231F20"/>
                </a:solidFill>
                <a:latin typeface="Arial"/>
                <a:cs typeface="Arial"/>
              </a:rPr>
              <a:t>abstraction </a:t>
            </a:r>
            <a:r>
              <a:rPr sz="1950" spc="130" dirty="0">
                <a:solidFill>
                  <a:srgbClr val="231F20"/>
                </a:solidFill>
                <a:latin typeface="Arial"/>
                <a:cs typeface="Arial"/>
              </a:rPr>
              <a:t>and hybrid </a:t>
            </a:r>
            <a:r>
              <a:rPr sz="1950" spc="484" dirty="0">
                <a:solidFill>
                  <a:srgbClr val="231F20"/>
                </a:solidFill>
                <a:latin typeface="Arial"/>
                <a:cs typeface="Arial"/>
              </a:rPr>
              <a:t> </a:t>
            </a:r>
            <a:r>
              <a:rPr sz="1950" spc="155" dirty="0">
                <a:solidFill>
                  <a:srgbClr val="231F20"/>
                </a:solidFill>
                <a:latin typeface="Arial"/>
                <a:cs typeface="Arial"/>
              </a:rPr>
              <a:t>abstraction</a:t>
            </a:r>
            <a:endParaRPr sz="1950">
              <a:latin typeface="Arial"/>
              <a:cs typeface="Ari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90686" y="493469"/>
            <a:ext cx="5278755" cy="314960"/>
          </a:xfrm>
          <a:prstGeom prst="rect">
            <a:avLst/>
          </a:prstGeom>
        </p:spPr>
        <p:txBody>
          <a:bodyPr vert="horz" wrap="square" lIns="0" tIns="0" rIns="0" bIns="0" rtlCol="0">
            <a:spAutoFit/>
          </a:bodyPr>
          <a:lstStyle/>
          <a:p>
            <a:pPr marL="12700">
              <a:lnSpc>
                <a:spcPct val="100000"/>
              </a:lnSpc>
            </a:pPr>
            <a:r>
              <a:rPr sz="1950" spc="340" dirty="0">
                <a:solidFill>
                  <a:srgbClr val="231F20"/>
                </a:solidFill>
                <a:latin typeface="Arial"/>
                <a:cs typeface="Arial"/>
              </a:rPr>
              <a:t>Data </a:t>
            </a:r>
            <a:r>
              <a:rPr sz="1950" spc="275" dirty="0">
                <a:solidFill>
                  <a:srgbClr val="231F20"/>
                </a:solidFill>
                <a:latin typeface="Arial"/>
                <a:cs typeface="Arial"/>
              </a:rPr>
              <a:t>Abstraction [Cousot </a:t>
            </a:r>
            <a:r>
              <a:rPr sz="1950" spc="735" dirty="0">
                <a:solidFill>
                  <a:srgbClr val="231F20"/>
                </a:solidFill>
                <a:latin typeface="Arial"/>
                <a:cs typeface="Arial"/>
              </a:rPr>
              <a:t>&amp;</a:t>
            </a:r>
            <a:r>
              <a:rPr sz="1950" spc="535" dirty="0">
                <a:solidFill>
                  <a:srgbClr val="231F20"/>
                </a:solidFill>
                <a:latin typeface="Arial"/>
                <a:cs typeface="Arial"/>
              </a:rPr>
              <a:t> </a:t>
            </a:r>
            <a:r>
              <a:rPr sz="1950" spc="275" dirty="0">
                <a:solidFill>
                  <a:srgbClr val="231F20"/>
                </a:solidFill>
                <a:latin typeface="Arial"/>
                <a:cs typeface="Arial"/>
              </a:rPr>
              <a:t>Cousot]</a:t>
            </a:r>
            <a:endParaRPr sz="1950">
              <a:latin typeface="Arial"/>
              <a:cs typeface="Arial"/>
            </a:endParaRPr>
          </a:p>
        </p:txBody>
      </p:sp>
      <p:sp>
        <p:nvSpPr>
          <p:cNvPr id="3" name="object 3"/>
          <p:cNvSpPr txBox="1">
            <a:spLocks noGrp="1"/>
          </p:cNvSpPr>
          <p:nvPr>
            <p:ph type="title"/>
          </p:nvPr>
        </p:nvSpPr>
        <p:spPr>
          <a:xfrm>
            <a:off x="896442" y="962019"/>
            <a:ext cx="7985759" cy="743585"/>
          </a:xfrm>
          <a:prstGeom prst="rect">
            <a:avLst/>
          </a:prstGeom>
        </p:spPr>
        <p:txBody>
          <a:bodyPr vert="horz" wrap="square" lIns="0" tIns="0" rIns="0" bIns="0" rtlCol="0">
            <a:spAutoFit/>
          </a:bodyPr>
          <a:lstStyle/>
          <a:p>
            <a:pPr marL="300990" marR="5080" indent="-288290">
              <a:lnSpc>
                <a:spcPct val="118900"/>
              </a:lnSpc>
              <a:buSzPct val="105128"/>
              <a:buFont typeface="Lucida Sans Unicode"/>
              <a:buChar char="•"/>
              <a:tabLst>
                <a:tab pos="301625" algn="l"/>
              </a:tabLst>
            </a:pPr>
            <a:r>
              <a:rPr sz="1950" spc="100" dirty="0">
                <a:solidFill>
                  <a:srgbClr val="231F20"/>
                </a:solidFill>
                <a:latin typeface="Arial"/>
                <a:cs typeface="Arial"/>
              </a:rPr>
              <a:t>Replace </a:t>
            </a:r>
            <a:r>
              <a:rPr sz="1950" spc="135" dirty="0">
                <a:solidFill>
                  <a:srgbClr val="231F20"/>
                </a:solidFill>
                <a:latin typeface="Arial"/>
                <a:cs typeface="Arial"/>
              </a:rPr>
              <a:t>concrete </a:t>
            </a:r>
            <a:r>
              <a:rPr sz="1950" spc="95" dirty="0">
                <a:solidFill>
                  <a:srgbClr val="231F20"/>
                </a:solidFill>
                <a:latin typeface="Arial"/>
                <a:cs typeface="Arial"/>
              </a:rPr>
              <a:t>variable </a:t>
            </a:r>
            <a:r>
              <a:rPr i="1" spc="50" dirty="0">
                <a:solidFill>
                  <a:srgbClr val="231F20"/>
                </a:solidFill>
                <a:latin typeface="Meiryo"/>
                <a:cs typeface="Meiryo"/>
              </a:rPr>
              <a:t>x </a:t>
            </a:r>
            <a:r>
              <a:rPr sz="1950" spc="114" dirty="0">
                <a:solidFill>
                  <a:srgbClr val="231F20"/>
                </a:solidFill>
                <a:latin typeface="Arial"/>
                <a:cs typeface="Arial"/>
              </a:rPr>
              <a:t>over </a:t>
            </a:r>
            <a:r>
              <a:rPr sz="1950" spc="165" dirty="0">
                <a:solidFill>
                  <a:srgbClr val="231F20"/>
                </a:solidFill>
                <a:latin typeface="Arial"/>
                <a:cs typeface="Arial"/>
              </a:rPr>
              <a:t>datatype </a:t>
            </a:r>
            <a:r>
              <a:rPr i="1" spc="125" dirty="0">
                <a:solidFill>
                  <a:srgbClr val="231F20"/>
                </a:solidFill>
                <a:latin typeface="Meiryo"/>
                <a:cs typeface="Meiryo"/>
              </a:rPr>
              <a:t>C </a:t>
            </a:r>
            <a:r>
              <a:rPr sz="1950" spc="105" dirty="0">
                <a:solidFill>
                  <a:srgbClr val="231F20"/>
                </a:solidFill>
                <a:latin typeface="Arial"/>
                <a:cs typeface="Arial"/>
              </a:rPr>
              <a:t>by </a:t>
            </a:r>
            <a:r>
              <a:rPr sz="1950" spc="120" dirty="0">
                <a:solidFill>
                  <a:srgbClr val="231F20"/>
                </a:solidFill>
                <a:latin typeface="Arial"/>
                <a:cs typeface="Arial"/>
              </a:rPr>
              <a:t>an </a:t>
            </a:r>
            <a:r>
              <a:rPr sz="1950" spc="160" dirty="0">
                <a:solidFill>
                  <a:srgbClr val="231F20"/>
                </a:solidFill>
                <a:latin typeface="Arial"/>
                <a:cs typeface="Arial"/>
              </a:rPr>
              <a:t>abstract  </a:t>
            </a:r>
            <a:r>
              <a:rPr sz="1950" spc="95" dirty="0">
                <a:solidFill>
                  <a:srgbClr val="231F20"/>
                </a:solidFill>
                <a:latin typeface="Arial"/>
                <a:cs typeface="Arial"/>
              </a:rPr>
              <a:t>variable </a:t>
            </a:r>
            <a:r>
              <a:rPr i="1" spc="120" dirty="0">
                <a:solidFill>
                  <a:srgbClr val="231F20"/>
                </a:solidFill>
                <a:latin typeface="Meiryo"/>
                <a:cs typeface="Meiryo"/>
              </a:rPr>
              <a:t>x</a:t>
            </a:r>
            <a:r>
              <a:rPr sz="2175" spc="179" baseline="28735" dirty="0">
                <a:solidFill>
                  <a:srgbClr val="231F20"/>
                </a:solidFill>
                <a:latin typeface="Arial"/>
                <a:cs typeface="Arial"/>
              </a:rPr>
              <a:t>′  </a:t>
            </a:r>
            <a:r>
              <a:rPr sz="1950" spc="114" dirty="0">
                <a:solidFill>
                  <a:srgbClr val="231F20"/>
                </a:solidFill>
                <a:latin typeface="Arial"/>
                <a:cs typeface="Arial"/>
              </a:rPr>
              <a:t>over </a:t>
            </a:r>
            <a:r>
              <a:rPr sz="1950" spc="165" dirty="0">
                <a:solidFill>
                  <a:srgbClr val="231F20"/>
                </a:solidFill>
                <a:latin typeface="Arial"/>
                <a:cs typeface="Arial"/>
              </a:rPr>
              <a:t>datatype </a:t>
            </a:r>
            <a:r>
              <a:rPr sz="2050" i="1" spc="160" dirty="0">
                <a:solidFill>
                  <a:srgbClr val="231F20"/>
                </a:solidFill>
                <a:latin typeface="Meiryo"/>
                <a:cs typeface="Meiryo"/>
              </a:rPr>
              <a:t>A </a:t>
            </a:r>
            <a:r>
              <a:rPr sz="1950" spc="185" dirty="0">
                <a:solidFill>
                  <a:srgbClr val="231F20"/>
                </a:solidFill>
                <a:latin typeface="Arial"/>
                <a:cs typeface="Arial"/>
              </a:rPr>
              <a:t>through </a:t>
            </a:r>
            <a:r>
              <a:rPr sz="1950" spc="85" dirty="0">
                <a:solidFill>
                  <a:srgbClr val="231F20"/>
                </a:solidFill>
                <a:latin typeface="Arial"/>
                <a:cs typeface="Arial"/>
              </a:rPr>
              <a:t>a </a:t>
            </a:r>
            <a:r>
              <a:rPr sz="1950" spc="160" dirty="0">
                <a:solidFill>
                  <a:srgbClr val="231F20"/>
                </a:solidFill>
                <a:latin typeface="Arial"/>
                <a:cs typeface="Arial"/>
              </a:rPr>
              <a:t>mapping </a:t>
            </a:r>
            <a:r>
              <a:rPr sz="2050" i="1" spc="-80" dirty="0">
                <a:solidFill>
                  <a:srgbClr val="231F20"/>
                </a:solidFill>
                <a:latin typeface="Meiryo"/>
                <a:cs typeface="Meiryo"/>
              </a:rPr>
              <a:t>h </a:t>
            </a:r>
            <a:r>
              <a:rPr sz="2050" spc="-155" dirty="0">
                <a:solidFill>
                  <a:srgbClr val="231F20"/>
                </a:solidFill>
                <a:latin typeface="Tahoma"/>
                <a:cs typeface="Tahoma"/>
              </a:rPr>
              <a:t>: </a:t>
            </a:r>
            <a:r>
              <a:rPr sz="2050" spc="130" dirty="0">
                <a:solidFill>
                  <a:srgbClr val="231F20"/>
                </a:solidFill>
                <a:latin typeface="Tahoma"/>
                <a:cs typeface="Tahoma"/>
              </a:rPr>
              <a:t> </a:t>
            </a:r>
            <a:r>
              <a:rPr sz="2050" spc="25" dirty="0">
                <a:solidFill>
                  <a:srgbClr val="231F20"/>
                </a:solidFill>
                <a:latin typeface="Tahoma"/>
                <a:cs typeface="Tahoma"/>
              </a:rPr>
              <a:t>[</a:t>
            </a:r>
            <a:r>
              <a:rPr sz="2050" i="1" spc="25" dirty="0">
                <a:solidFill>
                  <a:srgbClr val="231F20"/>
                </a:solidFill>
                <a:latin typeface="Meiryo"/>
                <a:cs typeface="Meiryo"/>
              </a:rPr>
              <a:t>C</a:t>
            </a:r>
            <a:r>
              <a:rPr sz="2050" spc="25" dirty="0">
                <a:solidFill>
                  <a:srgbClr val="231F20"/>
                </a:solidFill>
                <a:latin typeface="Lucida Sans Unicode"/>
                <a:cs typeface="Lucida Sans Unicode"/>
              </a:rPr>
              <a:t>→</a:t>
            </a:r>
            <a:r>
              <a:rPr sz="2050" i="1" spc="25" dirty="0">
                <a:solidFill>
                  <a:srgbClr val="231F20"/>
                </a:solidFill>
                <a:latin typeface="Meiryo"/>
                <a:cs typeface="Meiryo"/>
              </a:rPr>
              <a:t>A</a:t>
            </a:r>
            <a:r>
              <a:rPr sz="2050" spc="25" dirty="0">
                <a:solidFill>
                  <a:srgbClr val="231F20"/>
                </a:solidFill>
                <a:latin typeface="Tahoma"/>
                <a:cs typeface="Tahoma"/>
              </a:rPr>
              <a:t>]</a:t>
            </a:r>
            <a:endParaRPr sz="2050">
              <a:latin typeface="Tahoma"/>
              <a:cs typeface="Tahoma"/>
            </a:endParaRPr>
          </a:p>
        </p:txBody>
      </p:sp>
      <p:sp>
        <p:nvSpPr>
          <p:cNvPr id="4" name="object 4"/>
          <p:cNvSpPr txBox="1"/>
          <p:nvPr/>
        </p:nvSpPr>
        <p:spPr>
          <a:xfrm>
            <a:off x="896433" y="1874019"/>
            <a:ext cx="7926705" cy="3221355"/>
          </a:xfrm>
          <a:prstGeom prst="rect">
            <a:avLst/>
          </a:prstGeom>
        </p:spPr>
        <p:txBody>
          <a:bodyPr vert="horz" wrap="square" lIns="0" tIns="0" rIns="0" bIns="0" rtlCol="0">
            <a:spAutoFit/>
          </a:bodyPr>
          <a:lstStyle/>
          <a:p>
            <a:pPr marL="300990" marR="1226820" indent="-288290">
              <a:lnSpc>
                <a:spcPct val="118900"/>
              </a:lnSpc>
              <a:buSzPct val="105128"/>
              <a:buFont typeface="Lucida Sans Unicode"/>
              <a:buChar char="•"/>
              <a:tabLst>
                <a:tab pos="301625" algn="l"/>
                <a:tab pos="1746250" algn="l"/>
              </a:tabLst>
            </a:pPr>
            <a:r>
              <a:rPr sz="1950" spc="125" dirty="0">
                <a:solidFill>
                  <a:srgbClr val="231F20"/>
                </a:solidFill>
                <a:latin typeface="Arial"/>
                <a:cs typeface="Arial"/>
              </a:rPr>
              <a:t>Examples:	</a:t>
            </a:r>
            <a:r>
              <a:rPr sz="1950" spc="114" dirty="0">
                <a:solidFill>
                  <a:srgbClr val="231F20"/>
                </a:solidFill>
                <a:latin typeface="Arial"/>
                <a:cs typeface="Arial"/>
              </a:rPr>
              <a:t>Parity, </a:t>
            </a:r>
            <a:r>
              <a:rPr sz="2050" i="1" spc="-175" dirty="0">
                <a:solidFill>
                  <a:srgbClr val="231F20"/>
                </a:solidFill>
                <a:latin typeface="Meiryo"/>
                <a:cs typeface="Meiryo"/>
              </a:rPr>
              <a:t>mod </a:t>
            </a:r>
            <a:r>
              <a:rPr sz="2050" i="1" spc="135" dirty="0">
                <a:solidFill>
                  <a:srgbClr val="231F20"/>
                </a:solidFill>
                <a:latin typeface="Meiryo"/>
                <a:cs typeface="Meiryo"/>
              </a:rPr>
              <a:t>N </a:t>
            </a:r>
            <a:r>
              <a:rPr sz="1950" spc="145" dirty="0">
                <a:solidFill>
                  <a:srgbClr val="231F20"/>
                </a:solidFill>
                <a:latin typeface="Arial"/>
                <a:cs typeface="Arial"/>
              </a:rPr>
              <a:t>,</a:t>
            </a:r>
            <a:r>
              <a:rPr sz="1950" spc="110" dirty="0">
                <a:solidFill>
                  <a:srgbClr val="231F20"/>
                </a:solidFill>
                <a:latin typeface="Arial"/>
                <a:cs typeface="Arial"/>
              </a:rPr>
              <a:t> </a:t>
            </a:r>
            <a:r>
              <a:rPr sz="1950" spc="125" dirty="0">
                <a:solidFill>
                  <a:srgbClr val="231F20"/>
                </a:solidFill>
                <a:latin typeface="Arial"/>
                <a:cs typeface="Arial"/>
              </a:rPr>
              <a:t>zero-nonzero,</a:t>
            </a:r>
            <a:r>
              <a:rPr sz="1950" spc="270" dirty="0">
                <a:solidFill>
                  <a:srgbClr val="231F20"/>
                </a:solidFill>
                <a:latin typeface="Arial"/>
                <a:cs typeface="Arial"/>
              </a:rPr>
              <a:t> </a:t>
            </a:r>
            <a:r>
              <a:rPr sz="1950" spc="125" dirty="0">
                <a:solidFill>
                  <a:srgbClr val="231F20"/>
                </a:solidFill>
                <a:latin typeface="Arial"/>
                <a:cs typeface="Arial"/>
              </a:rPr>
              <a:t>intervals, </a:t>
            </a:r>
            <a:r>
              <a:rPr sz="1950" spc="145" dirty="0">
                <a:solidFill>
                  <a:srgbClr val="231F20"/>
                </a:solidFill>
                <a:latin typeface="Arial"/>
                <a:cs typeface="Arial"/>
              </a:rPr>
              <a:t> </a:t>
            </a:r>
            <a:r>
              <a:rPr sz="1950" spc="114" dirty="0">
                <a:solidFill>
                  <a:srgbClr val="231F20"/>
                </a:solidFill>
                <a:latin typeface="Arial"/>
                <a:cs typeface="Arial"/>
              </a:rPr>
              <a:t>cardinalities, </a:t>
            </a:r>
            <a:r>
              <a:rPr sz="2050" spc="220" dirty="0">
                <a:solidFill>
                  <a:srgbClr val="231F20"/>
                </a:solidFill>
                <a:latin typeface="Lucida Sans Unicode"/>
                <a:cs typeface="Lucida Sans Unicode"/>
              </a:rPr>
              <a:t>{</a:t>
            </a:r>
            <a:r>
              <a:rPr sz="1950" spc="220" dirty="0">
                <a:solidFill>
                  <a:srgbClr val="231F20"/>
                </a:solidFill>
                <a:latin typeface="Arial"/>
                <a:cs typeface="Arial"/>
              </a:rPr>
              <a:t>0, </a:t>
            </a:r>
            <a:r>
              <a:rPr sz="1950" spc="150" dirty="0">
                <a:solidFill>
                  <a:srgbClr val="231F20"/>
                </a:solidFill>
                <a:latin typeface="Arial"/>
                <a:cs typeface="Arial"/>
              </a:rPr>
              <a:t>1, </a:t>
            </a:r>
            <a:r>
              <a:rPr sz="1950" spc="195" dirty="0">
                <a:solidFill>
                  <a:srgbClr val="231F20"/>
                </a:solidFill>
                <a:latin typeface="Arial"/>
                <a:cs typeface="Arial"/>
              </a:rPr>
              <a:t>many</a:t>
            </a:r>
            <a:r>
              <a:rPr sz="2050" spc="195" dirty="0">
                <a:solidFill>
                  <a:srgbClr val="231F20"/>
                </a:solidFill>
                <a:latin typeface="Lucida Sans Unicode"/>
                <a:cs typeface="Lucida Sans Unicode"/>
              </a:rPr>
              <a:t>}</a:t>
            </a:r>
            <a:r>
              <a:rPr sz="1950" spc="195" dirty="0">
                <a:solidFill>
                  <a:srgbClr val="231F20"/>
                </a:solidFill>
                <a:latin typeface="Arial"/>
                <a:cs typeface="Arial"/>
              </a:rPr>
              <a:t>, </a:t>
            </a:r>
            <a:r>
              <a:rPr sz="2050" spc="165" dirty="0">
                <a:solidFill>
                  <a:srgbClr val="231F20"/>
                </a:solidFill>
                <a:latin typeface="Lucida Sans Unicode"/>
                <a:cs typeface="Lucida Sans Unicode"/>
              </a:rPr>
              <a:t>{</a:t>
            </a:r>
            <a:r>
              <a:rPr sz="1950" spc="165" dirty="0">
                <a:solidFill>
                  <a:srgbClr val="231F20"/>
                </a:solidFill>
                <a:latin typeface="Arial"/>
                <a:cs typeface="Arial"/>
              </a:rPr>
              <a:t>empty,</a:t>
            </a:r>
            <a:r>
              <a:rPr sz="1950" spc="725" dirty="0">
                <a:solidFill>
                  <a:srgbClr val="231F20"/>
                </a:solidFill>
                <a:latin typeface="Arial"/>
                <a:cs typeface="Arial"/>
              </a:rPr>
              <a:t> </a:t>
            </a:r>
            <a:r>
              <a:rPr sz="1950" spc="190" dirty="0">
                <a:solidFill>
                  <a:srgbClr val="231F20"/>
                </a:solidFill>
                <a:latin typeface="Arial"/>
                <a:cs typeface="Arial"/>
              </a:rPr>
              <a:t>nonempty</a:t>
            </a:r>
            <a:r>
              <a:rPr sz="2050" spc="190" dirty="0">
                <a:solidFill>
                  <a:srgbClr val="231F20"/>
                </a:solidFill>
                <a:latin typeface="Lucida Sans Unicode"/>
                <a:cs typeface="Lucida Sans Unicode"/>
              </a:rPr>
              <a:t>}</a:t>
            </a:r>
            <a:endParaRPr sz="2050">
              <a:latin typeface="Lucida Sans Unicode"/>
              <a:cs typeface="Lucida Sans Unicode"/>
            </a:endParaRPr>
          </a:p>
          <a:p>
            <a:pPr marL="300990" marR="871855" indent="-288290">
              <a:lnSpc>
                <a:spcPct val="118900"/>
              </a:lnSpc>
              <a:spcBef>
                <a:spcPts val="1330"/>
              </a:spcBef>
              <a:buSzPct val="105128"/>
              <a:buFont typeface="Lucida Sans Unicode"/>
              <a:buChar char="•"/>
              <a:tabLst>
                <a:tab pos="301625" algn="l"/>
                <a:tab pos="4575810" algn="l"/>
              </a:tabLst>
            </a:pPr>
            <a:r>
              <a:rPr sz="1950" spc="145" dirty="0">
                <a:solidFill>
                  <a:srgbClr val="231F20"/>
                </a:solidFill>
                <a:latin typeface="Arial"/>
                <a:cs typeface="Arial"/>
              </a:rPr>
              <a:t>Syntactically  </a:t>
            </a:r>
            <a:r>
              <a:rPr sz="1950" spc="95" dirty="0">
                <a:solidFill>
                  <a:srgbClr val="231F20"/>
                </a:solidFill>
                <a:latin typeface="Arial"/>
                <a:cs typeface="Arial"/>
              </a:rPr>
              <a:t>replace</a:t>
            </a:r>
            <a:r>
              <a:rPr sz="1950" spc="525" dirty="0">
                <a:solidFill>
                  <a:srgbClr val="231F20"/>
                </a:solidFill>
                <a:latin typeface="Arial"/>
                <a:cs typeface="Arial"/>
              </a:rPr>
              <a:t> </a:t>
            </a:r>
            <a:r>
              <a:rPr sz="1950" spc="155" dirty="0">
                <a:solidFill>
                  <a:srgbClr val="231F20"/>
                </a:solidFill>
                <a:latin typeface="Arial"/>
                <a:cs typeface="Arial"/>
              </a:rPr>
              <a:t>functions</a:t>
            </a:r>
            <a:r>
              <a:rPr sz="1950" spc="670" dirty="0">
                <a:solidFill>
                  <a:srgbClr val="231F20"/>
                </a:solidFill>
                <a:latin typeface="Arial"/>
                <a:cs typeface="Arial"/>
              </a:rPr>
              <a:t> </a:t>
            </a:r>
            <a:r>
              <a:rPr sz="2050" i="1" spc="320" dirty="0">
                <a:solidFill>
                  <a:srgbClr val="231F20"/>
                </a:solidFill>
                <a:latin typeface="Meiryo"/>
                <a:cs typeface="Meiryo"/>
              </a:rPr>
              <a:t>f	</a:t>
            </a:r>
            <a:r>
              <a:rPr sz="1950" spc="155" dirty="0">
                <a:solidFill>
                  <a:srgbClr val="231F20"/>
                </a:solidFill>
                <a:latin typeface="Arial"/>
                <a:cs typeface="Arial"/>
              </a:rPr>
              <a:t>on </a:t>
            </a:r>
            <a:r>
              <a:rPr sz="2050" i="1" spc="125" dirty="0">
                <a:solidFill>
                  <a:srgbClr val="231F20"/>
                </a:solidFill>
                <a:latin typeface="Meiryo"/>
                <a:cs typeface="Meiryo"/>
              </a:rPr>
              <a:t>C</a:t>
            </a:r>
            <a:r>
              <a:rPr sz="2050" i="1" spc="350" dirty="0">
                <a:solidFill>
                  <a:srgbClr val="231F20"/>
                </a:solidFill>
                <a:latin typeface="Meiryo"/>
                <a:cs typeface="Meiryo"/>
              </a:rPr>
              <a:t> </a:t>
            </a:r>
            <a:r>
              <a:rPr sz="1950" spc="105" dirty="0">
                <a:solidFill>
                  <a:srgbClr val="231F20"/>
                </a:solidFill>
                <a:latin typeface="Arial"/>
                <a:cs typeface="Arial"/>
              </a:rPr>
              <a:t>by</a:t>
            </a:r>
            <a:r>
              <a:rPr sz="1950" spc="254" dirty="0">
                <a:solidFill>
                  <a:srgbClr val="231F20"/>
                </a:solidFill>
                <a:latin typeface="Arial"/>
                <a:cs typeface="Arial"/>
              </a:rPr>
              <a:t> </a:t>
            </a:r>
            <a:r>
              <a:rPr sz="1950" spc="145" dirty="0">
                <a:solidFill>
                  <a:srgbClr val="231F20"/>
                </a:solidFill>
                <a:latin typeface="Arial"/>
                <a:cs typeface="Arial"/>
              </a:rPr>
              <a:t>abstracted </a:t>
            </a:r>
            <a:r>
              <a:rPr sz="1950" spc="75" dirty="0">
                <a:solidFill>
                  <a:srgbClr val="231F20"/>
                </a:solidFill>
                <a:latin typeface="Arial"/>
                <a:cs typeface="Arial"/>
              </a:rPr>
              <a:t> </a:t>
            </a:r>
            <a:r>
              <a:rPr sz="1950" spc="155" dirty="0">
                <a:solidFill>
                  <a:srgbClr val="231F20"/>
                </a:solidFill>
                <a:latin typeface="Arial"/>
                <a:cs typeface="Arial"/>
              </a:rPr>
              <a:t>functions </a:t>
            </a:r>
            <a:r>
              <a:rPr sz="2050" i="1" spc="-170" dirty="0">
                <a:solidFill>
                  <a:srgbClr val="231F20"/>
                </a:solidFill>
                <a:latin typeface="Meiryo"/>
                <a:cs typeface="Meiryo"/>
              </a:rPr>
              <a:t>f</a:t>
            </a:r>
            <a:r>
              <a:rPr sz="3075" spc="-254" baseline="14905" dirty="0">
                <a:solidFill>
                  <a:srgbClr val="231F20"/>
                </a:solidFill>
                <a:latin typeface="Tahoma"/>
                <a:cs typeface="Tahoma"/>
              </a:rPr>
              <a:t>ˆ </a:t>
            </a:r>
            <a:r>
              <a:rPr sz="1950" spc="155" dirty="0">
                <a:solidFill>
                  <a:srgbClr val="231F20"/>
                </a:solidFill>
                <a:latin typeface="Arial"/>
                <a:cs typeface="Arial"/>
              </a:rPr>
              <a:t>on</a:t>
            </a:r>
            <a:r>
              <a:rPr sz="1950" spc="430" dirty="0">
                <a:solidFill>
                  <a:srgbClr val="231F20"/>
                </a:solidFill>
                <a:latin typeface="Arial"/>
                <a:cs typeface="Arial"/>
              </a:rPr>
              <a:t> </a:t>
            </a:r>
            <a:r>
              <a:rPr sz="2050" i="1" spc="160" dirty="0">
                <a:solidFill>
                  <a:srgbClr val="231F20"/>
                </a:solidFill>
                <a:latin typeface="Meiryo"/>
                <a:cs typeface="Meiryo"/>
              </a:rPr>
              <a:t>A</a:t>
            </a:r>
            <a:endParaRPr sz="2050">
              <a:latin typeface="Meiryo"/>
              <a:cs typeface="Meiryo"/>
            </a:endParaRPr>
          </a:p>
          <a:p>
            <a:pPr marL="300990" indent="-288290">
              <a:lnSpc>
                <a:spcPct val="100000"/>
              </a:lnSpc>
              <a:spcBef>
                <a:spcPts val="1795"/>
              </a:spcBef>
              <a:buSzPct val="105128"/>
              <a:buFont typeface="Lucida Sans Unicode"/>
              <a:buChar char="•"/>
              <a:tabLst>
                <a:tab pos="301625" algn="l"/>
              </a:tabLst>
            </a:pPr>
            <a:r>
              <a:rPr sz="1950" spc="105" dirty="0">
                <a:solidFill>
                  <a:srgbClr val="231F20"/>
                </a:solidFill>
                <a:latin typeface="Arial"/>
                <a:cs typeface="Arial"/>
              </a:rPr>
              <a:t>Given </a:t>
            </a:r>
            <a:r>
              <a:rPr sz="2050" i="1" spc="320" dirty="0">
                <a:solidFill>
                  <a:srgbClr val="231F20"/>
                </a:solidFill>
                <a:latin typeface="Meiryo"/>
                <a:cs typeface="Meiryo"/>
              </a:rPr>
              <a:t>f </a:t>
            </a:r>
            <a:r>
              <a:rPr sz="2050" spc="-155" dirty="0">
                <a:solidFill>
                  <a:srgbClr val="231F20"/>
                </a:solidFill>
                <a:latin typeface="Tahoma"/>
                <a:cs typeface="Tahoma"/>
              </a:rPr>
              <a:t>: </a:t>
            </a:r>
            <a:r>
              <a:rPr sz="2050" spc="65" dirty="0">
                <a:solidFill>
                  <a:srgbClr val="231F20"/>
                </a:solidFill>
                <a:latin typeface="Tahoma"/>
                <a:cs typeface="Tahoma"/>
              </a:rPr>
              <a:t>[</a:t>
            </a:r>
            <a:r>
              <a:rPr sz="2050" i="1" spc="65" dirty="0">
                <a:solidFill>
                  <a:srgbClr val="231F20"/>
                </a:solidFill>
                <a:latin typeface="Meiryo"/>
                <a:cs typeface="Meiryo"/>
              </a:rPr>
              <a:t>C</a:t>
            </a:r>
            <a:r>
              <a:rPr sz="2050" spc="65" dirty="0">
                <a:solidFill>
                  <a:srgbClr val="231F20"/>
                </a:solidFill>
                <a:latin typeface="Lucida Sans Unicode"/>
                <a:cs typeface="Lucida Sans Unicode"/>
              </a:rPr>
              <a:t>→</a:t>
            </a:r>
            <a:r>
              <a:rPr sz="2050" i="1" spc="65" dirty="0">
                <a:solidFill>
                  <a:srgbClr val="231F20"/>
                </a:solidFill>
                <a:latin typeface="Meiryo"/>
                <a:cs typeface="Meiryo"/>
              </a:rPr>
              <a:t>C</a:t>
            </a:r>
            <a:r>
              <a:rPr sz="2050" spc="65" dirty="0">
                <a:solidFill>
                  <a:srgbClr val="231F20"/>
                </a:solidFill>
                <a:latin typeface="Tahoma"/>
                <a:cs typeface="Tahoma"/>
              </a:rPr>
              <a:t>]</a:t>
            </a:r>
            <a:r>
              <a:rPr sz="1950" spc="65" dirty="0">
                <a:solidFill>
                  <a:srgbClr val="231F20"/>
                </a:solidFill>
                <a:latin typeface="Arial"/>
                <a:cs typeface="Arial"/>
              </a:rPr>
              <a:t>, </a:t>
            </a:r>
            <a:r>
              <a:rPr sz="1950" spc="170" dirty="0">
                <a:solidFill>
                  <a:srgbClr val="231F20"/>
                </a:solidFill>
                <a:latin typeface="Arial"/>
                <a:cs typeface="Arial"/>
              </a:rPr>
              <a:t>construct </a:t>
            </a:r>
            <a:r>
              <a:rPr sz="2050" i="1" spc="-170" dirty="0">
                <a:solidFill>
                  <a:srgbClr val="231F20"/>
                </a:solidFill>
                <a:latin typeface="Meiryo"/>
                <a:cs typeface="Meiryo"/>
              </a:rPr>
              <a:t>f</a:t>
            </a:r>
            <a:r>
              <a:rPr sz="3075" spc="-254" baseline="14905" dirty="0">
                <a:solidFill>
                  <a:srgbClr val="231F20"/>
                </a:solidFill>
                <a:latin typeface="Tahoma"/>
                <a:cs typeface="Tahoma"/>
              </a:rPr>
              <a:t>ˆ </a:t>
            </a:r>
            <a:r>
              <a:rPr sz="2050" spc="-155" dirty="0">
                <a:solidFill>
                  <a:srgbClr val="231F20"/>
                </a:solidFill>
                <a:latin typeface="Tahoma"/>
                <a:cs typeface="Tahoma"/>
              </a:rPr>
              <a:t>: </a:t>
            </a:r>
            <a:r>
              <a:rPr sz="2050" dirty="0">
                <a:solidFill>
                  <a:srgbClr val="231F20"/>
                </a:solidFill>
                <a:latin typeface="Tahoma"/>
                <a:cs typeface="Tahoma"/>
              </a:rPr>
              <a:t>[</a:t>
            </a:r>
            <a:r>
              <a:rPr sz="2050" i="1" dirty="0">
                <a:solidFill>
                  <a:srgbClr val="231F20"/>
                </a:solidFill>
                <a:latin typeface="Meiryo"/>
                <a:cs typeface="Meiryo"/>
              </a:rPr>
              <a:t>A</a:t>
            </a:r>
            <a:r>
              <a:rPr sz="2050" dirty="0">
                <a:solidFill>
                  <a:srgbClr val="231F20"/>
                </a:solidFill>
                <a:latin typeface="Lucida Sans Unicode"/>
                <a:cs typeface="Lucida Sans Unicode"/>
              </a:rPr>
              <a:t>→</a:t>
            </a:r>
            <a:r>
              <a:rPr sz="2050" i="1" dirty="0">
                <a:solidFill>
                  <a:srgbClr val="231F20"/>
                </a:solidFill>
                <a:latin typeface="Georgia"/>
                <a:cs typeface="Georgia"/>
              </a:rPr>
              <a:t>set </a:t>
            </a:r>
            <a:r>
              <a:rPr sz="2050" spc="-70" dirty="0">
                <a:solidFill>
                  <a:srgbClr val="231F20"/>
                </a:solidFill>
                <a:latin typeface="Tahoma"/>
                <a:cs typeface="Tahoma"/>
              </a:rPr>
              <a:t>[</a:t>
            </a:r>
            <a:r>
              <a:rPr sz="2050" i="1" spc="-70" dirty="0">
                <a:solidFill>
                  <a:srgbClr val="231F20"/>
                </a:solidFill>
                <a:latin typeface="Meiryo"/>
                <a:cs typeface="Meiryo"/>
              </a:rPr>
              <a:t>A</a:t>
            </a:r>
            <a:r>
              <a:rPr sz="2050" spc="-70" dirty="0">
                <a:solidFill>
                  <a:srgbClr val="231F20"/>
                </a:solidFill>
                <a:latin typeface="Tahoma"/>
                <a:cs typeface="Tahoma"/>
              </a:rPr>
              <a:t>]]</a:t>
            </a:r>
            <a:r>
              <a:rPr sz="1950" spc="-70" dirty="0">
                <a:solidFill>
                  <a:srgbClr val="231F20"/>
                </a:solidFill>
                <a:latin typeface="Arial"/>
                <a:cs typeface="Arial"/>
              </a:rPr>
              <a:t>:</a:t>
            </a:r>
            <a:endParaRPr sz="1950">
              <a:latin typeface="Arial"/>
              <a:cs typeface="Arial"/>
            </a:endParaRPr>
          </a:p>
          <a:p>
            <a:pPr marL="300990">
              <a:lnSpc>
                <a:spcPct val="100000"/>
              </a:lnSpc>
              <a:spcBef>
                <a:spcPts val="565"/>
              </a:spcBef>
            </a:pPr>
            <a:r>
              <a:rPr sz="1950" spc="114" dirty="0">
                <a:solidFill>
                  <a:srgbClr val="231F20"/>
                </a:solidFill>
                <a:latin typeface="Arial"/>
                <a:cs typeface="Arial"/>
              </a:rPr>
              <a:t>(observe </a:t>
            </a:r>
            <a:r>
              <a:rPr sz="1950" spc="160" dirty="0">
                <a:solidFill>
                  <a:srgbClr val="231F20"/>
                </a:solidFill>
                <a:latin typeface="Arial"/>
                <a:cs typeface="Arial"/>
              </a:rPr>
              <a:t>how </a:t>
            </a:r>
            <a:r>
              <a:rPr sz="1950" spc="170" dirty="0">
                <a:solidFill>
                  <a:srgbClr val="231F20"/>
                </a:solidFill>
                <a:latin typeface="Arial"/>
                <a:cs typeface="Arial"/>
              </a:rPr>
              <a:t>data </a:t>
            </a:r>
            <a:r>
              <a:rPr sz="1950" spc="155" dirty="0">
                <a:solidFill>
                  <a:srgbClr val="231F20"/>
                </a:solidFill>
                <a:latin typeface="Arial"/>
                <a:cs typeface="Arial"/>
              </a:rPr>
              <a:t>abstraction </a:t>
            </a:r>
            <a:r>
              <a:rPr sz="1950" spc="140" dirty="0">
                <a:solidFill>
                  <a:srgbClr val="231F20"/>
                </a:solidFill>
                <a:latin typeface="Arial"/>
                <a:cs typeface="Arial"/>
              </a:rPr>
              <a:t>introduces </a:t>
            </a:r>
            <a:r>
              <a:rPr sz="1950" spc="145" dirty="0">
                <a:solidFill>
                  <a:srgbClr val="231F20"/>
                </a:solidFill>
                <a:latin typeface="Arial"/>
                <a:cs typeface="Arial"/>
              </a:rPr>
              <a:t> </a:t>
            </a:r>
            <a:r>
              <a:rPr sz="1950" spc="160" dirty="0">
                <a:solidFill>
                  <a:srgbClr val="231F20"/>
                </a:solidFill>
                <a:latin typeface="Arial"/>
                <a:cs typeface="Arial"/>
              </a:rPr>
              <a:t>nondeterminism)</a:t>
            </a:r>
            <a:endParaRPr sz="1950">
              <a:latin typeface="Arial"/>
              <a:cs typeface="Arial"/>
            </a:endParaRPr>
          </a:p>
          <a:p>
            <a:pPr>
              <a:lnSpc>
                <a:spcPct val="100000"/>
              </a:lnSpc>
              <a:spcBef>
                <a:spcPts val="33"/>
              </a:spcBef>
            </a:pPr>
            <a:endParaRPr sz="2150">
              <a:latin typeface="Times New Roman"/>
              <a:cs typeface="Times New Roman"/>
            </a:endParaRPr>
          </a:p>
          <a:p>
            <a:pPr marL="2038985">
              <a:lnSpc>
                <a:spcPct val="100000"/>
              </a:lnSpc>
            </a:pPr>
            <a:r>
              <a:rPr sz="2050" i="1" spc="-360" dirty="0">
                <a:solidFill>
                  <a:srgbClr val="231F20"/>
                </a:solidFill>
                <a:latin typeface="Meiryo"/>
                <a:cs typeface="Meiryo"/>
              </a:rPr>
              <a:t>b </a:t>
            </a:r>
            <a:r>
              <a:rPr sz="2050" spc="-254" dirty="0">
                <a:solidFill>
                  <a:srgbClr val="231F20"/>
                </a:solidFill>
                <a:latin typeface="Lucida Sans Unicode"/>
                <a:cs typeface="Lucida Sans Unicode"/>
              </a:rPr>
              <a:t>∈ </a:t>
            </a:r>
            <a:r>
              <a:rPr sz="2050" i="1" spc="-130" dirty="0">
                <a:solidFill>
                  <a:srgbClr val="231F20"/>
                </a:solidFill>
                <a:latin typeface="Meiryo"/>
                <a:cs typeface="Meiryo"/>
              </a:rPr>
              <a:t>f</a:t>
            </a:r>
            <a:r>
              <a:rPr sz="3075" spc="-195" baseline="14905" dirty="0">
                <a:solidFill>
                  <a:srgbClr val="231F20"/>
                </a:solidFill>
                <a:latin typeface="Tahoma"/>
                <a:cs typeface="Tahoma"/>
              </a:rPr>
              <a:t>ˆ</a:t>
            </a:r>
            <a:r>
              <a:rPr sz="2050" spc="-130" dirty="0">
                <a:solidFill>
                  <a:srgbClr val="231F20"/>
                </a:solidFill>
                <a:latin typeface="Tahoma"/>
                <a:cs typeface="Tahoma"/>
              </a:rPr>
              <a:t>(</a:t>
            </a:r>
            <a:r>
              <a:rPr sz="2050" i="1" spc="-130" dirty="0">
                <a:solidFill>
                  <a:srgbClr val="231F20"/>
                </a:solidFill>
                <a:latin typeface="Meiryo"/>
                <a:cs typeface="Meiryo"/>
              </a:rPr>
              <a:t>a</a:t>
            </a:r>
            <a:r>
              <a:rPr sz="2050" spc="-130" dirty="0">
                <a:solidFill>
                  <a:srgbClr val="231F20"/>
                </a:solidFill>
                <a:latin typeface="Tahoma"/>
                <a:cs typeface="Tahoma"/>
              </a:rPr>
              <a:t>) </a:t>
            </a:r>
            <a:r>
              <a:rPr sz="2050" spc="-405" dirty="0">
                <a:solidFill>
                  <a:srgbClr val="231F20"/>
                </a:solidFill>
                <a:latin typeface="Lucida Sans Unicode"/>
                <a:cs typeface="Lucida Sans Unicode"/>
              </a:rPr>
              <a:t>⇔  </a:t>
            </a:r>
            <a:r>
              <a:rPr sz="2050" spc="-85" dirty="0">
                <a:solidFill>
                  <a:srgbClr val="231F20"/>
                </a:solidFill>
                <a:latin typeface="Lucida Sans Unicode"/>
                <a:cs typeface="Lucida Sans Unicode"/>
              </a:rPr>
              <a:t>∃</a:t>
            </a:r>
            <a:r>
              <a:rPr sz="2050" i="1" spc="-85" dirty="0">
                <a:solidFill>
                  <a:srgbClr val="231F20"/>
                </a:solidFill>
                <a:latin typeface="Meiryo"/>
                <a:cs typeface="Meiryo"/>
              </a:rPr>
              <a:t>x </a:t>
            </a:r>
            <a:r>
              <a:rPr sz="2050" spc="-155" dirty="0">
                <a:solidFill>
                  <a:srgbClr val="231F20"/>
                </a:solidFill>
                <a:latin typeface="Tahoma"/>
                <a:cs typeface="Tahoma"/>
              </a:rPr>
              <a:t>: </a:t>
            </a:r>
            <a:r>
              <a:rPr sz="2050" i="1" spc="-95" dirty="0">
                <a:solidFill>
                  <a:srgbClr val="231F20"/>
                </a:solidFill>
                <a:latin typeface="Meiryo"/>
                <a:cs typeface="Meiryo"/>
              </a:rPr>
              <a:t>a </a:t>
            </a:r>
            <a:r>
              <a:rPr sz="2050" spc="114" dirty="0">
                <a:solidFill>
                  <a:srgbClr val="231F20"/>
                </a:solidFill>
                <a:latin typeface="Tahoma"/>
                <a:cs typeface="Tahoma"/>
              </a:rPr>
              <a:t>= </a:t>
            </a:r>
            <a:r>
              <a:rPr sz="2050" i="1" dirty="0">
                <a:solidFill>
                  <a:srgbClr val="231F20"/>
                </a:solidFill>
                <a:latin typeface="Meiryo"/>
                <a:cs typeface="Meiryo"/>
              </a:rPr>
              <a:t>h</a:t>
            </a:r>
            <a:r>
              <a:rPr sz="2050" dirty="0">
                <a:solidFill>
                  <a:srgbClr val="231F20"/>
                </a:solidFill>
                <a:latin typeface="Tahoma"/>
                <a:cs typeface="Tahoma"/>
              </a:rPr>
              <a:t>(</a:t>
            </a:r>
            <a:r>
              <a:rPr sz="2050" i="1" dirty="0">
                <a:solidFill>
                  <a:srgbClr val="231F20"/>
                </a:solidFill>
                <a:latin typeface="Meiryo"/>
                <a:cs typeface="Meiryo"/>
              </a:rPr>
              <a:t>x</a:t>
            </a:r>
            <a:r>
              <a:rPr sz="2050" dirty="0">
                <a:solidFill>
                  <a:srgbClr val="231F20"/>
                </a:solidFill>
                <a:latin typeface="Tahoma"/>
                <a:cs typeface="Tahoma"/>
              </a:rPr>
              <a:t>) </a:t>
            </a:r>
            <a:r>
              <a:rPr sz="2050" spc="-254" dirty="0">
                <a:solidFill>
                  <a:srgbClr val="231F20"/>
                </a:solidFill>
                <a:latin typeface="Lucida Sans Unicode"/>
                <a:cs typeface="Lucida Sans Unicode"/>
              </a:rPr>
              <a:t>∧ </a:t>
            </a:r>
            <a:r>
              <a:rPr sz="2050" i="1" spc="-360" dirty="0">
                <a:solidFill>
                  <a:srgbClr val="231F20"/>
                </a:solidFill>
                <a:latin typeface="Meiryo"/>
                <a:cs typeface="Meiryo"/>
              </a:rPr>
              <a:t>b </a:t>
            </a:r>
            <a:r>
              <a:rPr sz="2050" spc="114" dirty="0">
                <a:solidFill>
                  <a:srgbClr val="231F20"/>
                </a:solidFill>
                <a:latin typeface="Tahoma"/>
                <a:cs typeface="Tahoma"/>
              </a:rPr>
              <a:t>= </a:t>
            </a:r>
            <a:r>
              <a:rPr sz="2050" i="1" spc="85" dirty="0">
                <a:solidFill>
                  <a:srgbClr val="231F20"/>
                </a:solidFill>
                <a:latin typeface="Meiryo"/>
                <a:cs typeface="Meiryo"/>
              </a:rPr>
              <a:t>h</a:t>
            </a:r>
            <a:r>
              <a:rPr sz="2050" spc="85" dirty="0">
                <a:solidFill>
                  <a:srgbClr val="231F20"/>
                </a:solidFill>
                <a:latin typeface="Tahoma"/>
                <a:cs typeface="Tahoma"/>
              </a:rPr>
              <a:t>(</a:t>
            </a:r>
            <a:r>
              <a:rPr sz="2050" i="1" spc="85" dirty="0">
                <a:solidFill>
                  <a:srgbClr val="231F20"/>
                </a:solidFill>
                <a:latin typeface="Meiryo"/>
                <a:cs typeface="Meiryo"/>
              </a:rPr>
              <a:t>f</a:t>
            </a:r>
            <a:r>
              <a:rPr sz="2050" i="1" spc="-204" dirty="0">
                <a:solidFill>
                  <a:srgbClr val="231F20"/>
                </a:solidFill>
                <a:latin typeface="Meiryo"/>
                <a:cs typeface="Meiryo"/>
              </a:rPr>
              <a:t> </a:t>
            </a:r>
            <a:r>
              <a:rPr sz="2050" spc="25" dirty="0">
                <a:solidFill>
                  <a:srgbClr val="231F20"/>
                </a:solidFill>
                <a:latin typeface="Tahoma"/>
                <a:cs typeface="Tahoma"/>
              </a:rPr>
              <a:t>(</a:t>
            </a:r>
            <a:r>
              <a:rPr sz="2050" i="1" spc="25" dirty="0">
                <a:solidFill>
                  <a:srgbClr val="231F20"/>
                </a:solidFill>
                <a:latin typeface="Meiryo"/>
                <a:cs typeface="Meiryo"/>
              </a:rPr>
              <a:t>x</a:t>
            </a:r>
            <a:r>
              <a:rPr sz="2050" spc="25" dirty="0">
                <a:solidFill>
                  <a:srgbClr val="231F20"/>
                </a:solidFill>
                <a:latin typeface="Tahoma"/>
                <a:cs typeface="Tahoma"/>
              </a:rPr>
              <a:t>))</a:t>
            </a:r>
            <a:endParaRPr sz="2050">
              <a:latin typeface="Tahoma"/>
              <a:cs typeface="Tahoma"/>
            </a:endParaRPr>
          </a:p>
        </p:txBody>
      </p:sp>
      <p:sp>
        <p:nvSpPr>
          <p:cNvPr id="5" name="object 5"/>
          <p:cNvSpPr txBox="1"/>
          <p:nvPr/>
        </p:nvSpPr>
        <p:spPr>
          <a:xfrm>
            <a:off x="2695879" y="5384584"/>
            <a:ext cx="1294130" cy="339090"/>
          </a:xfrm>
          <a:prstGeom prst="rect">
            <a:avLst/>
          </a:prstGeom>
        </p:spPr>
        <p:txBody>
          <a:bodyPr vert="horz" wrap="square" lIns="0" tIns="0" rIns="0" bIns="0" rtlCol="0">
            <a:spAutoFit/>
          </a:bodyPr>
          <a:lstStyle/>
          <a:p>
            <a:pPr marL="12700">
              <a:lnSpc>
                <a:spcPct val="100000"/>
              </a:lnSpc>
            </a:pPr>
            <a:r>
              <a:rPr sz="2050" i="1" spc="-360" dirty="0">
                <a:solidFill>
                  <a:srgbClr val="231F20"/>
                </a:solidFill>
                <a:latin typeface="Meiryo"/>
                <a:cs typeface="Meiryo"/>
              </a:rPr>
              <a:t>b  </a:t>
            </a:r>
            <a:r>
              <a:rPr sz="2050" spc="-530" dirty="0">
                <a:solidFill>
                  <a:srgbClr val="231F20"/>
                </a:solidFill>
                <a:latin typeface="Lucida Sans Unicode"/>
                <a:cs typeface="Lucida Sans Unicode"/>
              </a:rPr>
              <a:t>ƒ∈     </a:t>
            </a:r>
            <a:r>
              <a:rPr sz="2050" i="1" spc="-130" dirty="0">
                <a:solidFill>
                  <a:srgbClr val="231F20"/>
                </a:solidFill>
                <a:latin typeface="Meiryo"/>
                <a:cs typeface="Meiryo"/>
              </a:rPr>
              <a:t>f</a:t>
            </a:r>
            <a:r>
              <a:rPr sz="3075" spc="-195" baseline="14905" dirty="0">
                <a:solidFill>
                  <a:srgbClr val="231F20"/>
                </a:solidFill>
                <a:latin typeface="Tahoma"/>
                <a:cs typeface="Tahoma"/>
              </a:rPr>
              <a:t>ˆ</a:t>
            </a:r>
            <a:r>
              <a:rPr sz="2050" spc="-130" dirty="0">
                <a:solidFill>
                  <a:srgbClr val="231F20"/>
                </a:solidFill>
                <a:latin typeface="Tahoma"/>
                <a:cs typeface="Tahoma"/>
              </a:rPr>
              <a:t>(</a:t>
            </a:r>
            <a:r>
              <a:rPr sz="2050" i="1" spc="-130" dirty="0">
                <a:solidFill>
                  <a:srgbClr val="231F20"/>
                </a:solidFill>
                <a:latin typeface="Meiryo"/>
                <a:cs typeface="Meiryo"/>
              </a:rPr>
              <a:t>a</a:t>
            </a:r>
            <a:r>
              <a:rPr sz="2050" spc="-130" dirty="0">
                <a:solidFill>
                  <a:srgbClr val="231F20"/>
                </a:solidFill>
                <a:latin typeface="Tahoma"/>
                <a:cs typeface="Tahoma"/>
              </a:rPr>
              <a:t>)</a:t>
            </a:r>
            <a:r>
              <a:rPr sz="2050" spc="-270" dirty="0">
                <a:solidFill>
                  <a:srgbClr val="231F20"/>
                </a:solidFill>
                <a:latin typeface="Tahoma"/>
                <a:cs typeface="Tahoma"/>
              </a:rPr>
              <a:t> </a:t>
            </a:r>
            <a:r>
              <a:rPr sz="2050" spc="-405" dirty="0">
                <a:solidFill>
                  <a:srgbClr val="231F20"/>
                </a:solidFill>
                <a:latin typeface="Lucida Sans Unicode"/>
                <a:cs typeface="Lucida Sans Unicode"/>
              </a:rPr>
              <a:t>⇔</a:t>
            </a:r>
            <a:endParaRPr sz="2050">
              <a:latin typeface="Lucida Sans Unicode"/>
              <a:cs typeface="Lucida Sans Unicode"/>
            </a:endParaRPr>
          </a:p>
        </p:txBody>
      </p:sp>
      <p:sp>
        <p:nvSpPr>
          <p:cNvPr id="6" name="object 6"/>
          <p:cNvSpPr txBox="1"/>
          <p:nvPr/>
        </p:nvSpPr>
        <p:spPr>
          <a:xfrm>
            <a:off x="4141990" y="5384584"/>
            <a:ext cx="3503929" cy="339090"/>
          </a:xfrm>
          <a:prstGeom prst="rect">
            <a:avLst/>
          </a:prstGeom>
        </p:spPr>
        <p:txBody>
          <a:bodyPr vert="horz" wrap="square" lIns="0" tIns="0" rIns="0" bIns="0" rtlCol="0">
            <a:spAutoFit/>
          </a:bodyPr>
          <a:lstStyle/>
          <a:p>
            <a:pPr marL="12700">
              <a:lnSpc>
                <a:spcPct val="100000"/>
              </a:lnSpc>
            </a:pPr>
            <a:r>
              <a:rPr sz="2050" spc="-370" dirty="0">
                <a:solidFill>
                  <a:srgbClr val="0000FF"/>
                </a:solidFill>
                <a:latin typeface="Lucida Sans Unicode"/>
                <a:cs typeface="Lucida Sans Unicode"/>
              </a:rPr>
              <a:t>⊢  </a:t>
            </a:r>
            <a:r>
              <a:rPr sz="2050" spc="-315" dirty="0">
                <a:solidFill>
                  <a:srgbClr val="0000FF"/>
                </a:solidFill>
                <a:latin typeface="Lucida Sans Unicode"/>
                <a:cs typeface="Lucida Sans Unicode"/>
              </a:rPr>
              <a:t>∀</a:t>
            </a:r>
            <a:r>
              <a:rPr sz="2050" i="1" spc="-315" dirty="0">
                <a:solidFill>
                  <a:srgbClr val="0000FF"/>
                </a:solidFill>
                <a:latin typeface="Meiryo"/>
                <a:cs typeface="Meiryo"/>
              </a:rPr>
              <a:t>x </a:t>
            </a:r>
            <a:r>
              <a:rPr sz="2050" spc="-155" dirty="0">
                <a:solidFill>
                  <a:srgbClr val="0000FF"/>
                </a:solidFill>
                <a:latin typeface="Tahoma"/>
                <a:cs typeface="Tahoma"/>
              </a:rPr>
              <a:t>: </a:t>
            </a:r>
            <a:r>
              <a:rPr sz="2050" i="1" spc="-95" dirty="0">
                <a:solidFill>
                  <a:srgbClr val="0000FF"/>
                </a:solidFill>
                <a:latin typeface="Meiryo"/>
                <a:cs typeface="Meiryo"/>
              </a:rPr>
              <a:t>a </a:t>
            </a:r>
            <a:r>
              <a:rPr sz="2050" spc="114" dirty="0">
                <a:solidFill>
                  <a:srgbClr val="0000FF"/>
                </a:solidFill>
                <a:latin typeface="Tahoma"/>
                <a:cs typeface="Tahoma"/>
              </a:rPr>
              <a:t>= </a:t>
            </a:r>
            <a:r>
              <a:rPr sz="2050" i="1" dirty="0">
                <a:solidFill>
                  <a:srgbClr val="0000FF"/>
                </a:solidFill>
                <a:latin typeface="Meiryo"/>
                <a:cs typeface="Meiryo"/>
              </a:rPr>
              <a:t>h</a:t>
            </a:r>
            <a:r>
              <a:rPr sz="2050" dirty="0">
                <a:solidFill>
                  <a:srgbClr val="0000FF"/>
                </a:solidFill>
                <a:latin typeface="Tahoma"/>
                <a:cs typeface="Tahoma"/>
              </a:rPr>
              <a:t>(</a:t>
            </a:r>
            <a:r>
              <a:rPr sz="2050" i="1" dirty="0">
                <a:solidFill>
                  <a:srgbClr val="0000FF"/>
                </a:solidFill>
                <a:latin typeface="Meiryo"/>
                <a:cs typeface="Meiryo"/>
              </a:rPr>
              <a:t>x</a:t>
            </a:r>
            <a:r>
              <a:rPr sz="2050" dirty="0">
                <a:solidFill>
                  <a:srgbClr val="0000FF"/>
                </a:solidFill>
                <a:latin typeface="Tahoma"/>
                <a:cs typeface="Tahoma"/>
              </a:rPr>
              <a:t>) </a:t>
            </a:r>
            <a:r>
              <a:rPr sz="2050" spc="140" dirty="0">
                <a:solidFill>
                  <a:srgbClr val="0000FF"/>
                </a:solidFill>
                <a:latin typeface="Lucida Sans Unicode"/>
                <a:cs typeface="Lucida Sans Unicode"/>
              </a:rPr>
              <a:t>⇒ </a:t>
            </a:r>
            <a:r>
              <a:rPr sz="2050" i="1" spc="-360" dirty="0">
                <a:solidFill>
                  <a:srgbClr val="0000FF"/>
                </a:solidFill>
                <a:latin typeface="Meiryo"/>
                <a:cs typeface="Meiryo"/>
              </a:rPr>
              <a:t>b </a:t>
            </a:r>
            <a:r>
              <a:rPr sz="2050" spc="-340" dirty="0">
                <a:solidFill>
                  <a:srgbClr val="0000FF"/>
                </a:solidFill>
                <a:latin typeface="Lucida Sans Unicode"/>
                <a:cs typeface="Lucida Sans Unicode"/>
              </a:rPr>
              <a:t>ƒ</a:t>
            </a:r>
            <a:r>
              <a:rPr sz="2050" spc="-340" dirty="0">
                <a:solidFill>
                  <a:srgbClr val="0000FF"/>
                </a:solidFill>
                <a:latin typeface="Tahoma"/>
                <a:cs typeface="Tahoma"/>
              </a:rPr>
              <a:t>=  </a:t>
            </a:r>
            <a:r>
              <a:rPr sz="2050" i="1" spc="85" dirty="0">
                <a:solidFill>
                  <a:srgbClr val="0000FF"/>
                </a:solidFill>
                <a:latin typeface="Meiryo"/>
                <a:cs typeface="Meiryo"/>
              </a:rPr>
              <a:t>h</a:t>
            </a:r>
            <a:r>
              <a:rPr sz="2050" spc="85" dirty="0">
                <a:solidFill>
                  <a:srgbClr val="0000FF"/>
                </a:solidFill>
                <a:latin typeface="Tahoma"/>
                <a:cs typeface="Tahoma"/>
              </a:rPr>
              <a:t>(</a:t>
            </a:r>
            <a:r>
              <a:rPr sz="2050" i="1" spc="85" dirty="0">
                <a:solidFill>
                  <a:srgbClr val="0000FF"/>
                </a:solidFill>
                <a:latin typeface="Meiryo"/>
                <a:cs typeface="Meiryo"/>
              </a:rPr>
              <a:t>f</a:t>
            </a:r>
            <a:r>
              <a:rPr sz="2050" i="1" spc="-545" dirty="0">
                <a:solidFill>
                  <a:srgbClr val="0000FF"/>
                </a:solidFill>
                <a:latin typeface="Meiryo"/>
                <a:cs typeface="Meiryo"/>
              </a:rPr>
              <a:t> </a:t>
            </a:r>
            <a:r>
              <a:rPr sz="2050" spc="25" dirty="0">
                <a:solidFill>
                  <a:srgbClr val="0000FF"/>
                </a:solidFill>
                <a:latin typeface="Tahoma"/>
                <a:cs typeface="Tahoma"/>
              </a:rPr>
              <a:t>(</a:t>
            </a:r>
            <a:r>
              <a:rPr sz="2050" i="1" spc="25" dirty="0">
                <a:solidFill>
                  <a:srgbClr val="0000FF"/>
                </a:solidFill>
                <a:latin typeface="Meiryo"/>
                <a:cs typeface="Meiryo"/>
              </a:rPr>
              <a:t>x</a:t>
            </a:r>
            <a:r>
              <a:rPr sz="2050" spc="25" dirty="0">
                <a:solidFill>
                  <a:srgbClr val="0000FF"/>
                </a:solidFill>
                <a:latin typeface="Tahoma"/>
                <a:cs typeface="Tahoma"/>
              </a:rPr>
              <a:t>))</a:t>
            </a:r>
            <a:endParaRPr sz="2050">
              <a:latin typeface="Tahoma"/>
              <a:cs typeface="Tahoma"/>
            </a:endParaRPr>
          </a:p>
        </p:txBody>
      </p:sp>
      <p:sp>
        <p:nvSpPr>
          <p:cNvPr id="7" name="object 7"/>
          <p:cNvSpPr txBox="1"/>
          <p:nvPr/>
        </p:nvSpPr>
        <p:spPr>
          <a:xfrm>
            <a:off x="896440" y="5987757"/>
            <a:ext cx="7575550" cy="326390"/>
          </a:xfrm>
          <a:prstGeom prst="rect">
            <a:avLst/>
          </a:prstGeom>
        </p:spPr>
        <p:txBody>
          <a:bodyPr vert="horz" wrap="square" lIns="0" tIns="0" rIns="0" bIns="0" rtlCol="0">
            <a:spAutoFit/>
          </a:bodyPr>
          <a:lstStyle/>
          <a:p>
            <a:pPr marL="300990" indent="-288290">
              <a:lnSpc>
                <a:spcPct val="100000"/>
              </a:lnSpc>
              <a:buClr>
                <a:srgbClr val="231F20"/>
              </a:buClr>
              <a:buSzPct val="105128"/>
              <a:buFont typeface="Lucida Sans Unicode"/>
              <a:buChar char="•"/>
              <a:tabLst>
                <a:tab pos="301625" algn="l"/>
              </a:tabLst>
            </a:pPr>
            <a:r>
              <a:rPr sz="1950" spc="160" dirty="0">
                <a:solidFill>
                  <a:srgbClr val="FF0000"/>
                </a:solidFill>
                <a:latin typeface="Arial"/>
                <a:cs typeface="Arial"/>
              </a:rPr>
              <a:t>Theorem-proving </a:t>
            </a:r>
            <a:r>
              <a:rPr sz="1950" spc="125" dirty="0">
                <a:solidFill>
                  <a:srgbClr val="FF0000"/>
                </a:solidFill>
                <a:latin typeface="Arial"/>
                <a:cs typeface="Arial"/>
              </a:rPr>
              <a:t>failure </a:t>
            </a:r>
            <a:r>
              <a:rPr sz="1950" spc="130" dirty="0">
                <a:solidFill>
                  <a:srgbClr val="FF0000"/>
                </a:solidFill>
                <a:latin typeface="Arial"/>
                <a:cs typeface="Arial"/>
              </a:rPr>
              <a:t>affects </a:t>
            </a:r>
            <a:r>
              <a:rPr sz="1950" spc="100" dirty="0">
                <a:solidFill>
                  <a:srgbClr val="FF0000"/>
                </a:solidFill>
                <a:latin typeface="Arial"/>
                <a:cs typeface="Arial"/>
              </a:rPr>
              <a:t>accuracy, </a:t>
            </a:r>
            <a:r>
              <a:rPr sz="1950" spc="220" dirty="0">
                <a:solidFill>
                  <a:srgbClr val="FF0000"/>
                </a:solidFill>
                <a:latin typeface="Arial"/>
                <a:cs typeface="Arial"/>
              </a:rPr>
              <a:t>not</a:t>
            </a:r>
            <a:r>
              <a:rPr sz="1950" spc="935" dirty="0">
                <a:solidFill>
                  <a:srgbClr val="FF0000"/>
                </a:solidFill>
                <a:latin typeface="Arial"/>
                <a:cs typeface="Arial"/>
              </a:rPr>
              <a:t> </a:t>
            </a:r>
            <a:r>
              <a:rPr sz="1950" spc="75" dirty="0">
                <a:solidFill>
                  <a:srgbClr val="FF0000"/>
                </a:solidFill>
                <a:latin typeface="Arial"/>
                <a:cs typeface="Arial"/>
              </a:rPr>
              <a:t>soundness</a:t>
            </a:r>
            <a:endParaRPr sz="1950">
              <a:latin typeface="Arial"/>
              <a:cs typeface="Ari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136493" y="972159"/>
            <a:ext cx="3786504" cy="314960"/>
          </a:xfrm>
          <a:prstGeom prst="rect">
            <a:avLst/>
          </a:prstGeom>
        </p:spPr>
        <p:txBody>
          <a:bodyPr vert="horz" wrap="square" lIns="0" tIns="0" rIns="0" bIns="0" rtlCol="0">
            <a:spAutoFit/>
          </a:bodyPr>
          <a:lstStyle/>
          <a:p>
            <a:pPr marL="12700">
              <a:lnSpc>
                <a:spcPct val="100000"/>
              </a:lnSpc>
            </a:pPr>
            <a:r>
              <a:rPr sz="1950" spc="340" dirty="0">
                <a:solidFill>
                  <a:srgbClr val="231F20"/>
                </a:solidFill>
                <a:latin typeface="Arial"/>
                <a:cs typeface="Arial"/>
              </a:rPr>
              <a:t>Data </a:t>
            </a:r>
            <a:r>
              <a:rPr sz="1950" spc="275" dirty="0">
                <a:solidFill>
                  <a:srgbClr val="231F20"/>
                </a:solidFill>
                <a:latin typeface="Arial"/>
                <a:cs typeface="Arial"/>
              </a:rPr>
              <a:t>Abstraction</a:t>
            </a:r>
            <a:r>
              <a:rPr sz="1950" spc="335" dirty="0">
                <a:solidFill>
                  <a:srgbClr val="231F20"/>
                </a:solidFill>
                <a:latin typeface="Arial"/>
                <a:cs typeface="Arial"/>
              </a:rPr>
              <a:t> </a:t>
            </a:r>
            <a:r>
              <a:rPr sz="1950" spc="265" dirty="0">
                <a:solidFill>
                  <a:srgbClr val="231F20"/>
                </a:solidFill>
                <a:latin typeface="Arial"/>
                <a:cs typeface="Arial"/>
              </a:rPr>
              <a:t>Example</a:t>
            </a:r>
            <a:endParaRPr sz="1950">
              <a:latin typeface="Arial"/>
              <a:cs typeface="Arial"/>
            </a:endParaRPr>
          </a:p>
        </p:txBody>
      </p:sp>
      <p:sp>
        <p:nvSpPr>
          <p:cNvPr id="3" name="object 3"/>
          <p:cNvSpPr txBox="1">
            <a:spLocks noGrp="1"/>
          </p:cNvSpPr>
          <p:nvPr>
            <p:ph type="title"/>
          </p:nvPr>
        </p:nvSpPr>
        <p:spPr>
          <a:xfrm>
            <a:off x="901700" y="1311320"/>
            <a:ext cx="6479540" cy="1031875"/>
          </a:xfrm>
          <a:prstGeom prst="rect">
            <a:avLst/>
          </a:prstGeom>
        </p:spPr>
        <p:txBody>
          <a:bodyPr vert="horz" wrap="square" lIns="0" tIns="0" rIns="0" bIns="0" rtlCol="0">
            <a:spAutoFit/>
          </a:bodyPr>
          <a:lstStyle/>
          <a:p>
            <a:pPr marL="12700" marR="5080">
              <a:lnSpc>
                <a:spcPct val="160900"/>
              </a:lnSpc>
            </a:pPr>
            <a:r>
              <a:rPr sz="1950" spc="100" dirty="0">
                <a:solidFill>
                  <a:srgbClr val="231F20"/>
                </a:solidFill>
                <a:latin typeface="Arial"/>
                <a:cs typeface="Arial"/>
              </a:rPr>
              <a:t>Replace </a:t>
            </a:r>
            <a:r>
              <a:rPr sz="1950" spc="160" dirty="0">
                <a:solidFill>
                  <a:srgbClr val="231F20"/>
                </a:solidFill>
                <a:latin typeface="Arial"/>
                <a:cs typeface="Arial"/>
              </a:rPr>
              <a:t>natural </a:t>
            </a:r>
            <a:r>
              <a:rPr sz="1950" spc="140" dirty="0">
                <a:solidFill>
                  <a:srgbClr val="231F20"/>
                </a:solidFill>
                <a:latin typeface="Arial"/>
                <a:cs typeface="Arial"/>
              </a:rPr>
              <a:t>numbers </a:t>
            </a:r>
            <a:r>
              <a:rPr sz="1950" spc="105" dirty="0">
                <a:solidFill>
                  <a:srgbClr val="231F20"/>
                </a:solidFill>
                <a:latin typeface="Arial"/>
                <a:cs typeface="Arial"/>
              </a:rPr>
              <a:t>by </a:t>
            </a:r>
            <a:r>
              <a:rPr spc="220" dirty="0">
                <a:solidFill>
                  <a:srgbClr val="231F20"/>
                </a:solidFill>
                <a:latin typeface="Lucida Sans Unicode"/>
                <a:cs typeface="Lucida Sans Unicode"/>
              </a:rPr>
              <a:t>{</a:t>
            </a:r>
            <a:r>
              <a:rPr sz="1950" spc="220" dirty="0">
                <a:solidFill>
                  <a:srgbClr val="231F20"/>
                </a:solidFill>
                <a:latin typeface="Arial"/>
                <a:cs typeface="Arial"/>
              </a:rPr>
              <a:t>0, </a:t>
            </a:r>
            <a:r>
              <a:rPr sz="1950" spc="150" dirty="0">
                <a:solidFill>
                  <a:srgbClr val="231F20"/>
                </a:solidFill>
                <a:latin typeface="Arial"/>
                <a:cs typeface="Arial"/>
              </a:rPr>
              <a:t>1, </a:t>
            </a:r>
            <a:r>
              <a:rPr sz="1950" spc="204" dirty="0">
                <a:solidFill>
                  <a:srgbClr val="231F20"/>
                </a:solidFill>
                <a:latin typeface="Arial"/>
                <a:cs typeface="Arial"/>
              </a:rPr>
              <a:t>many</a:t>
            </a:r>
            <a:r>
              <a:rPr spc="204" dirty="0">
                <a:solidFill>
                  <a:srgbClr val="231F20"/>
                </a:solidFill>
                <a:latin typeface="Lucida Sans Unicode"/>
                <a:cs typeface="Lucida Sans Unicode"/>
              </a:rPr>
              <a:t>}  </a:t>
            </a:r>
            <a:r>
              <a:rPr sz="1950" spc="135" dirty="0">
                <a:solidFill>
                  <a:srgbClr val="231F20"/>
                </a:solidFill>
                <a:latin typeface="Arial"/>
                <a:cs typeface="Arial"/>
              </a:rPr>
              <a:t>Calculate </a:t>
            </a:r>
            <a:r>
              <a:rPr sz="1950" spc="120" dirty="0">
                <a:solidFill>
                  <a:srgbClr val="231F20"/>
                </a:solidFill>
                <a:latin typeface="Arial"/>
                <a:cs typeface="Arial"/>
              </a:rPr>
              <a:t>behavior </a:t>
            </a:r>
            <a:r>
              <a:rPr sz="1950" spc="185" dirty="0">
                <a:solidFill>
                  <a:srgbClr val="231F20"/>
                </a:solidFill>
                <a:latin typeface="Arial"/>
                <a:cs typeface="Arial"/>
              </a:rPr>
              <a:t>of </a:t>
            </a:r>
            <a:r>
              <a:rPr sz="1950" spc="160" dirty="0">
                <a:solidFill>
                  <a:srgbClr val="231F20"/>
                </a:solidFill>
                <a:latin typeface="Arial"/>
                <a:cs typeface="Arial"/>
              </a:rPr>
              <a:t>subtraction </a:t>
            </a:r>
            <a:r>
              <a:rPr sz="1950" spc="155" dirty="0">
                <a:solidFill>
                  <a:srgbClr val="231F20"/>
                </a:solidFill>
                <a:latin typeface="Arial"/>
                <a:cs typeface="Arial"/>
              </a:rPr>
              <a:t>on </a:t>
            </a:r>
            <a:r>
              <a:rPr spc="220" dirty="0">
                <a:solidFill>
                  <a:srgbClr val="231F20"/>
                </a:solidFill>
                <a:latin typeface="Lucida Sans Unicode"/>
                <a:cs typeface="Lucida Sans Unicode"/>
              </a:rPr>
              <a:t>{</a:t>
            </a:r>
            <a:r>
              <a:rPr sz="1950" spc="220" dirty="0">
                <a:solidFill>
                  <a:srgbClr val="231F20"/>
                </a:solidFill>
                <a:latin typeface="Arial"/>
                <a:cs typeface="Arial"/>
              </a:rPr>
              <a:t>0, </a:t>
            </a:r>
            <a:r>
              <a:rPr sz="1950" spc="150" dirty="0">
                <a:solidFill>
                  <a:srgbClr val="231F20"/>
                </a:solidFill>
                <a:latin typeface="Arial"/>
                <a:cs typeface="Arial"/>
              </a:rPr>
              <a:t>1, </a:t>
            </a:r>
            <a:r>
              <a:rPr sz="1950" spc="280" dirty="0">
                <a:solidFill>
                  <a:srgbClr val="231F20"/>
                </a:solidFill>
                <a:latin typeface="Arial"/>
                <a:cs typeface="Arial"/>
              </a:rPr>
              <a:t> </a:t>
            </a:r>
            <a:r>
              <a:rPr sz="1950" spc="204" dirty="0">
                <a:solidFill>
                  <a:srgbClr val="231F20"/>
                </a:solidFill>
                <a:latin typeface="Arial"/>
                <a:cs typeface="Arial"/>
              </a:rPr>
              <a:t>many</a:t>
            </a:r>
            <a:r>
              <a:rPr spc="204" dirty="0">
                <a:solidFill>
                  <a:srgbClr val="231F20"/>
                </a:solidFill>
                <a:latin typeface="Lucida Sans Unicode"/>
                <a:cs typeface="Lucida Sans Unicode"/>
              </a:rPr>
              <a:t>}</a:t>
            </a:r>
            <a:endParaRPr sz="1950">
              <a:latin typeface="Lucida Sans Unicode"/>
              <a:cs typeface="Lucida Sans Unicode"/>
            </a:endParaRPr>
          </a:p>
        </p:txBody>
      </p:sp>
      <p:graphicFrame>
        <p:nvGraphicFramePr>
          <p:cNvPr id="4" name="object 4"/>
          <p:cNvGraphicFramePr>
            <a:graphicFrameLocks noGrp="1"/>
          </p:cNvGraphicFramePr>
          <p:nvPr/>
        </p:nvGraphicFramePr>
        <p:xfrm>
          <a:off x="2603754" y="2642273"/>
          <a:ext cx="4840145" cy="1804566"/>
        </p:xfrm>
        <a:graphic>
          <a:graphicData uri="http://schemas.openxmlformats.org/drawingml/2006/table">
            <a:tbl>
              <a:tblPr firstRow="1" bandRow="1">
                <a:tableStyleId>{2D5ABB26-0587-4C30-8999-92F81FD0307C}</a:tableStyleId>
              </a:tblPr>
              <a:tblGrid>
                <a:gridCol w="893025"/>
                <a:gridCol w="892911"/>
                <a:gridCol w="1403146"/>
                <a:gridCol w="1651063"/>
              </a:tblGrid>
              <a:tr h="456399">
                <a:tc>
                  <a:txBody>
                    <a:bodyPr/>
                    <a:lstStyle/>
                    <a:p>
                      <a:pPr algn="ctr">
                        <a:lnSpc>
                          <a:spcPct val="100000"/>
                        </a:lnSpc>
                        <a:spcBef>
                          <a:spcPts val="405"/>
                        </a:spcBef>
                      </a:pPr>
                      <a:r>
                        <a:rPr sz="2050" dirty="0">
                          <a:solidFill>
                            <a:srgbClr val="231F20"/>
                          </a:solidFill>
                          <a:latin typeface="Lucida Sans Unicode"/>
                          <a:cs typeface="Lucida Sans Unicode"/>
                        </a:rPr>
                        <a:t>−</a:t>
                      </a:r>
                      <a:endParaRPr sz="2050">
                        <a:latin typeface="Lucida Sans Unicode"/>
                        <a:cs typeface="Lucida Sans Unicode"/>
                      </a:endParaRPr>
                    </a:p>
                  </a:txBody>
                  <a:tcPr marL="0" marR="0" marT="0" marB="0">
                    <a:lnL w="10515">
                      <a:solidFill>
                        <a:srgbClr val="231F20"/>
                      </a:solidFill>
                      <a:prstDash val="solid"/>
                    </a:lnL>
                    <a:lnR w="10515">
                      <a:solidFill>
                        <a:srgbClr val="231F20"/>
                      </a:solidFill>
                      <a:prstDash val="solid"/>
                    </a:lnR>
                    <a:lnT w="10515">
                      <a:solidFill>
                        <a:srgbClr val="231F20"/>
                      </a:solidFill>
                      <a:prstDash val="solid"/>
                    </a:lnT>
                    <a:lnB w="10515">
                      <a:solidFill>
                        <a:srgbClr val="231F20"/>
                      </a:solidFill>
                      <a:prstDash val="solid"/>
                    </a:lnB>
                  </a:tcPr>
                </a:tc>
                <a:tc>
                  <a:txBody>
                    <a:bodyPr/>
                    <a:lstStyle/>
                    <a:p>
                      <a:pPr algn="ctr">
                        <a:lnSpc>
                          <a:spcPct val="100000"/>
                        </a:lnSpc>
                        <a:spcBef>
                          <a:spcPts val="405"/>
                        </a:spcBef>
                      </a:pPr>
                      <a:r>
                        <a:rPr sz="2050" dirty="0">
                          <a:solidFill>
                            <a:srgbClr val="231F20"/>
                          </a:solidFill>
                          <a:latin typeface="Tahoma"/>
                          <a:cs typeface="Tahoma"/>
                        </a:rPr>
                        <a:t>0</a:t>
                      </a:r>
                      <a:endParaRPr sz="2050">
                        <a:latin typeface="Tahoma"/>
                        <a:cs typeface="Tahoma"/>
                      </a:endParaRPr>
                    </a:p>
                  </a:txBody>
                  <a:tcPr marL="0" marR="0" marT="0" marB="0">
                    <a:lnL w="10515">
                      <a:solidFill>
                        <a:srgbClr val="231F20"/>
                      </a:solidFill>
                      <a:prstDash val="solid"/>
                    </a:lnL>
                    <a:lnR w="10515">
                      <a:solidFill>
                        <a:srgbClr val="231F20"/>
                      </a:solidFill>
                      <a:prstDash val="solid"/>
                    </a:lnR>
                    <a:lnT w="10515">
                      <a:solidFill>
                        <a:srgbClr val="231F20"/>
                      </a:solidFill>
                      <a:prstDash val="solid"/>
                    </a:lnT>
                    <a:lnB w="10515">
                      <a:solidFill>
                        <a:srgbClr val="231F20"/>
                      </a:solidFill>
                      <a:prstDash val="solid"/>
                    </a:lnB>
                  </a:tcPr>
                </a:tc>
                <a:tc>
                  <a:txBody>
                    <a:bodyPr/>
                    <a:lstStyle/>
                    <a:p>
                      <a:pPr algn="ctr">
                        <a:lnSpc>
                          <a:spcPct val="100000"/>
                        </a:lnSpc>
                        <a:spcBef>
                          <a:spcPts val="405"/>
                        </a:spcBef>
                      </a:pPr>
                      <a:r>
                        <a:rPr sz="2050" dirty="0">
                          <a:solidFill>
                            <a:srgbClr val="0000FF"/>
                          </a:solidFill>
                          <a:latin typeface="Tahoma"/>
                          <a:cs typeface="Tahoma"/>
                        </a:rPr>
                        <a:t>1</a:t>
                      </a:r>
                      <a:endParaRPr sz="2050">
                        <a:latin typeface="Tahoma"/>
                        <a:cs typeface="Tahoma"/>
                      </a:endParaRPr>
                    </a:p>
                  </a:txBody>
                  <a:tcPr marL="0" marR="0" marT="0" marB="0">
                    <a:lnL w="10515">
                      <a:solidFill>
                        <a:srgbClr val="231F20"/>
                      </a:solidFill>
                      <a:prstDash val="solid"/>
                    </a:lnL>
                    <a:lnR w="10515">
                      <a:solidFill>
                        <a:srgbClr val="231F20"/>
                      </a:solidFill>
                      <a:prstDash val="solid"/>
                    </a:lnR>
                    <a:lnT w="10515">
                      <a:solidFill>
                        <a:srgbClr val="231F20"/>
                      </a:solidFill>
                      <a:prstDash val="solid"/>
                    </a:lnT>
                    <a:lnB w="10515">
                      <a:solidFill>
                        <a:srgbClr val="231F20"/>
                      </a:solidFill>
                      <a:prstDash val="solid"/>
                    </a:lnB>
                  </a:tcPr>
                </a:tc>
                <a:tc>
                  <a:txBody>
                    <a:bodyPr/>
                    <a:lstStyle/>
                    <a:p>
                      <a:pPr algn="ctr">
                        <a:lnSpc>
                          <a:spcPct val="100000"/>
                        </a:lnSpc>
                        <a:spcBef>
                          <a:spcPts val="405"/>
                        </a:spcBef>
                      </a:pPr>
                      <a:r>
                        <a:rPr sz="2050" spc="-10" dirty="0">
                          <a:solidFill>
                            <a:srgbClr val="231F20"/>
                          </a:solidFill>
                          <a:latin typeface="Tahoma"/>
                          <a:cs typeface="Tahoma"/>
                        </a:rPr>
                        <a:t>many</a:t>
                      </a:r>
                      <a:endParaRPr sz="2050">
                        <a:latin typeface="Tahoma"/>
                        <a:cs typeface="Tahoma"/>
                      </a:endParaRPr>
                    </a:p>
                  </a:txBody>
                  <a:tcPr marL="0" marR="0" marT="0" marB="0">
                    <a:lnL w="10515">
                      <a:solidFill>
                        <a:srgbClr val="231F20"/>
                      </a:solidFill>
                      <a:prstDash val="solid"/>
                    </a:lnL>
                    <a:lnR w="10515">
                      <a:solidFill>
                        <a:srgbClr val="231F20"/>
                      </a:solidFill>
                      <a:prstDash val="solid"/>
                    </a:lnR>
                    <a:lnT w="10515">
                      <a:solidFill>
                        <a:srgbClr val="231F20"/>
                      </a:solidFill>
                      <a:prstDash val="solid"/>
                    </a:lnT>
                    <a:lnB w="10515">
                      <a:solidFill>
                        <a:srgbClr val="231F20"/>
                      </a:solidFill>
                      <a:prstDash val="solid"/>
                    </a:lnB>
                  </a:tcPr>
                </a:tc>
              </a:tr>
              <a:tr h="474749">
                <a:tc>
                  <a:txBody>
                    <a:bodyPr/>
                    <a:lstStyle/>
                    <a:p>
                      <a:pPr algn="ctr">
                        <a:lnSpc>
                          <a:spcPct val="100000"/>
                        </a:lnSpc>
                        <a:spcBef>
                          <a:spcPts val="405"/>
                        </a:spcBef>
                      </a:pPr>
                      <a:r>
                        <a:rPr sz="2050" dirty="0">
                          <a:solidFill>
                            <a:srgbClr val="231F20"/>
                          </a:solidFill>
                          <a:latin typeface="Tahoma"/>
                          <a:cs typeface="Tahoma"/>
                        </a:rPr>
                        <a:t>0</a:t>
                      </a:r>
                      <a:endParaRPr sz="2050">
                        <a:latin typeface="Tahoma"/>
                        <a:cs typeface="Tahoma"/>
                      </a:endParaRPr>
                    </a:p>
                  </a:txBody>
                  <a:tcPr marL="0" marR="0" marT="0" marB="0">
                    <a:lnL w="10515">
                      <a:solidFill>
                        <a:srgbClr val="231F20"/>
                      </a:solidFill>
                      <a:prstDash val="solid"/>
                    </a:lnL>
                    <a:lnR w="10515">
                      <a:solidFill>
                        <a:srgbClr val="231F20"/>
                      </a:solidFill>
                      <a:prstDash val="solid"/>
                    </a:lnR>
                    <a:lnT w="10515">
                      <a:solidFill>
                        <a:srgbClr val="231F20"/>
                      </a:solidFill>
                      <a:prstDash val="solid"/>
                    </a:lnT>
                  </a:tcPr>
                </a:tc>
                <a:tc>
                  <a:txBody>
                    <a:bodyPr/>
                    <a:lstStyle/>
                    <a:p>
                      <a:pPr algn="ctr">
                        <a:lnSpc>
                          <a:spcPct val="100000"/>
                        </a:lnSpc>
                        <a:spcBef>
                          <a:spcPts val="405"/>
                        </a:spcBef>
                      </a:pPr>
                      <a:r>
                        <a:rPr sz="2050" dirty="0">
                          <a:solidFill>
                            <a:srgbClr val="231F20"/>
                          </a:solidFill>
                          <a:latin typeface="Tahoma"/>
                          <a:cs typeface="Tahoma"/>
                        </a:rPr>
                        <a:t>0</a:t>
                      </a:r>
                      <a:endParaRPr sz="2050">
                        <a:latin typeface="Tahoma"/>
                        <a:cs typeface="Tahoma"/>
                      </a:endParaRPr>
                    </a:p>
                  </a:txBody>
                  <a:tcPr marL="0" marR="0" marT="0" marB="0">
                    <a:lnL w="10515">
                      <a:solidFill>
                        <a:srgbClr val="231F20"/>
                      </a:solidFill>
                      <a:prstDash val="solid"/>
                    </a:lnL>
                    <a:lnR w="10515">
                      <a:solidFill>
                        <a:srgbClr val="231F20"/>
                      </a:solidFill>
                      <a:prstDash val="solid"/>
                    </a:lnR>
                    <a:lnT w="10515">
                      <a:solidFill>
                        <a:srgbClr val="231F20"/>
                      </a:solidFill>
                      <a:prstDash val="solid"/>
                    </a:lnT>
                  </a:tcPr>
                </a:tc>
                <a:tc>
                  <a:txBody>
                    <a:bodyPr/>
                    <a:lstStyle/>
                    <a:p>
                      <a:pPr algn="ctr">
                        <a:lnSpc>
                          <a:spcPct val="100000"/>
                        </a:lnSpc>
                        <a:spcBef>
                          <a:spcPts val="405"/>
                        </a:spcBef>
                      </a:pPr>
                      <a:r>
                        <a:rPr sz="2050" dirty="0">
                          <a:solidFill>
                            <a:srgbClr val="231F20"/>
                          </a:solidFill>
                          <a:latin typeface="Lucida Sans Unicode"/>
                          <a:cs typeface="Lucida Sans Unicode"/>
                        </a:rPr>
                        <a:t>−</a:t>
                      </a:r>
                      <a:endParaRPr sz="2050">
                        <a:latin typeface="Lucida Sans Unicode"/>
                        <a:cs typeface="Lucida Sans Unicode"/>
                      </a:endParaRPr>
                    </a:p>
                  </a:txBody>
                  <a:tcPr marL="0" marR="0" marT="0" marB="0">
                    <a:lnL w="10515">
                      <a:solidFill>
                        <a:srgbClr val="231F20"/>
                      </a:solidFill>
                      <a:prstDash val="solid"/>
                    </a:lnL>
                    <a:lnR w="10515">
                      <a:solidFill>
                        <a:srgbClr val="231F20"/>
                      </a:solidFill>
                      <a:prstDash val="solid"/>
                    </a:lnR>
                    <a:lnT w="10515">
                      <a:solidFill>
                        <a:srgbClr val="231F20"/>
                      </a:solidFill>
                      <a:prstDash val="solid"/>
                    </a:lnT>
                  </a:tcPr>
                </a:tc>
                <a:tc>
                  <a:txBody>
                    <a:bodyPr/>
                    <a:lstStyle/>
                    <a:p>
                      <a:pPr algn="ctr">
                        <a:lnSpc>
                          <a:spcPct val="100000"/>
                        </a:lnSpc>
                        <a:spcBef>
                          <a:spcPts val="405"/>
                        </a:spcBef>
                      </a:pPr>
                      <a:r>
                        <a:rPr sz="2050" dirty="0">
                          <a:solidFill>
                            <a:srgbClr val="231F20"/>
                          </a:solidFill>
                          <a:latin typeface="Lucida Sans Unicode"/>
                          <a:cs typeface="Lucida Sans Unicode"/>
                        </a:rPr>
                        <a:t>−</a:t>
                      </a:r>
                      <a:endParaRPr sz="2050">
                        <a:latin typeface="Lucida Sans Unicode"/>
                        <a:cs typeface="Lucida Sans Unicode"/>
                      </a:endParaRPr>
                    </a:p>
                  </a:txBody>
                  <a:tcPr marL="0" marR="0" marT="0" marB="0">
                    <a:lnL w="10515">
                      <a:solidFill>
                        <a:srgbClr val="231F20"/>
                      </a:solidFill>
                      <a:prstDash val="solid"/>
                    </a:lnL>
                    <a:lnR w="10515">
                      <a:solidFill>
                        <a:srgbClr val="231F20"/>
                      </a:solidFill>
                      <a:prstDash val="solid"/>
                    </a:lnR>
                    <a:lnT w="10515">
                      <a:solidFill>
                        <a:srgbClr val="231F20"/>
                      </a:solidFill>
                      <a:prstDash val="solid"/>
                    </a:lnT>
                  </a:tcPr>
                </a:tc>
              </a:tr>
              <a:tr h="445884">
                <a:tc>
                  <a:txBody>
                    <a:bodyPr/>
                    <a:lstStyle/>
                    <a:p>
                      <a:pPr algn="ctr">
                        <a:lnSpc>
                          <a:spcPct val="100000"/>
                        </a:lnSpc>
                        <a:spcBef>
                          <a:spcPts val="220"/>
                        </a:spcBef>
                      </a:pPr>
                      <a:r>
                        <a:rPr sz="2050" dirty="0">
                          <a:solidFill>
                            <a:srgbClr val="231F20"/>
                          </a:solidFill>
                          <a:latin typeface="Tahoma"/>
                          <a:cs typeface="Tahoma"/>
                        </a:rPr>
                        <a:t>1</a:t>
                      </a:r>
                      <a:endParaRPr sz="2050">
                        <a:latin typeface="Tahoma"/>
                        <a:cs typeface="Tahoma"/>
                      </a:endParaRPr>
                    </a:p>
                  </a:txBody>
                  <a:tcPr marL="0" marR="0" marT="0" marB="0">
                    <a:lnL w="10515">
                      <a:solidFill>
                        <a:srgbClr val="231F20"/>
                      </a:solidFill>
                      <a:prstDash val="solid"/>
                    </a:lnL>
                    <a:lnR w="10515">
                      <a:solidFill>
                        <a:srgbClr val="231F20"/>
                      </a:solidFill>
                      <a:prstDash val="solid"/>
                    </a:lnR>
                  </a:tcPr>
                </a:tc>
                <a:tc>
                  <a:txBody>
                    <a:bodyPr/>
                    <a:lstStyle/>
                    <a:p>
                      <a:pPr algn="ctr">
                        <a:lnSpc>
                          <a:spcPct val="100000"/>
                        </a:lnSpc>
                        <a:spcBef>
                          <a:spcPts val="220"/>
                        </a:spcBef>
                      </a:pPr>
                      <a:r>
                        <a:rPr sz="2050" dirty="0">
                          <a:solidFill>
                            <a:srgbClr val="231F20"/>
                          </a:solidFill>
                          <a:latin typeface="Tahoma"/>
                          <a:cs typeface="Tahoma"/>
                        </a:rPr>
                        <a:t>1</a:t>
                      </a:r>
                      <a:endParaRPr sz="2050">
                        <a:latin typeface="Tahoma"/>
                        <a:cs typeface="Tahoma"/>
                      </a:endParaRPr>
                    </a:p>
                  </a:txBody>
                  <a:tcPr marL="0" marR="0" marT="0" marB="0">
                    <a:lnL w="10515">
                      <a:solidFill>
                        <a:srgbClr val="231F20"/>
                      </a:solidFill>
                      <a:prstDash val="solid"/>
                    </a:lnL>
                    <a:lnR w="10515">
                      <a:solidFill>
                        <a:srgbClr val="231F20"/>
                      </a:solidFill>
                      <a:prstDash val="solid"/>
                    </a:lnR>
                  </a:tcPr>
                </a:tc>
                <a:tc>
                  <a:txBody>
                    <a:bodyPr/>
                    <a:lstStyle/>
                    <a:p>
                      <a:pPr algn="ctr">
                        <a:lnSpc>
                          <a:spcPct val="100000"/>
                        </a:lnSpc>
                        <a:spcBef>
                          <a:spcPts val="220"/>
                        </a:spcBef>
                      </a:pPr>
                      <a:r>
                        <a:rPr sz="2050" dirty="0">
                          <a:solidFill>
                            <a:srgbClr val="231F20"/>
                          </a:solidFill>
                          <a:latin typeface="Tahoma"/>
                          <a:cs typeface="Tahoma"/>
                        </a:rPr>
                        <a:t>0</a:t>
                      </a:r>
                      <a:endParaRPr sz="2050">
                        <a:latin typeface="Tahoma"/>
                        <a:cs typeface="Tahoma"/>
                      </a:endParaRPr>
                    </a:p>
                  </a:txBody>
                  <a:tcPr marL="0" marR="0" marT="0" marB="0">
                    <a:lnL w="10515">
                      <a:solidFill>
                        <a:srgbClr val="231F20"/>
                      </a:solidFill>
                      <a:prstDash val="solid"/>
                    </a:lnL>
                    <a:lnR w="10515">
                      <a:solidFill>
                        <a:srgbClr val="231F20"/>
                      </a:solidFill>
                      <a:prstDash val="solid"/>
                    </a:lnR>
                  </a:tcPr>
                </a:tc>
                <a:tc>
                  <a:txBody>
                    <a:bodyPr/>
                    <a:lstStyle/>
                    <a:p>
                      <a:pPr algn="ctr">
                        <a:lnSpc>
                          <a:spcPct val="100000"/>
                        </a:lnSpc>
                        <a:spcBef>
                          <a:spcPts val="220"/>
                        </a:spcBef>
                      </a:pPr>
                      <a:r>
                        <a:rPr sz="2050" dirty="0">
                          <a:solidFill>
                            <a:srgbClr val="231F20"/>
                          </a:solidFill>
                          <a:latin typeface="Lucida Sans Unicode"/>
                          <a:cs typeface="Lucida Sans Unicode"/>
                        </a:rPr>
                        <a:t>−</a:t>
                      </a:r>
                      <a:endParaRPr sz="2050">
                        <a:latin typeface="Lucida Sans Unicode"/>
                        <a:cs typeface="Lucida Sans Unicode"/>
                      </a:endParaRPr>
                    </a:p>
                  </a:txBody>
                  <a:tcPr marL="0" marR="0" marT="0" marB="0">
                    <a:lnL w="10515">
                      <a:solidFill>
                        <a:srgbClr val="231F20"/>
                      </a:solidFill>
                      <a:prstDash val="solid"/>
                    </a:lnL>
                    <a:lnR w="10515">
                      <a:solidFill>
                        <a:srgbClr val="231F20"/>
                      </a:solidFill>
                      <a:prstDash val="solid"/>
                    </a:lnR>
                  </a:tcPr>
                </a:tc>
              </a:tr>
              <a:tr h="427534">
                <a:tc>
                  <a:txBody>
                    <a:bodyPr/>
                    <a:lstStyle/>
                    <a:p>
                      <a:pPr algn="ctr">
                        <a:lnSpc>
                          <a:spcPct val="100000"/>
                        </a:lnSpc>
                        <a:spcBef>
                          <a:spcPts val="220"/>
                        </a:spcBef>
                      </a:pPr>
                      <a:r>
                        <a:rPr sz="2050" spc="-10" dirty="0">
                          <a:solidFill>
                            <a:srgbClr val="0000FF"/>
                          </a:solidFill>
                          <a:latin typeface="Tahoma"/>
                          <a:cs typeface="Tahoma"/>
                        </a:rPr>
                        <a:t>many</a:t>
                      </a:r>
                      <a:endParaRPr sz="2050">
                        <a:latin typeface="Tahoma"/>
                        <a:cs typeface="Tahoma"/>
                      </a:endParaRPr>
                    </a:p>
                  </a:txBody>
                  <a:tcPr marL="0" marR="0" marT="0" marB="0">
                    <a:lnL w="10515">
                      <a:solidFill>
                        <a:srgbClr val="231F20"/>
                      </a:solidFill>
                      <a:prstDash val="solid"/>
                    </a:lnL>
                    <a:lnR w="10515">
                      <a:solidFill>
                        <a:srgbClr val="231F20"/>
                      </a:solidFill>
                      <a:prstDash val="solid"/>
                    </a:lnR>
                    <a:lnB w="10515">
                      <a:solidFill>
                        <a:srgbClr val="231F20"/>
                      </a:solidFill>
                      <a:prstDash val="solid"/>
                    </a:lnB>
                  </a:tcPr>
                </a:tc>
                <a:tc>
                  <a:txBody>
                    <a:bodyPr/>
                    <a:lstStyle/>
                    <a:p>
                      <a:pPr algn="ctr">
                        <a:lnSpc>
                          <a:spcPct val="100000"/>
                        </a:lnSpc>
                        <a:spcBef>
                          <a:spcPts val="220"/>
                        </a:spcBef>
                      </a:pPr>
                      <a:r>
                        <a:rPr sz="2050" spc="-10" dirty="0">
                          <a:solidFill>
                            <a:srgbClr val="231F20"/>
                          </a:solidFill>
                          <a:latin typeface="Tahoma"/>
                          <a:cs typeface="Tahoma"/>
                        </a:rPr>
                        <a:t>many</a:t>
                      </a:r>
                      <a:endParaRPr sz="2050">
                        <a:latin typeface="Tahoma"/>
                        <a:cs typeface="Tahoma"/>
                      </a:endParaRPr>
                    </a:p>
                  </a:txBody>
                  <a:tcPr marL="0" marR="0" marT="0" marB="0">
                    <a:lnL w="10515">
                      <a:solidFill>
                        <a:srgbClr val="231F20"/>
                      </a:solidFill>
                      <a:prstDash val="solid"/>
                    </a:lnL>
                    <a:lnR w="10515">
                      <a:solidFill>
                        <a:srgbClr val="231F20"/>
                      </a:solidFill>
                      <a:prstDash val="solid"/>
                    </a:lnR>
                    <a:lnB w="10515">
                      <a:solidFill>
                        <a:srgbClr val="231F20"/>
                      </a:solidFill>
                      <a:prstDash val="solid"/>
                    </a:lnB>
                  </a:tcPr>
                </a:tc>
                <a:tc>
                  <a:txBody>
                    <a:bodyPr/>
                    <a:lstStyle/>
                    <a:p>
                      <a:pPr algn="ctr">
                        <a:lnSpc>
                          <a:spcPct val="100000"/>
                        </a:lnSpc>
                        <a:spcBef>
                          <a:spcPts val="220"/>
                        </a:spcBef>
                      </a:pPr>
                      <a:r>
                        <a:rPr sz="2050" spc="45" dirty="0">
                          <a:solidFill>
                            <a:srgbClr val="FF0000"/>
                          </a:solidFill>
                          <a:latin typeface="Lucida Sans Unicode"/>
                          <a:cs typeface="Lucida Sans Unicode"/>
                        </a:rPr>
                        <a:t>{</a:t>
                      </a:r>
                      <a:r>
                        <a:rPr sz="2050" spc="45" dirty="0">
                          <a:solidFill>
                            <a:srgbClr val="FF0000"/>
                          </a:solidFill>
                          <a:latin typeface="Tahoma"/>
                          <a:cs typeface="Tahoma"/>
                        </a:rPr>
                        <a:t>1</a:t>
                      </a:r>
                      <a:r>
                        <a:rPr sz="2050" i="1" spc="45" dirty="0">
                          <a:solidFill>
                            <a:srgbClr val="FF0000"/>
                          </a:solidFill>
                          <a:latin typeface="Meiryo"/>
                          <a:cs typeface="Meiryo"/>
                        </a:rPr>
                        <a:t>,</a:t>
                      </a:r>
                      <a:r>
                        <a:rPr sz="2050" i="1" spc="-445" dirty="0">
                          <a:solidFill>
                            <a:srgbClr val="FF0000"/>
                          </a:solidFill>
                          <a:latin typeface="Meiryo"/>
                          <a:cs typeface="Meiryo"/>
                        </a:rPr>
                        <a:t> </a:t>
                      </a:r>
                      <a:r>
                        <a:rPr sz="2050" spc="70" dirty="0">
                          <a:solidFill>
                            <a:srgbClr val="FF0000"/>
                          </a:solidFill>
                          <a:latin typeface="Tahoma"/>
                          <a:cs typeface="Tahoma"/>
                        </a:rPr>
                        <a:t>many</a:t>
                      </a:r>
                      <a:r>
                        <a:rPr sz="2050" spc="70" dirty="0">
                          <a:solidFill>
                            <a:srgbClr val="FF0000"/>
                          </a:solidFill>
                          <a:latin typeface="Lucida Sans Unicode"/>
                          <a:cs typeface="Lucida Sans Unicode"/>
                        </a:rPr>
                        <a:t>}</a:t>
                      </a:r>
                      <a:endParaRPr sz="2050">
                        <a:latin typeface="Lucida Sans Unicode"/>
                        <a:cs typeface="Lucida Sans Unicode"/>
                      </a:endParaRPr>
                    </a:p>
                  </a:txBody>
                  <a:tcPr marL="0" marR="0" marT="0" marB="0">
                    <a:lnL w="10515">
                      <a:solidFill>
                        <a:srgbClr val="231F20"/>
                      </a:solidFill>
                      <a:prstDash val="solid"/>
                    </a:lnL>
                    <a:lnR w="10515">
                      <a:solidFill>
                        <a:srgbClr val="231F20"/>
                      </a:solidFill>
                      <a:prstDash val="solid"/>
                    </a:lnR>
                    <a:lnB w="10515">
                      <a:solidFill>
                        <a:srgbClr val="231F20"/>
                      </a:solidFill>
                      <a:prstDash val="solid"/>
                    </a:lnB>
                  </a:tcPr>
                </a:tc>
                <a:tc>
                  <a:txBody>
                    <a:bodyPr/>
                    <a:lstStyle/>
                    <a:p>
                      <a:pPr algn="ctr">
                        <a:lnSpc>
                          <a:spcPct val="100000"/>
                        </a:lnSpc>
                        <a:spcBef>
                          <a:spcPts val="220"/>
                        </a:spcBef>
                      </a:pPr>
                      <a:r>
                        <a:rPr sz="2050" spc="45" dirty="0">
                          <a:solidFill>
                            <a:srgbClr val="231F20"/>
                          </a:solidFill>
                          <a:latin typeface="Lucida Sans Unicode"/>
                          <a:cs typeface="Lucida Sans Unicode"/>
                        </a:rPr>
                        <a:t>{</a:t>
                      </a:r>
                      <a:r>
                        <a:rPr sz="2050" spc="45" dirty="0">
                          <a:solidFill>
                            <a:srgbClr val="231F20"/>
                          </a:solidFill>
                          <a:latin typeface="Tahoma"/>
                          <a:cs typeface="Tahoma"/>
                        </a:rPr>
                        <a:t>0</a:t>
                      </a:r>
                      <a:r>
                        <a:rPr sz="2050" i="1" spc="45" dirty="0">
                          <a:solidFill>
                            <a:srgbClr val="231F20"/>
                          </a:solidFill>
                          <a:latin typeface="Meiryo"/>
                          <a:cs typeface="Meiryo"/>
                        </a:rPr>
                        <a:t>,</a:t>
                      </a:r>
                      <a:r>
                        <a:rPr sz="2050" i="1" spc="-400" dirty="0">
                          <a:solidFill>
                            <a:srgbClr val="231F20"/>
                          </a:solidFill>
                          <a:latin typeface="Meiryo"/>
                          <a:cs typeface="Meiryo"/>
                        </a:rPr>
                        <a:t> </a:t>
                      </a:r>
                      <a:r>
                        <a:rPr sz="2050" spc="-114" dirty="0">
                          <a:solidFill>
                            <a:srgbClr val="231F20"/>
                          </a:solidFill>
                          <a:latin typeface="Tahoma"/>
                          <a:cs typeface="Tahoma"/>
                        </a:rPr>
                        <a:t>1</a:t>
                      </a:r>
                      <a:r>
                        <a:rPr sz="2050" i="1" spc="-114" dirty="0">
                          <a:solidFill>
                            <a:srgbClr val="231F20"/>
                          </a:solidFill>
                          <a:latin typeface="Meiryo"/>
                          <a:cs typeface="Meiryo"/>
                        </a:rPr>
                        <a:t>,</a:t>
                      </a:r>
                      <a:r>
                        <a:rPr sz="2050" i="1" spc="-400" dirty="0">
                          <a:solidFill>
                            <a:srgbClr val="231F20"/>
                          </a:solidFill>
                          <a:latin typeface="Meiryo"/>
                          <a:cs typeface="Meiryo"/>
                        </a:rPr>
                        <a:t> </a:t>
                      </a:r>
                      <a:r>
                        <a:rPr sz="2050" spc="70" dirty="0">
                          <a:solidFill>
                            <a:srgbClr val="231F20"/>
                          </a:solidFill>
                          <a:latin typeface="Tahoma"/>
                          <a:cs typeface="Tahoma"/>
                        </a:rPr>
                        <a:t>many</a:t>
                      </a:r>
                      <a:r>
                        <a:rPr sz="2050" spc="70" dirty="0">
                          <a:solidFill>
                            <a:srgbClr val="231F20"/>
                          </a:solidFill>
                          <a:latin typeface="Lucida Sans Unicode"/>
                          <a:cs typeface="Lucida Sans Unicode"/>
                        </a:rPr>
                        <a:t>}</a:t>
                      </a:r>
                      <a:endParaRPr sz="2050">
                        <a:latin typeface="Lucida Sans Unicode"/>
                        <a:cs typeface="Lucida Sans Unicode"/>
                      </a:endParaRPr>
                    </a:p>
                  </a:txBody>
                  <a:tcPr marL="0" marR="0" marT="0" marB="0">
                    <a:lnL w="10515">
                      <a:solidFill>
                        <a:srgbClr val="231F20"/>
                      </a:solidFill>
                      <a:prstDash val="solid"/>
                    </a:lnL>
                    <a:lnR w="10515">
                      <a:solidFill>
                        <a:srgbClr val="231F20"/>
                      </a:solidFill>
                      <a:prstDash val="solid"/>
                    </a:lnR>
                    <a:lnB w="10515">
                      <a:solidFill>
                        <a:srgbClr val="231F20"/>
                      </a:solidFill>
                      <a:prstDash val="solid"/>
                    </a:lnB>
                  </a:tcPr>
                </a:tc>
              </a:tr>
            </a:tbl>
          </a:graphicData>
        </a:graphic>
      </p:graphicFrame>
      <p:sp>
        <p:nvSpPr>
          <p:cNvPr id="5" name="object 5"/>
          <p:cNvSpPr txBox="1"/>
          <p:nvPr/>
        </p:nvSpPr>
        <p:spPr>
          <a:xfrm>
            <a:off x="2278557" y="5224678"/>
            <a:ext cx="2110740" cy="339090"/>
          </a:xfrm>
          <a:prstGeom prst="rect">
            <a:avLst/>
          </a:prstGeom>
        </p:spPr>
        <p:txBody>
          <a:bodyPr vert="horz" wrap="square" lIns="0" tIns="0" rIns="0" bIns="0" rtlCol="0">
            <a:spAutoFit/>
          </a:bodyPr>
          <a:lstStyle/>
          <a:p>
            <a:pPr marL="12700">
              <a:lnSpc>
                <a:spcPct val="100000"/>
              </a:lnSpc>
            </a:pPr>
            <a:r>
              <a:rPr sz="2050" spc="-90" dirty="0">
                <a:solidFill>
                  <a:srgbClr val="231F20"/>
                </a:solidFill>
                <a:latin typeface="Tahoma"/>
                <a:cs typeface="Tahoma"/>
              </a:rPr>
              <a:t>0 </a:t>
            </a:r>
            <a:r>
              <a:rPr sz="2050" spc="-645" dirty="0">
                <a:solidFill>
                  <a:srgbClr val="231F20"/>
                </a:solidFill>
                <a:latin typeface="Lucida Sans Unicode"/>
                <a:cs typeface="Lucida Sans Unicode"/>
              </a:rPr>
              <a:t>∈</a:t>
            </a:r>
            <a:r>
              <a:rPr sz="2050" i="1" spc="-645" dirty="0">
                <a:solidFill>
                  <a:srgbClr val="231F20"/>
                </a:solidFill>
                <a:latin typeface="Meiryo"/>
                <a:cs typeface="Meiryo"/>
              </a:rPr>
              <a:t>/             </a:t>
            </a:r>
            <a:r>
              <a:rPr sz="2050" spc="-5" dirty="0">
                <a:solidFill>
                  <a:srgbClr val="231F20"/>
                </a:solidFill>
                <a:latin typeface="Tahoma"/>
                <a:cs typeface="Tahoma"/>
              </a:rPr>
              <a:t>(many </a:t>
            </a:r>
            <a:r>
              <a:rPr sz="2050" spc="-25" dirty="0">
                <a:solidFill>
                  <a:srgbClr val="231F20"/>
                </a:solidFill>
                <a:latin typeface="Lucida Sans Unicode"/>
                <a:cs typeface="Lucida Sans Unicode"/>
              </a:rPr>
              <a:t>− </a:t>
            </a:r>
            <a:r>
              <a:rPr sz="2050" spc="-35" dirty="0">
                <a:solidFill>
                  <a:srgbClr val="231F20"/>
                </a:solidFill>
                <a:latin typeface="Tahoma"/>
                <a:cs typeface="Tahoma"/>
              </a:rPr>
              <a:t>1)</a:t>
            </a:r>
            <a:r>
              <a:rPr sz="2050" spc="-170" dirty="0">
                <a:solidFill>
                  <a:srgbClr val="231F20"/>
                </a:solidFill>
                <a:latin typeface="Tahoma"/>
                <a:cs typeface="Tahoma"/>
              </a:rPr>
              <a:t> </a:t>
            </a:r>
            <a:r>
              <a:rPr sz="2050" i="1" spc="-20" dirty="0">
                <a:solidFill>
                  <a:srgbClr val="231F20"/>
                </a:solidFill>
                <a:latin typeface="Georgia"/>
                <a:cs typeface="Georgia"/>
              </a:rPr>
              <a:t>iff</a:t>
            </a:r>
            <a:endParaRPr sz="2050">
              <a:latin typeface="Georgia"/>
              <a:cs typeface="Georgia"/>
            </a:endParaRPr>
          </a:p>
        </p:txBody>
      </p:sp>
      <p:sp>
        <p:nvSpPr>
          <p:cNvPr id="6" name="object 6"/>
          <p:cNvSpPr txBox="1"/>
          <p:nvPr/>
        </p:nvSpPr>
        <p:spPr>
          <a:xfrm>
            <a:off x="4523981" y="5224678"/>
            <a:ext cx="3256279" cy="339090"/>
          </a:xfrm>
          <a:prstGeom prst="rect">
            <a:avLst/>
          </a:prstGeom>
        </p:spPr>
        <p:txBody>
          <a:bodyPr vert="horz" wrap="square" lIns="0" tIns="0" rIns="0" bIns="0" rtlCol="0">
            <a:spAutoFit/>
          </a:bodyPr>
          <a:lstStyle/>
          <a:p>
            <a:pPr marL="12700">
              <a:lnSpc>
                <a:spcPct val="100000"/>
              </a:lnSpc>
            </a:pPr>
            <a:r>
              <a:rPr sz="2050" spc="-315" dirty="0">
                <a:solidFill>
                  <a:srgbClr val="231F20"/>
                </a:solidFill>
                <a:latin typeface="Lucida Sans Unicode"/>
                <a:cs typeface="Lucida Sans Unicode"/>
              </a:rPr>
              <a:t>∀</a:t>
            </a:r>
            <a:r>
              <a:rPr sz="2050" i="1" spc="-315" dirty="0">
                <a:solidFill>
                  <a:srgbClr val="231F20"/>
                </a:solidFill>
                <a:latin typeface="Meiryo"/>
                <a:cs typeface="Meiryo"/>
              </a:rPr>
              <a:t>x</a:t>
            </a:r>
            <a:r>
              <a:rPr sz="2050" i="1" spc="-130" dirty="0">
                <a:solidFill>
                  <a:srgbClr val="231F20"/>
                </a:solidFill>
                <a:latin typeface="Meiryo"/>
                <a:cs typeface="Meiryo"/>
              </a:rPr>
              <a:t> </a:t>
            </a:r>
            <a:r>
              <a:rPr sz="2050" spc="-254" dirty="0">
                <a:solidFill>
                  <a:srgbClr val="231F20"/>
                </a:solidFill>
                <a:latin typeface="Lucida Sans Unicode"/>
                <a:cs typeface="Lucida Sans Unicode"/>
              </a:rPr>
              <a:t>∈</a:t>
            </a:r>
            <a:r>
              <a:rPr sz="2050" spc="-80" dirty="0">
                <a:solidFill>
                  <a:srgbClr val="231F20"/>
                </a:solidFill>
                <a:latin typeface="Lucida Sans Unicode"/>
                <a:cs typeface="Lucida Sans Unicode"/>
              </a:rPr>
              <a:t> </a:t>
            </a:r>
            <a:r>
              <a:rPr sz="2050" spc="40" dirty="0">
                <a:solidFill>
                  <a:srgbClr val="231F20"/>
                </a:solidFill>
                <a:latin typeface="Lucida Sans Unicode"/>
                <a:cs typeface="Lucida Sans Unicode"/>
              </a:rPr>
              <a:t>{</a:t>
            </a:r>
            <a:r>
              <a:rPr sz="2050" spc="40" dirty="0">
                <a:solidFill>
                  <a:srgbClr val="231F20"/>
                </a:solidFill>
                <a:latin typeface="Tahoma"/>
                <a:cs typeface="Tahoma"/>
              </a:rPr>
              <a:t>2</a:t>
            </a:r>
            <a:r>
              <a:rPr sz="2050" i="1" spc="40" dirty="0">
                <a:solidFill>
                  <a:srgbClr val="231F20"/>
                </a:solidFill>
                <a:latin typeface="Meiryo"/>
                <a:cs typeface="Meiryo"/>
              </a:rPr>
              <a:t>,</a:t>
            </a:r>
            <a:r>
              <a:rPr sz="2050" i="1" spc="-360" dirty="0">
                <a:solidFill>
                  <a:srgbClr val="231F20"/>
                </a:solidFill>
                <a:latin typeface="Meiryo"/>
                <a:cs typeface="Meiryo"/>
              </a:rPr>
              <a:t> </a:t>
            </a:r>
            <a:r>
              <a:rPr sz="2050" spc="-114" dirty="0">
                <a:solidFill>
                  <a:srgbClr val="231F20"/>
                </a:solidFill>
                <a:latin typeface="Tahoma"/>
                <a:cs typeface="Tahoma"/>
              </a:rPr>
              <a:t>3</a:t>
            </a:r>
            <a:r>
              <a:rPr sz="2050" i="1" spc="-114" dirty="0">
                <a:solidFill>
                  <a:srgbClr val="231F20"/>
                </a:solidFill>
                <a:latin typeface="Meiryo"/>
                <a:cs typeface="Meiryo"/>
              </a:rPr>
              <a:t>,</a:t>
            </a:r>
            <a:r>
              <a:rPr sz="2050" i="1" spc="-360" dirty="0">
                <a:solidFill>
                  <a:srgbClr val="231F20"/>
                </a:solidFill>
                <a:latin typeface="Meiryo"/>
                <a:cs typeface="Meiryo"/>
              </a:rPr>
              <a:t> </a:t>
            </a:r>
            <a:r>
              <a:rPr sz="2050" spc="-114" dirty="0">
                <a:solidFill>
                  <a:srgbClr val="231F20"/>
                </a:solidFill>
                <a:latin typeface="Tahoma"/>
                <a:cs typeface="Tahoma"/>
              </a:rPr>
              <a:t>4</a:t>
            </a:r>
            <a:r>
              <a:rPr sz="2050" i="1" spc="-114"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45" dirty="0">
                <a:solidFill>
                  <a:srgbClr val="231F20"/>
                </a:solidFill>
                <a:latin typeface="Meiryo"/>
                <a:cs typeface="Meiryo"/>
              </a:rPr>
              <a:t>.</a:t>
            </a:r>
            <a:r>
              <a:rPr sz="2050" i="1" spc="-360" dirty="0">
                <a:solidFill>
                  <a:srgbClr val="231F20"/>
                </a:solidFill>
                <a:latin typeface="Meiryo"/>
                <a:cs typeface="Meiryo"/>
              </a:rPr>
              <a:t> </a:t>
            </a:r>
            <a:r>
              <a:rPr sz="2050" i="1" spc="105" dirty="0">
                <a:solidFill>
                  <a:srgbClr val="231F20"/>
                </a:solidFill>
                <a:latin typeface="Meiryo"/>
                <a:cs typeface="Meiryo"/>
              </a:rPr>
              <a:t>.</a:t>
            </a:r>
            <a:r>
              <a:rPr sz="2050" spc="105" dirty="0">
                <a:solidFill>
                  <a:srgbClr val="231F20"/>
                </a:solidFill>
                <a:latin typeface="Lucida Sans Unicode"/>
                <a:cs typeface="Lucida Sans Unicode"/>
              </a:rPr>
              <a:t>}</a:t>
            </a:r>
            <a:r>
              <a:rPr sz="2050" spc="-80" dirty="0">
                <a:solidFill>
                  <a:srgbClr val="231F20"/>
                </a:solidFill>
                <a:latin typeface="Lucida Sans Unicode"/>
                <a:cs typeface="Lucida Sans Unicode"/>
              </a:rPr>
              <a:t> </a:t>
            </a:r>
            <a:r>
              <a:rPr sz="2050" spc="-155" dirty="0">
                <a:solidFill>
                  <a:srgbClr val="231F20"/>
                </a:solidFill>
                <a:latin typeface="Tahoma"/>
                <a:cs typeface="Tahoma"/>
              </a:rPr>
              <a:t>:</a:t>
            </a:r>
            <a:r>
              <a:rPr sz="2050" spc="-75" dirty="0">
                <a:solidFill>
                  <a:srgbClr val="231F20"/>
                </a:solidFill>
                <a:latin typeface="Tahoma"/>
                <a:cs typeface="Tahoma"/>
              </a:rPr>
              <a:t> </a:t>
            </a:r>
            <a:r>
              <a:rPr sz="2050" i="1" spc="50" dirty="0">
                <a:solidFill>
                  <a:srgbClr val="231F20"/>
                </a:solidFill>
                <a:latin typeface="Meiryo"/>
                <a:cs typeface="Meiryo"/>
              </a:rPr>
              <a:t>x</a:t>
            </a:r>
            <a:r>
              <a:rPr sz="2050" i="1" spc="-245" dirty="0">
                <a:solidFill>
                  <a:srgbClr val="231F20"/>
                </a:solidFill>
                <a:latin typeface="Meiryo"/>
                <a:cs typeface="Meiryo"/>
              </a:rPr>
              <a:t> </a:t>
            </a:r>
            <a:r>
              <a:rPr sz="2050" spc="-25" dirty="0">
                <a:solidFill>
                  <a:srgbClr val="231F20"/>
                </a:solidFill>
                <a:latin typeface="Lucida Sans Unicode"/>
                <a:cs typeface="Lucida Sans Unicode"/>
              </a:rPr>
              <a:t>−</a:t>
            </a:r>
            <a:r>
              <a:rPr sz="2050" spc="-195" dirty="0">
                <a:solidFill>
                  <a:srgbClr val="231F20"/>
                </a:solidFill>
                <a:latin typeface="Lucida Sans Unicode"/>
                <a:cs typeface="Lucida Sans Unicode"/>
              </a:rPr>
              <a:t> </a:t>
            </a:r>
            <a:r>
              <a:rPr sz="2050" spc="-90" dirty="0">
                <a:solidFill>
                  <a:srgbClr val="231F20"/>
                </a:solidFill>
                <a:latin typeface="Tahoma"/>
                <a:cs typeface="Tahoma"/>
              </a:rPr>
              <a:t>1</a:t>
            </a:r>
            <a:r>
              <a:rPr sz="2050" spc="-75" dirty="0">
                <a:solidFill>
                  <a:srgbClr val="231F20"/>
                </a:solidFill>
                <a:latin typeface="Tahoma"/>
                <a:cs typeface="Tahoma"/>
              </a:rPr>
              <a:t> </a:t>
            </a:r>
            <a:r>
              <a:rPr sz="2050" spc="-340" dirty="0">
                <a:solidFill>
                  <a:srgbClr val="231F20"/>
                </a:solidFill>
                <a:latin typeface="Lucida Sans Unicode"/>
                <a:cs typeface="Lucida Sans Unicode"/>
              </a:rPr>
              <a:t>ƒ</a:t>
            </a:r>
            <a:r>
              <a:rPr sz="2050" spc="-340" dirty="0">
                <a:solidFill>
                  <a:srgbClr val="231F20"/>
                </a:solidFill>
                <a:latin typeface="Tahoma"/>
                <a:cs typeface="Tahoma"/>
              </a:rPr>
              <a:t>=</a:t>
            </a:r>
            <a:r>
              <a:rPr sz="2050" spc="-75" dirty="0">
                <a:solidFill>
                  <a:srgbClr val="231F20"/>
                </a:solidFill>
                <a:latin typeface="Tahoma"/>
                <a:cs typeface="Tahoma"/>
              </a:rPr>
              <a:t> </a:t>
            </a:r>
            <a:r>
              <a:rPr sz="2050" spc="-90" dirty="0">
                <a:solidFill>
                  <a:srgbClr val="231F20"/>
                </a:solidFill>
                <a:latin typeface="Tahoma"/>
                <a:cs typeface="Tahoma"/>
              </a:rPr>
              <a:t>0</a:t>
            </a:r>
            <a:endParaRPr sz="2050">
              <a:latin typeface="Tahoma"/>
              <a:cs typeface="Tahoma"/>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15630" y="493469"/>
            <a:ext cx="6629400" cy="314960"/>
          </a:xfrm>
          <a:prstGeom prst="rect">
            <a:avLst/>
          </a:prstGeom>
        </p:spPr>
        <p:txBody>
          <a:bodyPr vert="horz" wrap="square" lIns="0" tIns="0" rIns="0" bIns="0" rtlCol="0">
            <a:spAutoFit/>
          </a:bodyPr>
          <a:lstStyle/>
          <a:p>
            <a:pPr marL="12700">
              <a:lnSpc>
                <a:spcPct val="100000"/>
              </a:lnSpc>
            </a:pPr>
            <a:r>
              <a:rPr sz="1950" spc="340" dirty="0">
                <a:solidFill>
                  <a:srgbClr val="231F20"/>
                </a:solidFill>
                <a:latin typeface="Arial"/>
                <a:cs typeface="Arial"/>
              </a:rPr>
              <a:t>Data </a:t>
            </a:r>
            <a:r>
              <a:rPr sz="1950" spc="275" dirty="0">
                <a:solidFill>
                  <a:srgbClr val="231F20"/>
                </a:solidFill>
                <a:latin typeface="Arial"/>
                <a:cs typeface="Arial"/>
              </a:rPr>
              <a:t>Abstraction </a:t>
            </a:r>
            <a:r>
              <a:rPr sz="1950" spc="245" dirty="0">
                <a:solidFill>
                  <a:srgbClr val="231F20"/>
                </a:solidFill>
                <a:latin typeface="Arial"/>
                <a:cs typeface="Arial"/>
              </a:rPr>
              <a:t>for </a:t>
            </a:r>
            <a:r>
              <a:rPr sz="1950" spc="305" dirty="0">
                <a:solidFill>
                  <a:srgbClr val="231F20"/>
                </a:solidFill>
                <a:latin typeface="Arial"/>
                <a:cs typeface="Arial"/>
              </a:rPr>
              <a:t>Matlab </a:t>
            </a:r>
            <a:r>
              <a:rPr sz="1950" spc="265" dirty="0">
                <a:solidFill>
                  <a:srgbClr val="231F20"/>
                </a:solidFill>
                <a:latin typeface="Arial"/>
                <a:cs typeface="Arial"/>
              </a:rPr>
              <a:t>(Hybrid</a:t>
            </a:r>
            <a:r>
              <a:rPr sz="1950" spc="665" dirty="0">
                <a:solidFill>
                  <a:srgbClr val="231F20"/>
                </a:solidFill>
                <a:latin typeface="Arial"/>
                <a:cs typeface="Arial"/>
              </a:rPr>
              <a:t> </a:t>
            </a:r>
            <a:r>
              <a:rPr sz="1950" spc="254" dirty="0">
                <a:solidFill>
                  <a:srgbClr val="231F20"/>
                </a:solidFill>
                <a:latin typeface="Arial"/>
                <a:cs typeface="Arial"/>
              </a:rPr>
              <a:t>Systems)</a:t>
            </a:r>
            <a:endParaRPr sz="1950">
              <a:latin typeface="Arial"/>
              <a:cs typeface="Arial"/>
            </a:endParaRPr>
          </a:p>
        </p:txBody>
      </p:sp>
      <p:sp>
        <p:nvSpPr>
          <p:cNvPr id="3" name="object 3"/>
          <p:cNvSpPr/>
          <p:nvPr/>
        </p:nvSpPr>
        <p:spPr>
          <a:xfrm>
            <a:off x="2186882" y="1274387"/>
            <a:ext cx="5687276" cy="4088244"/>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4906048" y="4053367"/>
            <a:ext cx="1068705" cy="1069340"/>
          </a:xfrm>
          <a:prstGeom prst="rect">
            <a:avLst/>
          </a:prstGeom>
        </p:spPr>
        <p:txBody>
          <a:bodyPr vert="horz" wrap="square" lIns="0" tIns="0" rIns="0" bIns="0" rtlCol="0">
            <a:spAutoFit/>
          </a:bodyPr>
          <a:lstStyle/>
          <a:p>
            <a:pPr marL="193675" marR="5080" indent="-181610">
              <a:lnSpc>
                <a:spcPct val="161400"/>
              </a:lnSpc>
            </a:pPr>
            <a:r>
              <a:rPr sz="2150" spc="-5" dirty="0">
                <a:latin typeface="Times New Roman"/>
                <a:cs typeface="Times New Roman"/>
              </a:rPr>
              <a:t>Stateflow  model</a:t>
            </a:r>
            <a:endParaRPr sz="2150">
              <a:latin typeface="Times New Roman"/>
              <a:cs typeface="Times New Roman"/>
            </a:endParaRPr>
          </a:p>
        </p:txBody>
      </p:sp>
      <p:sp>
        <p:nvSpPr>
          <p:cNvPr id="5" name="object 5"/>
          <p:cNvSpPr txBox="1">
            <a:spLocks noGrp="1"/>
          </p:cNvSpPr>
          <p:nvPr>
            <p:ph type="title"/>
          </p:nvPr>
        </p:nvSpPr>
        <p:spPr>
          <a:prstGeom prst="rect">
            <a:avLst/>
          </a:prstGeom>
        </p:spPr>
        <p:txBody>
          <a:bodyPr vert="horz" wrap="square" lIns="0" tIns="688182" rIns="0" bIns="0" rtlCol="0">
            <a:spAutoFit/>
          </a:bodyPr>
          <a:lstStyle/>
          <a:p>
            <a:pPr marL="3519170">
              <a:lnSpc>
                <a:spcPct val="100000"/>
              </a:lnSpc>
            </a:pPr>
            <a:r>
              <a:rPr sz="2150" spc="-5" dirty="0">
                <a:solidFill>
                  <a:srgbClr val="000000"/>
                </a:solidFill>
                <a:latin typeface="Times New Roman"/>
                <a:cs typeface="Times New Roman"/>
              </a:rPr>
              <a:t>Simulink</a:t>
            </a:r>
            <a:r>
              <a:rPr sz="2150" spc="-90" dirty="0">
                <a:solidFill>
                  <a:srgbClr val="000000"/>
                </a:solidFill>
                <a:latin typeface="Times New Roman"/>
                <a:cs typeface="Times New Roman"/>
              </a:rPr>
              <a:t> </a:t>
            </a:r>
            <a:r>
              <a:rPr sz="2150" spc="-5" dirty="0">
                <a:solidFill>
                  <a:srgbClr val="000000"/>
                </a:solidFill>
                <a:latin typeface="Times New Roman"/>
                <a:cs typeface="Times New Roman"/>
              </a:rPr>
              <a:t>model</a:t>
            </a:r>
            <a:endParaRPr sz="2150">
              <a:latin typeface="Times New Roman"/>
              <a:cs typeface="Times New Roman"/>
            </a:endParaRPr>
          </a:p>
        </p:txBody>
      </p:sp>
      <p:sp>
        <p:nvSpPr>
          <p:cNvPr id="6" name="object 6"/>
          <p:cNvSpPr txBox="1"/>
          <p:nvPr/>
        </p:nvSpPr>
        <p:spPr>
          <a:xfrm>
            <a:off x="901700" y="6009132"/>
            <a:ext cx="6119495" cy="314325"/>
          </a:xfrm>
          <a:prstGeom prst="rect">
            <a:avLst/>
          </a:prstGeom>
        </p:spPr>
        <p:txBody>
          <a:bodyPr vert="horz" wrap="square" lIns="0" tIns="0" rIns="0" bIns="0" rtlCol="0">
            <a:spAutoFit/>
          </a:bodyPr>
          <a:lstStyle/>
          <a:p>
            <a:pPr marL="12700">
              <a:lnSpc>
                <a:spcPct val="100000"/>
              </a:lnSpc>
            </a:pPr>
            <a:r>
              <a:rPr sz="1950" spc="160" dirty="0">
                <a:solidFill>
                  <a:srgbClr val="231F20"/>
                </a:solidFill>
                <a:latin typeface="Arial"/>
                <a:cs typeface="Arial"/>
              </a:rPr>
              <a:t>Mixed continuous/discrete </a:t>
            </a:r>
            <a:r>
              <a:rPr sz="1950" spc="140" dirty="0">
                <a:solidFill>
                  <a:srgbClr val="231F20"/>
                </a:solidFill>
                <a:latin typeface="Arial"/>
                <a:cs typeface="Arial"/>
              </a:rPr>
              <a:t>(i.e., </a:t>
            </a:r>
            <a:r>
              <a:rPr sz="1950" spc="160" dirty="0">
                <a:solidFill>
                  <a:srgbClr val="231F20"/>
                </a:solidFill>
                <a:latin typeface="Arial"/>
                <a:cs typeface="Arial"/>
              </a:rPr>
              <a:t>hybrid)</a:t>
            </a:r>
            <a:r>
              <a:rPr sz="1950" spc="695" dirty="0">
                <a:solidFill>
                  <a:srgbClr val="231F20"/>
                </a:solidFill>
                <a:latin typeface="Arial"/>
                <a:cs typeface="Arial"/>
              </a:rPr>
              <a:t> </a:t>
            </a:r>
            <a:r>
              <a:rPr sz="1950" spc="120" dirty="0">
                <a:solidFill>
                  <a:srgbClr val="231F20"/>
                </a:solidFill>
                <a:latin typeface="Arial"/>
                <a:cs typeface="Arial"/>
              </a:rPr>
              <a:t>system</a:t>
            </a:r>
            <a:endParaRPr sz="1950">
              <a:latin typeface="Arial"/>
              <a:cs typeface="Ari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492413" y="475981"/>
            <a:ext cx="5075555" cy="314960"/>
          </a:xfrm>
          <a:prstGeom prst="rect">
            <a:avLst/>
          </a:prstGeom>
        </p:spPr>
        <p:txBody>
          <a:bodyPr vert="horz" wrap="square" lIns="0" tIns="0" rIns="0" bIns="0" rtlCol="0">
            <a:spAutoFit/>
          </a:bodyPr>
          <a:lstStyle/>
          <a:p>
            <a:pPr marL="12700">
              <a:lnSpc>
                <a:spcPct val="100000"/>
              </a:lnSpc>
            </a:pPr>
            <a:r>
              <a:rPr sz="1950" spc="254" dirty="0">
                <a:solidFill>
                  <a:srgbClr val="231F20"/>
                </a:solidFill>
                <a:latin typeface="Arial"/>
                <a:cs typeface="Arial"/>
              </a:rPr>
              <a:t>Simulate </a:t>
            </a:r>
            <a:r>
              <a:rPr sz="1950" spc="335" dirty="0">
                <a:solidFill>
                  <a:srgbClr val="231F20"/>
                </a:solidFill>
                <a:latin typeface="Arial"/>
                <a:cs typeface="Arial"/>
              </a:rPr>
              <a:t>One </a:t>
            </a:r>
            <a:r>
              <a:rPr sz="1950" spc="270" dirty="0">
                <a:solidFill>
                  <a:srgbClr val="231F20"/>
                </a:solidFill>
                <a:latin typeface="Arial"/>
                <a:cs typeface="Arial"/>
              </a:rPr>
              <a:t>Trajectory </a:t>
            </a:r>
            <a:r>
              <a:rPr sz="1950" spc="315" dirty="0">
                <a:solidFill>
                  <a:srgbClr val="231F20"/>
                </a:solidFill>
                <a:latin typeface="Arial"/>
                <a:cs typeface="Arial"/>
              </a:rPr>
              <a:t>at </a:t>
            </a:r>
            <a:r>
              <a:rPr sz="1950" spc="195" dirty="0">
                <a:solidFill>
                  <a:srgbClr val="231F20"/>
                </a:solidFill>
                <a:latin typeface="Arial"/>
                <a:cs typeface="Arial"/>
              </a:rPr>
              <a:t>a</a:t>
            </a:r>
            <a:r>
              <a:rPr sz="1950" spc="620" dirty="0">
                <a:solidFill>
                  <a:srgbClr val="231F20"/>
                </a:solidFill>
                <a:latin typeface="Arial"/>
                <a:cs typeface="Arial"/>
              </a:rPr>
              <a:t> </a:t>
            </a:r>
            <a:r>
              <a:rPr sz="1950" spc="385" dirty="0">
                <a:solidFill>
                  <a:srgbClr val="231F20"/>
                </a:solidFill>
                <a:latin typeface="Arial"/>
                <a:cs typeface="Arial"/>
              </a:rPr>
              <a:t>Time</a:t>
            </a:r>
            <a:endParaRPr sz="1950">
              <a:latin typeface="Arial"/>
              <a:cs typeface="Arial"/>
            </a:endParaRPr>
          </a:p>
        </p:txBody>
      </p:sp>
      <p:sp>
        <p:nvSpPr>
          <p:cNvPr id="3" name="object 3"/>
          <p:cNvSpPr/>
          <p:nvPr/>
        </p:nvSpPr>
        <p:spPr>
          <a:xfrm>
            <a:off x="2186882" y="1265581"/>
            <a:ext cx="5687276" cy="4088249"/>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4906048" y="4044566"/>
            <a:ext cx="1068705" cy="1069340"/>
          </a:xfrm>
          <a:prstGeom prst="rect">
            <a:avLst/>
          </a:prstGeom>
        </p:spPr>
        <p:txBody>
          <a:bodyPr vert="horz" wrap="square" lIns="0" tIns="0" rIns="0" bIns="0" rtlCol="0">
            <a:spAutoFit/>
          </a:bodyPr>
          <a:lstStyle/>
          <a:p>
            <a:pPr marL="193675" marR="5080" indent="-181610">
              <a:lnSpc>
                <a:spcPct val="161400"/>
              </a:lnSpc>
            </a:pPr>
            <a:r>
              <a:rPr sz="2150" spc="-5" dirty="0">
                <a:latin typeface="Times New Roman"/>
                <a:cs typeface="Times New Roman"/>
              </a:rPr>
              <a:t>Stateflow  model</a:t>
            </a:r>
            <a:endParaRPr sz="2150">
              <a:latin typeface="Times New Roman"/>
              <a:cs typeface="Times New Roman"/>
            </a:endParaRPr>
          </a:p>
        </p:txBody>
      </p:sp>
      <p:sp>
        <p:nvSpPr>
          <p:cNvPr id="5" name="object 5"/>
          <p:cNvSpPr txBox="1">
            <a:spLocks noGrp="1"/>
          </p:cNvSpPr>
          <p:nvPr>
            <p:ph type="title"/>
          </p:nvPr>
        </p:nvSpPr>
        <p:spPr>
          <a:prstGeom prst="rect">
            <a:avLst/>
          </a:prstGeom>
        </p:spPr>
        <p:txBody>
          <a:bodyPr vert="horz" wrap="square" lIns="0" tIns="679381" rIns="0" bIns="0" rtlCol="0">
            <a:spAutoFit/>
          </a:bodyPr>
          <a:lstStyle/>
          <a:p>
            <a:pPr marL="3519170">
              <a:lnSpc>
                <a:spcPct val="100000"/>
              </a:lnSpc>
            </a:pPr>
            <a:r>
              <a:rPr sz="2150" spc="-5" dirty="0">
                <a:solidFill>
                  <a:srgbClr val="000000"/>
                </a:solidFill>
                <a:latin typeface="Times New Roman"/>
                <a:cs typeface="Times New Roman"/>
              </a:rPr>
              <a:t>Simulink</a:t>
            </a:r>
            <a:r>
              <a:rPr sz="2150" spc="-90" dirty="0">
                <a:solidFill>
                  <a:srgbClr val="000000"/>
                </a:solidFill>
                <a:latin typeface="Times New Roman"/>
                <a:cs typeface="Times New Roman"/>
              </a:rPr>
              <a:t> </a:t>
            </a:r>
            <a:r>
              <a:rPr sz="2150" spc="-5" dirty="0">
                <a:solidFill>
                  <a:srgbClr val="000000"/>
                </a:solidFill>
                <a:latin typeface="Times New Roman"/>
                <a:cs typeface="Times New Roman"/>
              </a:rPr>
              <a:t>model</a:t>
            </a:r>
            <a:endParaRPr sz="2150">
              <a:latin typeface="Times New Roman"/>
              <a:cs typeface="Times New Roman"/>
            </a:endParaRPr>
          </a:p>
        </p:txBody>
      </p:sp>
      <p:sp>
        <p:nvSpPr>
          <p:cNvPr id="6" name="object 6"/>
          <p:cNvSpPr txBox="1"/>
          <p:nvPr/>
        </p:nvSpPr>
        <p:spPr>
          <a:xfrm>
            <a:off x="901700" y="6026619"/>
            <a:ext cx="6098540" cy="314325"/>
          </a:xfrm>
          <a:prstGeom prst="rect">
            <a:avLst/>
          </a:prstGeom>
        </p:spPr>
        <p:txBody>
          <a:bodyPr vert="horz" wrap="square" lIns="0" tIns="0" rIns="0" bIns="0" rtlCol="0">
            <a:spAutoFit/>
          </a:bodyPr>
          <a:lstStyle/>
          <a:p>
            <a:pPr marL="12700">
              <a:lnSpc>
                <a:spcPct val="100000"/>
              </a:lnSpc>
              <a:tabLst>
                <a:tab pos="2279650" algn="l"/>
              </a:tabLst>
            </a:pPr>
            <a:r>
              <a:rPr sz="1950" spc="160" dirty="0">
                <a:solidFill>
                  <a:srgbClr val="231F20"/>
                </a:solidFill>
                <a:latin typeface="Arial"/>
                <a:cs typeface="Arial"/>
              </a:rPr>
              <a:t>Just  </a:t>
            </a:r>
            <a:r>
              <a:rPr sz="1950" spc="90" dirty="0">
                <a:solidFill>
                  <a:srgbClr val="231F20"/>
                </a:solidFill>
                <a:latin typeface="Arial"/>
                <a:cs typeface="Arial"/>
              </a:rPr>
              <a:t>like </a:t>
            </a:r>
            <a:r>
              <a:rPr sz="1950" spc="229" dirty="0">
                <a:solidFill>
                  <a:srgbClr val="231F20"/>
                </a:solidFill>
                <a:latin typeface="Arial"/>
                <a:cs typeface="Arial"/>
              </a:rPr>
              <a:t> </a:t>
            </a:r>
            <a:r>
              <a:rPr sz="1950" spc="155" dirty="0">
                <a:solidFill>
                  <a:srgbClr val="231F20"/>
                </a:solidFill>
                <a:latin typeface="Arial"/>
                <a:cs typeface="Arial"/>
              </a:rPr>
              <a:t>testing:	</a:t>
            </a:r>
            <a:r>
              <a:rPr sz="1950" spc="140" dirty="0">
                <a:solidFill>
                  <a:srgbClr val="231F20"/>
                </a:solidFill>
                <a:latin typeface="Arial"/>
                <a:cs typeface="Arial"/>
              </a:rPr>
              <a:t>when </a:t>
            </a:r>
            <a:r>
              <a:rPr sz="1950" spc="95" dirty="0">
                <a:solidFill>
                  <a:srgbClr val="231F20"/>
                </a:solidFill>
                <a:latin typeface="Arial"/>
                <a:cs typeface="Arial"/>
              </a:rPr>
              <a:t>have </a:t>
            </a:r>
            <a:r>
              <a:rPr sz="1950" spc="120" dirty="0">
                <a:solidFill>
                  <a:srgbClr val="231F20"/>
                </a:solidFill>
                <a:latin typeface="Arial"/>
                <a:cs typeface="Arial"/>
              </a:rPr>
              <a:t>you done</a:t>
            </a:r>
            <a:r>
              <a:rPr sz="1950" spc="695" dirty="0">
                <a:solidFill>
                  <a:srgbClr val="231F20"/>
                </a:solidFill>
                <a:latin typeface="Arial"/>
                <a:cs typeface="Arial"/>
              </a:rPr>
              <a:t> </a:t>
            </a:r>
            <a:r>
              <a:rPr sz="1950" spc="125" dirty="0">
                <a:solidFill>
                  <a:srgbClr val="231F20"/>
                </a:solidFill>
                <a:latin typeface="Arial"/>
                <a:cs typeface="Arial"/>
              </a:rPr>
              <a:t>enough?</a:t>
            </a:r>
            <a:endParaRPr sz="1950">
              <a:latin typeface="Arial"/>
              <a:cs typeface="Arial"/>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85430" y="475981"/>
            <a:ext cx="7090409" cy="314960"/>
          </a:xfrm>
          <a:prstGeom prst="rect">
            <a:avLst/>
          </a:prstGeom>
        </p:spPr>
        <p:txBody>
          <a:bodyPr vert="horz" wrap="square" lIns="0" tIns="0" rIns="0" bIns="0" rtlCol="0">
            <a:spAutoFit/>
          </a:bodyPr>
          <a:lstStyle/>
          <a:p>
            <a:pPr marL="12700">
              <a:lnSpc>
                <a:spcPct val="100000"/>
              </a:lnSpc>
            </a:pPr>
            <a:r>
              <a:rPr sz="1950" spc="305" dirty="0">
                <a:solidFill>
                  <a:srgbClr val="231F20"/>
                </a:solidFill>
                <a:latin typeface="Arial"/>
                <a:cs typeface="Arial"/>
              </a:rPr>
              <a:t>Model </a:t>
            </a:r>
            <a:r>
              <a:rPr sz="1950" spc="254" dirty="0">
                <a:solidFill>
                  <a:srgbClr val="231F20"/>
                </a:solidFill>
                <a:latin typeface="Arial"/>
                <a:cs typeface="Arial"/>
              </a:rPr>
              <a:t>Check </a:t>
            </a:r>
            <a:r>
              <a:rPr sz="1950" spc="385" dirty="0">
                <a:solidFill>
                  <a:srgbClr val="231F20"/>
                </a:solidFill>
                <a:latin typeface="Arial"/>
                <a:cs typeface="Arial"/>
              </a:rPr>
              <a:t>With </a:t>
            </a:r>
            <a:r>
              <a:rPr sz="1950" spc="254" dirty="0">
                <a:solidFill>
                  <a:srgbClr val="231F20"/>
                </a:solidFill>
                <a:latin typeface="Arial"/>
                <a:cs typeface="Arial"/>
              </a:rPr>
              <a:t>Nondeterministic</a:t>
            </a:r>
            <a:r>
              <a:rPr sz="1950" spc="560" dirty="0">
                <a:solidFill>
                  <a:srgbClr val="231F20"/>
                </a:solidFill>
                <a:latin typeface="Arial"/>
                <a:cs typeface="Arial"/>
              </a:rPr>
              <a:t> </a:t>
            </a:r>
            <a:r>
              <a:rPr sz="1950" spc="285" dirty="0">
                <a:solidFill>
                  <a:srgbClr val="231F20"/>
                </a:solidFill>
                <a:latin typeface="Arial"/>
                <a:cs typeface="Arial"/>
              </a:rPr>
              <a:t>Environment</a:t>
            </a:r>
            <a:endParaRPr sz="1950">
              <a:latin typeface="Arial"/>
              <a:cs typeface="Arial"/>
            </a:endParaRPr>
          </a:p>
        </p:txBody>
      </p:sp>
      <p:sp>
        <p:nvSpPr>
          <p:cNvPr id="3" name="object 3"/>
          <p:cNvSpPr/>
          <p:nvPr/>
        </p:nvSpPr>
        <p:spPr>
          <a:xfrm>
            <a:off x="3314268" y="3645458"/>
            <a:ext cx="2805430" cy="1683385"/>
          </a:xfrm>
          <a:custGeom>
            <a:avLst/>
            <a:gdLst/>
            <a:ahLst/>
            <a:cxnLst/>
            <a:rect l="l" t="t" r="r" b="b"/>
            <a:pathLst>
              <a:path w="2805429" h="1683385">
                <a:moveTo>
                  <a:pt x="130911" y="0"/>
                </a:moveTo>
                <a:lnTo>
                  <a:pt x="126112" y="86"/>
                </a:lnTo>
                <a:lnTo>
                  <a:pt x="121356" y="343"/>
                </a:lnTo>
                <a:lnTo>
                  <a:pt x="81001" y="9850"/>
                </a:lnTo>
                <a:lnTo>
                  <a:pt x="46566" y="30788"/>
                </a:lnTo>
                <a:lnTo>
                  <a:pt x="20209" y="61001"/>
                </a:lnTo>
                <a:lnTo>
                  <a:pt x="4085" y="98334"/>
                </a:lnTo>
                <a:lnTo>
                  <a:pt x="0" y="130911"/>
                </a:lnTo>
                <a:lnTo>
                  <a:pt x="0" y="1552206"/>
                </a:lnTo>
                <a:lnTo>
                  <a:pt x="6673" y="1593585"/>
                </a:lnTo>
                <a:lnTo>
                  <a:pt x="25258" y="1629521"/>
                </a:lnTo>
                <a:lnTo>
                  <a:pt x="53596" y="1657860"/>
                </a:lnTo>
                <a:lnTo>
                  <a:pt x="89533" y="1676444"/>
                </a:lnTo>
                <a:lnTo>
                  <a:pt x="130911" y="1683118"/>
                </a:lnTo>
                <a:lnTo>
                  <a:pt x="2674277" y="1683118"/>
                </a:lnTo>
                <a:lnTo>
                  <a:pt x="2715655" y="1676444"/>
                </a:lnTo>
                <a:lnTo>
                  <a:pt x="2751592" y="1657860"/>
                </a:lnTo>
                <a:lnTo>
                  <a:pt x="2779930" y="1629521"/>
                </a:lnTo>
                <a:lnTo>
                  <a:pt x="2798514" y="1593585"/>
                </a:lnTo>
                <a:lnTo>
                  <a:pt x="2805188" y="1552206"/>
                </a:lnTo>
                <a:lnTo>
                  <a:pt x="2805188" y="130911"/>
                </a:lnTo>
                <a:lnTo>
                  <a:pt x="2798514" y="89533"/>
                </a:lnTo>
                <a:lnTo>
                  <a:pt x="2779930" y="53596"/>
                </a:lnTo>
                <a:lnTo>
                  <a:pt x="2751592" y="25258"/>
                </a:lnTo>
                <a:lnTo>
                  <a:pt x="2715655" y="6673"/>
                </a:lnTo>
                <a:lnTo>
                  <a:pt x="2674277" y="0"/>
                </a:lnTo>
                <a:lnTo>
                  <a:pt x="130911" y="0"/>
                </a:lnTo>
                <a:close/>
              </a:path>
            </a:pathLst>
          </a:custGeom>
          <a:ln w="9350">
            <a:solidFill>
              <a:srgbClr val="0000FF"/>
            </a:solidFill>
          </a:ln>
        </p:spPr>
        <p:txBody>
          <a:bodyPr wrap="square" lIns="0" tIns="0" rIns="0" bIns="0" rtlCol="0"/>
          <a:lstStyle/>
          <a:p>
            <a:endParaRPr/>
          </a:p>
        </p:txBody>
      </p:sp>
      <p:sp>
        <p:nvSpPr>
          <p:cNvPr id="4" name="object 4"/>
          <p:cNvSpPr/>
          <p:nvPr/>
        </p:nvSpPr>
        <p:spPr>
          <a:xfrm>
            <a:off x="1446644" y="1401305"/>
            <a:ext cx="1737995" cy="2926715"/>
          </a:xfrm>
          <a:custGeom>
            <a:avLst/>
            <a:gdLst/>
            <a:ahLst/>
            <a:cxnLst/>
            <a:rect l="l" t="t" r="r" b="b"/>
            <a:pathLst>
              <a:path w="1737995" h="2926715">
                <a:moveTo>
                  <a:pt x="652043" y="0"/>
                </a:moveTo>
                <a:lnTo>
                  <a:pt x="650798" y="2501"/>
                </a:lnTo>
                <a:lnTo>
                  <a:pt x="648309" y="7493"/>
                </a:lnTo>
                <a:lnTo>
                  <a:pt x="642073" y="16217"/>
                </a:lnTo>
                <a:lnTo>
                  <a:pt x="634593" y="29933"/>
                </a:lnTo>
                <a:lnTo>
                  <a:pt x="622122" y="51117"/>
                </a:lnTo>
                <a:lnTo>
                  <a:pt x="607161" y="77304"/>
                </a:lnTo>
                <a:lnTo>
                  <a:pt x="587209" y="110972"/>
                </a:lnTo>
                <a:lnTo>
                  <a:pt x="564769" y="152107"/>
                </a:lnTo>
                <a:lnTo>
                  <a:pt x="537349" y="199478"/>
                </a:lnTo>
                <a:lnTo>
                  <a:pt x="508673" y="251853"/>
                </a:lnTo>
                <a:lnTo>
                  <a:pt x="476250" y="310451"/>
                </a:lnTo>
                <a:lnTo>
                  <a:pt x="441350" y="374027"/>
                </a:lnTo>
                <a:lnTo>
                  <a:pt x="406438" y="440105"/>
                </a:lnTo>
                <a:lnTo>
                  <a:pt x="369036" y="509930"/>
                </a:lnTo>
                <a:lnTo>
                  <a:pt x="332879" y="579742"/>
                </a:lnTo>
                <a:lnTo>
                  <a:pt x="296722" y="652056"/>
                </a:lnTo>
                <a:lnTo>
                  <a:pt x="260565" y="723125"/>
                </a:lnTo>
                <a:lnTo>
                  <a:pt x="226898" y="792937"/>
                </a:lnTo>
                <a:lnTo>
                  <a:pt x="194487" y="862761"/>
                </a:lnTo>
                <a:lnTo>
                  <a:pt x="164566" y="930084"/>
                </a:lnTo>
                <a:lnTo>
                  <a:pt x="135890" y="994918"/>
                </a:lnTo>
                <a:lnTo>
                  <a:pt x="110959" y="1058494"/>
                </a:lnTo>
                <a:lnTo>
                  <a:pt x="87261" y="1118336"/>
                </a:lnTo>
                <a:lnTo>
                  <a:pt x="67322" y="1176934"/>
                </a:lnTo>
                <a:lnTo>
                  <a:pt x="49860" y="1231798"/>
                </a:lnTo>
                <a:lnTo>
                  <a:pt x="34899" y="1284160"/>
                </a:lnTo>
                <a:lnTo>
                  <a:pt x="22440" y="1334020"/>
                </a:lnTo>
                <a:lnTo>
                  <a:pt x="12458" y="1382649"/>
                </a:lnTo>
                <a:lnTo>
                  <a:pt x="6235" y="1428775"/>
                </a:lnTo>
                <a:lnTo>
                  <a:pt x="1244" y="1472412"/>
                </a:lnTo>
                <a:lnTo>
                  <a:pt x="0" y="1514805"/>
                </a:lnTo>
                <a:lnTo>
                  <a:pt x="1244" y="1555953"/>
                </a:lnTo>
                <a:lnTo>
                  <a:pt x="4978" y="1595843"/>
                </a:lnTo>
                <a:lnTo>
                  <a:pt x="11214" y="1634490"/>
                </a:lnTo>
                <a:lnTo>
                  <a:pt x="19939" y="1671891"/>
                </a:lnTo>
                <a:lnTo>
                  <a:pt x="31165" y="1709305"/>
                </a:lnTo>
                <a:lnTo>
                  <a:pt x="44881" y="1745462"/>
                </a:lnTo>
                <a:lnTo>
                  <a:pt x="74803" y="1810283"/>
                </a:lnTo>
                <a:lnTo>
                  <a:pt x="113449" y="1873872"/>
                </a:lnTo>
                <a:lnTo>
                  <a:pt x="137134" y="1905038"/>
                </a:lnTo>
                <a:lnTo>
                  <a:pt x="162077" y="1937461"/>
                </a:lnTo>
                <a:lnTo>
                  <a:pt x="190754" y="1968627"/>
                </a:lnTo>
                <a:lnTo>
                  <a:pt x="220662" y="2001037"/>
                </a:lnTo>
                <a:lnTo>
                  <a:pt x="254330" y="2033460"/>
                </a:lnTo>
                <a:lnTo>
                  <a:pt x="291731" y="2065870"/>
                </a:lnTo>
                <a:lnTo>
                  <a:pt x="331622" y="2099538"/>
                </a:lnTo>
                <a:lnTo>
                  <a:pt x="375259" y="2134438"/>
                </a:lnTo>
                <a:lnTo>
                  <a:pt x="421398" y="2169350"/>
                </a:lnTo>
                <a:lnTo>
                  <a:pt x="471258" y="2204262"/>
                </a:lnTo>
                <a:lnTo>
                  <a:pt x="524878" y="2241664"/>
                </a:lnTo>
                <a:lnTo>
                  <a:pt x="580974" y="2279065"/>
                </a:lnTo>
                <a:lnTo>
                  <a:pt x="642073" y="2317711"/>
                </a:lnTo>
                <a:lnTo>
                  <a:pt x="705650" y="2357615"/>
                </a:lnTo>
                <a:lnTo>
                  <a:pt x="771728" y="2398750"/>
                </a:lnTo>
                <a:lnTo>
                  <a:pt x="841552" y="2439898"/>
                </a:lnTo>
                <a:lnTo>
                  <a:pt x="912609" y="2482291"/>
                </a:lnTo>
                <a:lnTo>
                  <a:pt x="986180" y="2524671"/>
                </a:lnTo>
                <a:lnTo>
                  <a:pt x="1062228" y="2567063"/>
                </a:lnTo>
                <a:lnTo>
                  <a:pt x="1138275" y="2609456"/>
                </a:lnTo>
                <a:lnTo>
                  <a:pt x="1214323" y="2650591"/>
                </a:lnTo>
                <a:lnTo>
                  <a:pt x="1290383" y="2691739"/>
                </a:lnTo>
                <a:lnTo>
                  <a:pt x="1363941" y="2731643"/>
                </a:lnTo>
                <a:lnTo>
                  <a:pt x="1435011" y="2769031"/>
                </a:lnTo>
                <a:lnTo>
                  <a:pt x="1503578" y="2805188"/>
                </a:lnTo>
                <a:lnTo>
                  <a:pt x="1565910" y="2838856"/>
                </a:lnTo>
                <a:lnTo>
                  <a:pt x="1624507" y="2868777"/>
                </a:lnTo>
                <a:lnTo>
                  <a:pt x="1676869" y="2894965"/>
                </a:lnTo>
                <a:lnTo>
                  <a:pt x="1723009" y="2918650"/>
                </a:lnTo>
                <a:lnTo>
                  <a:pt x="1737498" y="2926130"/>
                </a:lnTo>
              </a:path>
            </a:pathLst>
          </a:custGeom>
          <a:ln w="9350">
            <a:solidFill>
              <a:srgbClr val="000000"/>
            </a:solidFill>
          </a:ln>
        </p:spPr>
        <p:txBody>
          <a:bodyPr wrap="square" lIns="0" tIns="0" rIns="0" bIns="0" rtlCol="0"/>
          <a:lstStyle/>
          <a:p>
            <a:endParaRPr/>
          </a:p>
        </p:txBody>
      </p:sp>
      <p:sp>
        <p:nvSpPr>
          <p:cNvPr id="5" name="object 5"/>
          <p:cNvSpPr/>
          <p:nvPr/>
        </p:nvSpPr>
        <p:spPr>
          <a:xfrm>
            <a:off x="3184142" y="4327436"/>
            <a:ext cx="52069" cy="26670"/>
          </a:xfrm>
          <a:custGeom>
            <a:avLst/>
            <a:gdLst/>
            <a:ahLst/>
            <a:cxnLst/>
            <a:rect l="l" t="t" r="r" b="b"/>
            <a:pathLst>
              <a:path w="52069" h="26670">
                <a:moveTo>
                  <a:pt x="0" y="0"/>
                </a:moveTo>
                <a:lnTo>
                  <a:pt x="24157" y="12471"/>
                </a:lnTo>
                <a:lnTo>
                  <a:pt x="52029" y="26407"/>
                </a:lnTo>
              </a:path>
            </a:pathLst>
          </a:custGeom>
          <a:ln w="9350">
            <a:solidFill>
              <a:srgbClr val="000000"/>
            </a:solidFill>
          </a:ln>
        </p:spPr>
        <p:txBody>
          <a:bodyPr wrap="square" lIns="0" tIns="0" rIns="0" bIns="0" rtlCol="0"/>
          <a:lstStyle/>
          <a:p>
            <a:endParaRPr/>
          </a:p>
        </p:txBody>
      </p:sp>
      <p:sp>
        <p:nvSpPr>
          <p:cNvPr id="6" name="object 6"/>
          <p:cNvSpPr/>
          <p:nvPr/>
        </p:nvSpPr>
        <p:spPr>
          <a:xfrm>
            <a:off x="3089859" y="4260113"/>
            <a:ext cx="152400" cy="99060"/>
          </a:xfrm>
          <a:custGeom>
            <a:avLst/>
            <a:gdLst/>
            <a:ahLst/>
            <a:cxnLst/>
            <a:rect l="l" t="t" r="r" b="b"/>
            <a:pathLst>
              <a:path w="152400" h="99060">
                <a:moveTo>
                  <a:pt x="152095" y="98488"/>
                </a:moveTo>
                <a:lnTo>
                  <a:pt x="32410" y="0"/>
                </a:lnTo>
                <a:lnTo>
                  <a:pt x="0" y="67322"/>
                </a:lnTo>
                <a:lnTo>
                  <a:pt x="152095" y="98488"/>
                </a:lnTo>
                <a:close/>
              </a:path>
            </a:pathLst>
          </a:custGeom>
          <a:solidFill>
            <a:srgbClr val="000000"/>
          </a:solidFill>
        </p:spPr>
        <p:txBody>
          <a:bodyPr wrap="square" lIns="0" tIns="0" rIns="0" bIns="0" rtlCol="0"/>
          <a:lstStyle/>
          <a:p>
            <a:endParaRPr/>
          </a:p>
        </p:txBody>
      </p:sp>
      <p:sp>
        <p:nvSpPr>
          <p:cNvPr id="7" name="object 7"/>
          <p:cNvSpPr/>
          <p:nvPr/>
        </p:nvSpPr>
        <p:spPr>
          <a:xfrm>
            <a:off x="3089859" y="4260113"/>
            <a:ext cx="152400" cy="99060"/>
          </a:xfrm>
          <a:custGeom>
            <a:avLst/>
            <a:gdLst/>
            <a:ahLst/>
            <a:cxnLst/>
            <a:rect l="l" t="t" r="r" b="b"/>
            <a:pathLst>
              <a:path w="152400" h="99060">
                <a:moveTo>
                  <a:pt x="0" y="67322"/>
                </a:moveTo>
                <a:lnTo>
                  <a:pt x="152095" y="98488"/>
                </a:lnTo>
                <a:lnTo>
                  <a:pt x="32410" y="0"/>
                </a:lnTo>
                <a:lnTo>
                  <a:pt x="0" y="67322"/>
                </a:lnTo>
                <a:close/>
              </a:path>
            </a:pathLst>
          </a:custGeom>
          <a:ln w="37402">
            <a:solidFill>
              <a:srgbClr val="000000"/>
            </a:solidFill>
          </a:ln>
        </p:spPr>
        <p:txBody>
          <a:bodyPr wrap="square" lIns="0" tIns="0" rIns="0" bIns="0" rtlCol="0"/>
          <a:lstStyle/>
          <a:p>
            <a:endParaRPr/>
          </a:p>
        </p:txBody>
      </p:sp>
      <p:sp>
        <p:nvSpPr>
          <p:cNvPr id="8" name="object 8"/>
          <p:cNvSpPr/>
          <p:nvPr/>
        </p:nvSpPr>
        <p:spPr>
          <a:xfrm>
            <a:off x="6119457" y="1693049"/>
            <a:ext cx="1698625" cy="2700655"/>
          </a:xfrm>
          <a:custGeom>
            <a:avLst/>
            <a:gdLst/>
            <a:ahLst/>
            <a:cxnLst/>
            <a:rect l="l" t="t" r="r" b="b"/>
            <a:pathLst>
              <a:path w="1698625" h="2700654">
                <a:moveTo>
                  <a:pt x="0" y="2700464"/>
                </a:moveTo>
                <a:lnTo>
                  <a:pt x="52362" y="2670543"/>
                </a:lnTo>
                <a:lnTo>
                  <a:pt x="79794" y="2655582"/>
                </a:lnTo>
                <a:lnTo>
                  <a:pt x="114706" y="2635630"/>
                </a:lnTo>
                <a:lnTo>
                  <a:pt x="157086" y="2610700"/>
                </a:lnTo>
                <a:lnTo>
                  <a:pt x="205714" y="2583268"/>
                </a:lnTo>
                <a:lnTo>
                  <a:pt x="261823" y="2550858"/>
                </a:lnTo>
                <a:lnTo>
                  <a:pt x="322910" y="2514701"/>
                </a:lnTo>
                <a:lnTo>
                  <a:pt x="388988" y="2476042"/>
                </a:lnTo>
                <a:lnTo>
                  <a:pt x="458800" y="2434907"/>
                </a:lnTo>
                <a:lnTo>
                  <a:pt x="532371" y="2390025"/>
                </a:lnTo>
                <a:lnTo>
                  <a:pt x="607161" y="2345143"/>
                </a:lnTo>
                <a:lnTo>
                  <a:pt x="681977" y="2299004"/>
                </a:lnTo>
                <a:lnTo>
                  <a:pt x="758024" y="2251633"/>
                </a:lnTo>
                <a:lnTo>
                  <a:pt x="832827" y="2204262"/>
                </a:lnTo>
                <a:lnTo>
                  <a:pt x="906386" y="2156878"/>
                </a:lnTo>
                <a:lnTo>
                  <a:pt x="977455" y="2110752"/>
                </a:lnTo>
                <a:lnTo>
                  <a:pt x="1044778" y="2065870"/>
                </a:lnTo>
                <a:lnTo>
                  <a:pt x="1109611" y="2020988"/>
                </a:lnTo>
                <a:lnTo>
                  <a:pt x="1171943" y="1977351"/>
                </a:lnTo>
                <a:lnTo>
                  <a:pt x="1229296" y="1934959"/>
                </a:lnTo>
                <a:lnTo>
                  <a:pt x="1284160" y="1893811"/>
                </a:lnTo>
                <a:lnTo>
                  <a:pt x="1334020" y="1853920"/>
                </a:lnTo>
                <a:lnTo>
                  <a:pt x="1381404" y="1816518"/>
                </a:lnTo>
                <a:lnTo>
                  <a:pt x="1423797" y="1779117"/>
                </a:lnTo>
                <a:lnTo>
                  <a:pt x="1463687" y="1741715"/>
                </a:lnTo>
                <a:lnTo>
                  <a:pt x="1499844" y="1706803"/>
                </a:lnTo>
                <a:lnTo>
                  <a:pt x="1532255" y="1671891"/>
                </a:lnTo>
                <a:lnTo>
                  <a:pt x="1560931" y="1638223"/>
                </a:lnTo>
                <a:lnTo>
                  <a:pt x="1587119" y="1604568"/>
                </a:lnTo>
                <a:lnTo>
                  <a:pt x="1609559" y="1570900"/>
                </a:lnTo>
                <a:lnTo>
                  <a:pt x="1646961" y="1506080"/>
                </a:lnTo>
                <a:lnTo>
                  <a:pt x="1673136" y="1439989"/>
                </a:lnTo>
                <a:lnTo>
                  <a:pt x="1690598" y="1371422"/>
                </a:lnTo>
                <a:lnTo>
                  <a:pt x="1698078" y="1300365"/>
                </a:lnTo>
                <a:lnTo>
                  <a:pt x="1698078" y="1262964"/>
                </a:lnTo>
                <a:lnTo>
                  <a:pt x="1689354" y="1186903"/>
                </a:lnTo>
                <a:lnTo>
                  <a:pt x="1680616" y="1147013"/>
                </a:lnTo>
                <a:lnTo>
                  <a:pt x="1668157" y="1105865"/>
                </a:lnTo>
                <a:lnTo>
                  <a:pt x="1653197" y="1063485"/>
                </a:lnTo>
                <a:lnTo>
                  <a:pt x="1634490" y="1018603"/>
                </a:lnTo>
                <a:lnTo>
                  <a:pt x="1613293" y="971219"/>
                </a:lnTo>
                <a:lnTo>
                  <a:pt x="1588363" y="922591"/>
                </a:lnTo>
                <a:lnTo>
                  <a:pt x="1560931" y="872731"/>
                </a:lnTo>
                <a:lnTo>
                  <a:pt x="1529765" y="819111"/>
                </a:lnTo>
                <a:lnTo>
                  <a:pt x="1494853" y="764260"/>
                </a:lnTo>
                <a:lnTo>
                  <a:pt x="1457452" y="705662"/>
                </a:lnTo>
                <a:lnTo>
                  <a:pt x="1416316" y="647064"/>
                </a:lnTo>
                <a:lnTo>
                  <a:pt x="1373924" y="584720"/>
                </a:lnTo>
                <a:lnTo>
                  <a:pt x="1327797" y="522388"/>
                </a:lnTo>
                <a:lnTo>
                  <a:pt x="1280414" y="457555"/>
                </a:lnTo>
                <a:lnTo>
                  <a:pt x="1230541" y="392721"/>
                </a:lnTo>
                <a:lnTo>
                  <a:pt x="1180680" y="327901"/>
                </a:lnTo>
                <a:lnTo>
                  <a:pt x="1130808" y="263067"/>
                </a:lnTo>
                <a:lnTo>
                  <a:pt x="1080935" y="200723"/>
                </a:lnTo>
                <a:lnTo>
                  <a:pt x="1032306" y="139636"/>
                </a:lnTo>
                <a:lnTo>
                  <a:pt x="984935" y="83527"/>
                </a:lnTo>
                <a:lnTo>
                  <a:pt x="941298" y="29921"/>
                </a:lnTo>
                <a:lnTo>
                  <a:pt x="916739" y="0"/>
                </a:lnTo>
              </a:path>
            </a:pathLst>
          </a:custGeom>
          <a:ln w="9350">
            <a:solidFill>
              <a:srgbClr val="000000"/>
            </a:solidFill>
          </a:ln>
        </p:spPr>
        <p:txBody>
          <a:bodyPr wrap="square" lIns="0" tIns="0" rIns="0" bIns="0" rtlCol="0"/>
          <a:lstStyle/>
          <a:p>
            <a:endParaRPr/>
          </a:p>
        </p:txBody>
      </p:sp>
      <p:sp>
        <p:nvSpPr>
          <p:cNvPr id="9" name="object 9"/>
          <p:cNvSpPr/>
          <p:nvPr/>
        </p:nvSpPr>
        <p:spPr>
          <a:xfrm>
            <a:off x="6922326" y="1557626"/>
            <a:ext cx="114300" cy="135890"/>
          </a:xfrm>
          <a:custGeom>
            <a:avLst/>
            <a:gdLst/>
            <a:ahLst/>
            <a:cxnLst/>
            <a:rect l="l" t="t" r="r" b="b"/>
            <a:pathLst>
              <a:path w="114300" h="135889">
                <a:moveTo>
                  <a:pt x="113870" y="135423"/>
                </a:moveTo>
                <a:lnTo>
                  <a:pt x="98525" y="116728"/>
                </a:lnTo>
                <a:lnTo>
                  <a:pt x="62381" y="74336"/>
                </a:lnTo>
                <a:lnTo>
                  <a:pt x="31203" y="38179"/>
                </a:lnTo>
                <a:lnTo>
                  <a:pt x="6272" y="7013"/>
                </a:lnTo>
                <a:lnTo>
                  <a:pt x="0" y="0"/>
                </a:lnTo>
              </a:path>
            </a:pathLst>
          </a:custGeom>
          <a:ln w="9350">
            <a:solidFill>
              <a:srgbClr val="000000"/>
            </a:solidFill>
          </a:ln>
        </p:spPr>
        <p:txBody>
          <a:bodyPr wrap="square" lIns="0" tIns="0" rIns="0" bIns="0" rtlCol="0"/>
          <a:lstStyle/>
          <a:p>
            <a:endParaRPr/>
          </a:p>
        </p:txBody>
      </p:sp>
      <p:sp>
        <p:nvSpPr>
          <p:cNvPr id="10" name="object 10"/>
          <p:cNvSpPr/>
          <p:nvPr/>
        </p:nvSpPr>
        <p:spPr>
          <a:xfrm>
            <a:off x="6919874" y="1555902"/>
            <a:ext cx="126364" cy="137160"/>
          </a:xfrm>
          <a:custGeom>
            <a:avLst/>
            <a:gdLst/>
            <a:ahLst/>
            <a:cxnLst/>
            <a:rect l="l" t="t" r="r" b="b"/>
            <a:pathLst>
              <a:path w="126365" h="137160">
                <a:moveTo>
                  <a:pt x="125920" y="88519"/>
                </a:moveTo>
                <a:lnTo>
                  <a:pt x="0" y="0"/>
                </a:lnTo>
                <a:lnTo>
                  <a:pt x="68567" y="137147"/>
                </a:lnTo>
                <a:lnTo>
                  <a:pt x="125920" y="88519"/>
                </a:lnTo>
                <a:close/>
              </a:path>
            </a:pathLst>
          </a:custGeom>
          <a:solidFill>
            <a:srgbClr val="000000"/>
          </a:solidFill>
        </p:spPr>
        <p:txBody>
          <a:bodyPr wrap="square" lIns="0" tIns="0" rIns="0" bIns="0" rtlCol="0"/>
          <a:lstStyle/>
          <a:p>
            <a:endParaRPr/>
          </a:p>
        </p:txBody>
      </p:sp>
      <p:sp>
        <p:nvSpPr>
          <p:cNvPr id="11" name="object 11"/>
          <p:cNvSpPr/>
          <p:nvPr/>
        </p:nvSpPr>
        <p:spPr>
          <a:xfrm>
            <a:off x="6919874" y="1555902"/>
            <a:ext cx="126364" cy="137160"/>
          </a:xfrm>
          <a:custGeom>
            <a:avLst/>
            <a:gdLst/>
            <a:ahLst/>
            <a:cxnLst/>
            <a:rect l="l" t="t" r="r" b="b"/>
            <a:pathLst>
              <a:path w="126365" h="137160">
                <a:moveTo>
                  <a:pt x="125920" y="88519"/>
                </a:moveTo>
                <a:lnTo>
                  <a:pt x="0" y="0"/>
                </a:lnTo>
                <a:lnTo>
                  <a:pt x="68567" y="137147"/>
                </a:lnTo>
                <a:lnTo>
                  <a:pt x="125920" y="88519"/>
                </a:lnTo>
                <a:close/>
              </a:path>
            </a:pathLst>
          </a:custGeom>
          <a:ln w="37402">
            <a:solidFill>
              <a:srgbClr val="000000"/>
            </a:solidFill>
          </a:ln>
        </p:spPr>
        <p:txBody>
          <a:bodyPr wrap="square" lIns="0" tIns="0" rIns="0" bIns="0" rtlCol="0"/>
          <a:lstStyle/>
          <a:p>
            <a:endParaRPr/>
          </a:p>
        </p:txBody>
      </p:sp>
      <p:sp>
        <p:nvSpPr>
          <p:cNvPr id="12" name="object 12"/>
          <p:cNvSpPr txBox="1"/>
          <p:nvPr/>
        </p:nvSpPr>
        <p:spPr>
          <a:xfrm>
            <a:off x="4152544" y="3712657"/>
            <a:ext cx="1315720" cy="1320800"/>
          </a:xfrm>
          <a:prstGeom prst="rect">
            <a:avLst/>
          </a:prstGeom>
        </p:spPr>
        <p:txBody>
          <a:bodyPr vert="horz" wrap="square" lIns="0" tIns="0" rIns="0" bIns="0" rtlCol="0">
            <a:spAutoFit/>
          </a:bodyPr>
          <a:lstStyle/>
          <a:p>
            <a:pPr marL="236854" marR="5080" indent="-224790">
              <a:lnSpc>
                <a:spcPct val="162100"/>
              </a:lnSpc>
            </a:pPr>
            <a:r>
              <a:rPr sz="2650" dirty="0">
                <a:solidFill>
                  <a:srgbClr val="0000FF"/>
                </a:solidFill>
                <a:latin typeface="Times New Roman"/>
                <a:cs typeface="Times New Roman"/>
              </a:rPr>
              <a:t>Stateflow  model</a:t>
            </a:r>
            <a:endParaRPr sz="2650">
              <a:latin typeface="Times New Roman"/>
              <a:cs typeface="Times New Roman"/>
            </a:endParaRPr>
          </a:p>
        </p:txBody>
      </p:sp>
      <p:sp>
        <p:nvSpPr>
          <p:cNvPr id="13" name="object 13"/>
          <p:cNvSpPr txBox="1"/>
          <p:nvPr/>
        </p:nvSpPr>
        <p:spPr>
          <a:xfrm>
            <a:off x="6200264" y="4617999"/>
            <a:ext cx="2344420" cy="415290"/>
          </a:xfrm>
          <a:prstGeom prst="rect">
            <a:avLst/>
          </a:prstGeom>
        </p:spPr>
        <p:txBody>
          <a:bodyPr vert="horz" wrap="square" lIns="0" tIns="0" rIns="0" bIns="0" rtlCol="0">
            <a:spAutoFit/>
          </a:bodyPr>
          <a:lstStyle/>
          <a:p>
            <a:pPr marL="12700">
              <a:lnSpc>
                <a:spcPct val="100000"/>
              </a:lnSpc>
            </a:pPr>
            <a:r>
              <a:rPr sz="2650" dirty="0">
                <a:solidFill>
                  <a:srgbClr val="0000FF"/>
                </a:solidFill>
                <a:latin typeface="Times New Roman"/>
                <a:cs typeface="Times New Roman"/>
              </a:rPr>
              <a:t>Model check</a:t>
            </a:r>
            <a:r>
              <a:rPr sz="2650" spc="-100" dirty="0">
                <a:solidFill>
                  <a:srgbClr val="0000FF"/>
                </a:solidFill>
                <a:latin typeface="Times New Roman"/>
                <a:cs typeface="Times New Roman"/>
              </a:rPr>
              <a:t> </a:t>
            </a:r>
            <a:r>
              <a:rPr sz="2650" dirty="0">
                <a:solidFill>
                  <a:srgbClr val="0000FF"/>
                </a:solidFill>
                <a:latin typeface="Times New Roman"/>
                <a:cs typeface="Times New Roman"/>
              </a:rPr>
              <a:t>this</a:t>
            </a:r>
            <a:endParaRPr sz="2650">
              <a:latin typeface="Times New Roman"/>
              <a:cs typeface="Times New Roman"/>
            </a:endParaRPr>
          </a:p>
        </p:txBody>
      </p:sp>
      <p:sp>
        <p:nvSpPr>
          <p:cNvPr id="14" name="object 14"/>
          <p:cNvSpPr txBox="1">
            <a:spLocks noGrp="1"/>
          </p:cNvSpPr>
          <p:nvPr>
            <p:ph type="title"/>
          </p:nvPr>
        </p:nvSpPr>
        <p:spPr>
          <a:prstGeom prst="rect">
            <a:avLst/>
          </a:prstGeom>
        </p:spPr>
        <p:txBody>
          <a:bodyPr vert="horz" wrap="square" lIns="0" tIns="236786" rIns="0" bIns="0" rtlCol="0">
            <a:spAutoFit/>
          </a:bodyPr>
          <a:lstStyle/>
          <a:p>
            <a:pPr marL="1571625">
              <a:lnSpc>
                <a:spcPct val="100000"/>
              </a:lnSpc>
            </a:pPr>
            <a:r>
              <a:rPr sz="2650" dirty="0">
                <a:solidFill>
                  <a:srgbClr val="000000"/>
                </a:solidFill>
                <a:latin typeface="Times New Roman"/>
                <a:cs typeface="Times New Roman"/>
              </a:rPr>
              <a:t>Nondeterministic</a:t>
            </a:r>
            <a:r>
              <a:rPr sz="2650" spc="-95" dirty="0">
                <a:solidFill>
                  <a:srgbClr val="000000"/>
                </a:solidFill>
                <a:latin typeface="Times New Roman"/>
                <a:cs typeface="Times New Roman"/>
              </a:rPr>
              <a:t> </a:t>
            </a:r>
            <a:r>
              <a:rPr sz="2650" dirty="0">
                <a:solidFill>
                  <a:srgbClr val="000000"/>
                </a:solidFill>
                <a:latin typeface="Times New Roman"/>
                <a:cs typeface="Times New Roman"/>
              </a:rPr>
              <a:t>environment</a:t>
            </a:r>
            <a:endParaRPr sz="2650">
              <a:latin typeface="Times New Roman"/>
              <a:cs typeface="Times New Roman"/>
            </a:endParaRPr>
          </a:p>
        </p:txBody>
      </p:sp>
      <p:sp>
        <p:nvSpPr>
          <p:cNvPr id="15" name="object 15"/>
          <p:cNvSpPr txBox="1"/>
          <p:nvPr/>
        </p:nvSpPr>
        <p:spPr>
          <a:xfrm>
            <a:off x="901700" y="6026619"/>
            <a:ext cx="5152390" cy="314325"/>
          </a:xfrm>
          <a:prstGeom prst="rect">
            <a:avLst/>
          </a:prstGeom>
        </p:spPr>
        <p:txBody>
          <a:bodyPr vert="horz" wrap="square" lIns="0" tIns="0" rIns="0" bIns="0" rtlCol="0">
            <a:spAutoFit/>
          </a:bodyPr>
          <a:lstStyle/>
          <a:p>
            <a:pPr marL="12700">
              <a:lnSpc>
                <a:spcPct val="100000"/>
              </a:lnSpc>
            </a:pPr>
            <a:r>
              <a:rPr sz="1950" spc="250" dirty="0">
                <a:solidFill>
                  <a:srgbClr val="231F20"/>
                </a:solidFill>
                <a:latin typeface="Arial"/>
                <a:cs typeface="Arial"/>
              </a:rPr>
              <a:t>Too </a:t>
            </a:r>
            <a:r>
              <a:rPr sz="1950" spc="125" dirty="0">
                <a:solidFill>
                  <a:srgbClr val="231F20"/>
                </a:solidFill>
                <a:latin typeface="Arial"/>
                <a:cs typeface="Arial"/>
              </a:rPr>
              <a:t>crude </a:t>
            </a:r>
            <a:r>
              <a:rPr sz="1950" spc="250" dirty="0">
                <a:solidFill>
                  <a:srgbClr val="231F20"/>
                </a:solidFill>
                <a:latin typeface="Arial"/>
                <a:cs typeface="Arial"/>
              </a:rPr>
              <a:t>to </a:t>
            </a:r>
            <a:r>
              <a:rPr sz="1950" spc="100" dirty="0">
                <a:solidFill>
                  <a:srgbClr val="231F20"/>
                </a:solidFill>
                <a:latin typeface="Arial"/>
                <a:cs typeface="Arial"/>
              </a:rPr>
              <a:t>establish </a:t>
            </a:r>
            <a:r>
              <a:rPr sz="1950" spc="105" dirty="0">
                <a:solidFill>
                  <a:srgbClr val="231F20"/>
                </a:solidFill>
                <a:latin typeface="Arial"/>
                <a:cs typeface="Arial"/>
              </a:rPr>
              <a:t>useful</a:t>
            </a:r>
            <a:r>
              <a:rPr sz="1950" spc="660" dirty="0">
                <a:solidFill>
                  <a:srgbClr val="231F20"/>
                </a:solidFill>
                <a:latin typeface="Arial"/>
                <a:cs typeface="Arial"/>
              </a:rPr>
              <a:t> </a:t>
            </a:r>
            <a:r>
              <a:rPr sz="1950" spc="125" dirty="0">
                <a:solidFill>
                  <a:srgbClr val="231F20"/>
                </a:solidFill>
                <a:latin typeface="Arial"/>
                <a:cs typeface="Arial"/>
              </a:rPr>
              <a:t>properties</a:t>
            </a:r>
            <a:endParaRPr sz="1950">
              <a:latin typeface="Arial"/>
              <a:cs typeface="Arial"/>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815185" y="475981"/>
            <a:ext cx="6429375" cy="314960"/>
          </a:xfrm>
          <a:prstGeom prst="rect">
            <a:avLst/>
          </a:prstGeom>
        </p:spPr>
        <p:txBody>
          <a:bodyPr vert="horz" wrap="square" lIns="0" tIns="0" rIns="0" bIns="0" rtlCol="0">
            <a:spAutoFit/>
          </a:bodyPr>
          <a:lstStyle/>
          <a:p>
            <a:pPr marL="12700">
              <a:lnSpc>
                <a:spcPct val="100000"/>
              </a:lnSpc>
            </a:pPr>
            <a:r>
              <a:rPr sz="1950" spc="235" dirty="0">
                <a:solidFill>
                  <a:srgbClr val="231F20"/>
                </a:solidFill>
                <a:latin typeface="Arial"/>
                <a:cs typeface="Arial"/>
              </a:rPr>
              <a:t>Analyze </a:t>
            </a:r>
            <a:r>
              <a:rPr sz="1950" spc="355" dirty="0">
                <a:solidFill>
                  <a:srgbClr val="231F20"/>
                </a:solidFill>
                <a:latin typeface="Arial"/>
                <a:cs typeface="Arial"/>
              </a:rPr>
              <a:t>By </a:t>
            </a:r>
            <a:r>
              <a:rPr sz="1950" spc="390" dirty="0">
                <a:solidFill>
                  <a:srgbClr val="231F20"/>
                </a:solidFill>
                <a:latin typeface="Arial"/>
                <a:cs typeface="Arial"/>
              </a:rPr>
              <a:t>The </a:t>
            </a:r>
            <a:r>
              <a:rPr sz="1950" spc="305" dirty="0">
                <a:solidFill>
                  <a:srgbClr val="231F20"/>
                </a:solidFill>
                <a:latin typeface="Arial"/>
                <a:cs typeface="Arial"/>
              </a:rPr>
              <a:t>Methods </a:t>
            </a:r>
            <a:r>
              <a:rPr sz="1950" spc="434" dirty="0">
                <a:solidFill>
                  <a:srgbClr val="231F20"/>
                </a:solidFill>
                <a:latin typeface="Arial"/>
                <a:cs typeface="Arial"/>
              </a:rPr>
              <a:t>Of </a:t>
            </a:r>
            <a:r>
              <a:rPr sz="1950" spc="240" dirty="0">
                <a:solidFill>
                  <a:srgbClr val="231F20"/>
                </a:solidFill>
                <a:latin typeface="Arial"/>
                <a:cs typeface="Arial"/>
              </a:rPr>
              <a:t>Hybrid</a:t>
            </a:r>
            <a:r>
              <a:rPr sz="1950" spc="455" dirty="0">
                <a:solidFill>
                  <a:srgbClr val="231F20"/>
                </a:solidFill>
                <a:latin typeface="Arial"/>
                <a:cs typeface="Arial"/>
              </a:rPr>
              <a:t> </a:t>
            </a:r>
            <a:r>
              <a:rPr sz="1950" spc="235" dirty="0">
                <a:solidFill>
                  <a:srgbClr val="231F20"/>
                </a:solidFill>
                <a:latin typeface="Arial"/>
                <a:cs typeface="Arial"/>
              </a:rPr>
              <a:t>Systems</a:t>
            </a:r>
            <a:endParaRPr sz="1950">
              <a:latin typeface="Arial"/>
              <a:cs typeface="Arial"/>
            </a:endParaRPr>
          </a:p>
        </p:txBody>
      </p:sp>
      <p:sp>
        <p:nvSpPr>
          <p:cNvPr id="3" name="object 3"/>
          <p:cNvSpPr/>
          <p:nvPr/>
        </p:nvSpPr>
        <p:spPr>
          <a:xfrm>
            <a:off x="2186882" y="1265581"/>
            <a:ext cx="5687276" cy="4088249"/>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4906048" y="4044566"/>
            <a:ext cx="1068705" cy="1069340"/>
          </a:xfrm>
          <a:prstGeom prst="rect">
            <a:avLst/>
          </a:prstGeom>
        </p:spPr>
        <p:txBody>
          <a:bodyPr vert="horz" wrap="square" lIns="0" tIns="0" rIns="0" bIns="0" rtlCol="0">
            <a:spAutoFit/>
          </a:bodyPr>
          <a:lstStyle/>
          <a:p>
            <a:pPr marL="193675" marR="5080" indent="-181610">
              <a:lnSpc>
                <a:spcPct val="161400"/>
              </a:lnSpc>
            </a:pPr>
            <a:r>
              <a:rPr sz="2150" spc="-5" dirty="0">
                <a:latin typeface="Times New Roman"/>
                <a:cs typeface="Times New Roman"/>
              </a:rPr>
              <a:t>Stateflow  model</a:t>
            </a:r>
            <a:endParaRPr sz="2150">
              <a:latin typeface="Times New Roman"/>
              <a:cs typeface="Times New Roman"/>
            </a:endParaRPr>
          </a:p>
        </p:txBody>
      </p:sp>
      <p:sp>
        <p:nvSpPr>
          <p:cNvPr id="5" name="object 5"/>
          <p:cNvSpPr txBox="1">
            <a:spLocks noGrp="1"/>
          </p:cNvSpPr>
          <p:nvPr>
            <p:ph type="title"/>
          </p:nvPr>
        </p:nvSpPr>
        <p:spPr>
          <a:prstGeom prst="rect">
            <a:avLst/>
          </a:prstGeom>
        </p:spPr>
        <p:txBody>
          <a:bodyPr vert="horz" wrap="square" lIns="0" tIns="679381" rIns="0" bIns="0" rtlCol="0">
            <a:spAutoFit/>
          </a:bodyPr>
          <a:lstStyle/>
          <a:p>
            <a:pPr marL="3519170">
              <a:lnSpc>
                <a:spcPct val="100000"/>
              </a:lnSpc>
            </a:pPr>
            <a:r>
              <a:rPr sz="2150" spc="-5" dirty="0">
                <a:solidFill>
                  <a:srgbClr val="000000"/>
                </a:solidFill>
                <a:latin typeface="Times New Roman"/>
                <a:cs typeface="Times New Roman"/>
              </a:rPr>
              <a:t>Simulink</a:t>
            </a:r>
            <a:r>
              <a:rPr sz="2150" spc="-90" dirty="0">
                <a:solidFill>
                  <a:srgbClr val="000000"/>
                </a:solidFill>
                <a:latin typeface="Times New Roman"/>
                <a:cs typeface="Times New Roman"/>
              </a:rPr>
              <a:t> </a:t>
            </a:r>
            <a:r>
              <a:rPr sz="2150" spc="-5" dirty="0">
                <a:solidFill>
                  <a:srgbClr val="000000"/>
                </a:solidFill>
                <a:latin typeface="Times New Roman"/>
                <a:cs typeface="Times New Roman"/>
              </a:rPr>
              <a:t>model</a:t>
            </a:r>
            <a:endParaRPr sz="2150">
              <a:latin typeface="Times New Roman"/>
              <a:cs typeface="Times New Roman"/>
            </a:endParaRPr>
          </a:p>
        </p:txBody>
      </p:sp>
      <p:sp>
        <p:nvSpPr>
          <p:cNvPr id="6" name="object 6"/>
          <p:cNvSpPr txBox="1"/>
          <p:nvPr/>
        </p:nvSpPr>
        <p:spPr>
          <a:xfrm>
            <a:off x="901700" y="6026619"/>
            <a:ext cx="2411730" cy="314325"/>
          </a:xfrm>
          <a:prstGeom prst="rect">
            <a:avLst/>
          </a:prstGeom>
        </p:spPr>
        <p:txBody>
          <a:bodyPr vert="horz" wrap="square" lIns="0" tIns="0" rIns="0" bIns="0" rtlCol="0">
            <a:spAutoFit/>
          </a:bodyPr>
          <a:lstStyle/>
          <a:p>
            <a:pPr marL="12700">
              <a:lnSpc>
                <a:spcPct val="100000"/>
              </a:lnSpc>
            </a:pPr>
            <a:r>
              <a:rPr sz="1950" spc="300" dirty="0">
                <a:solidFill>
                  <a:srgbClr val="231F20"/>
                </a:solidFill>
                <a:latin typeface="Arial"/>
                <a:cs typeface="Arial"/>
              </a:rPr>
              <a:t>OK, </a:t>
            </a:r>
            <a:r>
              <a:rPr sz="1950" spc="220" dirty="0">
                <a:solidFill>
                  <a:srgbClr val="231F20"/>
                </a:solidFill>
                <a:latin typeface="Arial"/>
                <a:cs typeface="Arial"/>
              </a:rPr>
              <a:t>but</a:t>
            </a:r>
            <a:r>
              <a:rPr sz="1950" spc="215" dirty="0">
                <a:solidFill>
                  <a:srgbClr val="231F20"/>
                </a:solidFill>
                <a:latin typeface="Arial"/>
                <a:cs typeface="Arial"/>
              </a:rPr>
              <a:t> </a:t>
            </a:r>
            <a:r>
              <a:rPr sz="1950" spc="140" dirty="0">
                <a:solidFill>
                  <a:srgbClr val="231F20"/>
                </a:solidFill>
                <a:latin typeface="Arial"/>
                <a:cs typeface="Arial"/>
              </a:rPr>
              <a:t>restricted</a:t>
            </a:r>
            <a:endParaRPr sz="1950">
              <a:latin typeface="Arial"/>
              <a:cs typeface="Arial"/>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571383" y="401686"/>
            <a:ext cx="6917690" cy="760730"/>
          </a:xfrm>
          <a:prstGeom prst="rect">
            <a:avLst/>
          </a:prstGeom>
        </p:spPr>
        <p:txBody>
          <a:bodyPr vert="horz" wrap="square" lIns="0" tIns="0" rIns="0" bIns="0" rtlCol="0">
            <a:spAutoFit/>
          </a:bodyPr>
          <a:lstStyle/>
          <a:p>
            <a:pPr marL="1708785" marR="5080" indent="-1696720">
              <a:lnSpc>
                <a:spcPct val="125000"/>
              </a:lnSpc>
            </a:pPr>
            <a:r>
              <a:rPr sz="1950" spc="305" dirty="0">
                <a:solidFill>
                  <a:srgbClr val="231F20"/>
                </a:solidFill>
                <a:latin typeface="Arial"/>
                <a:cs typeface="Arial"/>
              </a:rPr>
              <a:t>Model </a:t>
            </a:r>
            <a:r>
              <a:rPr sz="1950" spc="254" dirty="0">
                <a:solidFill>
                  <a:srgbClr val="231F20"/>
                </a:solidFill>
                <a:latin typeface="Arial"/>
                <a:cs typeface="Arial"/>
              </a:rPr>
              <a:t>Check </a:t>
            </a:r>
            <a:r>
              <a:rPr sz="1950" spc="385" dirty="0">
                <a:solidFill>
                  <a:srgbClr val="231F20"/>
                </a:solidFill>
                <a:latin typeface="Arial"/>
                <a:cs typeface="Arial"/>
              </a:rPr>
              <a:t>With </a:t>
            </a:r>
            <a:r>
              <a:rPr sz="1950" spc="254" dirty="0">
                <a:solidFill>
                  <a:srgbClr val="231F20"/>
                </a:solidFill>
                <a:latin typeface="Arial"/>
                <a:cs typeface="Arial"/>
              </a:rPr>
              <a:t>Sound </a:t>
            </a:r>
            <a:r>
              <a:rPr sz="1950" spc="250" dirty="0">
                <a:solidFill>
                  <a:srgbClr val="231F20"/>
                </a:solidFill>
                <a:latin typeface="Arial"/>
                <a:cs typeface="Arial"/>
              </a:rPr>
              <a:t>Discretization </a:t>
            </a:r>
            <a:r>
              <a:rPr sz="1950" spc="434" dirty="0">
                <a:solidFill>
                  <a:srgbClr val="231F20"/>
                </a:solidFill>
                <a:latin typeface="Arial"/>
                <a:cs typeface="Arial"/>
              </a:rPr>
              <a:t>Of </a:t>
            </a:r>
            <a:r>
              <a:rPr sz="1950" spc="390" dirty="0">
                <a:solidFill>
                  <a:srgbClr val="231F20"/>
                </a:solidFill>
                <a:latin typeface="Arial"/>
                <a:cs typeface="Arial"/>
              </a:rPr>
              <a:t>The  </a:t>
            </a:r>
            <a:r>
              <a:rPr sz="1950" spc="260" dirty="0">
                <a:solidFill>
                  <a:srgbClr val="231F20"/>
                </a:solidFill>
                <a:latin typeface="Arial"/>
                <a:cs typeface="Arial"/>
              </a:rPr>
              <a:t>Continuous</a:t>
            </a:r>
            <a:r>
              <a:rPr sz="1950" spc="320" dirty="0">
                <a:solidFill>
                  <a:srgbClr val="231F20"/>
                </a:solidFill>
                <a:latin typeface="Arial"/>
                <a:cs typeface="Arial"/>
              </a:rPr>
              <a:t> </a:t>
            </a:r>
            <a:r>
              <a:rPr sz="1950" spc="285" dirty="0">
                <a:solidFill>
                  <a:srgbClr val="231F20"/>
                </a:solidFill>
                <a:latin typeface="Arial"/>
                <a:cs typeface="Arial"/>
              </a:rPr>
              <a:t>Environment</a:t>
            </a:r>
            <a:endParaRPr sz="1950">
              <a:latin typeface="Arial"/>
              <a:cs typeface="Arial"/>
            </a:endParaRPr>
          </a:p>
        </p:txBody>
      </p:sp>
      <p:sp>
        <p:nvSpPr>
          <p:cNvPr id="3" name="object 3"/>
          <p:cNvSpPr txBox="1">
            <a:spLocks noGrp="1"/>
          </p:cNvSpPr>
          <p:nvPr>
            <p:ph type="title"/>
          </p:nvPr>
        </p:nvSpPr>
        <p:spPr>
          <a:xfrm>
            <a:off x="3308959" y="1345107"/>
            <a:ext cx="1701164" cy="1129030"/>
          </a:xfrm>
          <a:prstGeom prst="rect">
            <a:avLst/>
          </a:prstGeom>
        </p:spPr>
        <p:txBody>
          <a:bodyPr vert="horz" wrap="square" lIns="0" tIns="0" rIns="0" bIns="0" rtlCol="0">
            <a:spAutoFit/>
          </a:bodyPr>
          <a:lstStyle/>
          <a:p>
            <a:pPr marL="12700" marR="5080" indent="390525">
              <a:lnSpc>
                <a:spcPct val="162900"/>
              </a:lnSpc>
            </a:pPr>
            <a:r>
              <a:rPr sz="2250" dirty="0">
                <a:latin typeface="Times New Roman"/>
                <a:cs typeface="Times New Roman"/>
              </a:rPr>
              <a:t>discrete  </a:t>
            </a:r>
            <a:r>
              <a:rPr sz="2250" spc="5" dirty="0">
                <a:latin typeface="Times New Roman"/>
                <a:cs typeface="Times New Roman"/>
              </a:rPr>
              <a:t>approximation</a:t>
            </a:r>
            <a:endParaRPr sz="2250">
              <a:latin typeface="Times New Roman"/>
              <a:cs typeface="Times New Roman"/>
            </a:endParaRPr>
          </a:p>
        </p:txBody>
      </p:sp>
      <p:sp>
        <p:nvSpPr>
          <p:cNvPr id="4" name="object 4"/>
          <p:cNvSpPr/>
          <p:nvPr/>
        </p:nvSpPr>
        <p:spPr>
          <a:xfrm>
            <a:off x="2962503" y="4081017"/>
            <a:ext cx="2394585" cy="1437005"/>
          </a:xfrm>
          <a:custGeom>
            <a:avLst/>
            <a:gdLst/>
            <a:ahLst/>
            <a:cxnLst/>
            <a:rect l="l" t="t" r="r" b="b"/>
            <a:pathLst>
              <a:path w="2394585" h="1437004">
                <a:moveTo>
                  <a:pt x="111721" y="0"/>
                </a:moveTo>
                <a:lnTo>
                  <a:pt x="106875" y="103"/>
                </a:lnTo>
                <a:lnTo>
                  <a:pt x="102081" y="410"/>
                </a:lnTo>
                <a:lnTo>
                  <a:pt x="62002" y="11645"/>
                </a:lnTo>
                <a:lnTo>
                  <a:pt x="29592" y="35982"/>
                </a:lnTo>
                <a:lnTo>
                  <a:pt x="7907" y="70364"/>
                </a:lnTo>
                <a:lnTo>
                  <a:pt x="0" y="111734"/>
                </a:lnTo>
                <a:lnTo>
                  <a:pt x="0" y="1324737"/>
                </a:lnTo>
                <a:lnTo>
                  <a:pt x="7907" y="1366098"/>
                </a:lnTo>
                <a:lnTo>
                  <a:pt x="29592" y="1400472"/>
                </a:lnTo>
                <a:lnTo>
                  <a:pt x="62002" y="1424803"/>
                </a:lnTo>
                <a:lnTo>
                  <a:pt x="102081" y="1436036"/>
                </a:lnTo>
                <a:lnTo>
                  <a:pt x="111721" y="1436446"/>
                </a:lnTo>
                <a:lnTo>
                  <a:pt x="2282355" y="1436446"/>
                </a:lnTo>
                <a:lnTo>
                  <a:pt x="2323718" y="1428539"/>
                </a:lnTo>
                <a:lnTo>
                  <a:pt x="2358096" y="1406854"/>
                </a:lnTo>
                <a:lnTo>
                  <a:pt x="2382431" y="1374448"/>
                </a:lnTo>
                <a:lnTo>
                  <a:pt x="2393666" y="1334375"/>
                </a:lnTo>
                <a:lnTo>
                  <a:pt x="2394077" y="1324737"/>
                </a:lnTo>
                <a:lnTo>
                  <a:pt x="2394077" y="111734"/>
                </a:lnTo>
                <a:lnTo>
                  <a:pt x="2386168" y="70364"/>
                </a:lnTo>
                <a:lnTo>
                  <a:pt x="2364479" y="35982"/>
                </a:lnTo>
                <a:lnTo>
                  <a:pt x="2332069" y="11645"/>
                </a:lnTo>
                <a:lnTo>
                  <a:pt x="2291994" y="410"/>
                </a:lnTo>
                <a:lnTo>
                  <a:pt x="2282355" y="0"/>
                </a:lnTo>
                <a:lnTo>
                  <a:pt x="111721" y="0"/>
                </a:lnTo>
                <a:close/>
              </a:path>
            </a:pathLst>
          </a:custGeom>
          <a:ln w="7980">
            <a:solidFill>
              <a:srgbClr val="0000FF"/>
            </a:solidFill>
          </a:ln>
        </p:spPr>
        <p:txBody>
          <a:bodyPr wrap="square" lIns="0" tIns="0" rIns="0" bIns="0" rtlCol="0"/>
          <a:lstStyle/>
          <a:p>
            <a:endParaRPr/>
          </a:p>
        </p:txBody>
      </p:sp>
      <p:sp>
        <p:nvSpPr>
          <p:cNvPr id="5" name="object 5"/>
          <p:cNvSpPr/>
          <p:nvPr/>
        </p:nvSpPr>
        <p:spPr>
          <a:xfrm>
            <a:off x="2962503" y="1447533"/>
            <a:ext cx="2394585" cy="1437005"/>
          </a:xfrm>
          <a:custGeom>
            <a:avLst/>
            <a:gdLst/>
            <a:ahLst/>
            <a:cxnLst/>
            <a:rect l="l" t="t" r="r" b="b"/>
            <a:pathLst>
              <a:path w="2394585" h="1437005">
                <a:moveTo>
                  <a:pt x="111721" y="0"/>
                </a:moveTo>
                <a:lnTo>
                  <a:pt x="106875" y="103"/>
                </a:lnTo>
                <a:lnTo>
                  <a:pt x="102081" y="410"/>
                </a:lnTo>
                <a:lnTo>
                  <a:pt x="62002" y="11645"/>
                </a:lnTo>
                <a:lnTo>
                  <a:pt x="29592" y="35980"/>
                </a:lnTo>
                <a:lnTo>
                  <a:pt x="7907" y="70358"/>
                </a:lnTo>
                <a:lnTo>
                  <a:pt x="0" y="111721"/>
                </a:lnTo>
                <a:lnTo>
                  <a:pt x="0" y="1324724"/>
                </a:lnTo>
                <a:lnTo>
                  <a:pt x="7907" y="1366087"/>
                </a:lnTo>
                <a:lnTo>
                  <a:pt x="29592" y="1400465"/>
                </a:lnTo>
                <a:lnTo>
                  <a:pt x="62002" y="1424800"/>
                </a:lnTo>
                <a:lnTo>
                  <a:pt x="102081" y="1436036"/>
                </a:lnTo>
                <a:lnTo>
                  <a:pt x="111721" y="1436446"/>
                </a:lnTo>
                <a:lnTo>
                  <a:pt x="2282355" y="1436446"/>
                </a:lnTo>
                <a:lnTo>
                  <a:pt x="2323718" y="1428537"/>
                </a:lnTo>
                <a:lnTo>
                  <a:pt x="2358096" y="1406849"/>
                </a:lnTo>
                <a:lnTo>
                  <a:pt x="2382431" y="1374438"/>
                </a:lnTo>
                <a:lnTo>
                  <a:pt x="2393666" y="1334363"/>
                </a:lnTo>
                <a:lnTo>
                  <a:pt x="2394077" y="1324724"/>
                </a:lnTo>
                <a:lnTo>
                  <a:pt x="2394077" y="111721"/>
                </a:lnTo>
                <a:lnTo>
                  <a:pt x="2386168" y="70358"/>
                </a:lnTo>
                <a:lnTo>
                  <a:pt x="2364479" y="35980"/>
                </a:lnTo>
                <a:lnTo>
                  <a:pt x="2332069" y="11645"/>
                </a:lnTo>
                <a:lnTo>
                  <a:pt x="2291994" y="410"/>
                </a:lnTo>
                <a:lnTo>
                  <a:pt x="2282355" y="0"/>
                </a:lnTo>
                <a:lnTo>
                  <a:pt x="111721" y="0"/>
                </a:lnTo>
                <a:close/>
              </a:path>
            </a:pathLst>
          </a:custGeom>
          <a:ln w="7980">
            <a:solidFill>
              <a:srgbClr val="0000FF"/>
            </a:solidFill>
          </a:ln>
        </p:spPr>
        <p:txBody>
          <a:bodyPr wrap="square" lIns="0" tIns="0" rIns="0" bIns="0" rtlCol="0"/>
          <a:lstStyle/>
          <a:p>
            <a:endParaRPr/>
          </a:p>
        </p:txBody>
      </p:sp>
      <p:sp>
        <p:nvSpPr>
          <p:cNvPr id="6" name="object 6"/>
          <p:cNvSpPr/>
          <p:nvPr/>
        </p:nvSpPr>
        <p:spPr>
          <a:xfrm>
            <a:off x="1579244" y="2165756"/>
            <a:ext cx="1383665" cy="2494280"/>
          </a:xfrm>
          <a:custGeom>
            <a:avLst/>
            <a:gdLst/>
            <a:ahLst/>
            <a:cxnLst/>
            <a:rect l="l" t="t" r="r" b="b"/>
            <a:pathLst>
              <a:path w="1383664" h="2494279">
                <a:moveTo>
                  <a:pt x="1383258" y="0"/>
                </a:moveTo>
                <a:lnTo>
                  <a:pt x="1381125" y="1066"/>
                </a:lnTo>
                <a:lnTo>
                  <a:pt x="1377937" y="4254"/>
                </a:lnTo>
                <a:lnTo>
                  <a:pt x="1370482" y="10642"/>
                </a:lnTo>
                <a:lnTo>
                  <a:pt x="1358785" y="19151"/>
                </a:lnTo>
                <a:lnTo>
                  <a:pt x="1342821" y="32981"/>
                </a:lnTo>
                <a:lnTo>
                  <a:pt x="1321536" y="50012"/>
                </a:lnTo>
                <a:lnTo>
                  <a:pt x="1294942" y="72351"/>
                </a:lnTo>
                <a:lnTo>
                  <a:pt x="1261948" y="100012"/>
                </a:lnTo>
                <a:lnTo>
                  <a:pt x="1224711" y="131940"/>
                </a:lnTo>
                <a:lnTo>
                  <a:pt x="1181087" y="168122"/>
                </a:lnTo>
                <a:lnTo>
                  <a:pt x="1132141" y="208546"/>
                </a:lnTo>
                <a:lnTo>
                  <a:pt x="1080008" y="253238"/>
                </a:lnTo>
                <a:lnTo>
                  <a:pt x="1024674" y="300062"/>
                </a:lnTo>
                <a:lnTo>
                  <a:pt x="965085" y="351129"/>
                </a:lnTo>
                <a:lnTo>
                  <a:pt x="904443" y="403275"/>
                </a:lnTo>
                <a:lnTo>
                  <a:pt x="842721" y="457530"/>
                </a:lnTo>
                <a:lnTo>
                  <a:pt x="781011" y="512864"/>
                </a:lnTo>
                <a:lnTo>
                  <a:pt x="718235" y="568198"/>
                </a:lnTo>
                <a:lnTo>
                  <a:pt x="657580" y="622465"/>
                </a:lnTo>
                <a:lnTo>
                  <a:pt x="597992" y="676732"/>
                </a:lnTo>
                <a:lnTo>
                  <a:pt x="540537" y="730999"/>
                </a:lnTo>
                <a:lnTo>
                  <a:pt x="485203" y="783132"/>
                </a:lnTo>
                <a:lnTo>
                  <a:pt x="433070" y="834199"/>
                </a:lnTo>
                <a:lnTo>
                  <a:pt x="383057" y="883145"/>
                </a:lnTo>
                <a:lnTo>
                  <a:pt x="336245" y="929970"/>
                </a:lnTo>
                <a:lnTo>
                  <a:pt x="292620" y="975728"/>
                </a:lnTo>
                <a:lnTo>
                  <a:pt x="252183" y="1020406"/>
                </a:lnTo>
                <a:lnTo>
                  <a:pt x="216001" y="1061910"/>
                </a:lnTo>
                <a:lnTo>
                  <a:pt x="181952" y="1102334"/>
                </a:lnTo>
                <a:lnTo>
                  <a:pt x="151104" y="1140650"/>
                </a:lnTo>
                <a:lnTo>
                  <a:pt x="123431" y="1177886"/>
                </a:lnTo>
                <a:lnTo>
                  <a:pt x="98958" y="1214069"/>
                </a:lnTo>
                <a:lnTo>
                  <a:pt x="76619" y="1248117"/>
                </a:lnTo>
                <a:lnTo>
                  <a:pt x="41503" y="1313027"/>
                </a:lnTo>
                <a:lnTo>
                  <a:pt x="18097" y="1374736"/>
                </a:lnTo>
                <a:lnTo>
                  <a:pt x="4267" y="1433258"/>
                </a:lnTo>
                <a:lnTo>
                  <a:pt x="0" y="1489646"/>
                </a:lnTo>
                <a:lnTo>
                  <a:pt x="1066" y="1518373"/>
                </a:lnTo>
                <a:lnTo>
                  <a:pt x="10642" y="1575841"/>
                </a:lnTo>
                <a:lnTo>
                  <a:pt x="31927" y="1632229"/>
                </a:lnTo>
                <a:lnTo>
                  <a:pt x="63842" y="1689696"/>
                </a:lnTo>
                <a:lnTo>
                  <a:pt x="109601" y="1748205"/>
                </a:lnTo>
                <a:lnTo>
                  <a:pt x="136207" y="1778000"/>
                </a:lnTo>
                <a:lnTo>
                  <a:pt x="167055" y="1807794"/>
                </a:lnTo>
                <a:lnTo>
                  <a:pt x="201117" y="1838655"/>
                </a:lnTo>
                <a:lnTo>
                  <a:pt x="239420" y="1870570"/>
                </a:lnTo>
                <a:lnTo>
                  <a:pt x="280911" y="1903564"/>
                </a:lnTo>
                <a:lnTo>
                  <a:pt x="325602" y="1937613"/>
                </a:lnTo>
                <a:lnTo>
                  <a:pt x="373481" y="1971662"/>
                </a:lnTo>
                <a:lnTo>
                  <a:pt x="425627" y="2006777"/>
                </a:lnTo>
                <a:lnTo>
                  <a:pt x="479882" y="2042947"/>
                </a:lnTo>
                <a:lnTo>
                  <a:pt x="537349" y="2080196"/>
                </a:lnTo>
                <a:lnTo>
                  <a:pt x="597992" y="2118499"/>
                </a:lnTo>
                <a:lnTo>
                  <a:pt x="660768" y="2155736"/>
                </a:lnTo>
                <a:lnTo>
                  <a:pt x="724611" y="2194039"/>
                </a:lnTo>
                <a:lnTo>
                  <a:pt x="789520" y="2232342"/>
                </a:lnTo>
                <a:lnTo>
                  <a:pt x="855497" y="2269591"/>
                </a:lnTo>
                <a:lnTo>
                  <a:pt x="920394" y="2305761"/>
                </a:lnTo>
                <a:lnTo>
                  <a:pt x="983183" y="2340876"/>
                </a:lnTo>
                <a:lnTo>
                  <a:pt x="1043825" y="2374925"/>
                </a:lnTo>
                <a:lnTo>
                  <a:pt x="1101280" y="2405786"/>
                </a:lnTo>
                <a:lnTo>
                  <a:pt x="1154493" y="2434513"/>
                </a:lnTo>
                <a:lnTo>
                  <a:pt x="1203439" y="2460053"/>
                </a:lnTo>
                <a:lnTo>
                  <a:pt x="1245997" y="2482392"/>
                </a:lnTo>
                <a:lnTo>
                  <a:pt x="1268111" y="2494102"/>
                </a:lnTo>
              </a:path>
            </a:pathLst>
          </a:custGeom>
          <a:ln w="7980">
            <a:solidFill>
              <a:srgbClr val="0000FF"/>
            </a:solidFill>
          </a:ln>
        </p:spPr>
        <p:txBody>
          <a:bodyPr wrap="square" lIns="0" tIns="0" rIns="0" bIns="0" rtlCol="0"/>
          <a:lstStyle/>
          <a:p>
            <a:endParaRPr/>
          </a:p>
        </p:txBody>
      </p:sp>
      <p:sp>
        <p:nvSpPr>
          <p:cNvPr id="7" name="object 7"/>
          <p:cNvSpPr/>
          <p:nvPr/>
        </p:nvSpPr>
        <p:spPr>
          <a:xfrm>
            <a:off x="2847356" y="4659858"/>
            <a:ext cx="51435" cy="26670"/>
          </a:xfrm>
          <a:custGeom>
            <a:avLst/>
            <a:gdLst/>
            <a:ahLst/>
            <a:cxnLst/>
            <a:rect l="l" t="t" r="r" b="b"/>
            <a:pathLst>
              <a:path w="51435" h="26670">
                <a:moveTo>
                  <a:pt x="0" y="0"/>
                </a:moveTo>
                <a:lnTo>
                  <a:pt x="14055" y="7442"/>
                </a:lnTo>
                <a:lnTo>
                  <a:pt x="44916" y="23406"/>
                </a:lnTo>
                <a:lnTo>
                  <a:pt x="50827" y="26489"/>
                </a:lnTo>
              </a:path>
            </a:pathLst>
          </a:custGeom>
          <a:ln w="7980">
            <a:solidFill>
              <a:srgbClr val="0000FF"/>
            </a:solidFill>
          </a:ln>
        </p:spPr>
        <p:txBody>
          <a:bodyPr wrap="square" lIns="0" tIns="0" rIns="0" bIns="0" rtlCol="0"/>
          <a:lstStyle/>
          <a:p>
            <a:endParaRPr/>
          </a:p>
        </p:txBody>
      </p:sp>
      <p:sp>
        <p:nvSpPr>
          <p:cNvPr id="8" name="object 8"/>
          <p:cNvSpPr/>
          <p:nvPr/>
        </p:nvSpPr>
        <p:spPr>
          <a:xfrm>
            <a:off x="2772041" y="4602403"/>
            <a:ext cx="128905" cy="86360"/>
          </a:xfrm>
          <a:custGeom>
            <a:avLst/>
            <a:gdLst/>
            <a:ahLst/>
            <a:cxnLst/>
            <a:rect l="l" t="t" r="r" b="b"/>
            <a:pathLst>
              <a:path w="128905" h="86360">
                <a:moveTo>
                  <a:pt x="128739" y="86182"/>
                </a:moveTo>
                <a:lnTo>
                  <a:pt x="28727" y="0"/>
                </a:lnTo>
                <a:lnTo>
                  <a:pt x="0" y="57454"/>
                </a:lnTo>
                <a:lnTo>
                  <a:pt x="128739" y="86182"/>
                </a:lnTo>
                <a:close/>
              </a:path>
            </a:pathLst>
          </a:custGeom>
          <a:solidFill>
            <a:srgbClr val="0000FF"/>
          </a:solidFill>
        </p:spPr>
        <p:txBody>
          <a:bodyPr wrap="square" lIns="0" tIns="0" rIns="0" bIns="0" rtlCol="0"/>
          <a:lstStyle/>
          <a:p>
            <a:endParaRPr/>
          </a:p>
        </p:txBody>
      </p:sp>
      <p:sp>
        <p:nvSpPr>
          <p:cNvPr id="9" name="object 9"/>
          <p:cNvSpPr/>
          <p:nvPr/>
        </p:nvSpPr>
        <p:spPr>
          <a:xfrm>
            <a:off x="2772041" y="4602403"/>
            <a:ext cx="128905" cy="86360"/>
          </a:xfrm>
          <a:custGeom>
            <a:avLst/>
            <a:gdLst/>
            <a:ahLst/>
            <a:cxnLst/>
            <a:rect l="l" t="t" r="r" b="b"/>
            <a:pathLst>
              <a:path w="128905" h="86360">
                <a:moveTo>
                  <a:pt x="0" y="57454"/>
                </a:moveTo>
                <a:lnTo>
                  <a:pt x="128739" y="86182"/>
                </a:lnTo>
                <a:lnTo>
                  <a:pt x="28727" y="0"/>
                </a:lnTo>
                <a:lnTo>
                  <a:pt x="0" y="57454"/>
                </a:lnTo>
                <a:close/>
              </a:path>
            </a:pathLst>
          </a:custGeom>
          <a:ln w="31921">
            <a:solidFill>
              <a:srgbClr val="0000FF"/>
            </a:solidFill>
          </a:ln>
        </p:spPr>
        <p:txBody>
          <a:bodyPr wrap="square" lIns="0" tIns="0" rIns="0" bIns="0" rtlCol="0"/>
          <a:lstStyle/>
          <a:p>
            <a:endParaRPr/>
          </a:p>
        </p:txBody>
      </p:sp>
      <p:sp>
        <p:nvSpPr>
          <p:cNvPr id="10" name="object 10"/>
          <p:cNvSpPr/>
          <p:nvPr/>
        </p:nvSpPr>
        <p:spPr>
          <a:xfrm>
            <a:off x="5413487" y="2134601"/>
            <a:ext cx="116205" cy="100330"/>
          </a:xfrm>
          <a:custGeom>
            <a:avLst/>
            <a:gdLst/>
            <a:ahLst/>
            <a:cxnLst/>
            <a:rect l="l" t="t" r="r" b="b"/>
            <a:pathLst>
              <a:path w="116204" h="100330">
                <a:moveTo>
                  <a:pt x="115854" y="100319"/>
                </a:moveTo>
                <a:lnTo>
                  <a:pt x="96318" y="83288"/>
                </a:lnTo>
                <a:lnTo>
                  <a:pt x="59082" y="51373"/>
                </a:lnTo>
                <a:lnTo>
                  <a:pt x="28221" y="23700"/>
                </a:lnTo>
                <a:lnTo>
                  <a:pt x="1614" y="1360"/>
                </a:lnTo>
                <a:lnTo>
                  <a:pt x="0" y="0"/>
                </a:lnTo>
              </a:path>
            </a:pathLst>
          </a:custGeom>
          <a:ln w="7980">
            <a:solidFill>
              <a:srgbClr val="0000FF"/>
            </a:solidFill>
          </a:ln>
        </p:spPr>
        <p:txBody>
          <a:bodyPr wrap="square" lIns="0" tIns="0" rIns="0" bIns="0" rtlCol="0"/>
          <a:lstStyle/>
          <a:p>
            <a:endParaRPr/>
          </a:p>
        </p:txBody>
      </p:sp>
      <p:sp>
        <p:nvSpPr>
          <p:cNvPr id="11" name="object 11"/>
          <p:cNvSpPr/>
          <p:nvPr/>
        </p:nvSpPr>
        <p:spPr>
          <a:xfrm>
            <a:off x="5409781" y="2129574"/>
            <a:ext cx="118110" cy="105410"/>
          </a:xfrm>
          <a:custGeom>
            <a:avLst/>
            <a:gdLst/>
            <a:ahLst/>
            <a:cxnLst/>
            <a:rect l="l" t="t" r="r" b="b"/>
            <a:pathLst>
              <a:path w="118110" h="105410">
                <a:moveTo>
                  <a:pt x="118110" y="55333"/>
                </a:moveTo>
                <a:lnTo>
                  <a:pt x="0" y="0"/>
                </a:lnTo>
                <a:lnTo>
                  <a:pt x="77685" y="105346"/>
                </a:lnTo>
                <a:lnTo>
                  <a:pt x="118110" y="55333"/>
                </a:lnTo>
                <a:close/>
              </a:path>
            </a:pathLst>
          </a:custGeom>
          <a:solidFill>
            <a:srgbClr val="0000FF"/>
          </a:solidFill>
        </p:spPr>
        <p:txBody>
          <a:bodyPr wrap="square" lIns="0" tIns="0" rIns="0" bIns="0" rtlCol="0"/>
          <a:lstStyle/>
          <a:p>
            <a:endParaRPr/>
          </a:p>
        </p:txBody>
      </p:sp>
      <p:sp>
        <p:nvSpPr>
          <p:cNvPr id="12" name="object 12"/>
          <p:cNvSpPr/>
          <p:nvPr/>
        </p:nvSpPr>
        <p:spPr>
          <a:xfrm>
            <a:off x="5409781" y="2129574"/>
            <a:ext cx="118110" cy="105410"/>
          </a:xfrm>
          <a:custGeom>
            <a:avLst/>
            <a:gdLst/>
            <a:ahLst/>
            <a:cxnLst/>
            <a:rect l="l" t="t" r="r" b="b"/>
            <a:pathLst>
              <a:path w="118110" h="105410">
                <a:moveTo>
                  <a:pt x="118110" y="55333"/>
                </a:moveTo>
                <a:lnTo>
                  <a:pt x="0" y="0"/>
                </a:lnTo>
                <a:lnTo>
                  <a:pt x="77685" y="105346"/>
                </a:lnTo>
                <a:lnTo>
                  <a:pt x="118110" y="55333"/>
                </a:lnTo>
                <a:close/>
              </a:path>
            </a:pathLst>
          </a:custGeom>
          <a:ln w="31921">
            <a:solidFill>
              <a:srgbClr val="0000FF"/>
            </a:solidFill>
          </a:ln>
        </p:spPr>
        <p:txBody>
          <a:bodyPr wrap="square" lIns="0" tIns="0" rIns="0" bIns="0" rtlCol="0"/>
          <a:lstStyle/>
          <a:p>
            <a:endParaRPr/>
          </a:p>
        </p:txBody>
      </p:sp>
      <p:sp>
        <p:nvSpPr>
          <p:cNvPr id="13" name="object 13"/>
          <p:cNvSpPr txBox="1"/>
          <p:nvPr/>
        </p:nvSpPr>
        <p:spPr>
          <a:xfrm>
            <a:off x="3676053" y="4138218"/>
            <a:ext cx="1127125" cy="1129030"/>
          </a:xfrm>
          <a:prstGeom prst="rect">
            <a:avLst/>
          </a:prstGeom>
        </p:spPr>
        <p:txBody>
          <a:bodyPr vert="horz" wrap="square" lIns="0" tIns="0" rIns="0" bIns="0" rtlCol="0">
            <a:spAutoFit/>
          </a:bodyPr>
          <a:lstStyle/>
          <a:p>
            <a:pPr marL="203835" marR="5080" indent="-191770">
              <a:lnSpc>
                <a:spcPct val="162900"/>
              </a:lnSpc>
            </a:pPr>
            <a:r>
              <a:rPr sz="2250" dirty="0">
                <a:solidFill>
                  <a:srgbClr val="0000FF"/>
                </a:solidFill>
                <a:latin typeface="Times New Roman"/>
                <a:cs typeface="Times New Roman"/>
              </a:rPr>
              <a:t>Stateflow  </a:t>
            </a:r>
            <a:r>
              <a:rPr sz="2250" spc="5" dirty="0">
                <a:solidFill>
                  <a:srgbClr val="0000FF"/>
                </a:solidFill>
                <a:latin typeface="Times New Roman"/>
                <a:cs typeface="Times New Roman"/>
              </a:rPr>
              <a:t>model</a:t>
            </a:r>
            <a:endParaRPr sz="2250">
              <a:latin typeface="Times New Roman"/>
              <a:cs typeface="Times New Roman"/>
            </a:endParaRPr>
          </a:p>
        </p:txBody>
      </p:sp>
      <p:sp>
        <p:nvSpPr>
          <p:cNvPr id="14" name="object 14"/>
          <p:cNvSpPr txBox="1"/>
          <p:nvPr/>
        </p:nvSpPr>
        <p:spPr>
          <a:xfrm>
            <a:off x="5742889" y="4832705"/>
            <a:ext cx="2674620" cy="354965"/>
          </a:xfrm>
          <a:prstGeom prst="rect">
            <a:avLst/>
          </a:prstGeom>
        </p:spPr>
        <p:txBody>
          <a:bodyPr vert="horz" wrap="square" lIns="0" tIns="0" rIns="0" bIns="0" rtlCol="0">
            <a:spAutoFit/>
          </a:bodyPr>
          <a:lstStyle/>
          <a:p>
            <a:pPr marL="12700">
              <a:lnSpc>
                <a:spcPct val="100000"/>
              </a:lnSpc>
            </a:pPr>
            <a:r>
              <a:rPr sz="2250" spc="5" dirty="0">
                <a:solidFill>
                  <a:srgbClr val="0000FF"/>
                </a:solidFill>
                <a:latin typeface="Times New Roman"/>
                <a:cs typeface="Times New Roman"/>
              </a:rPr>
              <a:t>Model check </a:t>
            </a:r>
            <a:r>
              <a:rPr sz="2250" dirty="0">
                <a:solidFill>
                  <a:srgbClr val="0000FF"/>
                </a:solidFill>
                <a:latin typeface="Times New Roman"/>
                <a:cs typeface="Times New Roman"/>
              </a:rPr>
              <a:t>all </a:t>
            </a:r>
            <a:r>
              <a:rPr sz="2250" spc="5" dirty="0">
                <a:solidFill>
                  <a:srgbClr val="0000FF"/>
                </a:solidFill>
                <a:latin typeface="Times New Roman"/>
                <a:cs typeface="Times New Roman"/>
              </a:rPr>
              <a:t>of</a:t>
            </a:r>
            <a:r>
              <a:rPr sz="2250" spc="-70" dirty="0">
                <a:solidFill>
                  <a:srgbClr val="0000FF"/>
                </a:solidFill>
                <a:latin typeface="Times New Roman"/>
                <a:cs typeface="Times New Roman"/>
              </a:rPr>
              <a:t> </a:t>
            </a:r>
            <a:r>
              <a:rPr sz="2250" dirty="0">
                <a:solidFill>
                  <a:srgbClr val="0000FF"/>
                </a:solidFill>
                <a:latin typeface="Times New Roman"/>
                <a:cs typeface="Times New Roman"/>
              </a:rPr>
              <a:t>this</a:t>
            </a:r>
            <a:endParaRPr sz="2250">
              <a:latin typeface="Times New Roman"/>
              <a:cs typeface="Times New Roman"/>
            </a:endParaRPr>
          </a:p>
        </p:txBody>
      </p:sp>
      <p:sp>
        <p:nvSpPr>
          <p:cNvPr id="15" name="object 15"/>
          <p:cNvSpPr txBox="1"/>
          <p:nvPr/>
        </p:nvSpPr>
        <p:spPr>
          <a:xfrm>
            <a:off x="901700" y="6026619"/>
            <a:ext cx="1271270" cy="314325"/>
          </a:xfrm>
          <a:prstGeom prst="rect">
            <a:avLst/>
          </a:prstGeom>
        </p:spPr>
        <p:txBody>
          <a:bodyPr vert="horz" wrap="square" lIns="0" tIns="0" rIns="0" bIns="0" rtlCol="0">
            <a:spAutoFit/>
          </a:bodyPr>
          <a:lstStyle/>
          <a:p>
            <a:pPr marL="12700">
              <a:lnSpc>
                <a:spcPct val="100000"/>
              </a:lnSpc>
            </a:pPr>
            <a:r>
              <a:rPr sz="1950" spc="160" dirty="0">
                <a:solidFill>
                  <a:srgbClr val="231F20"/>
                </a:solidFill>
                <a:latin typeface="Arial"/>
                <a:cs typeface="Arial"/>
              </a:rPr>
              <a:t>Just</a:t>
            </a:r>
            <a:r>
              <a:rPr sz="1950" spc="210" dirty="0">
                <a:solidFill>
                  <a:srgbClr val="231F20"/>
                </a:solidFill>
                <a:latin typeface="Arial"/>
                <a:cs typeface="Arial"/>
              </a:rPr>
              <a:t> </a:t>
            </a:r>
            <a:r>
              <a:rPr sz="1950" spc="185" dirty="0">
                <a:solidFill>
                  <a:srgbClr val="231F20"/>
                </a:solidFill>
                <a:latin typeface="Arial"/>
                <a:cs typeface="Arial"/>
              </a:rPr>
              <a:t>right</a:t>
            </a:r>
            <a:endParaRPr sz="1950">
              <a:latin typeface="Arial"/>
              <a:cs typeface="Aria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698182"/>
            <a:ext cx="7989570" cy="3909060"/>
          </a:xfrm>
          <a:prstGeom prst="rect">
            <a:avLst/>
          </a:prstGeom>
        </p:spPr>
        <p:txBody>
          <a:bodyPr vert="horz" wrap="square" lIns="0" tIns="0" rIns="0" bIns="0" rtlCol="0">
            <a:spAutoFit/>
          </a:bodyPr>
          <a:lstStyle/>
          <a:p>
            <a:pPr marL="1514475">
              <a:lnSpc>
                <a:spcPct val="100000"/>
              </a:lnSpc>
            </a:pPr>
            <a:r>
              <a:rPr sz="1950" spc="340" dirty="0">
                <a:solidFill>
                  <a:srgbClr val="231F20"/>
                </a:solidFill>
                <a:latin typeface="Arial"/>
                <a:cs typeface="Arial"/>
              </a:rPr>
              <a:t>Data </a:t>
            </a:r>
            <a:r>
              <a:rPr sz="1950" spc="275" dirty="0">
                <a:solidFill>
                  <a:srgbClr val="231F20"/>
                </a:solidFill>
                <a:latin typeface="Arial"/>
                <a:cs typeface="Arial"/>
              </a:rPr>
              <a:t>Abstraction </a:t>
            </a:r>
            <a:r>
              <a:rPr sz="1950" spc="245" dirty="0">
                <a:solidFill>
                  <a:srgbClr val="231F20"/>
                </a:solidFill>
                <a:latin typeface="Arial"/>
                <a:cs typeface="Arial"/>
              </a:rPr>
              <a:t>for </a:t>
            </a:r>
            <a:r>
              <a:rPr sz="1950" spc="240" dirty="0">
                <a:solidFill>
                  <a:srgbClr val="231F20"/>
                </a:solidFill>
                <a:latin typeface="Arial"/>
                <a:cs typeface="Arial"/>
              </a:rPr>
              <a:t>Hybrid</a:t>
            </a:r>
            <a:r>
              <a:rPr sz="1950" spc="575" dirty="0">
                <a:solidFill>
                  <a:srgbClr val="231F20"/>
                </a:solidFill>
                <a:latin typeface="Arial"/>
                <a:cs typeface="Arial"/>
              </a:rPr>
              <a:t> </a:t>
            </a:r>
            <a:r>
              <a:rPr sz="1950" spc="235" dirty="0">
                <a:solidFill>
                  <a:srgbClr val="231F20"/>
                </a:solidFill>
                <a:latin typeface="Arial"/>
                <a:cs typeface="Arial"/>
              </a:rPr>
              <a:t>Systems</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15" dirty="0">
                <a:solidFill>
                  <a:srgbClr val="231F20"/>
                </a:solidFill>
                <a:latin typeface="Arial"/>
                <a:cs typeface="Arial"/>
              </a:rPr>
              <a:t>Method </a:t>
            </a:r>
            <a:r>
              <a:rPr sz="1950" spc="105" dirty="0">
                <a:solidFill>
                  <a:srgbClr val="231F20"/>
                </a:solidFill>
                <a:latin typeface="Arial"/>
                <a:cs typeface="Arial"/>
              </a:rPr>
              <a:t>developed by </a:t>
            </a:r>
            <a:r>
              <a:rPr sz="1950" spc="110" dirty="0">
                <a:solidFill>
                  <a:srgbClr val="231F20"/>
                </a:solidFill>
                <a:latin typeface="Arial"/>
                <a:cs typeface="Arial"/>
              </a:rPr>
              <a:t>Ashish</a:t>
            </a:r>
            <a:r>
              <a:rPr sz="1950" spc="640" dirty="0">
                <a:solidFill>
                  <a:srgbClr val="231F20"/>
                </a:solidFill>
                <a:latin typeface="Arial"/>
                <a:cs typeface="Arial"/>
              </a:rPr>
              <a:t> </a:t>
            </a:r>
            <a:r>
              <a:rPr sz="1950" spc="195" dirty="0">
                <a:solidFill>
                  <a:srgbClr val="231F20"/>
                </a:solidFill>
                <a:latin typeface="Arial"/>
                <a:cs typeface="Arial"/>
              </a:rPr>
              <a:t>Tiwari</a:t>
            </a:r>
            <a:endParaRPr sz="1950">
              <a:latin typeface="Arial"/>
              <a:cs typeface="Arial"/>
            </a:endParaRPr>
          </a:p>
          <a:p>
            <a:pPr marL="300990" marR="66675" indent="-288290">
              <a:lnSpc>
                <a:spcPct val="120800"/>
              </a:lnSpc>
              <a:spcBef>
                <a:spcPts val="1440"/>
              </a:spcBef>
              <a:buSzPct val="105128"/>
              <a:buFont typeface="Lucida Sans Unicode"/>
              <a:buChar char="•"/>
              <a:tabLst>
                <a:tab pos="301625" algn="l"/>
              </a:tabLst>
            </a:pPr>
            <a:r>
              <a:rPr sz="1950" spc="250" dirty="0">
                <a:solidFill>
                  <a:srgbClr val="231F20"/>
                </a:solidFill>
                <a:latin typeface="Arial"/>
                <a:cs typeface="Arial"/>
              </a:rPr>
              <a:t>The </a:t>
            </a:r>
            <a:r>
              <a:rPr sz="1950" spc="145" dirty="0">
                <a:solidFill>
                  <a:srgbClr val="231F20"/>
                </a:solidFill>
                <a:latin typeface="Arial"/>
                <a:cs typeface="Arial"/>
              </a:rPr>
              <a:t>continuous </a:t>
            </a:r>
            <a:r>
              <a:rPr sz="1950" spc="155" dirty="0">
                <a:solidFill>
                  <a:srgbClr val="231F20"/>
                </a:solidFill>
                <a:latin typeface="Arial"/>
                <a:cs typeface="Arial"/>
              </a:rPr>
              <a:t>environment </a:t>
            </a:r>
            <a:r>
              <a:rPr sz="1950" spc="40" dirty="0">
                <a:solidFill>
                  <a:srgbClr val="231F20"/>
                </a:solidFill>
                <a:latin typeface="Arial"/>
                <a:cs typeface="Arial"/>
              </a:rPr>
              <a:t>is </a:t>
            </a:r>
            <a:r>
              <a:rPr sz="1950" spc="110" dirty="0">
                <a:solidFill>
                  <a:srgbClr val="231F20"/>
                </a:solidFill>
                <a:latin typeface="Arial"/>
                <a:cs typeface="Arial"/>
              </a:rPr>
              <a:t>given </a:t>
            </a:r>
            <a:r>
              <a:rPr sz="1950" spc="105" dirty="0">
                <a:solidFill>
                  <a:srgbClr val="231F20"/>
                </a:solidFill>
                <a:latin typeface="Arial"/>
                <a:cs typeface="Arial"/>
              </a:rPr>
              <a:t>by </a:t>
            </a:r>
            <a:r>
              <a:rPr sz="1950" spc="110" dirty="0">
                <a:solidFill>
                  <a:srgbClr val="231F20"/>
                </a:solidFill>
                <a:latin typeface="Arial"/>
                <a:cs typeface="Arial"/>
              </a:rPr>
              <a:t>some </a:t>
            </a:r>
            <a:r>
              <a:rPr sz="1950" spc="140" dirty="0">
                <a:solidFill>
                  <a:srgbClr val="231F20"/>
                </a:solidFill>
                <a:latin typeface="Arial"/>
                <a:cs typeface="Arial"/>
              </a:rPr>
              <a:t>collection </a:t>
            </a:r>
            <a:r>
              <a:rPr sz="1950" spc="185" dirty="0">
                <a:solidFill>
                  <a:srgbClr val="231F20"/>
                </a:solidFill>
                <a:latin typeface="Arial"/>
                <a:cs typeface="Arial"/>
              </a:rPr>
              <a:t>of  </a:t>
            </a:r>
            <a:r>
              <a:rPr sz="1950" spc="180" dirty="0">
                <a:solidFill>
                  <a:srgbClr val="231F20"/>
                </a:solidFill>
                <a:latin typeface="Arial"/>
                <a:cs typeface="Arial"/>
              </a:rPr>
              <a:t>(polynomial) </a:t>
            </a:r>
            <a:r>
              <a:rPr sz="1950" spc="135" dirty="0">
                <a:solidFill>
                  <a:srgbClr val="231F20"/>
                </a:solidFill>
                <a:latin typeface="Arial"/>
                <a:cs typeface="Arial"/>
              </a:rPr>
              <a:t>differential </a:t>
            </a:r>
            <a:r>
              <a:rPr sz="1950" spc="125" dirty="0">
                <a:solidFill>
                  <a:srgbClr val="231F20"/>
                </a:solidFill>
                <a:latin typeface="Arial"/>
                <a:cs typeface="Arial"/>
              </a:rPr>
              <a:t>equations </a:t>
            </a:r>
            <a:r>
              <a:rPr sz="1950" spc="155" dirty="0">
                <a:solidFill>
                  <a:srgbClr val="231F20"/>
                </a:solidFill>
                <a:latin typeface="Arial"/>
                <a:cs typeface="Arial"/>
              </a:rPr>
              <a:t>on</a:t>
            </a:r>
            <a:r>
              <a:rPr sz="1950" spc="660" dirty="0">
                <a:solidFill>
                  <a:srgbClr val="231F20"/>
                </a:solidFill>
                <a:latin typeface="Arial"/>
                <a:cs typeface="Arial"/>
              </a:rPr>
              <a:t> </a:t>
            </a:r>
            <a:r>
              <a:rPr sz="2050" spc="200" dirty="0">
                <a:solidFill>
                  <a:srgbClr val="231F20"/>
                </a:solidFill>
                <a:latin typeface="Arial"/>
                <a:cs typeface="Arial"/>
              </a:rPr>
              <a:t>R</a:t>
            </a:r>
            <a:r>
              <a:rPr sz="2175" i="1" spc="300" baseline="28735" dirty="0">
                <a:solidFill>
                  <a:srgbClr val="231F20"/>
                </a:solidFill>
                <a:latin typeface="Verdana"/>
                <a:cs typeface="Verdana"/>
              </a:rPr>
              <a:t>n</a:t>
            </a:r>
            <a:endParaRPr sz="2175" baseline="28735">
              <a:latin typeface="Verdana"/>
              <a:cs typeface="Verdana"/>
            </a:endParaRPr>
          </a:p>
          <a:p>
            <a:pPr marL="300990" marR="333375" indent="-288290">
              <a:lnSpc>
                <a:spcPct val="118900"/>
              </a:lnSpc>
              <a:spcBef>
                <a:spcPts val="1340"/>
              </a:spcBef>
              <a:buClr>
                <a:srgbClr val="231F20"/>
              </a:buClr>
              <a:buSzPct val="105128"/>
              <a:buFont typeface="Lucida Sans Unicode"/>
              <a:buChar char="•"/>
              <a:tabLst>
                <a:tab pos="301625" algn="l"/>
              </a:tabLst>
            </a:pPr>
            <a:r>
              <a:rPr sz="1950" spc="145" dirty="0">
                <a:solidFill>
                  <a:srgbClr val="0000FF"/>
                </a:solidFill>
                <a:latin typeface="Arial"/>
                <a:cs typeface="Arial"/>
              </a:rPr>
              <a:t>Divide </a:t>
            </a:r>
            <a:r>
              <a:rPr sz="1950" spc="100" dirty="0">
                <a:solidFill>
                  <a:srgbClr val="0000FF"/>
                </a:solidFill>
                <a:latin typeface="Arial"/>
                <a:cs typeface="Arial"/>
              </a:rPr>
              <a:t>these </a:t>
            </a:r>
            <a:r>
              <a:rPr sz="1950" spc="190" dirty="0">
                <a:solidFill>
                  <a:srgbClr val="0000FF"/>
                </a:solidFill>
                <a:latin typeface="Arial"/>
                <a:cs typeface="Arial"/>
              </a:rPr>
              <a:t>into </a:t>
            </a:r>
            <a:r>
              <a:rPr sz="1950" spc="105" dirty="0">
                <a:solidFill>
                  <a:srgbClr val="0000FF"/>
                </a:solidFill>
                <a:latin typeface="Arial"/>
                <a:cs typeface="Arial"/>
              </a:rPr>
              <a:t>regions </a:t>
            </a:r>
            <a:r>
              <a:rPr sz="1950" spc="120" dirty="0">
                <a:solidFill>
                  <a:srgbClr val="0000FF"/>
                </a:solidFill>
                <a:latin typeface="Arial"/>
                <a:cs typeface="Arial"/>
              </a:rPr>
              <a:t>where </a:t>
            </a:r>
            <a:r>
              <a:rPr sz="1950" spc="175" dirty="0">
                <a:solidFill>
                  <a:srgbClr val="0000FF"/>
                </a:solidFill>
                <a:latin typeface="Arial"/>
                <a:cs typeface="Arial"/>
              </a:rPr>
              <a:t>the </a:t>
            </a:r>
            <a:r>
              <a:rPr sz="1950" spc="165" dirty="0">
                <a:solidFill>
                  <a:srgbClr val="0000FF"/>
                </a:solidFill>
                <a:latin typeface="Arial"/>
                <a:cs typeface="Arial"/>
              </a:rPr>
              <a:t>first </a:t>
            </a:r>
            <a:r>
              <a:rPr sz="2050" i="1" spc="170" dirty="0">
                <a:solidFill>
                  <a:srgbClr val="0000FF"/>
                </a:solidFill>
                <a:latin typeface="Meiryo"/>
                <a:cs typeface="Meiryo"/>
              </a:rPr>
              <a:t>j </a:t>
            </a:r>
            <a:r>
              <a:rPr sz="1950" spc="110" dirty="0">
                <a:solidFill>
                  <a:srgbClr val="0000FF"/>
                </a:solidFill>
                <a:latin typeface="Arial"/>
                <a:cs typeface="Arial"/>
              </a:rPr>
              <a:t>derivatives </a:t>
            </a:r>
            <a:r>
              <a:rPr sz="1950" spc="65" dirty="0">
                <a:solidFill>
                  <a:srgbClr val="0000FF"/>
                </a:solidFill>
                <a:latin typeface="Arial"/>
                <a:cs typeface="Arial"/>
              </a:rPr>
              <a:t>are  </a:t>
            </a:r>
            <a:r>
              <a:rPr sz="1950" spc="130" dirty="0">
                <a:solidFill>
                  <a:srgbClr val="0000FF"/>
                </a:solidFill>
                <a:latin typeface="Arial"/>
                <a:cs typeface="Arial"/>
              </a:rPr>
              <a:t>sign-invariant </a:t>
            </a:r>
            <a:r>
              <a:rPr sz="1950" spc="80" dirty="0">
                <a:solidFill>
                  <a:srgbClr val="231F20"/>
                </a:solidFill>
                <a:latin typeface="Arial"/>
                <a:cs typeface="Arial"/>
              </a:rPr>
              <a:t>(</a:t>
            </a:r>
            <a:r>
              <a:rPr sz="2050" i="1" spc="80" dirty="0">
                <a:solidFill>
                  <a:srgbClr val="231F20"/>
                </a:solidFill>
                <a:latin typeface="Meiryo"/>
                <a:cs typeface="Meiryo"/>
              </a:rPr>
              <a:t>m </a:t>
            </a:r>
            <a:r>
              <a:rPr sz="1950" spc="135" dirty="0">
                <a:solidFill>
                  <a:srgbClr val="231F20"/>
                </a:solidFill>
                <a:latin typeface="Arial"/>
                <a:cs typeface="Arial"/>
              </a:rPr>
              <a:t>polynomials, </a:t>
            </a:r>
            <a:r>
              <a:rPr sz="2050" spc="-65" dirty="0">
                <a:solidFill>
                  <a:srgbClr val="231F20"/>
                </a:solidFill>
                <a:latin typeface="Tahoma"/>
                <a:cs typeface="Tahoma"/>
              </a:rPr>
              <a:t>(</a:t>
            </a:r>
            <a:r>
              <a:rPr sz="2050" i="1" spc="-65" dirty="0">
                <a:solidFill>
                  <a:srgbClr val="231F20"/>
                </a:solidFill>
                <a:latin typeface="Meiryo"/>
                <a:cs typeface="Meiryo"/>
              </a:rPr>
              <a:t>m </a:t>
            </a:r>
            <a:r>
              <a:rPr sz="2050" spc="-25" dirty="0">
                <a:solidFill>
                  <a:srgbClr val="231F20"/>
                </a:solidFill>
                <a:latin typeface="Lucida Sans Unicode"/>
                <a:cs typeface="Lucida Sans Unicode"/>
              </a:rPr>
              <a:t>× </a:t>
            </a:r>
            <a:r>
              <a:rPr sz="2050" i="1" spc="145" dirty="0">
                <a:solidFill>
                  <a:srgbClr val="231F20"/>
                </a:solidFill>
                <a:latin typeface="Meiryo"/>
                <a:cs typeface="Meiryo"/>
              </a:rPr>
              <a:t>j</a:t>
            </a:r>
            <a:r>
              <a:rPr sz="2050" spc="145" dirty="0">
                <a:solidFill>
                  <a:srgbClr val="231F20"/>
                </a:solidFill>
                <a:latin typeface="Tahoma"/>
                <a:cs typeface="Tahoma"/>
              </a:rPr>
              <a:t>)</a:t>
            </a:r>
            <a:r>
              <a:rPr sz="2175" spc="217" baseline="28735" dirty="0">
                <a:solidFill>
                  <a:srgbClr val="231F20"/>
                </a:solidFill>
                <a:latin typeface="PMingLiU"/>
                <a:cs typeface="PMingLiU"/>
              </a:rPr>
              <a:t>3</a:t>
            </a:r>
            <a:r>
              <a:rPr sz="2175" spc="869" baseline="28735" dirty="0">
                <a:solidFill>
                  <a:srgbClr val="231F20"/>
                </a:solidFill>
                <a:latin typeface="PMingLiU"/>
                <a:cs typeface="PMingLiU"/>
              </a:rPr>
              <a:t> </a:t>
            </a:r>
            <a:r>
              <a:rPr sz="1950" spc="130" dirty="0">
                <a:solidFill>
                  <a:srgbClr val="231F20"/>
                </a:solidFill>
                <a:latin typeface="Arial"/>
                <a:cs typeface="Arial"/>
              </a:rPr>
              <a:t>regions)</a:t>
            </a:r>
            <a:endParaRPr sz="1950">
              <a:latin typeface="Arial"/>
              <a:cs typeface="Arial"/>
            </a:endParaRPr>
          </a:p>
          <a:p>
            <a:pPr marL="741680" lvl="1" indent="-288290">
              <a:lnSpc>
                <a:spcPct val="100000"/>
              </a:lnSpc>
              <a:spcBef>
                <a:spcPts val="980"/>
              </a:spcBef>
              <a:buSzPct val="105128"/>
              <a:buFont typeface="Lucida Sans Unicode"/>
              <a:buChar char="◦"/>
              <a:tabLst>
                <a:tab pos="742315" algn="l"/>
              </a:tabLst>
            </a:pPr>
            <a:r>
              <a:rPr sz="1950" spc="105" dirty="0">
                <a:solidFill>
                  <a:srgbClr val="231F20"/>
                </a:solidFill>
                <a:latin typeface="Arial"/>
                <a:cs typeface="Arial"/>
              </a:rPr>
              <a:t>I.e., </a:t>
            </a:r>
            <a:r>
              <a:rPr sz="1950" spc="170" dirty="0">
                <a:solidFill>
                  <a:srgbClr val="231F20"/>
                </a:solidFill>
                <a:latin typeface="Arial"/>
                <a:cs typeface="Arial"/>
              </a:rPr>
              <a:t>data </a:t>
            </a:r>
            <a:r>
              <a:rPr sz="1950" spc="155" dirty="0">
                <a:solidFill>
                  <a:srgbClr val="231F20"/>
                </a:solidFill>
                <a:latin typeface="Arial"/>
                <a:cs typeface="Arial"/>
              </a:rPr>
              <a:t>abstraction </a:t>
            </a:r>
            <a:r>
              <a:rPr sz="1950" spc="210" dirty="0">
                <a:solidFill>
                  <a:srgbClr val="231F20"/>
                </a:solidFill>
                <a:latin typeface="Arial"/>
                <a:cs typeface="Arial"/>
              </a:rPr>
              <a:t>from </a:t>
            </a:r>
            <a:r>
              <a:rPr sz="2050" spc="300" dirty="0">
                <a:solidFill>
                  <a:srgbClr val="231F20"/>
                </a:solidFill>
                <a:latin typeface="Arial"/>
                <a:cs typeface="Arial"/>
              </a:rPr>
              <a:t>R </a:t>
            </a:r>
            <a:r>
              <a:rPr sz="1950" spc="250" dirty="0">
                <a:solidFill>
                  <a:srgbClr val="231F20"/>
                </a:solidFill>
                <a:latin typeface="Arial"/>
                <a:cs typeface="Arial"/>
              </a:rPr>
              <a:t>to </a:t>
            </a:r>
            <a:r>
              <a:rPr sz="2050" spc="65" dirty="0">
                <a:solidFill>
                  <a:srgbClr val="231F20"/>
                </a:solidFill>
                <a:latin typeface="Lucida Sans Unicode"/>
                <a:cs typeface="Lucida Sans Unicode"/>
              </a:rPr>
              <a:t>{−</a:t>
            </a:r>
            <a:r>
              <a:rPr sz="2050" i="1" spc="65" dirty="0">
                <a:solidFill>
                  <a:srgbClr val="231F20"/>
                </a:solidFill>
                <a:latin typeface="Meiryo"/>
                <a:cs typeface="Meiryo"/>
              </a:rPr>
              <a:t>, </a:t>
            </a:r>
            <a:r>
              <a:rPr sz="2050" spc="-114" dirty="0">
                <a:solidFill>
                  <a:srgbClr val="231F20"/>
                </a:solidFill>
                <a:latin typeface="Tahoma"/>
                <a:cs typeface="Tahoma"/>
              </a:rPr>
              <a:t>0</a:t>
            </a:r>
            <a:r>
              <a:rPr sz="2050" i="1" spc="-114" dirty="0">
                <a:solidFill>
                  <a:srgbClr val="231F20"/>
                </a:solidFill>
                <a:latin typeface="Meiryo"/>
                <a:cs typeface="Meiryo"/>
              </a:rPr>
              <a:t>,</a:t>
            </a:r>
            <a:r>
              <a:rPr sz="2050" i="1" spc="-335" dirty="0">
                <a:solidFill>
                  <a:srgbClr val="231F20"/>
                </a:solidFill>
                <a:latin typeface="Meiryo"/>
                <a:cs typeface="Meiryo"/>
              </a:rPr>
              <a:t> </a:t>
            </a:r>
            <a:r>
              <a:rPr sz="2050" spc="235" dirty="0">
                <a:solidFill>
                  <a:srgbClr val="231F20"/>
                </a:solidFill>
                <a:latin typeface="Tahoma"/>
                <a:cs typeface="Tahoma"/>
              </a:rPr>
              <a:t>+</a:t>
            </a:r>
            <a:r>
              <a:rPr sz="2050" spc="235" dirty="0">
                <a:solidFill>
                  <a:srgbClr val="231F20"/>
                </a:solidFill>
                <a:latin typeface="Lucida Sans Unicode"/>
                <a:cs typeface="Lucida Sans Unicode"/>
              </a:rPr>
              <a:t>}</a:t>
            </a:r>
            <a:endParaRPr sz="2050">
              <a:latin typeface="Lucida Sans Unicode"/>
              <a:cs typeface="Lucida Sans Unicode"/>
            </a:endParaRPr>
          </a:p>
          <a:p>
            <a:pPr marL="741680" lvl="1" indent="-288290">
              <a:lnSpc>
                <a:spcPct val="100000"/>
              </a:lnSpc>
              <a:spcBef>
                <a:spcPts val="725"/>
              </a:spcBef>
              <a:buSzPct val="105128"/>
              <a:buFont typeface="Lucida Sans Unicode"/>
              <a:buChar char="◦"/>
              <a:tabLst>
                <a:tab pos="742315" algn="l"/>
                <a:tab pos="3641725" algn="l"/>
                <a:tab pos="4782820" algn="l"/>
                <a:tab pos="6619875" algn="l"/>
              </a:tabLst>
            </a:pPr>
            <a:r>
              <a:rPr sz="1950" spc="155" dirty="0">
                <a:solidFill>
                  <a:srgbClr val="231F20"/>
                </a:solidFill>
                <a:latin typeface="Arial"/>
                <a:cs typeface="Arial"/>
              </a:rPr>
              <a:t>For </a:t>
            </a:r>
            <a:r>
              <a:rPr sz="1950" spc="90" dirty="0">
                <a:solidFill>
                  <a:srgbClr val="231F20"/>
                </a:solidFill>
                <a:latin typeface="Arial"/>
                <a:cs typeface="Arial"/>
              </a:rPr>
              <a:t>each  </a:t>
            </a:r>
            <a:r>
              <a:rPr sz="1950" spc="170" dirty="0">
                <a:solidFill>
                  <a:srgbClr val="231F20"/>
                </a:solidFill>
                <a:latin typeface="Arial"/>
                <a:cs typeface="Arial"/>
              </a:rPr>
              <a:t>mode </a:t>
            </a:r>
            <a:r>
              <a:rPr sz="2050" i="1" spc="90" dirty="0">
                <a:solidFill>
                  <a:srgbClr val="FF0000"/>
                </a:solidFill>
                <a:latin typeface="Meiryo"/>
                <a:cs typeface="Meiryo"/>
              </a:rPr>
              <a:t>l</a:t>
            </a:r>
            <a:r>
              <a:rPr sz="2050" i="1" spc="710" dirty="0">
                <a:solidFill>
                  <a:srgbClr val="FF0000"/>
                </a:solidFill>
                <a:latin typeface="Meiryo"/>
                <a:cs typeface="Meiryo"/>
              </a:rPr>
              <a:t> </a:t>
            </a:r>
            <a:r>
              <a:rPr sz="2050" spc="-254" dirty="0">
                <a:solidFill>
                  <a:srgbClr val="FF0000"/>
                </a:solidFill>
                <a:latin typeface="Lucida Sans Unicode"/>
                <a:cs typeface="Lucida Sans Unicode"/>
              </a:rPr>
              <a:t>∈</a:t>
            </a:r>
            <a:r>
              <a:rPr sz="2050" spc="105" dirty="0">
                <a:solidFill>
                  <a:srgbClr val="FF0000"/>
                </a:solidFill>
                <a:latin typeface="Lucida Sans Unicode"/>
                <a:cs typeface="Lucida Sans Unicode"/>
              </a:rPr>
              <a:t> </a:t>
            </a:r>
            <a:r>
              <a:rPr sz="2050" spc="165" dirty="0">
                <a:solidFill>
                  <a:srgbClr val="FF0000"/>
                </a:solidFill>
                <a:latin typeface="Arial"/>
                <a:cs typeface="Arial"/>
              </a:rPr>
              <a:t>Q</a:t>
            </a:r>
            <a:r>
              <a:rPr sz="1950" spc="165" dirty="0">
                <a:solidFill>
                  <a:srgbClr val="231F20"/>
                </a:solidFill>
                <a:latin typeface="Arial"/>
                <a:cs typeface="Arial"/>
              </a:rPr>
              <a:t>:	</a:t>
            </a:r>
            <a:r>
              <a:rPr sz="1950" spc="160" dirty="0">
                <a:solidFill>
                  <a:srgbClr val="231F20"/>
                </a:solidFill>
                <a:latin typeface="Arial"/>
                <a:cs typeface="Arial"/>
              </a:rPr>
              <a:t>if </a:t>
            </a:r>
            <a:r>
              <a:rPr sz="1950" spc="315" dirty="0">
                <a:solidFill>
                  <a:srgbClr val="231F20"/>
                </a:solidFill>
                <a:latin typeface="Arial"/>
                <a:cs typeface="Arial"/>
              </a:rPr>
              <a:t> </a:t>
            </a:r>
            <a:r>
              <a:rPr sz="2050" i="1" spc="-60" dirty="0">
                <a:solidFill>
                  <a:srgbClr val="0000FF"/>
                </a:solidFill>
                <a:latin typeface="Meiryo"/>
                <a:cs typeface="Meiryo"/>
              </a:rPr>
              <a:t>q</a:t>
            </a:r>
            <a:r>
              <a:rPr sz="2175" i="1" spc="-89" baseline="-11494" dirty="0">
                <a:solidFill>
                  <a:srgbClr val="0000FF"/>
                </a:solidFill>
                <a:latin typeface="Verdana"/>
                <a:cs typeface="Verdana"/>
              </a:rPr>
              <a:t>pi</a:t>
            </a:r>
            <a:r>
              <a:rPr sz="2050" i="1" spc="-60" dirty="0">
                <a:solidFill>
                  <a:srgbClr val="0000FF"/>
                </a:solidFill>
                <a:latin typeface="Meiryo"/>
                <a:cs typeface="Meiryo"/>
              </a:rPr>
              <a:t>,</a:t>
            </a:r>
            <a:r>
              <a:rPr sz="2050" i="1" spc="-50" dirty="0">
                <a:solidFill>
                  <a:srgbClr val="0000FF"/>
                </a:solidFill>
                <a:latin typeface="Meiryo"/>
                <a:cs typeface="Meiryo"/>
              </a:rPr>
              <a:t> </a:t>
            </a:r>
            <a:r>
              <a:rPr sz="2050" i="1" spc="-65" dirty="0">
                <a:solidFill>
                  <a:srgbClr val="0000FF"/>
                </a:solidFill>
                <a:latin typeface="Meiryo"/>
                <a:cs typeface="Meiryo"/>
              </a:rPr>
              <a:t>q</a:t>
            </a:r>
            <a:r>
              <a:rPr sz="2175" i="1" spc="-97" baseline="-11494" dirty="0">
                <a:solidFill>
                  <a:srgbClr val="0000FF"/>
                </a:solidFill>
                <a:latin typeface="Verdana"/>
                <a:cs typeface="Verdana"/>
              </a:rPr>
              <a:t>pj	</a:t>
            </a:r>
            <a:r>
              <a:rPr sz="1950" spc="160" dirty="0">
                <a:solidFill>
                  <a:srgbClr val="231F20"/>
                </a:solidFill>
                <a:latin typeface="Arial"/>
                <a:cs typeface="Arial"/>
              </a:rPr>
              <a:t>abstract </a:t>
            </a:r>
            <a:r>
              <a:rPr sz="1950" spc="330" dirty="0">
                <a:solidFill>
                  <a:srgbClr val="231F20"/>
                </a:solidFill>
                <a:latin typeface="Arial"/>
                <a:cs typeface="Arial"/>
              </a:rPr>
              <a:t> </a:t>
            </a:r>
            <a:r>
              <a:rPr sz="2050" i="1" spc="-20" dirty="0">
                <a:solidFill>
                  <a:srgbClr val="0000FF"/>
                </a:solidFill>
                <a:latin typeface="Meiryo"/>
                <a:cs typeface="Meiryo"/>
              </a:rPr>
              <a:t>p</a:t>
            </a:r>
            <a:r>
              <a:rPr sz="2175" i="1" spc="-30" baseline="-11494" dirty="0">
                <a:solidFill>
                  <a:srgbClr val="0000FF"/>
                </a:solidFill>
                <a:latin typeface="Verdana"/>
                <a:cs typeface="Verdana"/>
              </a:rPr>
              <a:t>i</a:t>
            </a:r>
            <a:r>
              <a:rPr sz="2050" i="1" spc="-20" dirty="0">
                <a:solidFill>
                  <a:srgbClr val="0000FF"/>
                </a:solidFill>
                <a:latin typeface="Meiryo"/>
                <a:cs typeface="Meiryo"/>
              </a:rPr>
              <a:t>,</a:t>
            </a:r>
            <a:r>
              <a:rPr sz="2050" i="1" spc="-45" dirty="0">
                <a:solidFill>
                  <a:srgbClr val="0000FF"/>
                </a:solidFill>
                <a:latin typeface="Meiryo"/>
                <a:cs typeface="Meiryo"/>
              </a:rPr>
              <a:t> </a:t>
            </a:r>
            <a:r>
              <a:rPr sz="2050" i="1" spc="-15" dirty="0">
                <a:solidFill>
                  <a:srgbClr val="0000FF"/>
                </a:solidFill>
                <a:latin typeface="Meiryo"/>
                <a:cs typeface="Meiryo"/>
              </a:rPr>
              <a:t>p</a:t>
            </a:r>
            <a:r>
              <a:rPr sz="2175" i="1" spc="-22" baseline="-11494" dirty="0">
                <a:solidFill>
                  <a:srgbClr val="0000FF"/>
                </a:solidFill>
                <a:latin typeface="Verdana"/>
                <a:cs typeface="Verdana"/>
              </a:rPr>
              <a:t>j	</a:t>
            </a:r>
            <a:r>
              <a:rPr sz="1950" spc="130" dirty="0">
                <a:solidFill>
                  <a:srgbClr val="231F20"/>
                </a:solidFill>
                <a:latin typeface="Arial"/>
                <a:cs typeface="Arial"/>
              </a:rPr>
              <a:t>and </a:t>
            </a:r>
            <a:r>
              <a:rPr sz="2050" i="1" spc="-385" dirty="0">
                <a:solidFill>
                  <a:srgbClr val="0000FF"/>
                </a:solidFill>
                <a:latin typeface="Meiryo"/>
                <a:cs typeface="Meiryo"/>
              </a:rPr>
              <a:t>p</a:t>
            </a:r>
            <a:r>
              <a:rPr sz="2050" spc="-385" dirty="0">
                <a:solidFill>
                  <a:srgbClr val="0000FF"/>
                </a:solidFill>
                <a:latin typeface="Tahoma"/>
                <a:cs typeface="Tahoma"/>
              </a:rPr>
              <a:t>˙</a:t>
            </a:r>
            <a:r>
              <a:rPr sz="2175" i="1" spc="-577" baseline="-11494" dirty="0">
                <a:solidFill>
                  <a:srgbClr val="0000FF"/>
                </a:solidFill>
                <a:latin typeface="Verdana"/>
                <a:cs typeface="Verdana"/>
              </a:rPr>
              <a:t>i     </a:t>
            </a:r>
            <a:r>
              <a:rPr sz="2050" spc="114" dirty="0">
                <a:solidFill>
                  <a:srgbClr val="0000FF"/>
                </a:solidFill>
                <a:latin typeface="Tahoma"/>
                <a:cs typeface="Tahoma"/>
              </a:rPr>
              <a:t>=</a:t>
            </a:r>
            <a:r>
              <a:rPr sz="2050" spc="50" dirty="0">
                <a:solidFill>
                  <a:srgbClr val="0000FF"/>
                </a:solidFill>
                <a:latin typeface="Tahoma"/>
                <a:cs typeface="Tahoma"/>
              </a:rPr>
              <a:t> </a:t>
            </a:r>
            <a:r>
              <a:rPr sz="2050" i="1" spc="-10" dirty="0">
                <a:solidFill>
                  <a:srgbClr val="0000FF"/>
                </a:solidFill>
                <a:latin typeface="Meiryo"/>
                <a:cs typeface="Meiryo"/>
              </a:rPr>
              <a:t>p</a:t>
            </a:r>
            <a:r>
              <a:rPr sz="2175" i="1" spc="-15" baseline="-11494" dirty="0">
                <a:solidFill>
                  <a:srgbClr val="0000FF"/>
                </a:solidFill>
                <a:latin typeface="Verdana"/>
                <a:cs typeface="Verdana"/>
              </a:rPr>
              <a:t>j</a:t>
            </a:r>
            <a:endParaRPr sz="2175" baseline="-11494">
              <a:latin typeface="Verdana"/>
              <a:cs typeface="Verdana"/>
            </a:endParaRPr>
          </a:p>
          <a:p>
            <a:pPr marL="741680">
              <a:lnSpc>
                <a:spcPct val="100000"/>
              </a:lnSpc>
              <a:spcBef>
                <a:spcPts val="465"/>
              </a:spcBef>
            </a:pPr>
            <a:r>
              <a:rPr sz="1950" spc="130" dirty="0">
                <a:solidFill>
                  <a:srgbClr val="231F20"/>
                </a:solidFill>
                <a:latin typeface="Arial"/>
                <a:cs typeface="Arial"/>
              </a:rPr>
              <a:t>in </a:t>
            </a:r>
            <a:r>
              <a:rPr sz="1950" spc="170" dirty="0">
                <a:solidFill>
                  <a:srgbClr val="231F20"/>
                </a:solidFill>
                <a:latin typeface="Arial"/>
                <a:cs typeface="Arial"/>
              </a:rPr>
              <a:t>mode </a:t>
            </a:r>
            <a:r>
              <a:rPr sz="2050" i="1" spc="135" dirty="0">
                <a:solidFill>
                  <a:srgbClr val="231F20"/>
                </a:solidFill>
                <a:latin typeface="Meiryo"/>
                <a:cs typeface="Meiryo"/>
              </a:rPr>
              <a:t>l</a:t>
            </a:r>
            <a:r>
              <a:rPr sz="1950" spc="135" dirty="0">
                <a:solidFill>
                  <a:srgbClr val="231F20"/>
                </a:solidFill>
                <a:latin typeface="Arial"/>
                <a:cs typeface="Arial"/>
              </a:rPr>
              <a:t>, </a:t>
            </a:r>
            <a:r>
              <a:rPr sz="1950" spc="165" dirty="0">
                <a:solidFill>
                  <a:srgbClr val="231F20"/>
                </a:solidFill>
                <a:latin typeface="Arial"/>
                <a:cs typeface="Arial"/>
              </a:rPr>
              <a:t>then </a:t>
            </a:r>
            <a:r>
              <a:rPr sz="1950" spc="125" dirty="0">
                <a:solidFill>
                  <a:srgbClr val="231F20"/>
                </a:solidFill>
                <a:latin typeface="Arial"/>
                <a:cs typeface="Arial"/>
              </a:rPr>
              <a:t>apply </a:t>
            </a:r>
            <a:r>
              <a:rPr sz="1950" spc="85" dirty="0">
                <a:solidFill>
                  <a:srgbClr val="231F20"/>
                </a:solidFill>
                <a:latin typeface="Arial"/>
                <a:cs typeface="Arial"/>
              </a:rPr>
              <a:t>rules </a:t>
            </a:r>
            <a:r>
              <a:rPr sz="1950" spc="185" dirty="0">
                <a:solidFill>
                  <a:srgbClr val="231F20"/>
                </a:solidFill>
                <a:latin typeface="Arial"/>
                <a:cs typeface="Arial"/>
              </a:rPr>
              <a:t>of </a:t>
            </a:r>
            <a:r>
              <a:rPr sz="1950" spc="175" dirty="0">
                <a:solidFill>
                  <a:srgbClr val="231F20"/>
                </a:solidFill>
                <a:latin typeface="Arial"/>
                <a:cs typeface="Arial"/>
              </a:rPr>
              <a:t>the </a:t>
            </a:r>
            <a:r>
              <a:rPr sz="1950" spc="535" dirty="0">
                <a:solidFill>
                  <a:srgbClr val="231F20"/>
                </a:solidFill>
                <a:latin typeface="Arial"/>
                <a:cs typeface="Arial"/>
              </a:rPr>
              <a:t> </a:t>
            </a:r>
            <a:r>
              <a:rPr sz="1950" spc="180" dirty="0">
                <a:solidFill>
                  <a:srgbClr val="231F20"/>
                </a:solidFill>
                <a:latin typeface="Arial"/>
                <a:cs typeface="Arial"/>
              </a:rPr>
              <a:t>form:</a:t>
            </a:r>
            <a:endParaRPr sz="1950">
              <a:latin typeface="Arial"/>
              <a:cs typeface="Arial"/>
            </a:endParaRPr>
          </a:p>
        </p:txBody>
      </p:sp>
      <p:sp>
        <p:nvSpPr>
          <p:cNvPr id="3" name="object 3"/>
          <p:cNvSpPr txBox="1"/>
          <p:nvPr/>
        </p:nvSpPr>
        <p:spPr>
          <a:xfrm>
            <a:off x="5397804" y="4817046"/>
            <a:ext cx="208279" cy="238760"/>
          </a:xfrm>
          <a:prstGeom prst="rect">
            <a:avLst/>
          </a:prstGeom>
        </p:spPr>
        <p:txBody>
          <a:bodyPr vert="horz" wrap="square" lIns="0" tIns="0" rIns="0" bIns="0" rtlCol="0">
            <a:spAutoFit/>
          </a:bodyPr>
          <a:lstStyle/>
          <a:p>
            <a:pPr marL="12700">
              <a:lnSpc>
                <a:spcPct val="100000"/>
              </a:lnSpc>
            </a:pPr>
            <a:r>
              <a:rPr sz="1450" i="1" spc="-60" dirty="0">
                <a:solidFill>
                  <a:srgbClr val="231F20"/>
                </a:solidFill>
                <a:latin typeface="Verdana"/>
                <a:cs typeface="Verdana"/>
              </a:rPr>
              <a:t>p</a:t>
            </a:r>
            <a:r>
              <a:rPr sz="1450" i="1" spc="185" dirty="0">
                <a:solidFill>
                  <a:srgbClr val="231F20"/>
                </a:solidFill>
                <a:latin typeface="Verdana"/>
                <a:cs typeface="Verdana"/>
              </a:rPr>
              <a:t>i</a:t>
            </a:r>
            <a:endParaRPr sz="1450">
              <a:latin typeface="Verdana"/>
              <a:cs typeface="Verdana"/>
            </a:endParaRPr>
          </a:p>
        </p:txBody>
      </p:sp>
      <p:sp>
        <p:nvSpPr>
          <p:cNvPr id="4" name="object 4"/>
          <p:cNvSpPr txBox="1"/>
          <p:nvPr/>
        </p:nvSpPr>
        <p:spPr>
          <a:xfrm>
            <a:off x="5324881" y="5188636"/>
            <a:ext cx="208279" cy="238760"/>
          </a:xfrm>
          <a:prstGeom prst="rect">
            <a:avLst/>
          </a:prstGeom>
        </p:spPr>
        <p:txBody>
          <a:bodyPr vert="horz" wrap="square" lIns="0" tIns="0" rIns="0" bIns="0" rtlCol="0">
            <a:spAutoFit/>
          </a:bodyPr>
          <a:lstStyle/>
          <a:p>
            <a:pPr marL="12700">
              <a:lnSpc>
                <a:spcPct val="100000"/>
              </a:lnSpc>
            </a:pPr>
            <a:r>
              <a:rPr sz="1450" i="1" spc="-60" dirty="0">
                <a:solidFill>
                  <a:srgbClr val="231F20"/>
                </a:solidFill>
                <a:latin typeface="Verdana"/>
                <a:cs typeface="Verdana"/>
              </a:rPr>
              <a:t>p</a:t>
            </a:r>
            <a:r>
              <a:rPr sz="1450" i="1" spc="185" dirty="0">
                <a:solidFill>
                  <a:srgbClr val="231F20"/>
                </a:solidFill>
                <a:latin typeface="Verdana"/>
                <a:cs typeface="Verdana"/>
              </a:rPr>
              <a:t>i</a:t>
            </a:r>
            <a:endParaRPr sz="1450">
              <a:latin typeface="Verdana"/>
              <a:cs typeface="Verdana"/>
            </a:endParaRPr>
          </a:p>
        </p:txBody>
      </p:sp>
      <p:sp>
        <p:nvSpPr>
          <p:cNvPr id="5" name="object 5"/>
          <p:cNvSpPr txBox="1"/>
          <p:nvPr/>
        </p:nvSpPr>
        <p:spPr>
          <a:xfrm>
            <a:off x="1940915" y="5044084"/>
            <a:ext cx="4210050" cy="354330"/>
          </a:xfrm>
          <a:prstGeom prst="rect">
            <a:avLst/>
          </a:prstGeom>
        </p:spPr>
        <p:txBody>
          <a:bodyPr vert="horz" wrap="square" lIns="0" tIns="0" rIns="0" bIns="0" rtlCol="0">
            <a:spAutoFit/>
          </a:bodyPr>
          <a:lstStyle/>
          <a:p>
            <a:pPr marL="12700">
              <a:lnSpc>
                <a:spcPct val="100000"/>
              </a:lnSpc>
              <a:tabLst>
                <a:tab pos="3696970" algn="l"/>
              </a:tabLst>
            </a:pPr>
            <a:r>
              <a:rPr sz="1950" spc="160" dirty="0">
                <a:solidFill>
                  <a:srgbClr val="231F20"/>
                </a:solidFill>
                <a:latin typeface="Arial"/>
                <a:cs typeface="Arial"/>
              </a:rPr>
              <a:t>if  </a:t>
            </a:r>
            <a:r>
              <a:rPr sz="2050" i="1" spc="-65" dirty="0">
                <a:solidFill>
                  <a:srgbClr val="231F20"/>
                </a:solidFill>
                <a:latin typeface="Meiryo"/>
                <a:cs typeface="Meiryo"/>
              </a:rPr>
              <a:t>q</a:t>
            </a:r>
            <a:r>
              <a:rPr sz="2175" i="1" spc="-97" baseline="-11494" dirty="0">
                <a:solidFill>
                  <a:srgbClr val="231F20"/>
                </a:solidFill>
                <a:latin typeface="Verdana"/>
                <a:cs typeface="Verdana"/>
              </a:rPr>
              <a:t>pi  </a:t>
            </a:r>
            <a:r>
              <a:rPr sz="2050" spc="114" dirty="0">
                <a:solidFill>
                  <a:srgbClr val="231F20"/>
                </a:solidFill>
                <a:latin typeface="Tahoma"/>
                <a:cs typeface="Tahoma"/>
              </a:rPr>
              <a:t>= + </a:t>
            </a:r>
            <a:r>
              <a:rPr sz="1950" spc="560" dirty="0">
                <a:solidFill>
                  <a:srgbClr val="231F20"/>
                </a:solidFill>
                <a:latin typeface="Arial"/>
                <a:cs typeface="Arial"/>
              </a:rPr>
              <a:t>&amp; </a:t>
            </a:r>
            <a:r>
              <a:rPr sz="2050" i="1" spc="-65" dirty="0">
                <a:solidFill>
                  <a:srgbClr val="231F20"/>
                </a:solidFill>
                <a:latin typeface="Meiryo"/>
                <a:cs typeface="Meiryo"/>
              </a:rPr>
              <a:t>q</a:t>
            </a:r>
            <a:r>
              <a:rPr sz="2175" i="1" spc="-97" baseline="-11494" dirty="0">
                <a:solidFill>
                  <a:srgbClr val="231F20"/>
                </a:solidFill>
                <a:latin typeface="Verdana"/>
                <a:cs typeface="Verdana"/>
              </a:rPr>
              <a:t>pj  </a:t>
            </a:r>
            <a:r>
              <a:rPr sz="2050" spc="114" dirty="0">
                <a:solidFill>
                  <a:srgbClr val="231F20"/>
                </a:solidFill>
                <a:latin typeface="Tahoma"/>
                <a:cs typeface="Tahoma"/>
              </a:rPr>
              <a:t>= </a:t>
            </a:r>
            <a:r>
              <a:rPr sz="2050" spc="25" dirty="0">
                <a:solidFill>
                  <a:srgbClr val="231F20"/>
                </a:solidFill>
                <a:latin typeface="Tahoma"/>
                <a:cs typeface="Tahoma"/>
              </a:rPr>
              <a:t>0</a:t>
            </a:r>
            <a:r>
              <a:rPr sz="1950" spc="25" dirty="0">
                <a:solidFill>
                  <a:srgbClr val="231F20"/>
                </a:solidFill>
                <a:latin typeface="Arial"/>
                <a:cs typeface="Arial"/>
              </a:rPr>
              <a:t>,</a:t>
            </a:r>
            <a:r>
              <a:rPr sz="1950" spc="440" dirty="0">
                <a:solidFill>
                  <a:srgbClr val="231F20"/>
                </a:solidFill>
                <a:latin typeface="Arial"/>
                <a:cs typeface="Arial"/>
              </a:rPr>
              <a:t> </a:t>
            </a:r>
            <a:r>
              <a:rPr sz="1950" spc="165" dirty="0">
                <a:solidFill>
                  <a:srgbClr val="231F20"/>
                </a:solidFill>
                <a:latin typeface="Arial"/>
                <a:cs typeface="Arial"/>
              </a:rPr>
              <a:t>then</a:t>
            </a:r>
            <a:r>
              <a:rPr sz="1950" spc="515" dirty="0">
                <a:solidFill>
                  <a:srgbClr val="231F20"/>
                </a:solidFill>
                <a:latin typeface="Arial"/>
                <a:cs typeface="Arial"/>
              </a:rPr>
              <a:t> </a:t>
            </a:r>
            <a:r>
              <a:rPr sz="2050" i="1" spc="-25" dirty="0">
                <a:solidFill>
                  <a:srgbClr val="231F20"/>
                </a:solidFill>
                <a:latin typeface="Meiryo"/>
                <a:cs typeface="Meiryo"/>
              </a:rPr>
              <a:t>q</a:t>
            </a:r>
            <a:r>
              <a:rPr sz="2175" spc="-37" baseline="28735" dirty="0">
                <a:solidFill>
                  <a:srgbClr val="231F20"/>
                </a:solidFill>
                <a:latin typeface="Arial"/>
                <a:cs typeface="Arial"/>
              </a:rPr>
              <a:t>′	</a:t>
            </a:r>
            <a:r>
              <a:rPr sz="1950" spc="40" dirty="0">
                <a:solidFill>
                  <a:srgbClr val="231F20"/>
                </a:solidFill>
                <a:latin typeface="Arial"/>
                <a:cs typeface="Arial"/>
              </a:rPr>
              <a:t>is</a:t>
            </a:r>
            <a:r>
              <a:rPr sz="1950" spc="190" dirty="0">
                <a:solidFill>
                  <a:srgbClr val="231F20"/>
                </a:solidFill>
                <a:latin typeface="Arial"/>
                <a:cs typeface="Arial"/>
              </a:rPr>
              <a:t> </a:t>
            </a:r>
            <a:r>
              <a:rPr sz="2050" spc="114" dirty="0">
                <a:solidFill>
                  <a:srgbClr val="231F20"/>
                </a:solidFill>
                <a:latin typeface="Tahoma"/>
                <a:cs typeface="Tahoma"/>
              </a:rPr>
              <a:t>+</a:t>
            </a:r>
            <a:endParaRPr sz="2050">
              <a:latin typeface="Tahoma"/>
              <a:cs typeface="Tahoma"/>
            </a:endParaRPr>
          </a:p>
        </p:txBody>
      </p:sp>
      <p:sp>
        <p:nvSpPr>
          <p:cNvPr id="6" name="object 6"/>
          <p:cNvSpPr txBox="1"/>
          <p:nvPr/>
        </p:nvSpPr>
        <p:spPr>
          <a:xfrm>
            <a:off x="5397804" y="5560224"/>
            <a:ext cx="208279" cy="238760"/>
          </a:xfrm>
          <a:prstGeom prst="rect">
            <a:avLst/>
          </a:prstGeom>
        </p:spPr>
        <p:txBody>
          <a:bodyPr vert="horz" wrap="square" lIns="0" tIns="0" rIns="0" bIns="0" rtlCol="0">
            <a:spAutoFit/>
          </a:bodyPr>
          <a:lstStyle/>
          <a:p>
            <a:pPr marL="12700">
              <a:lnSpc>
                <a:spcPct val="100000"/>
              </a:lnSpc>
            </a:pPr>
            <a:r>
              <a:rPr sz="1450" i="1" spc="-60" dirty="0">
                <a:solidFill>
                  <a:srgbClr val="231F20"/>
                </a:solidFill>
                <a:latin typeface="Verdana"/>
                <a:cs typeface="Verdana"/>
              </a:rPr>
              <a:t>p</a:t>
            </a:r>
            <a:r>
              <a:rPr sz="1450" i="1" spc="185" dirty="0">
                <a:solidFill>
                  <a:srgbClr val="231F20"/>
                </a:solidFill>
                <a:latin typeface="Verdana"/>
                <a:cs typeface="Verdana"/>
              </a:rPr>
              <a:t>i</a:t>
            </a:r>
            <a:endParaRPr sz="1450">
              <a:latin typeface="Verdana"/>
              <a:cs typeface="Verdana"/>
            </a:endParaRPr>
          </a:p>
        </p:txBody>
      </p:sp>
      <p:sp>
        <p:nvSpPr>
          <p:cNvPr id="7" name="object 7"/>
          <p:cNvSpPr txBox="1"/>
          <p:nvPr/>
        </p:nvSpPr>
        <p:spPr>
          <a:xfrm>
            <a:off x="1940915" y="5415673"/>
            <a:ext cx="5708650" cy="354330"/>
          </a:xfrm>
          <a:prstGeom prst="rect">
            <a:avLst/>
          </a:prstGeom>
        </p:spPr>
        <p:txBody>
          <a:bodyPr vert="horz" wrap="square" lIns="0" tIns="0" rIns="0" bIns="0" rtlCol="0">
            <a:spAutoFit/>
          </a:bodyPr>
          <a:lstStyle/>
          <a:p>
            <a:pPr marL="12700">
              <a:lnSpc>
                <a:spcPct val="100000"/>
              </a:lnSpc>
              <a:tabLst>
                <a:tab pos="3769995" algn="l"/>
              </a:tabLst>
            </a:pPr>
            <a:r>
              <a:rPr sz="1950" spc="160" dirty="0">
                <a:solidFill>
                  <a:srgbClr val="231F20"/>
                </a:solidFill>
                <a:latin typeface="Arial"/>
                <a:cs typeface="Arial"/>
              </a:rPr>
              <a:t>if  </a:t>
            </a:r>
            <a:r>
              <a:rPr sz="2050" i="1" spc="-65" dirty="0">
                <a:solidFill>
                  <a:srgbClr val="231F20"/>
                </a:solidFill>
                <a:latin typeface="Meiryo"/>
                <a:cs typeface="Meiryo"/>
              </a:rPr>
              <a:t>q</a:t>
            </a:r>
            <a:r>
              <a:rPr sz="2175" i="1" spc="-97" baseline="-11494" dirty="0">
                <a:solidFill>
                  <a:srgbClr val="231F20"/>
                </a:solidFill>
                <a:latin typeface="Verdana"/>
                <a:cs typeface="Verdana"/>
              </a:rPr>
              <a:t>pi  </a:t>
            </a:r>
            <a:r>
              <a:rPr sz="2050" spc="114" dirty="0">
                <a:solidFill>
                  <a:srgbClr val="231F20"/>
                </a:solidFill>
                <a:latin typeface="Tahoma"/>
                <a:cs typeface="Tahoma"/>
              </a:rPr>
              <a:t>= + </a:t>
            </a:r>
            <a:r>
              <a:rPr sz="1950" spc="560" dirty="0">
                <a:solidFill>
                  <a:srgbClr val="231F20"/>
                </a:solidFill>
                <a:latin typeface="Arial"/>
                <a:cs typeface="Arial"/>
              </a:rPr>
              <a:t>&amp; </a:t>
            </a:r>
            <a:r>
              <a:rPr sz="2050" i="1" spc="-65" dirty="0">
                <a:solidFill>
                  <a:srgbClr val="231F20"/>
                </a:solidFill>
                <a:latin typeface="Meiryo"/>
                <a:cs typeface="Meiryo"/>
              </a:rPr>
              <a:t>q</a:t>
            </a:r>
            <a:r>
              <a:rPr sz="2175" i="1" spc="-97" baseline="-11494" dirty="0">
                <a:solidFill>
                  <a:srgbClr val="231F20"/>
                </a:solidFill>
                <a:latin typeface="Verdana"/>
                <a:cs typeface="Verdana"/>
              </a:rPr>
              <a:t>pj  </a:t>
            </a:r>
            <a:r>
              <a:rPr sz="2050" spc="114" dirty="0">
                <a:solidFill>
                  <a:srgbClr val="231F20"/>
                </a:solidFill>
                <a:latin typeface="Tahoma"/>
                <a:cs typeface="Tahoma"/>
              </a:rPr>
              <a:t>= </a:t>
            </a:r>
            <a:r>
              <a:rPr sz="2050" spc="55" dirty="0">
                <a:solidFill>
                  <a:srgbClr val="231F20"/>
                </a:solidFill>
                <a:latin typeface="Lucida Sans Unicode"/>
                <a:cs typeface="Lucida Sans Unicode"/>
              </a:rPr>
              <a:t>−</a:t>
            </a:r>
            <a:r>
              <a:rPr sz="1950" spc="55" dirty="0">
                <a:solidFill>
                  <a:srgbClr val="231F20"/>
                </a:solidFill>
                <a:latin typeface="Arial"/>
                <a:cs typeface="Arial"/>
              </a:rPr>
              <a:t>,</a:t>
            </a:r>
            <a:r>
              <a:rPr sz="1950" spc="445" dirty="0">
                <a:solidFill>
                  <a:srgbClr val="231F20"/>
                </a:solidFill>
                <a:latin typeface="Arial"/>
                <a:cs typeface="Arial"/>
              </a:rPr>
              <a:t> </a:t>
            </a:r>
            <a:r>
              <a:rPr sz="1950" spc="165" dirty="0">
                <a:solidFill>
                  <a:srgbClr val="231F20"/>
                </a:solidFill>
                <a:latin typeface="Arial"/>
                <a:cs typeface="Arial"/>
              </a:rPr>
              <a:t>then</a:t>
            </a:r>
            <a:r>
              <a:rPr sz="1950" spc="515" dirty="0">
                <a:solidFill>
                  <a:srgbClr val="231F20"/>
                </a:solidFill>
                <a:latin typeface="Arial"/>
                <a:cs typeface="Arial"/>
              </a:rPr>
              <a:t> </a:t>
            </a:r>
            <a:r>
              <a:rPr sz="2050" i="1" spc="-25" dirty="0">
                <a:solidFill>
                  <a:srgbClr val="231F20"/>
                </a:solidFill>
                <a:latin typeface="Meiryo"/>
                <a:cs typeface="Meiryo"/>
              </a:rPr>
              <a:t>q</a:t>
            </a:r>
            <a:r>
              <a:rPr sz="2175" spc="-37" baseline="28735" dirty="0">
                <a:solidFill>
                  <a:srgbClr val="231F20"/>
                </a:solidFill>
                <a:latin typeface="Arial"/>
                <a:cs typeface="Arial"/>
              </a:rPr>
              <a:t>′	</a:t>
            </a:r>
            <a:r>
              <a:rPr sz="1950" spc="40" dirty="0">
                <a:solidFill>
                  <a:srgbClr val="231F20"/>
                </a:solidFill>
                <a:latin typeface="Arial"/>
                <a:cs typeface="Arial"/>
              </a:rPr>
              <a:t>is </a:t>
            </a:r>
            <a:r>
              <a:rPr sz="1950" spc="135" dirty="0">
                <a:solidFill>
                  <a:srgbClr val="231F20"/>
                </a:solidFill>
                <a:latin typeface="Arial"/>
                <a:cs typeface="Arial"/>
              </a:rPr>
              <a:t>either </a:t>
            </a:r>
            <a:r>
              <a:rPr sz="2050" spc="114" dirty="0">
                <a:solidFill>
                  <a:srgbClr val="231F20"/>
                </a:solidFill>
                <a:latin typeface="Tahoma"/>
                <a:cs typeface="Tahoma"/>
              </a:rPr>
              <a:t>+ </a:t>
            </a:r>
            <a:r>
              <a:rPr sz="1950" spc="130" dirty="0">
                <a:solidFill>
                  <a:srgbClr val="231F20"/>
                </a:solidFill>
                <a:latin typeface="Arial"/>
                <a:cs typeface="Arial"/>
              </a:rPr>
              <a:t>or</a:t>
            </a:r>
            <a:r>
              <a:rPr sz="1950" spc="670" dirty="0">
                <a:solidFill>
                  <a:srgbClr val="231F20"/>
                </a:solidFill>
                <a:latin typeface="Arial"/>
                <a:cs typeface="Arial"/>
              </a:rPr>
              <a:t> </a:t>
            </a:r>
            <a:r>
              <a:rPr sz="2050" spc="-90" dirty="0">
                <a:solidFill>
                  <a:srgbClr val="231F20"/>
                </a:solidFill>
                <a:latin typeface="Tahoma"/>
                <a:cs typeface="Tahoma"/>
              </a:rPr>
              <a:t>0</a:t>
            </a:r>
            <a:endParaRPr sz="2050">
              <a:latin typeface="Tahoma"/>
              <a:cs typeface="Tahoma"/>
            </a:endParaRPr>
          </a:p>
        </p:txBody>
      </p:sp>
      <p:sp>
        <p:nvSpPr>
          <p:cNvPr id="8" name="object 8"/>
          <p:cNvSpPr txBox="1"/>
          <p:nvPr/>
        </p:nvSpPr>
        <p:spPr>
          <a:xfrm>
            <a:off x="1652295" y="4672609"/>
            <a:ext cx="4571365" cy="1453515"/>
          </a:xfrm>
          <a:prstGeom prst="rect">
            <a:avLst/>
          </a:prstGeom>
        </p:spPr>
        <p:txBody>
          <a:bodyPr vert="horz" wrap="square" lIns="0" tIns="0" rIns="0" bIns="0" rtlCol="0">
            <a:spAutoFit/>
          </a:bodyPr>
          <a:lstStyle/>
          <a:p>
            <a:pPr marL="12700">
              <a:lnSpc>
                <a:spcPct val="100000"/>
              </a:lnSpc>
              <a:tabLst>
                <a:tab pos="300990" algn="l"/>
                <a:tab pos="4058285" algn="l"/>
              </a:tabLst>
            </a:pPr>
            <a:r>
              <a:rPr sz="2050" i="1" spc="-620" dirty="0">
                <a:solidFill>
                  <a:srgbClr val="231F20"/>
                </a:solidFill>
                <a:latin typeface="Meiryo"/>
                <a:cs typeface="Meiryo"/>
              </a:rPr>
              <a:t>⋆	</a:t>
            </a:r>
            <a:r>
              <a:rPr sz="1950" spc="160" dirty="0">
                <a:solidFill>
                  <a:srgbClr val="231F20"/>
                </a:solidFill>
                <a:latin typeface="Arial"/>
                <a:cs typeface="Arial"/>
              </a:rPr>
              <a:t>if  </a:t>
            </a:r>
            <a:r>
              <a:rPr sz="2050" i="1" spc="-65" dirty="0">
                <a:solidFill>
                  <a:srgbClr val="231F20"/>
                </a:solidFill>
                <a:latin typeface="Meiryo"/>
                <a:cs typeface="Meiryo"/>
              </a:rPr>
              <a:t>q</a:t>
            </a:r>
            <a:r>
              <a:rPr sz="2175" i="1" spc="-97" baseline="-11494" dirty="0">
                <a:solidFill>
                  <a:srgbClr val="231F20"/>
                </a:solidFill>
                <a:latin typeface="Verdana"/>
                <a:cs typeface="Verdana"/>
              </a:rPr>
              <a:t>pi  </a:t>
            </a:r>
            <a:r>
              <a:rPr sz="2050" spc="114" dirty="0">
                <a:solidFill>
                  <a:srgbClr val="231F20"/>
                </a:solidFill>
                <a:latin typeface="Tahoma"/>
                <a:cs typeface="Tahoma"/>
              </a:rPr>
              <a:t>= + </a:t>
            </a:r>
            <a:r>
              <a:rPr sz="1950" spc="560" dirty="0">
                <a:solidFill>
                  <a:srgbClr val="231F20"/>
                </a:solidFill>
                <a:latin typeface="Arial"/>
                <a:cs typeface="Arial"/>
              </a:rPr>
              <a:t>&amp; </a:t>
            </a:r>
            <a:r>
              <a:rPr sz="2050" i="1" spc="-65" dirty="0">
                <a:solidFill>
                  <a:srgbClr val="231F20"/>
                </a:solidFill>
                <a:latin typeface="Meiryo"/>
                <a:cs typeface="Meiryo"/>
              </a:rPr>
              <a:t>q</a:t>
            </a:r>
            <a:r>
              <a:rPr sz="2175" i="1" spc="-97" baseline="-11494" dirty="0">
                <a:solidFill>
                  <a:srgbClr val="231F20"/>
                </a:solidFill>
                <a:latin typeface="Verdana"/>
                <a:cs typeface="Verdana"/>
              </a:rPr>
              <a:t>pj  </a:t>
            </a:r>
            <a:r>
              <a:rPr sz="2050" spc="114" dirty="0">
                <a:solidFill>
                  <a:srgbClr val="231F20"/>
                </a:solidFill>
                <a:latin typeface="Tahoma"/>
                <a:cs typeface="Tahoma"/>
              </a:rPr>
              <a:t>= </a:t>
            </a:r>
            <a:r>
              <a:rPr sz="2050" spc="125" dirty="0">
                <a:solidFill>
                  <a:srgbClr val="231F20"/>
                </a:solidFill>
                <a:latin typeface="Tahoma"/>
                <a:cs typeface="Tahoma"/>
              </a:rPr>
              <a:t>+</a:t>
            </a:r>
            <a:r>
              <a:rPr sz="1950" spc="125" dirty="0">
                <a:solidFill>
                  <a:srgbClr val="231F20"/>
                </a:solidFill>
                <a:latin typeface="Arial"/>
                <a:cs typeface="Arial"/>
              </a:rPr>
              <a:t>,</a:t>
            </a:r>
            <a:r>
              <a:rPr sz="1950" spc="445" dirty="0">
                <a:solidFill>
                  <a:srgbClr val="231F20"/>
                </a:solidFill>
                <a:latin typeface="Arial"/>
                <a:cs typeface="Arial"/>
              </a:rPr>
              <a:t> </a:t>
            </a:r>
            <a:r>
              <a:rPr sz="1950" spc="165" dirty="0">
                <a:solidFill>
                  <a:srgbClr val="231F20"/>
                </a:solidFill>
                <a:latin typeface="Arial"/>
                <a:cs typeface="Arial"/>
              </a:rPr>
              <a:t>then</a:t>
            </a:r>
            <a:r>
              <a:rPr sz="1950" spc="515" dirty="0">
                <a:solidFill>
                  <a:srgbClr val="231F20"/>
                </a:solidFill>
                <a:latin typeface="Arial"/>
                <a:cs typeface="Arial"/>
              </a:rPr>
              <a:t> </a:t>
            </a:r>
            <a:r>
              <a:rPr sz="2050" i="1" spc="-25" dirty="0">
                <a:solidFill>
                  <a:srgbClr val="231F20"/>
                </a:solidFill>
                <a:latin typeface="Meiryo"/>
                <a:cs typeface="Meiryo"/>
              </a:rPr>
              <a:t>q</a:t>
            </a:r>
            <a:r>
              <a:rPr sz="2175" spc="-37" baseline="28735" dirty="0">
                <a:solidFill>
                  <a:srgbClr val="231F20"/>
                </a:solidFill>
                <a:latin typeface="Arial"/>
                <a:cs typeface="Arial"/>
              </a:rPr>
              <a:t>′	</a:t>
            </a:r>
            <a:r>
              <a:rPr sz="1950" spc="40" dirty="0">
                <a:solidFill>
                  <a:srgbClr val="231F20"/>
                </a:solidFill>
                <a:latin typeface="Arial"/>
                <a:cs typeface="Arial"/>
              </a:rPr>
              <a:t>is</a:t>
            </a:r>
            <a:r>
              <a:rPr sz="1950" spc="190" dirty="0">
                <a:solidFill>
                  <a:srgbClr val="231F20"/>
                </a:solidFill>
                <a:latin typeface="Arial"/>
                <a:cs typeface="Arial"/>
              </a:rPr>
              <a:t> </a:t>
            </a:r>
            <a:r>
              <a:rPr sz="2050" spc="114" dirty="0">
                <a:solidFill>
                  <a:srgbClr val="231F20"/>
                </a:solidFill>
                <a:latin typeface="Tahoma"/>
                <a:cs typeface="Tahoma"/>
              </a:rPr>
              <a:t>+</a:t>
            </a:r>
            <a:endParaRPr sz="2050">
              <a:latin typeface="Tahoma"/>
              <a:cs typeface="Tahoma"/>
            </a:endParaRPr>
          </a:p>
          <a:p>
            <a:pPr marL="12700">
              <a:lnSpc>
                <a:spcPct val="100000"/>
              </a:lnSpc>
              <a:spcBef>
                <a:spcPts val="465"/>
              </a:spcBef>
            </a:pPr>
            <a:r>
              <a:rPr sz="2050" i="1" spc="-620" dirty="0">
                <a:solidFill>
                  <a:srgbClr val="231F20"/>
                </a:solidFill>
                <a:latin typeface="Meiryo"/>
                <a:cs typeface="Meiryo"/>
              </a:rPr>
              <a:t>⋆</a:t>
            </a:r>
            <a:endParaRPr sz="2050">
              <a:latin typeface="Meiryo"/>
              <a:cs typeface="Meiryo"/>
            </a:endParaRPr>
          </a:p>
          <a:p>
            <a:pPr marL="12700">
              <a:lnSpc>
                <a:spcPct val="100000"/>
              </a:lnSpc>
              <a:spcBef>
                <a:spcPts val="465"/>
              </a:spcBef>
            </a:pPr>
            <a:r>
              <a:rPr sz="2050" i="1" spc="-620" dirty="0">
                <a:solidFill>
                  <a:srgbClr val="231F20"/>
                </a:solidFill>
                <a:latin typeface="Meiryo"/>
                <a:cs typeface="Meiryo"/>
              </a:rPr>
              <a:t>⋆</a:t>
            </a:r>
            <a:endParaRPr sz="2050">
              <a:latin typeface="Meiryo"/>
              <a:cs typeface="Meiryo"/>
            </a:endParaRPr>
          </a:p>
          <a:p>
            <a:pPr marL="12700">
              <a:lnSpc>
                <a:spcPct val="100000"/>
              </a:lnSpc>
              <a:spcBef>
                <a:spcPts val="465"/>
              </a:spcBef>
              <a:tabLst>
                <a:tab pos="300990" algn="l"/>
              </a:tabLst>
            </a:pPr>
            <a:r>
              <a:rPr sz="2050" i="1" spc="-620" dirty="0">
                <a:solidFill>
                  <a:srgbClr val="231F20"/>
                </a:solidFill>
                <a:latin typeface="Meiryo"/>
                <a:cs typeface="Meiryo"/>
              </a:rPr>
              <a:t>⋆	</a:t>
            </a:r>
            <a:r>
              <a:rPr sz="2050" i="1" spc="-145" dirty="0">
                <a:solidFill>
                  <a:srgbClr val="231F20"/>
                </a:solidFill>
                <a:latin typeface="Meiryo"/>
                <a:cs typeface="Meiryo"/>
              </a:rPr>
              <a:t>.</a:t>
            </a:r>
            <a:r>
              <a:rPr sz="2050" i="1" spc="-400" dirty="0">
                <a:solidFill>
                  <a:srgbClr val="231F20"/>
                </a:solidFill>
                <a:latin typeface="Meiryo"/>
                <a:cs typeface="Meiryo"/>
              </a:rPr>
              <a:t> </a:t>
            </a:r>
            <a:r>
              <a:rPr sz="2050" i="1" spc="-145" dirty="0">
                <a:solidFill>
                  <a:srgbClr val="231F20"/>
                </a:solidFill>
                <a:latin typeface="Meiryo"/>
                <a:cs typeface="Meiryo"/>
              </a:rPr>
              <a:t>.</a:t>
            </a:r>
            <a:r>
              <a:rPr sz="2050" i="1" spc="-400" dirty="0">
                <a:solidFill>
                  <a:srgbClr val="231F20"/>
                </a:solidFill>
                <a:latin typeface="Meiryo"/>
                <a:cs typeface="Meiryo"/>
              </a:rPr>
              <a:t> </a:t>
            </a:r>
            <a:r>
              <a:rPr sz="2050" i="1" spc="-145" dirty="0">
                <a:solidFill>
                  <a:srgbClr val="231F20"/>
                </a:solidFill>
                <a:latin typeface="Meiryo"/>
                <a:cs typeface="Meiryo"/>
              </a:rPr>
              <a:t>.</a:t>
            </a:r>
            <a:endParaRPr sz="2050">
              <a:latin typeface="Meiryo"/>
              <a:cs typeface="Meiryo"/>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98801" y="830312"/>
            <a:ext cx="5262245" cy="314960"/>
          </a:xfrm>
          <a:prstGeom prst="rect">
            <a:avLst/>
          </a:prstGeom>
        </p:spPr>
        <p:txBody>
          <a:bodyPr vert="horz" wrap="square" lIns="0" tIns="0" rIns="0" bIns="0" rtlCol="0">
            <a:spAutoFit/>
          </a:bodyPr>
          <a:lstStyle/>
          <a:p>
            <a:pPr marL="12700">
              <a:lnSpc>
                <a:spcPct val="100000"/>
              </a:lnSpc>
            </a:pPr>
            <a:r>
              <a:rPr sz="1950" spc="340" dirty="0">
                <a:solidFill>
                  <a:srgbClr val="231F20"/>
                </a:solidFill>
                <a:latin typeface="Arial"/>
                <a:cs typeface="Arial"/>
              </a:rPr>
              <a:t>Data </a:t>
            </a:r>
            <a:r>
              <a:rPr sz="1950" spc="275" dirty="0">
                <a:solidFill>
                  <a:srgbClr val="231F20"/>
                </a:solidFill>
                <a:latin typeface="Arial"/>
                <a:cs typeface="Arial"/>
              </a:rPr>
              <a:t>Abstraction </a:t>
            </a:r>
            <a:r>
              <a:rPr sz="1950" spc="245" dirty="0">
                <a:solidFill>
                  <a:srgbClr val="231F20"/>
                </a:solidFill>
                <a:latin typeface="Arial"/>
                <a:cs typeface="Arial"/>
              </a:rPr>
              <a:t>for </a:t>
            </a:r>
            <a:r>
              <a:rPr sz="1950" spc="240" dirty="0">
                <a:solidFill>
                  <a:srgbClr val="231F20"/>
                </a:solidFill>
                <a:latin typeface="Arial"/>
                <a:cs typeface="Arial"/>
              </a:rPr>
              <a:t>Hybrid</a:t>
            </a:r>
            <a:r>
              <a:rPr sz="1950" spc="575" dirty="0">
                <a:solidFill>
                  <a:srgbClr val="231F20"/>
                </a:solidFill>
                <a:latin typeface="Arial"/>
                <a:cs typeface="Arial"/>
              </a:rPr>
              <a:t> </a:t>
            </a:r>
            <a:r>
              <a:rPr sz="1950" spc="235" dirty="0">
                <a:solidFill>
                  <a:srgbClr val="231F20"/>
                </a:solidFill>
                <a:latin typeface="Arial"/>
                <a:cs typeface="Arial"/>
              </a:rPr>
              <a:t>Systems</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438259" rIns="0" bIns="0" rtlCol="0">
            <a:spAutoFit/>
          </a:bodyPr>
          <a:lstStyle/>
          <a:p>
            <a:pPr marL="300990" indent="-288290">
              <a:lnSpc>
                <a:spcPct val="100000"/>
              </a:lnSpc>
              <a:buSzPct val="105128"/>
              <a:buFont typeface="Lucida Sans Unicode"/>
              <a:buChar char="•"/>
              <a:tabLst>
                <a:tab pos="301625" algn="l"/>
              </a:tabLst>
            </a:pPr>
            <a:r>
              <a:rPr sz="1950" spc="140" dirty="0">
                <a:solidFill>
                  <a:srgbClr val="231F20"/>
                </a:solidFill>
                <a:latin typeface="Arial"/>
                <a:cs typeface="Arial"/>
              </a:rPr>
              <a:t>Larger </a:t>
            </a:r>
            <a:r>
              <a:rPr sz="1950" spc="90" dirty="0">
                <a:solidFill>
                  <a:srgbClr val="231F20"/>
                </a:solidFill>
                <a:latin typeface="Arial"/>
                <a:cs typeface="Arial"/>
              </a:rPr>
              <a:t>choices </a:t>
            </a:r>
            <a:r>
              <a:rPr sz="1950" spc="185" dirty="0">
                <a:solidFill>
                  <a:srgbClr val="231F20"/>
                </a:solidFill>
                <a:latin typeface="Arial"/>
                <a:cs typeface="Arial"/>
              </a:rPr>
              <a:t>of </a:t>
            </a:r>
            <a:r>
              <a:rPr i="1" spc="170" dirty="0">
                <a:solidFill>
                  <a:srgbClr val="231F20"/>
                </a:solidFill>
                <a:latin typeface="Meiryo"/>
                <a:cs typeface="Meiryo"/>
              </a:rPr>
              <a:t>j </a:t>
            </a:r>
            <a:r>
              <a:rPr sz="1950" spc="100" dirty="0">
                <a:solidFill>
                  <a:srgbClr val="231F20"/>
                </a:solidFill>
                <a:latin typeface="Arial"/>
                <a:cs typeface="Arial"/>
              </a:rPr>
              <a:t>give </a:t>
            </a:r>
            <a:r>
              <a:rPr sz="1950" spc="65" dirty="0">
                <a:solidFill>
                  <a:srgbClr val="231F20"/>
                </a:solidFill>
                <a:latin typeface="Arial"/>
                <a:cs typeface="Arial"/>
              </a:rPr>
              <a:t>successively </a:t>
            </a:r>
            <a:r>
              <a:rPr sz="1950" spc="135" dirty="0">
                <a:solidFill>
                  <a:srgbClr val="231F20"/>
                </a:solidFill>
                <a:latin typeface="Arial"/>
                <a:cs typeface="Arial"/>
              </a:rPr>
              <a:t>finer </a:t>
            </a:r>
            <a:r>
              <a:rPr sz="1950" spc="540" dirty="0">
                <a:solidFill>
                  <a:srgbClr val="231F20"/>
                </a:solidFill>
                <a:latin typeface="Arial"/>
                <a:cs typeface="Arial"/>
              </a:rPr>
              <a:t> </a:t>
            </a:r>
            <a:r>
              <a:rPr sz="1950" spc="140" dirty="0">
                <a:solidFill>
                  <a:srgbClr val="231F20"/>
                </a:solidFill>
                <a:latin typeface="Arial"/>
                <a:cs typeface="Arial"/>
              </a:rPr>
              <a:t>abstractions</a:t>
            </a:r>
            <a:endParaRPr sz="1950">
              <a:latin typeface="Arial"/>
              <a:cs typeface="Arial"/>
            </a:endParaRPr>
          </a:p>
        </p:txBody>
      </p:sp>
      <p:sp>
        <p:nvSpPr>
          <p:cNvPr id="4" name="object 4"/>
          <p:cNvSpPr txBox="1"/>
          <p:nvPr/>
        </p:nvSpPr>
        <p:spPr>
          <a:xfrm>
            <a:off x="896440" y="1901862"/>
            <a:ext cx="8260715" cy="4080510"/>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05" dirty="0">
                <a:solidFill>
                  <a:srgbClr val="231F20"/>
                </a:solidFill>
                <a:latin typeface="Arial"/>
                <a:cs typeface="Arial"/>
              </a:rPr>
              <a:t>Usually </a:t>
            </a:r>
            <a:r>
              <a:rPr sz="1950" spc="130" dirty="0">
                <a:solidFill>
                  <a:srgbClr val="231F20"/>
                </a:solidFill>
                <a:latin typeface="Arial"/>
                <a:cs typeface="Arial"/>
              </a:rPr>
              <a:t>enough </a:t>
            </a:r>
            <a:r>
              <a:rPr sz="1950" spc="250" dirty="0">
                <a:solidFill>
                  <a:srgbClr val="231F20"/>
                </a:solidFill>
                <a:latin typeface="Arial"/>
                <a:cs typeface="Arial"/>
              </a:rPr>
              <a:t>to </a:t>
            </a:r>
            <a:r>
              <a:rPr sz="1950" spc="145" dirty="0">
                <a:solidFill>
                  <a:srgbClr val="231F20"/>
                </a:solidFill>
                <a:latin typeface="Arial"/>
                <a:cs typeface="Arial"/>
              </a:rPr>
              <a:t>take </a:t>
            </a:r>
            <a:r>
              <a:rPr sz="2050" i="1" spc="170" dirty="0">
                <a:solidFill>
                  <a:srgbClr val="231F20"/>
                </a:solidFill>
                <a:latin typeface="Meiryo"/>
                <a:cs typeface="Meiryo"/>
              </a:rPr>
              <a:t>j </a:t>
            </a:r>
            <a:r>
              <a:rPr sz="2050" spc="114" dirty="0">
                <a:solidFill>
                  <a:srgbClr val="231F20"/>
                </a:solidFill>
                <a:latin typeface="Tahoma"/>
                <a:cs typeface="Tahoma"/>
              </a:rPr>
              <a:t>= </a:t>
            </a:r>
            <a:r>
              <a:rPr sz="2050" spc="-90" dirty="0">
                <a:solidFill>
                  <a:srgbClr val="231F20"/>
                </a:solidFill>
                <a:latin typeface="Tahoma"/>
                <a:cs typeface="Tahoma"/>
              </a:rPr>
              <a:t>1 </a:t>
            </a:r>
            <a:r>
              <a:rPr sz="1950" spc="130" dirty="0">
                <a:solidFill>
                  <a:srgbClr val="231F20"/>
                </a:solidFill>
                <a:latin typeface="Arial"/>
                <a:cs typeface="Arial"/>
              </a:rPr>
              <a:t>or</a:t>
            </a:r>
            <a:r>
              <a:rPr sz="1950" spc="650" dirty="0">
                <a:solidFill>
                  <a:srgbClr val="231F20"/>
                </a:solidFill>
                <a:latin typeface="Arial"/>
                <a:cs typeface="Arial"/>
              </a:rPr>
              <a:t> </a:t>
            </a:r>
            <a:r>
              <a:rPr sz="2050" spc="-90" dirty="0">
                <a:solidFill>
                  <a:srgbClr val="231F20"/>
                </a:solidFill>
                <a:latin typeface="Tahoma"/>
                <a:cs typeface="Tahoma"/>
              </a:rPr>
              <a:t>2</a:t>
            </a:r>
            <a:endParaRPr sz="2050">
              <a:latin typeface="Tahoma"/>
              <a:cs typeface="Tahoma"/>
            </a:endParaRPr>
          </a:p>
          <a:p>
            <a:pPr>
              <a:lnSpc>
                <a:spcPct val="100000"/>
              </a:lnSpc>
              <a:spcBef>
                <a:spcPts val="1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15" dirty="0">
                <a:solidFill>
                  <a:srgbClr val="231F20"/>
                </a:solidFill>
                <a:latin typeface="Arial"/>
                <a:cs typeface="Arial"/>
              </a:rPr>
              <a:t>Method </a:t>
            </a:r>
            <a:r>
              <a:rPr sz="1950" spc="40" dirty="0">
                <a:solidFill>
                  <a:srgbClr val="231F20"/>
                </a:solidFill>
                <a:latin typeface="Arial"/>
                <a:cs typeface="Arial"/>
              </a:rPr>
              <a:t>is </a:t>
            </a:r>
            <a:r>
              <a:rPr sz="1950" spc="150" dirty="0">
                <a:solidFill>
                  <a:srgbClr val="231F20"/>
                </a:solidFill>
                <a:latin typeface="Arial"/>
                <a:cs typeface="Arial"/>
              </a:rPr>
              <a:t>complete </a:t>
            </a:r>
            <a:r>
              <a:rPr sz="1950" spc="155" dirty="0">
                <a:solidFill>
                  <a:srgbClr val="231F20"/>
                </a:solidFill>
                <a:latin typeface="Arial"/>
                <a:cs typeface="Arial"/>
              </a:rPr>
              <a:t>for </a:t>
            </a:r>
            <a:r>
              <a:rPr sz="1950" spc="110" dirty="0">
                <a:solidFill>
                  <a:srgbClr val="231F20"/>
                </a:solidFill>
                <a:latin typeface="Arial"/>
                <a:cs typeface="Arial"/>
              </a:rPr>
              <a:t>some </a:t>
            </a:r>
            <a:r>
              <a:rPr sz="1950" spc="150" dirty="0">
                <a:solidFill>
                  <a:srgbClr val="231F20"/>
                </a:solidFill>
                <a:latin typeface="Arial"/>
                <a:cs typeface="Arial"/>
              </a:rPr>
              <a:t>(e.g., </a:t>
            </a:r>
            <a:r>
              <a:rPr sz="1950" spc="190" dirty="0">
                <a:solidFill>
                  <a:srgbClr val="231F20"/>
                </a:solidFill>
                <a:latin typeface="Arial"/>
                <a:cs typeface="Arial"/>
              </a:rPr>
              <a:t>nilpotent) </a:t>
            </a:r>
            <a:r>
              <a:rPr sz="1950" spc="470" dirty="0">
                <a:solidFill>
                  <a:srgbClr val="231F20"/>
                </a:solidFill>
                <a:latin typeface="Arial"/>
                <a:cs typeface="Arial"/>
              </a:rPr>
              <a:t> </a:t>
            </a:r>
            <a:r>
              <a:rPr sz="1950" spc="100" dirty="0">
                <a:solidFill>
                  <a:srgbClr val="231F20"/>
                </a:solidFill>
                <a:latin typeface="Arial"/>
                <a:cs typeface="Arial"/>
              </a:rPr>
              <a:t>systems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25" dirty="0">
                <a:solidFill>
                  <a:srgbClr val="231F20"/>
                </a:solidFill>
                <a:latin typeface="Arial"/>
                <a:cs typeface="Arial"/>
              </a:rPr>
              <a:t>Parameterized </a:t>
            </a:r>
            <a:r>
              <a:rPr sz="1950" spc="80" dirty="0">
                <a:solidFill>
                  <a:srgbClr val="231F20"/>
                </a:solidFill>
                <a:latin typeface="Arial"/>
                <a:cs typeface="Arial"/>
              </a:rPr>
              <a:t>also </a:t>
            </a:r>
            <a:r>
              <a:rPr sz="1950" spc="105" dirty="0">
                <a:solidFill>
                  <a:srgbClr val="231F20"/>
                </a:solidFill>
                <a:latin typeface="Arial"/>
                <a:cs typeface="Arial"/>
              </a:rPr>
              <a:t>by </a:t>
            </a:r>
            <a:r>
              <a:rPr sz="1950" spc="110" dirty="0">
                <a:solidFill>
                  <a:srgbClr val="231F20"/>
                </a:solidFill>
                <a:latin typeface="Arial"/>
                <a:cs typeface="Arial"/>
              </a:rPr>
              <a:t>selection </a:t>
            </a:r>
            <a:r>
              <a:rPr sz="1950" spc="185" dirty="0">
                <a:solidFill>
                  <a:srgbClr val="231F20"/>
                </a:solidFill>
                <a:latin typeface="Arial"/>
                <a:cs typeface="Arial"/>
              </a:rPr>
              <a:t>of </a:t>
            </a:r>
            <a:r>
              <a:rPr sz="1950" spc="135" dirty="0">
                <a:solidFill>
                  <a:srgbClr val="231F20"/>
                </a:solidFill>
                <a:latin typeface="Arial"/>
                <a:cs typeface="Arial"/>
              </a:rPr>
              <a:t>polynomials </a:t>
            </a:r>
            <a:r>
              <a:rPr sz="1950" spc="250" dirty="0">
                <a:solidFill>
                  <a:srgbClr val="231F20"/>
                </a:solidFill>
                <a:latin typeface="Arial"/>
                <a:cs typeface="Arial"/>
              </a:rPr>
              <a:t>to </a:t>
            </a:r>
            <a:r>
              <a:rPr sz="1950" spc="160" dirty="0">
                <a:solidFill>
                  <a:srgbClr val="231F20"/>
                </a:solidFill>
                <a:latin typeface="Arial"/>
                <a:cs typeface="Arial"/>
              </a:rPr>
              <a:t>abstract </a:t>
            </a:r>
            <a:r>
              <a:rPr sz="1950" spc="570" dirty="0">
                <a:solidFill>
                  <a:srgbClr val="231F20"/>
                </a:solidFill>
                <a:latin typeface="Arial"/>
                <a:cs typeface="Arial"/>
              </a:rPr>
              <a:t> </a:t>
            </a:r>
            <a:r>
              <a:rPr sz="1950" spc="155" dirty="0">
                <a:solidFill>
                  <a:srgbClr val="231F20"/>
                </a:solidFill>
                <a:latin typeface="Arial"/>
                <a:cs typeface="Arial"/>
              </a:rPr>
              <a:t>on</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250" dirty="0">
                <a:solidFill>
                  <a:srgbClr val="231F20"/>
                </a:solidFill>
                <a:latin typeface="Arial"/>
                <a:cs typeface="Arial"/>
              </a:rPr>
              <a:t>The </a:t>
            </a:r>
            <a:r>
              <a:rPr sz="1950" spc="105" dirty="0">
                <a:solidFill>
                  <a:srgbClr val="231F20"/>
                </a:solidFill>
                <a:latin typeface="Arial"/>
                <a:cs typeface="Arial"/>
              </a:rPr>
              <a:t>eigenvectors </a:t>
            </a:r>
            <a:r>
              <a:rPr sz="1950" spc="65" dirty="0">
                <a:solidFill>
                  <a:srgbClr val="231F20"/>
                </a:solidFill>
                <a:latin typeface="Arial"/>
                <a:cs typeface="Arial"/>
              </a:rPr>
              <a:t>are </a:t>
            </a:r>
            <a:r>
              <a:rPr sz="1950" spc="85" dirty="0">
                <a:solidFill>
                  <a:srgbClr val="231F20"/>
                </a:solidFill>
                <a:latin typeface="Arial"/>
                <a:cs typeface="Arial"/>
              </a:rPr>
              <a:t>a </a:t>
            </a:r>
            <a:r>
              <a:rPr sz="1950" spc="185" dirty="0">
                <a:solidFill>
                  <a:srgbClr val="231F20"/>
                </a:solidFill>
                <a:latin typeface="Arial"/>
                <a:cs typeface="Arial"/>
              </a:rPr>
              <a:t>good</a:t>
            </a:r>
            <a:r>
              <a:rPr sz="1950" spc="885" dirty="0">
                <a:solidFill>
                  <a:srgbClr val="231F20"/>
                </a:solidFill>
                <a:latin typeface="Arial"/>
                <a:cs typeface="Arial"/>
              </a:rPr>
              <a:t> </a:t>
            </a:r>
            <a:r>
              <a:rPr sz="1950" spc="170" dirty="0">
                <a:solidFill>
                  <a:srgbClr val="231F20"/>
                </a:solidFill>
                <a:latin typeface="Arial"/>
                <a:cs typeface="Arial"/>
              </a:rPr>
              <a:t>start</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215" dirty="0">
                <a:solidFill>
                  <a:srgbClr val="231F20"/>
                </a:solidFill>
                <a:latin typeface="Arial"/>
                <a:cs typeface="Arial"/>
              </a:rPr>
              <a:t>Method </a:t>
            </a:r>
            <a:r>
              <a:rPr sz="1950" spc="40" dirty="0">
                <a:solidFill>
                  <a:srgbClr val="231F20"/>
                </a:solidFill>
                <a:latin typeface="Arial"/>
                <a:cs typeface="Arial"/>
              </a:rPr>
              <a:t>is </a:t>
            </a:r>
            <a:r>
              <a:rPr sz="1950" spc="165" dirty="0">
                <a:solidFill>
                  <a:srgbClr val="231F20"/>
                </a:solidFill>
                <a:latin typeface="Arial"/>
                <a:cs typeface="Arial"/>
              </a:rPr>
              <a:t>then </a:t>
            </a:r>
            <a:r>
              <a:rPr sz="1950" spc="150" dirty="0">
                <a:solidFill>
                  <a:srgbClr val="231F20"/>
                </a:solidFill>
                <a:latin typeface="Arial"/>
                <a:cs typeface="Arial"/>
              </a:rPr>
              <a:t>complete </a:t>
            </a:r>
            <a:r>
              <a:rPr sz="1950" spc="155" dirty="0">
                <a:solidFill>
                  <a:srgbClr val="231F20"/>
                </a:solidFill>
                <a:latin typeface="Arial"/>
                <a:cs typeface="Arial"/>
              </a:rPr>
              <a:t>for </a:t>
            </a:r>
            <a:r>
              <a:rPr sz="1950" spc="95" dirty="0">
                <a:solidFill>
                  <a:srgbClr val="231F20"/>
                </a:solidFill>
                <a:latin typeface="Arial"/>
                <a:cs typeface="Arial"/>
              </a:rPr>
              <a:t>linear </a:t>
            </a:r>
            <a:r>
              <a:rPr sz="1950" spc="345" dirty="0">
                <a:solidFill>
                  <a:srgbClr val="231F20"/>
                </a:solidFill>
                <a:latin typeface="Arial"/>
                <a:cs typeface="Arial"/>
              </a:rPr>
              <a:t> </a:t>
            </a:r>
            <a:r>
              <a:rPr sz="1950" spc="100" dirty="0">
                <a:solidFill>
                  <a:srgbClr val="231F20"/>
                </a:solidFill>
                <a:latin typeface="Arial"/>
                <a:cs typeface="Arial"/>
              </a:rPr>
              <a:t>systems</a:t>
            </a:r>
            <a:endParaRPr sz="1950">
              <a:latin typeface="Arial"/>
              <a:cs typeface="Arial"/>
            </a:endParaRPr>
          </a:p>
          <a:p>
            <a:pPr marL="300990" marR="24130" indent="-288290">
              <a:lnSpc>
                <a:spcPct val="125000"/>
              </a:lnSpc>
              <a:spcBef>
                <a:spcPts val="1340"/>
              </a:spcBef>
              <a:buClr>
                <a:srgbClr val="231F20"/>
              </a:buClr>
              <a:buSzPct val="105128"/>
              <a:buFont typeface="Lucida Sans Unicode"/>
              <a:buChar char="•"/>
              <a:tabLst>
                <a:tab pos="301625" algn="l"/>
              </a:tabLst>
            </a:pPr>
            <a:r>
              <a:rPr sz="1950" spc="165" dirty="0">
                <a:solidFill>
                  <a:srgbClr val="FF0000"/>
                </a:solidFill>
                <a:latin typeface="Arial"/>
                <a:cs typeface="Arial"/>
              </a:rPr>
              <a:t>Construction </a:t>
            </a:r>
            <a:r>
              <a:rPr sz="1950" spc="40" dirty="0">
                <a:solidFill>
                  <a:srgbClr val="FF0000"/>
                </a:solidFill>
                <a:latin typeface="Arial"/>
                <a:cs typeface="Arial"/>
              </a:rPr>
              <a:t>is </a:t>
            </a:r>
            <a:r>
              <a:rPr sz="1950" spc="180" dirty="0">
                <a:solidFill>
                  <a:srgbClr val="FF0000"/>
                </a:solidFill>
                <a:latin typeface="Arial"/>
                <a:cs typeface="Arial"/>
              </a:rPr>
              <a:t>automated </a:t>
            </a:r>
            <a:r>
              <a:rPr sz="1950" spc="110" dirty="0">
                <a:solidFill>
                  <a:srgbClr val="FF0000"/>
                </a:solidFill>
                <a:latin typeface="Arial"/>
                <a:cs typeface="Arial"/>
              </a:rPr>
              <a:t>using </a:t>
            </a:r>
            <a:r>
              <a:rPr sz="1950" spc="100" dirty="0">
                <a:solidFill>
                  <a:srgbClr val="FF0000"/>
                </a:solidFill>
                <a:latin typeface="Arial"/>
                <a:cs typeface="Arial"/>
              </a:rPr>
              <a:t>decision </a:t>
            </a:r>
            <a:r>
              <a:rPr sz="1950" spc="105" dirty="0">
                <a:solidFill>
                  <a:srgbClr val="FF0000"/>
                </a:solidFill>
                <a:latin typeface="Arial"/>
                <a:cs typeface="Arial"/>
              </a:rPr>
              <a:t>procedures </a:t>
            </a:r>
            <a:r>
              <a:rPr sz="1950" spc="155" dirty="0">
                <a:solidFill>
                  <a:srgbClr val="FF0000"/>
                </a:solidFill>
                <a:latin typeface="Arial"/>
                <a:cs typeface="Arial"/>
              </a:rPr>
              <a:t>for </a:t>
            </a:r>
            <a:r>
              <a:rPr sz="1950" spc="95" dirty="0">
                <a:solidFill>
                  <a:srgbClr val="FF0000"/>
                </a:solidFill>
                <a:latin typeface="Arial"/>
                <a:cs typeface="Arial"/>
              </a:rPr>
              <a:t>real  </a:t>
            </a:r>
            <a:r>
              <a:rPr sz="1950" spc="85" dirty="0">
                <a:solidFill>
                  <a:srgbClr val="FF0000"/>
                </a:solidFill>
                <a:latin typeface="Arial"/>
                <a:cs typeface="Arial"/>
              </a:rPr>
              <a:t>closed </a:t>
            </a:r>
            <a:r>
              <a:rPr sz="1950" spc="95" dirty="0">
                <a:solidFill>
                  <a:srgbClr val="FF0000"/>
                </a:solidFill>
                <a:latin typeface="Arial"/>
                <a:cs typeface="Arial"/>
              </a:rPr>
              <a:t>fields </a:t>
            </a:r>
            <a:r>
              <a:rPr sz="1950" spc="150" dirty="0">
                <a:solidFill>
                  <a:srgbClr val="FF0000"/>
                </a:solidFill>
                <a:latin typeface="Arial"/>
                <a:cs typeface="Arial"/>
              </a:rPr>
              <a:t>(e.g., </a:t>
            </a:r>
            <a:r>
              <a:rPr sz="1950" spc="135" dirty="0">
                <a:solidFill>
                  <a:srgbClr val="FF0000"/>
                </a:solidFill>
                <a:latin typeface="Arial"/>
                <a:cs typeface="Arial"/>
              </a:rPr>
              <a:t>Cylindric </a:t>
            </a:r>
            <a:r>
              <a:rPr sz="1950" spc="125" dirty="0">
                <a:solidFill>
                  <a:srgbClr val="FF0000"/>
                </a:solidFill>
                <a:latin typeface="Arial"/>
                <a:cs typeface="Arial"/>
              </a:rPr>
              <a:t>Algebraic </a:t>
            </a:r>
            <a:r>
              <a:rPr sz="1950" spc="360" dirty="0">
                <a:solidFill>
                  <a:srgbClr val="FF0000"/>
                </a:solidFill>
                <a:latin typeface="Arial"/>
                <a:cs typeface="Arial"/>
              </a:rPr>
              <a:t> </a:t>
            </a:r>
            <a:r>
              <a:rPr sz="1950" spc="210" dirty="0">
                <a:solidFill>
                  <a:srgbClr val="FF0000"/>
                </a:solidFill>
                <a:latin typeface="Arial"/>
                <a:cs typeface="Arial"/>
              </a:rPr>
              <a:t>Decomposition—CAD)</a:t>
            </a:r>
            <a:endParaRPr sz="1950">
              <a:latin typeface="Arial"/>
              <a:cs typeface="Arial"/>
            </a:endParaRPr>
          </a:p>
          <a:p>
            <a:pPr marL="300990" marR="99695" indent="-288290">
              <a:lnSpc>
                <a:spcPct val="125000"/>
              </a:lnSpc>
              <a:spcBef>
                <a:spcPts val="1340"/>
              </a:spcBef>
              <a:buSzPct val="105128"/>
              <a:buFont typeface="Lucida Sans Unicode"/>
              <a:buChar char="•"/>
              <a:tabLst>
                <a:tab pos="301625" algn="l"/>
              </a:tabLst>
            </a:pPr>
            <a:r>
              <a:rPr sz="1950" spc="130" dirty="0">
                <a:solidFill>
                  <a:srgbClr val="231F20"/>
                </a:solidFill>
                <a:latin typeface="Arial"/>
                <a:cs typeface="Arial"/>
              </a:rPr>
              <a:t>Also </a:t>
            </a:r>
            <a:r>
              <a:rPr sz="1950" spc="95" dirty="0">
                <a:solidFill>
                  <a:srgbClr val="231F20"/>
                </a:solidFill>
                <a:latin typeface="Arial"/>
                <a:cs typeface="Arial"/>
              </a:rPr>
              <a:t>provides </a:t>
            </a:r>
            <a:r>
              <a:rPr sz="1950" spc="85" dirty="0">
                <a:solidFill>
                  <a:srgbClr val="231F20"/>
                </a:solidFill>
                <a:latin typeface="Arial"/>
                <a:cs typeface="Arial"/>
              </a:rPr>
              <a:t>a </a:t>
            </a:r>
            <a:r>
              <a:rPr sz="1950" spc="100" dirty="0">
                <a:solidFill>
                  <a:srgbClr val="231F20"/>
                </a:solidFill>
                <a:latin typeface="Arial"/>
                <a:cs typeface="Arial"/>
              </a:rPr>
              <a:t>general </a:t>
            </a:r>
            <a:r>
              <a:rPr sz="1950" spc="135" dirty="0">
                <a:solidFill>
                  <a:srgbClr val="231F20"/>
                </a:solidFill>
                <a:latin typeface="Arial"/>
                <a:cs typeface="Arial"/>
              </a:rPr>
              <a:t>underpinning </a:t>
            </a:r>
            <a:r>
              <a:rPr sz="1950" spc="250" dirty="0">
                <a:solidFill>
                  <a:srgbClr val="231F20"/>
                </a:solidFill>
                <a:latin typeface="Arial"/>
                <a:cs typeface="Arial"/>
              </a:rPr>
              <a:t>to </a:t>
            </a:r>
            <a:r>
              <a:rPr sz="1950" spc="150" dirty="0">
                <a:solidFill>
                  <a:srgbClr val="0000FF"/>
                </a:solidFill>
                <a:latin typeface="Arial"/>
                <a:cs typeface="Arial"/>
              </a:rPr>
              <a:t>qualitative </a:t>
            </a:r>
            <a:r>
              <a:rPr sz="1950" spc="105" dirty="0">
                <a:solidFill>
                  <a:srgbClr val="0000FF"/>
                </a:solidFill>
                <a:latin typeface="Arial"/>
                <a:cs typeface="Arial"/>
              </a:rPr>
              <a:t>reasoning  </a:t>
            </a:r>
            <a:r>
              <a:rPr sz="1950" spc="30" dirty="0">
                <a:solidFill>
                  <a:srgbClr val="231F20"/>
                </a:solidFill>
                <a:latin typeface="Arial"/>
                <a:cs typeface="Arial"/>
              </a:rPr>
              <a:t>as </a:t>
            </a:r>
            <a:r>
              <a:rPr sz="1950" spc="70" dirty="0">
                <a:solidFill>
                  <a:srgbClr val="231F20"/>
                </a:solidFill>
                <a:latin typeface="Arial"/>
                <a:cs typeface="Arial"/>
              </a:rPr>
              <a:t>used </a:t>
            </a:r>
            <a:r>
              <a:rPr sz="1950" spc="130" dirty="0">
                <a:solidFill>
                  <a:srgbClr val="231F20"/>
                </a:solidFill>
                <a:latin typeface="Arial"/>
                <a:cs typeface="Arial"/>
              </a:rPr>
              <a:t>in</a:t>
            </a:r>
            <a:r>
              <a:rPr sz="1950" spc="675" dirty="0">
                <a:solidFill>
                  <a:srgbClr val="231F20"/>
                </a:solidFill>
                <a:latin typeface="Arial"/>
                <a:cs typeface="Arial"/>
              </a:rPr>
              <a:t> </a:t>
            </a:r>
            <a:r>
              <a:rPr sz="1950" spc="190" dirty="0">
                <a:solidFill>
                  <a:srgbClr val="231F20"/>
                </a:solidFill>
                <a:latin typeface="Arial"/>
                <a:cs typeface="Arial"/>
              </a:rPr>
              <a:t>AI</a:t>
            </a:r>
            <a:endParaRPr sz="1950">
              <a:latin typeface="Arial"/>
              <a:cs typeface="Arial"/>
            </a:endParaRP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75981"/>
            <a:ext cx="5881370" cy="821055"/>
          </a:xfrm>
          <a:prstGeom prst="rect">
            <a:avLst/>
          </a:prstGeom>
        </p:spPr>
        <p:txBody>
          <a:bodyPr vert="horz" wrap="square" lIns="0" tIns="0" rIns="0" bIns="0" rtlCol="0">
            <a:spAutoFit/>
          </a:bodyPr>
          <a:lstStyle/>
          <a:p>
            <a:pPr marL="2561590">
              <a:lnSpc>
                <a:spcPct val="100000"/>
              </a:lnSpc>
              <a:tabLst>
                <a:tab pos="4014470" algn="l"/>
              </a:tabLst>
            </a:pPr>
            <a:r>
              <a:rPr sz="1950" spc="260" dirty="0">
                <a:solidFill>
                  <a:srgbClr val="231F20"/>
                </a:solidFill>
                <a:latin typeface="Arial"/>
                <a:cs typeface="Arial"/>
              </a:rPr>
              <a:t>Example:	</a:t>
            </a:r>
            <a:r>
              <a:rPr sz="1950" spc="330" dirty="0">
                <a:solidFill>
                  <a:srgbClr val="231F20"/>
                </a:solidFill>
                <a:latin typeface="Arial"/>
                <a:cs typeface="Arial"/>
              </a:rPr>
              <a:t>Thermostat</a:t>
            </a:r>
            <a:endParaRPr sz="1950">
              <a:latin typeface="Arial"/>
              <a:cs typeface="Arial"/>
            </a:endParaRPr>
          </a:p>
          <a:p>
            <a:pPr marL="12700">
              <a:lnSpc>
                <a:spcPct val="100000"/>
              </a:lnSpc>
              <a:spcBef>
                <a:spcPts val="1645"/>
              </a:spcBef>
            </a:pPr>
            <a:r>
              <a:rPr sz="1950" spc="110" dirty="0">
                <a:solidFill>
                  <a:srgbClr val="231F20"/>
                </a:solidFill>
                <a:latin typeface="Arial"/>
                <a:cs typeface="Arial"/>
              </a:rPr>
              <a:t>Consider </a:t>
            </a:r>
            <a:r>
              <a:rPr sz="1950" spc="85" dirty="0">
                <a:solidFill>
                  <a:srgbClr val="231F20"/>
                </a:solidFill>
                <a:latin typeface="Arial"/>
                <a:cs typeface="Arial"/>
              </a:rPr>
              <a:t>a </a:t>
            </a:r>
            <a:r>
              <a:rPr sz="1950" spc="110" dirty="0">
                <a:solidFill>
                  <a:srgbClr val="231F20"/>
                </a:solidFill>
                <a:latin typeface="Arial"/>
                <a:cs typeface="Arial"/>
              </a:rPr>
              <a:t>simple </a:t>
            </a:r>
            <a:r>
              <a:rPr sz="1950" spc="190" dirty="0">
                <a:solidFill>
                  <a:srgbClr val="231F20"/>
                </a:solidFill>
                <a:latin typeface="Arial"/>
                <a:cs typeface="Arial"/>
              </a:rPr>
              <a:t>thermostat </a:t>
            </a:r>
            <a:r>
              <a:rPr sz="1950" spc="150" dirty="0">
                <a:solidFill>
                  <a:srgbClr val="231F20"/>
                </a:solidFill>
                <a:latin typeface="Arial"/>
                <a:cs typeface="Arial"/>
              </a:rPr>
              <a:t>controller </a:t>
            </a:r>
            <a:r>
              <a:rPr sz="1950" spc="240" dirty="0">
                <a:solidFill>
                  <a:srgbClr val="231F20"/>
                </a:solidFill>
                <a:latin typeface="Arial"/>
                <a:cs typeface="Arial"/>
              </a:rPr>
              <a:t> </a:t>
            </a:r>
            <a:r>
              <a:rPr sz="1950" spc="200" dirty="0">
                <a:solidFill>
                  <a:srgbClr val="231F20"/>
                </a:solidFill>
                <a:latin typeface="Arial"/>
                <a:cs typeface="Arial"/>
              </a:rPr>
              <a:t>with:</a:t>
            </a:r>
            <a:endParaRPr sz="1950">
              <a:latin typeface="Arial"/>
              <a:cs typeface="Arial"/>
            </a:endParaRPr>
          </a:p>
        </p:txBody>
      </p:sp>
      <p:sp>
        <p:nvSpPr>
          <p:cNvPr id="3" name="object 3"/>
          <p:cNvSpPr txBox="1"/>
          <p:nvPr/>
        </p:nvSpPr>
        <p:spPr>
          <a:xfrm>
            <a:off x="896440" y="1475981"/>
            <a:ext cx="6463030" cy="1858010"/>
          </a:xfrm>
          <a:prstGeom prst="rect">
            <a:avLst/>
          </a:prstGeom>
        </p:spPr>
        <p:txBody>
          <a:bodyPr vert="horz" wrap="square" lIns="0" tIns="0" rIns="0" bIns="0" rtlCol="0">
            <a:spAutoFit/>
          </a:bodyPr>
          <a:lstStyle/>
          <a:p>
            <a:pPr marL="300990" indent="-288290">
              <a:lnSpc>
                <a:spcPct val="100000"/>
              </a:lnSpc>
              <a:buClr>
                <a:srgbClr val="231F20"/>
              </a:buClr>
              <a:buSzPct val="105128"/>
              <a:buFont typeface="Lucida Sans Unicode"/>
              <a:buChar char="•"/>
              <a:tabLst>
                <a:tab pos="301625" algn="l"/>
                <a:tab pos="2515870" algn="l"/>
              </a:tabLst>
            </a:pPr>
            <a:r>
              <a:rPr sz="1950" spc="135" dirty="0">
                <a:solidFill>
                  <a:srgbClr val="0000FF"/>
                </a:solidFill>
                <a:latin typeface="Arial"/>
                <a:cs typeface="Arial"/>
              </a:rPr>
              <a:t>Discrete </a:t>
            </a:r>
            <a:r>
              <a:rPr sz="1950" spc="805" dirty="0">
                <a:solidFill>
                  <a:srgbClr val="0000FF"/>
                </a:solidFill>
                <a:latin typeface="Arial"/>
                <a:cs typeface="Arial"/>
              </a:rPr>
              <a:t> </a:t>
            </a:r>
            <a:r>
              <a:rPr sz="1950" spc="130" dirty="0">
                <a:solidFill>
                  <a:srgbClr val="0000FF"/>
                </a:solidFill>
                <a:latin typeface="Arial"/>
                <a:cs typeface="Arial"/>
              </a:rPr>
              <a:t>modes</a:t>
            </a:r>
            <a:r>
              <a:rPr sz="1950" spc="130" dirty="0">
                <a:solidFill>
                  <a:srgbClr val="231F20"/>
                </a:solidFill>
                <a:latin typeface="Arial"/>
                <a:cs typeface="Arial"/>
              </a:rPr>
              <a:t>:	</a:t>
            </a:r>
            <a:r>
              <a:rPr sz="1950" spc="300" dirty="0">
                <a:solidFill>
                  <a:srgbClr val="231F20"/>
                </a:solidFill>
                <a:latin typeface="Arial"/>
                <a:cs typeface="Arial"/>
              </a:rPr>
              <a:t>Two </a:t>
            </a:r>
            <a:r>
              <a:rPr sz="1950" spc="135" dirty="0">
                <a:solidFill>
                  <a:srgbClr val="231F20"/>
                </a:solidFill>
                <a:latin typeface="Arial"/>
                <a:cs typeface="Arial"/>
              </a:rPr>
              <a:t>modes, </a:t>
            </a:r>
            <a:r>
              <a:rPr sz="2050" i="1" spc="-325" dirty="0">
                <a:solidFill>
                  <a:srgbClr val="231F20"/>
                </a:solidFill>
                <a:latin typeface="Meiryo"/>
                <a:cs typeface="Meiryo"/>
              </a:rPr>
              <a:t>q  </a:t>
            </a:r>
            <a:r>
              <a:rPr sz="2050" spc="114" dirty="0">
                <a:solidFill>
                  <a:srgbClr val="231F20"/>
                </a:solidFill>
                <a:latin typeface="Tahoma"/>
                <a:cs typeface="Tahoma"/>
              </a:rPr>
              <a:t>= </a:t>
            </a:r>
            <a:r>
              <a:rPr sz="2050" i="1" spc="-50" dirty="0">
                <a:solidFill>
                  <a:srgbClr val="231F20"/>
                </a:solidFill>
                <a:latin typeface="Georgia"/>
                <a:cs typeface="Georgia"/>
              </a:rPr>
              <a:t>on  </a:t>
            </a:r>
            <a:r>
              <a:rPr sz="1950" spc="130" dirty="0">
                <a:solidFill>
                  <a:srgbClr val="231F20"/>
                </a:solidFill>
                <a:latin typeface="Arial"/>
                <a:cs typeface="Arial"/>
              </a:rPr>
              <a:t>and </a:t>
            </a:r>
            <a:r>
              <a:rPr sz="2050" i="1" spc="-325" dirty="0">
                <a:solidFill>
                  <a:srgbClr val="231F20"/>
                </a:solidFill>
                <a:latin typeface="Meiryo"/>
                <a:cs typeface="Meiryo"/>
              </a:rPr>
              <a:t>q  </a:t>
            </a:r>
            <a:r>
              <a:rPr sz="2050" spc="114" dirty="0">
                <a:solidFill>
                  <a:srgbClr val="231F20"/>
                </a:solidFill>
                <a:latin typeface="Tahoma"/>
                <a:cs typeface="Tahoma"/>
              </a:rPr>
              <a:t>=</a:t>
            </a:r>
            <a:r>
              <a:rPr sz="2050" spc="-140" dirty="0">
                <a:solidFill>
                  <a:srgbClr val="231F20"/>
                </a:solidFill>
                <a:latin typeface="Tahoma"/>
                <a:cs typeface="Tahoma"/>
              </a:rPr>
              <a:t> </a:t>
            </a:r>
            <a:r>
              <a:rPr sz="2050" i="1" spc="-45" dirty="0">
                <a:solidFill>
                  <a:srgbClr val="231F20"/>
                </a:solidFill>
                <a:latin typeface="Georgia"/>
                <a:cs typeface="Georgia"/>
              </a:rPr>
              <a:t>off</a:t>
            </a:r>
            <a:endParaRPr sz="2050">
              <a:latin typeface="Georgia"/>
              <a:cs typeface="Georgia"/>
            </a:endParaRPr>
          </a:p>
          <a:p>
            <a:pPr marL="300990" indent="-288290">
              <a:lnSpc>
                <a:spcPct val="100000"/>
              </a:lnSpc>
              <a:spcBef>
                <a:spcPts val="1525"/>
              </a:spcBef>
              <a:buClr>
                <a:srgbClr val="231F20"/>
              </a:buClr>
              <a:buSzPct val="105128"/>
              <a:buFont typeface="Lucida Sans Unicode"/>
              <a:buChar char="•"/>
              <a:tabLst>
                <a:tab pos="301625" algn="l"/>
                <a:tab pos="3054350" algn="l"/>
              </a:tabLst>
            </a:pPr>
            <a:r>
              <a:rPr sz="1950" spc="150" dirty="0">
                <a:solidFill>
                  <a:srgbClr val="0000FF"/>
                </a:solidFill>
                <a:latin typeface="Arial"/>
                <a:cs typeface="Arial"/>
              </a:rPr>
              <a:t>Continuous </a:t>
            </a:r>
            <a:r>
              <a:rPr sz="1950" spc="800" dirty="0">
                <a:solidFill>
                  <a:srgbClr val="0000FF"/>
                </a:solidFill>
                <a:latin typeface="Arial"/>
                <a:cs typeface="Arial"/>
              </a:rPr>
              <a:t> </a:t>
            </a:r>
            <a:r>
              <a:rPr sz="1950" spc="100" dirty="0">
                <a:solidFill>
                  <a:srgbClr val="0000FF"/>
                </a:solidFill>
                <a:latin typeface="Arial"/>
                <a:cs typeface="Arial"/>
              </a:rPr>
              <a:t>variable</a:t>
            </a:r>
            <a:r>
              <a:rPr sz="1950" spc="100" dirty="0">
                <a:solidFill>
                  <a:srgbClr val="231F20"/>
                </a:solidFill>
                <a:latin typeface="Arial"/>
                <a:cs typeface="Arial"/>
              </a:rPr>
              <a:t>:	</a:t>
            </a:r>
            <a:r>
              <a:rPr sz="1950" spc="250" dirty="0">
                <a:solidFill>
                  <a:srgbClr val="231F20"/>
                </a:solidFill>
                <a:latin typeface="Arial"/>
                <a:cs typeface="Arial"/>
              </a:rPr>
              <a:t>The </a:t>
            </a:r>
            <a:r>
              <a:rPr sz="1950" spc="165" dirty="0">
                <a:solidFill>
                  <a:srgbClr val="231F20"/>
                </a:solidFill>
                <a:latin typeface="Arial"/>
                <a:cs typeface="Arial"/>
              </a:rPr>
              <a:t>temperature</a:t>
            </a:r>
            <a:r>
              <a:rPr sz="1950" spc="265" dirty="0">
                <a:solidFill>
                  <a:srgbClr val="231F20"/>
                </a:solidFill>
                <a:latin typeface="Arial"/>
                <a:cs typeface="Arial"/>
              </a:rPr>
              <a:t> </a:t>
            </a:r>
            <a:r>
              <a:rPr sz="2050" i="1" spc="50" dirty="0">
                <a:solidFill>
                  <a:srgbClr val="231F20"/>
                </a:solidFill>
                <a:latin typeface="Meiryo"/>
                <a:cs typeface="Meiryo"/>
              </a:rPr>
              <a:t>x</a:t>
            </a:r>
            <a:endParaRPr sz="2050">
              <a:latin typeface="Meiryo"/>
              <a:cs typeface="Meiryo"/>
            </a:endParaRPr>
          </a:p>
          <a:p>
            <a:pPr marL="300990" indent="-288290">
              <a:lnSpc>
                <a:spcPct val="100000"/>
              </a:lnSpc>
              <a:spcBef>
                <a:spcPts val="1525"/>
              </a:spcBef>
              <a:buClr>
                <a:srgbClr val="231F20"/>
              </a:buClr>
              <a:buSzPct val="105128"/>
              <a:buFont typeface="Lucida Sans Unicode"/>
              <a:buChar char="•"/>
              <a:tabLst>
                <a:tab pos="301625" algn="l"/>
                <a:tab pos="2034539" algn="l"/>
                <a:tab pos="2966720" algn="l"/>
              </a:tabLst>
            </a:pPr>
            <a:r>
              <a:rPr sz="1950" spc="145" dirty="0">
                <a:solidFill>
                  <a:srgbClr val="0000FF"/>
                </a:solidFill>
                <a:latin typeface="Arial"/>
                <a:cs typeface="Arial"/>
              </a:rPr>
              <a:t>Initial </a:t>
            </a:r>
            <a:r>
              <a:rPr sz="1950" spc="725" dirty="0">
                <a:solidFill>
                  <a:srgbClr val="0000FF"/>
                </a:solidFill>
                <a:latin typeface="Arial"/>
                <a:cs typeface="Arial"/>
              </a:rPr>
              <a:t> </a:t>
            </a:r>
            <a:r>
              <a:rPr sz="1950" spc="170" dirty="0">
                <a:solidFill>
                  <a:srgbClr val="0000FF"/>
                </a:solidFill>
                <a:latin typeface="Arial"/>
                <a:cs typeface="Arial"/>
              </a:rPr>
              <a:t>State</a:t>
            </a:r>
            <a:r>
              <a:rPr sz="1950" spc="170" dirty="0">
                <a:solidFill>
                  <a:srgbClr val="231F20"/>
                </a:solidFill>
                <a:latin typeface="Arial"/>
                <a:cs typeface="Arial"/>
              </a:rPr>
              <a:t>:	</a:t>
            </a:r>
            <a:r>
              <a:rPr sz="2050" i="1" spc="-325" dirty="0">
                <a:solidFill>
                  <a:srgbClr val="231F20"/>
                </a:solidFill>
                <a:latin typeface="Meiryo"/>
                <a:cs typeface="Meiryo"/>
              </a:rPr>
              <a:t>q  </a:t>
            </a:r>
            <a:r>
              <a:rPr sz="2050" i="1" spc="-120" dirty="0">
                <a:solidFill>
                  <a:srgbClr val="231F20"/>
                </a:solidFill>
                <a:latin typeface="Meiryo"/>
                <a:cs typeface="Meiryo"/>
              </a:rPr>
              <a:t> </a:t>
            </a:r>
            <a:r>
              <a:rPr sz="2050" spc="114" dirty="0">
                <a:solidFill>
                  <a:srgbClr val="231F20"/>
                </a:solidFill>
                <a:latin typeface="Tahoma"/>
                <a:cs typeface="Tahoma"/>
              </a:rPr>
              <a:t>=</a:t>
            </a:r>
            <a:r>
              <a:rPr sz="2050" spc="525" dirty="0">
                <a:solidFill>
                  <a:srgbClr val="231F20"/>
                </a:solidFill>
                <a:latin typeface="Tahoma"/>
                <a:cs typeface="Tahoma"/>
              </a:rPr>
              <a:t> </a:t>
            </a:r>
            <a:r>
              <a:rPr sz="2050" i="1" spc="-45" dirty="0">
                <a:solidFill>
                  <a:srgbClr val="231F20"/>
                </a:solidFill>
                <a:latin typeface="Georgia"/>
                <a:cs typeface="Georgia"/>
              </a:rPr>
              <a:t>off	</a:t>
            </a:r>
            <a:r>
              <a:rPr sz="1950" spc="130" dirty="0">
                <a:solidFill>
                  <a:srgbClr val="231F20"/>
                </a:solidFill>
                <a:latin typeface="Arial"/>
                <a:cs typeface="Arial"/>
              </a:rPr>
              <a:t>and </a:t>
            </a:r>
            <a:r>
              <a:rPr sz="2050" i="1" spc="50" dirty="0">
                <a:solidFill>
                  <a:srgbClr val="231F20"/>
                </a:solidFill>
                <a:latin typeface="Meiryo"/>
                <a:cs typeface="Meiryo"/>
              </a:rPr>
              <a:t>x </a:t>
            </a:r>
            <a:r>
              <a:rPr sz="2050" spc="114" dirty="0">
                <a:solidFill>
                  <a:srgbClr val="231F20"/>
                </a:solidFill>
                <a:latin typeface="Tahoma"/>
                <a:cs typeface="Tahoma"/>
              </a:rPr>
              <a:t>=</a:t>
            </a:r>
            <a:r>
              <a:rPr sz="2050" spc="-180" dirty="0">
                <a:solidFill>
                  <a:srgbClr val="231F20"/>
                </a:solidFill>
                <a:latin typeface="Tahoma"/>
                <a:cs typeface="Tahoma"/>
              </a:rPr>
              <a:t> </a:t>
            </a:r>
            <a:r>
              <a:rPr sz="2050" spc="-90" dirty="0">
                <a:solidFill>
                  <a:srgbClr val="231F20"/>
                </a:solidFill>
                <a:latin typeface="Tahoma"/>
                <a:cs typeface="Tahoma"/>
              </a:rPr>
              <a:t>75</a:t>
            </a:r>
            <a:endParaRPr sz="2050">
              <a:latin typeface="Tahoma"/>
              <a:cs typeface="Tahoma"/>
            </a:endParaRPr>
          </a:p>
          <a:p>
            <a:pPr marL="12700">
              <a:lnSpc>
                <a:spcPct val="100000"/>
              </a:lnSpc>
              <a:spcBef>
                <a:spcPts val="1525"/>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4" name="object 4"/>
          <p:cNvSpPr txBox="1"/>
          <p:nvPr/>
        </p:nvSpPr>
        <p:spPr>
          <a:xfrm>
            <a:off x="1185162" y="3007842"/>
            <a:ext cx="4163695" cy="1265555"/>
          </a:xfrm>
          <a:prstGeom prst="rect">
            <a:avLst/>
          </a:prstGeom>
        </p:spPr>
        <p:txBody>
          <a:bodyPr vert="horz" wrap="square" lIns="0" tIns="0" rIns="0" bIns="0" rtlCol="0">
            <a:spAutoFit/>
          </a:bodyPr>
          <a:lstStyle/>
          <a:p>
            <a:pPr marL="12700">
              <a:lnSpc>
                <a:spcPct val="100000"/>
              </a:lnSpc>
            </a:pPr>
            <a:r>
              <a:rPr sz="1950" spc="135" dirty="0">
                <a:solidFill>
                  <a:srgbClr val="0000FF"/>
                </a:solidFill>
                <a:latin typeface="Arial"/>
                <a:cs typeface="Arial"/>
              </a:rPr>
              <a:t>Discrete</a:t>
            </a:r>
            <a:r>
              <a:rPr sz="1950" spc="250" dirty="0">
                <a:solidFill>
                  <a:srgbClr val="0000FF"/>
                </a:solidFill>
                <a:latin typeface="Arial"/>
                <a:cs typeface="Arial"/>
              </a:rPr>
              <a:t> </a:t>
            </a:r>
            <a:r>
              <a:rPr sz="1950" spc="145" dirty="0">
                <a:solidFill>
                  <a:srgbClr val="0000FF"/>
                </a:solidFill>
                <a:latin typeface="Arial"/>
                <a:cs typeface="Arial"/>
              </a:rPr>
              <a:t>Transitions</a:t>
            </a:r>
            <a:r>
              <a:rPr sz="1950" spc="145" dirty="0">
                <a:solidFill>
                  <a:srgbClr val="231F20"/>
                </a:solidFill>
                <a:latin typeface="Arial"/>
                <a:cs typeface="Arial"/>
              </a:rPr>
              <a:t>:</a:t>
            </a:r>
            <a:endParaRPr sz="1950">
              <a:latin typeface="Arial"/>
              <a:cs typeface="Arial"/>
            </a:endParaRPr>
          </a:p>
          <a:p>
            <a:pPr marL="1972310">
              <a:lnSpc>
                <a:spcPct val="100000"/>
              </a:lnSpc>
              <a:spcBef>
                <a:spcPts val="1445"/>
              </a:spcBef>
              <a:tabLst>
                <a:tab pos="2872105" algn="l"/>
              </a:tabLst>
            </a:pPr>
            <a:r>
              <a:rPr sz="2050" i="1" spc="-325" dirty="0">
                <a:solidFill>
                  <a:srgbClr val="231F20"/>
                </a:solidFill>
                <a:latin typeface="Meiryo"/>
                <a:cs typeface="Meiryo"/>
              </a:rPr>
              <a:t>q  </a:t>
            </a:r>
            <a:r>
              <a:rPr sz="2050" i="1" spc="-254" dirty="0">
                <a:solidFill>
                  <a:srgbClr val="231F20"/>
                </a:solidFill>
                <a:latin typeface="Meiryo"/>
                <a:cs typeface="Meiryo"/>
              </a:rPr>
              <a:t> </a:t>
            </a:r>
            <a:r>
              <a:rPr sz="2050" spc="114" dirty="0">
                <a:solidFill>
                  <a:srgbClr val="231F20"/>
                </a:solidFill>
                <a:latin typeface="Tahoma"/>
                <a:cs typeface="Tahoma"/>
              </a:rPr>
              <a:t>=</a:t>
            </a:r>
            <a:r>
              <a:rPr sz="2050" spc="405" dirty="0">
                <a:solidFill>
                  <a:srgbClr val="231F20"/>
                </a:solidFill>
                <a:latin typeface="Tahoma"/>
                <a:cs typeface="Tahoma"/>
              </a:rPr>
              <a:t> </a:t>
            </a:r>
            <a:r>
              <a:rPr sz="2050" i="1" spc="-45" dirty="0">
                <a:solidFill>
                  <a:srgbClr val="231F20"/>
                </a:solidFill>
                <a:latin typeface="Georgia"/>
                <a:cs typeface="Georgia"/>
              </a:rPr>
              <a:t>off	</a:t>
            </a:r>
            <a:r>
              <a:rPr sz="2050" i="1" spc="-100" dirty="0">
                <a:solidFill>
                  <a:srgbClr val="231F20"/>
                </a:solidFill>
                <a:latin typeface="Georgia"/>
                <a:cs typeface="Georgia"/>
              </a:rPr>
              <a:t>and  </a:t>
            </a:r>
            <a:r>
              <a:rPr sz="2050" i="1" spc="50" dirty="0">
                <a:solidFill>
                  <a:srgbClr val="231F20"/>
                </a:solidFill>
                <a:latin typeface="Meiryo"/>
                <a:cs typeface="Meiryo"/>
              </a:rPr>
              <a:t>x </a:t>
            </a:r>
            <a:r>
              <a:rPr sz="2050" spc="-25" dirty="0">
                <a:solidFill>
                  <a:srgbClr val="231F20"/>
                </a:solidFill>
                <a:latin typeface="Lucida Sans Unicode"/>
                <a:cs typeface="Lucida Sans Unicode"/>
              </a:rPr>
              <a:t>≤</a:t>
            </a:r>
            <a:r>
              <a:rPr sz="2050" spc="-340" dirty="0">
                <a:solidFill>
                  <a:srgbClr val="231F20"/>
                </a:solidFill>
                <a:latin typeface="Lucida Sans Unicode"/>
                <a:cs typeface="Lucida Sans Unicode"/>
              </a:rPr>
              <a:t> </a:t>
            </a:r>
            <a:r>
              <a:rPr sz="2050" spc="-90" dirty="0">
                <a:solidFill>
                  <a:srgbClr val="231F20"/>
                </a:solidFill>
                <a:latin typeface="Tahoma"/>
                <a:cs typeface="Tahoma"/>
              </a:rPr>
              <a:t>70</a:t>
            </a:r>
            <a:endParaRPr sz="2050">
              <a:latin typeface="Tahoma"/>
              <a:cs typeface="Tahoma"/>
            </a:endParaRPr>
          </a:p>
          <a:p>
            <a:pPr marL="2021205">
              <a:lnSpc>
                <a:spcPct val="100000"/>
              </a:lnSpc>
              <a:spcBef>
                <a:spcPts val="1050"/>
              </a:spcBef>
            </a:pPr>
            <a:r>
              <a:rPr sz="2050" i="1" spc="-325" dirty="0">
                <a:solidFill>
                  <a:srgbClr val="231F20"/>
                </a:solidFill>
                <a:latin typeface="Meiryo"/>
                <a:cs typeface="Meiryo"/>
              </a:rPr>
              <a:t>q  </a:t>
            </a:r>
            <a:r>
              <a:rPr sz="2050" spc="114" dirty="0">
                <a:solidFill>
                  <a:srgbClr val="231F20"/>
                </a:solidFill>
                <a:latin typeface="Tahoma"/>
                <a:cs typeface="Tahoma"/>
              </a:rPr>
              <a:t>= </a:t>
            </a:r>
            <a:r>
              <a:rPr sz="2050" i="1" spc="-50" dirty="0">
                <a:solidFill>
                  <a:srgbClr val="231F20"/>
                </a:solidFill>
                <a:latin typeface="Georgia"/>
                <a:cs typeface="Georgia"/>
              </a:rPr>
              <a:t>on </a:t>
            </a:r>
            <a:r>
              <a:rPr sz="2050" i="1" spc="-100" dirty="0">
                <a:solidFill>
                  <a:srgbClr val="231F20"/>
                </a:solidFill>
                <a:latin typeface="Georgia"/>
                <a:cs typeface="Georgia"/>
              </a:rPr>
              <a:t>and  </a:t>
            </a:r>
            <a:r>
              <a:rPr sz="2050" i="1" spc="50" dirty="0">
                <a:solidFill>
                  <a:srgbClr val="231F20"/>
                </a:solidFill>
                <a:latin typeface="Meiryo"/>
                <a:cs typeface="Meiryo"/>
              </a:rPr>
              <a:t>x </a:t>
            </a:r>
            <a:r>
              <a:rPr sz="2050" spc="-25" dirty="0">
                <a:solidFill>
                  <a:srgbClr val="231F20"/>
                </a:solidFill>
                <a:latin typeface="Lucida Sans Unicode"/>
                <a:cs typeface="Lucida Sans Unicode"/>
              </a:rPr>
              <a:t>≥</a:t>
            </a:r>
            <a:r>
              <a:rPr sz="2050" spc="-335" dirty="0">
                <a:solidFill>
                  <a:srgbClr val="231F20"/>
                </a:solidFill>
                <a:latin typeface="Lucida Sans Unicode"/>
                <a:cs typeface="Lucida Sans Unicode"/>
              </a:rPr>
              <a:t> </a:t>
            </a:r>
            <a:r>
              <a:rPr sz="2050" spc="-90" dirty="0">
                <a:solidFill>
                  <a:srgbClr val="231F20"/>
                </a:solidFill>
                <a:latin typeface="Tahoma"/>
                <a:cs typeface="Tahoma"/>
              </a:rPr>
              <a:t>80</a:t>
            </a:r>
            <a:endParaRPr sz="2050">
              <a:latin typeface="Tahoma"/>
              <a:cs typeface="Tahoma"/>
            </a:endParaRPr>
          </a:p>
        </p:txBody>
      </p:sp>
      <p:sp>
        <p:nvSpPr>
          <p:cNvPr id="5" name="object 5"/>
          <p:cNvSpPr txBox="1"/>
          <p:nvPr/>
        </p:nvSpPr>
        <p:spPr>
          <a:xfrm>
            <a:off x="5585371" y="3488804"/>
            <a:ext cx="1555750" cy="784860"/>
          </a:xfrm>
          <a:prstGeom prst="rect">
            <a:avLst/>
          </a:prstGeom>
        </p:spPr>
        <p:txBody>
          <a:bodyPr vert="horz" wrap="square" lIns="0" tIns="0" rIns="0" bIns="0" rtlCol="0">
            <a:spAutoFit/>
          </a:bodyPr>
          <a:lstStyle/>
          <a:p>
            <a:pPr marL="12700">
              <a:lnSpc>
                <a:spcPct val="100000"/>
              </a:lnSpc>
              <a:tabLst>
                <a:tab pos="697865" algn="l"/>
              </a:tabLst>
            </a:pPr>
            <a:r>
              <a:rPr sz="2050" spc="-114" dirty="0">
                <a:solidFill>
                  <a:srgbClr val="231F20"/>
                </a:solidFill>
                <a:latin typeface="Lucida Sans Unicode"/>
                <a:cs typeface="Lucida Sans Unicode"/>
              </a:rPr>
              <a:t>−→	</a:t>
            </a:r>
            <a:r>
              <a:rPr sz="2050" i="1" spc="-25" dirty="0">
                <a:solidFill>
                  <a:srgbClr val="231F20"/>
                </a:solidFill>
                <a:latin typeface="Meiryo"/>
                <a:cs typeface="Meiryo"/>
              </a:rPr>
              <a:t>q</a:t>
            </a:r>
            <a:r>
              <a:rPr sz="2175" spc="-37" baseline="28735" dirty="0">
                <a:solidFill>
                  <a:srgbClr val="231F20"/>
                </a:solidFill>
                <a:latin typeface="Arial"/>
                <a:cs typeface="Arial"/>
              </a:rPr>
              <a:t>′  </a:t>
            </a:r>
            <a:r>
              <a:rPr sz="2050" spc="114" dirty="0">
                <a:solidFill>
                  <a:srgbClr val="231F20"/>
                </a:solidFill>
                <a:latin typeface="Tahoma"/>
                <a:cs typeface="Tahoma"/>
              </a:rPr>
              <a:t>=</a:t>
            </a:r>
            <a:r>
              <a:rPr sz="2050" spc="-245" dirty="0">
                <a:solidFill>
                  <a:srgbClr val="231F20"/>
                </a:solidFill>
                <a:latin typeface="Tahoma"/>
                <a:cs typeface="Tahoma"/>
              </a:rPr>
              <a:t> </a:t>
            </a:r>
            <a:r>
              <a:rPr sz="2050" i="1" spc="-50" dirty="0">
                <a:solidFill>
                  <a:srgbClr val="231F20"/>
                </a:solidFill>
                <a:latin typeface="Georgia"/>
                <a:cs typeface="Georgia"/>
              </a:rPr>
              <a:t>on</a:t>
            </a:r>
            <a:endParaRPr sz="2050">
              <a:latin typeface="Georgia"/>
              <a:cs typeface="Georgia"/>
            </a:endParaRPr>
          </a:p>
          <a:p>
            <a:pPr marL="12700">
              <a:lnSpc>
                <a:spcPct val="100000"/>
              </a:lnSpc>
              <a:spcBef>
                <a:spcPts val="1050"/>
              </a:spcBef>
              <a:tabLst>
                <a:tab pos="697865" algn="l"/>
              </a:tabLst>
            </a:pPr>
            <a:r>
              <a:rPr sz="2050" spc="-114" dirty="0">
                <a:solidFill>
                  <a:srgbClr val="231F20"/>
                </a:solidFill>
                <a:latin typeface="Lucida Sans Unicode"/>
                <a:cs typeface="Lucida Sans Unicode"/>
              </a:rPr>
              <a:t>−→	</a:t>
            </a:r>
            <a:r>
              <a:rPr sz="2050" i="1" spc="-25" dirty="0">
                <a:solidFill>
                  <a:srgbClr val="231F20"/>
                </a:solidFill>
                <a:latin typeface="Meiryo"/>
                <a:cs typeface="Meiryo"/>
              </a:rPr>
              <a:t>q</a:t>
            </a:r>
            <a:r>
              <a:rPr sz="2175" spc="-37" baseline="28735" dirty="0">
                <a:solidFill>
                  <a:srgbClr val="231F20"/>
                </a:solidFill>
                <a:latin typeface="Arial"/>
                <a:cs typeface="Arial"/>
              </a:rPr>
              <a:t>′  </a:t>
            </a:r>
            <a:r>
              <a:rPr sz="2050" spc="114" dirty="0">
                <a:solidFill>
                  <a:srgbClr val="231F20"/>
                </a:solidFill>
                <a:latin typeface="Tahoma"/>
                <a:cs typeface="Tahoma"/>
              </a:rPr>
              <a:t>=</a:t>
            </a:r>
            <a:r>
              <a:rPr sz="2050" spc="-245" dirty="0">
                <a:solidFill>
                  <a:srgbClr val="231F20"/>
                </a:solidFill>
                <a:latin typeface="Tahoma"/>
                <a:cs typeface="Tahoma"/>
              </a:rPr>
              <a:t> </a:t>
            </a:r>
            <a:r>
              <a:rPr sz="2050" i="1" spc="-45" dirty="0">
                <a:solidFill>
                  <a:srgbClr val="231F20"/>
                </a:solidFill>
                <a:latin typeface="Georgia"/>
                <a:cs typeface="Georgia"/>
              </a:rPr>
              <a:t>off</a:t>
            </a:r>
            <a:endParaRPr sz="2050">
              <a:latin typeface="Georgia"/>
              <a:cs typeface="Georgia"/>
            </a:endParaRPr>
          </a:p>
        </p:txBody>
      </p:sp>
      <p:sp>
        <p:nvSpPr>
          <p:cNvPr id="6" name="object 6"/>
          <p:cNvSpPr txBox="1"/>
          <p:nvPr/>
        </p:nvSpPr>
        <p:spPr>
          <a:xfrm>
            <a:off x="5251958" y="5026025"/>
            <a:ext cx="2278380" cy="784860"/>
          </a:xfrm>
          <a:prstGeom prst="rect">
            <a:avLst/>
          </a:prstGeom>
        </p:spPr>
        <p:txBody>
          <a:bodyPr vert="horz" wrap="square" lIns="0" tIns="0" rIns="0" bIns="0" rtlCol="0">
            <a:spAutoFit/>
          </a:bodyPr>
          <a:lstStyle/>
          <a:p>
            <a:pPr marL="12700">
              <a:lnSpc>
                <a:spcPct val="100000"/>
              </a:lnSpc>
              <a:tabLst>
                <a:tab pos="697865" algn="l"/>
              </a:tabLst>
            </a:pPr>
            <a:r>
              <a:rPr sz="2050" spc="-114" dirty="0">
                <a:solidFill>
                  <a:srgbClr val="231F20"/>
                </a:solidFill>
                <a:latin typeface="Lucida Sans Unicode"/>
                <a:cs typeface="Lucida Sans Unicode"/>
              </a:rPr>
              <a:t>−→	</a:t>
            </a:r>
            <a:r>
              <a:rPr sz="2050" i="1" spc="-660" dirty="0">
                <a:solidFill>
                  <a:srgbClr val="231F20"/>
                </a:solidFill>
                <a:latin typeface="Meiryo"/>
                <a:cs typeface="Meiryo"/>
              </a:rPr>
              <a:t>x</a:t>
            </a:r>
            <a:r>
              <a:rPr sz="2050" spc="-660" dirty="0">
                <a:solidFill>
                  <a:srgbClr val="231F20"/>
                </a:solidFill>
                <a:latin typeface="Tahoma"/>
                <a:cs typeface="Tahoma"/>
              </a:rPr>
              <a:t>˙</a:t>
            </a:r>
            <a:r>
              <a:rPr sz="2050" spc="125" dirty="0">
                <a:solidFill>
                  <a:srgbClr val="231F20"/>
                </a:solidFill>
                <a:latin typeface="Tahoma"/>
                <a:cs typeface="Tahoma"/>
              </a:rPr>
              <a:t> </a:t>
            </a:r>
            <a:r>
              <a:rPr sz="2050" spc="114" dirty="0">
                <a:solidFill>
                  <a:srgbClr val="231F20"/>
                </a:solidFill>
                <a:latin typeface="Tahoma"/>
                <a:cs typeface="Tahoma"/>
              </a:rPr>
              <a:t>=</a:t>
            </a:r>
            <a:r>
              <a:rPr sz="2050" spc="-105" dirty="0">
                <a:solidFill>
                  <a:srgbClr val="231F20"/>
                </a:solidFill>
                <a:latin typeface="Tahoma"/>
                <a:cs typeface="Tahoma"/>
              </a:rPr>
              <a:t> </a:t>
            </a:r>
            <a:r>
              <a:rPr sz="2050" spc="185" dirty="0">
                <a:solidFill>
                  <a:srgbClr val="231F20"/>
                </a:solidFill>
                <a:latin typeface="Lucida Sans Unicode"/>
                <a:cs typeface="Lucida Sans Unicode"/>
              </a:rPr>
              <a:t>−</a:t>
            </a:r>
            <a:r>
              <a:rPr sz="2050" i="1" spc="185" dirty="0">
                <a:solidFill>
                  <a:srgbClr val="231F20"/>
                </a:solidFill>
                <a:latin typeface="Meiryo"/>
                <a:cs typeface="Meiryo"/>
              </a:rPr>
              <a:t>Kx</a:t>
            </a:r>
            <a:endParaRPr sz="2050">
              <a:latin typeface="Meiryo"/>
              <a:cs typeface="Meiryo"/>
            </a:endParaRPr>
          </a:p>
          <a:p>
            <a:pPr marL="12700">
              <a:lnSpc>
                <a:spcPct val="100000"/>
              </a:lnSpc>
              <a:spcBef>
                <a:spcPts val="1050"/>
              </a:spcBef>
              <a:tabLst>
                <a:tab pos="697865" algn="l"/>
              </a:tabLst>
            </a:pPr>
            <a:r>
              <a:rPr sz="2050" spc="-114" dirty="0">
                <a:solidFill>
                  <a:srgbClr val="231F20"/>
                </a:solidFill>
                <a:latin typeface="Lucida Sans Unicode"/>
                <a:cs typeface="Lucida Sans Unicode"/>
              </a:rPr>
              <a:t>−→	</a:t>
            </a:r>
            <a:r>
              <a:rPr sz="2050" i="1" spc="-660" dirty="0">
                <a:solidFill>
                  <a:srgbClr val="231F20"/>
                </a:solidFill>
                <a:latin typeface="Meiryo"/>
                <a:cs typeface="Meiryo"/>
              </a:rPr>
              <a:t>x</a:t>
            </a:r>
            <a:r>
              <a:rPr sz="2050" spc="-660" dirty="0">
                <a:solidFill>
                  <a:srgbClr val="231F20"/>
                </a:solidFill>
                <a:latin typeface="Tahoma"/>
                <a:cs typeface="Tahoma"/>
              </a:rPr>
              <a:t>˙</a:t>
            </a:r>
            <a:r>
              <a:rPr sz="2050" spc="145" dirty="0">
                <a:solidFill>
                  <a:srgbClr val="231F20"/>
                </a:solidFill>
                <a:latin typeface="Tahoma"/>
                <a:cs typeface="Tahoma"/>
              </a:rPr>
              <a:t> </a:t>
            </a:r>
            <a:r>
              <a:rPr sz="2050" spc="114" dirty="0">
                <a:solidFill>
                  <a:srgbClr val="231F20"/>
                </a:solidFill>
                <a:latin typeface="Tahoma"/>
                <a:cs typeface="Tahoma"/>
              </a:rPr>
              <a:t>=</a:t>
            </a:r>
            <a:r>
              <a:rPr sz="2050" spc="-95" dirty="0">
                <a:solidFill>
                  <a:srgbClr val="231F20"/>
                </a:solidFill>
                <a:latin typeface="Tahoma"/>
                <a:cs typeface="Tahoma"/>
              </a:rPr>
              <a:t> </a:t>
            </a:r>
            <a:r>
              <a:rPr sz="2050" i="1" spc="160" dirty="0">
                <a:solidFill>
                  <a:srgbClr val="231F20"/>
                </a:solidFill>
                <a:latin typeface="Meiryo"/>
                <a:cs typeface="Meiryo"/>
              </a:rPr>
              <a:t>K</a:t>
            </a:r>
            <a:r>
              <a:rPr sz="2050" spc="160" dirty="0">
                <a:solidFill>
                  <a:srgbClr val="231F20"/>
                </a:solidFill>
                <a:latin typeface="Tahoma"/>
                <a:cs typeface="Tahoma"/>
              </a:rPr>
              <a:t>(</a:t>
            </a:r>
            <a:r>
              <a:rPr sz="2050" i="1" spc="160" dirty="0">
                <a:solidFill>
                  <a:srgbClr val="231F20"/>
                </a:solidFill>
                <a:latin typeface="Meiryo"/>
                <a:cs typeface="Meiryo"/>
              </a:rPr>
              <a:t>h</a:t>
            </a:r>
            <a:r>
              <a:rPr sz="2050" i="1" spc="-260" dirty="0">
                <a:solidFill>
                  <a:srgbClr val="231F20"/>
                </a:solidFill>
                <a:latin typeface="Meiryo"/>
                <a:cs typeface="Meiryo"/>
              </a:rPr>
              <a:t> </a:t>
            </a:r>
            <a:r>
              <a:rPr sz="2050" spc="-25" dirty="0">
                <a:solidFill>
                  <a:srgbClr val="231F20"/>
                </a:solidFill>
                <a:latin typeface="Lucida Sans Unicode"/>
                <a:cs typeface="Lucida Sans Unicode"/>
              </a:rPr>
              <a:t>−</a:t>
            </a:r>
            <a:r>
              <a:rPr sz="2050" spc="-210" dirty="0">
                <a:solidFill>
                  <a:srgbClr val="231F20"/>
                </a:solidFill>
                <a:latin typeface="Lucida Sans Unicode"/>
                <a:cs typeface="Lucida Sans Unicode"/>
              </a:rPr>
              <a:t> </a:t>
            </a:r>
            <a:r>
              <a:rPr sz="2050" i="1" spc="30" dirty="0">
                <a:solidFill>
                  <a:srgbClr val="231F20"/>
                </a:solidFill>
                <a:latin typeface="Meiryo"/>
                <a:cs typeface="Meiryo"/>
              </a:rPr>
              <a:t>x</a:t>
            </a:r>
            <a:r>
              <a:rPr sz="2050" spc="30" dirty="0">
                <a:solidFill>
                  <a:srgbClr val="231F20"/>
                </a:solidFill>
                <a:latin typeface="Tahoma"/>
                <a:cs typeface="Tahoma"/>
              </a:rPr>
              <a:t>)</a:t>
            </a:r>
            <a:endParaRPr sz="2050">
              <a:latin typeface="Tahoma"/>
              <a:cs typeface="Tahoma"/>
            </a:endParaRPr>
          </a:p>
        </p:txBody>
      </p:sp>
      <p:sp>
        <p:nvSpPr>
          <p:cNvPr id="7" name="object 7"/>
          <p:cNvSpPr txBox="1"/>
          <p:nvPr/>
        </p:nvSpPr>
        <p:spPr>
          <a:xfrm>
            <a:off x="896440" y="4491342"/>
            <a:ext cx="4118610" cy="1860550"/>
          </a:xfrm>
          <a:prstGeom prst="rect">
            <a:avLst/>
          </a:prstGeom>
        </p:spPr>
        <p:txBody>
          <a:bodyPr vert="horz" wrap="square" lIns="0" tIns="0" rIns="0" bIns="0" rtlCol="0">
            <a:spAutoFit/>
          </a:bodyPr>
          <a:lstStyle/>
          <a:p>
            <a:pPr marL="300990" indent="-288290">
              <a:lnSpc>
                <a:spcPct val="100000"/>
              </a:lnSpc>
              <a:buClr>
                <a:srgbClr val="231F20"/>
              </a:buClr>
              <a:buSzPct val="105128"/>
              <a:buFont typeface="Lucida Sans Unicode"/>
              <a:buChar char="•"/>
              <a:tabLst>
                <a:tab pos="301625" algn="l"/>
              </a:tabLst>
            </a:pPr>
            <a:r>
              <a:rPr sz="1950" spc="150" dirty="0">
                <a:solidFill>
                  <a:srgbClr val="0000FF"/>
                </a:solidFill>
                <a:latin typeface="Arial"/>
                <a:cs typeface="Arial"/>
              </a:rPr>
              <a:t>Continuous</a:t>
            </a:r>
            <a:r>
              <a:rPr sz="1950" spc="240" dirty="0">
                <a:solidFill>
                  <a:srgbClr val="0000FF"/>
                </a:solidFill>
                <a:latin typeface="Arial"/>
                <a:cs typeface="Arial"/>
              </a:rPr>
              <a:t> </a:t>
            </a:r>
            <a:r>
              <a:rPr sz="1950" spc="170" dirty="0">
                <a:solidFill>
                  <a:srgbClr val="0000FF"/>
                </a:solidFill>
                <a:latin typeface="Arial"/>
                <a:cs typeface="Arial"/>
              </a:rPr>
              <a:t>Flow</a:t>
            </a:r>
            <a:r>
              <a:rPr sz="1950" spc="170" dirty="0">
                <a:solidFill>
                  <a:srgbClr val="231F20"/>
                </a:solidFill>
                <a:latin typeface="Arial"/>
                <a:cs typeface="Arial"/>
              </a:rPr>
              <a:t>:</a:t>
            </a:r>
            <a:endParaRPr sz="1950">
              <a:latin typeface="Arial"/>
              <a:cs typeface="Arial"/>
            </a:endParaRPr>
          </a:p>
          <a:p>
            <a:pPr marL="1927225">
              <a:lnSpc>
                <a:spcPct val="100000"/>
              </a:lnSpc>
              <a:spcBef>
                <a:spcPts val="1870"/>
              </a:spcBef>
              <a:tabLst>
                <a:tab pos="2827020" algn="l"/>
              </a:tabLst>
            </a:pPr>
            <a:r>
              <a:rPr sz="2050" i="1" spc="-325" dirty="0">
                <a:solidFill>
                  <a:srgbClr val="231F20"/>
                </a:solidFill>
                <a:latin typeface="Meiryo"/>
                <a:cs typeface="Meiryo"/>
              </a:rPr>
              <a:t>q  </a:t>
            </a:r>
            <a:r>
              <a:rPr sz="2050" i="1" spc="-254" dirty="0">
                <a:solidFill>
                  <a:srgbClr val="231F20"/>
                </a:solidFill>
                <a:latin typeface="Meiryo"/>
                <a:cs typeface="Meiryo"/>
              </a:rPr>
              <a:t> </a:t>
            </a:r>
            <a:r>
              <a:rPr sz="2050" spc="114" dirty="0">
                <a:solidFill>
                  <a:srgbClr val="231F20"/>
                </a:solidFill>
                <a:latin typeface="Tahoma"/>
                <a:cs typeface="Tahoma"/>
              </a:rPr>
              <a:t>=</a:t>
            </a:r>
            <a:r>
              <a:rPr sz="2050" spc="405" dirty="0">
                <a:solidFill>
                  <a:srgbClr val="231F20"/>
                </a:solidFill>
                <a:latin typeface="Tahoma"/>
                <a:cs typeface="Tahoma"/>
              </a:rPr>
              <a:t> </a:t>
            </a:r>
            <a:r>
              <a:rPr sz="2050" i="1" spc="-45" dirty="0">
                <a:solidFill>
                  <a:srgbClr val="231F20"/>
                </a:solidFill>
                <a:latin typeface="Georgia"/>
                <a:cs typeface="Georgia"/>
              </a:rPr>
              <a:t>off	</a:t>
            </a:r>
            <a:r>
              <a:rPr sz="2050" i="1" spc="-100" dirty="0">
                <a:solidFill>
                  <a:srgbClr val="231F20"/>
                </a:solidFill>
                <a:latin typeface="Georgia"/>
                <a:cs typeface="Georgia"/>
              </a:rPr>
              <a:t>and  </a:t>
            </a:r>
            <a:r>
              <a:rPr sz="2050" i="1" spc="50" dirty="0">
                <a:solidFill>
                  <a:srgbClr val="231F20"/>
                </a:solidFill>
                <a:latin typeface="Meiryo"/>
                <a:cs typeface="Meiryo"/>
              </a:rPr>
              <a:t>x </a:t>
            </a:r>
            <a:r>
              <a:rPr sz="2050" i="1" spc="-40" dirty="0">
                <a:solidFill>
                  <a:srgbClr val="231F20"/>
                </a:solidFill>
                <a:latin typeface="Meiryo"/>
                <a:cs typeface="Meiryo"/>
              </a:rPr>
              <a:t>&gt;</a:t>
            </a:r>
            <a:r>
              <a:rPr sz="2050" i="1" spc="-390" dirty="0">
                <a:solidFill>
                  <a:srgbClr val="231F20"/>
                </a:solidFill>
                <a:latin typeface="Meiryo"/>
                <a:cs typeface="Meiryo"/>
              </a:rPr>
              <a:t> </a:t>
            </a:r>
            <a:r>
              <a:rPr sz="2050" spc="-90" dirty="0">
                <a:solidFill>
                  <a:srgbClr val="231F20"/>
                </a:solidFill>
                <a:latin typeface="Tahoma"/>
                <a:cs typeface="Tahoma"/>
              </a:rPr>
              <a:t>68</a:t>
            </a:r>
            <a:endParaRPr sz="2050">
              <a:latin typeface="Tahoma"/>
              <a:cs typeface="Tahoma"/>
            </a:endParaRPr>
          </a:p>
          <a:p>
            <a:pPr marL="1976120">
              <a:lnSpc>
                <a:spcPct val="100000"/>
              </a:lnSpc>
              <a:spcBef>
                <a:spcPts val="1050"/>
              </a:spcBef>
            </a:pPr>
            <a:r>
              <a:rPr sz="2050" i="1" spc="-325" dirty="0">
                <a:solidFill>
                  <a:srgbClr val="231F20"/>
                </a:solidFill>
                <a:latin typeface="Meiryo"/>
                <a:cs typeface="Meiryo"/>
              </a:rPr>
              <a:t>q  </a:t>
            </a:r>
            <a:r>
              <a:rPr sz="2050" spc="114" dirty="0">
                <a:solidFill>
                  <a:srgbClr val="231F20"/>
                </a:solidFill>
                <a:latin typeface="Tahoma"/>
                <a:cs typeface="Tahoma"/>
              </a:rPr>
              <a:t>= </a:t>
            </a:r>
            <a:r>
              <a:rPr sz="2050" i="1" spc="-50" dirty="0">
                <a:solidFill>
                  <a:srgbClr val="231F20"/>
                </a:solidFill>
                <a:latin typeface="Georgia"/>
                <a:cs typeface="Georgia"/>
              </a:rPr>
              <a:t>on </a:t>
            </a:r>
            <a:r>
              <a:rPr sz="2050" i="1" spc="-100" dirty="0">
                <a:solidFill>
                  <a:srgbClr val="231F20"/>
                </a:solidFill>
                <a:latin typeface="Georgia"/>
                <a:cs typeface="Georgia"/>
              </a:rPr>
              <a:t>and  </a:t>
            </a:r>
            <a:r>
              <a:rPr sz="2050" i="1" spc="50" dirty="0">
                <a:solidFill>
                  <a:srgbClr val="231F20"/>
                </a:solidFill>
                <a:latin typeface="Meiryo"/>
                <a:cs typeface="Meiryo"/>
              </a:rPr>
              <a:t>x </a:t>
            </a:r>
            <a:r>
              <a:rPr sz="2050" i="1" spc="-40" dirty="0">
                <a:solidFill>
                  <a:srgbClr val="231F20"/>
                </a:solidFill>
                <a:latin typeface="Meiryo"/>
                <a:cs typeface="Meiryo"/>
              </a:rPr>
              <a:t>&lt;</a:t>
            </a:r>
            <a:r>
              <a:rPr sz="2050" i="1" spc="-385" dirty="0">
                <a:solidFill>
                  <a:srgbClr val="231F20"/>
                </a:solidFill>
                <a:latin typeface="Meiryo"/>
                <a:cs typeface="Meiryo"/>
              </a:rPr>
              <a:t> </a:t>
            </a:r>
            <a:r>
              <a:rPr sz="2050" spc="-90" dirty="0">
                <a:solidFill>
                  <a:srgbClr val="231F20"/>
                </a:solidFill>
                <a:latin typeface="Tahoma"/>
                <a:cs typeface="Tahoma"/>
              </a:rPr>
              <a:t>82</a:t>
            </a:r>
            <a:endParaRPr sz="2050">
              <a:latin typeface="Tahoma"/>
              <a:cs typeface="Tahoma"/>
            </a:endParaRPr>
          </a:p>
          <a:p>
            <a:pPr marL="17780">
              <a:lnSpc>
                <a:spcPct val="100000"/>
              </a:lnSpc>
              <a:spcBef>
                <a:spcPts val="1800"/>
              </a:spcBef>
            </a:pPr>
            <a:r>
              <a:rPr sz="1950" spc="195" dirty="0">
                <a:solidFill>
                  <a:srgbClr val="FF0000"/>
                </a:solidFill>
                <a:latin typeface="Arial"/>
                <a:cs typeface="Arial"/>
              </a:rPr>
              <a:t>We </a:t>
            </a:r>
            <a:r>
              <a:rPr sz="1950" spc="190" dirty="0">
                <a:solidFill>
                  <a:srgbClr val="FF0000"/>
                </a:solidFill>
                <a:latin typeface="Arial"/>
                <a:cs typeface="Arial"/>
              </a:rPr>
              <a:t>want </a:t>
            </a:r>
            <a:r>
              <a:rPr sz="1950" spc="250" dirty="0">
                <a:solidFill>
                  <a:srgbClr val="FF0000"/>
                </a:solidFill>
                <a:latin typeface="Arial"/>
                <a:cs typeface="Arial"/>
              </a:rPr>
              <a:t>to </a:t>
            </a:r>
            <a:r>
              <a:rPr sz="1950" spc="110" dirty="0">
                <a:solidFill>
                  <a:srgbClr val="FF0000"/>
                </a:solidFill>
                <a:latin typeface="Arial"/>
                <a:cs typeface="Arial"/>
              </a:rPr>
              <a:t>prove </a:t>
            </a:r>
            <a:r>
              <a:rPr sz="2050" spc="-90" dirty="0">
                <a:solidFill>
                  <a:srgbClr val="FF0000"/>
                </a:solidFill>
                <a:latin typeface="Tahoma"/>
                <a:cs typeface="Tahoma"/>
              </a:rPr>
              <a:t>68 </a:t>
            </a:r>
            <a:r>
              <a:rPr sz="2050" spc="-25" dirty="0">
                <a:solidFill>
                  <a:srgbClr val="FF0000"/>
                </a:solidFill>
                <a:latin typeface="Lucida Sans Unicode"/>
                <a:cs typeface="Lucida Sans Unicode"/>
              </a:rPr>
              <a:t>≤ </a:t>
            </a:r>
            <a:r>
              <a:rPr sz="2050" i="1" spc="50" dirty="0">
                <a:solidFill>
                  <a:srgbClr val="FF0000"/>
                </a:solidFill>
                <a:latin typeface="Meiryo"/>
                <a:cs typeface="Meiryo"/>
              </a:rPr>
              <a:t>x </a:t>
            </a:r>
            <a:r>
              <a:rPr sz="2050" spc="-25" dirty="0">
                <a:solidFill>
                  <a:srgbClr val="FF0000"/>
                </a:solidFill>
                <a:latin typeface="Lucida Sans Unicode"/>
                <a:cs typeface="Lucida Sans Unicode"/>
              </a:rPr>
              <a:t>≤</a:t>
            </a:r>
            <a:r>
              <a:rPr sz="2050" spc="50" dirty="0">
                <a:solidFill>
                  <a:srgbClr val="FF0000"/>
                </a:solidFill>
                <a:latin typeface="Lucida Sans Unicode"/>
                <a:cs typeface="Lucida Sans Unicode"/>
              </a:rPr>
              <a:t> </a:t>
            </a:r>
            <a:r>
              <a:rPr sz="2050" spc="-90" dirty="0">
                <a:solidFill>
                  <a:srgbClr val="FF0000"/>
                </a:solidFill>
                <a:latin typeface="Tahoma"/>
                <a:cs typeface="Tahoma"/>
              </a:rPr>
              <a:t>82</a:t>
            </a:r>
            <a:endParaRPr sz="2050">
              <a:latin typeface="Tahoma"/>
              <a:cs typeface="Tahoma"/>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43098" y="634747"/>
            <a:ext cx="4173854" cy="314960"/>
          </a:xfrm>
          <a:prstGeom prst="rect">
            <a:avLst/>
          </a:prstGeom>
        </p:spPr>
        <p:txBody>
          <a:bodyPr vert="horz" wrap="square" lIns="0" tIns="0" rIns="0" bIns="0" rtlCol="0">
            <a:spAutoFit/>
          </a:bodyPr>
          <a:lstStyle/>
          <a:p>
            <a:pPr marL="12700">
              <a:lnSpc>
                <a:spcPct val="100000"/>
              </a:lnSpc>
            </a:pPr>
            <a:r>
              <a:rPr sz="1950" spc="295" dirty="0">
                <a:solidFill>
                  <a:srgbClr val="231F20"/>
                </a:solidFill>
                <a:latin typeface="Arial"/>
                <a:cs typeface="Arial"/>
              </a:rPr>
              <a:t>Abstract </a:t>
            </a:r>
            <a:r>
              <a:rPr sz="1950" spc="330" dirty="0">
                <a:solidFill>
                  <a:srgbClr val="231F20"/>
                </a:solidFill>
                <a:latin typeface="Arial"/>
                <a:cs typeface="Arial"/>
              </a:rPr>
              <a:t>Thermostat</a:t>
            </a:r>
            <a:r>
              <a:rPr sz="1950" spc="400" dirty="0">
                <a:solidFill>
                  <a:srgbClr val="231F20"/>
                </a:solidFill>
                <a:latin typeface="Arial"/>
                <a:cs typeface="Arial"/>
              </a:rPr>
              <a:t> </a:t>
            </a:r>
            <a:r>
              <a:rPr sz="1950" spc="260" dirty="0">
                <a:solidFill>
                  <a:srgbClr val="231F20"/>
                </a:solidFill>
                <a:latin typeface="Arial"/>
                <a:cs typeface="Arial"/>
              </a:rPr>
              <a:t>System</a:t>
            </a:r>
            <a:endParaRPr sz="1950">
              <a:latin typeface="Arial"/>
              <a:cs typeface="Arial"/>
            </a:endParaRPr>
          </a:p>
        </p:txBody>
      </p:sp>
      <p:sp>
        <p:nvSpPr>
          <p:cNvPr id="3" name="object 3"/>
          <p:cNvSpPr/>
          <p:nvPr/>
        </p:nvSpPr>
        <p:spPr>
          <a:xfrm>
            <a:off x="2922575" y="1017104"/>
            <a:ext cx="4214886" cy="5124195"/>
          </a:xfrm>
          <a:prstGeom prst="rect">
            <a:avLst/>
          </a:prstGeom>
          <a:blipFill>
            <a:blip r:embed="rId2" cstate="print"/>
            <a:stretch>
              <a:fillRect/>
            </a:stretch>
          </a:blipFill>
        </p:spPr>
        <p:txBody>
          <a:bodyPr wrap="square" lIns="0" tIns="0" rIns="0" bIns="0" rtlCol="0"/>
          <a:lstStyle/>
          <a:p>
            <a:endParaRPr/>
          </a:p>
        </p:txBody>
      </p:sp>
      <p:sp>
        <p:nvSpPr>
          <p:cNvPr id="4" name="object 4"/>
          <p:cNvSpPr txBox="1"/>
          <p:nvPr/>
        </p:nvSpPr>
        <p:spPr>
          <a:xfrm>
            <a:off x="4405541" y="1266025"/>
            <a:ext cx="617855" cy="378460"/>
          </a:xfrm>
          <a:prstGeom prst="rect">
            <a:avLst/>
          </a:prstGeom>
        </p:spPr>
        <p:txBody>
          <a:bodyPr vert="horz" wrap="square" lIns="0" tIns="0" rIns="0" bIns="0" rtlCol="0">
            <a:spAutoFit/>
          </a:bodyPr>
          <a:lstStyle/>
          <a:p>
            <a:pPr algn="ctr">
              <a:lnSpc>
                <a:spcPct val="100000"/>
              </a:lnSpc>
            </a:pPr>
            <a:r>
              <a:rPr sz="1000" dirty="0">
                <a:latin typeface="Times New Roman"/>
                <a:cs typeface="Times New Roman"/>
              </a:rPr>
              <a:t>70 &lt; x &lt;</a:t>
            </a:r>
            <a:r>
              <a:rPr sz="1000" spc="-75" dirty="0">
                <a:latin typeface="Times New Roman"/>
                <a:cs typeface="Times New Roman"/>
              </a:rPr>
              <a:t> </a:t>
            </a:r>
            <a:r>
              <a:rPr sz="1000" dirty="0">
                <a:latin typeface="Times New Roman"/>
                <a:cs typeface="Times New Roman"/>
              </a:rPr>
              <a:t>80</a:t>
            </a:r>
            <a:endParaRPr sz="1000">
              <a:latin typeface="Times New Roman"/>
              <a:cs typeface="Times New Roman"/>
            </a:endParaRPr>
          </a:p>
          <a:p>
            <a:pPr marL="76835" algn="ctr">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off</a:t>
            </a:r>
            <a:endParaRPr sz="1000">
              <a:latin typeface="Times New Roman"/>
              <a:cs typeface="Times New Roman"/>
            </a:endParaRPr>
          </a:p>
        </p:txBody>
      </p:sp>
      <p:sp>
        <p:nvSpPr>
          <p:cNvPr id="5" name="object 5"/>
          <p:cNvSpPr txBox="1"/>
          <p:nvPr/>
        </p:nvSpPr>
        <p:spPr>
          <a:xfrm>
            <a:off x="4405541" y="2972308"/>
            <a:ext cx="617855" cy="378460"/>
          </a:xfrm>
          <a:prstGeom prst="rect">
            <a:avLst/>
          </a:prstGeom>
        </p:spPr>
        <p:txBody>
          <a:bodyPr vert="horz" wrap="square" lIns="0" tIns="0" rIns="0" bIns="0" rtlCol="0">
            <a:spAutoFit/>
          </a:bodyPr>
          <a:lstStyle/>
          <a:p>
            <a:pPr algn="ctr">
              <a:lnSpc>
                <a:spcPct val="100000"/>
              </a:lnSpc>
            </a:pPr>
            <a:r>
              <a:rPr sz="1000" dirty="0">
                <a:latin typeface="Times New Roman"/>
                <a:cs typeface="Times New Roman"/>
              </a:rPr>
              <a:t>68 &lt; x &lt;</a:t>
            </a:r>
            <a:r>
              <a:rPr sz="1000" spc="-75" dirty="0">
                <a:latin typeface="Times New Roman"/>
                <a:cs typeface="Times New Roman"/>
              </a:rPr>
              <a:t> </a:t>
            </a:r>
            <a:r>
              <a:rPr sz="1000" dirty="0">
                <a:latin typeface="Times New Roman"/>
                <a:cs typeface="Times New Roman"/>
              </a:rPr>
              <a:t>70</a:t>
            </a:r>
            <a:endParaRPr sz="1000">
              <a:latin typeface="Times New Roman"/>
              <a:cs typeface="Times New Roman"/>
            </a:endParaRPr>
          </a:p>
          <a:p>
            <a:pPr marL="55244" algn="ctr">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on</a:t>
            </a:r>
            <a:endParaRPr sz="1000">
              <a:latin typeface="Times New Roman"/>
              <a:cs typeface="Times New Roman"/>
            </a:endParaRPr>
          </a:p>
        </p:txBody>
      </p:sp>
      <p:sp>
        <p:nvSpPr>
          <p:cNvPr id="6" name="object 6"/>
          <p:cNvSpPr txBox="1"/>
          <p:nvPr/>
        </p:nvSpPr>
        <p:spPr>
          <a:xfrm>
            <a:off x="4565505" y="2119147"/>
            <a:ext cx="375285" cy="378460"/>
          </a:xfrm>
          <a:prstGeom prst="rect">
            <a:avLst/>
          </a:prstGeom>
        </p:spPr>
        <p:txBody>
          <a:bodyPr vert="horz" wrap="square" lIns="0" tIns="0" rIns="0" bIns="0" rtlCol="0">
            <a:spAutoFit/>
          </a:bodyPr>
          <a:lstStyle/>
          <a:p>
            <a:pPr marL="12700">
              <a:lnSpc>
                <a:spcPct val="100000"/>
              </a:lnSpc>
            </a:pPr>
            <a:r>
              <a:rPr sz="1000" dirty="0">
                <a:latin typeface="Times New Roman"/>
                <a:cs typeface="Times New Roman"/>
              </a:rPr>
              <a:t>x =</a:t>
            </a:r>
            <a:r>
              <a:rPr sz="1000" spc="-85" dirty="0">
                <a:latin typeface="Times New Roman"/>
                <a:cs typeface="Times New Roman"/>
              </a:rPr>
              <a:t> </a:t>
            </a:r>
            <a:r>
              <a:rPr sz="1000" dirty="0">
                <a:latin typeface="Times New Roman"/>
                <a:cs typeface="Times New Roman"/>
              </a:rPr>
              <a:t>70</a:t>
            </a:r>
            <a:endParaRPr sz="1000">
              <a:latin typeface="Times New Roman"/>
              <a:cs typeface="Times New Roman"/>
            </a:endParaRPr>
          </a:p>
          <a:p>
            <a:pPr marL="12700">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off</a:t>
            </a:r>
            <a:endParaRPr sz="1000">
              <a:latin typeface="Times New Roman"/>
              <a:cs typeface="Times New Roman"/>
            </a:endParaRPr>
          </a:p>
        </p:txBody>
      </p:sp>
      <p:sp>
        <p:nvSpPr>
          <p:cNvPr id="7" name="object 7"/>
          <p:cNvSpPr txBox="1"/>
          <p:nvPr/>
        </p:nvSpPr>
        <p:spPr>
          <a:xfrm>
            <a:off x="4405541" y="3825443"/>
            <a:ext cx="617855" cy="378460"/>
          </a:xfrm>
          <a:prstGeom prst="rect">
            <a:avLst/>
          </a:prstGeom>
        </p:spPr>
        <p:txBody>
          <a:bodyPr vert="horz" wrap="square" lIns="0" tIns="0" rIns="0" bIns="0" rtlCol="0">
            <a:spAutoFit/>
          </a:bodyPr>
          <a:lstStyle/>
          <a:p>
            <a:pPr algn="ctr">
              <a:lnSpc>
                <a:spcPct val="100000"/>
              </a:lnSpc>
            </a:pPr>
            <a:r>
              <a:rPr sz="1000" dirty="0">
                <a:latin typeface="Times New Roman"/>
                <a:cs typeface="Times New Roman"/>
              </a:rPr>
              <a:t>70 &lt; x &lt;</a:t>
            </a:r>
            <a:r>
              <a:rPr sz="1000" spc="-75" dirty="0">
                <a:latin typeface="Times New Roman"/>
                <a:cs typeface="Times New Roman"/>
              </a:rPr>
              <a:t> </a:t>
            </a:r>
            <a:r>
              <a:rPr sz="1000" dirty="0">
                <a:latin typeface="Times New Roman"/>
                <a:cs typeface="Times New Roman"/>
              </a:rPr>
              <a:t>80</a:t>
            </a:r>
            <a:endParaRPr sz="1000">
              <a:latin typeface="Times New Roman"/>
              <a:cs typeface="Times New Roman"/>
            </a:endParaRPr>
          </a:p>
          <a:p>
            <a:pPr marL="55244" algn="ctr">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on</a:t>
            </a:r>
            <a:endParaRPr sz="1000">
              <a:latin typeface="Times New Roman"/>
              <a:cs typeface="Times New Roman"/>
            </a:endParaRPr>
          </a:p>
        </p:txBody>
      </p:sp>
      <p:sp>
        <p:nvSpPr>
          <p:cNvPr id="8" name="object 8"/>
          <p:cNvSpPr txBox="1"/>
          <p:nvPr/>
        </p:nvSpPr>
        <p:spPr>
          <a:xfrm>
            <a:off x="4533512" y="4678578"/>
            <a:ext cx="386080" cy="378460"/>
          </a:xfrm>
          <a:prstGeom prst="rect">
            <a:avLst/>
          </a:prstGeom>
        </p:spPr>
        <p:txBody>
          <a:bodyPr vert="horz" wrap="square" lIns="0" tIns="0" rIns="0" bIns="0" rtlCol="0">
            <a:spAutoFit/>
          </a:bodyPr>
          <a:lstStyle/>
          <a:p>
            <a:pPr marL="12700">
              <a:lnSpc>
                <a:spcPct val="100000"/>
              </a:lnSpc>
            </a:pPr>
            <a:r>
              <a:rPr sz="1000" dirty="0">
                <a:latin typeface="Times New Roman"/>
                <a:cs typeface="Times New Roman"/>
              </a:rPr>
              <a:t>x =</a:t>
            </a:r>
            <a:r>
              <a:rPr sz="1000" spc="-85" dirty="0">
                <a:latin typeface="Times New Roman"/>
                <a:cs typeface="Times New Roman"/>
              </a:rPr>
              <a:t> </a:t>
            </a:r>
            <a:r>
              <a:rPr sz="1000" dirty="0">
                <a:latin typeface="Times New Roman"/>
                <a:cs typeface="Times New Roman"/>
              </a:rPr>
              <a:t>80</a:t>
            </a:r>
            <a:endParaRPr sz="1000">
              <a:latin typeface="Times New Roman"/>
              <a:cs typeface="Times New Roman"/>
            </a:endParaRPr>
          </a:p>
          <a:p>
            <a:pPr marL="44450">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on</a:t>
            </a:r>
            <a:endParaRPr sz="1000">
              <a:latin typeface="Times New Roman"/>
              <a:cs typeface="Times New Roman"/>
            </a:endParaRPr>
          </a:p>
        </p:txBody>
      </p:sp>
      <p:sp>
        <p:nvSpPr>
          <p:cNvPr id="9" name="object 9"/>
          <p:cNvSpPr txBox="1"/>
          <p:nvPr/>
        </p:nvSpPr>
        <p:spPr>
          <a:xfrm>
            <a:off x="4405541" y="5531726"/>
            <a:ext cx="617855" cy="378460"/>
          </a:xfrm>
          <a:prstGeom prst="rect">
            <a:avLst/>
          </a:prstGeom>
        </p:spPr>
        <p:txBody>
          <a:bodyPr vert="horz" wrap="square" lIns="0" tIns="0" rIns="0" bIns="0" rtlCol="0">
            <a:spAutoFit/>
          </a:bodyPr>
          <a:lstStyle/>
          <a:p>
            <a:pPr algn="ctr">
              <a:lnSpc>
                <a:spcPct val="100000"/>
              </a:lnSpc>
            </a:pPr>
            <a:r>
              <a:rPr sz="1000" dirty="0">
                <a:latin typeface="Times New Roman"/>
                <a:cs typeface="Times New Roman"/>
              </a:rPr>
              <a:t>80 &lt; x &lt;</a:t>
            </a:r>
            <a:r>
              <a:rPr sz="1000" spc="-75" dirty="0">
                <a:latin typeface="Times New Roman"/>
                <a:cs typeface="Times New Roman"/>
              </a:rPr>
              <a:t> </a:t>
            </a:r>
            <a:r>
              <a:rPr sz="1000" dirty="0">
                <a:latin typeface="Times New Roman"/>
                <a:cs typeface="Times New Roman"/>
              </a:rPr>
              <a:t>82</a:t>
            </a:r>
            <a:endParaRPr sz="1000">
              <a:latin typeface="Times New Roman"/>
              <a:cs typeface="Times New Roman"/>
            </a:endParaRPr>
          </a:p>
          <a:p>
            <a:pPr marL="76835" algn="ctr">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off</a:t>
            </a:r>
            <a:endParaRPr sz="1000">
              <a:latin typeface="Times New Roman"/>
              <a:cs typeface="Times New Roman"/>
            </a:endParaRPr>
          </a:p>
        </p:txBody>
      </p:sp>
      <p:sp>
        <p:nvSpPr>
          <p:cNvPr id="10" name="object 10"/>
          <p:cNvSpPr txBox="1"/>
          <p:nvPr/>
        </p:nvSpPr>
        <p:spPr>
          <a:xfrm>
            <a:off x="3019196" y="2972295"/>
            <a:ext cx="617855" cy="378460"/>
          </a:xfrm>
          <a:prstGeom prst="rect">
            <a:avLst/>
          </a:prstGeom>
        </p:spPr>
        <p:txBody>
          <a:bodyPr vert="horz" wrap="square" lIns="0" tIns="0" rIns="0" bIns="0" rtlCol="0">
            <a:spAutoFit/>
          </a:bodyPr>
          <a:lstStyle/>
          <a:p>
            <a:pPr algn="ctr">
              <a:lnSpc>
                <a:spcPct val="100000"/>
              </a:lnSpc>
            </a:pPr>
            <a:r>
              <a:rPr sz="1000" dirty="0">
                <a:latin typeface="Times New Roman"/>
                <a:cs typeface="Times New Roman"/>
              </a:rPr>
              <a:t>68 &lt; x &lt;</a:t>
            </a:r>
            <a:r>
              <a:rPr sz="1000" spc="-75" dirty="0">
                <a:latin typeface="Times New Roman"/>
                <a:cs typeface="Times New Roman"/>
              </a:rPr>
              <a:t> </a:t>
            </a:r>
            <a:r>
              <a:rPr sz="1000" dirty="0">
                <a:latin typeface="Times New Roman"/>
                <a:cs typeface="Times New Roman"/>
              </a:rPr>
              <a:t>70</a:t>
            </a:r>
            <a:endParaRPr sz="1000">
              <a:latin typeface="Times New Roman"/>
              <a:cs typeface="Times New Roman"/>
            </a:endParaRPr>
          </a:p>
          <a:p>
            <a:pPr marL="76835" algn="ctr">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off</a:t>
            </a:r>
            <a:endParaRPr sz="1000">
              <a:latin typeface="Times New Roman"/>
              <a:cs typeface="Times New Roman"/>
            </a:endParaRPr>
          </a:p>
        </p:txBody>
      </p:sp>
      <p:sp>
        <p:nvSpPr>
          <p:cNvPr id="11" name="object 11"/>
          <p:cNvSpPr txBox="1"/>
          <p:nvPr/>
        </p:nvSpPr>
        <p:spPr>
          <a:xfrm>
            <a:off x="6005190" y="2972295"/>
            <a:ext cx="353695" cy="378460"/>
          </a:xfrm>
          <a:prstGeom prst="rect">
            <a:avLst/>
          </a:prstGeom>
        </p:spPr>
        <p:txBody>
          <a:bodyPr vert="horz" wrap="square" lIns="0" tIns="0" rIns="0" bIns="0" rtlCol="0">
            <a:spAutoFit/>
          </a:bodyPr>
          <a:lstStyle/>
          <a:p>
            <a:pPr marL="12700">
              <a:lnSpc>
                <a:spcPct val="100000"/>
              </a:lnSpc>
            </a:pPr>
            <a:r>
              <a:rPr sz="1000" dirty="0">
                <a:latin typeface="Times New Roman"/>
                <a:cs typeface="Times New Roman"/>
              </a:rPr>
              <a:t>x =</a:t>
            </a:r>
            <a:r>
              <a:rPr sz="1000" spc="-85" dirty="0">
                <a:latin typeface="Times New Roman"/>
                <a:cs typeface="Times New Roman"/>
              </a:rPr>
              <a:t> </a:t>
            </a:r>
            <a:r>
              <a:rPr sz="1000" dirty="0">
                <a:latin typeface="Times New Roman"/>
                <a:cs typeface="Times New Roman"/>
              </a:rPr>
              <a:t>70</a:t>
            </a:r>
            <a:endParaRPr sz="1000">
              <a:latin typeface="Times New Roman"/>
              <a:cs typeface="Times New Roman"/>
            </a:endParaRPr>
          </a:p>
          <a:p>
            <a:pPr marL="12700">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on</a:t>
            </a:r>
            <a:endParaRPr sz="1000">
              <a:latin typeface="Times New Roman"/>
              <a:cs typeface="Times New Roman"/>
            </a:endParaRPr>
          </a:p>
        </p:txBody>
      </p:sp>
      <p:sp>
        <p:nvSpPr>
          <p:cNvPr id="12" name="object 12"/>
          <p:cNvSpPr txBox="1"/>
          <p:nvPr/>
        </p:nvSpPr>
        <p:spPr>
          <a:xfrm>
            <a:off x="3019183" y="5531726"/>
            <a:ext cx="617855" cy="378460"/>
          </a:xfrm>
          <a:prstGeom prst="rect">
            <a:avLst/>
          </a:prstGeom>
        </p:spPr>
        <p:txBody>
          <a:bodyPr vert="horz" wrap="square" lIns="0" tIns="0" rIns="0" bIns="0" rtlCol="0">
            <a:spAutoFit/>
          </a:bodyPr>
          <a:lstStyle/>
          <a:p>
            <a:pPr algn="ctr">
              <a:lnSpc>
                <a:spcPct val="100000"/>
              </a:lnSpc>
            </a:pPr>
            <a:r>
              <a:rPr sz="1000" dirty="0">
                <a:latin typeface="Times New Roman"/>
                <a:cs typeface="Times New Roman"/>
              </a:rPr>
              <a:t>80 &lt; x &lt;</a:t>
            </a:r>
            <a:r>
              <a:rPr sz="1000" spc="-75" dirty="0">
                <a:latin typeface="Times New Roman"/>
                <a:cs typeface="Times New Roman"/>
              </a:rPr>
              <a:t> </a:t>
            </a:r>
            <a:r>
              <a:rPr sz="1000" dirty="0">
                <a:latin typeface="Times New Roman"/>
                <a:cs typeface="Times New Roman"/>
              </a:rPr>
              <a:t>82</a:t>
            </a:r>
            <a:endParaRPr sz="1000">
              <a:latin typeface="Times New Roman"/>
              <a:cs typeface="Times New Roman"/>
            </a:endParaRPr>
          </a:p>
          <a:p>
            <a:pPr marL="55244" algn="ctr">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on</a:t>
            </a:r>
            <a:endParaRPr sz="1000">
              <a:latin typeface="Times New Roman"/>
              <a:cs typeface="Times New Roman"/>
            </a:endParaRPr>
          </a:p>
        </p:txBody>
      </p:sp>
      <p:sp>
        <p:nvSpPr>
          <p:cNvPr id="13" name="object 13"/>
          <p:cNvSpPr txBox="1"/>
          <p:nvPr/>
        </p:nvSpPr>
        <p:spPr>
          <a:xfrm>
            <a:off x="6005190" y="5531726"/>
            <a:ext cx="375285" cy="378460"/>
          </a:xfrm>
          <a:prstGeom prst="rect">
            <a:avLst/>
          </a:prstGeom>
        </p:spPr>
        <p:txBody>
          <a:bodyPr vert="horz" wrap="square" lIns="0" tIns="0" rIns="0" bIns="0" rtlCol="0">
            <a:spAutoFit/>
          </a:bodyPr>
          <a:lstStyle/>
          <a:p>
            <a:pPr marL="12700">
              <a:lnSpc>
                <a:spcPct val="100000"/>
              </a:lnSpc>
            </a:pPr>
            <a:r>
              <a:rPr sz="1000" dirty="0">
                <a:latin typeface="Times New Roman"/>
                <a:cs typeface="Times New Roman"/>
              </a:rPr>
              <a:t>x =</a:t>
            </a:r>
            <a:r>
              <a:rPr sz="1000" spc="-85" dirty="0">
                <a:latin typeface="Times New Roman"/>
                <a:cs typeface="Times New Roman"/>
              </a:rPr>
              <a:t> </a:t>
            </a:r>
            <a:r>
              <a:rPr sz="1000" dirty="0">
                <a:latin typeface="Times New Roman"/>
                <a:cs typeface="Times New Roman"/>
              </a:rPr>
              <a:t>80</a:t>
            </a:r>
            <a:endParaRPr sz="1000">
              <a:latin typeface="Times New Roman"/>
              <a:cs typeface="Times New Roman"/>
            </a:endParaRPr>
          </a:p>
          <a:p>
            <a:pPr marL="12700">
              <a:lnSpc>
                <a:spcPct val="100000"/>
              </a:lnSpc>
              <a:spcBef>
                <a:spcPts val="480"/>
              </a:spcBef>
            </a:pPr>
            <a:r>
              <a:rPr sz="1000" dirty="0">
                <a:latin typeface="Times New Roman"/>
                <a:cs typeface="Times New Roman"/>
              </a:rPr>
              <a:t>q =</a:t>
            </a:r>
            <a:r>
              <a:rPr sz="1000" spc="-85" dirty="0">
                <a:latin typeface="Times New Roman"/>
                <a:cs typeface="Times New Roman"/>
              </a:rPr>
              <a:t> </a:t>
            </a:r>
            <a:r>
              <a:rPr sz="1000" dirty="0">
                <a:latin typeface="Times New Roman"/>
                <a:cs typeface="Times New Roman"/>
              </a:rPr>
              <a:t>off</a:t>
            </a:r>
            <a:endParaRPr sz="1000">
              <a:latin typeface="Times New Roman"/>
              <a:cs typeface="Times New Roman"/>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683894"/>
            <a:ext cx="7980680" cy="5421630"/>
          </a:xfrm>
          <a:prstGeom prst="rect">
            <a:avLst/>
          </a:prstGeom>
        </p:spPr>
        <p:txBody>
          <a:bodyPr vert="horz" wrap="square" lIns="0" tIns="0" rIns="0" bIns="0" rtlCol="0">
            <a:spAutoFit/>
          </a:bodyPr>
          <a:lstStyle/>
          <a:p>
            <a:pPr marL="1178560">
              <a:lnSpc>
                <a:spcPct val="100000"/>
              </a:lnSpc>
            </a:pPr>
            <a:r>
              <a:rPr sz="1950" spc="250" dirty="0">
                <a:solidFill>
                  <a:srgbClr val="231F20"/>
                </a:solidFill>
                <a:latin typeface="Arial"/>
                <a:cs typeface="Arial"/>
              </a:rPr>
              <a:t>Pros </a:t>
            </a:r>
            <a:r>
              <a:rPr sz="1950" spc="240" dirty="0">
                <a:solidFill>
                  <a:srgbClr val="231F20"/>
                </a:solidFill>
                <a:latin typeface="Arial"/>
                <a:cs typeface="Arial"/>
              </a:rPr>
              <a:t>and </a:t>
            </a:r>
            <a:r>
              <a:rPr sz="1950" spc="235" dirty="0">
                <a:solidFill>
                  <a:srgbClr val="231F20"/>
                </a:solidFill>
                <a:latin typeface="Arial"/>
                <a:cs typeface="Arial"/>
              </a:rPr>
              <a:t>Cons </a:t>
            </a:r>
            <a:r>
              <a:rPr sz="1950" spc="280" dirty="0">
                <a:solidFill>
                  <a:srgbClr val="231F20"/>
                </a:solidFill>
                <a:latin typeface="Arial"/>
                <a:cs typeface="Arial"/>
              </a:rPr>
              <a:t>of </a:t>
            </a:r>
            <a:r>
              <a:rPr sz="1950" spc="330" dirty="0">
                <a:solidFill>
                  <a:srgbClr val="231F20"/>
                </a:solidFill>
                <a:latin typeface="Arial"/>
                <a:cs typeface="Arial"/>
              </a:rPr>
              <a:t>Automated</a:t>
            </a:r>
            <a:r>
              <a:rPr sz="1950" spc="785"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a:p>
            <a:pPr marL="300990" marR="1924050" indent="-288290">
              <a:lnSpc>
                <a:spcPct val="125000"/>
              </a:lnSpc>
              <a:spcBef>
                <a:spcPts val="1345"/>
              </a:spcBef>
              <a:buSzPct val="105128"/>
              <a:buFont typeface="Lucida Sans Unicode"/>
              <a:buChar char="•"/>
              <a:tabLst>
                <a:tab pos="301625" algn="l"/>
              </a:tabLst>
            </a:pPr>
            <a:r>
              <a:rPr sz="1950" spc="180" dirty="0">
                <a:solidFill>
                  <a:srgbClr val="231F20"/>
                </a:solidFill>
                <a:latin typeface="Arial"/>
                <a:cs typeface="Arial"/>
              </a:rPr>
              <a:t>Good </a:t>
            </a:r>
            <a:r>
              <a:rPr sz="1950" spc="200" dirty="0">
                <a:solidFill>
                  <a:srgbClr val="231F20"/>
                </a:solidFill>
                <a:latin typeface="Arial"/>
                <a:cs typeface="Arial"/>
              </a:rPr>
              <a:t>match </a:t>
            </a:r>
            <a:r>
              <a:rPr sz="1950" spc="120" dirty="0">
                <a:solidFill>
                  <a:srgbClr val="231F20"/>
                </a:solidFill>
                <a:latin typeface="Arial"/>
                <a:cs typeface="Arial"/>
              </a:rPr>
              <a:t>between </a:t>
            </a:r>
            <a:r>
              <a:rPr sz="1950" spc="130" dirty="0">
                <a:solidFill>
                  <a:srgbClr val="0000FF"/>
                </a:solidFill>
                <a:latin typeface="Arial"/>
                <a:cs typeface="Arial"/>
              </a:rPr>
              <a:t>local </a:t>
            </a:r>
            <a:r>
              <a:rPr sz="1950" spc="155" dirty="0">
                <a:solidFill>
                  <a:srgbClr val="231F20"/>
                </a:solidFill>
                <a:latin typeface="Arial"/>
                <a:cs typeface="Arial"/>
              </a:rPr>
              <a:t>theorem </a:t>
            </a:r>
            <a:r>
              <a:rPr sz="1950" spc="135" dirty="0">
                <a:solidFill>
                  <a:srgbClr val="231F20"/>
                </a:solidFill>
                <a:latin typeface="Arial"/>
                <a:cs typeface="Arial"/>
              </a:rPr>
              <a:t>proving,  </a:t>
            </a:r>
            <a:r>
              <a:rPr sz="1950" spc="130" dirty="0">
                <a:solidFill>
                  <a:srgbClr val="231F20"/>
                </a:solidFill>
                <a:latin typeface="Arial"/>
                <a:cs typeface="Arial"/>
              </a:rPr>
              <a:t>and </a:t>
            </a:r>
            <a:r>
              <a:rPr sz="1950" spc="130" dirty="0">
                <a:solidFill>
                  <a:srgbClr val="FF0000"/>
                </a:solidFill>
                <a:latin typeface="Arial"/>
                <a:cs typeface="Arial"/>
              </a:rPr>
              <a:t>global </a:t>
            </a:r>
            <a:r>
              <a:rPr sz="1950" spc="160" dirty="0">
                <a:solidFill>
                  <a:srgbClr val="231F20"/>
                </a:solidFill>
                <a:latin typeface="Arial"/>
                <a:cs typeface="Arial"/>
              </a:rPr>
              <a:t>model</a:t>
            </a:r>
            <a:r>
              <a:rPr sz="1950" spc="535" dirty="0">
                <a:solidFill>
                  <a:srgbClr val="231F20"/>
                </a:solidFill>
                <a:latin typeface="Arial"/>
                <a:cs typeface="Arial"/>
              </a:rPr>
              <a:t> </a:t>
            </a:r>
            <a:r>
              <a:rPr sz="1950" spc="125" dirty="0">
                <a:solidFill>
                  <a:srgbClr val="231F20"/>
                </a:solidFill>
                <a:latin typeface="Arial"/>
                <a:cs typeface="Arial"/>
              </a:rPr>
              <a:t>checking</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180" dirty="0">
                <a:solidFill>
                  <a:srgbClr val="231F20"/>
                </a:solidFill>
                <a:latin typeface="Arial"/>
                <a:cs typeface="Arial"/>
              </a:rPr>
              <a:t>Quality </a:t>
            </a:r>
            <a:r>
              <a:rPr sz="1950" spc="185" dirty="0">
                <a:solidFill>
                  <a:srgbClr val="231F20"/>
                </a:solidFill>
                <a:latin typeface="Arial"/>
                <a:cs typeface="Arial"/>
              </a:rPr>
              <a:t>of </a:t>
            </a:r>
            <a:r>
              <a:rPr sz="1950" spc="175" dirty="0">
                <a:solidFill>
                  <a:srgbClr val="231F20"/>
                </a:solidFill>
                <a:latin typeface="Arial"/>
                <a:cs typeface="Arial"/>
              </a:rPr>
              <a:t>the </a:t>
            </a:r>
            <a:r>
              <a:rPr sz="1950" spc="155" dirty="0">
                <a:solidFill>
                  <a:srgbClr val="231F20"/>
                </a:solidFill>
                <a:latin typeface="Arial"/>
                <a:cs typeface="Arial"/>
              </a:rPr>
              <a:t>abstraction </a:t>
            </a:r>
            <a:r>
              <a:rPr sz="1950" spc="95" dirty="0">
                <a:solidFill>
                  <a:srgbClr val="231F20"/>
                </a:solidFill>
                <a:latin typeface="Arial"/>
                <a:cs typeface="Arial"/>
              </a:rPr>
              <a:t>depends </a:t>
            </a:r>
            <a:r>
              <a:rPr sz="1950" spc="155" dirty="0">
                <a:solidFill>
                  <a:srgbClr val="231F20"/>
                </a:solidFill>
                <a:latin typeface="Arial"/>
                <a:cs typeface="Arial"/>
              </a:rPr>
              <a:t>on </a:t>
            </a:r>
            <a:r>
              <a:rPr sz="1950" spc="170" dirty="0">
                <a:solidFill>
                  <a:srgbClr val="231F20"/>
                </a:solidFill>
                <a:latin typeface="Arial"/>
                <a:cs typeface="Arial"/>
              </a:rPr>
              <a:t>information </a:t>
            </a:r>
            <a:r>
              <a:rPr sz="1950" spc="120" dirty="0">
                <a:solidFill>
                  <a:srgbClr val="231F20"/>
                </a:solidFill>
                <a:latin typeface="Arial"/>
                <a:cs typeface="Arial"/>
              </a:rPr>
              <a:t>provided  </a:t>
            </a:r>
            <a:r>
              <a:rPr sz="1950" spc="105" dirty="0">
                <a:solidFill>
                  <a:srgbClr val="231F20"/>
                </a:solidFill>
                <a:latin typeface="Arial"/>
                <a:cs typeface="Arial"/>
              </a:rPr>
              <a:t>by </a:t>
            </a:r>
            <a:r>
              <a:rPr sz="1950" spc="175" dirty="0">
                <a:solidFill>
                  <a:srgbClr val="231F20"/>
                </a:solidFill>
                <a:latin typeface="Arial"/>
                <a:cs typeface="Arial"/>
              </a:rPr>
              <a:t>the </a:t>
            </a:r>
            <a:r>
              <a:rPr sz="1950" spc="80" dirty="0">
                <a:solidFill>
                  <a:srgbClr val="231F20"/>
                </a:solidFill>
                <a:latin typeface="Arial"/>
                <a:cs typeface="Arial"/>
              </a:rPr>
              <a:t>user </a:t>
            </a:r>
            <a:r>
              <a:rPr sz="1950" spc="125" dirty="0">
                <a:solidFill>
                  <a:srgbClr val="231F20"/>
                </a:solidFill>
                <a:latin typeface="Arial"/>
                <a:cs typeface="Arial"/>
              </a:rPr>
              <a:t>(predicates, </a:t>
            </a:r>
            <a:r>
              <a:rPr sz="1950" spc="135" dirty="0">
                <a:solidFill>
                  <a:srgbClr val="231F20"/>
                </a:solidFill>
                <a:latin typeface="Arial"/>
                <a:cs typeface="Arial"/>
              </a:rPr>
              <a:t>polynomials </a:t>
            </a:r>
            <a:r>
              <a:rPr sz="1950" spc="250" dirty="0">
                <a:solidFill>
                  <a:srgbClr val="231F20"/>
                </a:solidFill>
                <a:latin typeface="Arial"/>
                <a:cs typeface="Arial"/>
              </a:rPr>
              <a:t> </a:t>
            </a:r>
            <a:r>
              <a:rPr sz="1950" spc="185" dirty="0">
                <a:solidFill>
                  <a:srgbClr val="231F20"/>
                </a:solidFill>
                <a:latin typeface="Arial"/>
                <a:cs typeface="Arial"/>
              </a:rPr>
              <a:t>etc.)</a:t>
            </a:r>
            <a:endParaRPr sz="1950">
              <a:latin typeface="Arial"/>
              <a:cs typeface="Arial"/>
            </a:endParaRPr>
          </a:p>
          <a:p>
            <a:pPr marL="741680" lvl="1" indent="-288290">
              <a:lnSpc>
                <a:spcPct val="100000"/>
              </a:lnSpc>
              <a:spcBef>
                <a:spcPts val="1100"/>
              </a:spcBef>
              <a:buClr>
                <a:srgbClr val="231F20"/>
              </a:buClr>
              <a:buSzPct val="105128"/>
              <a:buFont typeface="Lucida Sans Unicode"/>
              <a:buChar char="◦"/>
              <a:tabLst>
                <a:tab pos="742315" algn="l"/>
              </a:tabLst>
            </a:pPr>
            <a:r>
              <a:rPr sz="1950" spc="165" dirty="0">
                <a:solidFill>
                  <a:srgbClr val="FF0000"/>
                </a:solidFill>
                <a:latin typeface="Arial"/>
                <a:cs typeface="Arial"/>
              </a:rPr>
              <a:t>It’s </a:t>
            </a:r>
            <a:r>
              <a:rPr sz="1950" spc="60" dirty="0">
                <a:solidFill>
                  <a:srgbClr val="FF0000"/>
                </a:solidFill>
                <a:latin typeface="Arial"/>
                <a:cs typeface="Arial"/>
              </a:rPr>
              <a:t>easier </a:t>
            </a:r>
            <a:r>
              <a:rPr sz="1950" spc="250" dirty="0">
                <a:solidFill>
                  <a:srgbClr val="FF0000"/>
                </a:solidFill>
                <a:latin typeface="Arial"/>
                <a:cs typeface="Arial"/>
              </a:rPr>
              <a:t>to </a:t>
            </a:r>
            <a:r>
              <a:rPr sz="1950" spc="50" dirty="0">
                <a:solidFill>
                  <a:srgbClr val="FF0000"/>
                </a:solidFill>
                <a:latin typeface="Arial"/>
                <a:cs typeface="Arial"/>
              </a:rPr>
              <a:t>guess </a:t>
            </a:r>
            <a:r>
              <a:rPr sz="1950" spc="105" dirty="0">
                <a:solidFill>
                  <a:srgbClr val="FF0000"/>
                </a:solidFill>
                <a:latin typeface="Arial"/>
                <a:cs typeface="Arial"/>
              </a:rPr>
              <a:t>useful predicates </a:t>
            </a:r>
            <a:r>
              <a:rPr sz="1950" spc="185" dirty="0">
                <a:solidFill>
                  <a:srgbClr val="FF0000"/>
                </a:solidFill>
                <a:latin typeface="Arial"/>
                <a:cs typeface="Arial"/>
              </a:rPr>
              <a:t>than </a:t>
            </a:r>
            <a:r>
              <a:rPr sz="1950" spc="535" dirty="0">
                <a:solidFill>
                  <a:srgbClr val="FF0000"/>
                </a:solidFill>
                <a:latin typeface="Arial"/>
                <a:cs typeface="Arial"/>
              </a:rPr>
              <a:t> </a:t>
            </a:r>
            <a:r>
              <a:rPr sz="1950" spc="125" dirty="0">
                <a:solidFill>
                  <a:srgbClr val="FF0000"/>
                </a:solidFill>
                <a:latin typeface="Arial"/>
                <a:cs typeface="Arial"/>
              </a:rPr>
              <a:t>invariants</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135" dirty="0">
                <a:solidFill>
                  <a:srgbClr val="231F20"/>
                </a:solidFill>
                <a:latin typeface="Arial"/>
                <a:cs typeface="Arial"/>
              </a:rPr>
              <a:t>Can </a:t>
            </a:r>
            <a:r>
              <a:rPr sz="1950" spc="50" dirty="0">
                <a:solidFill>
                  <a:srgbClr val="231F20"/>
                </a:solidFill>
                <a:latin typeface="Arial"/>
                <a:cs typeface="Arial"/>
              </a:rPr>
              <a:t>guess </a:t>
            </a:r>
            <a:r>
              <a:rPr sz="1950" spc="145" dirty="0">
                <a:solidFill>
                  <a:srgbClr val="231F20"/>
                </a:solidFill>
                <a:latin typeface="Arial"/>
                <a:cs typeface="Arial"/>
              </a:rPr>
              <a:t>additional </a:t>
            </a:r>
            <a:r>
              <a:rPr sz="1950" spc="70" dirty="0">
                <a:solidFill>
                  <a:srgbClr val="231F20"/>
                </a:solidFill>
                <a:latin typeface="Arial"/>
                <a:cs typeface="Arial"/>
              </a:rPr>
              <a:t>ones </a:t>
            </a:r>
            <a:r>
              <a:rPr sz="1950" spc="160" dirty="0">
                <a:solidFill>
                  <a:srgbClr val="231F20"/>
                </a:solidFill>
                <a:latin typeface="Arial"/>
                <a:cs typeface="Arial"/>
              </a:rPr>
              <a:t>if </a:t>
            </a:r>
            <a:r>
              <a:rPr sz="1950" spc="345" dirty="0">
                <a:solidFill>
                  <a:srgbClr val="231F20"/>
                </a:solidFill>
                <a:latin typeface="Arial"/>
                <a:cs typeface="Arial"/>
              </a:rPr>
              <a:t> </a:t>
            </a:r>
            <a:r>
              <a:rPr sz="1950" spc="125" dirty="0">
                <a:solidFill>
                  <a:srgbClr val="231F20"/>
                </a:solidFill>
                <a:latin typeface="Arial"/>
                <a:cs typeface="Arial"/>
              </a:rPr>
              <a:t>inadequate</a:t>
            </a:r>
            <a:endParaRPr sz="1950">
              <a:latin typeface="Arial"/>
              <a:cs typeface="Arial"/>
            </a:endParaRPr>
          </a:p>
          <a:p>
            <a:pPr marL="741680" lvl="1" indent="-288290">
              <a:lnSpc>
                <a:spcPct val="100000"/>
              </a:lnSpc>
              <a:spcBef>
                <a:spcPts val="845"/>
              </a:spcBef>
              <a:buClr>
                <a:srgbClr val="231F20"/>
              </a:buClr>
              <a:buSzPct val="105128"/>
              <a:buFont typeface="Lucida Sans Unicode"/>
              <a:buChar char="◦"/>
              <a:tabLst>
                <a:tab pos="742315" algn="l"/>
              </a:tabLst>
            </a:pPr>
            <a:r>
              <a:rPr sz="1950" spc="285" dirty="0">
                <a:solidFill>
                  <a:srgbClr val="FF0000"/>
                </a:solidFill>
                <a:latin typeface="Arial"/>
                <a:cs typeface="Arial"/>
              </a:rPr>
              <a:t>Or </a:t>
            </a:r>
            <a:r>
              <a:rPr sz="1950" spc="155" dirty="0">
                <a:solidFill>
                  <a:srgbClr val="FF0000"/>
                </a:solidFill>
                <a:latin typeface="Arial"/>
                <a:cs typeface="Arial"/>
              </a:rPr>
              <a:t>let </a:t>
            </a:r>
            <a:r>
              <a:rPr sz="1950" spc="125" dirty="0">
                <a:solidFill>
                  <a:srgbClr val="FF0000"/>
                </a:solidFill>
                <a:latin typeface="Arial"/>
                <a:cs typeface="Arial"/>
              </a:rPr>
              <a:t>counterexamples </a:t>
            </a:r>
            <a:r>
              <a:rPr sz="1950" spc="110" dirty="0">
                <a:solidFill>
                  <a:srgbClr val="FF0000"/>
                </a:solidFill>
                <a:latin typeface="Arial"/>
                <a:cs typeface="Arial"/>
              </a:rPr>
              <a:t>suggest </a:t>
            </a:r>
            <a:r>
              <a:rPr sz="1950" spc="135" dirty="0">
                <a:solidFill>
                  <a:srgbClr val="FF0000"/>
                </a:solidFill>
                <a:latin typeface="Arial"/>
                <a:cs typeface="Arial"/>
              </a:rPr>
              <a:t>refinements</a:t>
            </a:r>
            <a:r>
              <a:rPr sz="1950" spc="720" dirty="0">
                <a:solidFill>
                  <a:srgbClr val="FF0000"/>
                </a:solidFill>
                <a:latin typeface="Arial"/>
                <a:cs typeface="Arial"/>
              </a:rPr>
              <a:t> </a:t>
            </a:r>
            <a:r>
              <a:rPr sz="1950" spc="235" dirty="0">
                <a:solidFill>
                  <a:srgbClr val="FF0000"/>
                </a:solidFill>
                <a:latin typeface="Arial"/>
                <a:cs typeface="Arial"/>
              </a:rPr>
              <a:t>(CEGAR)</a:t>
            </a:r>
            <a:endParaRPr sz="1950">
              <a:latin typeface="Arial"/>
              <a:cs typeface="Arial"/>
            </a:endParaRPr>
          </a:p>
          <a:p>
            <a:pPr marL="1056640" marR="29845" indent="-288925">
              <a:lnSpc>
                <a:spcPct val="124000"/>
              </a:lnSpc>
              <a:spcBef>
                <a:spcPts val="150"/>
              </a:spcBef>
              <a:tabLst>
                <a:tab pos="1056640" algn="l"/>
                <a:tab pos="6682740" algn="l"/>
              </a:tabLst>
            </a:pPr>
            <a:r>
              <a:rPr sz="2050" i="1" spc="-620" dirty="0">
                <a:solidFill>
                  <a:srgbClr val="231F20"/>
                </a:solidFill>
                <a:latin typeface="Meiryo"/>
                <a:cs typeface="Meiryo"/>
              </a:rPr>
              <a:t>⋆	</a:t>
            </a:r>
            <a:r>
              <a:rPr sz="1950" spc="295" dirty="0">
                <a:solidFill>
                  <a:srgbClr val="231F20"/>
                </a:solidFill>
                <a:latin typeface="Arial"/>
                <a:cs typeface="Arial"/>
              </a:rPr>
              <a:t>A </a:t>
            </a:r>
            <a:r>
              <a:rPr sz="1950" spc="100" dirty="0">
                <a:solidFill>
                  <a:srgbClr val="231F20"/>
                </a:solidFill>
                <a:latin typeface="Arial"/>
                <a:cs typeface="Arial"/>
              </a:rPr>
              <a:t>general  </a:t>
            </a:r>
            <a:r>
              <a:rPr sz="1950" spc="125" dirty="0">
                <a:solidFill>
                  <a:srgbClr val="231F20"/>
                </a:solidFill>
                <a:latin typeface="Arial"/>
                <a:cs typeface="Arial"/>
              </a:rPr>
              <a:t>approach  </a:t>
            </a:r>
            <a:r>
              <a:rPr sz="1950" spc="120" dirty="0">
                <a:solidFill>
                  <a:srgbClr val="231F20"/>
                </a:solidFill>
                <a:latin typeface="Arial"/>
                <a:cs typeface="Arial"/>
              </a:rPr>
              <a:t>can  </a:t>
            </a:r>
            <a:r>
              <a:rPr sz="1950" spc="114" dirty="0">
                <a:solidFill>
                  <a:srgbClr val="231F20"/>
                </a:solidFill>
                <a:latin typeface="Arial"/>
                <a:cs typeface="Arial"/>
              </a:rPr>
              <a:t>be</a:t>
            </a:r>
            <a:r>
              <a:rPr sz="1950" spc="-155" dirty="0">
                <a:solidFill>
                  <a:srgbClr val="231F20"/>
                </a:solidFill>
                <a:latin typeface="Arial"/>
                <a:cs typeface="Arial"/>
              </a:rPr>
              <a:t> </a:t>
            </a:r>
            <a:r>
              <a:rPr sz="1950" spc="95" dirty="0">
                <a:solidFill>
                  <a:srgbClr val="231F20"/>
                </a:solidFill>
                <a:latin typeface="Arial"/>
                <a:cs typeface="Arial"/>
              </a:rPr>
              <a:t>discerned</a:t>
            </a:r>
            <a:r>
              <a:rPr sz="1950" spc="490" dirty="0">
                <a:solidFill>
                  <a:srgbClr val="231F20"/>
                </a:solidFill>
                <a:latin typeface="Arial"/>
                <a:cs typeface="Arial"/>
              </a:rPr>
              <a:t> </a:t>
            </a:r>
            <a:r>
              <a:rPr sz="1950" spc="100" dirty="0">
                <a:solidFill>
                  <a:srgbClr val="231F20"/>
                </a:solidFill>
                <a:latin typeface="Arial"/>
                <a:cs typeface="Arial"/>
              </a:rPr>
              <a:t>here:	</a:t>
            </a:r>
            <a:r>
              <a:rPr sz="1950" spc="160" dirty="0">
                <a:solidFill>
                  <a:srgbClr val="231F20"/>
                </a:solidFill>
                <a:latin typeface="Arial"/>
                <a:cs typeface="Arial"/>
              </a:rPr>
              <a:t>find</a:t>
            </a:r>
            <a:r>
              <a:rPr sz="1950" spc="200" dirty="0">
                <a:solidFill>
                  <a:srgbClr val="231F20"/>
                </a:solidFill>
                <a:latin typeface="Arial"/>
                <a:cs typeface="Arial"/>
              </a:rPr>
              <a:t> </a:t>
            </a:r>
            <a:r>
              <a:rPr sz="1950" spc="145" dirty="0">
                <a:solidFill>
                  <a:srgbClr val="231F20"/>
                </a:solidFill>
                <a:latin typeface="Arial"/>
                <a:cs typeface="Arial"/>
              </a:rPr>
              <a:t>quick </a:t>
            </a:r>
            <a:r>
              <a:rPr sz="1950" spc="105" dirty="0">
                <a:solidFill>
                  <a:srgbClr val="231F20"/>
                </a:solidFill>
                <a:latin typeface="Arial"/>
                <a:cs typeface="Arial"/>
              </a:rPr>
              <a:t> </a:t>
            </a:r>
            <a:r>
              <a:rPr sz="1950" spc="125" dirty="0">
                <a:solidFill>
                  <a:srgbClr val="231F20"/>
                </a:solidFill>
                <a:latin typeface="Arial"/>
                <a:cs typeface="Arial"/>
              </a:rPr>
              <a:t>solutions </a:t>
            </a:r>
            <a:r>
              <a:rPr sz="1950" spc="130" dirty="0">
                <a:solidFill>
                  <a:srgbClr val="231F20"/>
                </a:solidFill>
                <a:latin typeface="Arial"/>
                <a:cs typeface="Arial"/>
              </a:rPr>
              <a:t>and </a:t>
            </a:r>
            <a:r>
              <a:rPr sz="1950" spc="150" dirty="0">
                <a:solidFill>
                  <a:srgbClr val="231F20"/>
                </a:solidFill>
                <a:latin typeface="Arial"/>
                <a:cs typeface="Arial"/>
              </a:rPr>
              <a:t>fix </a:t>
            </a:r>
            <a:r>
              <a:rPr sz="1950" spc="204" dirty="0">
                <a:solidFill>
                  <a:srgbClr val="231F20"/>
                </a:solidFill>
                <a:latin typeface="Arial"/>
                <a:cs typeface="Arial"/>
              </a:rPr>
              <a:t>them </a:t>
            </a:r>
            <a:r>
              <a:rPr sz="1950" spc="150" dirty="0">
                <a:solidFill>
                  <a:srgbClr val="231F20"/>
                </a:solidFill>
                <a:latin typeface="Arial"/>
                <a:cs typeface="Arial"/>
              </a:rPr>
              <a:t>up, </a:t>
            </a:r>
            <a:r>
              <a:rPr sz="1950" spc="155" dirty="0">
                <a:solidFill>
                  <a:srgbClr val="231F20"/>
                </a:solidFill>
                <a:latin typeface="Arial"/>
                <a:cs typeface="Arial"/>
              </a:rPr>
              <a:t>rather </a:t>
            </a:r>
            <a:r>
              <a:rPr sz="1950" spc="185" dirty="0">
                <a:solidFill>
                  <a:srgbClr val="231F20"/>
                </a:solidFill>
                <a:latin typeface="Arial"/>
                <a:cs typeface="Arial"/>
              </a:rPr>
              <a:t>than </a:t>
            </a:r>
            <a:r>
              <a:rPr sz="1950" spc="125" dirty="0">
                <a:solidFill>
                  <a:srgbClr val="231F20"/>
                </a:solidFill>
                <a:latin typeface="Arial"/>
                <a:cs typeface="Arial"/>
              </a:rPr>
              <a:t>deliberate </a:t>
            </a:r>
            <a:r>
              <a:rPr sz="1950" spc="130" dirty="0">
                <a:solidFill>
                  <a:srgbClr val="231F20"/>
                </a:solidFill>
                <a:latin typeface="Arial"/>
                <a:cs typeface="Arial"/>
              </a:rPr>
              <a:t>in  </a:t>
            </a:r>
            <a:r>
              <a:rPr sz="1950" spc="135" dirty="0">
                <a:solidFill>
                  <a:srgbClr val="231F20"/>
                </a:solidFill>
                <a:latin typeface="Arial"/>
                <a:cs typeface="Arial"/>
              </a:rPr>
              <a:t>hope </a:t>
            </a:r>
            <a:r>
              <a:rPr sz="1950" spc="185" dirty="0">
                <a:solidFill>
                  <a:srgbClr val="231F20"/>
                </a:solidFill>
                <a:latin typeface="Arial"/>
                <a:cs typeface="Arial"/>
              </a:rPr>
              <a:t>of </a:t>
            </a:r>
            <a:r>
              <a:rPr sz="1950" spc="150" dirty="0">
                <a:solidFill>
                  <a:srgbClr val="231F20"/>
                </a:solidFill>
                <a:latin typeface="Arial"/>
                <a:cs typeface="Arial"/>
              </a:rPr>
              <a:t>finding </a:t>
            </a:r>
            <a:r>
              <a:rPr sz="1950" spc="185" dirty="0">
                <a:solidFill>
                  <a:srgbClr val="231F20"/>
                </a:solidFill>
                <a:latin typeface="Arial"/>
                <a:cs typeface="Arial"/>
              </a:rPr>
              <a:t>good</a:t>
            </a:r>
            <a:r>
              <a:rPr sz="1950" spc="620" dirty="0">
                <a:solidFill>
                  <a:srgbClr val="231F20"/>
                </a:solidFill>
                <a:latin typeface="Arial"/>
                <a:cs typeface="Arial"/>
              </a:rPr>
              <a:t> </a:t>
            </a:r>
            <a:r>
              <a:rPr sz="1950" spc="125" dirty="0">
                <a:solidFill>
                  <a:srgbClr val="231F20"/>
                </a:solidFill>
                <a:latin typeface="Arial"/>
                <a:cs typeface="Arial"/>
              </a:rPr>
              <a:t>solutions</a:t>
            </a:r>
            <a:endParaRPr sz="1950">
              <a:latin typeface="Arial"/>
              <a:cs typeface="Arial"/>
            </a:endParaRPr>
          </a:p>
          <a:p>
            <a:pPr marL="300990">
              <a:lnSpc>
                <a:spcPct val="100000"/>
              </a:lnSpc>
              <a:spcBef>
                <a:spcPts val="1100"/>
              </a:spcBef>
            </a:pPr>
            <a:r>
              <a:rPr sz="1950" spc="200" dirty="0">
                <a:solidFill>
                  <a:srgbClr val="231F20"/>
                </a:solidFill>
                <a:latin typeface="Arial"/>
                <a:cs typeface="Arial"/>
              </a:rPr>
              <a:t>And </a:t>
            </a:r>
            <a:r>
              <a:rPr sz="1950" spc="175" dirty="0">
                <a:solidFill>
                  <a:srgbClr val="231F20"/>
                </a:solidFill>
                <a:latin typeface="Arial"/>
                <a:cs typeface="Arial"/>
              </a:rPr>
              <a:t>the </a:t>
            </a:r>
            <a:r>
              <a:rPr sz="1950" spc="130" dirty="0">
                <a:solidFill>
                  <a:srgbClr val="231F20"/>
                </a:solidFill>
                <a:latin typeface="Arial"/>
                <a:cs typeface="Arial"/>
              </a:rPr>
              <a:t>deductive power</a:t>
            </a:r>
            <a:r>
              <a:rPr sz="1950" spc="605" dirty="0">
                <a:solidFill>
                  <a:srgbClr val="231F20"/>
                </a:solidFill>
                <a:latin typeface="Arial"/>
                <a:cs typeface="Arial"/>
              </a:rPr>
              <a:t> </a:t>
            </a:r>
            <a:r>
              <a:rPr sz="1950" spc="110" dirty="0">
                <a:solidFill>
                  <a:srgbClr val="231F20"/>
                </a:solidFill>
                <a:latin typeface="Arial"/>
                <a:cs typeface="Arial"/>
              </a:rPr>
              <a:t>applied</a:t>
            </a:r>
            <a:endParaRPr sz="1950">
              <a:latin typeface="Arial"/>
              <a:cs typeface="Arial"/>
            </a:endParaRPr>
          </a:p>
          <a:p>
            <a:pPr marL="741680" lvl="1" indent="-288290">
              <a:lnSpc>
                <a:spcPct val="100000"/>
              </a:lnSpc>
              <a:spcBef>
                <a:spcPts val="1100"/>
              </a:spcBef>
              <a:buClr>
                <a:srgbClr val="231F20"/>
              </a:buClr>
              <a:buSzPct val="105128"/>
              <a:buFont typeface="Lucida Sans Unicode"/>
              <a:buChar char="◦"/>
              <a:tabLst>
                <a:tab pos="742315" algn="l"/>
              </a:tabLst>
            </a:pPr>
            <a:r>
              <a:rPr sz="1950" spc="195" dirty="0">
                <a:solidFill>
                  <a:srgbClr val="0000FF"/>
                </a:solidFill>
                <a:latin typeface="Arial"/>
                <a:cs typeface="Arial"/>
              </a:rPr>
              <a:t>Which </a:t>
            </a:r>
            <a:r>
              <a:rPr sz="1950" spc="145" dirty="0">
                <a:solidFill>
                  <a:srgbClr val="0000FF"/>
                </a:solidFill>
                <a:latin typeface="Arial"/>
                <a:cs typeface="Arial"/>
              </a:rPr>
              <a:t>may </a:t>
            </a:r>
            <a:r>
              <a:rPr sz="1950" spc="80" dirty="0">
                <a:solidFill>
                  <a:srgbClr val="0000FF"/>
                </a:solidFill>
                <a:latin typeface="Arial"/>
                <a:cs typeface="Arial"/>
              </a:rPr>
              <a:t>increase </a:t>
            </a:r>
            <a:r>
              <a:rPr sz="1950" spc="160" dirty="0">
                <a:solidFill>
                  <a:srgbClr val="0000FF"/>
                </a:solidFill>
                <a:latin typeface="Arial"/>
                <a:cs typeface="Arial"/>
              </a:rPr>
              <a:t>if </a:t>
            </a:r>
            <a:r>
              <a:rPr sz="1950" spc="120" dirty="0">
                <a:solidFill>
                  <a:srgbClr val="0000FF"/>
                </a:solidFill>
                <a:latin typeface="Arial"/>
                <a:cs typeface="Arial"/>
              </a:rPr>
              <a:t>provided </a:t>
            </a:r>
            <a:r>
              <a:rPr sz="1950" spc="215" dirty="0">
                <a:solidFill>
                  <a:srgbClr val="0000FF"/>
                </a:solidFill>
                <a:latin typeface="Arial"/>
                <a:cs typeface="Arial"/>
              </a:rPr>
              <a:t>with </a:t>
            </a:r>
            <a:r>
              <a:rPr sz="1950" spc="165" dirty="0">
                <a:solidFill>
                  <a:srgbClr val="0000FF"/>
                </a:solidFill>
                <a:latin typeface="Arial"/>
                <a:cs typeface="Arial"/>
              </a:rPr>
              <a:t>known </a:t>
            </a:r>
            <a:r>
              <a:rPr sz="1950" spc="345" dirty="0">
                <a:solidFill>
                  <a:srgbClr val="0000FF"/>
                </a:solidFill>
                <a:latin typeface="Arial"/>
                <a:cs typeface="Arial"/>
              </a:rPr>
              <a:t> </a:t>
            </a:r>
            <a:r>
              <a:rPr sz="1950" spc="125" dirty="0">
                <a:solidFill>
                  <a:srgbClr val="0000FF"/>
                </a:solidFill>
                <a:latin typeface="Arial"/>
                <a:cs typeface="Arial"/>
              </a:rPr>
              <a:t>invariants</a:t>
            </a:r>
            <a:endParaRPr sz="1950">
              <a:latin typeface="Arial"/>
              <a:cs typeface="Arial"/>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7870825" cy="5838825"/>
          </a:xfrm>
          <a:prstGeom prst="rect">
            <a:avLst/>
          </a:prstGeom>
        </p:spPr>
        <p:txBody>
          <a:bodyPr vert="horz" wrap="square" lIns="0" tIns="0" rIns="0" bIns="0" rtlCol="0">
            <a:spAutoFit/>
          </a:bodyPr>
          <a:lstStyle/>
          <a:p>
            <a:pPr marL="1655445">
              <a:lnSpc>
                <a:spcPct val="100000"/>
              </a:lnSpc>
            </a:pPr>
            <a:r>
              <a:rPr sz="1950" spc="285" dirty="0">
                <a:solidFill>
                  <a:srgbClr val="231F20"/>
                </a:solidFill>
                <a:latin typeface="Arial"/>
                <a:cs typeface="Arial"/>
              </a:rPr>
              <a:t>Truly </a:t>
            </a:r>
            <a:r>
              <a:rPr sz="1950" spc="254" dirty="0">
                <a:solidFill>
                  <a:srgbClr val="231F20"/>
                </a:solidFill>
                <a:latin typeface="Arial"/>
                <a:cs typeface="Arial"/>
              </a:rPr>
              <a:t>Integrated, Iterated</a:t>
            </a:r>
            <a:r>
              <a:rPr sz="1950" spc="535" dirty="0">
                <a:solidFill>
                  <a:srgbClr val="231F20"/>
                </a:solidFill>
                <a:latin typeface="Arial"/>
                <a:cs typeface="Arial"/>
              </a:rPr>
              <a:t> </a:t>
            </a:r>
            <a:r>
              <a:rPr sz="1950" spc="200" dirty="0">
                <a:solidFill>
                  <a:srgbClr val="231F20"/>
                </a:solidFill>
                <a:latin typeface="Arial"/>
                <a:cs typeface="Arial"/>
              </a:rPr>
              <a:t>Analysis!</a:t>
            </a:r>
            <a:endParaRPr sz="1950">
              <a:latin typeface="Arial"/>
              <a:cs typeface="Arial"/>
            </a:endParaRPr>
          </a:p>
          <a:p>
            <a:pPr marL="300990" marR="387350" indent="-288290">
              <a:lnSpc>
                <a:spcPct val="125000"/>
              </a:lnSpc>
              <a:spcBef>
                <a:spcPts val="1305"/>
              </a:spcBef>
              <a:buClr>
                <a:srgbClr val="231F20"/>
              </a:buClr>
              <a:buSzPct val="105128"/>
              <a:buFont typeface="Lucida Sans Unicode"/>
              <a:buChar char="•"/>
              <a:tabLst>
                <a:tab pos="301625" algn="l"/>
              </a:tabLst>
            </a:pPr>
            <a:r>
              <a:rPr sz="1950" spc="125" dirty="0">
                <a:solidFill>
                  <a:srgbClr val="FF0000"/>
                </a:solidFill>
                <a:latin typeface="Arial"/>
                <a:cs typeface="Arial"/>
              </a:rPr>
              <a:t>Recast </a:t>
            </a:r>
            <a:r>
              <a:rPr sz="1950" spc="175" dirty="0">
                <a:solidFill>
                  <a:srgbClr val="FF0000"/>
                </a:solidFill>
                <a:latin typeface="Arial"/>
                <a:cs typeface="Arial"/>
              </a:rPr>
              <a:t>the </a:t>
            </a:r>
            <a:r>
              <a:rPr sz="1950" spc="125" dirty="0">
                <a:solidFill>
                  <a:srgbClr val="FF0000"/>
                </a:solidFill>
                <a:latin typeface="Arial"/>
                <a:cs typeface="Arial"/>
              </a:rPr>
              <a:t>goal </a:t>
            </a:r>
            <a:r>
              <a:rPr sz="1950" spc="30" dirty="0">
                <a:solidFill>
                  <a:srgbClr val="FF0000"/>
                </a:solidFill>
                <a:latin typeface="Arial"/>
                <a:cs typeface="Arial"/>
              </a:rPr>
              <a:t>as </a:t>
            </a:r>
            <a:r>
              <a:rPr sz="1950" spc="105" dirty="0">
                <a:solidFill>
                  <a:srgbClr val="FF0000"/>
                </a:solidFill>
                <a:latin typeface="Arial"/>
                <a:cs typeface="Arial"/>
              </a:rPr>
              <a:t>one </a:t>
            </a:r>
            <a:r>
              <a:rPr sz="1950" spc="185" dirty="0">
                <a:solidFill>
                  <a:srgbClr val="FF0000"/>
                </a:solidFill>
                <a:latin typeface="Arial"/>
                <a:cs typeface="Arial"/>
              </a:rPr>
              <a:t>of </a:t>
            </a:r>
            <a:r>
              <a:rPr sz="1950" spc="140" dirty="0">
                <a:solidFill>
                  <a:srgbClr val="FF0000"/>
                </a:solidFill>
                <a:latin typeface="Arial"/>
                <a:cs typeface="Arial"/>
              </a:rPr>
              <a:t>calculating </a:t>
            </a:r>
            <a:r>
              <a:rPr sz="1950" spc="130" dirty="0">
                <a:solidFill>
                  <a:srgbClr val="FF0000"/>
                </a:solidFill>
                <a:latin typeface="Arial"/>
                <a:cs typeface="Arial"/>
              </a:rPr>
              <a:t>and </a:t>
            </a:r>
            <a:r>
              <a:rPr sz="1950" spc="160" dirty="0">
                <a:solidFill>
                  <a:srgbClr val="FF0000"/>
                </a:solidFill>
                <a:latin typeface="Arial"/>
                <a:cs typeface="Arial"/>
              </a:rPr>
              <a:t>accumulating  </a:t>
            </a:r>
            <a:r>
              <a:rPr sz="1950" spc="125" dirty="0">
                <a:solidFill>
                  <a:srgbClr val="FF0000"/>
                </a:solidFill>
                <a:latin typeface="Arial"/>
                <a:cs typeface="Arial"/>
              </a:rPr>
              <a:t>properties </a:t>
            </a:r>
            <a:r>
              <a:rPr sz="1950" spc="190" dirty="0">
                <a:solidFill>
                  <a:srgbClr val="FF0000"/>
                </a:solidFill>
                <a:latin typeface="Arial"/>
                <a:cs typeface="Arial"/>
              </a:rPr>
              <a:t>about </a:t>
            </a:r>
            <a:r>
              <a:rPr sz="1950" spc="85" dirty="0">
                <a:solidFill>
                  <a:srgbClr val="FF0000"/>
                </a:solidFill>
                <a:latin typeface="Arial"/>
                <a:cs typeface="Arial"/>
              </a:rPr>
              <a:t>a </a:t>
            </a:r>
            <a:r>
              <a:rPr sz="1950" spc="90" dirty="0">
                <a:solidFill>
                  <a:srgbClr val="FF0000"/>
                </a:solidFill>
                <a:latin typeface="Arial"/>
                <a:cs typeface="Arial"/>
              </a:rPr>
              <a:t>design </a:t>
            </a:r>
            <a:r>
              <a:rPr sz="1950" spc="160" dirty="0">
                <a:solidFill>
                  <a:srgbClr val="FF0000"/>
                </a:solidFill>
                <a:latin typeface="Arial"/>
                <a:cs typeface="Arial"/>
              </a:rPr>
              <a:t>(symbolic </a:t>
            </a:r>
            <a:r>
              <a:rPr sz="1950" spc="229" dirty="0">
                <a:solidFill>
                  <a:srgbClr val="FF0000"/>
                </a:solidFill>
                <a:latin typeface="Arial"/>
                <a:cs typeface="Arial"/>
              </a:rPr>
              <a:t> </a:t>
            </a:r>
            <a:r>
              <a:rPr sz="1950" spc="100" dirty="0">
                <a:solidFill>
                  <a:srgbClr val="FF0000"/>
                </a:solidFill>
                <a:latin typeface="Arial"/>
                <a:cs typeface="Arial"/>
              </a:rPr>
              <a:t>analysis)</a:t>
            </a:r>
            <a:endParaRPr sz="1950">
              <a:latin typeface="Arial"/>
              <a:cs typeface="Arial"/>
            </a:endParaRPr>
          </a:p>
          <a:p>
            <a:pPr>
              <a:lnSpc>
                <a:spcPct val="100000"/>
              </a:lnSpc>
              <a:spcBef>
                <a:spcPts val="52"/>
              </a:spcBef>
              <a:buClr>
                <a:srgbClr val="231F20"/>
              </a:buClr>
              <a:buFont typeface="Lucida Sans Unicode"/>
              <a:buChar char="•"/>
            </a:pPr>
            <a:endParaRPr sz="160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65" dirty="0">
                <a:solidFill>
                  <a:srgbClr val="0000FF"/>
                </a:solidFill>
                <a:latin typeface="Arial"/>
                <a:cs typeface="Arial"/>
              </a:rPr>
              <a:t>Rather </a:t>
            </a:r>
            <a:r>
              <a:rPr sz="1950" spc="185" dirty="0">
                <a:solidFill>
                  <a:srgbClr val="0000FF"/>
                </a:solidFill>
                <a:latin typeface="Arial"/>
                <a:cs typeface="Arial"/>
              </a:rPr>
              <a:t>than </a:t>
            </a:r>
            <a:r>
              <a:rPr sz="1950" spc="165" dirty="0">
                <a:solidFill>
                  <a:srgbClr val="0000FF"/>
                </a:solidFill>
                <a:latin typeface="Arial"/>
                <a:cs typeface="Arial"/>
              </a:rPr>
              <a:t>just </a:t>
            </a:r>
            <a:r>
              <a:rPr sz="1950" spc="130" dirty="0">
                <a:solidFill>
                  <a:srgbClr val="0000FF"/>
                </a:solidFill>
                <a:latin typeface="Arial"/>
                <a:cs typeface="Arial"/>
              </a:rPr>
              <a:t>verifying or </a:t>
            </a:r>
            <a:r>
              <a:rPr sz="1950" spc="165" dirty="0">
                <a:solidFill>
                  <a:srgbClr val="0000FF"/>
                </a:solidFill>
                <a:latin typeface="Arial"/>
                <a:cs typeface="Arial"/>
              </a:rPr>
              <a:t>refuting </a:t>
            </a:r>
            <a:r>
              <a:rPr sz="1950" spc="85" dirty="0">
                <a:solidFill>
                  <a:srgbClr val="0000FF"/>
                </a:solidFill>
                <a:latin typeface="Arial"/>
                <a:cs typeface="Arial"/>
              </a:rPr>
              <a:t>a </a:t>
            </a:r>
            <a:r>
              <a:rPr sz="1950" spc="110" dirty="0">
                <a:solidFill>
                  <a:srgbClr val="0000FF"/>
                </a:solidFill>
                <a:latin typeface="Arial"/>
                <a:cs typeface="Arial"/>
              </a:rPr>
              <a:t>specific </a:t>
            </a:r>
            <a:r>
              <a:rPr sz="1950" spc="585" dirty="0">
                <a:solidFill>
                  <a:srgbClr val="0000FF"/>
                </a:solidFill>
                <a:latin typeface="Arial"/>
                <a:cs typeface="Arial"/>
              </a:rPr>
              <a:t> </a:t>
            </a:r>
            <a:r>
              <a:rPr sz="1950" spc="150" dirty="0">
                <a:solidFill>
                  <a:srgbClr val="0000FF"/>
                </a:solidFill>
                <a:latin typeface="Arial"/>
                <a:cs typeface="Arial"/>
              </a:rPr>
              <a:t>property</a:t>
            </a:r>
            <a:endParaRPr sz="1950">
              <a:latin typeface="Arial"/>
              <a:cs typeface="Arial"/>
            </a:endParaRPr>
          </a:p>
          <a:p>
            <a:pPr marL="300990" marR="490855" indent="-288290">
              <a:lnSpc>
                <a:spcPct val="125000"/>
              </a:lnSpc>
              <a:spcBef>
                <a:spcPts val="1305"/>
              </a:spcBef>
              <a:buSzPct val="105128"/>
              <a:buFont typeface="Lucida Sans Unicode"/>
              <a:buChar char="•"/>
              <a:tabLst>
                <a:tab pos="301625" algn="l"/>
              </a:tabLst>
            </a:pPr>
            <a:r>
              <a:rPr sz="1950" spc="140" dirty="0">
                <a:solidFill>
                  <a:srgbClr val="231F20"/>
                </a:solidFill>
                <a:latin typeface="Arial"/>
                <a:cs typeface="Arial"/>
              </a:rPr>
              <a:t>Properties </a:t>
            </a:r>
            <a:r>
              <a:rPr sz="1950" spc="114" dirty="0">
                <a:solidFill>
                  <a:srgbClr val="231F20"/>
                </a:solidFill>
                <a:latin typeface="Arial"/>
                <a:cs typeface="Arial"/>
              </a:rPr>
              <a:t>convey </a:t>
            </a:r>
            <a:r>
              <a:rPr sz="1950" spc="170" dirty="0">
                <a:solidFill>
                  <a:srgbClr val="231F20"/>
                </a:solidFill>
                <a:latin typeface="Arial"/>
                <a:cs typeface="Arial"/>
              </a:rPr>
              <a:t>information </a:t>
            </a:r>
            <a:r>
              <a:rPr sz="1950" spc="130" dirty="0">
                <a:solidFill>
                  <a:srgbClr val="231F20"/>
                </a:solidFill>
                <a:latin typeface="Arial"/>
                <a:cs typeface="Arial"/>
              </a:rPr>
              <a:t>and </a:t>
            </a:r>
            <a:r>
              <a:rPr sz="1950" spc="145" dirty="0">
                <a:solidFill>
                  <a:srgbClr val="231F20"/>
                </a:solidFill>
                <a:latin typeface="Arial"/>
                <a:cs typeface="Arial"/>
              </a:rPr>
              <a:t>insight, </a:t>
            </a:r>
            <a:r>
              <a:rPr sz="1950" spc="130" dirty="0">
                <a:solidFill>
                  <a:srgbClr val="231F20"/>
                </a:solidFill>
                <a:latin typeface="Arial"/>
                <a:cs typeface="Arial"/>
              </a:rPr>
              <a:t>and </a:t>
            </a:r>
            <a:r>
              <a:rPr sz="1950" spc="114" dirty="0">
                <a:solidFill>
                  <a:srgbClr val="231F20"/>
                </a:solidFill>
                <a:latin typeface="Arial"/>
                <a:cs typeface="Arial"/>
              </a:rPr>
              <a:t>provide  </a:t>
            </a:r>
            <a:r>
              <a:rPr sz="1950" spc="85" dirty="0">
                <a:solidFill>
                  <a:srgbClr val="231F20"/>
                </a:solidFill>
                <a:latin typeface="Arial"/>
                <a:cs typeface="Arial"/>
              </a:rPr>
              <a:t>leverage </a:t>
            </a:r>
            <a:r>
              <a:rPr sz="1950" spc="250" dirty="0">
                <a:solidFill>
                  <a:srgbClr val="231F20"/>
                </a:solidFill>
                <a:latin typeface="Arial"/>
                <a:cs typeface="Arial"/>
              </a:rPr>
              <a:t>to </a:t>
            </a:r>
            <a:r>
              <a:rPr sz="1950" spc="170" dirty="0">
                <a:solidFill>
                  <a:srgbClr val="231F20"/>
                </a:solidFill>
                <a:latin typeface="Arial"/>
                <a:cs typeface="Arial"/>
              </a:rPr>
              <a:t>construct </a:t>
            </a:r>
            <a:r>
              <a:rPr sz="1950" spc="135" dirty="0">
                <a:solidFill>
                  <a:srgbClr val="231F20"/>
                </a:solidFill>
                <a:latin typeface="Arial"/>
                <a:cs typeface="Arial"/>
              </a:rPr>
              <a:t>new</a:t>
            </a:r>
            <a:r>
              <a:rPr sz="1950" spc="610" dirty="0">
                <a:solidFill>
                  <a:srgbClr val="231F20"/>
                </a:solidFill>
                <a:latin typeface="Arial"/>
                <a:cs typeface="Arial"/>
              </a:rPr>
              <a:t> </a:t>
            </a:r>
            <a:r>
              <a:rPr sz="1950" spc="140" dirty="0">
                <a:solidFill>
                  <a:srgbClr val="231F20"/>
                </a:solidFill>
                <a:latin typeface="Arial"/>
                <a:cs typeface="Arial"/>
              </a:rPr>
              <a:t>abstractions</a:t>
            </a:r>
            <a:endParaRPr sz="1950">
              <a:latin typeface="Arial"/>
              <a:cs typeface="Arial"/>
            </a:endParaRPr>
          </a:p>
          <a:p>
            <a:pPr marL="741680" lvl="1" indent="-288290">
              <a:lnSpc>
                <a:spcPct val="100000"/>
              </a:lnSpc>
              <a:spcBef>
                <a:spcPts val="1090"/>
              </a:spcBef>
              <a:buSzPct val="105128"/>
              <a:buFont typeface="Lucida Sans Unicode"/>
              <a:buChar char="◦"/>
              <a:tabLst>
                <a:tab pos="742315" algn="l"/>
              </a:tabLst>
            </a:pPr>
            <a:r>
              <a:rPr sz="1950" spc="200" dirty="0">
                <a:solidFill>
                  <a:srgbClr val="231F20"/>
                </a:solidFill>
                <a:latin typeface="Arial"/>
                <a:cs typeface="Arial"/>
              </a:rPr>
              <a:t>And </a:t>
            </a:r>
            <a:r>
              <a:rPr sz="1950" spc="90" dirty="0">
                <a:solidFill>
                  <a:srgbClr val="231F20"/>
                </a:solidFill>
                <a:latin typeface="Arial"/>
                <a:cs typeface="Arial"/>
              </a:rPr>
              <a:t>hence </a:t>
            </a:r>
            <a:r>
              <a:rPr sz="1950" spc="145" dirty="0">
                <a:solidFill>
                  <a:srgbClr val="231F20"/>
                </a:solidFill>
                <a:latin typeface="Arial"/>
                <a:cs typeface="Arial"/>
              </a:rPr>
              <a:t>more</a:t>
            </a:r>
            <a:r>
              <a:rPr sz="1950" spc="495" dirty="0">
                <a:solidFill>
                  <a:srgbClr val="231F20"/>
                </a:solidFill>
                <a:latin typeface="Arial"/>
                <a:cs typeface="Arial"/>
              </a:rPr>
              <a:t> </a:t>
            </a:r>
            <a:r>
              <a:rPr sz="1950" spc="125" dirty="0">
                <a:solidFill>
                  <a:srgbClr val="231F20"/>
                </a:solidFill>
                <a:latin typeface="Arial"/>
                <a:cs typeface="Arial"/>
              </a:rPr>
              <a:t>properties</a:t>
            </a:r>
            <a:endParaRPr sz="1950">
              <a:latin typeface="Arial"/>
              <a:cs typeface="Arial"/>
            </a:endParaRPr>
          </a:p>
          <a:p>
            <a:pPr lvl="1">
              <a:lnSpc>
                <a:spcPct val="100000"/>
              </a:lnSpc>
              <a:spcBef>
                <a:spcPts val="51"/>
              </a:spcBef>
              <a:buClr>
                <a:srgbClr val="231F20"/>
              </a:buClr>
              <a:buFont typeface="Lucida Sans Unicode"/>
              <a:buChar char="◦"/>
            </a:pPr>
            <a:endParaRPr sz="160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00" dirty="0">
                <a:solidFill>
                  <a:srgbClr val="FF0000"/>
                </a:solidFill>
                <a:latin typeface="Arial"/>
                <a:cs typeface="Arial"/>
              </a:rPr>
              <a:t>Requires </a:t>
            </a:r>
            <a:r>
              <a:rPr sz="1950" spc="155" dirty="0">
                <a:solidFill>
                  <a:srgbClr val="FF0000"/>
                </a:solidFill>
                <a:latin typeface="Arial"/>
                <a:cs typeface="Arial"/>
              </a:rPr>
              <a:t>restructuring </a:t>
            </a:r>
            <a:r>
              <a:rPr sz="1950" spc="185" dirty="0">
                <a:solidFill>
                  <a:srgbClr val="FF0000"/>
                </a:solidFill>
                <a:latin typeface="Arial"/>
                <a:cs typeface="Arial"/>
              </a:rPr>
              <a:t>of </a:t>
            </a:r>
            <a:r>
              <a:rPr sz="1950" spc="145" dirty="0">
                <a:solidFill>
                  <a:srgbClr val="FF0000"/>
                </a:solidFill>
                <a:latin typeface="Arial"/>
                <a:cs typeface="Arial"/>
              </a:rPr>
              <a:t>verification</a:t>
            </a:r>
            <a:r>
              <a:rPr sz="1950" spc="665" dirty="0">
                <a:solidFill>
                  <a:srgbClr val="FF0000"/>
                </a:solidFill>
                <a:latin typeface="Arial"/>
                <a:cs typeface="Arial"/>
              </a:rPr>
              <a:t> </a:t>
            </a:r>
            <a:r>
              <a:rPr sz="1950" spc="160" dirty="0">
                <a:solidFill>
                  <a:srgbClr val="FF0000"/>
                </a:solidFill>
                <a:latin typeface="Arial"/>
                <a:cs typeface="Arial"/>
              </a:rPr>
              <a:t>tools</a:t>
            </a:r>
            <a:endParaRPr sz="1950">
              <a:latin typeface="Arial"/>
              <a:cs typeface="Arial"/>
            </a:endParaRPr>
          </a:p>
          <a:p>
            <a:pPr marL="741680" lvl="1" indent="-288290">
              <a:lnSpc>
                <a:spcPct val="100000"/>
              </a:lnSpc>
              <a:spcBef>
                <a:spcPts val="1090"/>
              </a:spcBef>
              <a:buClr>
                <a:srgbClr val="231F20"/>
              </a:buClr>
              <a:buSzPct val="105128"/>
              <a:buFont typeface="Lucida Sans Unicode"/>
              <a:buChar char="◦"/>
              <a:tabLst>
                <a:tab pos="742315" algn="l"/>
              </a:tabLst>
            </a:pPr>
            <a:r>
              <a:rPr sz="1950" spc="114" dirty="0">
                <a:solidFill>
                  <a:srgbClr val="0000FF"/>
                </a:solidFill>
                <a:latin typeface="Arial"/>
                <a:cs typeface="Arial"/>
              </a:rPr>
              <a:t>So </a:t>
            </a:r>
            <a:r>
              <a:rPr sz="1950" spc="235" dirty="0">
                <a:solidFill>
                  <a:srgbClr val="0000FF"/>
                </a:solidFill>
                <a:latin typeface="Arial"/>
                <a:cs typeface="Arial"/>
              </a:rPr>
              <a:t>that </a:t>
            </a:r>
            <a:r>
              <a:rPr sz="1950" spc="165" dirty="0">
                <a:solidFill>
                  <a:srgbClr val="0000FF"/>
                </a:solidFill>
                <a:latin typeface="Arial"/>
                <a:cs typeface="Arial"/>
              </a:rPr>
              <a:t>many </a:t>
            </a:r>
            <a:r>
              <a:rPr sz="1950" spc="155" dirty="0">
                <a:solidFill>
                  <a:srgbClr val="0000FF"/>
                </a:solidFill>
                <a:latin typeface="Arial"/>
                <a:cs typeface="Arial"/>
              </a:rPr>
              <a:t>work</a:t>
            </a:r>
            <a:r>
              <a:rPr sz="1950" spc="555" dirty="0">
                <a:solidFill>
                  <a:srgbClr val="0000FF"/>
                </a:solidFill>
                <a:latin typeface="Arial"/>
                <a:cs typeface="Arial"/>
              </a:rPr>
              <a:t> </a:t>
            </a:r>
            <a:r>
              <a:rPr sz="1950" spc="170" dirty="0">
                <a:solidFill>
                  <a:srgbClr val="0000FF"/>
                </a:solidFill>
                <a:latin typeface="Arial"/>
                <a:cs typeface="Arial"/>
              </a:rPr>
              <a:t>together</a:t>
            </a:r>
            <a:endParaRPr sz="1950">
              <a:latin typeface="Arial"/>
              <a:cs typeface="Arial"/>
            </a:endParaRPr>
          </a:p>
          <a:p>
            <a:pPr marL="741680" marR="5080" lvl="1" indent="-288290">
              <a:lnSpc>
                <a:spcPct val="125000"/>
              </a:lnSpc>
              <a:spcBef>
                <a:spcPts val="250"/>
              </a:spcBef>
              <a:buClr>
                <a:srgbClr val="231F20"/>
              </a:buClr>
              <a:buSzPct val="105128"/>
              <a:buFont typeface="Lucida Sans Unicode"/>
              <a:buChar char="◦"/>
              <a:tabLst>
                <a:tab pos="742315" algn="l"/>
              </a:tabLst>
            </a:pPr>
            <a:r>
              <a:rPr sz="1950" spc="200" dirty="0">
                <a:solidFill>
                  <a:srgbClr val="0000FF"/>
                </a:solidFill>
                <a:latin typeface="Arial"/>
                <a:cs typeface="Arial"/>
              </a:rPr>
              <a:t>And </a:t>
            </a:r>
            <a:r>
              <a:rPr sz="1950" spc="65" dirty="0">
                <a:solidFill>
                  <a:srgbClr val="0000FF"/>
                </a:solidFill>
                <a:latin typeface="Arial"/>
                <a:cs typeface="Arial"/>
              </a:rPr>
              <a:t>so </a:t>
            </a:r>
            <a:r>
              <a:rPr sz="1950" spc="235" dirty="0">
                <a:solidFill>
                  <a:srgbClr val="0000FF"/>
                </a:solidFill>
                <a:latin typeface="Arial"/>
                <a:cs typeface="Arial"/>
              </a:rPr>
              <a:t>that </a:t>
            </a:r>
            <a:r>
              <a:rPr sz="1950" spc="160" dirty="0">
                <a:solidFill>
                  <a:srgbClr val="0000FF"/>
                </a:solidFill>
                <a:latin typeface="Arial"/>
                <a:cs typeface="Arial"/>
              </a:rPr>
              <a:t>they </a:t>
            </a:r>
            <a:r>
              <a:rPr sz="1950" spc="170" dirty="0">
                <a:solidFill>
                  <a:srgbClr val="0000FF"/>
                </a:solidFill>
                <a:latin typeface="Arial"/>
                <a:cs typeface="Arial"/>
              </a:rPr>
              <a:t>return </a:t>
            </a:r>
            <a:r>
              <a:rPr sz="1950" spc="140" dirty="0">
                <a:solidFill>
                  <a:srgbClr val="0000FF"/>
                </a:solidFill>
                <a:latin typeface="Arial"/>
                <a:cs typeface="Arial"/>
              </a:rPr>
              <a:t>symbolic </a:t>
            </a:r>
            <a:r>
              <a:rPr sz="1950" spc="75" dirty="0">
                <a:solidFill>
                  <a:srgbClr val="0000FF"/>
                </a:solidFill>
                <a:latin typeface="Arial"/>
                <a:cs typeface="Arial"/>
              </a:rPr>
              <a:t>values </a:t>
            </a:r>
            <a:r>
              <a:rPr sz="1950" spc="130" dirty="0">
                <a:solidFill>
                  <a:srgbClr val="0000FF"/>
                </a:solidFill>
                <a:latin typeface="Arial"/>
                <a:cs typeface="Arial"/>
              </a:rPr>
              <a:t>and </a:t>
            </a:r>
            <a:r>
              <a:rPr sz="1950" spc="125" dirty="0">
                <a:solidFill>
                  <a:srgbClr val="0000FF"/>
                </a:solidFill>
                <a:latin typeface="Arial"/>
                <a:cs typeface="Arial"/>
              </a:rPr>
              <a:t>properties  </a:t>
            </a:r>
            <a:r>
              <a:rPr sz="1950" spc="155" dirty="0">
                <a:solidFill>
                  <a:srgbClr val="0000FF"/>
                </a:solidFill>
                <a:latin typeface="Arial"/>
                <a:cs typeface="Arial"/>
              </a:rPr>
              <a:t>rather </a:t>
            </a:r>
            <a:r>
              <a:rPr sz="1950" spc="185" dirty="0">
                <a:solidFill>
                  <a:srgbClr val="0000FF"/>
                </a:solidFill>
                <a:latin typeface="Arial"/>
                <a:cs typeface="Arial"/>
              </a:rPr>
              <a:t>than </a:t>
            </a:r>
            <a:r>
              <a:rPr sz="1950" spc="165" dirty="0">
                <a:solidFill>
                  <a:srgbClr val="0000FF"/>
                </a:solidFill>
                <a:latin typeface="Arial"/>
                <a:cs typeface="Arial"/>
              </a:rPr>
              <a:t>just </a:t>
            </a:r>
            <a:r>
              <a:rPr sz="1950" spc="175" dirty="0">
                <a:solidFill>
                  <a:srgbClr val="0000FF"/>
                </a:solidFill>
                <a:latin typeface="Arial"/>
                <a:cs typeface="Arial"/>
              </a:rPr>
              <a:t>yes/no </a:t>
            </a:r>
            <a:r>
              <a:rPr sz="1950" spc="105" dirty="0">
                <a:solidFill>
                  <a:srgbClr val="0000FF"/>
                </a:solidFill>
                <a:latin typeface="Arial"/>
                <a:cs typeface="Arial"/>
              </a:rPr>
              <a:t>results </a:t>
            </a:r>
            <a:r>
              <a:rPr sz="1950" spc="185" dirty="0">
                <a:solidFill>
                  <a:srgbClr val="0000FF"/>
                </a:solidFill>
                <a:latin typeface="Arial"/>
                <a:cs typeface="Arial"/>
              </a:rPr>
              <a:t>of</a:t>
            </a:r>
            <a:r>
              <a:rPr sz="1950" spc="910" dirty="0">
                <a:solidFill>
                  <a:srgbClr val="0000FF"/>
                </a:solidFill>
                <a:latin typeface="Arial"/>
                <a:cs typeface="Arial"/>
              </a:rPr>
              <a:t> </a:t>
            </a:r>
            <a:r>
              <a:rPr sz="1950" spc="130" dirty="0">
                <a:solidFill>
                  <a:srgbClr val="0000FF"/>
                </a:solidFill>
                <a:latin typeface="Arial"/>
                <a:cs typeface="Arial"/>
              </a:rPr>
              <a:t>verifications</a:t>
            </a:r>
            <a:endParaRPr sz="1950">
              <a:latin typeface="Arial"/>
              <a:cs typeface="Arial"/>
            </a:endParaRPr>
          </a:p>
          <a:p>
            <a:pPr lvl="1">
              <a:lnSpc>
                <a:spcPct val="100000"/>
              </a:lnSpc>
              <a:spcBef>
                <a:spcPts val="51"/>
              </a:spcBef>
              <a:buClr>
                <a:srgbClr val="231F20"/>
              </a:buClr>
              <a:buFont typeface="Lucida Sans Unicode"/>
              <a:buChar char="◦"/>
            </a:pPr>
            <a:endParaRPr sz="1600">
              <a:latin typeface="Times New Roman"/>
              <a:cs typeface="Times New Roman"/>
            </a:endParaRPr>
          </a:p>
          <a:p>
            <a:pPr marL="300990" indent="-288290">
              <a:lnSpc>
                <a:spcPct val="100000"/>
              </a:lnSpc>
              <a:buSzPct val="105128"/>
              <a:buFont typeface="Lucida Sans Unicode"/>
              <a:buChar char="•"/>
              <a:tabLst>
                <a:tab pos="301625" algn="l"/>
                <a:tab pos="3938270" algn="l"/>
              </a:tabLst>
            </a:pPr>
            <a:r>
              <a:rPr sz="1950" spc="204" dirty="0">
                <a:solidFill>
                  <a:srgbClr val="231F20"/>
                </a:solidFill>
                <a:latin typeface="Arial"/>
                <a:cs typeface="Arial"/>
              </a:rPr>
              <a:t>This </a:t>
            </a:r>
            <a:r>
              <a:rPr sz="1950" spc="40" dirty="0">
                <a:solidFill>
                  <a:srgbClr val="231F20"/>
                </a:solidFill>
                <a:latin typeface="Arial"/>
                <a:cs typeface="Arial"/>
              </a:rPr>
              <a:t>is  </a:t>
            </a:r>
            <a:r>
              <a:rPr sz="1950" spc="204" dirty="0">
                <a:solidFill>
                  <a:srgbClr val="231F20"/>
                </a:solidFill>
                <a:latin typeface="Arial"/>
                <a:cs typeface="Arial"/>
              </a:rPr>
              <a:t>what </a:t>
            </a:r>
            <a:r>
              <a:rPr sz="1950" spc="225" dirty="0">
                <a:solidFill>
                  <a:srgbClr val="FF0000"/>
                </a:solidFill>
                <a:latin typeface="Arial"/>
                <a:cs typeface="Arial"/>
              </a:rPr>
              <a:t>SAL </a:t>
            </a:r>
            <a:r>
              <a:rPr sz="1950" spc="270" dirty="0">
                <a:solidFill>
                  <a:srgbClr val="FF0000"/>
                </a:solidFill>
                <a:latin typeface="Arial"/>
                <a:cs typeface="Arial"/>
              </a:rPr>
              <a:t> </a:t>
            </a:r>
            <a:r>
              <a:rPr sz="1950" spc="40" dirty="0">
                <a:solidFill>
                  <a:srgbClr val="231F20"/>
                </a:solidFill>
                <a:latin typeface="Arial"/>
                <a:cs typeface="Arial"/>
              </a:rPr>
              <a:t>is</a:t>
            </a:r>
            <a:r>
              <a:rPr sz="1950" spc="515" dirty="0">
                <a:solidFill>
                  <a:srgbClr val="231F20"/>
                </a:solidFill>
                <a:latin typeface="Arial"/>
                <a:cs typeface="Arial"/>
              </a:rPr>
              <a:t> </a:t>
            </a:r>
            <a:r>
              <a:rPr sz="1950" spc="185" dirty="0">
                <a:solidFill>
                  <a:srgbClr val="231F20"/>
                </a:solidFill>
                <a:latin typeface="Arial"/>
                <a:cs typeface="Arial"/>
              </a:rPr>
              <a:t>about:	</a:t>
            </a:r>
            <a:r>
              <a:rPr sz="1950" spc="150" dirty="0">
                <a:solidFill>
                  <a:srgbClr val="FF0000"/>
                </a:solidFill>
                <a:latin typeface="Arial"/>
                <a:cs typeface="Arial"/>
              </a:rPr>
              <a:t>Symbolic </a:t>
            </a:r>
            <a:r>
              <a:rPr sz="1950" spc="100" dirty="0">
                <a:solidFill>
                  <a:srgbClr val="FF0000"/>
                </a:solidFill>
                <a:latin typeface="Arial"/>
                <a:cs typeface="Arial"/>
              </a:rPr>
              <a:t>Analysis</a:t>
            </a:r>
            <a:r>
              <a:rPr sz="1950" spc="380" dirty="0">
                <a:solidFill>
                  <a:srgbClr val="FF0000"/>
                </a:solidFill>
                <a:latin typeface="Arial"/>
                <a:cs typeface="Arial"/>
              </a:rPr>
              <a:t> </a:t>
            </a:r>
            <a:r>
              <a:rPr sz="1950" spc="170" dirty="0">
                <a:solidFill>
                  <a:srgbClr val="FF0000"/>
                </a:solidFill>
                <a:latin typeface="Arial"/>
                <a:cs typeface="Arial"/>
              </a:rPr>
              <a:t>Laboratory</a:t>
            </a:r>
            <a:endParaRPr sz="1950">
              <a:latin typeface="Arial"/>
              <a:cs typeface="Arial"/>
            </a:endParaRPr>
          </a:p>
          <a:p>
            <a:pPr marL="741680" lvl="1" indent="-288290">
              <a:lnSpc>
                <a:spcPct val="100000"/>
              </a:lnSpc>
              <a:spcBef>
                <a:spcPts val="1090"/>
              </a:spcBef>
              <a:buSzPct val="105128"/>
              <a:buFont typeface="Lucida Sans Unicode"/>
              <a:buChar char="◦"/>
              <a:tabLst>
                <a:tab pos="742315" algn="l"/>
              </a:tabLst>
            </a:pPr>
            <a:r>
              <a:rPr sz="1950" spc="170" dirty="0">
                <a:solidFill>
                  <a:srgbClr val="231F20"/>
                </a:solidFill>
                <a:latin typeface="Arial"/>
                <a:cs typeface="Arial"/>
              </a:rPr>
              <a:t>Next </a:t>
            </a:r>
            <a:r>
              <a:rPr sz="1950" spc="135" dirty="0">
                <a:solidFill>
                  <a:srgbClr val="231F20"/>
                </a:solidFill>
                <a:latin typeface="Arial"/>
                <a:cs typeface="Arial"/>
              </a:rPr>
              <a:t>generation </a:t>
            </a:r>
            <a:r>
              <a:rPr sz="1950" spc="145" dirty="0">
                <a:solidFill>
                  <a:srgbClr val="231F20"/>
                </a:solidFill>
                <a:latin typeface="Arial"/>
                <a:cs typeface="Arial"/>
              </a:rPr>
              <a:t>will </a:t>
            </a:r>
            <a:r>
              <a:rPr sz="1950" spc="95" dirty="0">
                <a:solidFill>
                  <a:srgbClr val="231F20"/>
                </a:solidFill>
                <a:latin typeface="Arial"/>
                <a:cs typeface="Arial"/>
              </a:rPr>
              <a:t>have </a:t>
            </a:r>
            <a:r>
              <a:rPr sz="1950" spc="85" dirty="0">
                <a:solidFill>
                  <a:srgbClr val="231F20"/>
                </a:solidFill>
                <a:latin typeface="Arial"/>
                <a:cs typeface="Arial"/>
              </a:rPr>
              <a:t>a </a:t>
            </a:r>
            <a:r>
              <a:rPr sz="1950" spc="210" dirty="0">
                <a:solidFill>
                  <a:srgbClr val="0000FF"/>
                </a:solidFill>
                <a:latin typeface="Arial"/>
                <a:cs typeface="Arial"/>
              </a:rPr>
              <a:t>tool </a:t>
            </a:r>
            <a:r>
              <a:rPr sz="1950" spc="254" dirty="0">
                <a:solidFill>
                  <a:srgbClr val="0000FF"/>
                </a:solidFill>
                <a:latin typeface="Arial"/>
                <a:cs typeface="Arial"/>
              </a:rPr>
              <a:t> </a:t>
            </a:r>
            <a:r>
              <a:rPr sz="1950" spc="95" dirty="0">
                <a:solidFill>
                  <a:srgbClr val="0000FF"/>
                </a:solidFill>
                <a:latin typeface="Arial"/>
                <a:cs typeface="Arial"/>
              </a:rPr>
              <a:t>bus</a:t>
            </a:r>
            <a:endParaRPr sz="1950">
              <a:latin typeface="Arial"/>
              <a:cs typeface="Arial"/>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12592" y="855230"/>
            <a:ext cx="4034790" cy="314960"/>
          </a:xfrm>
          <a:prstGeom prst="rect">
            <a:avLst/>
          </a:prstGeom>
        </p:spPr>
        <p:txBody>
          <a:bodyPr vert="horz" wrap="square" lIns="0" tIns="0" rIns="0" bIns="0" rtlCol="0">
            <a:spAutoFit/>
          </a:bodyPr>
          <a:lstStyle/>
          <a:p>
            <a:pPr marL="12700">
              <a:lnSpc>
                <a:spcPct val="100000"/>
              </a:lnSpc>
            </a:pPr>
            <a:r>
              <a:rPr sz="1950" spc="254" dirty="0">
                <a:solidFill>
                  <a:srgbClr val="231F20"/>
                </a:solidFill>
                <a:latin typeface="Arial"/>
                <a:cs typeface="Arial"/>
              </a:rPr>
              <a:t>Integrated, Iterated</a:t>
            </a:r>
            <a:r>
              <a:rPr sz="1950" spc="455" dirty="0">
                <a:solidFill>
                  <a:srgbClr val="231F20"/>
                </a:solidFill>
                <a:latin typeface="Arial"/>
                <a:cs typeface="Arial"/>
              </a:rPr>
              <a:t> </a:t>
            </a:r>
            <a:r>
              <a:rPr sz="1950" spc="195" dirty="0">
                <a:solidFill>
                  <a:srgbClr val="231F20"/>
                </a:solidFill>
                <a:latin typeface="Arial"/>
                <a:cs typeface="Arial"/>
              </a:rPr>
              <a:t>Analysis</a:t>
            </a:r>
            <a:endParaRPr sz="1950">
              <a:latin typeface="Arial"/>
              <a:cs typeface="Arial"/>
            </a:endParaRPr>
          </a:p>
        </p:txBody>
      </p:sp>
      <p:sp>
        <p:nvSpPr>
          <p:cNvPr id="3" name="object 3"/>
          <p:cNvSpPr/>
          <p:nvPr/>
        </p:nvSpPr>
        <p:spPr>
          <a:xfrm>
            <a:off x="3472587" y="1393444"/>
            <a:ext cx="1612900" cy="2903220"/>
          </a:xfrm>
          <a:custGeom>
            <a:avLst/>
            <a:gdLst/>
            <a:ahLst/>
            <a:cxnLst/>
            <a:rect l="l" t="t" r="r" b="b"/>
            <a:pathLst>
              <a:path w="1612900" h="2903220">
                <a:moveTo>
                  <a:pt x="1612848" y="0"/>
                </a:moveTo>
                <a:lnTo>
                  <a:pt x="0" y="2903131"/>
                </a:lnTo>
              </a:path>
            </a:pathLst>
          </a:custGeom>
          <a:ln w="24052">
            <a:solidFill>
              <a:srgbClr val="FF0000"/>
            </a:solidFill>
          </a:ln>
        </p:spPr>
        <p:txBody>
          <a:bodyPr wrap="square" lIns="0" tIns="0" rIns="0" bIns="0" rtlCol="0"/>
          <a:lstStyle/>
          <a:p>
            <a:endParaRPr/>
          </a:p>
        </p:txBody>
      </p:sp>
      <p:sp>
        <p:nvSpPr>
          <p:cNvPr id="4" name="object 4"/>
          <p:cNvSpPr/>
          <p:nvPr/>
        </p:nvSpPr>
        <p:spPr>
          <a:xfrm>
            <a:off x="3313660" y="4296574"/>
            <a:ext cx="159385" cy="286385"/>
          </a:xfrm>
          <a:custGeom>
            <a:avLst/>
            <a:gdLst/>
            <a:ahLst/>
            <a:cxnLst/>
            <a:rect l="l" t="t" r="r" b="b"/>
            <a:pathLst>
              <a:path w="159385" h="286385">
                <a:moveTo>
                  <a:pt x="158927" y="0"/>
                </a:moveTo>
                <a:lnTo>
                  <a:pt x="0" y="286069"/>
                </a:lnTo>
              </a:path>
            </a:pathLst>
          </a:custGeom>
          <a:ln w="24052">
            <a:solidFill>
              <a:srgbClr val="FF0000"/>
            </a:solidFill>
          </a:ln>
        </p:spPr>
        <p:txBody>
          <a:bodyPr wrap="square" lIns="0" tIns="0" rIns="0" bIns="0" rtlCol="0"/>
          <a:lstStyle/>
          <a:p>
            <a:endParaRPr/>
          </a:p>
        </p:txBody>
      </p:sp>
      <p:sp>
        <p:nvSpPr>
          <p:cNvPr id="5" name="object 5"/>
          <p:cNvSpPr/>
          <p:nvPr/>
        </p:nvSpPr>
        <p:spPr>
          <a:xfrm>
            <a:off x="3312769" y="4296575"/>
            <a:ext cx="203835" cy="287020"/>
          </a:xfrm>
          <a:custGeom>
            <a:avLst/>
            <a:gdLst/>
            <a:ahLst/>
            <a:cxnLst/>
            <a:rect l="l" t="t" r="r" b="b"/>
            <a:pathLst>
              <a:path w="203835" h="287020">
                <a:moveTo>
                  <a:pt x="203644" y="69748"/>
                </a:moveTo>
                <a:lnTo>
                  <a:pt x="140309" y="34467"/>
                </a:lnTo>
                <a:lnTo>
                  <a:pt x="76974" y="0"/>
                </a:lnTo>
                <a:lnTo>
                  <a:pt x="0" y="287020"/>
                </a:lnTo>
                <a:lnTo>
                  <a:pt x="203644" y="69748"/>
                </a:lnTo>
                <a:close/>
              </a:path>
            </a:pathLst>
          </a:custGeom>
          <a:solidFill>
            <a:srgbClr val="FF0000"/>
          </a:solidFill>
        </p:spPr>
        <p:txBody>
          <a:bodyPr wrap="square" lIns="0" tIns="0" rIns="0" bIns="0" rtlCol="0"/>
          <a:lstStyle/>
          <a:p>
            <a:endParaRPr/>
          </a:p>
        </p:txBody>
      </p:sp>
      <p:sp>
        <p:nvSpPr>
          <p:cNvPr id="6" name="object 6"/>
          <p:cNvSpPr/>
          <p:nvPr/>
        </p:nvSpPr>
        <p:spPr>
          <a:xfrm>
            <a:off x="3312769" y="4296575"/>
            <a:ext cx="203835" cy="287020"/>
          </a:xfrm>
          <a:custGeom>
            <a:avLst/>
            <a:gdLst/>
            <a:ahLst/>
            <a:cxnLst/>
            <a:rect l="l" t="t" r="r" b="b"/>
            <a:pathLst>
              <a:path w="203835" h="287020">
                <a:moveTo>
                  <a:pt x="203644" y="69748"/>
                </a:moveTo>
                <a:lnTo>
                  <a:pt x="0" y="287020"/>
                </a:lnTo>
                <a:lnTo>
                  <a:pt x="76974" y="0"/>
                </a:lnTo>
                <a:lnTo>
                  <a:pt x="140309" y="34467"/>
                </a:lnTo>
                <a:lnTo>
                  <a:pt x="203644" y="69748"/>
                </a:lnTo>
                <a:close/>
              </a:path>
            </a:pathLst>
          </a:custGeom>
          <a:ln w="24052">
            <a:solidFill>
              <a:srgbClr val="FF0000"/>
            </a:solidFill>
          </a:ln>
        </p:spPr>
        <p:txBody>
          <a:bodyPr wrap="square" lIns="0" tIns="0" rIns="0" bIns="0" rtlCol="0"/>
          <a:lstStyle/>
          <a:p>
            <a:endParaRPr/>
          </a:p>
        </p:txBody>
      </p:sp>
      <p:sp>
        <p:nvSpPr>
          <p:cNvPr id="7" name="object 7"/>
          <p:cNvSpPr/>
          <p:nvPr/>
        </p:nvSpPr>
        <p:spPr>
          <a:xfrm>
            <a:off x="2379535" y="1573847"/>
            <a:ext cx="3307715" cy="2826385"/>
          </a:xfrm>
          <a:custGeom>
            <a:avLst/>
            <a:gdLst/>
            <a:ahLst/>
            <a:cxnLst/>
            <a:rect l="l" t="t" r="r" b="b"/>
            <a:pathLst>
              <a:path w="3307715" h="2826385">
                <a:moveTo>
                  <a:pt x="841832" y="1202613"/>
                </a:moveTo>
                <a:lnTo>
                  <a:pt x="962101" y="360781"/>
                </a:lnTo>
                <a:lnTo>
                  <a:pt x="1623542" y="481037"/>
                </a:lnTo>
                <a:lnTo>
                  <a:pt x="2164715" y="0"/>
                </a:lnTo>
                <a:lnTo>
                  <a:pt x="2826156" y="541172"/>
                </a:lnTo>
                <a:lnTo>
                  <a:pt x="2705900" y="1262748"/>
                </a:lnTo>
                <a:lnTo>
                  <a:pt x="3307207" y="1683664"/>
                </a:lnTo>
                <a:lnTo>
                  <a:pt x="2826156" y="2645752"/>
                </a:lnTo>
                <a:lnTo>
                  <a:pt x="2164715" y="2826156"/>
                </a:lnTo>
                <a:lnTo>
                  <a:pt x="1864055" y="2164715"/>
                </a:lnTo>
                <a:lnTo>
                  <a:pt x="901966" y="2766021"/>
                </a:lnTo>
                <a:lnTo>
                  <a:pt x="0" y="2044446"/>
                </a:lnTo>
                <a:lnTo>
                  <a:pt x="240525" y="1082357"/>
                </a:lnTo>
                <a:lnTo>
                  <a:pt x="841832" y="1202613"/>
                </a:lnTo>
                <a:close/>
              </a:path>
            </a:pathLst>
          </a:custGeom>
          <a:ln w="12026">
            <a:solidFill>
              <a:srgbClr val="000000"/>
            </a:solidFill>
          </a:ln>
        </p:spPr>
        <p:txBody>
          <a:bodyPr wrap="square" lIns="0" tIns="0" rIns="0" bIns="0" rtlCol="0"/>
          <a:lstStyle/>
          <a:p>
            <a:endParaRPr/>
          </a:p>
        </p:txBody>
      </p:sp>
      <p:sp>
        <p:nvSpPr>
          <p:cNvPr id="8" name="object 8"/>
          <p:cNvSpPr/>
          <p:nvPr/>
        </p:nvSpPr>
        <p:spPr>
          <a:xfrm>
            <a:off x="2319401" y="4820920"/>
            <a:ext cx="2701925" cy="469900"/>
          </a:xfrm>
          <a:custGeom>
            <a:avLst/>
            <a:gdLst/>
            <a:ahLst/>
            <a:cxnLst/>
            <a:rect l="l" t="t" r="r" b="b"/>
            <a:pathLst>
              <a:path w="2701925" h="469900">
                <a:moveTo>
                  <a:pt x="0" y="0"/>
                </a:moveTo>
                <a:lnTo>
                  <a:pt x="2701650" y="469840"/>
                </a:lnTo>
              </a:path>
            </a:pathLst>
          </a:custGeom>
          <a:ln w="24052">
            <a:solidFill>
              <a:srgbClr val="008E00"/>
            </a:solidFill>
          </a:ln>
        </p:spPr>
        <p:txBody>
          <a:bodyPr wrap="square" lIns="0" tIns="0" rIns="0" bIns="0" rtlCol="0"/>
          <a:lstStyle/>
          <a:p>
            <a:endParaRPr/>
          </a:p>
        </p:txBody>
      </p:sp>
      <p:sp>
        <p:nvSpPr>
          <p:cNvPr id="9" name="object 9"/>
          <p:cNvSpPr/>
          <p:nvPr/>
        </p:nvSpPr>
        <p:spPr>
          <a:xfrm>
            <a:off x="4724641" y="5170474"/>
            <a:ext cx="297180" cy="142240"/>
          </a:xfrm>
          <a:custGeom>
            <a:avLst/>
            <a:gdLst/>
            <a:ahLst/>
            <a:cxnLst/>
            <a:rect l="l" t="t" r="r" b="b"/>
            <a:pathLst>
              <a:path w="297179" h="142239">
                <a:moveTo>
                  <a:pt x="296646" y="120269"/>
                </a:moveTo>
                <a:lnTo>
                  <a:pt x="24853" y="0"/>
                </a:lnTo>
                <a:lnTo>
                  <a:pt x="0" y="141909"/>
                </a:lnTo>
                <a:lnTo>
                  <a:pt x="296646" y="120269"/>
                </a:lnTo>
                <a:close/>
              </a:path>
            </a:pathLst>
          </a:custGeom>
          <a:solidFill>
            <a:srgbClr val="008E00"/>
          </a:solidFill>
        </p:spPr>
        <p:txBody>
          <a:bodyPr wrap="square" lIns="0" tIns="0" rIns="0" bIns="0" rtlCol="0"/>
          <a:lstStyle/>
          <a:p>
            <a:endParaRPr/>
          </a:p>
        </p:txBody>
      </p:sp>
      <p:sp>
        <p:nvSpPr>
          <p:cNvPr id="10" name="object 10"/>
          <p:cNvSpPr/>
          <p:nvPr/>
        </p:nvSpPr>
        <p:spPr>
          <a:xfrm>
            <a:off x="4724641" y="5170474"/>
            <a:ext cx="297180" cy="142240"/>
          </a:xfrm>
          <a:custGeom>
            <a:avLst/>
            <a:gdLst/>
            <a:ahLst/>
            <a:cxnLst/>
            <a:rect l="l" t="t" r="r" b="b"/>
            <a:pathLst>
              <a:path w="297179" h="142239">
                <a:moveTo>
                  <a:pt x="24853" y="0"/>
                </a:moveTo>
                <a:lnTo>
                  <a:pt x="296646" y="120269"/>
                </a:lnTo>
                <a:lnTo>
                  <a:pt x="0" y="141909"/>
                </a:lnTo>
                <a:lnTo>
                  <a:pt x="12827" y="70561"/>
                </a:lnTo>
                <a:lnTo>
                  <a:pt x="24853" y="0"/>
                </a:lnTo>
                <a:close/>
              </a:path>
            </a:pathLst>
          </a:custGeom>
          <a:ln w="24052">
            <a:solidFill>
              <a:srgbClr val="008E00"/>
            </a:solidFill>
          </a:ln>
        </p:spPr>
        <p:txBody>
          <a:bodyPr wrap="square" lIns="0" tIns="0" rIns="0" bIns="0" rtlCol="0"/>
          <a:lstStyle/>
          <a:p>
            <a:endParaRPr/>
          </a:p>
        </p:txBody>
      </p:sp>
      <p:sp>
        <p:nvSpPr>
          <p:cNvPr id="11" name="object 11"/>
          <p:cNvSpPr/>
          <p:nvPr/>
        </p:nvSpPr>
        <p:spPr>
          <a:xfrm>
            <a:off x="2319401" y="1934629"/>
            <a:ext cx="4314190" cy="2416175"/>
          </a:xfrm>
          <a:custGeom>
            <a:avLst/>
            <a:gdLst/>
            <a:ahLst/>
            <a:cxnLst/>
            <a:rect l="l" t="t" r="r" b="b"/>
            <a:pathLst>
              <a:path w="4314190" h="2416175">
                <a:moveTo>
                  <a:pt x="0" y="0"/>
                </a:moveTo>
                <a:lnTo>
                  <a:pt x="4313708" y="2415666"/>
                </a:lnTo>
              </a:path>
            </a:pathLst>
          </a:custGeom>
          <a:ln w="24052">
            <a:solidFill>
              <a:srgbClr val="0000FF"/>
            </a:solidFill>
          </a:ln>
        </p:spPr>
        <p:txBody>
          <a:bodyPr wrap="square" lIns="0" tIns="0" rIns="0" bIns="0" rtlCol="0"/>
          <a:lstStyle/>
          <a:p>
            <a:endParaRPr/>
          </a:p>
        </p:txBody>
      </p:sp>
      <p:sp>
        <p:nvSpPr>
          <p:cNvPr id="12" name="object 12"/>
          <p:cNvSpPr/>
          <p:nvPr/>
        </p:nvSpPr>
        <p:spPr>
          <a:xfrm>
            <a:off x="6633109" y="4350296"/>
            <a:ext cx="139065" cy="78105"/>
          </a:xfrm>
          <a:custGeom>
            <a:avLst/>
            <a:gdLst/>
            <a:ahLst/>
            <a:cxnLst/>
            <a:rect l="l" t="t" r="r" b="b"/>
            <a:pathLst>
              <a:path w="139065" h="78104">
                <a:moveTo>
                  <a:pt x="0" y="0"/>
                </a:moveTo>
                <a:lnTo>
                  <a:pt x="138552" y="77589"/>
                </a:lnTo>
              </a:path>
            </a:pathLst>
          </a:custGeom>
          <a:ln w="24052">
            <a:solidFill>
              <a:srgbClr val="0000FF"/>
            </a:solidFill>
          </a:ln>
        </p:spPr>
        <p:txBody>
          <a:bodyPr wrap="square" lIns="0" tIns="0" rIns="0" bIns="0" rtlCol="0"/>
          <a:lstStyle/>
          <a:p>
            <a:endParaRPr/>
          </a:p>
        </p:txBody>
      </p:sp>
      <p:sp>
        <p:nvSpPr>
          <p:cNvPr id="13" name="object 13"/>
          <p:cNvSpPr/>
          <p:nvPr/>
        </p:nvSpPr>
        <p:spPr>
          <a:xfrm>
            <a:off x="6485280" y="4224413"/>
            <a:ext cx="287020" cy="203835"/>
          </a:xfrm>
          <a:custGeom>
            <a:avLst/>
            <a:gdLst/>
            <a:ahLst/>
            <a:cxnLst/>
            <a:rect l="l" t="t" r="r" b="b"/>
            <a:pathLst>
              <a:path w="287020" h="203835">
                <a:moveTo>
                  <a:pt x="287020" y="203644"/>
                </a:moveTo>
                <a:lnTo>
                  <a:pt x="70548" y="0"/>
                </a:lnTo>
                <a:lnTo>
                  <a:pt x="0" y="125882"/>
                </a:lnTo>
                <a:lnTo>
                  <a:pt x="287020" y="203644"/>
                </a:lnTo>
                <a:close/>
              </a:path>
            </a:pathLst>
          </a:custGeom>
          <a:solidFill>
            <a:srgbClr val="0000FF"/>
          </a:solidFill>
        </p:spPr>
        <p:txBody>
          <a:bodyPr wrap="square" lIns="0" tIns="0" rIns="0" bIns="0" rtlCol="0"/>
          <a:lstStyle/>
          <a:p>
            <a:endParaRPr/>
          </a:p>
        </p:txBody>
      </p:sp>
      <p:sp>
        <p:nvSpPr>
          <p:cNvPr id="14" name="object 14"/>
          <p:cNvSpPr/>
          <p:nvPr/>
        </p:nvSpPr>
        <p:spPr>
          <a:xfrm>
            <a:off x="6485280" y="4224413"/>
            <a:ext cx="287020" cy="203835"/>
          </a:xfrm>
          <a:custGeom>
            <a:avLst/>
            <a:gdLst/>
            <a:ahLst/>
            <a:cxnLst/>
            <a:rect l="l" t="t" r="r" b="b"/>
            <a:pathLst>
              <a:path w="287020" h="203835">
                <a:moveTo>
                  <a:pt x="70548" y="0"/>
                </a:moveTo>
                <a:lnTo>
                  <a:pt x="287020" y="203644"/>
                </a:lnTo>
                <a:lnTo>
                  <a:pt x="0" y="125882"/>
                </a:lnTo>
                <a:lnTo>
                  <a:pt x="35280" y="63334"/>
                </a:lnTo>
                <a:lnTo>
                  <a:pt x="70548" y="0"/>
                </a:lnTo>
                <a:close/>
              </a:path>
            </a:pathLst>
          </a:custGeom>
          <a:ln w="24052">
            <a:solidFill>
              <a:srgbClr val="0000FF"/>
            </a:solidFill>
          </a:ln>
        </p:spPr>
        <p:txBody>
          <a:bodyPr wrap="square" lIns="0" tIns="0" rIns="0" bIns="0" rtlCol="0"/>
          <a:lstStyle/>
          <a:p>
            <a:endParaRPr/>
          </a:p>
        </p:txBody>
      </p:sp>
      <p:sp>
        <p:nvSpPr>
          <p:cNvPr id="15" name="object 15"/>
          <p:cNvSpPr/>
          <p:nvPr/>
        </p:nvSpPr>
        <p:spPr>
          <a:xfrm>
            <a:off x="5145557" y="4337456"/>
            <a:ext cx="657225" cy="1565910"/>
          </a:xfrm>
          <a:custGeom>
            <a:avLst/>
            <a:gdLst/>
            <a:ahLst/>
            <a:cxnLst/>
            <a:rect l="l" t="t" r="r" b="b"/>
            <a:pathLst>
              <a:path w="657225" h="1565910">
                <a:moveTo>
                  <a:pt x="0" y="1565821"/>
                </a:moveTo>
                <a:lnTo>
                  <a:pt x="656638" y="0"/>
                </a:lnTo>
              </a:path>
            </a:pathLst>
          </a:custGeom>
          <a:ln w="24052">
            <a:solidFill>
              <a:srgbClr val="0000FF"/>
            </a:solidFill>
            <a:prstDash val="lgDash"/>
          </a:ln>
        </p:spPr>
        <p:txBody>
          <a:bodyPr wrap="square" lIns="0" tIns="0" rIns="0" bIns="0" rtlCol="0"/>
          <a:lstStyle/>
          <a:p>
            <a:endParaRPr/>
          </a:p>
        </p:txBody>
      </p:sp>
      <p:sp>
        <p:nvSpPr>
          <p:cNvPr id="16" name="object 16"/>
          <p:cNvSpPr/>
          <p:nvPr/>
        </p:nvSpPr>
        <p:spPr>
          <a:xfrm>
            <a:off x="5802195" y="4101438"/>
            <a:ext cx="99060" cy="236220"/>
          </a:xfrm>
          <a:custGeom>
            <a:avLst/>
            <a:gdLst/>
            <a:ahLst/>
            <a:cxnLst/>
            <a:rect l="l" t="t" r="r" b="b"/>
            <a:pathLst>
              <a:path w="99060" h="236220">
                <a:moveTo>
                  <a:pt x="0" y="236017"/>
                </a:moveTo>
                <a:lnTo>
                  <a:pt x="98975" y="0"/>
                </a:lnTo>
              </a:path>
            </a:pathLst>
          </a:custGeom>
          <a:ln w="24052">
            <a:solidFill>
              <a:srgbClr val="0000FF"/>
            </a:solidFill>
            <a:prstDash val="lgDash"/>
          </a:ln>
        </p:spPr>
        <p:txBody>
          <a:bodyPr wrap="square" lIns="0" tIns="0" rIns="0" bIns="0" rtlCol="0"/>
          <a:lstStyle/>
          <a:p>
            <a:endParaRPr/>
          </a:p>
        </p:txBody>
      </p:sp>
      <p:sp>
        <p:nvSpPr>
          <p:cNvPr id="17" name="object 17"/>
          <p:cNvSpPr/>
          <p:nvPr/>
        </p:nvSpPr>
        <p:spPr>
          <a:xfrm>
            <a:off x="5723623" y="4098544"/>
            <a:ext cx="178435" cy="294640"/>
          </a:xfrm>
          <a:custGeom>
            <a:avLst/>
            <a:gdLst/>
            <a:ahLst/>
            <a:cxnLst/>
            <a:rect l="l" t="t" r="r" b="b"/>
            <a:pathLst>
              <a:path w="178435" h="294639">
                <a:moveTo>
                  <a:pt x="177990" y="0"/>
                </a:moveTo>
                <a:lnTo>
                  <a:pt x="0" y="238912"/>
                </a:lnTo>
                <a:lnTo>
                  <a:pt x="66548" y="266979"/>
                </a:lnTo>
                <a:lnTo>
                  <a:pt x="133083" y="294233"/>
                </a:lnTo>
                <a:lnTo>
                  <a:pt x="177990" y="0"/>
                </a:lnTo>
                <a:close/>
              </a:path>
            </a:pathLst>
          </a:custGeom>
          <a:solidFill>
            <a:srgbClr val="FFFFFF"/>
          </a:solidFill>
        </p:spPr>
        <p:txBody>
          <a:bodyPr wrap="square" lIns="0" tIns="0" rIns="0" bIns="0" rtlCol="0"/>
          <a:lstStyle/>
          <a:p>
            <a:endParaRPr/>
          </a:p>
        </p:txBody>
      </p:sp>
      <p:sp>
        <p:nvSpPr>
          <p:cNvPr id="18" name="object 18"/>
          <p:cNvSpPr/>
          <p:nvPr/>
        </p:nvSpPr>
        <p:spPr>
          <a:xfrm>
            <a:off x="5723623" y="4098544"/>
            <a:ext cx="178435" cy="294640"/>
          </a:xfrm>
          <a:custGeom>
            <a:avLst/>
            <a:gdLst/>
            <a:ahLst/>
            <a:cxnLst/>
            <a:rect l="l" t="t" r="r" b="b"/>
            <a:pathLst>
              <a:path w="178435" h="294639">
                <a:moveTo>
                  <a:pt x="0" y="238912"/>
                </a:moveTo>
                <a:lnTo>
                  <a:pt x="177990" y="0"/>
                </a:lnTo>
                <a:lnTo>
                  <a:pt x="133083" y="294233"/>
                </a:lnTo>
                <a:lnTo>
                  <a:pt x="66548" y="266979"/>
                </a:lnTo>
                <a:lnTo>
                  <a:pt x="0" y="238912"/>
                </a:lnTo>
                <a:close/>
              </a:path>
            </a:pathLst>
          </a:custGeom>
          <a:ln w="24052">
            <a:solidFill>
              <a:srgbClr val="0000FF"/>
            </a:solidFill>
          </a:ln>
        </p:spPr>
        <p:txBody>
          <a:bodyPr wrap="square" lIns="0" tIns="0" rIns="0" bIns="0" rtlCol="0"/>
          <a:lstStyle/>
          <a:p>
            <a:endParaRPr/>
          </a:p>
        </p:txBody>
      </p:sp>
      <p:sp>
        <p:nvSpPr>
          <p:cNvPr id="19" name="object 19"/>
          <p:cNvSpPr/>
          <p:nvPr/>
        </p:nvSpPr>
        <p:spPr>
          <a:xfrm>
            <a:off x="2739847" y="4655753"/>
            <a:ext cx="706120" cy="887730"/>
          </a:xfrm>
          <a:custGeom>
            <a:avLst/>
            <a:gdLst/>
            <a:ahLst/>
            <a:cxnLst/>
            <a:rect l="l" t="t" r="r" b="b"/>
            <a:pathLst>
              <a:path w="706120" h="887729">
                <a:moveTo>
                  <a:pt x="469" y="285422"/>
                </a:moveTo>
                <a:lnTo>
                  <a:pt x="7278" y="244862"/>
                </a:lnTo>
                <a:lnTo>
                  <a:pt x="20491" y="208750"/>
                </a:lnTo>
                <a:lnTo>
                  <a:pt x="39337" y="173570"/>
                </a:lnTo>
                <a:lnTo>
                  <a:pt x="62754" y="140272"/>
                </a:lnTo>
                <a:lnTo>
                  <a:pt x="89678" y="109807"/>
                </a:lnTo>
                <a:lnTo>
                  <a:pt x="119047" y="83122"/>
                </a:lnTo>
                <a:lnTo>
                  <a:pt x="153688" y="58805"/>
                </a:lnTo>
                <a:lnTo>
                  <a:pt x="188150" y="41890"/>
                </a:lnTo>
                <a:lnTo>
                  <a:pt x="227762" y="27957"/>
                </a:lnTo>
                <a:lnTo>
                  <a:pt x="267251" y="17313"/>
                </a:lnTo>
                <a:lnTo>
                  <a:pt x="304629" y="9692"/>
                </a:lnTo>
                <a:lnTo>
                  <a:pt x="343476" y="4093"/>
                </a:lnTo>
                <a:lnTo>
                  <a:pt x="383143" y="795"/>
                </a:lnTo>
                <a:lnTo>
                  <a:pt x="413043" y="0"/>
                </a:lnTo>
                <a:lnTo>
                  <a:pt x="418017" y="16"/>
                </a:lnTo>
                <a:lnTo>
                  <a:pt x="457477" y="1784"/>
                </a:lnTo>
                <a:lnTo>
                  <a:pt x="495896" y="6653"/>
                </a:lnTo>
                <a:lnTo>
                  <a:pt x="537065" y="16185"/>
                </a:lnTo>
                <a:lnTo>
                  <a:pt x="575173" y="30392"/>
                </a:lnTo>
                <a:lnTo>
                  <a:pt x="609299" y="49671"/>
                </a:lnTo>
                <a:lnTo>
                  <a:pt x="638518" y="74419"/>
                </a:lnTo>
                <a:lnTo>
                  <a:pt x="661910" y="105031"/>
                </a:lnTo>
                <a:lnTo>
                  <a:pt x="680206" y="141811"/>
                </a:lnTo>
                <a:lnTo>
                  <a:pt x="693415" y="181885"/>
                </a:lnTo>
                <a:lnTo>
                  <a:pt x="701190" y="220342"/>
                </a:lnTo>
                <a:lnTo>
                  <a:pt x="705284" y="260678"/>
                </a:lnTo>
                <a:lnTo>
                  <a:pt x="706073" y="288428"/>
                </a:lnTo>
                <a:lnTo>
                  <a:pt x="706058" y="293110"/>
                </a:lnTo>
                <a:lnTo>
                  <a:pt x="704125" y="335862"/>
                </a:lnTo>
                <a:lnTo>
                  <a:pt x="699798" y="374580"/>
                </a:lnTo>
                <a:lnTo>
                  <a:pt x="693166" y="413699"/>
                </a:lnTo>
                <a:lnTo>
                  <a:pt x="684378" y="452957"/>
                </a:lnTo>
                <a:lnTo>
                  <a:pt x="673579" y="492091"/>
                </a:lnTo>
                <a:lnTo>
                  <a:pt x="660916" y="530838"/>
                </a:lnTo>
                <a:lnTo>
                  <a:pt x="646535" y="568936"/>
                </a:lnTo>
                <a:lnTo>
                  <a:pt x="630584" y="606122"/>
                </a:lnTo>
                <a:lnTo>
                  <a:pt x="613208" y="642134"/>
                </a:lnTo>
                <a:lnTo>
                  <a:pt x="594554" y="676708"/>
                </a:lnTo>
                <a:lnTo>
                  <a:pt x="574768" y="709584"/>
                </a:lnTo>
                <a:lnTo>
                  <a:pt x="551339" y="744211"/>
                </a:lnTo>
                <a:lnTo>
                  <a:pt x="526872" y="775980"/>
                </a:lnTo>
                <a:lnTo>
                  <a:pt x="501575" y="804519"/>
                </a:lnTo>
                <a:lnTo>
                  <a:pt x="472749" y="831985"/>
                </a:lnTo>
                <a:lnTo>
                  <a:pt x="440496" y="856446"/>
                </a:lnTo>
                <a:lnTo>
                  <a:pt x="405096" y="875479"/>
                </a:lnTo>
                <a:lnTo>
                  <a:pt x="367050" y="886090"/>
                </a:lnTo>
                <a:lnTo>
                  <a:pt x="351985" y="887126"/>
                </a:lnTo>
                <a:lnTo>
                  <a:pt x="348877" y="887081"/>
                </a:lnTo>
                <a:lnTo>
                  <a:pt x="311179" y="879953"/>
                </a:lnTo>
                <a:lnTo>
                  <a:pt x="276297" y="863517"/>
                </a:lnTo>
                <a:lnTo>
                  <a:pt x="244710" y="841254"/>
                </a:lnTo>
                <a:lnTo>
                  <a:pt x="213596" y="812821"/>
                </a:lnTo>
                <a:lnTo>
                  <a:pt x="186278" y="782599"/>
                </a:lnTo>
                <a:lnTo>
                  <a:pt x="162749" y="752525"/>
                </a:lnTo>
                <a:lnTo>
                  <a:pt x="140113" y="719846"/>
                </a:lnTo>
                <a:lnTo>
                  <a:pt x="118544" y="684959"/>
                </a:lnTo>
                <a:lnTo>
                  <a:pt x="98216" y="648262"/>
                </a:lnTo>
                <a:lnTo>
                  <a:pt x="79305" y="610152"/>
                </a:lnTo>
                <a:lnTo>
                  <a:pt x="61985" y="571028"/>
                </a:lnTo>
                <a:lnTo>
                  <a:pt x="46432" y="531288"/>
                </a:lnTo>
                <a:lnTo>
                  <a:pt x="32820" y="491329"/>
                </a:lnTo>
                <a:lnTo>
                  <a:pt x="21324" y="451548"/>
                </a:lnTo>
                <a:lnTo>
                  <a:pt x="12119" y="412345"/>
                </a:lnTo>
                <a:lnTo>
                  <a:pt x="5380" y="374117"/>
                </a:lnTo>
                <a:lnTo>
                  <a:pt x="964" y="332771"/>
                </a:lnTo>
                <a:lnTo>
                  <a:pt x="0" y="302176"/>
                </a:lnTo>
                <a:lnTo>
                  <a:pt x="46" y="297935"/>
                </a:lnTo>
                <a:lnTo>
                  <a:pt x="139" y="293728"/>
                </a:lnTo>
                <a:lnTo>
                  <a:pt x="280" y="289557"/>
                </a:lnTo>
                <a:lnTo>
                  <a:pt x="469" y="285422"/>
                </a:lnTo>
                <a:close/>
              </a:path>
            </a:pathLst>
          </a:custGeom>
          <a:ln w="6013">
            <a:solidFill>
              <a:srgbClr val="FF0000"/>
            </a:solidFill>
          </a:ln>
        </p:spPr>
        <p:txBody>
          <a:bodyPr wrap="square" lIns="0" tIns="0" rIns="0" bIns="0" rtlCol="0"/>
          <a:lstStyle/>
          <a:p>
            <a:endParaRPr/>
          </a:p>
        </p:txBody>
      </p:sp>
      <p:sp>
        <p:nvSpPr>
          <p:cNvPr id="20" name="object 20"/>
          <p:cNvSpPr/>
          <p:nvPr/>
        </p:nvSpPr>
        <p:spPr>
          <a:xfrm>
            <a:off x="6946420" y="4279575"/>
            <a:ext cx="814069" cy="738505"/>
          </a:xfrm>
          <a:custGeom>
            <a:avLst/>
            <a:gdLst/>
            <a:ahLst/>
            <a:cxnLst/>
            <a:rect l="l" t="t" r="r" b="b"/>
            <a:pathLst>
              <a:path w="814070" h="738504">
                <a:moveTo>
                  <a:pt x="63204" y="120428"/>
                </a:moveTo>
                <a:lnTo>
                  <a:pt x="88165" y="87150"/>
                </a:lnTo>
                <a:lnTo>
                  <a:pt x="117883" y="62008"/>
                </a:lnTo>
                <a:lnTo>
                  <a:pt x="152555" y="41083"/>
                </a:lnTo>
                <a:lnTo>
                  <a:pt x="190132" y="24413"/>
                </a:lnTo>
                <a:lnTo>
                  <a:pt x="228566" y="12035"/>
                </a:lnTo>
                <a:lnTo>
                  <a:pt x="265808" y="3988"/>
                </a:lnTo>
                <a:lnTo>
                  <a:pt x="303729" y="159"/>
                </a:lnTo>
                <a:lnTo>
                  <a:pt x="315685" y="0"/>
                </a:lnTo>
                <a:lnTo>
                  <a:pt x="319770" y="29"/>
                </a:lnTo>
                <a:lnTo>
                  <a:pt x="358518" y="2138"/>
                </a:lnTo>
                <a:lnTo>
                  <a:pt x="400120" y="7549"/>
                </a:lnTo>
                <a:lnTo>
                  <a:pt x="438676" y="15105"/>
                </a:lnTo>
                <a:lnTo>
                  <a:pt x="477977" y="25223"/>
                </a:lnTo>
                <a:lnTo>
                  <a:pt x="517310" y="37880"/>
                </a:lnTo>
                <a:lnTo>
                  <a:pt x="555964" y="53056"/>
                </a:lnTo>
                <a:lnTo>
                  <a:pt x="593228" y="70727"/>
                </a:lnTo>
                <a:lnTo>
                  <a:pt x="628391" y="90873"/>
                </a:lnTo>
                <a:lnTo>
                  <a:pt x="660742" y="113471"/>
                </a:lnTo>
                <a:lnTo>
                  <a:pt x="689568" y="138499"/>
                </a:lnTo>
                <a:lnTo>
                  <a:pt x="716901" y="169533"/>
                </a:lnTo>
                <a:lnTo>
                  <a:pt x="737758" y="201936"/>
                </a:lnTo>
                <a:lnTo>
                  <a:pt x="756014" y="237341"/>
                </a:lnTo>
                <a:lnTo>
                  <a:pt x="772309" y="276081"/>
                </a:lnTo>
                <a:lnTo>
                  <a:pt x="784909" y="312721"/>
                </a:lnTo>
                <a:lnTo>
                  <a:pt x="795518" y="350896"/>
                </a:lnTo>
                <a:lnTo>
                  <a:pt x="803927" y="390089"/>
                </a:lnTo>
                <a:lnTo>
                  <a:pt x="809929" y="429781"/>
                </a:lnTo>
                <a:lnTo>
                  <a:pt x="813316" y="469457"/>
                </a:lnTo>
                <a:lnTo>
                  <a:pt x="814015" y="498890"/>
                </a:lnTo>
                <a:lnTo>
                  <a:pt x="813971" y="503751"/>
                </a:lnTo>
                <a:lnTo>
                  <a:pt x="811892" y="541998"/>
                </a:lnTo>
                <a:lnTo>
                  <a:pt x="805703" y="583199"/>
                </a:lnTo>
                <a:lnTo>
                  <a:pt x="795149" y="621758"/>
                </a:lnTo>
                <a:lnTo>
                  <a:pt x="779934" y="656937"/>
                </a:lnTo>
                <a:lnTo>
                  <a:pt x="757203" y="691163"/>
                </a:lnTo>
                <a:lnTo>
                  <a:pt x="727946" y="719296"/>
                </a:lnTo>
                <a:lnTo>
                  <a:pt x="690069" y="736423"/>
                </a:lnTo>
                <a:lnTo>
                  <a:pt x="671325" y="737936"/>
                </a:lnTo>
                <a:lnTo>
                  <a:pt x="667477" y="737826"/>
                </a:lnTo>
                <a:lnTo>
                  <a:pt x="627491" y="730186"/>
                </a:lnTo>
                <a:lnTo>
                  <a:pt x="589773" y="715084"/>
                </a:lnTo>
                <a:lnTo>
                  <a:pt x="555525" y="697210"/>
                </a:lnTo>
                <a:lnTo>
                  <a:pt x="521169" y="676973"/>
                </a:lnTo>
                <a:lnTo>
                  <a:pt x="499886" y="663904"/>
                </a:lnTo>
                <a:lnTo>
                  <a:pt x="495661" y="661299"/>
                </a:lnTo>
                <a:lnTo>
                  <a:pt x="462437" y="641141"/>
                </a:lnTo>
                <a:lnTo>
                  <a:pt x="426762" y="621485"/>
                </a:lnTo>
                <a:lnTo>
                  <a:pt x="390151" y="606321"/>
                </a:lnTo>
                <a:lnTo>
                  <a:pt x="360721" y="601441"/>
                </a:lnTo>
                <a:lnTo>
                  <a:pt x="357522" y="601603"/>
                </a:lnTo>
                <a:lnTo>
                  <a:pt x="318316" y="613406"/>
                </a:lnTo>
                <a:lnTo>
                  <a:pt x="282070" y="631819"/>
                </a:lnTo>
                <a:lnTo>
                  <a:pt x="273673" y="636351"/>
                </a:lnTo>
                <a:lnTo>
                  <a:pt x="269439" y="638630"/>
                </a:lnTo>
                <a:lnTo>
                  <a:pt x="235023" y="656148"/>
                </a:lnTo>
                <a:lnTo>
                  <a:pt x="196078" y="670751"/>
                </a:lnTo>
                <a:lnTo>
                  <a:pt x="166548" y="674873"/>
                </a:lnTo>
                <a:lnTo>
                  <a:pt x="162430" y="674768"/>
                </a:lnTo>
                <a:lnTo>
                  <a:pt x="123326" y="661600"/>
                </a:lnTo>
                <a:lnTo>
                  <a:pt x="91808" y="635597"/>
                </a:lnTo>
                <a:lnTo>
                  <a:pt x="65354" y="605425"/>
                </a:lnTo>
                <a:lnTo>
                  <a:pt x="43734" y="571661"/>
                </a:lnTo>
                <a:lnTo>
                  <a:pt x="26719" y="534879"/>
                </a:lnTo>
                <a:lnTo>
                  <a:pt x="14078" y="495657"/>
                </a:lnTo>
                <a:lnTo>
                  <a:pt x="5582" y="454570"/>
                </a:lnTo>
                <a:lnTo>
                  <a:pt x="1002" y="412194"/>
                </a:lnTo>
                <a:lnTo>
                  <a:pt x="0" y="378712"/>
                </a:lnTo>
                <a:lnTo>
                  <a:pt x="32" y="373909"/>
                </a:lnTo>
                <a:lnTo>
                  <a:pt x="1812" y="335465"/>
                </a:lnTo>
                <a:lnTo>
                  <a:pt x="6182" y="297267"/>
                </a:lnTo>
                <a:lnTo>
                  <a:pt x="12980" y="259718"/>
                </a:lnTo>
                <a:lnTo>
                  <a:pt x="23329" y="218757"/>
                </a:lnTo>
                <a:lnTo>
                  <a:pt x="36317" y="179705"/>
                </a:lnTo>
                <a:lnTo>
                  <a:pt x="51714" y="143140"/>
                </a:lnTo>
                <a:lnTo>
                  <a:pt x="61225" y="124112"/>
                </a:lnTo>
                <a:lnTo>
                  <a:pt x="63204" y="120428"/>
                </a:lnTo>
                <a:close/>
              </a:path>
            </a:pathLst>
          </a:custGeom>
          <a:ln w="6013">
            <a:solidFill>
              <a:srgbClr val="0000FF"/>
            </a:solidFill>
          </a:ln>
        </p:spPr>
        <p:txBody>
          <a:bodyPr wrap="square" lIns="0" tIns="0" rIns="0" bIns="0" rtlCol="0"/>
          <a:lstStyle/>
          <a:p>
            <a:endParaRPr/>
          </a:p>
        </p:txBody>
      </p:sp>
      <p:sp>
        <p:nvSpPr>
          <p:cNvPr id="21" name="object 21"/>
          <p:cNvSpPr/>
          <p:nvPr/>
        </p:nvSpPr>
        <p:spPr>
          <a:xfrm>
            <a:off x="5145501" y="5074554"/>
            <a:ext cx="506730" cy="521334"/>
          </a:xfrm>
          <a:custGeom>
            <a:avLst/>
            <a:gdLst/>
            <a:ahLst/>
            <a:cxnLst/>
            <a:rect l="l" t="t" r="r" b="b"/>
            <a:pathLst>
              <a:path w="506729" h="521335">
                <a:moveTo>
                  <a:pt x="481107" y="107147"/>
                </a:moveTo>
                <a:lnTo>
                  <a:pt x="457386" y="75701"/>
                </a:lnTo>
                <a:lnTo>
                  <a:pt x="427875" y="49413"/>
                </a:lnTo>
                <a:lnTo>
                  <a:pt x="393682" y="28492"/>
                </a:lnTo>
                <a:lnTo>
                  <a:pt x="355919" y="13146"/>
                </a:lnTo>
                <a:lnTo>
                  <a:pt x="315695" y="3585"/>
                </a:lnTo>
                <a:lnTo>
                  <a:pt x="274121" y="17"/>
                </a:lnTo>
                <a:lnTo>
                  <a:pt x="269466" y="0"/>
                </a:lnTo>
                <a:lnTo>
                  <a:pt x="264810" y="59"/>
                </a:lnTo>
                <a:lnTo>
                  <a:pt x="223093" y="4100"/>
                </a:lnTo>
                <a:lnTo>
                  <a:pt x="182494" y="14598"/>
                </a:lnTo>
                <a:lnTo>
                  <a:pt x="144121" y="31763"/>
                </a:lnTo>
                <a:lnTo>
                  <a:pt x="109170" y="55641"/>
                </a:lnTo>
                <a:lnTo>
                  <a:pt x="78835" y="84589"/>
                </a:lnTo>
                <a:lnTo>
                  <a:pt x="53273" y="117511"/>
                </a:lnTo>
                <a:lnTo>
                  <a:pt x="32586" y="153610"/>
                </a:lnTo>
                <a:lnTo>
                  <a:pt x="16871" y="192088"/>
                </a:lnTo>
                <a:lnTo>
                  <a:pt x="6231" y="232150"/>
                </a:lnTo>
                <a:lnTo>
                  <a:pt x="764" y="272998"/>
                </a:lnTo>
                <a:lnTo>
                  <a:pt x="0" y="295738"/>
                </a:lnTo>
                <a:lnTo>
                  <a:pt x="43" y="300274"/>
                </a:lnTo>
                <a:lnTo>
                  <a:pt x="3422" y="340662"/>
                </a:lnTo>
                <a:lnTo>
                  <a:pt x="12242" y="379712"/>
                </a:lnTo>
                <a:lnTo>
                  <a:pt x="26603" y="416627"/>
                </a:lnTo>
                <a:lnTo>
                  <a:pt x="46604" y="450609"/>
                </a:lnTo>
                <a:lnTo>
                  <a:pt x="72898" y="480773"/>
                </a:lnTo>
                <a:lnTo>
                  <a:pt x="106101" y="502726"/>
                </a:lnTo>
                <a:lnTo>
                  <a:pt x="144236" y="515762"/>
                </a:lnTo>
                <a:lnTo>
                  <a:pt x="185523" y="520745"/>
                </a:lnTo>
                <a:lnTo>
                  <a:pt x="194947" y="520846"/>
                </a:lnTo>
                <a:lnTo>
                  <a:pt x="199678" y="520766"/>
                </a:lnTo>
                <a:lnTo>
                  <a:pt x="237666" y="517161"/>
                </a:lnTo>
                <a:lnTo>
                  <a:pt x="275016" y="508711"/>
                </a:lnTo>
                <a:lnTo>
                  <a:pt x="314715" y="494168"/>
                </a:lnTo>
                <a:lnTo>
                  <a:pt x="350243" y="475126"/>
                </a:lnTo>
                <a:lnTo>
                  <a:pt x="381301" y="451738"/>
                </a:lnTo>
                <a:lnTo>
                  <a:pt x="410670" y="423108"/>
                </a:lnTo>
                <a:lnTo>
                  <a:pt x="437676" y="390097"/>
                </a:lnTo>
                <a:lnTo>
                  <a:pt x="458977" y="357834"/>
                </a:lnTo>
                <a:lnTo>
                  <a:pt x="477079" y="323508"/>
                </a:lnTo>
                <a:lnTo>
                  <a:pt x="491355" y="287777"/>
                </a:lnTo>
                <a:lnTo>
                  <a:pt x="502062" y="246720"/>
                </a:lnTo>
                <a:lnTo>
                  <a:pt x="506241" y="205656"/>
                </a:lnTo>
                <a:lnTo>
                  <a:pt x="506264" y="201134"/>
                </a:lnTo>
                <a:lnTo>
                  <a:pt x="506194" y="196624"/>
                </a:lnTo>
                <a:lnTo>
                  <a:pt x="501182" y="156824"/>
                </a:lnTo>
                <a:lnTo>
                  <a:pt x="487660" y="119099"/>
                </a:lnTo>
                <a:lnTo>
                  <a:pt x="481107" y="107147"/>
                </a:lnTo>
                <a:close/>
              </a:path>
            </a:pathLst>
          </a:custGeom>
          <a:ln w="6013">
            <a:solidFill>
              <a:srgbClr val="008E00"/>
            </a:solidFill>
          </a:ln>
        </p:spPr>
        <p:txBody>
          <a:bodyPr wrap="square" lIns="0" tIns="0" rIns="0" bIns="0" rtlCol="0"/>
          <a:lstStyle/>
          <a:p>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35" y="475981"/>
            <a:ext cx="7813040" cy="5873115"/>
          </a:xfrm>
          <a:prstGeom prst="rect">
            <a:avLst/>
          </a:prstGeom>
        </p:spPr>
        <p:txBody>
          <a:bodyPr vert="horz" wrap="square" lIns="0" tIns="0" rIns="0" bIns="0" rtlCol="0">
            <a:spAutoFit/>
          </a:bodyPr>
          <a:lstStyle/>
          <a:p>
            <a:pPr marL="2214245">
              <a:lnSpc>
                <a:spcPct val="100000"/>
              </a:lnSpc>
            </a:pPr>
            <a:r>
              <a:rPr sz="1950" spc="280" dirty="0">
                <a:solidFill>
                  <a:srgbClr val="231F20"/>
                </a:solidFill>
                <a:latin typeface="Arial"/>
                <a:cs typeface="Arial"/>
              </a:rPr>
              <a:t>Refutation </a:t>
            </a:r>
            <a:r>
              <a:rPr sz="1950" spc="240" dirty="0">
                <a:solidFill>
                  <a:srgbClr val="231F20"/>
                </a:solidFill>
                <a:latin typeface="Arial"/>
                <a:cs typeface="Arial"/>
              </a:rPr>
              <a:t>and</a:t>
            </a:r>
            <a:r>
              <a:rPr sz="1950" spc="430" dirty="0">
                <a:solidFill>
                  <a:srgbClr val="231F20"/>
                </a:solidFill>
                <a:latin typeface="Arial"/>
                <a:cs typeface="Arial"/>
              </a:rPr>
              <a:t> </a:t>
            </a:r>
            <a:r>
              <a:rPr sz="1950" spc="245" dirty="0">
                <a:solidFill>
                  <a:srgbClr val="231F20"/>
                </a:solidFill>
                <a:latin typeface="Arial"/>
                <a:cs typeface="Arial"/>
              </a:rPr>
              <a:t>Verification</a:t>
            </a:r>
            <a:endParaRPr sz="1950">
              <a:latin typeface="Arial"/>
              <a:cs typeface="Arial"/>
            </a:endParaRPr>
          </a:p>
          <a:p>
            <a:pPr>
              <a:lnSpc>
                <a:spcPct val="100000"/>
              </a:lnSpc>
              <a:spcBef>
                <a:spcPts val="20"/>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25" dirty="0">
                <a:solidFill>
                  <a:srgbClr val="231F20"/>
                </a:solidFill>
                <a:latin typeface="Arial"/>
                <a:cs typeface="Arial"/>
              </a:rPr>
              <a:t>By </a:t>
            </a:r>
            <a:r>
              <a:rPr sz="1950" spc="130" dirty="0">
                <a:solidFill>
                  <a:srgbClr val="231F20"/>
                </a:solidFill>
                <a:latin typeface="Arial"/>
                <a:cs typeface="Arial"/>
              </a:rPr>
              <a:t>allowing </a:t>
            </a:r>
            <a:r>
              <a:rPr sz="1950" spc="125" dirty="0">
                <a:solidFill>
                  <a:srgbClr val="0000FF"/>
                </a:solidFill>
                <a:latin typeface="Arial"/>
                <a:cs typeface="Arial"/>
              </a:rPr>
              <a:t>unsound</a:t>
            </a:r>
            <a:r>
              <a:rPr sz="1950" spc="470" dirty="0">
                <a:solidFill>
                  <a:srgbClr val="0000FF"/>
                </a:solidFill>
                <a:latin typeface="Arial"/>
                <a:cs typeface="Arial"/>
              </a:rPr>
              <a:t> </a:t>
            </a:r>
            <a:r>
              <a:rPr sz="1950" spc="140" dirty="0">
                <a:solidFill>
                  <a:srgbClr val="231F20"/>
                </a:solidFill>
                <a:latin typeface="Arial"/>
                <a:cs typeface="Arial"/>
              </a:rPr>
              <a:t>abstractions</a:t>
            </a:r>
            <a:endParaRPr sz="1950">
              <a:latin typeface="Arial"/>
              <a:cs typeface="Arial"/>
            </a:endParaRPr>
          </a:p>
          <a:p>
            <a:pPr>
              <a:lnSpc>
                <a:spcPct val="100000"/>
              </a:lnSpc>
              <a:spcBef>
                <a:spcPts val="44"/>
              </a:spcBef>
              <a:buClr>
                <a:srgbClr val="231F20"/>
              </a:buClr>
              <a:buFont typeface="Lucida Sans Unicode"/>
              <a:buChar char="•"/>
            </a:pPr>
            <a:endParaRPr sz="2150">
              <a:latin typeface="Times New Roman"/>
              <a:cs typeface="Times New Roman"/>
            </a:endParaRPr>
          </a:p>
          <a:p>
            <a:pPr marL="3279775">
              <a:lnSpc>
                <a:spcPct val="100000"/>
              </a:lnSpc>
            </a:pPr>
            <a:r>
              <a:rPr sz="2050" i="1" spc="-550" dirty="0">
                <a:solidFill>
                  <a:srgbClr val="231F20"/>
                </a:solidFill>
                <a:latin typeface="Meiryo"/>
                <a:cs typeface="Meiryo"/>
              </a:rPr>
              <a:t>tt</a:t>
            </a:r>
            <a:r>
              <a:rPr sz="3075" spc="-825" baseline="13550" dirty="0">
                <a:solidFill>
                  <a:srgbClr val="231F20"/>
                </a:solidFill>
                <a:latin typeface="Tahoma"/>
                <a:cs typeface="Tahoma"/>
              </a:rPr>
              <a:t>ˆ        </a:t>
            </a:r>
            <a:r>
              <a:rPr sz="2050" spc="-215" dirty="0">
                <a:solidFill>
                  <a:srgbClr val="231F20"/>
                </a:solidFill>
                <a:latin typeface="Lucida Sans Unicode"/>
                <a:cs typeface="Lucida Sans Unicode"/>
              </a:rPr>
              <a:t>|</a:t>
            </a:r>
            <a:r>
              <a:rPr sz="2050" spc="-215" dirty="0">
                <a:solidFill>
                  <a:srgbClr val="231F20"/>
                </a:solidFill>
                <a:latin typeface="Tahoma"/>
                <a:cs typeface="Tahoma"/>
              </a:rPr>
              <a:t>= </a:t>
            </a:r>
            <a:r>
              <a:rPr sz="2050" i="1" spc="-445" dirty="0">
                <a:solidFill>
                  <a:srgbClr val="231F20"/>
                </a:solidFill>
                <a:latin typeface="Meiryo"/>
                <a:cs typeface="Meiryo"/>
              </a:rPr>
              <a:t>P</a:t>
            </a:r>
            <a:r>
              <a:rPr sz="3075" spc="-667" baseline="13550" dirty="0">
                <a:solidFill>
                  <a:srgbClr val="231F20"/>
                </a:solidFill>
                <a:latin typeface="Tahoma"/>
                <a:cs typeface="Tahoma"/>
              </a:rPr>
              <a:t>ˆ   </a:t>
            </a:r>
            <a:r>
              <a:rPr sz="2050" spc="-335" dirty="0">
                <a:solidFill>
                  <a:srgbClr val="231F20"/>
                </a:solidFill>
                <a:latin typeface="Lucida Sans Unicode"/>
                <a:cs typeface="Lucida Sans Unicode"/>
              </a:rPr>
              <a:t>ƒ⇒  </a:t>
            </a:r>
            <a:r>
              <a:rPr sz="2050" i="1" spc="30" dirty="0">
                <a:solidFill>
                  <a:srgbClr val="231F20"/>
                </a:solidFill>
                <a:latin typeface="Meiryo"/>
                <a:cs typeface="Meiryo"/>
              </a:rPr>
              <a:t>tt </a:t>
            </a:r>
            <a:r>
              <a:rPr sz="2050" spc="-215" dirty="0">
                <a:solidFill>
                  <a:srgbClr val="231F20"/>
                </a:solidFill>
                <a:latin typeface="Lucida Sans Unicode"/>
                <a:cs typeface="Lucida Sans Unicode"/>
              </a:rPr>
              <a:t>|</a:t>
            </a:r>
            <a:r>
              <a:rPr sz="2050" spc="-215" dirty="0">
                <a:solidFill>
                  <a:srgbClr val="231F20"/>
                </a:solidFill>
                <a:latin typeface="Tahoma"/>
                <a:cs typeface="Tahoma"/>
              </a:rPr>
              <a:t>=</a:t>
            </a:r>
            <a:r>
              <a:rPr sz="2050" spc="-114" dirty="0">
                <a:solidFill>
                  <a:srgbClr val="231F20"/>
                </a:solidFill>
                <a:latin typeface="Tahoma"/>
                <a:cs typeface="Tahoma"/>
              </a:rPr>
              <a:t> </a:t>
            </a:r>
            <a:r>
              <a:rPr sz="2050" i="1" spc="65" dirty="0">
                <a:solidFill>
                  <a:srgbClr val="231F20"/>
                </a:solidFill>
                <a:latin typeface="Meiryo"/>
                <a:cs typeface="Meiryo"/>
              </a:rPr>
              <a:t>P</a:t>
            </a:r>
            <a:endParaRPr sz="2050">
              <a:latin typeface="Meiryo"/>
              <a:cs typeface="Meiryo"/>
            </a:endParaRPr>
          </a:p>
          <a:p>
            <a:pPr>
              <a:lnSpc>
                <a:spcPct val="100000"/>
              </a:lnSpc>
              <a:spcBef>
                <a:spcPts val="8"/>
              </a:spcBef>
            </a:pPr>
            <a:endParaRPr sz="2250">
              <a:latin typeface="Times New Roman"/>
              <a:cs typeface="Times New Roman"/>
            </a:endParaRPr>
          </a:p>
          <a:p>
            <a:pPr marL="300990">
              <a:lnSpc>
                <a:spcPct val="100000"/>
              </a:lnSpc>
            </a:pPr>
            <a:r>
              <a:rPr sz="1950" spc="195" dirty="0">
                <a:solidFill>
                  <a:srgbClr val="231F20"/>
                </a:solidFill>
                <a:latin typeface="Arial"/>
                <a:cs typeface="Arial"/>
              </a:rPr>
              <a:t>We </a:t>
            </a:r>
            <a:r>
              <a:rPr sz="1950" spc="120" dirty="0">
                <a:solidFill>
                  <a:srgbClr val="231F20"/>
                </a:solidFill>
                <a:latin typeface="Arial"/>
                <a:cs typeface="Arial"/>
              </a:rPr>
              <a:t>can </a:t>
            </a:r>
            <a:r>
              <a:rPr sz="1950" spc="155" dirty="0">
                <a:solidFill>
                  <a:srgbClr val="231F20"/>
                </a:solidFill>
                <a:latin typeface="Arial"/>
                <a:cs typeface="Arial"/>
              </a:rPr>
              <a:t>do </a:t>
            </a:r>
            <a:r>
              <a:rPr sz="1950" spc="175" dirty="0">
                <a:solidFill>
                  <a:srgbClr val="231F20"/>
                </a:solidFill>
                <a:latin typeface="Arial"/>
                <a:cs typeface="Arial"/>
              </a:rPr>
              <a:t>refutation </a:t>
            </a:r>
            <a:r>
              <a:rPr sz="1950" spc="30" dirty="0">
                <a:solidFill>
                  <a:srgbClr val="231F20"/>
                </a:solidFill>
                <a:latin typeface="Arial"/>
                <a:cs typeface="Arial"/>
              </a:rPr>
              <a:t>as </a:t>
            </a:r>
            <a:r>
              <a:rPr sz="1950" spc="100" dirty="0">
                <a:solidFill>
                  <a:srgbClr val="231F20"/>
                </a:solidFill>
                <a:latin typeface="Arial"/>
                <a:cs typeface="Arial"/>
              </a:rPr>
              <a:t>well </a:t>
            </a:r>
            <a:r>
              <a:rPr sz="1950" spc="30" dirty="0">
                <a:solidFill>
                  <a:srgbClr val="231F20"/>
                </a:solidFill>
                <a:latin typeface="Arial"/>
                <a:cs typeface="Arial"/>
              </a:rPr>
              <a:t>as </a:t>
            </a:r>
            <a:r>
              <a:rPr sz="1950" spc="580" dirty="0">
                <a:solidFill>
                  <a:srgbClr val="231F20"/>
                </a:solidFill>
                <a:latin typeface="Arial"/>
                <a:cs typeface="Arial"/>
              </a:rPr>
              <a:t> </a:t>
            </a:r>
            <a:r>
              <a:rPr sz="1950" spc="145" dirty="0">
                <a:solidFill>
                  <a:srgbClr val="231F20"/>
                </a:solidFill>
                <a:latin typeface="Arial"/>
                <a:cs typeface="Arial"/>
              </a:rPr>
              <a:t>verification</a:t>
            </a:r>
            <a:endParaRPr sz="1950">
              <a:latin typeface="Arial"/>
              <a:cs typeface="Arial"/>
            </a:endParaRPr>
          </a:p>
          <a:p>
            <a:pPr marL="300990" marR="542925" indent="-288290" algn="just">
              <a:lnSpc>
                <a:spcPct val="125000"/>
              </a:lnSpc>
              <a:spcBef>
                <a:spcPts val="1330"/>
              </a:spcBef>
              <a:buClr>
                <a:srgbClr val="231F20"/>
              </a:buClr>
              <a:buSzPct val="105128"/>
              <a:buFont typeface="Lucida Sans Unicode"/>
              <a:buChar char="•"/>
              <a:tabLst>
                <a:tab pos="301625" algn="l"/>
              </a:tabLst>
            </a:pPr>
            <a:r>
              <a:rPr sz="1950" spc="210" dirty="0">
                <a:solidFill>
                  <a:srgbClr val="FF0000"/>
                </a:solidFill>
                <a:latin typeface="Arial"/>
                <a:cs typeface="Arial"/>
              </a:rPr>
              <a:t>Then, </a:t>
            </a:r>
            <a:r>
              <a:rPr sz="1950" spc="105" dirty="0">
                <a:solidFill>
                  <a:srgbClr val="FF0000"/>
                </a:solidFill>
                <a:latin typeface="Arial"/>
                <a:cs typeface="Arial"/>
              </a:rPr>
              <a:t>by </a:t>
            </a:r>
            <a:r>
              <a:rPr sz="1950" spc="110" dirty="0">
                <a:solidFill>
                  <a:srgbClr val="FF0000"/>
                </a:solidFill>
                <a:latin typeface="Arial"/>
                <a:cs typeface="Arial"/>
              </a:rPr>
              <a:t>selecting </a:t>
            </a:r>
            <a:r>
              <a:rPr sz="1950" spc="140" dirty="0">
                <a:solidFill>
                  <a:srgbClr val="FF0000"/>
                </a:solidFill>
                <a:latin typeface="Arial"/>
                <a:cs typeface="Arial"/>
              </a:rPr>
              <a:t>abstractions </a:t>
            </a:r>
            <a:r>
              <a:rPr sz="1950" spc="185" dirty="0">
                <a:solidFill>
                  <a:srgbClr val="FF0000"/>
                </a:solidFill>
                <a:latin typeface="Arial"/>
                <a:cs typeface="Arial"/>
              </a:rPr>
              <a:t>(sound/unsound) </a:t>
            </a:r>
            <a:r>
              <a:rPr sz="1950" spc="130" dirty="0">
                <a:solidFill>
                  <a:srgbClr val="FF0000"/>
                </a:solidFill>
                <a:latin typeface="Arial"/>
                <a:cs typeface="Arial"/>
              </a:rPr>
              <a:t>and  </a:t>
            </a:r>
            <a:r>
              <a:rPr sz="1950" spc="125" dirty="0">
                <a:solidFill>
                  <a:srgbClr val="FF0000"/>
                </a:solidFill>
                <a:latin typeface="Arial"/>
                <a:cs typeface="Arial"/>
              </a:rPr>
              <a:t>properties </a:t>
            </a:r>
            <a:r>
              <a:rPr sz="1950" spc="229" dirty="0">
                <a:solidFill>
                  <a:srgbClr val="FF0000"/>
                </a:solidFill>
                <a:latin typeface="Arial"/>
                <a:cs typeface="Arial"/>
              </a:rPr>
              <a:t>(little/big) </a:t>
            </a:r>
            <a:r>
              <a:rPr sz="1950" spc="95" dirty="0">
                <a:solidFill>
                  <a:srgbClr val="FF0000"/>
                </a:solidFill>
                <a:latin typeface="Arial"/>
                <a:cs typeface="Arial"/>
              </a:rPr>
              <a:t>we </a:t>
            </a:r>
            <a:r>
              <a:rPr sz="1950" spc="120" dirty="0">
                <a:solidFill>
                  <a:srgbClr val="FF0000"/>
                </a:solidFill>
                <a:latin typeface="Arial"/>
                <a:cs typeface="Arial"/>
              </a:rPr>
              <a:t>can </a:t>
            </a:r>
            <a:r>
              <a:rPr sz="1950" spc="140" dirty="0">
                <a:solidFill>
                  <a:srgbClr val="FF0000"/>
                </a:solidFill>
                <a:latin typeface="Arial"/>
                <a:cs typeface="Arial"/>
              </a:rPr>
              <a:t>fill </a:t>
            </a:r>
            <a:r>
              <a:rPr sz="1950" spc="130" dirty="0">
                <a:solidFill>
                  <a:srgbClr val="FF0000"/>
                </a:solidFill>
                <a:latin typeface="Arial"/>
                <a:cs typeface="Arial"/>
              </a:rPr>
              <a:t>in </a:t>
            </a:r>
            <a:r>
              <a:rPr sz="1950" spc="175" dirty="0">
                <a:solidFill>
                  <a:srgbClr val="FF0000"/>
                </a:solidFill>
                <a:latin typeface="Arial"/>
                <a:cs typeface="Arial"/>
              </a:rPr>
              <a:t>the </a:t>
            </a:r>
            <a:r>
              <a:rPr sz="1950" spc="70" dirty="0">
                <a:solidFill>
                  <a:srgbClr val="FF0000"/>
                </a:solidFill>
                <a:latin typeface="Arial"/>
                <a:cs typeface="Arial"/>
              </a:rPr>
              <a:t>space </a:t>
            </a:r>
            <a:r>
              <a:rPr sz="1950" spc="120" dirty="0">
                <a:solidFill>
                  <a:srgbClr val="FF0000"/>
                </a:solidFill>
                <a:latin typeface="Arial"/>
                <a:cs typeface="Arial"/>
              </a:rPr>
              <a:t>between  </a:t>
            </a:r>
            <a:r>
              <a:rPr sz="1950" spc="175" dirty="0">
                <a:solidFill>
                  <a:srgbClr val="FF0000"/>
                </a:solidFill>
                <a:latin typeface="Arial"/>
                <a:cs typeface="Arial"/>
              </a:rPr>
              <a:t>refutation </a:t>
            </a:r>
            <a:r>
              <a:rPr sz="1950" spc="130" dirty="0">
                <a:solidFill>
                  <a:srgbClr val="FF0000"/>
                </a:solidFill>
                <a:latin typeface="Arial"/>
                <a:cs typeface="Arial"/>
              </a:rPr>
              <a:t>and</a:t>
            </a:r>
            <a:r>
              <a:rPr sz="1950" spc="315" dirty="0">
                <a:solidFill>
                  <a:srgbClr val="FF0000"/>
                </a:solidFill>
                <a:latin typeface="Arial"/>
                <a:cs typeface="Arial"/>
              </a:rPr>
              <a:t> </a:t>
            </a:r>
            <a:r>
              <a:rPr sz="1950" spc="145" dirty="0">
                <a:solidFill>
                  <a:srgbClr val="FF0000"/>
                </a:solidFill>
                <a:latin typeface="Arial"/>
                <a:cs typeface="Arial"/>
              </a:rPr>
              <a:t>verification</a:t>
            </a:r>
            <a:endParaRPr sz="1950">
              <a:latin typeface="Arial"/>
              <a:cs typeface="Arial"/>
            </a:endParaRPr>
          </a:p>
          <a:p>
            <a:pPr>
              <a:lnSpc>
                <a:spcPct val="100000"/>
              </a:lnSpc>
              <a:spcBef>
                <a:spcPts val="20"/>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80" dirty="0">
                <a:solidFill>
                  <a:srgbClr val="231F20"/>
                </a:solidFill>
                <a:latin typeface="Arial"/>
                <a:cs typeface="Arial"/>
              </a:rPr>
              <a:t>Refutation </a:t>
            </a:r>
            <a:r>
              <a:rPr sz="1950" spc="85" dirty="0">
                <a:solidFill>
                  <a:srgbClr val="231F20"/>
                </a:solidFill>
                <a:latin typeface="Arial"/>
                <a:cs typeface="Arial"/>
              </a:rPr>
              <a:t>lowers </a:t>
            </a:r>
            <a:r>
              <a:rPr sz="1950" spc="175" dirty="0">
                <a:solidFill>
                  <a:srgbClr val="231F20"/>
                </a:solidFill>
                <a:latin typeface="Arial"/>
                <a:cs typeface="Arial"/>
              </a:rPr>
              <a:t>the </a:t>
            </a:r>
            <a:r>
              <a:rPr sz="1950" spc="114" dirty="0">
                <a:solidFill>
                  <a:srgbClr val="231F20"/>
                </a:solidFill>
                <a:latin typeface="Arial"/>
                <a:cs typeface="Arial"/>
              </a:rPr>
              <a:t>barrier </a:t>
            </a:r>
            <a:r>
              <a:rPr sz="1950" spc="250" dirty="0">
                <a:solidFill>
                  <a:srgbClr val="231F20"/>
                </a:solidFill>
                <a:latin typeface="Arial"/>
                <a:cs typeface="Arial"/>
              </a:rPr>
              <a:t>to</a:t>
            </a:r>
            <a:r>
              <a:rPr sz="1950" spc="830" dirty="0">
                <a:solidFill>
                  <a:srgbClr val="231F20"/>
                </a:solidFill>
                <a:latin typeface="Arial"/>
                <a:cs typeface="Arial"/>
              </a:rPr>
              <a:t> </a:t>
            </a:r>
            <a:r>
              <a:rPr sz="1950" spc="160" dirty="0">
                <a:solidFill>
                  <a:srgbClr val="231F20"/>
                </a:solidFill>
                <a:latin typeface="Arial"/>
                <a:cs typeface="Arial"/>
              </a:rPr>
              <a:t>entry</a:t>
            </a:r>
            <a:endParaRPr sz="1950">
              <a:latin typeface="Arial"/>
              <a:cs typeface="Arial"/>
            </a:endParaRPr>
          </a:p>
          <a:p>
            <a:pPr>
              <a:lnSpc>
                <a:spcPct val="100000"/>
              </a:lnSpc>
              <a:spcBef>
                <a:spcPts val="20"/>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 pos="4163060" algn="l"/>
              </a:tabLst>
            </a:pPr>
            <a:r>
              <a:rPr sz="1950" spc="120" dirty="0">
                <a:solidFill>
                  <a:srgbClr val="231F20"/>
                </a:solidFill>
                <a:latin typeface="Arial"/>
                <a:cs typeface="Arial"/>
              </a:rPr>
              <a:t>Provides </a:t>
            </a:r>
            <a:r>
              <a:rPr sz="1950" spc="200" dirty="0">
                <a:solidFill>
                  <a:srgbClr val="231F20"/>
                </a:solidFill>
                <a:latin typeface="Arial"/>
                <a:cs typeface="Arial"/>
              </a:rPr>
              <a:t> </a:t>
            </a:r>
            <a:r>
              <a:rPr sz="1950" spc="140" dirty="0">
                <a:solidFill>
                  <a:srgbClr val="231F20"/>
                </a:solidFill>
                <a:latin typeface="Arial"/>
                <a:cs typeface="Arial"/>
              </a:rPr>
              <a:t>economic </a:t>
            </a:r>
            <a:r>
              <a:rPr sz="1950" spc="180" dirty="0">
                <a:solidFill>
                  <a:srgbClr val="231F20"/>
                </a:solidFill>
                <a:latin typeface="Arial"/>
                <a:cs typeface="Arial"/>
              </a:rPr>
              <a:t> </a:t>
            </a:r>
            <a:r>
              <a:rPr sz="1950" spc="130" dirty="0">
                <a:solidFill>
                  <a:srgbClr val="231F20"/>
                </a:solidFill>
                <a:latin typeface="Arial"/>
                <a:cs typeface="Arial"/>
              </a:rPr>
              <a:t>incentive:	</a:t>
            </a:r>
            <a:r>
              <a:rPr sz="1950" spc="105" dirty="0">
                <a:solidFill>
                  <a:srgbClr val="231F20"/>
                </a:solidFill>
                <a:latin typeface="Arial"/>
                <a:cs typeface="Arial"/>
              </a:rPr>
              <a:t>discovery </a:t>
            </a:r>
            <a:r>
              <a:rPr sz="1950" spc="185" dirty="0">
                <a:solidFill>
                  <a:srgbClr val="231F20"/>
                </a:solidFill>
                <a:latin typeface="Arial"/>
                <a:cs typeface="Arial"/>
              </a:rPr>
              <a:t>of </a:t>
            </a:r>
            <a:r>
              <a:rPr sz="1950" spc="140" dirty="0">
                <a:solidFill>
                  <a:srgbClr val="231F20"/>
                </a:solidFill>
                <a:latin typeface="Arial"/>
                <a:cs typeface="Arial"/>
              </a:rPr>
              <a:t>high </a:t>
            </a:r>
            <a:r>
              <a:rPr sz="1950" spc="95" dirty="0">
                <a:solidFill>
                  <a:srgbClr val="231F20"/>
                </a:solidFill>
                <a:latin typeface="Arial"/>
                <a:cs typeface="Arial"/>
              </a:rPr>
              <a:t>value</a:t>
            </a:r>
            <a:r>
              <a:rPr sz="1950" spc="650" dirty="0">
                <a:solidFill>
                  <a:srgbClr val="231F20"/>
                </a:solidFill>
                <a:latin typeface="Arial"/>
                <a:cs typeface="Arial"/>
              </a:rPr>
              <a:t> </a:t>
            </a:r>
            <a:r>
              <a:rPr sz="1950" spc="110" dirty="0">
                <a:solidFill>
                  <a:srgbClr val="231F20"/>
                </a:solidFill>
                <a:latin typeface="Arial"/>
                <a:cs typeface="Arial"/>
              </a:rPr>
              <a:t>bugs</a:t>
            </a:r>
            <a:endParaRPr sz="1950">
              <a:latin typeface="Arial"/>
              <a:cs typeface="Arial"/>
            </a:endParaRPr>
          </a:p>
          <a:p>
            <a:pPr marL="741680" lvl="1" indent="-288290">
              <a:lnSpc>
                <a:spcPct val="100000"/>
              </a:lnSpc>
              <a:spcBef>
                <a:spcPts val="1095"/>
              </a:spcBef>
              <a:buSzPct val="105128"/>
              <a:buFont typeface="Lucida Sans Unicode"/>
              <a:buChar char="◦"/>
              <a:tabLst>
                <a:tab pos="742315" algn="l"/>
              </a:tabLst>
            </a:pPr>
            <a:r>
              <a:rPr sz="1950" spc="135" dirty="0">
                <a:solidFill>
                  <a:srgbClr val="231F20"/>
                </a:solidFill>
                <a:latin typeface="Arial"/>
                <a:cs typeface="Arial"/>
              </a:rPr>
              <a:t>Can </a:t>
            </a:r>
            <a:r>
              <a:rPr sz="1950" spc="150" dirty="0">
                <a:solidFill>
                  <a:srgbClr val="231F20"/>
                </a:solidFill>
                <a:latin typeface="Arial"/>
                <a:cs typeface="Arial"/>
              </a:rPr>
              <a:t>estimate </a:t>
            </a:r>
            <a:r>
              <a:rPr sz="1950" spc="175" dirty="0">
                <a:solidFill>
                  <a:srgbClr val="231F20"/>
                </a:solidFill>
                <a:latin typeface="Arial"/>
                <a:cs typeface="Arial"/>
              </a:rPr>
              <a:t>the </a:t>
            </a:r>
            <a:r>
              <a:rPr sz="1950" spc="150" dirty="0">
                <a:solidFill>
                  <a:srgbClr val="231F20"/>
                </a:solidFill>
                <a:latin typeface="Arial"/>
                <a:cs typeface="Arial"/>
              </a:rPr>
              <a:t>cost </a:t>
            </a:r>
            <a:r>
              <a:rPr sz="1950" spc="185" dirty="0">
                <a:solidFill>
                  <a:srgbClr val="231F20"/>
                </a:solidFill>
                <a:latin typeface="Arial"/>
                <a:cs typeface="Arial"/>
              </a:rPr>
              <a:t>of </a:t>
            </a:r>
            <a:r>
              <a:rPr sz="1950" spc="90" dirty="0">
                <a:solidFill>
                  <a:srgbClr val="231F20"/>
                </a:solidFill>
                <a:latin typeface="Arial"/>
                <a:cs typeface="Arial"/>
              </a:rPr>
              <a:t>each </a:t>
            </a:r>
            <a:r>
              <a:rPr sz="1950" spc="155" dirty="0">
                <a:solidFill>
                  <a:srgbClr val="231F20"/>
                </a:solidFill>
                <a:latin typeface="Arial"/>
                <a:cs typeface="Arial"/>
              </a:rPr>
              <a:t>bug </a:t>
            </a:r>
            <a:r>
              <a:rPr sz="1950" spc="350" dirty="0">
                <a:solidFill>
                  <a:srgbClr val="231F20"/>
                </a:solidFill>
                <a:latin typeface="Arial"/>
                <a:cs typeface="Arial"/>
              </a:rPr>
              <a:t> </a:t>
            </a:r>
            <a:r>
              <a:rPr sz="1950" spc="165" dirty="0">
                <a:solidFill>
                  <a:srgbClr val="231F20"/>
                </a:solidFill>
                <a:latin typeface="Arial"/>
                <a:cs typeface="Arial"/>
              </a:rPr>
              <a:t>found</a:t>
            </a:r>
            <a:endParaRPr sz="1950">
              <a:latin typeface="Arial"/>
              <a:cs typeface="Arial"/>
            </a:endParaRPr>
          </a:p>
          <a:p>
            <a:pPr marL="741680" lvl="1" indent="-288290">
              <a:lnSpc>
                <a:spcPct val="100000"/>
              </a:lnSpc>
              <a:spcBef>
                <a:spcPts val="840"/>
              </a:spcBef>
              <a:buSzPct val="105128"/>
              <a:buFont typeface="Lucida Sans Unicode"/>
              <a:buChar char="◦"/>
              <a:tabLst>
                <a:tab pos="742315" algn="l"/>
              </a:tabLst>
            </a:pPr>
            <a:r>
              <a:rPr sz="1950" spc="200" dirty="0">
                <a:solidFill>
                  <a:srgbClr val="231F20"/>
                </a:solidFill>
                <a:latin typeface="Arial"/>
                <a:cs typeface="Arial"/>
              </a:rPr>
              <a:t>And </a:t>
            </a:r>
            <a:r>
              <a:rPr sz="1950" spc="120" dirty="0">
                <a:solidFill>
                  <a:srgbClr val="231F20"/>
                </a:solidFill>
                <a:latin typeface="Arial"/>
                <a:cs typeface="Arial"/>
              </a:rPr>
              <a:t>can </a:t>
            </a:r>
            <a:r>
              <a:rPr sz="1950" spc="145" dirty="0">
                <a:solidFill>
                  <a:srgbClr val="231F20"/>
                </a:solidFill>
                <a:latin typeface="Arial"/>
                <a:cs typeface="Arial"/>
              </a:rPr>
              <a:t>directly </a:t>
            </a:r>
            <a:r>
              <a:rPr sz="1950" spc="130" dirty="0">
                <a:solidFill>
                  <a:srgbClr val="231F20"/>
                </a:solidFill>
                <a:latin typeface="Arial"/>
                <a:cs typeface="Arial"/>
              </a:rPr>
              <a:t>compare </a:t>
            </a:r>
            <a:r>
              <a:rPr sz="1950" spc="215" dirty="0">
                <a:solidFill>
                  <a:srgbClr val="231F20"/>
                </a:solidFill>
                <a:latin typeface="Arial"/>
                <a:cs typeface="Arial"/>
              </a:rPr>
              <a:t>with </a:t>
            </a:r>
            <a:r>
              <a:rPr sz="1950" spc="170" dirty="0">
                <a:solidFill>
                  <a:srgbClr val="231F20"/>
                </a:solidFill>
                <a:latin typeface="Arial"/>
                <a:cs typeface="Arial"/>
              </a:rPr>
              <a:t>other  </a:t>
            </a:r>
            <a:r>
              <a:rPr sz="1950" spc="120" dirty="0">
                <a:solidFill>
                  <a:srgbClr val="231F20"/>
                </a:solidFill>
                <a:latin typeface="Arial"/>
                <a:cs typeface="Arial"/>
              </a:rPr>
              <a:t>technologies</a:t>
            </a:r>
            <a:endParaRPr sz="1950">
              <a:latin typeface="Arial"/>
              <a:cs typeface="Arial"/>
            </a:endParaRPr>
          </a:p>
          <a:p>
            <a:pPr lvl="1">
              <a:lnSpc>
                <a:spcPct val="100000"/>
              </a:lnSpc>
              <a:spcBef>
                <a:spcPts val="20"/>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50" dirty="0">
                <a:solidFill>
                  <a:srgbClr val="231F20"/>
                </a:solidFill>
                <a:latin typeface="Arial"/>
                <a:cs typeface="Arial"/>
              </a:rPr>
              <a:t>Yet </a:t>
            </a:r>
            <a:r>
              <a:rPr sz="1950" spc="100" dirty="0">
                <a:solidFill>
                  <a:srgbClr val="231F20"/>
                </a:solidFill>
                <a:latin typeface="Arial"/>
                <a:cs typeface="Arial"/>
              </a:rPr>
              <a:t>allows </a:t>
            </a:r>
            <a:r>
              <a:rPr sz="1950" spc="190" dirty="0">
                <a:solidFill>
                  <a:srgbClr val="231F20"/>
                </a:solidFill>
                <a:latin typeface="Arial"/>
                <a:cs typeface="Arial"/>
              </a:rPr>
              <a:t>smooth </a:t>
            </a:r>
            <a:r>
              <a:rPr sz="1950" spc="160" dirty="0">
                <a:solidFill>
                  <a:srgbClr val="231F20"/>
                </a:solidFill>
                <a:latin typeface="Arial"/>
                <a:cs typeface="Arial"/>
              </a:rPr>
              <a:t>transition </a:t>
            </a:r>
            <a:r>
              <a:rPr sz="1950" spc="250" dirty="0">
                <a:solidFill>
                  <a:srgbClr val="231F20"/>
                </a:solidFill>
                <a:latin typeface="Arial"/>
                <a:cs typeface="Arial"/>
              </a:rPr>
              <a:t>to</a:t>
            </a:r>
            <a:r>
              <a:rPr sz="1950" spc="790" dirty="0">
                <a:solidFill>
                  <a:srgbClr val="231F20"/>
                </a:solidFill>
                <a:latin typeface="Arial"/>
                <a:cs typeface="Arial"/>
              </a:rPr>
              <a:t> </a:t>
            </a:r>
            <a:r>
              <a:rPr sz="1950" spc="145" dirty="0">
                <a:solidFill>
                  <a:srgbClr val="231F20"/>
                </a:solidFill>
                <a:latin typeface="Arial"/>
                <a:cs typeface="Arial"/>
              </a:rPr>
              <a:t>verification</a:t>
            </a:r>
            <a:endParaRPr sz="1950">
              <a:latin typeface="Arial"/>
              <a:cs typeface="Aria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721813" y="475981"/>
            <a:ext cx="4617085" cy="314960"/>
          </a:xfrm>
          <a:prstGeom prst="rect">
            <a:avLst/>
          </a:prstGeom>
        </p:spPr>
        <p:txBody>
          <a:bodyPr vert="horz" wrap="square" lIns="0" tIns="0" rIns="0" bIns="0" rtlCol="0">
            <a:spAutoFit/>
          </a:bodyPr>
          <a:lstStyle/>
          <a:p>
            <a:pPr marL="12700">
              <a:lnSpc>
                <a:spcPct val="100000"/>
              </a:lnSpc>
            </a:pPr>
            <a:r>
              <a:rPr sz="1950" spc="340" dirty="0">
                <a:solidFill>
                  <a:srgbClr val="231F20"/>
                </a:solidFill>
                <a:latin typeface="Arial"/>
                <a:cs typeface="Arial"/>
              </a:rPr>
              <a:t>From </a:t>
            </a:r>
            <a:r>
              <a:rPr sz="1950" spc="280" dirty="0">
                <a:solidFill>
                  <a:srgbClr val="231F20"/>
                </a:solidFill>
                <a:latin typeface="Arial"/>
                <a:cs typeface="Arial"/>
              </a:rPr>
              <a:t>Refutation </a:t>
            </a:r>
            <a:r>
              <a:rPr sz="1950" spc="400" dirty="0">
                <a:solidFill>
                  <a:srgbClr val="231F20"/>
                </a:solidFill>
                <a:latin typeface="Arial"/>
                <a:cs typeface="Arial"/>
              </a:rPr>
              <a:t>To</a:t>
            </a:r>
            <a:r>
              <a:rPr sz="1950" spc="459" dirty="0">
                <a:solidFill>
                  <a:srgbClr val="231F20"/>
                </a:solidFill>
                <a:latin typeface="Arial"/>
                <a:cs typeface="Arial"/>
              </a:rPr>
              <a:t> </a:t>
            </a:r>
            <a:r>
              <a:rPr sz="1950" spc="245" dirty="0">
                <a:solidFill>
                  <a:srgbClr val="231F20"/>
                </a:solidFill>
                <a:latin typeface="Arial"/>
                <a:cs typeface="Arial"/>
              </a:rPr>
              <a:t>Verification</a:t>
            </a:r>
            <a:endParaRPr sz="1950">
              <a:latin typeface="Arial"/>
              <a:cs typeface="Arial"/>
            </a:endParaRPr>
          </a:p>
        </p:txBody>
      </p:sp>
      <p:sp>
        <p:nvSpPr>
          <p:cNvPr id="3" name="object 3"/>
          <p:cNvSpPr txBox="1"/>
          <p:nvPr/>
        </p:nvSpPr>
        <p:spPr>
          <a:xfrm>
            <a:off x="7467892" y="1709775"/>
            <a:ext cx="845185" cy="561975"/>
          </a:xfrm>
          <a:prstGeom prst="rect">
            <a:avLst/>
          </a:prstGeom>
        </p:spPr>
        <p:txBody>
          <a:bodyPr vert="horz" wrap="square" lIns="0" tIns="0" rIns="0" bIns="0" rtlCol="0">
            <a:spAutoFit/>
          </a:bodyPr>
          <a:lstStyle/>
          <a:p>
            <a:pPr marL="12700" marR="5080">
              <a:lnSpc>
                <a:spcPts val="2190"/>
              </a:lnSpc>
            </a:pPr>
            <a:r>
              <a:rPr sz="1950" spc="5" dirty="0">
                <a:latin typeface="Times New Roman"/>
                <a:cs typeface="Times New Roman"/>
              </a:rPr>
              <a:t>theorem  proving</a:t>
            </a:r>
            <a:endParaRPr sz="1950">
              <a:latin typeface="Times New Roman"/>
              <a:cs typeface="Times New Roman"/>
            </a:endParaRPr>
          </a:p>
        </p:txBody>
      </p:sp>
      <p:sp>
        <p:nvSpPr>
          <p:cNvPr id="4" name="object 4"/>
          <p:cNvSpPr txBox="1"/>
          <p:nvPr/>
        </p:nvSpPr>
        <p:spPr>
          <a:xfrm>
            <a:off x="3368827" y="2865704"/>
            <a:ext cx="2925445" cy="1282065"/>
          </a:xfrm>
          <a:prstGeom prst="rect">
            <a:avLst/>
          </a:prstGeom>
        </p:spPr>
        <p:txBody>
          <a:bodyPr vert="horz" wrap="square" lIns="0" tIns="0" rIns="0" bIns="0" rtlCol="0">
            <a:spAutoFit/>
          </a:bodyPr>
          <a:lstStyle/>
          <a:p>
            <a:pPr marL="1679575">
              <a:lnSpc>
                <a:spcPct val="100000"/>
              </a:lnSpc>
            </a:pPr>
            <a:r>
              <a:rPr sz="1950" spc="15" dirty="0">
                <a:latin typeface="Times New Roman"/>
                <a:cs typeface="Times New Roman"/>
              </a:rPr>
              <a:t>&amp;</a:t>
            </a:r>
            <a:r>
              <a:rPr sz="1950" spc="-95" dirty="0">
                <a:latin typeface="Times New Roman"/>
                <a:cs typeface="Times New Roman"/>
              </a:rPr>
              <a:t> </a:t>
            </a:r>
            <a:r>
              <a:rPr sz="1950" spc="10" dirty="0">
                <a:latin typeface="Times New Roman"/>
                <a:cs typeface="Times New Roman"/>
              </a:rPr>
              <a:t>inf−BMC</a:t>
            </a:r>
            <a:endParaRPr sz="1950">
              <a:latin typeface="Times New Roman"/>
              <a:cs typeface="Times New Roman"/>
            </a:endParaRPr>
          </a:p>
          <a:p>
            <a:pPr>
              <a:lnSpc>
                <a:spcPct val="100000"/>
              </a:lnSpc>
            </a:pPr>
            <a:endParaRPr sz="1900">
              <a:latin typeface="Times New Roman"/>
              <a:cs typeface="Times New Roman"/>
            </a:endParaRPr>
          </a:p>
          <a:p>
            <a:pPr marL="12700" marR="2001520" indent="138430">
              <a:lnSpc>
                <a:spcPts val="2190"/>
              </a:lnSpc>
              <a:spcBef>
                <a:spcPts val="1140"/>
              </a:spcBef>
            </a:pPr>
            <a:r>
              <a:rPr sz="1950" spc="5" dirty="0">
                <a:latin typeface="Times New Roman"/>
                <a:cs typeface="Times New Roman"/>
              </a:rPr>
              <a:t>model  checking</a:t>
            </a:r>
            <a:endParaRPr sz="1950">
              <a:latin typeface="Times New Roman"/>
              <a:cs typeface="Times New Roman"/>
            </a:endParaRPr>
          </a:p>
        </p:txBody>
      </p:sp>
      <p:sp>
        <p:nvSpPr>
          <p:cNvPr id="5" name="object 5"/>
          <p:cNvSpPr/>
          <p:nvPr/>
        </p:nvSpPr>
        <p:spPr>
          <a:xfrm>
            <a:off x="1158299" y="1892440"/>
            <a:ext cx="0" cy="222885"/>
          </a:xfrm>
          <a:custGeom>
            <a:avLst/>
            <a:gdLst/>
            <a:ahLst/>
            <a:cxnLst/>
            <a:rect l="l" t="t" r="r" b="b"/>
            <a:pathLst>
              <a:path h="222885">
                <a:moveTo>
                  <a:pt x="0" y="222325"/>
                </a:moveTo>
                <a:lnTo>
                  <a:pt x="0" y="0"/>
                </a:lnTo>
              </a:path>
            </a:pathLst>
          </a:custGeom>
          <a:ln w="13895">
            <a:solidFill>
              <a:srgbClr val="000000"/>
            </a:solidFill>
          </a:ln>
        </p:spPr>
        <p:txBody>
          <a:bodyPr wrap="square" lIns="0" tIns="0" rIns="0" bIns="0" rtlCol="0"/>
          <a:lstStyle/>
          <a:p>
            <a:endParaRPr/>
          </a:p>
        </p:txBody>
      </p:sp>
      <p:sp>
        <p:nvSpPr>
          <p:cNvPr id="6" name="object 6"/>
          <p:cNvSpPr/>
          <p:nvPr/>
        </p:nvSpPr>
        <p:spPr>
          <a:xfrm>
            <a:off x="1102721" y="1892439"/>
            <a:ext cx="111760" cy="222885"/>
          </a:xfrm>
          <a:custGeom>
            <a:avLst/>
            <a:gdLst/>
            <a:ahLst/>
            <a:cxnLst/>
            <a:rect l="l" t="t" r="r" b="b"/>
            <a:pathLst>
              <a:path w="111759" h="222885">
                <a:moveTo>
                  <a:pt x="111159" y="222326"/>
                </a:moveTo>
                <a:lnTo>
                  <a:pt x="55577" y="0"/>
                </a:lnTo>
                <a:lnTo>
                  <a:pt x="0" y="222326"/>
                </a:lnTo>
                <a:lnTo>
                  <a:pt x="111159" y="222326"/>
                </a:lnTo>
                <a:close/>
              </a:path>
            </a:pathLst>
          </a:custGeom>
          <a:solidFill>
            <a:srgbClr val="000000"/>
          </a:solidFill>
        </p:spPr>
        <p:txBody>
          <a:bodyPr wrap="square" lIns="0" tIns="0" rIns="0" bIns="0" rtlCol="0"/>
          <a:lstStyle/>
          <a:p>
            <a:endParaRPr/>
          </a:p>
        </p:txBody>
      </p:sp>
      <p:sp>
        <p:nvSpPr>
          <p:cNvPr id="7" name="object 7"/>
          <p:cNvSpPr/>
          <p:nvPr/>
        </p:nvSpPr>
        <p:spPr>
          <a:xfrm>
            <a:off x="1102721" y="1892439"/>
            <a:ext cx="111760" cy="222885"/>
          </a:xfrm>
          <a:custGeom>
            <a:avLst/>
            <a:gdLst/>
            <a:ahLst/>
            <a:cxnLst/>
            <a:rect l="l" t="t" r="r" b="b"/>
            <a:pathLst>
              <a:path w="111759" h="222885">
                <a:moveTo>
                  <a:pt x="111159" y="222326"/>
                </a:moveTo>
                <a:lnTo>
                  <a:pt x="55577" y="0"/>
                </a:lnTo>
                <a:lnTo>
                  <a:pt x="0" y="222326"/>
                </a:lnTo>
                <a:lnTo>
                  <a:pt x="111159" y="222326"/>
                </a:lnTo>
                <a:close/>
              </a:path>
            </a:pathLst>
          </a:custGeom>
          <a:ln w="13895">
            <a:solidFill>
              <a:srgbClr val="000000"/>
            </a:solidFill>
          </a:ln>
        </p:spPr>
        <p:txBody>
          <a:bodyPr wrap="square" lIns="0" tIns="0" rIns="0" bIns="0" rtlCol="0"/>
          <a:lstStyle/>
          <a:p>
            <a:endParaRPr/>
          </a:p>
        </p:txBody>
      </p:sp>
      <p:sp>
        <p:nvSpPr>
          <p:cNvPr id="8" name="object 8"/>
          <p:cNvSpPr/>
          <p:nvPr/>
        </p:nvSpPr>
        <p:spPr>
          <a:xfrm>
            <a:off x="1158299" y="5753443"/>
            <a:ext cx="7752080" cy="0"/>
          </a:xfrm>
          <a:custGeom>
            <a:avLst/>
            <a:gdLst/>
            <a:ahLst/>
            <a:cxnLst/>
            <a:rect l="l" t="t" r="r" b="b"/>
            <a:pathLst>
              <a:path w="7752080">
                <a:moveTo>
                  <a:pt x="0" y="0"/>
                </a:moveTo>
                <a:lnTo>
                  <a:pt x="7751638" y="0"/>
                </a:lnTo>
              </a:path>
            </a:pathLst>
          </a:custGeom>
          <a:ln w="13895">
            <a:solidFill>
              <a:srgbClr val="000000"/>
            </a:solidFill>
          </a:ln>
        </p:spPr>
        <p:txBody>
          <a:bodyPr wrap="square" lIns="0" tIns="0" rIns="0" bIns="0" rtlCol="0"/>
          <a:lstStyle/>
          <a:p>
            <a:endParaRPr/>
          </a:p>
        </p:txBody>
      </p:sp>
      <p:sp>
        <p:nvSpPr>
          <p:cNvPr id="9" name="object 9"/>
          <p:cNvSpPr/>
          <p:nvPr/>
        </p:nvSpPr>
        <p:spPr>
          <a:xfrm>
            <a:off x="8687613" y="5697854"/>
            <a:ext cx="222885" cy="111760"/>
          </a:xfrm>
          <a:custGeom>
            <a:avLst/>
            <a:gdLst/>
            <a:ahLst/>
            <a:cxnLst/>
            <a:rect l="l" t="t" r="r" b="b"/>
            <a:pathLst>
              <a:path w="222884" h="111760">
                <a:moveTo>
                  <a:pt x="222326" y="55587"/>
                </a:moveTo>
                <a:lnTo>
                  <a:pt x="0" y="0"/>
                </a:lnTo>
                <a:lnTo>
                  <a:pt x="0" y="111163"/>
                </a:lnTo>
                <a:lnTo>
                  <a:pt x="222326" y="55587"/>
                </a:lnTo>
                <a:close/>
              </a:path>
            </a:pathLst>
          </a:custGeom>
          <a:solidFill>
            <a:srgbClr val="000000"/>
          </a:solidFill>
        </p:spPr>
        <p:txBody>
          <a:bodyPr wrap="square" lIns="0" tIns="0" rIns="0" bIns="0" rtlCol="0"/>
          <a:lstStyle/>
          <a:p>
            <a:endParaRPr/>
          </a:p>
        </p:txBody>
      </p:sp>
      <p:sp>
        <p:nvSpPr>
          <p:cNvPr id="10" name="object 10"/>
          <p:cNvSpPr/>
          <p:nvPr/>
        </p:nvSpPr>
        <p:spPr>
          <a:xfrm>
            <a:off x="8687613" y="5697854"/>
            <a:ext cx="222885" cy="111760"/>
          </a:xfrm>
          <a:custGeom>
            <a:avLst/>
            <a:gdLst/>
            <a:ahLst/>
            <a:cxnLst/>
            <a:rect l="l" t="t" r="r" b="b"/>
            <a:pathLst>
              <a:path w="222884" h="111760">
                <a:moveTo>
                  <a:pt x="0" y="111163"/>
                </a:moveTo>
                <a:lnTo>
                  <a:pt x="222326" y="55587"/>
                </a:lnTo>
                <a:lnTo>
                  <a:pt x="0" y="0"/>
                </a:lnTo>
                <a:lnTo>
                  <a:pt x="0" y="111163"/>
                </a:lnTo>
                <a:close/>
              </a:path>
            </a:pathLst>
          </a:custGeom>
          <a:ln w="13895">
            <a:solidFill>
              <a:srgbClr val="000000"/>
            </a:solidFill>
          </a:ln>
        </p:spPr>
        <p:txBody>
          <a:bodyPr wrap="square" lIns="0" tIns="0" rIns="0" bIns="0" rtlCol="0"/>
          <a:lstStyle/>
          <a:p>
            <a:endParaRPr/>
          </a:p>
        </p:txBody>
      </p:sp>
      <p:sp>
        <p:nvSpPr>
          <p:cNvPr id="11" name="object 11"/>
          <p:cNvSpPr/>
          <p:nvPr/>
        </p:nvSpPr>
        <p:spPr>
          <a:xfrm>
            <a:off x="7480592" y="2279650"/>
            <a:ext cx="833755" cy="3474085"/>
          </a:xfrm>
          <a:custGeom>
            <a:avLst/>
            <a:gdLst/>
            <a:ahLst/>
            <a:cxnLst/>
            <a:rect l="l" t="t" r="r" b="b"/>
            <a:pathLst>
              <a:path w="833754" h="3474085">
                <a:moveTo>
                  <a:pt x="833704" y="3473792"/>
                </a:moveTo>
                <a:lnTo>
                  <a:pt x="833704" y="0"/>
                </a:lnTo>
                <a:lnTo>
                  <a:pt x="0" y="416864"/>
                </a:lnTo>
                <a:lnTo>
                  <a:pt x="0" y="3473792"/>
                </a:lnTo>
                <a:lnTo>
                  <a:pt x="833704" y="3473792"/>
                </a:lnTo>
                <a:close/>
              </a:path>
            </a:pathLst>
          </a:custGeom>
          <a:solidFill>
            <a:srgbClr val="86CEFF"/>
          </a:solidFill>
        </p:spPr>
        <p:txBody>
          <a:bodyPr wrap="square" lIns="0" tIns="0" rIns="0" bIns="0" rtlCol="0"/>
          <a:lstStyle/>
          <a:p>
            <a:endParaRPr/>
          </a:p>
        </p:txBody>
      </p:sp>
      <p:sp>
        <p:nvSpPr>
          <p:cNvPr id="12" name="object 12"/>
          <p:cNvSpPr/>
          <p:nvPr/>
        </p:nvSpPr>
        <p:spPr>
          <a:xfrm>
            <a:off x="7480592" y="2279650"/>
            <a:ext cx="833755" cy="3474085"/>
          </a:xfrm>
          <a:custGeom>
            <a:avLst/>
            <a:gdLst/>
            <a:ahLst/>
            <a:cxnLst/>
            <a:rect l="l" t="t" r="r" b="b"/>
            <a:pathLst>
              <a:path w="833754" h="3474085">
                <a:moveTo>
                  <a:pt x="833704" y="3473792"/>
                </a:moveTo>
                <a:lnTo>
                  <a:pt x="833704" y="0"/>
                </a:lnTo>
                <a:lnTo>
                  <a:pt x="0" y="416864"/>
                </a:lnTo>
                <a:lnTo>
                  <a:pt x="0" y="3473792"/>
                </a:lnTo>
                <a:lnTo>
                  <a:pt x="833704" y="3473792"/>
                </a:lnTo>
                <a:close/>
              </a:path>
            </a:pathLst>
          </a:custGeom>
          <a:ln w="6947">
            <a:solidFill>
              <a:srgbClr val="000000"/>
            </a:solidFill>
          </a:ln>
        </p:spPr>
        <p:txBody>
          <a:bodyPr wrap="square" lIns="0" tIns="0" rIns="0" bIns="0" rtlCol="0"/>
          <a:lstStyle/>
          <a:p>
            <a:endParaRPr/>
          </a:p>
        </p:txBody>
      </p:sp>
      <p:sp>
        <p:nvSpPr>
          <p:cNvPr id="13" name="object 13"/>
          <p:cNvSpPr/>
          <p:nvPr/>
        </p:nvSpPr>
        <p:spPr>
          <a:xfrm>
            <a:off x="4562614" y="2696514"/>
            <a:ext cx="2918460" cy="3057525"/>
          </a:xfrm>
          <a:custGeom>
            <a:avLst/>
            <a:gdLst/>
            <a:ahLst/>
            <a:cxnLst/>
            <a:rect l="l" t="t" r="r" b="b"/>
            <a:pathLst>
              <a:path w="2918459" h="3057525">
                <a:moveTo>
                  <a:pt x="2917977" y="3056928"/>
                </a:moveTo>
                <a:lnTo>
                  <a:pt x="2917977" y="0"/>
                </a:lnTo>
                <a:lnTo>
                  <a:pt x="0" y="1389507"/>
                </a:lnTo>
                <a:lnTo>
                  <a:pt x="0" y="3056928"/>
                </a:lnTo>
                <a:lnTo>
                  <a:pt x="2917977" y="3056928"/>
                </a:lnTo>
                <a:close/>
              </a:path>
            </a:pathLst>
          </a:custGeom>
          <a:solidFill>
            <a:srgbClr val="00D100"/>
          </a:solidFill>
        </p:spPr>
        <p:txBody>
          <a:bodyPr wrap="square" lIns="0" tIns="0" rIns="0" bIns="0" rtlCol="0"/>
          <a:lstStyle/>
          <a:p>
            <a:endParaRPr/>
          </a:p>
        </p:txBody>
      </p:sp>
      <p:sp>
        <p:nvSpPr>
          <p:cNvPr id="14" name="object 14"/>
          <p:cNvSpPr/>
          <p:nvPr/>
        </p:nvSpPr>
        <p:spPr>
          <a:xfrm>
            <a:off x="4562614" y="2696514"/>
            <a:ext cx="2918460" cy="3057525"/>
          </a:xfrm>
          <a:custGeom>
            <a:avLst/>
            <a:gdLst/>
            <a:ahLst/>
            <a:cxnLst/>
            <a:rect l="l" t="t" r="r" b="b"/>
            <a:pathLst>
              <a:path w="2918459" h="3057525">
                <a:moveTo>
                  <a:pt x="0" y="3056928"/>
                </a:moveTo>
                <a:lnTo>
                  <a:pt x="0" y="1389507"/>
                </a:lnTo>
                <a:lnTo>
                  <a:pt x="2917977" y="0"/>
                </a:lnTo>
                <a:lnTo>
                  <a:pt x="2917977" y="3056928"/>
                </a:lnTo>
                <a:lnTo>
                  <a:pt x="0" y="3056928"/>
                </a:lnTo>
                <a:close/>
              </a:path>
            </a:pathLst>
          </a:custGeom>
          <a:ln w="6947">
            <a:solidFill>
              <a:srgbClr val="000000"/>
            </a:solidFill>
          </a:ln>
        </p:spPr>
        <p:txBody>
          <a:bodyPr wrap="square" lIns="0" tIns="0" rIns="0" bIns="0" rtlCol="0"/>
          <a:lstStyle/>
          <a:p>
            <a:endParaRPr/>
          </a:p>
        </p:txBody>
      </p:sp>
      <p:sp>
        <p:nvSpPr>
          <p:cNvPr id="15" name="object 15"/>
          <p:cNvSpPr/>
          <p:nvPr/>
        </p:nvSpPr>
        <p:spPr>
          <a:xfrm>
            <a:off x="3312045" y="4086021"/>
            <a:ext cx="1250950" cy="1667510"/>
          </a:xfrm>
          <a:custGeom>
            <a:avLst/>
            <a:gdLst/>
            <a:ahLst/>
            <a:cxnLst/>
            <a:rect l="l" t="t" r="r" b="b"/>
            <a:pathLst>
              <a:path w="1250950" h="1667510">
                <a:moveTo>
                  <a:pt x="1250569" y="1667421"/>
                </a:moveTo>
                <a:lnTo>
                  <a:pt x="1250569" y="0"/>
                </a:lnTo>
                <a:lnTo>
                  <a:pt x="0" y="625284"/>
                </a:lnTo>
                <a:lnTo>
                  <a:pt x="0" y="1667421"/>
                </a:lnTo>
                <a:lnTo>
                  <a:pt x="1250569" y="1667421"/>
                </a:lnTo>
                <a:close/>
              </a:path>
            </a:pathLst>
          </a:custGeom>
          <a:solidFill>
            <a:srgbClr val="FFBFBF"/>
          </a:solidFill>
        </p:spPr>
        <p:txBody>
          <a:bodyPr wrap="square" lIns="0" tIns="0" rIns="0" bIns="0" rtlCol="0"/>
          <a:lstStyle/>
          <a:p>
            <a:endParaRPr/>
          </a:p>
        </p:txBody>
      </p:sp>
      <p:sp>
        <p:nvSpPr>
          <p:cNvPr id="16" name="object 16"/>
          <p:cNvSpPr/>
          <p:nvPr/>
        </p:nvSpPr>
        <p:spPr>
          <a:xfrm>
            <a:off x="3312045" y="4086021"/>
            <a:ext cx="1250950" cy="1667510"/>
          </a:xfrm>
          <a:custGeom>
            <a:avLst/>
            <a:gdLst/>
            <a:ahLst/>
            <a:cxnLst/>
            <a:rect l="l" t="t" r="r" b="b"/>
            <a:pathLst>
              <a:path w="1250950" h="1667510">
                <a:moveTo>
                  <a:pt x="0" y="1667421"/>
                </a:moveTo>
                <a:lnTo>
                  <a:pt x="0" y="625284"/>
                </a:lnTo>
                <a:lnTo>
                  <a:pt x="1250569" y="0"/>
                </a:lnTo>
                <a:lnTo>
                  <a:pt x="1250569" y="1667421"/>
                </a:lnTo>
                <a:lnTo>
                  <a:pt x="0" y="1667421"/>
                </a:lnTo>
                <a:close/>
              </a:path>
            </a:pathLst>
          </a:custGeom>
          <a:ln w="6947">
            <a:solidFill>
              <a:srgbClr val="000000"/>
            </a:solidFill>
          </a:ln>
        </p:spPr>
        <p:txBody>
          <a:bodyPr wrap="square" lIns="0" tIns="0" rIns="0" bIns="0" rtlCol="0"/>
          <a:lstStyle/>
          <a:p>
            <a:endParaRPr/>
          </a:p>
        </p:txBody>
      </p:sp>
      <p:sp>
        <p:nvSpPr>
          <p:cNvPr id="17" name="object 17"/>
          <p:cNvSpPr txBox="1"/>
          <p:nvPr/>
        </p:nvSpPr>
        <p:spPr>
          <a:xfrm>
            <a:off x="1354035" y="1862315"/>
            <a:ext cx="1424305" cy="704215"/>
          </a:xfrm>
          <a:prstGeom prst="rect">
            <a:avLst/>
          </a:prstGeom>
        </p:spPr>
        <p:txBody>
          <a:bodyPr vert="horz" wrap="square" lIns="0" tIns="0" rIns="0" bIns="0" rtlCol="0">
            <a:spAutoFit/>
          </a:bodyPr>
          <a:lstStyle/>
          <a:p>
            <a:pPr marL="12700" marR="5080">
              <a:lnSpc>
                <a:spcPts val="2740"/>
              </a:lnSpc>
            </a:pPr>
            <a:r>
              <a:rPr sz="2600" spc="10" dirty="0">
                <a:latin typeface="Times New Roman"/>
                <a:cs typeface="Times New Roman"/>
              </a:rPr>
              <a:t>Assurance  for</a:t>
            </a:r>
            <a:r>
              <a:rPr sz="2600" spc="-85" dirty="0">
                <a:latin typeface="Times New Roman"/>
                <a:cs typeface="Times New Roman"/>
              </a:rPr>
              <a:t> </a:t>
            </a:r>
            <a:r>
              <a:rPr sz="2600" spc="10" dirty="0">
                <a:latin typeface="Times New Roman"/>
                <a:cs typeface="Times New Roman"/>
              </a:rPr>
              <a:t>system</a:t>
            </a:r>
            <a:endParaRPr sz="2600">
              <a:latin typeface="Times New Roman"/>
              <a:cs typeface="Times New Roman"/>
            </a:endParaRPr>
          </a:p>
        </p:txBody>
      </p:sp>
      <p:sp>
        <p:nvSpPr>
          <p:cNvPr id="18" name="object 18"/>
          <p:cNvSpPr txBox="1"/>
          <p:nvPr/>
        </p:nvSpPr>
        <p:spPr>
          <a:xfrm>
            <a:off x="3384397" y="4896789"/>
            <a:ext cx="4905375" cy="1490345"/>
          </a:xfrm>
          <a:prstGeom prst="rect">
            <a:avLst/>
          </a:prstGeom>
        </p:spPr>
        <p:txBody>
          <a:bodyPr vert="horz" wrap="square" lIns="0" tIns="0" rIns="0" bIns="0" rtlCol="0">
            <a:spAutoFit/>
          </a:bodyPr>
          <a:lstStyle/>
          <a:p>
            <a:pPr marL="12700">
              <a:lnSpc>
                <a:spcPct val="100000"/>
              </a:lnSpc>
            </a:pPr>
            <a:r>
              <a:rPr sz="2150" spc="15" dirty="0">
                <a:latin typeface="Times New Roman"/>
                <a:cs typeface="Times New Roman"/>
              </a:rPr>
              <a:t>refutation</a:t>
            </a:r>
            <a:endParaRPr sz="2150">
              <a:latin typeface="Times New Roman"/>
              <a:cs typeface="Times New Roman"/>
            </a:endParaRPr>
          </a:p>
          <a:p>
            <a:pPr>
              <a:lnSpc>
                <a:spcPct val="100000"/>
              </a:lnSpc>
            </a:pPr>
            <a:endParaRPr sz="2200">
              <a:latin typeface="Times New Roman"/>
              <a:cs typeface="Times New Roman"/>
            </a:endParaRPr>
          </a:p>
          <a:p>
            <a:pPr>
              <a:lnSpc>
                <a:spcPct val="100000"/>
              </a:lnSpc>
              <a:spcBef>
                <a:spcPts val="19"/>
              </a:spcBef>
            </a:pPr>
            <a:endParaRPr sz="2950">
              <a:latin typeface="Times New Roman"/>
              <a:cs typeface="Times New Roman"/>
            </a:endParaRPr>
          </a:p>
          <a:p>
            <a:pPr marR="5080" algn="r">
              <a:lnSpc>
                <a:spcPct val="100000"/>
              </a:lnSpc>
            </a:pPr>
            <a:r>
              <a:rPr sz="2600" spc="10" dirty="0">
                <a:latin typeface="Times New Roman"/>
                <a:cs typeface="Times New Roman"/>
              </a:rPr>
              <a:t>Effort</a:t>
            </a:r>
            <a:endParaRPr sz="2600">
              <a:latin typeface="Times New Roman"/>
              <a:cs typeface="Times New Roman"/>
            </a:endParaRPr>
          </a:p>
        </p:txBody>
      </p:sp>
      <p:sp>
        <p:nvSpPr>
          <p:cNvPr id="19" name="object 19"/>
          <p:cNvSpPr txBox="1"/>
          <p:nvPr/>
        </p:nvSpPr>
        <p:spPr>
          <a:xfrm>
            <a:off x="7750124" y="3443617"/>
            <a:ext cx="359410" cy="1563370"/>
          </a:xfrm>
          <a:prstGeom prst="rect">
            <a:avLst/>
          </a:prstGeom>
        </p:spPr>
        <p:txBody>
          <a:bodyPr vert="vert" wrap="square" lIns="0" tIns="0" rIns="0" bIns="0" rtlCol="0">
            <a:spAutoFit/>
          </a:bodyPr>
          <a:lstStyle/>
          <a:p>
            <a:pPr marL="12700">
              <a:lnSpc>
                <a:spcPts val="2735"/>
              </a:lnSpc>
            </a:pPr>
            <a:r>
              <a:rPr sz="2600" dirty="0">
                <a:latin typeface="Times New Roman"/>
                <a:cs typeface="Times New Roman"/>
              </a:rPr>
              <a:t>verification</a:t>
            </a:r>
            <a:endParaRPr sz="2600">
              <a:latin typeface="Times New Roman"/>
              <a:cs typeface="Times New Roman"/>
            </a:endParaRPr>
          </a:p>
        </p:txBody>
      </p:sp>
      <p:sp>
        <p:nvSpPr>
          <p:cNvPr id="20" name="object 20"/>
          <p:cNvSpPr txBox="1"/>
          <p:nvPr/>
        </p:nvSpPr>
        <p:spPr>
          <a:xfrm>
            <a:off x="4376318" y="2448864"/>
            <a:ext cx="1067435" cy="309245"/>
          </a:xfrm>
          <a:prstGeom prst="rect">
            <a:avLst/>
          </a:prstGeom>
        </p:spPr>
        <p:txBody>
          <a:bodyPr vert="horz" wrap="square" lIns="0" tIns="0" rIns="0" bIns="0" rtlCol="0">
            <a:spAutoFit/>
          </a:bodyPr>
          <a:lstStyle/>
          <a:p>
            <a:pPr marL="12700">
              <a:lnSpc>
                <a:spcPct val="100000"/>
              </a:lnSpc>
            </a:pPr>
            <a:r>
              <a:rPr sz="1950" spc="5" dirty="0">
                <a:latin typeface="Times New Roman"/>
                <a:cs typeface="Times New Roman"/>
              </a:rPr>
              <a:t>automated</a:t>
            </a:r>
            <a:endParaRPr sz="1950">
              <a:latin typeface="Times New Roman"/>
              <a:cs typeface="Times New Roman"/>
            </a:endParaRPr>
          </a:p>
        </p:txBody>
      </p:sp>
      <p:sp>
        <p:nvSpPr>
          <p:cNvPr id="21" name="object 21"/>
          <p:cNvSpPr txBox="1"/>
          <p:nvPr/>
        </p:nvSpPr>
        <p:spPr>
          <a:xfrm>
            <a:off x="5599121" y="2448864"/>
            <a:ext cx="1123315" cy="309245"/>
          </a:xfrm>
          <a:prstGeom prst="rect">
            <a:avLst/>
          </a:prstGeom>
        </p:spPr>
        <p:txBody>
          <a:bodyPr vert="horz" wrap="square" lIns="0" tIns="0" rIns="0" bIns="0" rtlCol="0">
            <a:spAutoFit/>
          </a:bodyPr>
          <a:lstStyle/>
          <a:p>
            <a:pPr marL="12700">
              <a:lnSpc>
                <a:spcPct val="100000"/>
              </a:lnSpc>
            </a:pPr>
            <a:r>
              <a:rPr sz="1950" spc="5" dirty="0">
                <a:latin typeface="Times New Roman"/>
                <a:cs typeface="Times New Roman"/>
              </a:rPr>
              <a:t>abstraction</a:t>
            </a:r>
            <a:endParaRPr sz="1950">
              <a:latin typeface="Times New Roman"/>
              <a:cs typeface="Times New Roman"/>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983362"/>
            <a:ext cx="8026400" cy="4822825"/>
          </a:xfrm>
          <a:prstGeom prst="rect">
            <a:avLst/>
          </a:prstGeom>
        </p:spPr>
        <p:txBody>
          <a:bodyPr vert="horz" wrap="square" lIns="0" tIns="0" rIns="0" bIns="0" rtlCol="0">
            <a:spAutoFit/>
          </a:bodyPr>
          <a:lstStyle/>
          <a:p>
            <a:pPr marL="2285365">
              <a:lnSpc>
                <a:spcPct val="100000"/>
              </a:lnSpc>
            </a:pPr>
            <a:r>
              <a:rPr sz="1950" spc="225" dirty="0">
                <a:solidFill>
                  <a:srgbClr val="231F20"/>
                </a:solidFill>
                <a:latin typeface="Arial"/>
                <a:cs typeface="Arial"/>
              </a:rPr>
              <a:t>Filling </a:t>
            </a:r>
            <a:r>
              <a:rPr sz="1950" spc="285" dirty="0">
                <a:solidFill>
                  <a:srgbClr val="231F20"/>
                </a:solidFill>
                <a:latin typeface="Arial"/>
                <a:cs typeface="Arial"/>
              </a:rPr>
              <a:t>the </a:t>
            </a:r>
            <a:r>
              <a:rPr sz="1950" spc="254" dirty="0">
                <a:solidFill>
                  <a:srgbClr val="231F20"/>
                </a:solidFill>
                <a:latin typeface="Arial"/>
                <a:cs typeface="Arial"/>
              </a:rPr>
              <a:t>Remaining</a:t>
            </a:r>
            <a:r>
              <a:rPr sz="1950" spc="515" dirty="0">
                <a:solidFill>
                  <a:srgbClr val="231F20"/>
                </a:solidFill>
                <a:latin typeface="Arial"/>
                <a:cs typeface="Arial"/>
              </a:rPr>
              <a:t> </a:t>
            </a:r>
            <a:r>
              <a:rPr sz="1950" spc="250" dirty="0">
                <a:solidFill>
                  <a:srgbClr val="231F20"/>
                </a:solidFill>
                <a:latin typeface="Arial"/>
                <a:cs typeface="Arial"/>
              </a:rPr>
              <a:t>Gap</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180" dirty="0">
                <a:solidFill>
                  <a:srgbClr val="231F20"/>
                </a:solidFill>
                <a:latin typeface="Arial"/>
                <a:cs typeface="Arial"/>
              </a:rPr>
              <a:t>Model </a:t>
            </a:r>
            <a:r>
              <a:rPr sz="1950" spc="125" dirty="0">
                <a:solidFill>
                  <a:srgbClr val="231F20"/>
                </a:solidFill>
                <a:latin typeface="Arial"/>
                <a:cs typeface="Arial"/>
              </a:rPr>
              <a:t>checking </a:t>
            </a:r>
            <a:r>
              <a:rPr sz="1950" spc="155" dirty="0">
                <a:solidFill>
                  <a:srgbClr val="231F20"/>
                </a:solidFill>
                <a:latin typeface="Arial"/>
                <a:cs typeface="Arial"/>
              </a:rPr>
              <a:t>for </a:t>
            </a:r>
            <a:r>
              <a:rPr sz="1950" spc="175" dirty="0">
                <a:solidFill>
                  <a:srgbClr val="231F20"/>
                </a:solidFill>
                <a:latin typeface="Arial"/>
                <a:cs typeface="Arial"/>
              </a:rPr>
              <a:t>refutation </a:t>
            </a:r>
            <a:r>
              <a:rPr sz="1950" spc="130" dirty="0">
                <a:solidFill>
                  <a:srgbClr val="231F20"/>
                </a:solidFill>
                <a:latin typeface="Arial"/>
                <a:cs typeface="Arial"/>
              </a:rPr>
              <a:t>and </a:t>
            </a:r>
            <a:r>
              <a:rPr sz="1950" spc="155" dirty="0">
                <a:solidFill>
                  <a:srgbClr val="231F20"/>
                </a:solidFill>
                <a:latin typeface="Arial"/>
                <a:cs typeface="Arial"/>
              </a:rPr>
              <a:t>(via </a:t>
            </a:r>
            <a:r>
              <a:rPr sz="1950" spc="180" dirty="0">
                <a:solidFill>
                  <a:srgbClr val="231F20"/>
                </a:solidFill>
                <a:latin typeface="Arial"/>
                <a:cs typeface="Arial"/>
              </a:rPr>
              <a:t>automated  </a:t>
            </a:r>
            <a:r>
              <a:rPr sz="1950" spc="155" dirty="0">
                <a:solidFill>
                  <a:srgbClr val="231F20"/>
                </a:solidFill>
                <a:latin typeface="Arial"/>
                <a:cs typeface="Arial"/>
              </a:rPr>
              <a:t>abstraction </a:t>
            </a:r>
            <a:r>
              <a:rPr sz="1950" spc="130" dirty="0">
                <a:solidFill>
                  <a:srgbClr val="231F20"/>
                </a:solidFill>
                <a:latin typeface="Arial"/>
                <a:cs typeface="Arial"/>
              </a:rPr>
              <a:t>and </a:t>
            </a:r>
            <a:r>
              <a:rPr sz="1950" spc="229" dirty="0">
                <a:solidFill>
                  <a:srgbClr val="231F20"/>
                </a:solidFill>
                <a:latin typeface="Arial"/>
                <a:cs typeface="Arial"/>
              </a:rPr>
              <a:t>inf-BMC) </a:t>
            </a:r>
            <a:r>
              <a:rPr sz="1950" spc="155" dirty="0">
                <a:solidFill>
                  <a:srgbClr val="231F20"/>
                </a:solidFill>
                <a:latin typeface="Arial"/>
                <a:cs typeface="Arial"/>
              </a:rPr>
              <a:t>for </a:t>
            </a:r>
            <a:r>
              <a:rPr sz="1950" spc="145" dirty="0">
                <a:solidFill>
                  <a:srgbClr val="231F20"/>
                </a:solidFill>
                <a:latin typeface="Arial"/>
                <a:cs typeface="Arial"/>
              </a:rPr>
              <a:t>verification </a:t>
            </a:r>
            <a:r>
              <a:rPr sz="1950" spc="105" dirty="0">
                <a:solidFill>
                  <a:srgbClr val="231F20"/>
                </a:solidFill>
                <a:latin typeface="Arial"/>
                <a:cs typeface="Arial"/>
              </a:rPr>
              <a:t>imposes </a:t>
            </a:r>
            <a:r>
              <a:rPr sz="1950" spc="85" dirty="0">
                <a:solidFill>
                  <a:srgbClr val="231F20"/>
                </a:solidFill>
                <a:latin typeface="Arial"/>
                <a:cs typeface="Arial"/>
              </a:rPr>
              <a:t>a </a:t>
            </a:r>
            <a:r>
              <a:rPr sz="1950" spc="180" dirty="0">
                <a:solidFill>
                  <a:srgbClr val="231F20"/>
                </a:solidFill>
                <a:latin typeface="Arial"/>
                <a:cs typeface="Arial"/>
              </a:rPr>
              <a:t>much  </a:t>
            </a:r>
            <a:r>
              <a:rPr sz="1950" spc="110" dirty="0">
                <a:solidFill>
                  <a:srgbClr val="231F20"/>
                </a:solidFill>
                <a:latin typeface="Arial"/>
                <a:cs typeface="Arial"/>
              </a:rPr>
              <a:t>smaller </a:t>
            </a:r>
            <a:r>
              <a:rPr sz="1950" spc="114" dirty="0">
                <a:solidFill>
                  <a:srgbClr val="231F20"/>
                </a:solidFill>
                <a:latin typeface="Arial"/>
                <a:cs typeface="Arial"/>
              </a:rPr>
              <a:t>barrier </a:t>
            </a:r>
            <a:r>
              <a:rPr sz="1950" spc="250" dirty="0">
                <a:solidFill>
                  <a:srgbClr val="231F20"/>
                </a:solidFill>
                <a:latin typeface="Arial"/>
                <a:cs typeface="Arial"/>
              </a:rPr>
              <a:t>to </a:t>
            </a:r>
            <a:r>
              <a:rPr sz="1950" spc="165" dirty="0">
                <a:solidFill>
                  <a:srgbClr val="231F20"/>
                </a:solidFill>
                <a:latin typeface="Arial"/>
                <a:cs typeface="Arial"/>
              </a:rPr>
              <a:t>adoption </a:t>
            </a:r>
            <a:r>
              <a:rPr sz="1950" spc="185" dirty="0">
                <a:solidFill>
                  <a:srgbClr val="231F20"/>
                </a:solidFill>
                <a:latin typeface="Arial"/>
                <a:cs typeface="Arial"/>
              </a:rPr>
              <a:t>than </a:t>
            </a:r>
            <a:r>
              <a:rPr sz="1950" spc="120" dirty="0">
                <a:solidFill>
                  <a:srgbClr val="231F20"/>
                </a:solidFill>
                <a:latin typeface="Arial"/>
                <a:cs typeface="Arial"/>
              </a:rPr>
              <a:t>old-style </a:t>
            </a:r>
            <a:r>
              <a:rPr sz="1950" spc="160" dirty="0">
                <a:solidFill>
                  <a:srgbClr val="231F20"/>
                </a:solidFill>
                <a:latin typeface="Arial"/>
                <a:cs typeface="Arial"/>
              </a:rPr>
              <a:t>formal </a:t>
            </a:r>
            <a:r>
              <a:rPr sz="1950" spc="330" dirty="0">
                <a:solidFill>
                  <a:srgbClr val="231F20"/>
                </a:solidFill>
                <a:latin typeface="Arial"/>
                <a:cs typeface="Arial"/>
              </a:rPr>
              <a:t> </a:t>
            </a:r>
            <a:r>
              <a:rPr sz="1950" spc="145" dirty="0">
                <a:solidFill>
                  <a:srgbClr val="231F20"/>
                </a:solidFill>
                <a:latin typeface="Arial"/>
                <a:cs typeface="Arial"/>
              </a:rPr>
              <a:t>verification</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75" dirty="0">
                <a:solidFill>
                  <a:srgbClr val="231F20"/>
                </a:solidFill>
                <a:latin typeface="Arial"/>
                <a:cs typeface="Arial"/>
              </a:rPr>
              <a:t>But </a:t>
            </a:r>
            <a:r>
              <a:rPr sz="1950" spc="175" dirty="0">
                <a:solidFill>
                  <a:srgbClr val="231F20"/>
                </a:solidFill>
                <a:latin typeface="Arial"/>
                <a:cs typeface="Arial"/>
              </a:rPr>
              <a:t>the </a:t>
            </a:r>
            <a:r>
              <a:rPr sz="1950" spc="114" dirty="0">
                <a:solidFill>
                  <a:srgbClr val="231F20"/>
                </a:solidFill>
                <a:latin typeface="Arial"/>
                <a:cs typeface="Arial"/>
              </a:rPr>
              <a:t>barrier </a:t>
            </a:r>
            <a:r>
              <a:rPr sz="1950" spc="40" dirty="0">
                <a:solidFill>
                  <a:srgbClr val="231F20"/>
                </a:solidFill>
                <a:latin typeface="Arial"/>
                <a:cs typeface="Arial"/>
              </a:rPr>
              <a:t>is </a:t>
            </a:r>
            <a:r>
              <a:rPr sz="1950" spc="130" dirty="0">
                <a:solidFill>
                  <a:srgbClr val="231F20"/>
                </a:solidFill>
                <a:latin typeface="Arial"/>
                <a:cs typeface="Arial"/>
              </a:rPr>
              <a:t>still</a:t>
            </a:r>
            <a:r>
              <a:rPr sz="1950" spc="775" dirty="0">
                <a:solidFill>
                  <a:srgbClr val="231F20"/>
                </a:solidFill>
                <a:latin typeface="Arial"/>
                <a:cs typeface="Arial"/>
              </a:rPr>
              <a:t> </a:t>
            </a:r>
            <a:r>
              <a:rPr sz="1950" spc="140" dirty="0">
                <a:solidFill>
                  <a:srgbClr val="231F20"/>
                </a:solidFill>
                <a:latin typeface="Arial"/>
                <a:cs typeface="Arial"/>
              </a:rPr>
              <a:t>there</a:t>
            </a:r>
            <a:endParaRPr sz="1950">
              <a:latin typeface="Arial"/>
              <a:cs typeface="Arial"/>
            </a:endParaRPr>
          </a:p>
          <a:p>
            <a:pPr marL="300990" marR="703580" indent="-288290">
              <a:lnSpc>
                <a:spcPct val="125000"/>
              </a:lnSpc>
              <a:spcBef>
                <a:spcPts val="1340"/>
              </a:spcBef>
              <a:buSzPct val="105128"/>
              <a:buFont typeface="Lucida Sans Unicode"/>
              <a:buChar char="•"/>
              <a:tabLst>
                <a:tab pos="301625" algn="l"/>
              </a:tabLst>
            </a:pPr>
            <a:r>
              <a:rPr sz="1950" spc="260" dirty="0">
                <a:solidFill>
                  <a:srgbClr val="231F20"/>
                </a:solidFill>
                <a:latin typeface="Arial"/>
                <a:cs typeface="Arial"/>
              </a:rPr>
              <a:t>What </a:t>
            </a:r>
            <a:r>
              <a:rPr sz="1950" spc="190" dirty="0">
                <a:solidFill>
                  <a:srgbClr val="231F20"/>
                </a:solidFill>
                <a:latin typeface="Arial"/>
                <a:cs typeface="Arial"/>
              </a:rPr>
              <a:t>about </a:t>
            </a:r>
            <a:r>
              <a:rPr sz="1950" spc="100" dirty="0">
                <a:solidFill>
                  <a:srgbClr val="231F20"/>
                </a:solidFill>
                <a:latin typeface="Arial"/>
                <a:cs typeface="Arial"/>
              </a:rPr>
              <a:t>really </a:t>
            </a:r>
            <a:r>
              <a:rPr sz="1950" spc="145" dirty="0">
                <a:solidFill>
                  <a:srgbClr val="231F20"/>
                </a:solidFill>
                <a:latin typeface="Arial"/>
                <a:cs typeface="Arial"/>
              </a:rPr>
              <a:t>low </a:t>
            </a:r>
            <a:r>
              <a:rPr sz="1950" spc="215" dirty="0">
                <a:solidFill>
                  <a:srgbClr val="231F20"/>
                </a:solidFill>
                <a:latin typeface="Arial"/>
                <a:cs typeface="Arial"/>
              </a:rPr>
              <a:t>cost/low </a:t>
            </a:r>
            <a:r>
              <a:rPr sz="1950" spc="185" dirty="0">
                <a:solidFill>
                  <a:srgbClr val="231F20"/>
                </a:solidFill>
                <a:latin typeface="Arial"/>
                <a:cs typeface="Arial"/>
              </a:rPr>
              <a:t>threat </a:t>
            </a:r>
            <a:r>
              <a:rPr sz="1950" spc="114" dirty="0">
                <a:solidFill>
                  <a:srgbClr val="231F20"/>
                </a:solidFill>
                <a:latin typeface="Arial"/>
                <a:cs typeface="Arial"/>
              </a:rPr>
              <a:t>kinds </a:t>
            </a:r>
            <a:r>
              <a:rPr sz="1950" spc="185" dirty="0">
                <a:solidFill>
                  <a:srgbClr val="231F20"/>
                </a:solidFill>
                <a:latin typeface="Arial"/>
                <a:cs typeface="Arial"/>
              </a:rPr>
              <a:t>of </a:t>
            </a:r>
            <a:r>
              <a:rPr sz="1950" spc="160" dirty="0">
                <a:solidFill>
                  <a:srgbClr val="231F20"/>
                </a:solidFill>
                <a:latin typeface="Arial"/>
                <a:cs typeface="Arial"/>
              </a:rPr>
              <a:t>formal  </a:t>
            </a:r>
            <a:r>
              <a:rPr sz="1950" spc="75" dirty="0">
                <a:solidFill>
                  <a:srgbClr val="231F20"/>
                </a:solidFill>
                <a:latin typeface="Arial"/>
                <a:cs typeface="Arial"/>
              </a:rPr>
              <a:t>analysis?</a:t>
            </a:r>
            <a:endParaRPr sz="1950">
              <a:latin typeface="Arial"/>
              <a:cs typeface="Arial"/>
            </a:endParaRPr>
          </a:p>
          <a:p>
            <a:pPr marL="300990" marR="110489" indent="-288290">
              <a:lnSpc>
                <a:spcPct val="125000"/>
              </a:lnSpc>
              <a:spcBef>
                <a:spcPts val="1340"/>
              </a:spcBef>
              <a:buClr>
                <a:srgbClr val="231F20"/>
              </a:buClr>
              <a:buSzPct val="105128"/>
              <a:buFont typeface="Lucida Sans Unicode"/>
              <a:buChar char="•"/>
              <a:tabLst>
                <a:tab pos="301625" algn="l"/>
              </a:tabLst>
            </a:pPr>
            <a:r>
              <a:rPr sz="1950" spc="155" dirty="0">
                <a:solidFill>
                  <a:srgbClr val="FF0000"/>
                </a:solidFill>
                <a:latin typeface="Arial"/>
                <a:cs typeface="Arial"/>
              </a:rPr>
              <a:t>Make </a:t>
            </a:r>
            <a:r>
              <a:rPr sz="1950" spc="175" dirty="0">
                <a:solidFill>
                  <a:srgbClr val="FF0000"/>
                </a:solidFill>
                <a:latin typeface="Arial"/>
                <a:cs typeface="Arial"/>
              </a:rPr>
              <a:t>the </a:t>
            </a:r>
            <a:r>
              <a:rPr sz="1950" spc="160" dirty="0">
                <a:solidFill>
                  <a:srgbClr val="FF0000"/>
                </a:solidFill>
                <a:latin typeface="Arial"/>
                <a:cs typeface="Arial"/>
              </a:rPr>
              <a:t>formal </a:t>
            </a:r>
            <a:r>
              <a:rPr sz="1950" spc="165" dirty="0">
                <a:solidFill>
                  <a:srgbClr val="FF0000"/>
                </a:solidFill>
                <a:latin typeface="Arial"/>
                <a:cs typeface="Arial"/>
              </a:rPr>
              <a:t>methods </a:t>
            </a:r>
            <a:r>
              <a:rPr sz="1950" spc="100" dirty="0">
                <a:solidFill>
                  <a:srgbClr val="0000FF"/>
                </a:solidFill>
                <a:latin typeface="Arial"/>
                <a:cs typeface="Arial"/>
              </a:rPr>
              <a:t>disappear </a:t>
            </a:r>
            <a:r>
              <a:rPr sz="1950" spc="85" dirty="0">
                <a:solidFill>
                  <a:srgbClr val="FF0000"/>
                </a:solidFill>
                <a:latin typeface="Arial"/>
                <a:cs typeface="Arial"/>
              </a:rPr>
              <a:t>inside </a:t>
            </a:r>
            <a:r>
              <a:rPr sz="1950" spc="165" dirty="0">
                <a:solidFill>
                  <a:srgbClr val="FF0000"/>
                </a:solidFill>
                <a:latin typeface="Arial"/>
                <a:cs typeface="Arial"/>
              </a:rPr>
              <a:t>traditional </a:t>
            </a:r>
            <a:r>
              <a:rPr sz="1950" spc="160" dirty="0">
                <a:solidFill>
                  <a:srgbClr val="FF0000"/>
                </a:solidFill>
                <a:latin typeface="Arial"/>
                <a:cs typeface="Arial"/>
              </a:rPr>
              <a:t>tools  </a:t>
            </a:r>
            <a:r>
              <a:rPr sz="1950" spc="130" dirty="0">
                <a:solidFill>
                  <a:srgbClr val="FF0000"/>
                </a:solidFill>
                <a:latin typeface="Arial"/>
                <a:cs typeface="Arial"/>
              </a:rPr>
              <a:t>and</a:t>
            </a:r>
            <a:r>
              <a:rPr sz="1950" spc="204" dirty="0">
                <a:solidFill>
                  <a:srgbClr val="FF0000"/>
                </a:solidFill>
                <a:latin typeface="Arial"/>
                <a:cs typeface="Arial"/>
              </a:rPr>
              <a:t> </a:t>
            </a:r>
            <a:r>
              <a:rPr sz="1950" spc="165" dirty="0">
                <a:solidFill>
                  <a:srgbClr val="FF0000"/>
                </a:solidFill>
                <a:latin typeface="Arial"/>
                <a:cs typeface="Arial"/>
              </a:rPr>
              <a:t>methods</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195" dirty="0">
                <a:solidFill>
                  <a:srgbClr val="231F20"/>
                </a:solidFill>
                <a:latin typeface="Arial"/>
                <a:cs typeface="Arial"/>
              </a:rPr>
              <a:t>We </a:t>
            </a:r>
            <a:r>
              <a:rPr sz="1950" spc="110" dirty="0">
                <a:solidFill>
                  <a:srgbClr val="231F20"/>
                </a:solidFill>
                <a:latin typeface="Arial"/>
                <a:cs typeface="Arial"/>
              </a:rPr>
              <a:t>call </a:t>
            </a:r>
            <a:r>
              <a:rPr sz="1950" spc="100" dirty="0">
                <a:solidFill>
                  <a:srgbClr val="231F20"/>
                </a:solidFill>
                <a:latin typeface="Arial"/>
                <a:cs typeface="Arial"/>
              </a:rPr>
              <a:t>these </a:t>
            </a:r>
            <a:r>
              <a:rPr sz="1950" spc="95" dirty="0">
                <a:solidFill>
                  <a:srgbClr val="0000FF"/>
                </a:solidFill>
                <a:latin typeface="Arial"/>
                <a:cs typeface="Arial"/>
              </a:rPr>
              <a:t>invisible </a:t>
            </a:r>
            <a:r>
              <a:rPr sz="1950" spc="160" dirty="0">
                <a:solidFill>
                  <a:srgbClr val="231F20"/>
                </a:solidFill>
                <a:latin typeface="Arial"/>
                <a:cs typeface="Arial"/>
              </a:rPr>
              <a:t>formal </a:t>
            </a:r>
            <a:r>
              <a:rPr sz="1950" spc="190" dirty="0">
                <a:solidFill>
                  <a:srgbClr val="231F20"/>
                </a:solidFill>
                <a:latin typeface="Arial"/>
                <a:cs typeface="Arial"/>
              </a:rPr>
              <a:t> </a:t>
            </a:r>
            <a:r>
              <a:rPr sz="1950" spc="165" dirty="0">
                <a:solidFill>
                  <a:srgbClr val="231F20"/>
                </a:solidFill>
                <a:latin typeface="Arial"/>
                <a:cs typeface="Arial"/>
              </a:rPr>
              <a:t>methods</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200" dirty="0">
                <a:solidFill>
                  <a:srgbClr val="231F20"/>
                </a:solidFill>
                <a:latin typeface="Arial"/>
                <a:cs typeface="Arial"/>
              </a:rPr>
              <a:t>And </a:t>
            </a:r>
            <a:r>
              <a:rPr sz="1950" spc="170" dirty="0">
                <a:solidFill>
                  <a:srgbClr val="231F20"/>
                </a:solidFill>
                <a:latin typeface="Arial"/>
                <a:cs typeface="Arial"/>
              </a:rPr>
              <a:t>it’s </a:t>
            </a:r>
            <a:r>
              <a:rPr sz="1950" spc="120" dirty="0">
                <a:solidFill>
                  <a:srgbClr val="231F20"/>
                </a:solidFill>
                <a:latin typeface="Arial"/>
                <a:cs typeface="Arial"/>
              </a:rPr>
              <a:t>where </a:t>
            </a:r>
            <a:r>
              <a:rPr sz="1950" spc="85" dirty="0">
                <a:solidFill>
                  <a:srgbClr val="231F20"/>
                </a:solidFill>
                <a:latin typeface="Arial"/>
                <a:cs typeface="Arial"/>
              </a:rPr>
              <a:t>a </a:t>
            </a:r>
            <a:r>
              <a:rPr sz="1950" spc="204" dirty="0">
                <a:solidFill>
                  <a:srgbClr val="231F20"/>
                </a:solidFill>
                <a:latin typeface="Arial"/>
                <a:cs typeface="Arial"/>
              </a:rPr>
              <a:t>lot </a:t>
            </a:r>
            <a:r>
              <a:rPr sz="1950" spc="185" dirty="0">
                <a:solidFill>
                  <a:srgbClr val="231F20"/>
                </a:solidFill>
                <a:latin typeface="Arial"/>
                <a:cs typeface="Arial"/>
              </a:rPr>
              <a:t>of </a:t>
            </a:r>
            <a:r>
              <a:rPr sz="1950" spc="175" dirty="0">
                <a:solidFill>
                  <a:srgbClr val="231F20"/>
                </a:solidFill>
                <a:latin typeface="Arial"/>
                <a:cs typeface="Arial"/>
              </a:rPr>
              <a:t>the </a:t>
            </a:r>
            <a:r>
              <a:rPr sz="1950" spc="160" dirty="0">
                <a:solidFill>
                  <a:srgbClr val="231F20"/>
                </a:solidFill>
                <a:latin typeface="Arial"/>
                <a:cs typeface="Arial"/>
              </a:rPr>
              <a:t>action </a:t>
            </a:r>
            <a:r>
              <a:rPr sz="1950" spc="130" dirty="0">
                <a:solidFill>
                  <a:srgbClr val="231F20"/>
                </a:solidFill>
                <a:latin typeface="Arial"/>
                <a:cs typeface="Arial"/>
              </a:rPr>
              <a:t>and </a:t>
            </a:r>
            <a:r>
              <a:rPr sz="1950" spc="175" dirty="0">
                <a:solidFill>
                  <a:srgbClr val="231F20"/>
                </a:solidFill>
                <a:latin typeface="Arial"/>
                <a:cs typeface="Arial"/>
              </a:rPr>
              <a:t>opportunity </a:t>
            </a:r>
            <a:r>
              <a:rPr sz="1950" spc="690" dirty="0">
                <a:solidFill>
                  <a:srgbClr val="231F20"/>
                </a:solidFill>
                <a:latin typeface="Arial"/>
                <a:cs typeface="Arial"/>
              </a:rPr>
              <a:t> </a:t>
            </a:r>
            <a:r>
              <a:rPr sz="1950" spc="40" dirty="0">
                <a:solidFill>
                  <a:srgbClr val="231F20"/>
                </a:solidFill>
                <a:latin typeface="Arial"/>
                <a:cs typeface="Arial"/>
              </a:rPr>
              <a:t>is</a:t>
            </a:r>
            <a:endParaRPr sz="1950">
              <a:latin typeface="Arial"/>
              <a:cs typeface="Arial"/>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67443" y="475981"/>
            <a:ext cx="4124960" cy="31496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70" dirty="0">
                <a:solidFill>
                  <a:srgbClr val="231F20"/>
                </a:solidFill>
                <a:latin typeface="Arial"/>
                <a:cs typeface="Arial"/>
              </a:rPr>
              <a:t>Formal </a:t>
            </a:r>
            <a:r>
              <a:rPr sz="1950" spc="305" dirty="0">
                <a:solidFill>
                  <a:srgbClr val="231F20"/>
                </a:solidFill>
                <a:latin typeface="Arial"/>
                <a:cs typeface="Arial"/>
              </a:rPr>
              <a:t>Methods</a:t>
            </a:r>
            <a:r>
              <a:rPr sz="1950" spc="415" dirty="0">
                <a:solidFill>
                  <a:srgbClr val="231F20"/>
                </a:solidFill>
                <a:latin typeface="Arial"/>
                <a:cs typeface="Arial"/>
              </a:rPr>
              <a:t> </a:t>
            </a:r>
            <a:r>
              <a:rPr sz="1950" spc="285" dirty="0">
                <a:solidFill>
                  <a:srgbClr val="231F20"/>
                </a:solidFill>
                <a:latin typeface="Arial"/>
                <a:cs typeface="Arial"/>
              </a:rPr>
              <a:t>Wedge</a:t>
            </a:r>
            <a:endParaRPr sz="1950">
              <a:latin typeface="Arial"/>
              <a:cs typeface="Arial"/>
            </a:endParaRPr>
          </a:p>
        </p:txBody>
      </p:sp>
      <p:sp>
        <p:nvSpPr>
          <p:cNvPr id="3" name="object 3"/>
          <p:cNvSpPr/>
          <p:nvPr/>
        </p:nvSpPr>
        <p:spPr>
          <a:xfrm>
            <a:off x="1040894" y="5524246"/>
            <a:ext cx="7727950" cy="0"/>
          </a:xfrm>
          <a:custGeom>
            <a:avLst/>
            <a:gdLst/>
            <a:ahLst/>
            <a:cxnLst/>
            <a:rect l="l" t="t" r="r" b="b"/>
            <a:pathLst>
              <a:path w="7727950">
                <a:moveTo>
                  <a:pt x="0" y="0"/>
                </a:moveTo>
                <a:lnTo>
                  <a:pt x="7727641" y="0"/>
                </a:lnTo>
              </a:path>
            </a:pathLst>
          </a:custGeom>
          <a:ln w="5528">
            <a:solidFill>
              <a:srgbClr val="000000"/>
            </a:solidFill>
          </a:ln>
        </p:spPr>
        <p:txBody>
          <a:bodyPr wrap="square" lIns="0" tIns="0" rIns="0" bIns="0" rtlCol="0"/>
          <a:lstStyle/>
          <a:p>
            <a:endParaRPr/>
          </a:p>
        </p:txBody>
      </p:sp>
      <p:sp>
        <p:nvSpPr>
          <p:cNvPr id="4" name="object 4"/>
          <p:cNvSpPr/>
          <p:nvPr/>
        </p:nvSpPr>
        <p:spPr>
          <a:xfrm>
            <a:off x="8680094" y="5502135"/>
            <a:ext cx="88900" cy="44450"/>
          </a:xfrm>
          <a:custGeom>
            <a:avLst/>
            <a:gdLst/>
            <a:ahLst/>
            <a:cxnLst/>
            <a:rect l="l" t="t" r="r" b="b"/>
            <a:pathLst>
              <a:path w="88900" h="44450">
                <a:moveTo>
                  <a:pt x="88442" y="22110"/>
                </a:moveTo>
                <a:lnTo>
                  <a:pt x="0" y="0"/>
                </a:lnTo>
                <a:lnTo>
                  <a:pt x="0" y="44221"/>
                </a:lnTo>
                <a:lnTo>
                  <a:pt x="88442" y="22110"/>
                </a:lnTo>
                <a:close/>
              </a:path>
            </a:pathLst>
          </a:custGeom>
          <a:solidFill>
            <a:srgbClr val="000000"/>
          </a:solidFill>
        </p:spPr>
        <p:txBody>
          <a:bodyPr wrap="square" lIns="0" tIns="0" rIns="0" bIns="0" rtlCol="0"/>
          <a:lstStyle/>
          <a:p>
            <a:endParaRPr/>
          </a:p>
        </p:txBody>
      </p:sp>
      <p:sp>
        <p:nvSpPr>
          <p:cNvPr id="5" name="object 5"/>
          <p:cNvSpPr/>
          <p:nvPr/>
        </p:nvSpPr>
        <p:spPr>
          <a:xfrm>
            <a:off x="8680094" y="5502135"/>
            <a:ext cx="88900" cy="44450"/>
          </a:xfrm>
          <a:custGeom>
            <a:avLst/>
            <a:gdLst/>
            <a:ahLst/>
            <a:cxnLst/>
            <a:rect l="l" t="t" r="r" b="b"/>
            <a:pathLst>
              <a:path w="88900" h="44450">
                <a:moveTo>
                  <a:pt x="0" y="44221"/>
                </a:moveTo>
                <a:lnTo>
                  <a:pt x="88442" y="22110"/>
                </a:lnTo>
                <a:lnTo>
                  <a:pt x="0" y="0"/>
                </a:lnTo>
                <a:lnTo>
                  <a:pt x="0" y="44221"/>
                </a:lnTo>
                <a:close/>
              </a:path>
            </a:pathLst>
          </a:custGeom>
          <a:ln w="5528">
            <a:solidFill>
              <a:srgbClr val="000000"/>
            </a:solidFill>
          </a:ln>
        </p:spPr>
        <p:txBody>
          <a:bodyPr wrap="square" lIns="0" tIns="0" rIns="0" bIns="0" rtlCol="0"/>
          <a:lstStyle/>
          <a:p>
            <a:endParaRPr/>
          </a:p>
        </p:txBody>
      </p:sp>
      <p:sp>
        <p:nvSpPr>
          <p:cNvPr id="6" name="object 6"/>
          <p:cNvSpPr/>
          <p:nvPr/>
        </p:nvSpPr>
        <p:spPr>
          <a:xfrm>
            <a:off x="1040894" y="1776882"/>
            <a:ext cx="0" cy="88900"/>
          </a:xfrm>
          <a:custGeom>
            <a:avLst/>
            <a:gdLst/>
            <a:ahLst/>
            <a:cxnLst/>
            <a:rect l="l" t="t" r="r" b="b"/>
            <a:pathLst>
              <a:path h="88900">
                <a:moveTo>
                  <a:pt x="0" y="88455"/>
                </a:moveTo>
                <a:lnTo>
                  <a:pt x="0" y="0"/>
                </a:lnTo>
              </a:path>
            </a:pathLst>
          </a:custGeom>
          <a:ln w="5528">
            <a:solidFill>
              <a:srgbClr val="000000"/>
            </a:solidFill>
          </a:ln>
        </p:spPr>
        <p:txBody>
          <a:bodyPr wrap="square" lIns="0" tIns="0" rIns="0" bIns="0" rtlCol="0"/>
          <a:lstStyle/>
          <a:p>
            <a:endParaRPr/>
          </a:p>
        </p:txBody>
      </p:sp>
      <p:sp>
        <p:nvSpPr>
          <p:cNvPr id="7" name="object 7"/>
          <p:cNvSpPr/>
          <p:nvPr/>
        </p:nvSpPr>
        <p:spPr>
          <a:xfrm>
            <a:off x="1018782" y="1776882"/>
            <a:ext cx="44450" cy="88900"/>
          </a:xfrm>
          <a:custGeom>
            <a:avLst/>
            <a:gdLst/>
            <a:ahLst/>
            <a:cxnLst/>
            <a:rect l="l" t="t" r="r" b="b"/>
            <a:pathLst>
              <a:path w="44450" h="88900">
                <a:moveTo>
                  <a:pt x="44227" y="88455"/>
                </a:moveTo>
                <a:lnTo>
                  <a:pt x="22111" y="0"/>
                </a:lnTo>
                <a:lnTo>
                  <a:pt x="0" y="88455"/>
                </a:lnTo>
                <a:lnTo>
                  <a:pt x="44227" y="88455"/>
                </a:lnTo>
                <a:close/>
              </a:path>
            </a:pathLst>
          </a:custGeom>
          <a:solidFill>
            <a:srgbClr val="000000"/>
          </a:solidFill>
        </p:spPr>
        <p:txBody>
          <a:bodyPr wrap="square" lIns="0" tIns="0" rIns="0" bIns="0" rtlCol="0"/>
          <a:lstStyle/>
          <a:p>
            <a:endParaRPr/>
          </a:p>
        </p:txBody>
      </p:sp>
      <p:sp>
        <p:nvSpPr>
          <p:cNvPr id="8" name="object 8"/>
          <p:cNvSpPr/>
          <p:nvPr/>
        </p:nvSpPr>
        <p:spPr>
          <a:xfrm>
            <a:off x="1018782" y="1776882"/>
            <a:ext cx="44450" cy="88900"/>
          </a:xfrm>
          <a:custGeom>
            <a:avLst/>
            <a:gdLst/>
            <a:ahLst/>
            <a:cxnLst/>
            <a:rect l="l" t="t" r="r" b="b"/>
            <a:pathLst>
              <a:path w="44450" h="88900">
                <a:moveTo>
                  <a:pt x="44227" y="88455"/>
                </a:moveTo>
                <a:lnTo>
                  <a:pt x="22111" y="0"/>
                </a:lnTo>
                <a:lnTo>
                  <a:pt x="0" y="88455"/>
                </a:lnTo>
                <a:lnTo>
                  <a:pt x="44227" y="88455"/>
                </a:lnTo>
                <a:close/>
              </a:path>
            </a:pathLst>
          </a:custGeom>
          <a:ln w="5528">
            <a:solidFill>
              <a:srgbClr val="000000"/>
            </a:solidFill>
          </a:ln>
        </p:spPr>
        <p:txBody>
          <a:bodyPr wrap="square" lIns="0" tIns="0" rIns="0" bIns="0" rtlCol="0"/>
          <a:lstStyle/>
          <a:p>
            <a:endParaRPr/>
          </a:p>
        </p:txBody>
      </p:sp>
      <p:sp>
        <p:nvSpPr>
          <p:cNvPr id="9" name="object 9"/>
          <p:cNvSpPr/>
          <p:nvPr/>
        </p:nvSpPr>
        <p:spPr>
          <a:xfrm>
            <a:off x="6790194" y="2207348"/>
            <a:ext cx="1327150" cy="3317240"/>
          </a:xfrm>
          <a:custGeom>
            <a:avLst/>
            <a:gdLst/>
            <a:ahLst/>
            <a:cxnLst/>
            <a:rect l="l" t="t" r="r" b="b"/>
            <a:pathLst>
              <a:path w="1327150" h="3317240">
                <a:moveTo>
                  <a:pt x="1326756" y="3316897"/>
                </a:moveTo>
                <a:lnTo>
                  <a:pt x="1326756" y="0"/>
                </a:lnTo>
                <a:lnTo>
                  <a:pt x="11061" y="66332"/>
                </a:lnTo>
                <a:lnTo>
                  <a:pt x="0" y="3316897"/>
                </a:lnTo>
                <a:lnTo>
                  <a:pt x="1326756" y="3316897"/>
                </a:lnTo>
                <a:close/>
              </a:path>
            </a:pathLst>
          </a:custGeom>
          <a:solidFill>
            <a:srgbClr val="86CEFF"/>
          </a:solidFill>
        </p:spPr>
        <p:txBody>
          <a:bodyPr wrap="square" lIns="0" tIns="0" rIns="0" bIns="0" rtlCol="0"/>
          <a:lstStyle/>
          <a:p>
            <a:endParaRPr/>
          </a:p>
        </p:txBody>
      </p:sp>
      <p:sp>
        <p:nvSpPr>
          <p:cNvPr id="10" name="object 10"/>
          <p:cNvSpPr/>
          <p:nvPr/>
        </p:nvSpPr>
        <p:spPr>
          <a:xfrm>
            <a:off x="6790194" y="2207348"/>
            <a:ext cx="1327150" cy="3317240"/>
          </a:xfrm>
          <a:custGeom>
            <a:avLst/>
            <a:gdLst/>
            <a:ahLst/>
            <a:cxnLst/>
            <a:rect l="l" t="t" r="r" b="b"/>
            <a:pathLst>
              <a:path w="1327150" h="3317240">
                <a:moveTo>
                  <a:pt x="1326756" y="0"/>
                </a:moveTo>
                <a:lnTo>
                  <a:pt x="1326756" y="3316897"/>
                </a:lnTo>
                <a:lnTo>
                  <a:pt x="0" y="3316897"/>
                </a:lnTo>
                <a:lnTo>
                  <a:pt x="11061" y="66332"/>
                </a:lnTo>
                <a:lnTo>
                  <a:pt x="1326756" y="0"/>
                </a:lnTo>
                <a:close/>
              </a:path>
            </a:pathLst>
          </a:custGeom>
          <a:ln w="5528">
            <a:solidFill>
              <a:srgbClr val="000000"/>
            </a:solidFill>
          </a:ln>
        </p:spPr>
        <p:txBody>
          <a:bodyPr wrap="square" lIns="0" tIns="0" rIns="0" bIns="0" rtlCol="0"/>
          <a:lstStyle/>
          <a:p>
            <a:endParaRPr/>
          </a:p>
        </p:txBody>
      </p:sp>
      <p:sp>
        <p:nvSpPr>
          <p:cNvPr id="11" name="object 11"/>
          <p:cNvSpPr/>
          <p:nvPr/>
        </p:nvSpPr>
        <p:spPr>
          <a:xfrm>
            <a:off x="4136669" y="2262619"/>
            <a:ext cx="2653665" cy="3261995"/>
          </a:xfrm>
          <a:custGeom>
            <a:avLst/>
            <a:gdLst/>
            <a:ahLst/>
            <a:cxnLst/>
            <a:rect l="l" t="t" r="r" b="b"/>
            <a:pathLst>
              <a:path w="2653665" h="3261995">
                <a:moveTo>
                  <a:pt x="2653525" y="3261626"/>
                </a:moveTo>
                <a:lnTo>
                  <a:pt x="2653525" y="0"/>
                </a:lnTo>
                <a:lnTo>
                  <a:pt x="0" y="386981"/>
                </a:lnTo>
                <a:lnTo>
                  <a:pt x="0" y="3261626"/>
                </a:lnTo>
                <a:lnTo>
                  <a:pt x="2653525" y="3261626"/>
                </a:lnTo>
                <a:close/>
              </a:path>
            </a:pathLst>
          </a:custGeom>
          <a:solidFill>
            <a:srgbClr val="00D100"/>
          </a:solidFill>
        </p:spPr>
        <p:txBody>
          <a:bodyPr wrap="square" lIns="0" tIns="0" rIns="0" bIns="0" rtlCol="0"/>
          <a:lstStyle/>
          <a:p>
            <a:endParaRPr/>
          </a:p>
        </p:txBody>
      </p:sp>
      <p:sp>
        <p:nvSpPr>
          <p:cNvPr id="12" name="object 12"/>
          <p:cNvSpPr/>
          <p:nvPr/>
        </p:nvSpPr>
        <p:spPr>
          <a:xfrm>
            <a:off x="4136669" y="2262619"/>
            <a:ext cx="2653665" cy="3261995"/>
          </a:xfrm>
          <a:custGeom>
            <a:avLst/>
            <a:gdLst/>
            <a:ahLst/>
            <a:cxnLst/>
            <a:rect l="l" t="t" r="r" b="b"/>
            <a:pathLst>
              <a:path w="2653665" h="3261995">
                <a:moveTo>
                  <a:pt x="2653525" y="3261626"/>
                </a:moveTo>
                <a:lnTo>
                  <a:pt x="2653525" y="0"/>
                </a:lnTo>
                <a:lnTo>
                  <a:pt x="0" y="386981"/>
                </a:lnTo>
                <a:lnTo>
                  <a:pt x="0" y="3261626"/>
                </a:lnTo>
                <a:lnTo>
                  <a:pt x="2653525" y="3261626"/>
                </a:lnTo>
                <a:close/>
              </a:path>
            </a:pathLst>
          </a:custGeom>
          <a:ln w="5528">
            <a:solidFill>
              <a:srgbClr val="000000"/>
            </a:solidFill>
          </a:ln>
        </p:spPr>
        <p:txBody>
          <a:bodyPr wrap="square" lIns="0" tIns="0" rIns="0" bIns="0" rtlCol="0"/>
          <a:lstStyle/>
          <a:p>
            <a:endParaRPr/>
          </a:p>
        </p:txBody>
      </p:sp>
      <p:sp>
        <p:nvSpPr>
          <p:cNvPr id="13" name="object 13"/>
          <p:cNvSpPr/>
          <p:nvPr/>
        </p:nvSpPr>
        <p:spPr>
          <a:xfrm>
            <a:off x="2975749" y="2649601"/>
            <a:ext cx="1161415" cy="2874645"/>
          </a:xfrm>
          <a:custGeom>
            <a:avLst/>
            <a:gdLst/>
            <a:ahLst/>
            <a:cxnLst/>
            <a:rect l="l" t="t" r="r" b="b"/>
            <a:pathLst>
              <a:path w="1161414" h="2874645">
                <a:moveTo>
                  <a:pt x="1160919" y="2874645"/>
                </a:moveTo>
                <a:lnTo>
                  <a:pt x="1160919" y="0"/>
                </a:lnTo>
                <a:lnTo>
                  <a:pt x="0" y="276402"/>
                </a:lnTo>
                <a:lnTo>
                  <a:pt x="0" y="2874645"/>
                </a:lnTo>
                <a:lnTo>
                  <a:pt x="1160919" y="2874645"/>
                </a:lnTo>
                <a:close/>
              </a:path>
            </a:pathLst>
          </a:custGeom>
          <a:solidFill>
            <a:srgbClr val="FFBFBF"/>
          </a:solidFill>
        </p:spPr>
        <p:txBody>
          <a:bodyPr wrap="square" lIns="0" tIns="0" rIns="0" bIns="0" rtlCol="0"/>
          <a:lstStyle/>
          <a:p>
            <a:endParaRPr/>
          </a:p>
        </p:txBody>
      </p:sp>
      <p:sp>
        <p:nvSpPr>
          <p:cNvPr id="14" name="object 14"/>
          <p:cNvSpPr/>
          <p:nvPr/>
        </p:nvSpPr>
        <p:spPr>
          <a:xfrm>
            <a:off x="2975749" y="2649601"/>
            <a:ext cx="1161415" cy="2874645"/>
          </a:xfrm>
          <a:custGeom>
            <a:avLst/>
            <a:gdLst/>
            <a:ahLst/>
            <a:cxnLst/>
            <a:rect l="l" t="t" r="r" b="b"/>
            <a:pathLst>
              <a:path w="1161414" h="2874645">
                <a:moveTo>
                  <a:pt x="1160919" y="2874645"/>
                </a:moveTo>
                <a:lnTo>
                  <a:pt x="1160919" y="0"/>
                </a:lnTo>
                <a:lnTo>
                  <a:pt x="0" y="276402"/>
                </a:lnTo>
                <a:lnTo>
                  <a:pt x="0" y="2874645"/>
                </a:lnTo>
                <a:lnTo>
                  <a:pt x="1160919" y="2874645"/>
                </a:lnTo>
                <a:close/>
              </a:path>
            </a:pathLst>
          </a:custGeom>
          <a:ln w="5528">
            <a:solidFill>
              <a:srgbClr val="000000"/>
            </a:solidFill>
          </a:ln>
        </p:spPr>
        <p:txBody>
          <a:bodyPr wrap="square" lIns="0" tIns="0" rIns="0" bIns="0" rtlCol="0"/>
          <a:lstStyle/>
          <a:p>
            <a:endParaRPr/>
          </a:p>
        </p:txBody>
      </p:sp>
      <p:sp>
        <p:nvSpPr>
          <p:cNvPr id="15" name="object 15"/>
          <p:cNvSpPr/>
          <p:nvPr/>
        </p:nvSpPr>
        <p:spPr>
          <a:xfrm>
            <a:off x="1065218" y="5911215"/>
            <a:ext cx="7027545" cy="0"/>
          </a:xfrm>
          <a:custGeom>
            <a:avLst/>
            <a:gdLst/>
            <a:ahLst/>
            <a:cxnLst/>
            <a:rect l="l" t="t" r="r" b="b"/>
            <a:pathLst>
              <a:path w="7027545">
                <a:moveTo>
                  <a:pt x="7027410" y="0"/>
                </a:moveTo>
                <a:lnTo>
                  <a:pt x="0" y="0"/>
                </a:lnTo>
              </a:path>
            </a:pathLst>
          </a:custGeom>
          <a:ln w="11056">
            <a:solidFill>
              <a:srgbClr val="000000"/>
            </a:solidFill>
          </a:ln>
        </p:spPr>
        <p:txBody>
          <a:bodyPr wrap="square" lIns="0" tIns="0" rIns="0" bIns="0" rtlCol="0"/>
          <a:lstStyle/>
          <a:p>
            <a:endParaRPr/>
          </a:p>
        </p:txBody>
      </p:sp>
      <p:sp>
        <p:nvSpPr>
          <p:cNvPr id="16" name="object 16"/>
          <p:cNvSpPr/>
          <p:nvPr/>
        </p:nvSpPr>
        <p:spPr>
          <a:xfrm>
            <a:off x="7915732" y="5866993"/>
            <a:ext cx="177165" cy="88900"/>
          </a:xfrm>
          <a:custGeom>
            <a:avLst/>
            <a:gdLst/>
            <a:ahLst/>
            <a:cxnLst/>
            <a:rect l="l" t="t" r="r" b="b"/>
            <a:pathLst>
              <a:path w="177165" h="88900">
                <a:moveTo>
                  <a:pt x="0" y="88442"/>
                </a:moveTo>
                <a:lnTo>
                  <a:pt x="176898" y="44221"/>
                </a:lnTo>
                <a:lnTo>
                  <a:pt x="0" y="0"/>
                </a:lnTo>
              </a:path>
            </a:pathLst>
          </a:custGeom>
          <a:ln w="11056">
            <a:solidFill>
              <a:srgbClr val="000000"/>
            </a:solidFill>
          </a:ln>
        </p:spPr>
        <p:txBody>
          <a:bodyPr wrap="square" lIns="0" tIns="0" rIns="0" bIns="0" rtlCol="0"/>
          <a:lstStyle/>
          <a:p>
            <a:endParaRPr/>
          </a:p>
        </p:txBody>
      </p:sp>
      <p:sp>
        <p:nvSpPr>
          <p:cNvPr id="17" name="object 17"/>
          <p:cNvSpPr/>
          <p:nvPr/>
        </p:nvSpPr>
        <p:spPr>
          <a:xfrm>
            <a:off x="1065217" y="5866993"/>
            <a:ext cx="177165" cy="88900"/>
          </a:xfrm>
          <a:custGeom>
            <a:avLst/>
            <a:gdLst/>
            <a:ahLst/>
            <a:cxnLst/>
            <a:rect l="l" t="t" r="r" b="b"/>
            <a:pathLst>
              <a:path w="177165" h="88900">
                <a:moveTo>
                  <a:pt x="176902" y="0"/>
                </a:moveTo>
                <a:lnTo>
                  <a:pt x="0" y="44221"/>
                </a:lnTo>
                <a:lnTo>
                  <a:pt x="176902" y="88442"/>
                </a:lnTo>
              </a:path>
            </a:pathLst>
          </a:custGeom>
          <a:ln w="11056">
            <a:solidFill>
              <a:srgbClr val="000000"/>
            </a:solidFill>
          </a:ln>
        </p:spPr>
        <p:txBody>
          <a:bodyPr wrap="square" lIns="0" tIns="0" rIns="0" bIns="0" rtlCol="0"/>
          <a:lstStyle/>
          <a:p>
            <a:endParaRPr/>
          </a:p>
        </p:txBody>
      </p:sp>
      <p:sp>
        <p:nvSpPr>
          <p:cNvPr id="18" name="object 18"/>
          <p:cNvSpPr/>
          <p:nvPr/>
        </p:nvSpPr>
        <p:spPr>
          <a:xfrm>
            <a:off x="1040894" y="2926003"/>
            <a:ext cx="1934845" cy="2598420"/>
          </a:xfrm>
          <a:custGeom>
            <a:avLst/>
            <a:gdLst/>
            <a:ahLst/>
            <a:cxnLst/>
            <a:rect l="l" t="t" r="r" b="b"/>
            <a:pathLst>
              <a:path w="1934845" h="2598420">
                <a:moveTo>
                  <a:pt x="0" y="2598242"/>
                </a:moveTo>
                <a:lnTo>
                  <a:pt x="0" y="2482519"/>
                </a:lnTo>
                <a:lnTo>
                  <a:pt x="739" y="2459672"/>
                </a:lnTo>
                <a:lnTo>
                  <a:pt x="1473" y="2434602"/>
                </a:lnTo>
                <a:lnTo>
                  <a:pt x="2212" y="2408072"/>
                </a:lnTo>
                <a:lnTo>
                  <a:pt x="3685" y="2379332"/>
                </a:lnTo>
                <a:lnTo>
                  <a:pt x="5158" y="2349842"/>
                </a:lnTo>
                <a:lnTo>
                  <a:pt x="6637" y="2318880"/>
                </a:lnTo>
                <a:lnTo>
                  <a:pt x="8844" y="2287193"/>
                </a:lnTo>
                <a:lnTo>
                  <a:pt x="11057" y="2254021"/>
                </a:lnTo>
                <a:lnTo>
                  <a:pt x="14004" y="2220849"/>
                </a:lnTo>
                <a:lnTo>
                  <a:pt x="17689" y="2186203"/>
                </a:lnTo>
                <a:lnTo>
                  <a:pt x="21376" y="2150821"/>
                </a:lnTo>
                <a:lnTo>
                  <a:pt x="25801" y="2113965"/>
                </a:lnTo>
                <a:lnTo>
                  <a:pt x="31695" y="2077123"/>
                </a:lnTo>
                <a:lnTo>
                  <a:pt x="37593" y="2039531"/>
                </a:lnTo>
                <a:lnTo>
                  <a:pt x="44226" y="2000465"/>
                </a:lnTo>
                <a:lnTo>
                  <a:pt x="51597" y="1960664"/>
                </a:lnTo>
                <a:lnTo>
                  <a:pt x="60443" y="1919389"/>
                </a:lnTo>
                <a:lnTo>
                  <a:pt x="70022" y="1877364"/>
                </a:lnTo>
                <a:lnTo>
                  <a:pt x="81080" y="1833880"/>
                </a:lnTo>
                <a:lnTo>
                  <a:pt x="93611" y="1788922"/>
                </a:lnTo>
                <a:lnTo>
                  <a:pt x="106878" y="1742478"/>
                </a:lnTo>
                <a:lnTo>
                  <a:pt x="122355" y="1694573"/>
                </a:lnTo>
                <a:lnTo>
                  <a:pt x="138573" y="1645183"/>
                </a:lnTo>
                <a:lnTo>
                  <a:pt x="157003" y="1594332"/>
                </a:lnTo>
                <a:lnTo>
                  <a:pt x="176902" y="1542732"/>
                </a:lnTo>
                <a:lnTo>
                  <a:pt x="198278" y="1489659"/>
                </a:lnTo>
                <a:lnTo>
                  <a:pt x="221128" y="1437322"/>
                </a:lnTo>
                <a:lnTo>
                  <a:pt x="245450" y="1384985"/>
                </a:lnTo>
                <a:lnTo>
                  <a:pt x="269770" y="1334871"/>
                </a:lnTo>
                <a:lnTo>
                  <a:pt x="294104" y="1286217"/>
                </a:lnTo>
                <a:lnTo>
                  <a:pt x="317687" y="1240523"/>
                </a:lnTo>
                <a:lnTo>
                  <a:pt x="340535" y="1197775"/>
                </a:lnTo>
                <a:lnTo>
                  <a:pt x="362645" y="1159446"/>
                </a:lnTo>
                <a:lnTo>
                  <a:pt x="382546" y="1123327"/>
                </a:lnTo>
                <a:lnTo>
                  <a:pt x="400974" y="1091628"/>
                </a:lnTo>
                <a:lnTo>
                  <a:pt x="417192" y="1062888"/>
                </a:lnTo>
                <a:lnTo>
                  <a:pt x="432673" y="1037818"/>
                </a:lnTo>
                <a:lnTo>
                  <a:pt x="445932" y="1015707"/>
                </a:lnTo>
                <a:lnTo>
                  <a:pt x="457730" y="996543"/>
                </a:lnTo>
                <a:lnTo>
                  <a:pt x="468055" y="980325"/>
                </a:lnTo>
                <a:lnTo>
                  <a:pt x="477631" y="966317"/>
                </a:lnTo>
                <a:lnTo>
                  <a:pt x="485747" y="953795"/>
                </a:lnTo>
                <a:lnTo>
                  <a:pt x="492376" y="943483"/>
                </a:lnTo>
                <a:lnTo>
                  <a:pt x="499005" y="934631"/>
                </a:lnTo>
                <a:lnTo>
                  <a:pt x="504911" y="926515"/>
                </a:lnTo>
                <a:lnTo>
                  <a:pt x="510804" y="919149"/>
                </a:lnTo>
                <a:lnTo>
                  <a:pt x="515960" y="911783"/>
                </a:lnTo>
                <a:lnTo>
                  <a:pt x="521865" y="905141"/>
                </a:lnTo>
                <a:lnTo>
                  <a:pt x="550605" y="873455"/>
                </a:lnTo>
                <a:lnTo>
                  <a:pt x="585251" y="836599"/>
                </a:lnTo>
                <a:lnTo>
                  <a:pt x="618423" y="802690"/>
                </a:lnTo>
                <a:lnTo>
                  <a:pt x="638312" y="781316"/>
                </a:lnTo>
                <a:lnTo>
                  <a:pt x="661172" y="758469"/>
                </a:lnTo>
                <a:lnTo>
                  <a:pt x="686965" y="732663"/>
                </a:lnTo>
                <a:lnTo>
                  <a:pt x="714982" y="704659"/>
                </a:lnTo>
                <a:lnTo>
                  <a:pt x="746668" y="673696"/>
                </a:lnTo>
                <a:lnTo>
                  <a:pt x="780577" y="640537"/>
                </a:lnTo>
                <a:lnTo>
                  <a:pt x="817432" y="605891"/>
                </a:lnTo>
                <a:lnTo>
                  <a:pt x="856498" y="570509"/>
                </a:lnTo>
                <a:lnTo>
                  <a:pt x="897773" y="533654"/>
                </a:lnTo>
                <a:lnTo>
                  <a:pt x="939784" y="497535"/>
                </a:lnTo>
                <a:lnTo>
                  <a:pt x="985492" y="460679"/>
                </a:lnTo>
                <a:lnTo>
                  <a:pt x="1030450" y="424561"/>
                </a:lnTo>
                <a:lnTo>
                  <a:pt x="1075420" y="391388"/>
                </a:lnTo>
                <a:lnTo>
                  <a:pt x="1119642" y="359702"/>
                </a:lnTo>
                <a:lnTo>
                  <a:pt x="1162390" y="330212"/>
                </a:lnTo>
                <a:lnTo>
                  <a:pt x="1204401" y="302945"/>
                </a:lnTo>
                <a:lnTo>
                  <a:pt x="1245676" y="277888"/>
                </a:lnTo>
                <a:lnTo>
                  <a:pt x="1284742" y="254292"/>
                </a:lnTo>
                <a:lnTo>
                  <a:pt x="1323070" y="232918"/>
                </a:lnTo>
                <a:lnTo>
                  <a:pt x="1360675" y="212280"/>
                </a:lnTo>
                <a:lnTo>
                  <a:pt x="1396781" y="193852"/>
                </a:lnTo>
                <a:lnTo>
                  <a:pt x="1432163" y="176898"/>
                </a:lnTo>
                <a:lnTo>
                  <a:pt x="1466809" y="160680"/>
                </a:lnTo>
                <a:lnTo>
                  <a:pt x="1533878" y="131203"/>
                </a:lnTo>
                <a:lnTo>
                  <a:pt x="1598749" y="105410"/>
                </a:lnTo>
                <a:lnTo>
                  <a:pt x="1659925" y="82562"/>
                </a:lnTo>
                <a:lnTo>
                  <a:pt x="1689414" y="72974"/>
                </a:lnTo>
                <a:lnTo>
                  <a:pt x="1718155" y="63398"/>
                </a:lnTo>
                <a:lnTo>
                  <a:pt x="1745434" y="54546"/>
                </a:lnTo>
                <a:lnTo>
                  <a:pt x="1771228" y="46431"/>
                </a:lnTo>
                <a:lnTo>
                  <a:pt x="1795548" y="39065"/>
                </a:lnTo>
                <a:lnTo>
                  <a:pt x="1818396" y="31699"/>
                </a:lnTo>
                <a:lnTo>
                  <a:pt x="1839782" y="25793"/>
                </a:lnTo>
                <a:lnTo>
                  <a:pt x="1858197" y="20637"/>
                </a:lnTo>
                <a:lnTo>
                  <a:pt x="1875152" y="15481"/>
                </a:lnTo>
                <a:lnTo>
                  <a:pt x="1889897" y="11798"/>
                </a:lnTo>
                <a:lnTo>
                  <a:pt x="1901695" y="8851"/>
                </a:lnTo>
                <a:lnTo>
                  <a:pt x="1912007" y="5892"/>
                </a:lnTo>
                <a:lnTo>
                  <a:pt x="1920123" y="3683"/>
                </a:lnTo>
                <a:lnTo>
                  <a:pt x="1926015" y="2209"/>
                </a:lnTo>
                <a:lnTo>
                  <a:pt x="1930435" y="1473"/>
                </a:lnTo>
                <a:lnTo>
                  <a:pt x="1932658" y="736"/>
                </a:lnTo>
                <a:lnTo>
                  <a:pt x="1934131" y="0"/>
                </a:lnTo>
                <a:lnTo>
                  <a:pt x="1934855" y="0"/>
                </a:lnTo>
              </a:path>
            </a:pathLst>
          </a:custGeom>
          <a:ln w="5528">
            <a:solidFill>
              <a:srgbClr val="000000"/>
            </a:solidFill>
          </a:ln>
        </p:spPr>
        <p:txBody>
          <a:bodyPr wrap="square" lIns="0" tIns="0" rIns="0" bIns="0" rtlCol="0"/>
          <a:lstStyle/>
          <a:p>
            <a:endParaRPr/>
          </a:p>
        </p:txBody>
      </p:sp>
      <p:sp>
        <p:nvSpPr>
          <p:cNvPr id="19" name="object 19"/>
          <p:cNvSpPr txBox="1"/>
          <p:nvPr/>
        </p:nvSpPr>
        <p:spPr>
          <a:xfrm>
            <a:off x="7121271" y="3174479"/>
            <a:ext cx="633730" cy="1604010"/>
          </a:xfrm>
          <a:prstGeom prst="rect">
            <a:avLst/>
          </a:prstGeom>
        </p:spPr>
        <p:txBody>
          <a:bodyPr vert="vert" wrap="square" lIns="0" tIns="0" rIns="0" bIns="0" rtlCol="0">
            <a:spAutoFit/>
          </a:bodyPr>
          <a:lstStyle/>
          <a:p>
            <a:pPr marR="5080" algn="ctr">
              <a:lnSpc>
                <a:spcPts val="1850"/>
              </a:lnSpc>
            </a:pPr>
            <a:r>
              <a:rPr sz="1750" b="1" dirty="0">
                <a:latin typeface="Times New Roman"/>
                <a:cs typeface="Times New Roman"/>
              </a:rPr>
              <a:t>interactive</a:t>
            </a:r>
            <a:endParaRPr sz="1750">
              <a:latin typeface="Times New Roman"/>
              <a:cs typeface="Times New Roman"/>
            </a:endParaRPr>
          </a:p>
          <a:p>
            <a:pPr algn="ctr">
              <a:lnSpc>
                <a:spcPct val="100000"/>
              </a:lnSpc>
              <a:spcBef>
                <a:spcPts val="944"/>
              </a:spcBef>
            </a:pPr>
            <a:r>
              <a:rPr sz="1750" b="1" dirty="0">
                <a:latin typeface="Times New Roman"/>
                <a:cs typeface="Times New Roman"/>
              </a:rPr>
              <a:t>theorem</a:t>
            </a:r>
            <a:r>
              <a:rPr sz="1750" b="1" spc="-5" dirty="0">
                <a:latin typeface="Times New Roman"/>
                <a:cs typeface="Times New Roman"/>
              </a:rPr>
              <a:t> </a:t>
            </a:r>
            <a:r>
              <a:rPr sz="1750" b="1" dirty="0">
                <a:latin typeface="Times New Roman"/>
                <a:cs typeface="Times New Roman"/>
              </a:rPr>
              <a:t>proving</a:t>
            </a:r>
            <a:endParaRPr sz="1750">
              <a:latin typeface="Times New Roman"/>
              <a:cs typeface="Times New Roman"/>
            </a:endParaRPr>
          </a:p>
        </p:txBody>
      </p:sp>
      <p:sp>
        <p:nvSpPr>
          <p:cNvPr id="20" name="object 20"/>
          <p:cNvSpPr txBox="1"/>
          <p:nvPr/>
        </p:nvSpPr>
        <p:spPr>
          <a:xfrm>
            <a:off x="3306835" y="3711808"/>
            <a:ext cx="578485" cy="861060"/>
          </a:xfrm>
          <a:prstGeom prst="rect">
            <a:avLst/>
          </a:prstGeom>
        </p:spPr>
        <p:txBody>
          <a:bodyPr vert="vert" wrap="square" lIns="0" tIns="0" rIns="0" bIns="0" rtlCol="0">
            <a:spAutoFit/>
          </a:bodyPr>
          <a:lstStyle/>
          <a:p>
            <a:pPr algn="ctr">
              <a:lnSpc>
                <a:spcPts val="1850"/>
              </a:lnSpc>
            </a:pPr>
            <a:r>
              <a:rPr sz="1750" b="1" dirty="0">
                <a:latin typeface="Times New Roman"/>
                <a:cs typeface="Times New Roman"/>
              </a:rPr>
              <a:t>model</a:t>
            </a:r>
            <a:endParaRPr sz="1750">
              <a:latin typeface="Times New Roman"/>
              <a:cs typeface="Times New Roman"/>
            </a:endParaRPr>
          </a:p>
          <a:p>
            <a:pPr algn="ctr">
              <a:lnSpc>
                <a:spcPct val="100000"/>
              </a:lnSpc>
              <a:spcBef>
                <a:spcPts val="509"/>
              </a:spcBef>
            </a:pPr>
            <a:r>
              <a:rPr sz="1750" b="1" dirty="0">
                <a:latin typeface="Times New Roman"/>
                <a:cs typeface="Times New Roman"/>
              </a:rPr>
              <a:t>checking</a:t>
            </a:r>
            <a:endParaRPr sz="1750">
              <a:latin typeface="Times New Roman"/>
              <a:cs typeface="Times New Roman"/>
            </a:endParaRPr>
          </a:p>
        </p:txBody>
      </p:sp>
      <p:sp>
        <p:nvSpPr>
          <p:cNvPr id="21" name="object 21"/>
          <p:cNvSpPr txBox="1">
            <a:spLocks noGrp="1"/>
          </p:cNvSpPr>
          <p:nvPr>
            <p:ph type="title"/>
          </p:nvPr>
        </p:nvSpPr>
        <p:spPr>
          <a:prstGeom prst="rect">
            <a:avLst/>
          </a:prstGeom>
        </p:spPr>
        <p:txBody>
          <a:bodyPr vert="horz" wrap="square" lIns="0" tIns="747237" rIns="0" bIns="0" rtlCol="0">
            <a:spAutoFit/>
          </a:bodyPr>
          <a:lstStyle/>
          <a:p>
            <a:pPr marL="254635">
              <a:lnSpc>
                <a:spcPct val="100000"/>
              </a:lnSpc>
            </a:pPr>
            <a:r>
              <a:rPr sz="2500" spc="5" dirty="0">
                <a:solidFill>
                  <a:srgbClr val="000000"/>
                </a:solidFill>
                <a:latin typeface="Times New Roman"/>
                <a:cs typeface="Times New Roman"/>
              </a:rPr>
              <a:t>Reward</a:t>
            </a:r>
            <a:r>
              <a:rPr sz="2500" spc="-70" dirty="0">
                <a:solidFill>
                  <a:srgbClr val="000000"/>
                </a:solidFill>
                <a:latin typeface="Times New Roman"/>
                <a:cs typeface="Times New Roman"/>
              </a:rPr>
              <a:t> </a:t>
            </a:r>
            <a:r>
              <a:rPr sz="2500" spc="5" dirty="0">
                <a:solidFill>
                  <a:srgbClr val="000000"/>
                </a:solidFill>
                <a:latin typeface="Times New Roman"/>
                <a:cs typeface="Times New Roman"/>
              </a:rPr>
              <a:t>(assurance)</a:t>
            </a:r>
            <a:endParaRPr sz="2500">
              <a:latin typeface="Times New Roman"/>
              <a:cs typeface="Times New Roman"/>
            </a:endParaRPr>
          </a:p>
        </p:txBody>
      </p:sp>
      <p:sp>
        <p:nvSpPr>
          <p:cNvPr id="22" name="object 22"/>
          <p:cNvSpPr txBox="1"/>
          <p:nvPr/>
        </p:nvSpPr>
        <p:spPr>
          <a:xfrm>
            <a:off x="7217689" y="5066296"/>
            <a:ext cx="582930" cy="362585"/>
          </a:xfrm>
          <a:prstGeom prst="rect">
            <a:avLst/>
          </a:prstGeom>
        </p:spPr>
        <p:txBody>
          <a:bodyPr vert="horz" wrap="square" lIns="0" tIns="0" rIns="0" bIns="0" rtlCol="0">
            <a:spAutoFit/>
          </a:bodyPr>
          <a:lstStyle/>
          <a:p>
            <a:pPr marL="12700">
              <a:lnSpc>
                <a:spcPct val="100000"/>
              </a:lnSpc>
            </a:pPr>
            <a:r>
              <a:rPr sz="2300" b="1" spc="10" dirty="0">
                <a:latin typeface="Times New Roman"/>
                <a:cs typeface="Times New Roman"/>
              </a:rPr>
              <a:t>PVS</a:t>
            </a:r>
            <a:endParaRPr sz="2300">
              <a:latin typeface="Times New Roman"/>
              <a:cs typeface="Times New Roman"/>
            </a:endParaRPr>
          </a:p>
        </p:txBody>
      </p:sp>
      <p:sp>
        <p:nvSpPr>
          <p:cNvPr id="23" name="object 23"/>
          <p:cNvSpPr txBox="1"/>
          <p:nvPr/>
        </p:nvSpPr>
        <p:spPr>
          <a:xfrm>
            <a:off x="3284435" y="5011013"/>
            <a:ext cx="599440" cy="362585"/>
          </a:xfrm>
          <a:prstGeom prst="rect">
            <a:avLst/>
          </a:prstGeom>
        </p:spPr>
        <p:txBody>
          <a:bodyPr vert="horz" wrap="square" lIns="0" tIns="0" rIns="0" bIns="0" rtlCol="0">
            <a:spAutoFit/>
          </a:bodyPr>
          <a:lstStyle/>
          <a:p>
            <a:pPr marL="12700">
              <a:lnSpc>
                <a:spcPct val="100000"/>
              </a:lnSpc>
            </a:pPr>
            <a:r>
              <a:rPr sz="2300" b="1" spc="10" dirty="0">
                <a:latin typeface="Times New Roman"/>
                <a:cs typeface="Times New Roman"/>
              </a:rPr>
              <a:t>SAL</a:t>
            </a:r>
            <a:endParaRPr sz="2300">
              <a:latin typeface="Times New Roman"/>
              <a:cs typeface="Times New Roman"/>
            </a:endParaRPr>
          </a:p>
        </p:txBody>
      </p:sp>
      <p:sp>
        <p:nvSpPr>
          <p:cNvPr id="24" name="object 24"/>
          <p:cNvSpPr txBox="1"/>
          <p:nvPr/>
        </p:nvSpPr>
        <p:spPr>
          <a:xfrm>
            <a:off x="4606277" y="3080931"/>
            <a:ext cx="1604010" cy="675005"/>
          </a:xfrm>
          <a:prstGeom prst="rect">
            <a:avLst/>
          </a:prstGeom>
        </p:spPr>
        <p:txBody>
          <a:bodyPr vert="horz" wrap="square" lIns="0" tIns="0" rIns="0" bIns="0" rtlCol="0">
            <a:spAutoFit/>
          </a:bodyPr>
          <a:lstStyle/>
          <a:p>
            <a:pPr marL="12700" marR="5080" indent="285115">
              <a:lnSpc>
                <a:spcPct val="124400"/>
              </a:lnSpc>
            </a:pPr>
            <a:r>
              <a:rPr sz="1750" b="1" spc="-5" dirty="0">
                <a:latin typeface="Times New Roman"/>
                <a:cs typeface="Times New Roman"/>
              </a:rPr>
              <a:t>automated  theorem</a:t>
            </a:r>
            <a:r>
              <a:rPr sz="1750" b="1" spc="-100" dirty="0">
                <a:latin typeface="Times New Roman"/>
                <a:cs typeface="Times New Roman"/>
              </a:rPr>
              <a:t> </a:t>
            </a:r>
            <a:r>
              <a:rPr sz="1750" b="1" spc="-5" dirty="0">
                <a:latin typeface="Times New Roman"/>
                <a:cs typeface="Times New Roman"/>
              </a:rPr>
              <a:t>proving</a:t>
            </a:r>
            <a:endParaRPr sz="1750">
              <a:latin typeface="Times New Roman"/>
              <a:cs typeface="Times New Roman"/>
            </a:endParaRPr>
          </a:p>
        </p:txBody>
      </p:sp>
      <p:sp>
        <p:nvSpPr>
          <p:cNvPr id="25" name="object 25"/>
          <p:cNvSpPr txBox="1"/>
          <p:nvPr/>
        </p:nvSpPr>
        <p:spPr>
          <a:xfrm>
            <a:off x="4655248" y="4141076"/>
            <a:ext cx="1506220" cy="278130"/>
          </a:xfrm>
          <a:prstGeom prst="rect">
            <a:avLst/>
          </a:prstGeom>
        </p:spPr>
        <p:txBody>
          <a:bodyPr vert="horz" wrap="square" lIns="0" tIns="0" rIns="0" bIns="0" rtlCol="0">
            <a:spAutoFit/>
          </a:bodyPr>
          <a:lstStyle/>
          <a:p>
            <a:pPr marL="12700">
              <a:lnSpc>
                <a:spcPct val="100000"/>
              </a:lnSpc>
            </a:pPr>
            <a:r>
              <a:rPr sz="1750" b="1" spc="-5" dirty="0">
                <a:latin typeface="Times New Roman"/>
                <a:cs typeface="Times New Roman"/>
              </a:rPr>
              <a:t>and</a:t>
            </a:r>
            <a:r>
              <a:rPr sz="1750" b="1" spc="-95" dirty="0">
                <a:latin typeface="Times New Roman"/>
                <a:cs typeface="Times New Roman"/>
              </a:rPr>
              <a:t> </a:t>
            </a:r>
            <a:r>
              <a:rPr sz="1750" b="1" spc="-5" dirty="0">
                <a:latin typeface="Times New Roman"/>
                <a:cs typeface="Times New Roman"/>
              </a:rPr>
              <a:t>abstraction</a:t>
            </a:r>
            <a:endParaRPr sz="1750">
              <a:latin typeface="Times New Roman"/>
              <a:cs typeface="Times New Roman"/>
            </a:endParaRPr>
          </a:p>
        </p:txBody>
      </p:sp>
      <p:sp>
        <p:nvSpPr>
          <p:cNvPr id="26" name="object 26"/>
          <p:cNvSpPr txBox="1"/>
          <p:nvPr/>
        </p:nvSpPr>
        <p:spPr>
          <a:xfrm>
            <a:off x="1795843" y="3809390"/>
            <a:ext cx="812165" cy="278130"/>
          </a:xfrm>
          <a:prstGeom prst="rect">
            <a:avLst/>
          </a:prstGeom>
        </p:spPr>
        <p:txBody>
          <a:bodyPr vert="horz" wrap="square" lIns="0" tIns="0" rIns="0" bIns="0" rtlCol="0">
            <a:spAutoFit/>
          </a:bodyPr>
          <a:lstStyle/>
          <a:p>
            <a:pPr marL="12700">
              <a:lnSpc>
                <a:spcPct val="100000"/>
              </a:lnSpc>
            </a:pPr>
            <a:r>
              <a:rPr sz="1750" b="1" spc="-5" dirty="0">
                <a:latin typeface="Times New Roman"/>
                <a:cs typeface="Times New Roman"/>
              </a:rPr>
              <a:t>invisible</a:t>
            </a:r>
            <a:endParaRPr sz="1750">
              <a:latin typeface="Times New Roman"/>
              <a:cs typeface="Times New Roman"/>
            </a:endParaRPr>
          </a:p>
        </p:txBody>
      </p:sp>
      <p:sp>
        <p:nvSpPr>
          <p:cNvPr id="27" name="object 27"/>
          <p:cNvSpPr txBox="1"/>
          <p:nvPr/>
        </p:nvSpPr>
        <p:spPr>
          <a:xfrm>
            <a:off x="1277086" y="4528057"/>
            <a:ext cx="1518285" cy="278130"/>
          </a:xfrm>
          <a:prstGeom prst="rect">
            <a:avLst/>
          </a:prstGeom>
        </p:spPr>
        <p:txBody>
          <a:bodyPr vert="horz" wrap="square" lIns="0" tIns="0" rIns="0" bIns="0" rtlCol="0">
            <a:spAutoFit/>
          </a:bodyPr>
          <a:lstStyle/>
          <a:p>
            <a:pPr marL="12700">
              <a:lnSpc>
                <a:spcPct val="100000"/>
              </a:lnSpc>
            </a:pPr>
            <a:r>
              <a:rPr sz="1750" b="1" spc="-5" dirty="0">
                <a:latin typeface="Times New Roman"/>
                <a:cs typeface="Times New Roman"/>
              </a:rPr>
              <a:t>formal</a:t>
            </a:r>
            <a:r>
              <a:rPr sz="1750" b="1" spc="-100" dirty="0">
                <a:latin typeface="Times New Roman"/>
                <a:cs typeface="Times New Roman"/>
              </a:rPr>
              <a:t> </a:t>
            </a:r>
            <a:r>
              <a:rPr sz="1750" b="1" spc="-5" dirty="0">
                <a:latin typeface="Times New Roman"/>
                <a:cs typeface="Times New Roman"/>
              </a:rPr>
              <a:t>methods</a:t>
            </a:r>
            <a:endParaRPr sz="1750">
              <a:latin typeface="Times New Roman"/>
              <a:cs typeface="Times New Roman"/>
            </a:endParaRPr>
          </a:p>
        </p:txBody>
      </p:sp>
      <p:sp>
        <p:nvSpPr>
          <p:cNvPr id="28" name="object 28"/>
          <p:cNvSpPr txBox="1"/>
          <p:nvPr/>
        </p:nvSpPr>
        <p:spPr>
          <a:xfrm>
            <a:off x="8270087" y="5096179"/>
            <a:ext cx="788670" cy="393065"/>
          </a:xfrm>
          <a:prstGeom prst="rect">
            <a:avLst/>
          </a:prstGeom>
        </p:spPr>
        <p:txBody>
          <a:bodyPr vert="horz" wrap="square" lIns="0" tIns="0" rIns="0" bIns="0" rtlCol="0">
            <a:spAutoFit/>
          </a:bodyPr>
          <a:lstStyle/>
          <a:p>
            <a:pPr marL="12700">
              <a:lnSpc>
                <a:spcPct val="100000"/>
              </a:lnSpc>
            </a:pPr>
            <a:r>
              <a:rPr sz="2500" spc="5" dirty="0">
                <a:latin typeface="Times New Roman"/>
                <a:cs typeface="Times New Roman"/>
              </a:rPr>
              <a:t>Effort</a:t>
            </a:r>
            <a:endParaRPr sz="2500">
              <a:latin typeface="Times New Roman"/>
              <a:cs typeface="Times New Roman"/>
            </a:endParaRPr>
          </a:p>
        </p:txBody>
      </p:sp>
      <p:sp>
        <p:nvSpPr>
          <p:cNvPr id="29" name="object 29"/>
          <p:cNvSpPr txBox="1"/>
          <p:nvPr/>
        </p:nvSpPr>
        <p:spPr>
          <a:xfrm>
            <a:off x="5059781" y="5011026"/>
            <a:ext cx="697230" cy="362585"/>
          </a:xfrm>
          <a:prstGeom prst="rect">
            <a:avLst/>
          </a:prstGeom>
        </p:spPr>
        <p:txBody>
          <a:bodyPr vert="horz" wrap="square" lIns="0" tIns="0" rIns="0" bIns="0" rtlCol="0">
            <a:spAutoFit/>
          </a:bodyPr>
          <a:lstStyle/>
          <a:p>
            <a:pPr marL="12700">
              <a:lnSpc>
                <a:spcPct val="100000"/>
              </a:lnSpc>
            </a:pPr>
            <a:r>
              <a:rPr sz="2300" b="1" spc="5" dirty="0">
                <a:latin typeface="Times New Roman"/>
                <a:cs typeface="Times New Roman"/>
              </a:rPr>
              <a:t>Yices</a:t>
            </a:r>
            <a:endParaRPr sz="2300">
              <a:latin typeface="Times New Roman"/>
              <a:cs typeface="Times New Roman"/>
            </a:endParaRPr>
          </a:p>
        </p:txBody>
      </p:sp>
      <p:sp>
        <p:nvSpPr>
          <p:cNvPr id="30" name="object 30"/>
          <p:cNvSpPr txBox="1"/>
          <p:nvPr/>
        </p:nvSpPr>
        <p:spPr>
          <a:xfrm>
            <a:off x="3576586" y="6056896"/>
            <a:ext cx="2005330" cy="302260"/>
          </a:xfrm>
          <a:prstGeom prst="rect">
            <a:avLst/>
          </a:prstGeom>
        </p:spPr>
        <p:txBody>
          <a:bodyPr vert="horz" wrap="square" lIns="0" tIns="0" rIns="0" bIns="0" rtlCol="0">
            <a:spAutoFit/>
          </a:bodyPr>
          <a:lstStyle/>
          <a:p>
            <a:pPr marL="12700">
              <a:lnSpc>
                <a:spcPct val="100000"/>
              </a:lnSpc>
            </a:pPr>
            <a:r>
              <a:rPr sz="1900" spc="10" dirty="0">
                <a:latin typeface="Times New Roman"/>
                <a:cs typeface="Times New Roman"/>
              </a:rPr>
              <a:t>Evidential </a:t>
            </a:r>
            <a:r>
              <a:rPr sz="1900" spc="15" dirty="0">
                <a:latin typeface="Times New Roman"/>
                <a:cs typeface="Times New Roman"/>
              </a:rPr>
              <a:t>Tool</a:t>
            </a:r>
            <a:r>
              <a:rPr sz="1900" spc="-45" dirty="0">
                <a:latin typeface="Times New Roman"/>
                <a:cs typeface="Times New Roman"/>
              </a:rPr>
              <a:t> </a:t>
            </a:r>
            <a:r>
              <a:rPr sz="1900" spc="15" dirty="0">
                <a:latin typeface="Times New Roman"/>
                <a:cs typeface="Times New Roman"/>
              </a:rPr>
              <a:t>Bus</a:t>
            </a:r>
            <a:endParaRPr sz="1900">
              <a:latin typeface="Times New Roman"/>
              <a:cs typeface="Times New Roman"/>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681721"/>
            <a:ext cx="8030209" cy="5334000"/>
          </a:xfrm>
          <a:prstGeom prst="rect">
            <a:avLst/>
          </a:prstGeom>
        </p:spPr>
        <p:txBody>
          <a:bodyPr vert="horz" wrap="square" lIns="0" tIns="0" rIns="0" bIns="0" rtlCol="0">
            <a:spAutoFit/>
          </a:bodyPr>
          <a:lstStyle/>
          <a:p>
            <a:pPr marL="1371600" marR="1125855" indent="68580">
              <a:lnSpc>
                <a:spcPct val="125000"/>
              </a:lnSpc>
            </a:pPr>
            <a:r>
              <a:rPr sz="1950" spc="240" dirty="0">
                <a:solidFill>
                  <a:srgbClr val="231F20"/>
                </a:solidFill>
                <a:latin typeface="Arial"/>
                <a:cs typeface="Arial"/>
              </a:rPr>
              <a:t>Examples </a:t>
            </a:r>
            <a:r>
              <a:rPr sz="1950" spc="280" dirty="0">
                <a:solidFill>
                  <a:srgbClr val="231F20"/>
                </a:solidFill>
                <a:latin typeface="Arial"/>
                <a:cs typeface="Arial"/>
              </a:rPr>
              <a:t>of </a:t>
            </a:r>
            <a:r>
              <a:rPr sz="1950" spc="180" dirty="0">
                <a:solidFill>
                  <a:srgbClr val="231F20"/>
                </a:solidFill>
                <a:latin typeface="Arial"/>
                <a:cs typeface="Arial"/>
              </a:rPr>
              <a:t>Invisible </a:t>
            </a:r>
            <a:r>
              <a:rPr sz="1950" spc="270" dirty="0">
                <a:solidFill>
                  <a:srgbClr val="231F20"/>
                </a:solidFill>
                <a:latin typeface="Arial"/>
                <a:cs typeface="Arial"/>
              </a:rPr>
              <a:t>Formal </a:t>
            </a:r>
            <a:r>
              <a:rPr sz="1950" spc="305" dirty="0">
                <a:solidFill>
                  <a:srgbClr val="231F20"/>
                </a:solidFill>
                <a:latin typeface="Arial"/>
                <a:cs typeface="Arial"/>
              </a:rPr>
              <a:t>Methods  </a:t>
            </a:r>
            <a:r>
              <a:rPr sz="1950" spc="265" dirty="0">
                <a:solidFill>
                  <a:srgbClr val="FF0000"/>
                </a:solidFill>
                <a:latin typeface="Arial"/>
                <a:cs typeface="Arial"/>
              </a:rPr>
              <a:t>Stronger </a:t>
            </a:r>
            <a:r>
              <a:rPr sz="1950" spc="245" dirty="0">
                <a:solidFill>
                  <a:srgbClr val="FF0000"/>
                </a:solidFill>
                <a:latin typeface="Arial"/>
                <a:cs typeface="Arial"/>
              </a:rPr>
              <a:t>Checking </a:t>
            </a:r>
            <a:r>
              <a:rPr sz="1950" spc="210" dirty="0">
                <a:solidFill>
                  <a:srgbClr val="FF0000"/>
                </a:solidFill>
                <a:latin typeface="Arial"/>
                <a:cs typeface="Arial"/>
              </a:rPr>
              <a:t>in </a:t>
            </a:r>
            <a:r>
              <a:rPr sz="1950" spc="260" dirty="0">
                <a:solidFill>
                  <a:srgbClr val="FF0000"/>
                </a:solidFill>
                <a:latin typeface="Arial"/>
                <a:cs typeface="Arial"/>
              </a:rPr>
              <a:t>Traditional</a:t>
            </a:r>
            <a:r>
              <a:rPr sz="1950" spc="690" dirty="0">
                <a:solidFill>
                  <a:srgbClr val="FF0000"/>
                </a:solidFill>
                <a:latin typeface="Arial"/>
                <a:cs typeface="Arial"/>
              </a:rPr>
              <a:t> </a:t>
            </a:r>
            <a:r>
              <a:rPr sz="1950" spc="275" dirty="0">
                <a:solidFill>
                  <a:srgbClr val="FF0000"/>
                </a:solidFill>
                <a:latin typeface="Arial"/>
                <a:cs typeface="Arial"/>
              </a:rPr>
              <a:t>Tools</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14" dirty="0">
                <a:solidFill>
                  <a:srgbClr val="231F20"/>
                </a:solidFill>
                <a:latin typeface="Arial"/>
                <a:cs typeface="Arial"/>
              </a:rPr>
              <a:t>Various </a:t>
            </a:r>
            <a:r>
              <a:rPr sz="1950" spc="150" dirty="0">
                <a:solidFill>
                  <a:srgbClr val="231F20"/>
                </a:solidFill>
                <a:latin typeface="Arial"/>
                <a:cs typeface="Arial"/>
              </a:rPr>
              <a:t>forms </a:t>
            </a:r>
            <a:r>
              <a:rPr sz="1950" spc="185" dirty="0">
                <a:solidFill>
                  <a:srgbClr val="231F20"/>
                </a:solidFill>
                <a:latin typeface="Arial"/>
                <a:cs typeface="Arial"/>
              </a:rPr>
              <a:t>of </a:t>
            </a:r>
            <a:r>
              <a:rPr sz="1950" spc="120" dirty="0">
                <a:solidFill>
                  <a:srgbClr val="0000FF"/>
                </a:solidFill>
                <a:latin typeface="Arial"/>
                <a:cs typeface="Arial"/>
              </a:rPr>
              <a:t>extended </a:t>
            </a:r>
            <a:r>
              <a:rPr sz="1950" spc="165" dirty="0">
                <a:solidFill>
                  <a:srgbClr val="0000FF"/>
                </a:solidFill>
                <a:latin typeface="Arial"/>
                <a:cs typeface="Arial"/>
              </a:rPr>
              <a:t>static</a:t>
            </a:r>
            <a:r>
              <a:rPr sz="1950" spc="825" dirty="0">
                <a:solidFill>
                  <a:srgbClr val="0000FF"/>
                </a:solidFill>
                <a:latin typeface="Arial"/>
                <a:cs typeface="Arial"/>
              </a:rPr>
              <a:t> </a:t>
            </a:r>
            <a:r>
              <a:rPr sz="1950" spc="125" dirty="0">
                <a:solidFill>
                  <a:srgbClr val="0000FF"/>
                </a:solidFill>
                <a:latin typeface="Arial"/>
                <a:cs typeface="Arial"/>
              </a:rPr>
              <a:t>checking</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114" dirty="0">
                <a:solidFill>
                  <a:srgbClr val="231F20"/>
                </a:solidFill>
                <a:latin typeface="Arial"/>
                <a:cs typeface="Arial"/>
              </a:rPr>
              <a:t>Failed </a:t>
            </a:r>
            <a:r>
              <a:rPr sz="1950" spc="170" dirty="0">
                <a:solidFill>
                  <a:srgbClr val="231F20"/>
                </a:solidFill>
                <a:latin typeface="Arial"/>
                <a:cs typeface="Arial"/>
              </a:rPr>
              <a:t>proof </a:t>
            </a:r>
            <a:r>
              <a:rPr sz="1950" spc="100" dirty="0">
                <a:solidFill>
                  <a:srgbClr val="231F20"/>
                </a:solidFill>
                <a:latin typeface="Arial"/>
                <a:cs typeface="Arial"/>
              </a:rPr>
              <a:t>generates </a:t>
            </a:r>
            <a:r>
              <a:rPr sz="1950" spc="85" dirty="0">
                <a:solidFill>
                  <a:srgbClr val="231F20"/>
                </a:solidFill>
                <a:latin typeface="Arial"/>
                <a:cs typeface="Arial"/>
              </a:rPr>
              <a:t>a </a:t>
            </a:r>
            <a:r>
              <a:rPr sz="1950" spc="100" dirty="0">
                <a:solidFill>
                  <a:srgbClr val="231F20"/>
                </a:solidFill>
                <a:latin typeface="Arial"/>
                <a:cs typeface="Arial"/>
              </a:rPr>
              <a:t>possibly </a:t>
            </a:r>
            <a:r>
              <a:rPr sz="1950" spc="105" dirty="0">
                <a:solidFill>
                  <a:srgbClr val="231F20"/>
                </a:solidFill>
                <a:latin typeface="Arial"/>
                <a:cs typeface="Arial"/>
              </a:rPr>
              <a:t>spurious </a:t>
            </a:r>
            <a:r>
              <a:rPr sz="1950" spc="500" dirty="0">
                <a:solidFill>
                  <a:srgbClr val="231F20"/>
                </a:solidFill>
                <a:latin typeface="Arial"/>
                <a:cs typeface="Arial"/>
              </a:rPr>
              <a:t> </a:t>
            </a:r>
            <a:r>
              <a:rPr sz="1950" spc="130" dirty="0">
                <a:solidFill>
                  <a:srgbClr val="231F20"/>
                </a:solidFill>
                <a:latin typeface="Arial"/>
                <a:cs typeface="Arial"/>
              </a:rPr>
              <a:t>warning</a:t>
            </a:r>
            <a:endParaRPr sz="1950">
              <a:latin typeface="Arial"/>
              <a:cs typeface="Arial"/>
            </a:endParaRPr>
          </a:p>
          <a:p>
            <a:pPr marL="300990" marR="1216660" indent="-288290">
              <a:lnSpc>
                <a:spcPct val="125000"/>
              </a:lnSpc>
              <a:spcBef>
                <a:spcPts val="1340"/>
              </a:spcBef>
              <a:buClr>
                <a:srgbClr val="231F20"/>
              </a:buClr>
              <a:buSzPct val="105128"/>
              <a:buFont typeface="Lucida Sans Unicode"/>
              <a:buChar char="•"/>
              <a:tabLst>
                <a:tab pos="301625" algn="l"/>
                <a:tab pos="2370455" algn="l"/>
              </a:tabLst>
            </a:pPr>
            <a:r>
              <a:rPr sz="1950" spc="180" dirty="0">
                <a:solidFill>
                  <a:srgbClr val="FF0000"/>
                </a:solidFill>
                <a:latin typeface="Arial"/>
                <a:cs typeface="Arial"/>
              </a:rPr>
              <a:t>Static </a:t>
            </a:r>
            <a:r>
              <a:rPr sz="1950" spc="710" dirty="0">
                <a:solidFill>
                  <a:srgbClr val="FF0000"/>
                </a:solidFill>
                <a:latin typeface="Arial"/>
                <a:cs typeface="Arial"/>
              </a:rPr>
              <a:t> </a:t>
            </a:r>
            <a:r>
              <a:rPr sz="1950" spc="85" dirty="0">
                <a:solidFill>
                  <a:srgbClr val="FF0000"/>
                </a:solidFill>
                <a:latin typeface="Arial"/>
                <a:cs typeface="Arial"/>
              </a:rPr>
              <a:t>analysis</a:t>
            </a:r>
            <a:r>
              <a:rPr sz="1950" spc="85" dirty="0">
                <a:solidFill>
                  <a:srgbClr val="231F20"/>
                </a:solidFill>
                <a:latin typeface="Arial"/>
                <a:cs typeface="Arial"/>
              </a:rPr>
              <a:t>:	</a:t>
            </a:r>
            <a:r>
              <a:rPr sz="1950" spc="155" dirty="0">
                <a:solidFill>
                  <a:srgbClr val="231F20"/>
                </a:solidFill>
                <a:latin typeface="Arial"/>
                <a:cs typeface="Arial"/>
              </a:rPr>
              <a:t>typestate, </a:t>
            </a:r>
            <a:r>
              <a:rPr sz="1950" spc="90" dirty="0">
                <a:solidFill>
                  <a:srgbClr val="231F20"/>
                </a:solidFill>
                <a:latin typeface="Arial"/>
                <a:cs typeface="Arial"/>
              </a:rPr>
              <a:t>shape</a:t>
            </a:r>
            <a:r>
              <a:rPr sz="1950" spc="375" dirty="0">
                <a:solidFill>
                  <a:srgbClr val="231F20"/>
                </a:solidFill>
                <a:latin typeface="Arial"/>
                <a:cs typeface="Arial"/>
              </a:rPr>
              <a:t> </a:t>
            </a:r>
            <a:r>
              <a:rPr sz="1950" spc="85" dirty="0">
                <a:solidFill>
                  <a:srgbClr val="231F20"/>
                </a:solidFill>
                <a:latin typeface="Arial"/>
                <a:cs typeface="Arial"/>
              </a:rPr>
              <a:t>analysis,</a:t>
            </a:r>
            <a:r>
              <a:rPr sz="1950" spc="265" dirty="0">
                <a:solidFill>
                  <a:srgbClr val="231F20"/>
                </a:solidFill>
                <a:latin typeface="Arial"/>
                <a:cs typeface="Arial"/>
              </a:rPr>
              <a:t> </a:t>
            </a:r>
            <a:r>
              <a:rPr sz="1950" spc="160" dirty="0">
                <a:solidFill>
                  <a:srgbClr val="231F20"/>
                </a:solidFill>
                <a:latin typeface="Arial"/>
                <a:cs typeface="Arial"/>
              </a:rPr>
              <a:t>abstract </a:t>
            </a:r>
            <a:r>
              <a:rPr sz="1950" spc="350" dirty="0">
                <a:solidFill>
                  <a:srgbClr val="231F20"/>
                </a:solidFill>
                <a:latin typeface="Arial"/>
                <a:cs typeface="Arial"/>
              </a:rPr>
              <a:t> </a:t>
            </a:r>
            <a:r>
              <a:rPr sz="1950" spc="160" dirty="0">
                <a:solidFill>
                  <a:srgbClr val="231F20"/>
                </a:solidFill>
                <a:latin typeface="Arial"/>
                <a:cs typeface="Arial"/>
              </a:rPr>
              <a:t>interpretation</a:t>
            </a:r>
            <a:r>
              <a:rPr sz="1950" spc="250" dirty="0">
                <a:solidFill>
                  <a:srgbClr val="231F20"/>
                </a:solidFill>
                <a:latin typeface="Arial"/>
                <a:cs typeface="Arial"/>
              </a:rPr>
              <a:t> </a:t>
            </a:r>
            <a:r>
              <a:rPr sz="1950" spc="155" dirty="0">
                <a:solidFill>
                  <a:srgbClr val="231F20"/>
                </a:solidFill>
                <a:latin typeface="Arial"/>
                <a:cs typeface="Arial"/>
              </a:rPr>
              <a:t>etc.</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45" dirty="0">
                <a:solidFill>
                  <a:srgbClr val="231F20"/>
                </a:solidFill>
                <a:latin typeface="Arial"/>
                <a:cs typeface="Arial"/>
              </a:rPr>
              <a:t>PVS-like </a:t>
            </a:r>
            <a:r>
              <a:rPr sz="1950" spc="160" dirty="0">
                <a:solidFill>
                  <a:srgbClr val="0000FF"/>
                </a:solidFill>
                <a:latin typeface="Arial"/>
                <a:cs typeface="Arial"/>
              </a:rPr>
              <a:t>type </a:t>
            </a:r>
            <a:r>
              <a:rPr sz="1950" spc="120" dirty="0">
                <a:solidFill>
                  <a:srgbClr val="0000FF"/>
                </a:solidFill>
                <a:latin typeface="Arial"/>
                <a:cs typeface="Arial"/>
              </a:rPr>
              <a:t>system </a:t>
            </a:r>
            <a:r>
              <a:rPr sz="1950" spc="140" dirty="0">
                <a:solidFill>
                  <a:srgbClr val="231F20"/>
                </a:solidFill>
                <a:latin typeface="Arial"/>
                <a:cs typeface="Arial"/>
              </a:rPr>
              <a:t>(predicate </a:t>
            </a:r>
            <a:r>
              <a:rPr sz="1950" spc="135" dirty="0">
                <a:solidFill>
                  <a:srgbClr val="231F20"/>
                </a:solidFill>
                <a:latin typeface="Arial"/>
                <a:cs typeface="Arial"/>
              </a:rPr>
              <a:t>subtypes) </a:t>
            </a:r>
            <a:r>
              <a:rPr sz="1950" spc="155" dirty="0">
                <a:solidFill>
                  <a:srgbClr val="231F20"/>
                </a:solidFill>
                <a:latin typeface="Arial"/>
                <a:cs typeface="Arial"/>
              </a:rPr>
              <a:t>for </a:t>
            </a:r>
            <a:r>
              <a:rPr sz="1950" spc="120" dirty="0">
                <a:solidFill>
                  <a:srgbClr val="231F20"/>
                </a:solidFill>
                <a:latin typeface="Arial"/>
                <a:cs typeface="Arial"/>
              </a:rPr>
              <a:t>any </a:t>
            </a:r>
            <a:r>
              <a:rPr sz="1950" spc="445" dirty="0">
                <a:solidFill>
                  <a:srgbClr val="231F20"/>
                </a:solidFill>
                <a:latin typeface="Arial"/>
                <a:cs typeface="Arial"/>
              </a:rPr>
              <a:t> </a:t>
            </a:r>
            <a:r>
              <a:rPr sz="1950" spc="114" dirty="0">
                <a:solidFill>
                  <a:srgbClr val="231F20"/>
                </a:solidFill>
                <a:latin typeface="Arial"/>
                <a:cs typeface="Arial"/>
              </a:rPr>
              <a:t>language</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170" dirty="0">
                <a:solidFill>
                  <a:srgbClr val="231F20"/>
                </a:solidFill>
                <a:latin typeface="Arial"/>
                <a:cs typeface="Arial"/>
              </a:rPr>
              <a:t>Traditional </a:t>
            </a:r>
            <a:r>
              <a:rPr sz="1950" spc="160" dirty="0">
                <a:solidFill>
                  <a:srgbClr val="231F20"/>
                </a:solidFill>
                <a:latin typeface="Arial"/>
                <a:cs typeface="Arial"/>
              </a:rPr>
              <a:t>type </a:t>
            </a:r>
            <a:r>
              <a:rPr sz="1950" spc="100" dirty="0">
                <a:solidFill>
                  <a:srgbClr val="231F20"/>
                </a:solidFill>
                <a:latin typeface="Arial"/>
                <a:cs typeface="Arial"/>
              </a:rPr>
              <a:t>systems </a:t>
            </a:r>
            <a:r>
              <a:rPr sz="1950" spc="95" dirty="0">
                <a:solidFill>
                  <a:srgbClr val="231F20"/>
                </a:solidFill>
                <a:latin typeface="Arial"/>
                <a:cs typeface="Arial"/>
              </a:rPr>
              <a:t>have </a:t>
            </a:r>
            <a:r>
              <a:rPr sz="1950" spc="250" dirty="0">
                <a:solidFill>
                  <a:srgbClr val="231F20"/>
                </a:solidFill>
                <a:latin typeface="Arial"/>
                <a:cs typeface="Arial"/>
              </a:rPr>
              <a:t>to </a:t>
            </a:r>
            <a:r>
              <a:rPr sz="1950" spc="114" dirty="0">
                <a:solidFill>
                  <a:srgbClr val="231F20"/>
                </a:solidFill>
                <a:latin typeface="Arial"/>
                <a:cs typeface="Arial"/>
              </a:rPr>
              <a:t>be </a:t>
            </a:r>
            <a:r>
              <a:rPr sz="1950" spc="145" dirty="0">
                <a:solidFill>
                  <a:srgbClr val="231F20"/>
                </a:solidFill>
                <a:latin typeface="Arial"/>
                <a:cs typeface="Arial"/>
              </a:rPr>
              <a:t>trivially </a:t>
            </a:r>
            <a:r>
              <a:rPr sz="1950" spc="395" dirty="0">
                <a:solidFill>
                  <a:srgbClr val="231F20"/>
                </a:solidFill>
                <a:latin typeface="Arial"/>
                <a:cs typeface="Arial"/>
              </a:rPr>
              <a:t> </a:t>
            </a:r>
            <a:r>
              <a:rPr sz="1950" spc="100" dirty="0">
                <a:solidFill>
                  <a:srgbClr val="231F20"/>
                </a:solidFill>
                <a:latin typeface="Arial"/>
                <a:cs typeface="Arial"/>
              </a:rPr>
              <a:t>decidable</a:t>
            </a:r>
            <a:endParaRPr sz="1950">
              <a:latin typeface="Arial"/>
              <a:cs typeface="Arial"/>
            </a:endParaRPr>
          </a:p>
          <a:p>
            <a:pPr marL="741680" marR="102870" lvl="1" indent="-288290">
              <a:lnSpc>
                <a:spcPct val="125000"/>
              </a:lnSpc>
              <a:spcBef>
                <a:spcPts val="259"/>
              </a:spcBef>
              <a:buSzPct val="105128"/>
              <a:buFont typeface="Lucida Sans Unicode"/>
              <a:buChar char="◦"/>
              <a:tabLst>
                <a:tab pos="742315" algn="l"/>
              </a:tabLst>
            </a:pPr>
            <a:r>
              <a:rPr sz="1950" spc="275" dirty="0">
                <a:solidFill>
                  <a:srgbClr val="231F20"/>
                </a:solidFill>
                <a:latin typeface="Arial"/>
                <a:cs typeface="Arial"/>
              </a:rPr>
              <a:t>But </a:t>
            </a:r>
            <a:r>
              <a:rPr sz="1950" spc="120" dirty="0">
                <a:solidFill>
                  <a:srgbClr val="231F20"/>
                </a:solidFill>
                <a:latin typeface="Arial"/>
                <a:cs typeface="Arial"/>
              </a:rPr>
              <a:t>can </a:t>
            </a:r>
            <a:r>
              <a:rPr sz="1950" spc="125" dirty="0">
                <a:solidFill>
                  <a:srgbClr val="231F20"/>
                </a:solidFill>
                <a:latin typeface="Arial"/>
                <a:cs typeface="Arial"/>
              </a:rPr>
              <a:t>gain enormous </a:t>
            </a:r>
            <a:r>
              <a:rPr sz="1950" spc="120" dirty="0">
                <a:solidFill>
                  <a:srgbClr val="231F20"/>
                </a:solidFill>
                <a:latin typeface="Arial"/>
                <a:cs typeface="Arial"/>
              </a:rPr>
              <a:t>error </a:t>
            </a:r>
            <a:r>
              <a:rPr sz="1950" spc="155" dirty="0">
                <a:solidFill>
                  <a:srgbClr val="231F20"/>
                </a:solidFill>
                <a:latin typeface="Arial"/>
                <a:cs typeface="Arial"/>
              </a:rPr>
              <a:t>detection </a:t>
            </a:r>
            <a:r>
              <a:rPr sz="1950" spc="105" dirty="0">
                <a:solidFill>
                  <a:srgbClr val="231F20"/>
                </a:solidFill>
                <a:latin typeface="Arial"/>
                <a:cs typeface="Arial"/>
              </a:rPr>
              <a:t>by </a:t>
            </a:r>
            <a:r>
              <a:rPr sz="1950" spc="135" dirty="0">
                <a:solidFill>
                  <a:srgbClr val="231F20"/>
                </a:solidFill>
                <a:latin typeface="Arial"/>
                <a:cs typeface="Arial"/>
              </a:rPr>
              <a:t>adding </a:t>
            </a:r>
            <a:r>
              <a:rPr sz="1950" spc="85" dirty="0">
                <a:solidFill>
                  <a:srgbClr val="231F20"/>
                </a:solidFill>
                <a:latin typeface="Arial"/>
                <a:cs typeface="Arial"/>
              </a:rPr>
              <a:t>a  </a:t>
            </a:r>
            <a:r>
              <a:rPr sz="1950" spc="180" dirty="0">
                <a:solidFill>
                  <a:srgbClr val="231F20"/>
                </a:solidFill>
                <a:latin typeface="Arial"/>
                <a:cs typeface="Arial"/>
              </a:rPr>
              <a:t>component </a:t>
            </a:r>
            <a:r>
              <a:rPr sz="1950" spc="235" dirty="0">
                <a:solidFill>
                  <a:srgbClr val="231F20"/>
                </a:solidFill>
                <a:latin typeface="Arial"/>
                <a:cs typeface="Arial"/>
              </a:rPr>
              <a:t>that </a:t>
            </a:r>
            <a:r>
              <a:rPr sz="1950" spc="95" dirty="0">
                <a:solidFill>
                  <a:srgbClr val="231F20"/>
                </a:solidFill>
                <a:latin typeface="Arial"/>
                <a:cs typeface="Arial"/>
              </a:rPr>
              <a:t>requires </a:t>
            </a:r>
            <a:r>
              <a:rPr sz="1950" spc="155" dirty="0">
                <a:solidFill>
                  <a:srgbClr val="231F20"/>
                </a:solidFill>
                <a:latin typeface="Arial"/>
                <a:cs typeface="Arial"/>
              </a:rPr>
              <a:t>theorem </a:t>
            </a:r>
            <a:r>
              <a:rPr sz="1950" spc="135" dirty="0">
                <a:solidFill>
                  <a:srgbClr val="231F20"/>
                </a:solidFill>
                <a:latin typeface="Arial"/>
                <a:cs typeface="Arial"/>
              </a:rPr>
              <a:t>proving </a:t>
            </a:r>
            <a:r>
              <a:rPr sz="1950" spc="180" dirty="0">
                <a:solidFill>
                  <a:srgbClr val="231F20"/>
                </a:solidFill>
                <a:latin typeface="Arial"/>
                <a:cs typeface="Arial"/>
              </a:rPr>
              <a:t>(lots </a:t>
            </a:r>
            <a:r>
              <a:rPr sz="1950" spc="185" dirty="0">
                <a:solidFill>
                  <a:srgbClr val="231F20"/>
                </a:solidFill>
                <a:latin typeface="Arial"/>
                <a:cs typeface="Arial"/>
              </a:rPr>
              <a:t>of </a:t>
            </a:r>
            <a:r>
              <a:rPr sz="1950" spc="114" dirty="0">
                <a:solidFill>
                  <a:srgbClr val="231F20"/>
                </a:solidFill>
                <a:latin typeface="Arial"/>
                <a:cs typeface="Arial"/>
              </a:rPr>
              <a:t>small  </a:t>
            </a:r>
            <a:r>
              <a:rPr sz="1950" spc="135" dirty="0">
                <a:solidFill>
                  <a:srgbClr val="231F20"/>
                </a:solidFill>
                <a:latin typeface="Arial"/>
                <a:cs typeface="Arial"/>
              </a:rPr>
              <a:t>theorems, </a:t>
            </a:r>
            <a:r>
              <a:rPr sz="1950" spc="125" dirty="0">
                <a:solidFill>
                  <a:srgbClr val="231F20"/>
                </a:solidFill>
                <a:latin typeface="Arial"/>
                <a:cs typeface="Arial"/>
              </a:rPr>
              <a:t>failure </a:t>
            </a:r>
            <a:r>
              <a:rPr sz="1950" spc="100" dirty="0">
                <a:solidFill>
                  <a:srgbClr val="231F20"/>
                </a:solidFill>
                <a:latin typeface="Arial"/>
                <a:cs typeface="Arial"/>
              </a:rPr>
              <a:t>generates </a:t>
            </a:r>
            <a:r>
              <a:rPr sz="1950" spc="85" dirty="0">
                <a:solidFill>
                  <a:srgbClr val="231F20"/>
                </a:solidFill>
                <a:latin typeface="Arial"/>
                <a:cs typeface="Arial"/>
              </a:rPr>
              <a:t>a </a:t>
            </a:r>
            <a:r>
              <a:rPr sz="1950" spc="105" dirty="0">
                <a:solidFill>
                  <a:srgbClr val="231F20"/>
                </a:solidFill>
                <a:latin typeface="Arial"/>
                <a:cs typeface="Arial"/>
              </a:rPr>
              <a:t>spurious </a:t>
            </a:r>
            <a:r>
              <a:rPr sz="1950" spc="290" dirty="0">
                <a:solidFill>
                  <a:srgbClr val="231F20"/>
                </a:solidFill>
                <a:latin typeface="Arial"/>
                <a:cs typeface="Arial"/>
              </a:rPr>
              <a:t> </a:t>
            </a:r>
            <a:r>
              <a:rPr sz="1950" spc="155" dirty="0">
                <a:solidFill>
                  <a:srgbClr val="231F20"/>
                </a:solidFill>
                <a:latin typeface="Arial"/>
                <a:cs typeface="Arial"/>
              </a:rPr>
              <a:t>warning)</a:t>
            </a:r>
            <a:endParaRPr sz="1950">
              <a:latin typeface="Arial"/>
              <a:cs typeface="Arial"/>
            </a:endParaRPr>
          </a:p>
          <a:p>
            <a:pPr lvl="1">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 pos="4086860" algn="l"/>
              </a:tabLst>
            </a:pPr>
            <a:r>
              <a:rPr sz="1950" spc="250" dirty="0">
                <a:solidFill>
                  <a:srgbClr val="0000FF"/>
                </a:solidFill>
                <a:latin typeface="Arial"/>
                <a:cs typeface="Arial"/>
              </a:rPr>
              <a:t>The  </a:t>
            </a:r>
            <a:r>
              <a:rPr sz="1950" spc="130" dirty="0">
                <a:solidFill>
                  <a:srgbClr val="0000FF"/>
                </a:solidFill>
                <a:latin typeface="Arial"/>
                <a:cs typeface="Arial"/>
              </a:rPr>
              <a:t>verifying</a:t>
            </a:r>
            <a:r>
              <a:rPr sz="1950" spc="310" dirty="0">
                <a:solidFill>
                  <a:srgbClr val="0000FF"/>
                </a:solidFill>
                <a:latin typeface="Arial"/>
                <a:cs typeface="Arial"/>
              </a:rPr>
              <a:t> </a:t>
            </a:r>
            <a:r>
              <a:rPr sz="1950" spc="140" dirty="0">
                <a:solidFill>
                  <a:srgbClr val="0000FF"/>
                </a:solidFill>
                <a:latin typeface="Arial"/>
                <a:cs typeface="Arial"/>
              </a:rPr>
              <a:t>compiler</a:t>
            </a:r>
            <a:r>
              <a:rPr sz="1950" spc="660" dirty="0">
                <a:solidFill>
                  <a:srgbClr val="0000FF"/>
                </a:solidFill>
                <a:latin typeface="Arial"/>
                <a:cs typeface="Arial"/>
              </a:rPr>
              <a:t> </a:t>
            </a:r>
            <a:r>
              <a:rPr sz="1950" spc="150" dirty="0">
                <a:solidFill>
                  <a:srgbClr val="231F20"/>
                </a:solidFill>
                <a:latin typeface="Arial"/>
                <a:cs typeface="Arial"/>
              </a:rPr>
              <a:t>(aka.	</a:t>
            </a:r>
            <a:r>
              <a:rPr sz="1950" spc="114" dirty="0">
                <a:solidFill>
                  <a:srgbClr val="FF0000"/>
                </a:solidFill>
                <a:latin typeface="Arial"/>
                <a:cs typeface="Arial"/>
              </a:rPr>
              <a:t>verified </a:t>
            </a:r>
            <a:r>
              <a:rPr sz="1950" spc="100" dirty="0">
                <a:solidFill>
                  <a:srgbClr val="FF0000"/>
                </a:solidFill>
                <a:latin typeface="Arial"/>
                <a:cs typeface="Arial"/>
              </a:rPr>
              <a:t>systems</a:t>
            </a:r>
            <a:r>
              <a:rPr sz="1950" spc="395" dirty="0">
                <a:solidFill>
                  <a:srgbClr val="FF0000"/>
                </a:solidFill>
                <a:latin typeface="Arial"/>
                <a:cs typeface="Arial"/>
              </a:rPr>
              <a:t> </a:t>
            </a:r>
            <a:r>
              <a:rPr sz="1950" spc="175" dirty="0">
                <a:solidFill>
                  <a:srgbClr val="FF0000"/>
                </a:solidFill>
                <a:latin typeface="Arial"/>
                <a:cs typeface="Arial"/>
              </a:rPr>
              <a:t>roadmap</a:t>
            </a:r>
            <a:r>
              <a:rPr sz="1950" spc="175" dirty="0">
                <a:solidFill>
                  <a:srgbClr val="231F20"/>
                </a:solidFill>
                <a:latin typeface="Arial"/>
                <a:cs typeface="Arial"/>
              </a:rPr>
              <a:t>)</a:t>
            </a:r>
            <a:endParaRPr sz="1950">
              <a:latin typeface="Arial"/>
              <a:cs typeface="Ari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01686"/>
            <a:ext cx="8209915" cy="5954395"/>
          </a:xfrm>
          <a:prstGeom prst="rect">
            <a:avLst/>
          </a:prstGeom>
        </p:spPr>
        <p:txBody>
          <a:bodyPr vert="horz" wrap="square" lIns="0" tIns="0" rIns="0" bIns="0" rtlCol="0">
            <a:spAutoFit/>
          </a:bodyPr>
          <a:lstStyle/>
          <a:p>
            <a:pPr marL="1452880" marR="1375410" indent="-12700">
              <a:lnSpc>
                <a:spcPct val="125000"/>
              </a:lnSpc>
            </a:pPr>
            <a:r>
              <a:rPr sz="1950" spc="240" dirty="0">
                <a:solidFill>
                  <a:srgbClr val="231F20"/>
                </a:solidFill>
                <a:latin typeface="Arial"/>
                <a:cs typeface="Arial"/>
              </a:rPr>
              <a:t>Examples </a:t>
            </a:r>
            <a:r>
              <a:rPr sz="1950" spc="280" dirty="0">
                <a:solidFill>
                  <a:srgbClr val="231F20"/>
                </a:solidFill>
                <a:latin typeface="Arial"/>
                <a:cs typeface="Arial"/>
              </a:rPr>
              <a:t>of </a:t>
            </a:r>
            <a:r>
              <a:rPr sz="1950" spc="180" dirty="0">
                <a:solidFill>
                  <a:srgbClr val="231F20"/>
                </a:solidFill>
                <a:latin typeface="Arial"/>
                <a:cs typeface="Arial"/>
              </a:rPr>
              <a:t>Invisible </a:t>
            </a:r>
            <a:r>
              <a:rPr sz="1950" spc="270" dirty="0">
                <a:solidFill>
                  <a:srgbClr val="231F20"/>
                </a:solidFill>
                <a:latin typeface="Arial"/>
                <a:cs typeface="Arial"/>
              </a:rPr>
              <a:t>Formal </a:t>
            </a:r>
            <a:r>
              <a:rPr sz="1950" spc="305" dirty="0">
                <a:solidFill>
                  <a:srgbClr val="231F20"/>
                </a:solidFill>
                <a:latin typeface="Arial"/>
                <a:cs typeface="Arial"/>
              </a:rPr>
              <a:t>Methods  </a:t>
            </a:r>
            <a:r>
              <a:rPr sz="1950" spc="320" dirty="0">
                <a:solidFill>
                  <a:srgbClr val="FF0000"/>
                </a:solidFill>
                <a:latin typeface="Arial"/>
                <a:cs typeface="Arial"/>
              </a:rPr>
              <a:t>Better </a:t>
            </a:r>
            <a:r>
              <a:rPr sz="1950" spc="275" dirty="0">
                <a:solidFill>
                  <a:srgbClr val="FF0000"/>
                </a:solidFill>
                <a:latin typeface="Arial"/>
                <a:cs typeface="Arial"/>
              </a:rPr>
              <a:t>Tools </a:t>
            </a:r>
            <a:r>
              <a:rPr sz="1950" spc="245" dirty="0">
                <a:solidFill>
                  <a:srgbClr val="FF0000"/>
                </a:solidFill>
                <a:latin typeface="Arial"/>
                <a:cs typeface="Arial"/>
              </a:rPr>
              <a:t>for </a:t>
            </a:r>
            <a:r>
              <a:rPr sz="1950" spc="260" dirty="0">
                <a:solidFill>
                  <a:srgbClr val="FF0000"/>
                </a:solidFill>
                <a:latin typeface="Arial"/>
                <a:cs typeface="Arial"/>
              </a:rPr>
              <a:t>Traditional</a:t>
            </a:r>
            <a:r>
              <a:rPr sz="1950" spc="610" dirty="0">
                <a:solidFill>
                  <a:srgbClr val="FF0000"/>
                </a:solidFill>
                <a:latin typeface="Arial"/>
                <a:cs typeface="Arial"/>
              </a:rPr>
              <a:t> </a:t>
            </a:r>
            <a:r>
              <a:rPr sz="1950" spc="245" dirty="0">
                <a:solidFill>
                  <a:srgbClr val="FF0000"/>
                </a:solidFill>
                <a:latin typeface="Arial"/>
                <a:cs typeface="Arial"/>
              </a:rPr>
              <a:t>Activities</a:t>
            </a:r>
            <a:endParaRPr sz="1950">
              <a:latin typeface="Arial"/>
              <a:cs typeface="Arial"/>
            </a:endParaRPr>
          </a:p>
          <a:p>
            <a:pPr marL="300990" marR="2567940" indent="-288290">
              <a:lnSpc>
                <a:spcPct val="125000"/>
              </a:lnSpc>
              <a:spcBef>
                <a:spcPts val="1030"/>
              </a:spcBef>
              <a:buClr>
                <a:srgbClr val="231F20"/>
              </a:buClr>
              <a:buSzPct val="105128"/>
              <a:buFont typeface="Lucida Sans Unicode"/>
              <a:buChar char="•"/>
              <a:tabLst>
                <a:tab pos="301625" algn="l"/>
              </a:tabLst>
            </a:pPr>
            <a:r>
              <a:rPr sz="1950" spc="195" dirty="0">
                <a:solidFill>
                  <a:srgbClr val="0000FF"/>
                </a:solidFill>
                <a:latin typeface="Arial"/>
                <a:cs typeface="Arial"/>
              </a:rPr>
              <a:t>Statechart/Stateflow </a:t>
            </a:r>
            <a:r>
              <a:rPr sz="1950" spc="150" dirty="0">
                <a:solidFill>
                  <a:srgbClr val="0000FF"/>
                </a:solidFill>
                <a:latin typeface="Arial"/>
                <a:cs typeface="Arial"/>
              </a:rPr>
              <a:t>property </a:t>
            </a:r>
            <a:r>
              <a:rPr sz="1950" spc="85" dirty="0">
                <a:solidFill>
                  <a:srgbClr val="0000FF"/>
                </a:solidFill>
                <a:latin typeface="Arial"/>
                <a:cs typeface="Arial"/>
              </a:rPr>
              <a:t>checkers  </a:t>
            </a:r>
            <a:r>
              <a:rPr sz="1950" spc="195" dirty="0">
                <a:solidFill>
                  <a:srgbClr val="231F20"/>
                </a:solidFill>
                <a:latin typeface="Arial"/>
                <a:cs typeface="Arial"/>
              </a:rPr>
              <a:t>(cf. </a:t>
            </a:r>
            <a:r>
              <a:rPr sz="1950" spc="125" dirty="0">
                <a:solidFill>
                  <a:srgbClr val="231F20"/>
                </a:solidFill>
                <a:latin typeface="Arial"/>
                <a:cs typeface="Arial"/>
              </a:rPr>
              <a:t>Reactis, </a:t>
            </a:r>
            <a:r>
              <a:rPr sz="1950" spc="120" dirty="0">
                <a:solidFill>
                  <a:srgbClr val="231F20"/>
                </a:solidFill>
                <a:latin typeface="Arial"/>
                <a:cs typeface="Arial"/>
              </a:rPr>
              <a:t>Honeywell, </a:t>
            </a:r>
            <a:r>
              <a:rPr sz="1950" spc="125" dirty="0">
                <a:solidFill>
                  <a:srgbClr val="231F20"/>
                </a:solidFill>
                <a:latin typeface="Arial"/>
                <a:cs typeface="Arial"/>
              </a:rPr>
              <a:t>SRI,</a:t>
            </a:r>
            <a:r>
              <a:rPr sz="1950" spc="660" dirty="0">
                <a:solidFill>
                  <a:srgbClr val="231F20"/>
                </a:solidFill>
                <a:latin typeface="Arial"/>
                <a:cs typeface="Arial"/>
              </a:rPr>
              <a:t> </a:t>
            </a:r>
            <a:r>
              <a:rPr sz="1950" spc="190" dirty="0">
                <a:solidFill>
                  <a:srgbClr val="231F20"/>
                </a:solidFill>
                <a:latin typeface="Arial"/>
                <a:cs typeface="Arial"/>
              </a:rPr>
              <a:t>Mathworks)</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40" dirty="0">
                <a:solidFill>
                  <a:srgbClr val="231F20"/>
                </a:solidFill>
                <a:latin typeface="Arial"/>
                <a:cs typeface="Arial"/>
              </a:rPr>
              <a:t>Show </a:t>
            </a:r>
            <a:r>
              <a:rPr sz="1950" spc="160" dirty="0">
                <a:solidFill>
                  <a:srgbClr val="231F20"/>
                </a:solidFill>
                <a:latin typeface="Arial"/>
                <a:cs typeface="Arial"/>
              </a:rPr>
              <a:t>me </a:t>
            </a:r>
            <a:r>
              <a:rPr sz="1950" spc="85" dirty="0">
                <a:solidFill>
                  <a:srgbClr val="231F20"/>
                </a:solidFill>
                <a:latin typeface="Arial"/>
                <a:cs typeface="Arial"/>
              </a:rPr>
              <a:t>a </a:t>
            </a:r>
            <a:r>
              <a:rPr sz="1950" spc="185" dirty="0">
                <a:solidFill>
                  <a:srgbClr val="231F20"/>
                </a:solidFill>
                <a:latin typeface="Arial"/>
                <a:cs typeface="Arial"/>
              </a:rPr>
              <a:t>path </a:t>
            </a:r>
            <a:r>
              <a:rPr sz="1950" spc="235" dirty="0">
                <a:solidFill>
                  <a:srgbClr val="231F20"/>
                </a:solidFill>
                <a:latin typeface="Arial"/>
                <a:cs typeface="Arial"/>
              </a:rPr>
              <a:t>that </a:t>
            </a:r>
            <a:r>
              <a:rPr sz="1950" spc="135" dirty="0">
                <a:solidFill>
                  <a:srgbClr val="231F20"/>
                </a:solidFill>
                <a:latin typeface="Arial"/>
                <a:cs typeface="Arial"/>
              </a:rPr>
              <a:t>activates </a:t>
            </a:r>
            <a:r>
              <a:rPr sz="1950" spc="145" dirty="0">
                <a:solidFill>
                  <a:srgbClr val="231F20"/>
                </a:solidFill>
                <a:latin typeface="Arial"/>
                <a:cs typeface="Arial"/>
              </a:rPr>
              <a:t>this </a:t>
            </a:r>
            <a:r>
              <a:rPr sz="1950" spc="300" dirty="0">
                <a:solidFill>
                  <a:srgbClr val="231F20"/>
                </a:solidFill>
                <a:latin typeface="Arial"/>
                <a:cs typeface="Arial"/>
              </a:rPr>
              <a:t> </a:t>
            </a:r>
            <a:r>
              <a:rPr sz="1950" spc="155" dirty="0">
                <a:solidFill>
                  <a:srgbClr val="231F20"/>
                </a:solidFill>
                <a:latin typeface="Arial"/>
                <a:cs typeface="Arial"/>
              </a:rPr>
              <a:t>state</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35" dirty="0">
                <a:solidFill>
                  <a:srgbClr val="231F20"/>
                </a:solidFill>
                <a:latin typeface="Arial"/>
                <a:cs typeface="Arial"/>
              </a:rPr>
              <a:t>Can </a:t>
            </a:r>
            <a:r>
              <a:rPr sz="1950" spc="145" dirty="0">
                <a:solidFill>
                  <a:srgbClr val="231F20"/>
                </a:solidFill>
                <a:latin typeface="Arial"/>
                <a:cs typeface="Arial"/>
              </a:rPr>
              <a:t>this </a:t>
            </a:r>
            <a:r>
              <a:rPr sz="1950" spc="155" dirty="0">
                <a:solidFill>
                  <a:srgbClr val="231F20"/>
                </a:solidFill>
                <a:latin typeface="Arial"/>
                <a:cs typeface="Arial"/>
              </a:rPr>
              <a:t>state </a:t>
            </a:r>
            <a:r>
              <a:rPr sz="1950" spc="130" dirty="0">
                <a:solidFill>
                  <a:srgbClr val="231F20"/>
                </a:solidFill>
                <a:latin typeface="Arial"/>
                <a:cs typeface="Arial"/>
              </a:rPr>
              <a:t>and </a:t>
            </a:r>
            <a:r>
              <a:rPr sz="1950" spc="235" dirty="0">
                <a:solidFill>
                  <a:srgbClr val="231F20"/>
                </a:solidFill>
                <a:latin typeface="Arial"/>
                <a:cs typeface="Arial"/>
              </a:rPr>
              <a:t>that </a:t>
            </a:r>
            <a:r>
              <a:rPr sz="1950" spc="114" dirty="0">
                <a:solidFill>
                  <a:srgbClr val="231F20"/>
                </a:solidFill>
                <a:latin typeface="Arial"/>
                <a:cs typeface="Arial"/>
              </a:rPr>
              <a:t>be </a:t>
            </a:r>
            <a:r>
              <a:rPr sz="1950" spc="135" dirty="0">
                <a:solidFill>
                  <a:srgbClr val="231F20"/>
                </a:solidFill>
                <a:latin typeface="Arial"/>
                <a:cs typeface="Arial"/>
              </a:rPr>
              <a:t>active </a:t>
            </a:r>
            <a:r>
              <a:rPr sz="1950" spc="340" dirty="0">
                <a:solidFill>
                  <a:srgbClr val="231F20"/>
                </a:solidFill>
                <a:latin typeface="Arial"/>
                <a:cs typeface="Arial"/>
              </a:rPr>
              <a:t> </a:t>
            </a:r>
            <a:r>
              <a:rPr sz="1950" spc="125" dirty="0">
                <a:solidFill>
                  <a:srgbClr val="231F20"/>
                </a:solidFill>
                <a:latin typeface="Arial"/>
                <a:cs typeface="Arial"/>
              </a:rPr>
              <a:t>simultaneously?</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10" dirty="0">
                <a:solidFill>
                  <a:srgbClr val="0000FF"/>
                </a:solidFill>
                <a:latin typeface="Arial"/>
                <a:cs typeface="Arial"/>
              </a:rPr>
              <a:t>Checker </a:t>
            </a:r>
            <a:r>
              <a:rPr sz="1950" spc="90" dirty="0">
                <a:solidFill>
                  <a:srgbClr val="0000FF"/>
                </a:solidFill>
                <a:latin typeface="Arial"/>
                <a:cs typeface="Arial"/>
              </a:rPr>
              <a:t>synthesizers </a:t>
            </a:r>
            <a:r>
              <a:rPr sz="1950" spc="195" dirty="0">
                <a:solidFill>
                  <a:srgbClr val="231F20"/>
                </a:solidFill>
                <a:latin typeface="Arial"/>
                <a:cs typeface="Arial"/>
              </a:rPr>
              <a:t>(cf. </a:t>
            </a:r>
            <a:r>
              <a:rPr sz="1950" spc="270" dirty="0">
                <a:solidFill>
                  <a:srgbClr val="231F20"/>
                </a:solidFill>
                <a:latin typeface="Arial"/>
                <a:cs typeface="Arial"/>
              </a:rPr>
              <a:t>IBM</a:t>
            </a:r>
            <a:r>
              <a:rPr sz="1950" spc="705" dirty="0">
                <a:solidFill>
                  <a:srgbClr val="231F20"/>
                </a:solidFill>
                <a:latin typeface="Arial"/>
                <a:cs typeface="Arial"/>
              </a:rPr>
              <a:t> </a:t>
            </a:r>
            <a:r>
              <a:rPr sz="1950" spc="229" dirty="0">
                <a:solidFill>
                  <a:srgbClr val="231F20"/>
                </a:solidFill>
                <a:latin typeface="Arial"/>
                <a:cs typeface="Arial"/>
              </a:rPr>
              <a:t>FOCS)</a:t>
            </a:r>
            <a:endParaRPr sz="1950">
              <a:latin typeface="Arial"/>
              <a:cs typeface="Arial"/>
            </a:endParaRPr>
          </a:p>
          <a:p>
            <a:pPr marL="300990" marR="5080" indent="-288290">
              <a:lnSpc>
                <a:spcPct val="125000"/>
              </a:lnSpc>
              <a:spcBef>
                <a:spcPts val="1030"/>
              </a:spcBef>
              <a:buClr>
                <a:srgbClr val="231F20"/>
              </a:buClr>
              <a:buSzPct val="105128"/>
              <a:buFont typeface="Lucida Sans Unicode"/>
              <a:buChar char="•"/>
              <a:tabLst>
                <a:tab pos="301625" algn="l"/>
              </a:tabLst>
            </a:pPr>
            <a:r>
              <a:rPr sz="1950" spc="140" dirty="0">
                <a:solidFill>
                  <a:srgbClr val="0000FF"/>
                </a:solidFill>
                <a:latin typeface="Arial"/>
                <a:cs typeface="Arial"/>
              </a:rPr>
              <a:t>Completeness/Consistency </a:t>
            </a:r>
            <a:r>
              <a:rPr sz="1950" spc="85" dirty="0">
                <a:solidFill>
                  <a:srgbClr val="0000FF"/>
                </a:solidFill>
                <a:latin typeface="Arial"/>
                <a:cs typeface="Arial"/>
              </a:rPr>
              <a:t>checkers </a:t>
            </a:r>
            <a:r>
              <a:rPr sz="1950" spc="155" dirty="0">
                <a:solidFill>
                  <a:srgbClr val="231F20"/>
                </a:solidFill>
                <a:latin typeface="Arial"/>
                <a:cs typeface="Arial"/>
              </a:rPr>
              <a:t>for </a:t>
            </a:r>
            <a:r>
              <a:rPr sz="1950" spc="150" dirty="0">
                <a:solidFill>
                  <a:srgbClr val="231F20"/>
                </a:solidFill>
                <a:latin typeface="Arial"/>
                <a:cs typeface="Arial"/>
              </a:rPr>
              <a:t>tabular </a:t>
            </a:r>
            <a:r>
              <a:rPr sz="1950" spc="120" dirty="0">
                <a:solidFill>
                  <a:srgbClr val="231F20"/>
                </a:solidFill>
                <a:latin typeface="Arial"/>
                <a:cs typeface="Arial"/>
              </a:rPr>
              <a:t>specifications  </a:t>
            </a:r>
            <a:r>
              <a:rPr sz="1950" spc="195" dirty="0">
                <a:solidFill>
                  <a:srgbClr val="231F20"/>
                </a:solidFill>
                <a:latin typeface="Arial"/>
                <a:cs typeface="Arial"/>
              </a:rPr>
              <a:t>(cf. </a:t>
            </a:r>
            <a:r>
              <a:rPr sz="1950" spc="190" dirty="0">
                <a:solidFill>
                  <a:srgbClr val="231F20"/>
                </a:solidFill>
                <a:latin typeface="Arial"/>
                <a:cs typeface="Arial"/>
              </a:rPr>
              <a:t>Ontario </a:t>
            </a:r>
            <a:r>
              <a:rPr sz="1950" spc="155" dirty="0">
                <a:solidFill>
                  <a:srgbClr val="231F20"/>
                </a:solidFill>
                <a:latin typeface="Arial"/>
                <a:cs typeface="Arial"/>
              </a:rPr>
              <a:t>Hydro, </a:t>
            </a:r>
            <a:r>
              <a:rPr sz="1950" spc="225" dirty="0">
                <a:solidFill>
                  <a:srgbClr val="231F20"/>
                </a:solidFill>
                <a:latin typeface="Arial"/>
                <a:cs typeface="Arial"/>
              </a:rPr>
              <a:t>RSML,</a:t>
            </a:r>
            <a:r>
              <a:rPr sz="1950" spc="580" dirty="0">
                <a:solidFill>
                  <a:srgbClr val="231F20"/>
                </a:solidFill>
                <a:latin typeface="Arial"/>
                <a:cs typeface="Arial"/>
              </a:rPr>
              <a:t> </a:t>
            </a:r>
            <a:r>
              <a:rPr sz="1950" spc="190" dirty="0">
                <a:solidFill>
                  <a:srgbClr val="231F20"/>
                </a:solidFill>
                <a:latin typeface="Arial"/>
                <a:cs typeface="Arial"/>
              </a:rPr>
              <a:t>SCR)</a:t>
            </a:r>
            <a:endParaRPr sz="1950">
              <a:latin typeface="Arial"/>
              <a:cs typeface="Arial"/>
            </a:endParaRPr>
          </a:p>
          <a:p>
            <a:pPr marL="300990" marR="497840" indent="-288290">
              <a:lnSpc>
                <a:spcPct val="125000"/>
              </a:lnSpc>
              <a:spcBef>
                <a:spcPts val="1035"/>
              </a:spcBef>
              <a:buClr>
                <a:srgbClr val="231F20"/>
              </a:buClr>
              <a:buSzPct val="105128"/>
              <a:buFont typeface="Lucida Sans Unicode"/>
              <a:buChar char="•"/>
              <a:tabLst>
                <a:tab pos="301625" algn="l"/>
              </a:tabLst>
            </a:pPr>
            <a:r>
              <a:rPr sz="1950" spc="175" dirty="0">
                <a:solidFill>
                  <a:srgbClr val="0000FF"/>
                </a:solidFill>
                <a:latin typeface="Arial"/>
                <a:cs typeface="Arial"/>
              </a:rPr>
              <a:t>Test </a:t>
            </a:r>
            <a:r>
              <a:rPr sz="1950" spc="50" dirty="0">
                <a:solidFill>
                  <a:srgbClr val="0000FF"/>
                </a:solidFill>
                <a:latin typeface="Arial"/>
                <a:cs typeface="Arial"/>
              </a:rPr>
              <a:t>case </a:t>
            </a:r>
            <a:r>
              <a:rPr sz="1950" spc="114" dirty="0">
                <a:solidFill>
                  <a:srgbClr val="0000FF"/>
                </a:solidFill>
                <a:latin typeface="Arial"/>
                <a:cs typeface="Arial"/>
              </a:rPr>
              <a:t>generators </a:t>
            </a:r>
            <a:r>
              <a:rPr sz="1950" spc="195" dirty="0">
                <a:solidFill>
                  <a:srgbClr val="231F20"/>
                </a:solidFill>
                <a:latin typeface="Arial"/>
                <a:cs typeface="Arial"/>
              </a:rPr>
              <a:t>(cf. </a:t>
            </a:r>
            <a:r>
              <a:rPr sz="1950" spc="190" dirty="0">
                <a:solidFill>
                  <a:srgbClr val="231F20"/>
                </a:solidFill>
                <a:latin typeface="Arial"/>
                <a:cs typeface="Arial"/>
              </a:rPr>
              <a:t>Verimag/IRISA </a:t>
            </a:r>
            <a:r>
              <a:rPr sz="1950" spc="335" dirty="0">
                <a:solidFill>
                  <a:srgbClr val="231F20"/>
                </a:solidFill>
                <a:latin typeface="Arial"/>
                <a:cs typeface="Arial"/>
              </a:rPr>
              <a:t>TGV </a:t>
            </a:r>
            <a:r>
              <a:rPr sz="1950" spc="130" dirty="0">
                <a:solidFill>
                  <a:srgbClr val="231F20"/>
                </a:solidFill>
                <a:latin typeface="Arial"/>
                <a:cs typeface="Arial"/>
              </a:rPr>
              <a:t>and </a:t>
            </a:r>
            <a:r>
              <a:rPr sz="1950" spc="229" dirty="0">
                <a:solidFill>
                  <a:srgbClr val="231F20"/>
                </a:solidFill>
                <a:latin typeface="Arial"/>
                <a:cs typeface="Arial"/>
              </a:rPr>
              <a:t>STG,  </a:t>
            </a:r>
            <a:r>
              <a:rPr sz="1950" spc="245" dirty="0">
                <a:solidFill>
                  <a:srgbClr val="231F20"/>
                </a:solidFill>
                <a:latin typeface="Arial"/>
                <a:cs typeface="Arial"/>
              </a:rPr>
              <a:t>SAL-ATG)</a:t>
            </a:r>
            <a:endParaRPr sz="1950">
              <a:latin typeface="Arial"/>
              <a:cs typeface="Arial"/>
            </a:endParaRPr>
          </a:p>
          <a:p>
            <a:pPr marL="17780" marR="146050">
              <a:lnSpc>
                <a:spcPct val="125000"/>
              </a:lnSpc>
              <a:spcBef>
                <a:spcPts val="1035"/>
              </a:spcBef>
            </a:pPr>
            <a:r>
              <a:rPr sz="1950" spc="165" dirty="0">
                <a:solidFill>
                  <a:srgbClr val="FF0000"/>
                </a:solidFill>
                <a:latin typeface="Arial"/>
                <a:cs typeface="Arial"/>
              </a:rPr>
              <a:t>There’s </a:t>
            </a:r>
            <a:r>
              <a:rPr sz="1950" spc="120" dirty="0">
                <a:solidFill>
                  <a:srgbClr val="FF0000"/>
                </a:solidFill>
                <a:latin typeface="Arial"/>
                <a:cs typeface="Arial"/>
              </a:rPr>
              <a:t>an </a:t>
            </a:r>
            <a:r>
              <a:rPr sz="1950" spc="135" dirty="0">
                <a:solidFill>
                  <a:srgbClr val="FF0000"/>
                </a:solidFill>
                <a:latin typeface="Arial"/>
                <a:cs typeface="Arial"/>
              </a:rPr>
              <a:t>entire </a:t>
            </a:r>
            <a:r>
              <a:rPr sz="1950" spc="150" dirty="0">
                <a:solidFill>
                  <a:srgbClr val="FF0000"/>
                </a:solidFill>
                <a:latin typeface="Arial"/>
                <a:cs typeface="Arial"/>
              </a:rPr>
              <a:t>industry </a:t>
            </a:r>
            <a:r>
              <a:rPr sz="1950" spc="130" dirty="0">
                <a:solidFill>
                  <a:srgbClr val="FF0000"/>
                </a:solidFill>
                <a:latin typeface="Arial"/>
                <a:cs typeface="Arial"/>
              </a:rPr>
              <a:t>in </a:t>
            </a:r>
            <a:r>
              <a:rPr sz="1950" spc="145" dirty="0">
                <a:solidFill>
                  <a:srgbClr val="FF0000"/>
                </a:solidFill>
                <a:latin typeface="Arial"/>
                <a:cs typeface="Arial"/>
              </a:rPr>
              <a:t>this </a:t>
            </a:r>
            <a:r>
              <a:rPr sz="1950" spc="80" dirty="0">
                <a:solidFill>
                  <a:srgbClr val="FF0000"/>
                </a:solidFill>
                <a:latin typeface="Arial"/>
                <a:cs typeface="Arial"/>
              </a:rPr>
              <a:t>space, </a:t>
            </a:r>
            <a:r>
              <a:rPr sz="1950" spc="215" dirty="0">
                <a:solidFill>
                  <a:srgbClr val="FF0000"/>
                </a:solidFill>
                <a:latin typeface="Arial"/>
                <a:cs typeface="Arial"/>
              </a:rPr>
              <a:t>with </a:t>
            </a:r>
            <a:r>
              <a:rPr sz="1950" spc="165" dirty="0">
                <a:solidFill>
                  <a:srgbClr val="FF0000"/>
                </a:solidFill>
                <a:latin typeface="Arial"/>
                <a:cs typeface="Arial"/>
              </a:rPr>
              <a:t>many </a:t>
            </a:r>
            <a:r>
              <a:rPr sz="1950" spc="120" dirty="0">
                <a:solidFill>
                  <a:srgbClr val="FF0000"/>
                </a:solidFill>
                <a:latin typeface="Arial"/>
                <a:cs typeface="Arial"/>
              </a:rPr>
              <a:t>companies  </a:t>
            </a:r>
            <a:r>
              <a:rPr sz="1950" spc="130" dirty="0">
                <a:solidFill>
                  <a:srgbClr val="FF0000"/>
                </a:solidFill>
                <a:latin typeface="Arial"/>
                <a:cs typeface="Arial"/>
              </a:rPr>
              <a:t>make </a:t>
            </a:r>
            <a:r>
              <a:rPr sz="1950" spc="85" dirty="0">
                <a:solidFill>
                  <a:srgbClr val="FF0000"/>
                </a:solidFill>
                <a:latin typeface="Arial"/>
                <a:cs typeface="Arial"/>
              </a:rPr>
              <a:t>a </a:t>
            </a:r>
            <a:r>
              <a:rPr sz="1950" spc="125" dirty="0">
                <a:solidFill>
                  <a:srgbClr val="FF0000"/>
                </a:solidFill>
                <a:latin typeface="Arial"/>
                <a:cs typeface="Arial"/>
              </a:rPr>
              <a:t>living </a:t>
            </a:r>
            <a:r>
              <a:rPr sz="1950" spc="210" dirty="0">
                <a:solidFill>
                  <a:srgbClr val="FF0000"/>
                </a:solidFill>
                <a:latin typeface="Arial"/>
                <a:cs typeface="Arial"/>
              </a:rPr>
              <a:t>from </a:t>
            </a:r>
            <a:r>
              <a:rPr sz="1950" spc="170" dirty="0">
                <a:solidFill>
                  <a:srgbClr val="0000FF"/>
                </a:solidFill>
                <a:latin typeface="Arial"/>
                <a:cs typeface="Arial"/>
              </a:rPr>
              <a:t>modest </a:t>
            </a:r>
            <a:r>
              <a:rPr sz="1950" spc="150" dirty="0">
                <a:solidFill>
                  <a:srgbClr val="0000FF"/>
                </a:solidFill>
                <a:latin typeface="Arial"/>
                <a:cs typeface="Arial"/>
              </a:rPr>
              <a:t>technology </a:t>
            </a:r>
            <a:r>
              <a:rPr sz="1950" spc="240" dirty="0">
                <a:solidFill>
                  <a:srgbClr val="FF0000"/>
                </a:solidFill>
                <a:latin typeface="Arial"/>
                <a:cs typeface="Arial"/>
              </a:rPr>
              <a:t>(but </a:t>
            </a:r>
            <a:r>
              <a:rPr sz="1950" spc="105" dirty="0">
                <a:solidFill>
                  <a:srgbClr val="FF0000"/>
                </a:solidFill>
                <a:latin typeface="Arial"/>
                <a:cs typeface="Arial"/>
              </a:rPr>
              <a:t>very </a:t>
            </a:r>
            <a:r>
              <a:rPr sz="1950" spc="185" dirty="0">
                <a:solidFill>
                  <a:srgbClr val="FF0000"/>
                </a:solidFill>
                <a:latin typeface="Arial"/>
                <a:cs typeface="Arial"/>
              </a:rPr>
              <a:t>good  </a:t>
            </a:r>
            <a:r>
              <a:rPr sz="1950" spc="135" dirty="0">
                <a:solidFill>
                  <a:srgbClr val="FF0000"/>
                </a:solidFill>
                <a:latin typeface="Arial"/>
                <a:cs typeface="Arial"/>
              </a:rPr>
              <a:t>understanding </a:t>
            </a:r>
            <a:r>
              <a:rPr sz="1950" spc="185" dirty="0">
                <a:solidFill>
                  <a:srgbClr val="FF0000"/>
                </a:solidFill>
                <a:latin typeface="Arial"/>
                <a:cs typeface="Arial"/>
              </a:rPr>
              <a:t>of </a:t>
            </a:r>
            <a:r>
              <a:rPr sz="1950" spc="160" dirty="0">
                <a:solidFill>
                  <a:srgbClr val="FF0000"/>
                </a:solidFill>
                <a:latin typeface="Arial"/>
                <a:cs typeface="Arial"/>
              </a:rPr>
              <a:t>their</a:t>
            </a:r>
            <a:r>
              <a:rPr sz="1950" spc="515" dirty="0">
                <a:solidFill>
                  <a:srgbClr val="FF0000"/>
                </a:solidFill>
                <a:latin typeface="Arial"/>
                <a:cs typeface="Arial"/>
              </a:rPr>
              <a:t> </a:t>
            </a:r>
            <a:r>
              <a:rPr sz="1950" spc="155" dirty="0">
                <a:solidFill>
                  <a:srgbClr val="FF0000"/>
                </a:solidFill>
                <a:latin typeface="Arial"/>
                <a:cs typeface="Arial"/>
              </a:rPr>
              <a:t>markets)</a:t>
            </a:r>
            <a:endParaRPr sz="1950">
              <a:latin typeface="Arial"/>
              <a:cs typeface="Arial"/>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309543" y="3231527"/>
            <a:ext cx="3440429" cy="314960"/>
          </a:xfrm>
          <a:prstGeom prst="rect">
            <a:avLst/>
          </a:prstGeom>
        </p:spPr>
        <p:txBody>
          <a:bodyPr vert="horz" wrap="square" lIns="0" tIns="0" rIns="0" bIns="0" rtlCol="0">
            <a:spAutoFit/>
          </a:bodyPr>
          <a:lstStyle/>
          <a:p>
            <a:pPr marL="12700">
              <a:lnSpc>
                <a:spcPct val="100000"/>
              </a:lnSpc>
            </a:pPr>
            <a:r>
              <a:rPr sz="1950" spc="275" dirty="0">
                <a:solidFill>
                  <a:srgbClr val="231F20"/>
                </a:solidFill>
                <a:latin typeface="Arial"/>
                <a:cs typeface="Arial"/>
              </a:rPr>
              <a:t>Static </a:t>
            </a:r>
            <a:r>
              <a:rPr sz="1950" spc="305" dirty="0">
                <a:solidFill>
                  <a:srgbClr val="231F20"/>
                </a:solidFill>
                <a:latin typeface="Arial"/>
                <a:cs typeface="Arial"/>
              </a:rPr>
              <a:t>Program</a:t>
            </a:r>
            <a:r>
              <a:rPr sz="1950" spc="409" dirty="0">
                <a:solidFill>
                  <a:srgbClr val="231F20"/>
                </a:solidFill>
                <a:latin typeface="Arial"/>
                <a:cs typeface="Arial"/>
              </a:rPr>
              <a:t> </a:t>
            </a:r>
            <a:r>
              <a:rPr sz="1950" spc="195" dirty="0">
                <a:solidFill>
                  <a:srgbClr val="231F20"/>
                </a:solidFill>
                <a:latin typeface="Arial"/>
                <a:cs typeface="Arial"/>
              </a:rPr>
              <a:t>Analysis</a:t>
            </a:r>
            <a:endParaRPr sz="1950">
              <a:latin typeface="Arial"/>
              <a:cs typeface="Arial"/>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3385" y="475981"/>
            <a:ext cx="5053965" cy="29718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340" dirty="0">
                <a:solidFill>
                  <a:srgbClr val="231F20"/>
                </a:solidFill>
                <a:latin typeface="Arial"/>
                <a:cs typeface="Arial"/>
              </a:rPr>
              <a:t>Bug </a:t>
            </a:r>
            <a:r>
              <a:rPr sz="1950" spc="415" dirty="0">
                <a:solidFill>
                  <a:srgbClr val="231F20"/>
                </a:solidFill>
                <a:latin typeface="Arial"/>
                <a:cs typeface="Arial"/>
              </a:rPr>
              <a:t>That </a:t>
            </a:r>
            <a:r>
              <a:rPr sz="1950" spc="275" dirty="0">
                <a:solidFill>
                  <a:srgbClr val="231F20"/>
                </a:solidFill>
                <a:latin typeface="Arial"/>
                <a:cs typeface="Arial"/>
              </a:rPr>
              <a:t>Stopped </a:t>
            </a:r>
            <a:r>
              <a:rPr sz="1950" spc="390" dirty="0">
                <a:solidFill>
                  <a:srgbClr val="231F20"/>
                </a:solidFill>
                <a:latin typeface="Arial"/>
                <a:cs typeface="Arial"/>
              </a:rPr>
              <a:t>The</a:t>
            </a:r>
            <a:r>
              <a:rPr sz="1950" spc="385" dirty="0">
                <a:solidFill>
                  <a:srgbClr val="231F20"/>
                </a:solidFill>
                <a:latin typeface="Arial"/>
                <a:cs typeface="Arial"/>
              </a:rPr>
              <a:t> </a:t>
            </a:r>
            <a:r>
              <a:rPr sz="1950" spc="245" dirty="0">
                <a:solidFill>
                  <a:srgbClr val="231F20"/>
                </a:solidFill>
                <a:latin typeface="Arial"/>
                <a:cs typeface="Arial"/>
              </a:rPr>
              <a:t>Zunes</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44494" rIns="0" bIns="0" rtlCol="0">
            <a:spAutoFit/>
          </a:bodyPr>
          <a:lstStyle/>
          <a:p>
            <a:pPr marL="17780">
              <a:lnSpc>
                <a:spcPct val="100000"/>
              </a:lnSpc>
            </a:pPr>
            <a:r>
              <a:rPr sz="1950" spc="105" dirty="0">
                <a:solidFill>
                  <a:srgbClr val="231F20"/>
                </a:solidFill>
                <a:latin typeface="Arial"/>
                <a:cs typeface="Arial"/>
              </a:rPr>
              <a:t>Real </a:t>
            </a:r>
            <a:r>
              <a:rPr sz="1950" spc="195" dirty="0">
                <a:solidFill>
                  <a:srgbClr val="231F20"/>
                </a:solidFill>
                <a:latin typeface="Arial"/>
                <a:cs typeface="Arial"/>
              </a:rPr>
              <a:t>time </a:t>
            </a:r>
            <a:r>
              <a:rPr sz="1950" spc="155" dirty="0">
                <a:solidFill>
                  <a:srgbClr val="231F20"/>
                </a:solidFill>
                <a:latin typeface="Arial"/>
                <a:cs typeface="Arial"/>
              </a:rPr>
              <a:t>clock </a:t>
            </a:r>
            <a:r>
              <a:rPr sz="1950" spc="75" dirty="0">
                <a:solidFill>
                  <a:srgbClr val="231F20"/>
                </a:solidFill>
                <a:latin typeface="Arial"/>
                <a:cs typeface="Arial"/>
              </a:rPr>
              <a:t>sets </a:t>
            </a:r>
            <a:r>
              <a:rPr spc="55" dirty="0"/>
              <a:t>days </a:t>
            </a:r>
            <a:r>
              <a:rPr sz="1950" spc="250" dirty="0">
                <a:solidFill>
                  <a:srgbClr val="231F20"/>
                </a:solidFill>
                <a:latin typeface="Arial"/>
                <a:cs typeface="Arial"/>
              </a:rPr>
              <a:t>to </a:t>
            </a:r>
            <a:r>
              <a:rPr sz="1950" spc="170" dirty="0">
                <a:solidFill>
                  <a:srgbClr val="231F20"/>
                </a:solidFill>
                <a:latin typeface="Arial"/>
                <a:cs typeface="Arial"/>
              </a:rPr>
              <a:t>number </a:t>
            </a:r>
            <a:r>
              <a:rPr sz="1950" spc="185" dirty="0">
                <a:solidFill>
                  <a:srgbClr val="231F20"/>
                </a:solidFill>
                <a:latin typeface="Arial"/>
                <a:cs typeface="Arial"/>
              </a:rPr>
              <a:t>of </a:t>
            </a:r>
            <a:r>
              <a:rPr sz="1950" spc="65" dirty="0">
                <a:solidFill>
                  <a:srgbClr val="231F20"/>
                </a:solidFill>
                <a:latin typeface="Arial"/>
                <a:cs typeface="Arial"/>
              </a:rPr>
              <a:t>days </a:t>
            </a:r>
            <a:r>
              <a:rPr sz="1950" spc="75" dirty="0">
                <a:solidFill>
                  <a:srgbClr val="231F20"/>
                </a:solidFill>
                <a:latin typeface="Arial"/>
                <a:cs typeface="Arial"/>
              </a:rPr>
              <a:t>since </a:t>
            </a:r>
            <a:r>
              <a:rPr sz="1950" spc="155" dirty="0">
                <a:solidFill>
                  <a:srgbClr val="231F20"/>
                </a:solidFill>
                <a:latin typeface="Arial"/>
                <a:cs typeface="Arial"/>
              </a:rPr>
              <a:t>1 </a:t>
            </a:r>
            <a:r>
              <a:rPr sz="1950" spc="130" dirty="0">
                <a:solidFill>
                  <a:srgbClr val="231F20"/>
                </a:solidFill>
                <a:latin typeface="Arial"/>
                <a:cs typeface="Arial"/>
              </a:rPr>
              <a:t>Jan </a:t>
            </a:r>
            <a:r>
              <a:rPr sz="1950" spc="720" dirty="0">
                <a:solidFill>
                  <a:srgbClr val="231F20"/>
                </a:solidFill>
                <a:latin typeface="Arial"/>
                <a:cs typeface="Arial"/>
              </a:rPr>
              <a:t> </a:t>
            </a:r>
            <a:r>
              <a:rPr sz="1950" spc="155" dirty="0">
                <a:solidFill>
                  <a:srgbClr val="231F20"/>
                </a:solidFill>
                <a:latin typeface="Arial"/>
                <a:cs typeface="Arial"/>
              </a:rPr>
              <a:t>1980</a:t>
            </a:r>
            <a:endParaRPr sz="1950">
              <a:latin typeface="Arial"/>
              <a:cs typeface="Arial"/>
            </a:endParaRPr>
          </a:p>
        </p:txBody>
      </p:sp>
      <p:sp>
        <p:nvSpPr>
          <p:cNvPr id="4" name="object 4"/>
          <p:cNvSpPr txBox="1"/>
          <p:nvPr/>
        </p:nvSpPr>
        <p:spPr>
          <a:xfrm>
            <a:off x="901698" y="1525473"/>
            <a:ext cx="8009255" cy="5131435"/>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year = ORIGINYEAR; /* = 1980</a:t>
            </a:r>
            <a:r>
              <a:rPr sz="2050" dirty="0">
                <a:solidFill>
                  <a:srgbClr val="0000FF"/>
                </a:solidFill>
                <a:latin typeface="SimSun"/>
                <a:cs typeface="SimSun"/>
              </a:rPr>
              <a:t> </a:t>
            </a:r>
            <a:r>
              <a:rPr sz="2050" spc="55" dirty="0">
                <a:solidFill>
                  <a:srgbClr val="0000FF"/>
                </a:solidFill>
                <a:latin typeface="SimSun"/>
                <a:cs typeface="SimSun"/>
              </a:rPr>
              <a:t>*/</a:t>
            </a:r>
            <a:endParaRPr sz="2050">
              <a:latin typeface="SimSun"/>
              <a:cs typeface="SimSun"/>
            </a:endParaRPr>
          </a:p>
          <a:p>
            <a:pPr>
              <a:lnSpc>
                <a:spcPct val="100000"/>
              </a:lnSpc>
              <a:spcBef>
                <a:spcPts val="57"/>
              </a:spcBef>
            </a:pPr>
            <a:endParaRPr sz="2900">
              <a:latin typeface="Times New Roman"/>
              <a:cs typeface="Times New Roman"/>
            </a:endParaRPr>
          </a:p>
          <a:p>
            <a:pPr marL="12700">
              <a:lnSpc>
                <a:spcPct val="100000"/>
              </a:lnSpc>
            </a:pPr>
            <a:r>
              <a:rPr sz="2050" spc="55" dirty="0">
                <a:solidFill>
                  <a:srgbClr val="0000FF"/>
                </a:solidFill>
                <a:latin typeface="SimSun"/>
                <a:cs typeface="SimSun"/>
              </a:rPr>
              <a:t>while (days &gt; 365)</a:t>
            </a:r>
            <a:r>
              <a:rPr sz="2050" spc="-1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563245">
              <a:lnSpc>
                <a:spcPct val="100000"/>
              </a:lnSpc>
              <a:spcBef>
                <a:spcPts val="465"/>
              </a:spcBef>
            </a:pPr>
            <a:r>
              <a:rPr sz="2050" spc="55" dirty="0">
                <a:solidFill>
                  <a:srgbClr val="0000FF"/>
                </a:solidFill>
                <a:latin typeface="SimSun"/>
                <a:cs typeface="SimSun"/>
              </a:rPr>
              <a:t>if (IsLeapYear(year))</a:t>
            </a:r>
            <a:r>
              <a:rPr sz="2050" spc="-30"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1114425">
              <a:lnSpc>
                <a:spcPct val="100000"/>
              </a:lnSpc>
              <a:spcBef>
                <a:spcPts val="465"/>
              </a:spcBef>
            </a:pPr>
            <a:r>
              <a:rPr sz="2050" spc="55" dirty="0">
                <a:solidFill>
                  <a:srgbClr val="0000FF"/>
                </a:solidFill>
                <a:latin typeface="SimSun"/>
                <a:cs typeface="SimSun"/>
              </a:rPr>
              <a:t>if (days &gt; 366)</a:t>
            </a:r>
            <a:r>
              <a:rPr sz="2050" spc="-10"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1665605">
              <a:lnSpc>
                <a:spcPct val="100000"/>
              </a:lnSpc>
              <a:spcBef>
                <a:spcPts val="465"/>
              </a:spcBef>
            </a:pPr>
            <a:r>
              <a:rPr sz="2050" spc="55" dirty="0">
                <a:solidFill>
                  <a:srgbClr val="0000FF"/>
                </a:solidFill>
                <a:latin typeface="SimSun"/>
                <a:cs typeface="SimSun"/>
              </a:rPr>
              <a:t>days -=</a:t>
            </a:r>
            <a:r>
              <a:rPr sz="2050" spc="-25" dirty="0">
                <a:solidFill>
                  <a:srgbClr val="0000FF"/>
                </a:solidFill>
                <a:latin typeface="SimSun"/>
                <a:cs typeface="SimSun"/>
              </a:rPr>
              <a:t> </a:t>
            </a:r>
            <a:r>
              <a:rPr sz="2050" spc="55" dirty="0">
                <a:solidFill>
                  <a:srgbClr val="0000FF"/>
                </a:solidFill>
                <a:latin typeface="SimSun"/>
                <a:cs typeface="SimSun"/>
              </a:rPr>
              <a:t>366;</a:t>
            </a:r>
            <a:endParaRPr sz="2050">
              <a:latin typeface="SimSun"/>
              <a:cs typeface="SimSun"/>
            </a:endParaRPr>
          </a:p>
          <a:p>
            <a:pPr marL="1665605">
              <a:lnSpc>
                <a:spcPct val="100000"/>
              </a:lnSpc>
              <a:spcBef>
                <a:spcPts val="464"/>
              </a:spcBef>
            </a:pPr>
            <a:r>
              <a:rPr sz="2050" spc="55" dirty="0">
                <a:solidFill>
                  <a:srgbClr val="0000FF"/>
                </a:solidFill>
                <a:latin typeface="SimSun"/>
                <a:cs typeface="SimSun"/>
              </a:rPr>
              <a:t>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a:p>
            <a:pPr marL="1114425">
              <a:lnSpc>
                <a:spcPct val="100000"/>
              </a:lnSpc>
              <a:spcBef>
                <a:spcPts val="465"/>
              </a:spcBef>
              <a:tabLst>
                <a:tab pos="1383665" algn="l"/>
              </a:tabLst>
            </a:pPr>
            <a:r>
              <a:rPr sz="2050" spc="365" dirty="0">
                <a:solidFill>
                  <a:srgbClr val="0000FF"/>
                </a:solidFill>
                <a:latin typeface="Lucida Sans Unicode"/>
                <a:cs typeface="Lucida Sans Unicode"/>
              </a:rPr>
              <a:t>}	</a:t>
            </a:r>
            <a:r>
              <a:rPr sz="2050" spc="55" dirty="0">
                <a:solidFill>
                  <a:srgbClr val="FF0000"/>
                </a:solidFill>
                <a:latin typeface="SimSun"/>
                <a:cs typeface="SimSun"/>
              </a:rPr>
              <a:t>else... loops forever on last day of a leap</a:t>
            </a:r>
            <a:r>
              <a:rPr sz="2050" spc="35" dirty="0">
                <a:solidFill>
                  <a:srgbClr val="FF0000"/>
                </a:solidFill>
                <a:latin typeface="SimSun"/>
                <a:cs typeface="SimSun"/>
              </a:rPr>
              <a:t> </a:t>
            </a:r>
            <a:r>
              <a:rPr sz="2050" spc="55" dirty="0">
                <a:solidFill>
                  <a:srgbClr val="FF0000"/>
                </a:solidFill>
                <a:latin typeface="SimSun"/>
                <a:cs typeface="SimSun"/>
              </a:rPr>
              <a:t>year</a:t>
            </a:r>
            <a:endParaRPr sz="2050">
              <a:latin typeface="SimSun"/>
              <a:cs typeface="SimSun"/>
            </a:endParaRPr>
          </a:p>
          <a:p>
            <a:pPr marL="563245">
              <a:lnSpc>
                <a:spcPct val="100000"/>
              </a:lnSpc>
              <a:spcBef>
                <a:spcPts val="465"/>
              </a:spcBef>
              <a:tabLst>
                <a:tab pos="832485" algn="l"/>
              </a:tabLst>
            </a:pPr>
            <a:r>
              <a:rPr sz="2050" spc="365" dirty="0">
                <a:solidFill>
                  <a:srgbClr val="0000FF"/>
                </a:solidFill>
                <a:latin typeface="Lucida Sans Unicode"/>
                <a:cs typeface="Lucida Sans Unicode"/>
              </a:rPr>
              <a:t>}	</a:t>
            </a:r>
            <a:r>
              <a:rPr sz="2050" spc="55" dirty="0">
                <a:solidFill>
                  <a:srgbClr val="0000FF"/>
                </a:solidFill>
                <a:latin typeface="SimSun"/>
                <a:cs typeface="SimSun"/>
              </a:rPr>
              <a:t>else</a:t>
            </a:r>
            <a:r>
              <a:rPr sz="2050" spc="-3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1114425">
              <a:lnSpc>
                <a:spcPct val="100000"/>
              </a:lnSpc>
              <a:spcBef>
                <a:spcPts val="465"/>
              </a:spcBef>
            </a:pPr>
            <a:r>
              <a:rPr sz="2050" spc="55" dirty="0">
                <a:solidFill>
                  <a:srgbClr val="0000FF"/>
                </a:solidFill>
                <a:latin typeface="SimSun"/>
                <a:cs typeface="SimSun"/>
              </a:rPr>
              <a:t>days -=</a:t>
            </a:r>
            <a:r>
              <a:rPr sz="2050" spc="-25" dirty="0">
                <a:solidFill>
                  <a:srgbClr val="0000FF"/>
                </a:solidFill>
                <a:latin typeface="SimSun"/>
                <a:cs typeface="SimSun"/>
              </a:rPr>
              <a:t> </a:t>
            </a:r>
            <a:r>
              <a:rPr sz="2050" spc="55" dirty="0">
                <a:solidFill>
                  <a:srgbClr val="0000FF"/>
                </a:solidFill>
                <a:latin typeface="SimSun"/>
                <a:cs typeface="SimSun"/>
              </a:rPr>
              <a:t>365;</a:t>
            </a:r>
            <a:endParaRPr sz="2050">
              <a:latin typeface="SimSun"/>
              <a:cs typeface="SimSun"/>
            </a:endParaRPr>
          </a:p>
          <a:p>
            <a:pPr marL="1114425">
              <a:lnSpc>
                <a:spcPct val="100000"/>
              </a:lnSpc>
              <a:spcBef>
                <a:spcPts val="465"/>
              </a:spcBef>
            </a:pPr>
            <a:r>
              <a:rPr sz="2050" spc="55" dirty="0">
                <a:solidFill>
                  <a:srgbClr val="0000FF"/>
                </a:solidFill>
                <a:latin typeface="SimSun"/>
                <a:cs typeface="SimSun"/>
              </a:rPr>
              <a:t>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a:p>
            <a:pPr marL="563245">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355"/>
              </a:spcBef>
            </a:pPr>
            <a:r>
              <a:rPr sz="1950" spc="100" dirty="0">
                <a:solidFill>
                  <a:srgbClr val="FF0000"/>
                </a:solidFill>
                <a:latin typeface="Arial"/>
                <a:cs typeface="Arial"/>
              </a:rPr>
              <a:t>Coverage-based </a:t>
            </a:r>
            <a:r>
              <a:rPr sz="1950" spc="155" dirty="0">
                <a:solidFill>
                  <a:srgbClr val="FF0000"/>
                </a:solidFill>
                <a:latin typeface="Arial"/>
                <a:cs typeface="Arial"/>
              </a:rPr>
              <a:t>testing </a:t>
            </a:r>
            <a:r>
              <a:rPr sz="1950" spc="145" dirty="0">
                <a:solidFill>
                  <a:srgbClr val="FF0000"/>
                </a:solidFill>
                <a:latin typeface="Arial"/>
                <a:cs typeface="Arial"/>
              </a:rPr>
              <a:t>will </a:t>
            </a:r>
            <a:r>
              <a:rPr sz="1950" spc="160" dirty="0">
                <a:solidFill>
                  <a:srgbClr val="FF0000"/>
                </a:solidFill>
                <a:latin typeface="Arial"/>
                <a:cs typeface="Arial"/>
              </a:rPr>
              <a:t>find</a:t>
            </a:r>
            <a:r>
              <a:rPr sz="1950" spc="735" dirty="0">
                <a:solidFill>
                  <a:srgbClr val="FF0000"/>
                </a:solidFill>
                <a:latin typeface="Arial"/>
                <a:cs typeface="Arial"/>
              </a:rPr>
              <a:t> </a:t>
            </a:r>
            <a:r>
              <a:rPr sz="1950" spc="145" dirty="0">
                <a:solidFill>
                  <a:srgbClr val="FF0000"/>
                </a:solidFill>
                <a:latin typeface="Arial"/>
                <a:cs typeface="Arial"/>
              </a:rPr>
              <a:t>this</a:t>
            </a:r>
            <a:endParaRPr sz="1950">
              <a:latin typeface="Arial"/>
              <a:cs typeface="Aria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4177652" y="475981"/>
            <a:ext cx="1703070" cy="314960"/>
          </a:xfrm>
          <a:prstGeom prst="rect">
            <a:avLst/>
          </a:prstGeom>
        </p:spPr>
        <p:txBody>
          <a:bodyPr vert="horz" wrap="square" lIns="0" tIns="0" rIns="0" bIns="0" rtlCol="0">
            <a:spAutoFit/>
          </a:bodyPr>
          <a:lstStyle/>
          <a:p>
            <a:pPr marL="12700">
              <a:lnSpc>
                <a:spcPct val="100000"/>
              </a:lnSpc>
            </a:pPr>
            <a:r>
              <a:rPr sz="1950" spc="459" dirty="0">
                <a:solidFill>
                  <a:srgbClr val="231F20"/>
                </a:solidFill>
                <a:latin typeface="Arial"/>
                <a:cs typeface="Arial"/>
              </a:rPr>
              <a:t>A </a:t>
            </a:r>
            <a:r>
              <a:rPr sz="1950" spc="240" dirty="0">
                <a:solidFill>
                  <a:srgbClr val="231F20"/>
                </a:solidFill>
                <a:latin typeface="Arial"/>
                <a:cs typeface="Arial"/>
              </a:rPr>
              <a:t>Hasty</a:t>
            </a:r>
            <a:r>
              <a:rPr sz="1950" spc="204" dirty="0">
                <a:solidFill>
                  <a:srgbClr val="231F20"/>
                </a:solidFill>
                <a:latin typeface="Arial"/>
                <a:cs typeface="Arial"/>
              </a:rPr>
              <a:t> </a:t>
            </a:r>
            <a:r>
              <a:rPr sz="1950" spc="265" dirty="0">
                <a:solidFill>
                  <a:srgbClr val="231F20"/>
                </a:solidFill>
                <a:latin typeface="Arial"/>
                <a:cs typeface="Arial"/>
              </a:rPr>
              <a:t>Fix</a:t>
            </a:r>
            <a:endParaRPr sz="1950">
              <a:latin typeface="Arial"/>
              <a:cs typeface="Arial"/>
            </a:endParaRPr>
          </a:p>
        </p:txBody>
      </p:sp>
      <p:sp>
        <p:nvSpPr>
          <p:cNvPr id="3" name="object 3"/>
          <p:cNvSpPr txBox="1">
            <a:spLocks noGrp="1"/>
          </p:cNvSpPr>
          <p:nvPr>
            <p:ph type="title"/>
          </p:nvPr>
        </p:nvSpPr>
        <p:spPr>
          <a:xfrm>
            <a:off x="901700" y="808583"/>
            <a:ext cx="3738879" cy="684530"/>
          </a:xfrm>
          <a:prstGeom prst="rect">
            <a:avLst/>
          </a:prstGeom>
        </p:spPr>
        <p:txBody>
          <a:bodyPr vert="horz" wrap="square" lIns="0" tIns="0" rIns="0" bIns="0" rtlCol="0">
            <a:spAutoFit/>
          </a:bodyPr>
          <a:lstStyle/>
          <a:p>
            <a:pPr marL="12700">
              <a:lnSpc>
                <a:spcPct val="100000"/>
              </a:lnSpc>
            </a:pPr>
            <a:r>
              <a:rPr spc="55" dirty="0"/>
              <a:t>while (days &gt; 365)</a:t>
            </a:r>
            <a:r>
              <a:rPr spc="-15" dirty="0"/>
              <a:t> </a:t>
            </a:r>
            <a:r>
              <a:rPr spc="365" dirty="0">
                <a:latin typeface="Lucida Sans Unicode"/>
                <a:cs typeface="Lucida Sans Unicode"/>
              </a:rPr>
              <a:t>{</a:t>
            </a:r>
          </a:p>
          <a:p>
            <a:pPr marL="563245">
              <a:lnSpc>
                <a:spcPct val="100000"/>
              </a:lnSpc>
              <a:spcBef>
                <a:spcPts val="465"/>
              </a:spcBef>
            </a:pPr>
            <a:r>
              <a:rPr spc="55" dirty="0"/>
              <a:t>if (IsLeapYear(year))</a:t>
            </a:r>
            <a:r>
              <a:rPr spc="-30" dirty="0"/>
              <a:t> </a:t>
            </a:r>
            <a:r>
              <a:rPr spc="365" dirty="0">
                <a:latin typeface="Lucida Sans Unicode"/>
                <a:cs typeface="Lucida Sans Unicode"/>
              </a:rPr>
              <a:t>{</a:t>
            </a:r>
          </a:p>
        </p:txBody>
      </p:sp>
      <p:sp>
        <p:nvSpPr>
          <p:cNvPr id="4" name="object 4"/>
          <p:cNvSpPr txBox="1"/>
          <p:nvPr/>
        </p:nvSpPr>
        <p:spPr>
          <a:xfrm>
            <a:off x="896440" y="1551762"/>
            <a:ext cx="6503034" cy="5191760"/>
          </a:xfrm>
          <a:prstGeom prst="rect">
            <a:avLst/>
          </a:prstGeom>
        </p:spPr>
        <p:txBody>
          <a:bodyPr vert="horz" wrap="square" lIns="0" tIns="0" rIns="0" bIns="0" rtlCol="0">
            <a:spAutoFit/>
          </a:bodyPr>
          <a:lstStyle/>
          <a:p>
            <a:pPr marL="1119505">
              <a:lnSpc>
                <a:spcPct val="100000"/>
              </a:lnSpc>
            </a:pPr>
            <a:r>
              <a:rPr sz="2050" spc="55" dirty="0">
                <a:solidFill>
                  <a:srgbClr val="0000FF"/>
                </a:solidFill>
                <a:latin typeface="SimSun"/>
                <a:cs typeface="SimSun"/>
              </a:rPr>
              <a:t>if (days &gt; </a:t>
            </a:r>
            <a:r>
              <a:rPr sz="2050" spc="55" dirty="0">
                <a:solidFill>
                  <a:srgbClr val="FF0000"/>
                </a:solidFill>
                <a:latin typeface="SimSun"/>
                <a:cs typeface="SimSun"/>
              </a:rPr>
              <a:t>365</a:t>
            </a:r>
            <a:r>
              <a:rPr sz="2050" spc="55" dirty="0">
                <a:solidFill>
                  <a:srgbClr val="0000FF"/>
                </a:solidFill>
                <a:latin typeface="SimSun"/>
                <a:cs typeface="SimSun"/>
              </a:rPr>
              <a:t>)</a:t>
            </a:r>
            <a:r>
              <a:rPr sz="2050" spc="-10"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1670685">
              <a:lnSpc>
                <a:spcPct val="100000"/>
              </a:lnSpc>
              <a:spcBef>
                <a:spcPts val="465"/>
              </a:spcBef>
            </a:pPr>
            <a:r>
              <a:rPr sz="2050" spc="55" dirty="0">
                <a:solidFill>
                  <a:srgbClr val="0000FF"/>
                </a:solidFill>
                <a:latin typeface="SimSun"/>
                <a:cs typeface="SimSun"/>
              </a:rPr>
              <a:t>days -=</a:t>
            </a:r>
            <a:r>
              <a:rPr sz="2050" spc="-25" dirty="0">
                <a:solidFill>
                  <a:srgbClr val="0000FF"/>
                </a:solidFill>
                <a:latin typeface="SimSun"/>
                <a:cs typeface="SimSun"/>
              </a:rPr>
              <a:t> </a:t>
            </a:r>
            <a:r>
              <a:rPr sz="2050" spc="55" dirty="0">
                <a:solidFill>
                  <a:srgbClr val="0000FF"/>
                </a:solidFill>
                <a:latin typeface="SimSun"/>
                <a:cs typeface="SimSun"/>
              </a:rPr>
              <a:t>366;</a:t>
            </a:r>
            <a:endParaRPr sz="2050">
              <a:latin typeface="SimSun"/>
              <a:cs typeface="SimSun"/>
            </a:endParaRPr>
          </a:p>
          <a:p>
            <a:pPr marL="1670685">
              <a:lnSpc>
                <a:spcPct val="100000"/>
              </a:lnSpc>
              <a:spcBef>
                <a:spcPts val="464"/>
              </a:spcBef>
            </a:pPr>
            <a:r>
              <a:rPr sz="2050" spc="55" dirty="0">
                <a:solidFill>
                  <a:srgbClr val="0000FF"/>
                </a:solidFill>
                <a:latin typeface="SimSun"/>
                <a:cs typeface="SimSun"/>
              </a:rPr>
              <a:t>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a:p>
            <a:pPr marL="1119505">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568960">
              <a:lnSpc>
                <a:spcPct val="100000"/>
              </a:lnSpc>
              <a:spcBef>
                <a:spcPts val="465"/>
              </a:spcBef>
              <a:tabLst>
                <a:tab pos="837565" algn="l"/>
              </a:tabLst>
            </a:pPr>
            <a:r>
              <a:rPr sz="2050" spc="365" dirty="0">
                <a:solidFill>
                  <a:srgbClr val="0000FF"/>
                </a:solidFill>
                <a:latin typeface="Lucida Sans Unicode"/>
                <a:cs typeface="Lucida Sans Unicode"/>
              </a:rPr>
              <a:t>}	</a:t>
            </a:r>
            <a:r>
              <a:rPr sz="2050" spc="55" dirty="0">
                <a:solidFill>
                  <a:srgbClr val="0000FF"/>
                </a:solidFill>
                <a:latin typeface="SimSun"/>
                <a:cs typeface="SimSun"/>
              </a:rPr>
              <a:t>else</a:t>
            </a:r>
            <a:r>
              <a:rPr sz="2050" spc="-3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1119505">
              <a:lnSpc>
                <a:spcPct val="100000"/>
              </a:lnSpc>
              <a:spcBef>
                <a:spcPts val="465"/>
              </a:spcBef>
            </a:pPr>
            <a:r>
              <a:rPr sz="2050" spc="55" dirty="0">
                <a:solidFill>
                  <a:srgbClr val="0000FF"/>
                </a:solidFill>
                <a:latin typeface="SimSun"/>
                <a:cs typeface="SimSun"/>
              </a:rPr>
              <a:t>days -=</a:t>
            </a:r>
            <a:r>
              <a:rPr sz="2050" spc="-25" dirty="0">
                <a:solidFill>
                  <a:srgbClr val="0000FF"/>
                </a:solidFill>
                <a:latin typeface="SimSun"/>
                <a:cs typeface="SimSun"/>
              </a:rPr>
              <a:t> </a:t>
            </a:r>
            <a:r>
              <a:rPr sz="2050" spc="55" dirty="0">
                <a:solidFill>
                  <a:srgbClr val="0000FF"/>
                </a:solidFill>
                <a:latin typeface="SimSun"/>
                <a:cs typeface="SimSun"/>
              </a:rPr>
              <a:t>365;</a:t>
            </a:r>
            <a:endParaRPr sz="2050">
              <a:latin typeface="SimSun"/>
              <a:cs typeface="SimSun"/>
            </a:endParaRPr>
          </a:p>
          <a:p>
            <a:pPr marL="1119505">
              <a:lnSpc>
                <a:spcPct val="100000"/>
              </a:lnSpc>
              <a:spcBef>
                <a:spcPts val="465"/>
              </a:spcBef>
            </a:pPr>
            <a:r>
              <a:rPr sz="2050" spc="55" dirty="0">
                <a:solidFill>
                  <a:srgbClr val="0000FF"/>
                </a:solidFill>
                <a:latin typeface="SimSun"/>
                <a:cs typeface="SimSun"/>
              </a:rPr>
              <a:t>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a:p>
            <a:pPr marL="568960">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17780">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300990" indent="-288290">
              <a:lnSpc>
                <a:spcPct val="100000"/>
              </a:lnSpc>
              <a:spcBef>
                <a:spcPts val="465"/>
              </a:spcBef>
              <a:buSzPct val="105128"/>
              <a:buFont typeface="Lucida Sans Unicode"/>
              <a:buChar char="•"/>
              <a:tabLst>
                <a:tab pos="301625" algn="l"/>
              </a:tabLst>
            </a:pPr>
            <a:r>
              <a:rPr sz="1950" spc="100" dirty="0">
                <a:solidFill>
                  <a:srgbClr val="231F20"/>
                </a:solidFill>
                <a:latin typeface="Arial"/>
                <a:cs typeface="Arial"/>
              </a:rPr>
              <a:t>Fixes </a:t>
            </a:r>
            <a:r>
              <a:rPr sz="1950" spc="175" dirty="0">
                <a:solidFill>
                  <a:srgbClr val="231F20"/>
                </a:solidFill>
                <a:latin typeface="Arial"/>
                <a:cs typeface="Arial"/>
              </a:rPr>
              <a:t>the </a:t>
            </a:r>
            <a:r>
              <a:rPr sz="1950" spc="160" dirty="0">
                <a:solidFill>
                  <a:srgbClr val="231F20"/>
                </a:solidFill>
                <a:latin typeface="Arial"/>
                <a:cs typeface="Arial"/>
              </a:rPr>
              <a:t>loop </a:t>
            </a:r>
            <a:r>
              <a:rPr sz="1950" spc="220" dirty="0">
                <a:solidFill>
                  <a:srgbClr val="231F20"/>
                </a:solidFill>
                <a:latin typeface="Arial"/>
                <a:cs typeface="Arial"/>
              </a:rPr>
              <a:t>but </a:t>
            </a:r>
            <a:r>
              <a:rPr sz="1950" spc="160" dirty="0">
                <a:solidFill>
                  <a:srgbClr val="231F20"/>
                </a:solidFill>
                <a:latin typeface="Arial"/>
                <a:cs typeface="Arial"/>
              </a:rPr>
              <a:t>now </a:t>
            </a:r>
            <a:r>
              <a:rPr sz="2050" spc="55" dirty="0">
                <a:solidFill>
                  <a:srgbClr val="0000FF"/>
                </a:solidFill>
                <a:latin typeface="SimSun"/>
                <a:cs typeface="SimSun"/>
              </a:rPr>
              <a:t>days </a:t>
            </a:r>
            <a:r>
              <a:rPr sz="1950" spc="120" dirty="0">
                <a:solidFill>
                  <a:srgbClr val="231F20"/>
                </a:solidFill>
                <a:latin typeface="Arial"/>
                <a:cs typeface="Arial"/>
              </a:rPr>
              <a:t>can </a:t>
            </a:r>
            <a:r>
              <a:rPr sz="1950" spc="105" dirty="0">
                <a:solidFill>
                  <a:srgbClr val="231F20"/>
                </a:solidFill>
                <a:latin typeface="Arial"/>
                <a:cs typeface="Arial"/>
              </a:rPr>
              <a:t>end </a:t>
            </a:r>
            <a:r>
              <a:rPr sz="1950" spc="155" dirty="0">
                <a:solidFill>
                  <a:srgbClr val="231F20"/>
                </a:solidFill>
                <a:latin typeface="Arial"/>
                <a:cs typeface="Arial"/>
              </a:rPr>
              <a:t>up </a:t>
            </a:r>
            <a:r>
              <a:rPr sz="1950" spc="30" dirty="0">
                <a:solidFill>
                  <a:srgbClr val="231F20"/>
                </a:solidFill>
                <a:latin typeface="Arial"/>
                <a:cs typeface="Arial"/>
              </a:rPr>
              <a:t>as </a:t>
            </a:r>
            <a:r>
              <a:rPr sz="1950" spc="459" dirty="0">
                <a:solidFill>
                  <a:srgbClr val="231F20"/>
                </a:solidFill>
                <a:latin typeface="Arial"/>
                <a:cs typeface="Arial"/>
              </a:rPr>
              <a:t> </a:t>
            </a:r>
            <a:r>
              <a:rPr sz="1950" spc="105" dirty="0">
                <a:solidFill>
                  <a:srgbClr val="231F20"/>
                </a:solidFill>
                <a:latin typeface="Arial"/>
                <a:cs typeface="Arial"/>
              </a:rPr>
              <a:t>zero</a:t>
            </a:r>
            <a:endParaRPr sz="1950">
              <a:latin typeface="Arial"/>
              <a:cs typeface="Arial"/>
            </a:endParaRPr>
          </a:p>
          <a:p>
            <a:pPr marL="300990" indent="-288290">
              <a:lnSpc>
                <a:spcPct val="100000"/>
              </a:lnSpc>
              <a:spcBef>
                <a:spcPts val="1595"/>
              </a:spcBef>
              <a:buSzPct val="105128"/>
              <a:buFont typeface="Lucida Sans Unicode"/>
              <a:buChar char="•"/>
              <a:tabLst>
                <a:tab pos="301625" algn="l"/>
              </a:tabLst>
            </a:pPr>
            <a:r>
              <a:rPr sz="1950" spc="100" dirty="0">
                <a:solidFill>
                  <a:srgbClr val="231F20"/>
                </a:solidFill>
                <a:latin typeface="Arial"/>
                <a:cs typeface="Arial"/>
              </a:rPr>
              <a:t>Coverage-based </a:t>
            </a:r>
            <a:r>
              <a:rPr sz="1950" spc="155" dirty="0">
                <a:solidFill>
                  <a:srgbClr val="231F20"/>
                </a:solidFill>
                <a:latin typeface="Arial"/>
                <a:cs typeface="Arial"/>
              </a:rPr>
              <a:t>testing </a:t>
            </a:r>
            <a:r>
              <a:rPr sz="1950" spc="215" dirty="0">
                <a:solidFill>
                  <a:srgbClr val="231F20"/>
                </a:solidFill>
                <a:latin typeface="Arial"/>
                <a:cs typeface="Arial"/>
              </a:rPr>
              <a:t>might </a:t>
            </a:r>
            <a:r>
              <a:rPr sz="1950" spc="220" dirty="0">
                <a:solidFill>
                  <a:srgbClr val="231F20"/>
                </a:solidFill>
                <a:latin typeface="Arial"/>
                <a:cs typeface="Arial"/>
              </a:rPr>
              <a:t>not </a:t>
            </a:r>
            <a:r>
              <a:rPr sz="1950" spc="160" dirty="0">
                <a:solidFill>
                  <a:srgbClr val="231F20"/>
                </a:solidFill>
                <a:latin typeface="Arial"/>
                <a:cs typeface="Arial"/>
              </a:rPr>
              <a:t>find</a:t>
            </a:r>
            <a:r>
              <a:rPr sz="1950" spc="730" dirty="0">
                <a:solidFill>
                  <a:srgbClr val="231F20"/>
                </a:solidFill>
                <a:latin typeface="Arial"/>
                <a:cs typeface="Arial"/>
              </a:rPr>
              <a:t> </a:t>
            </a:r>
            <a:r>
              <a:rPr sz="1950" spc="145" dirty="0">
                <a:solidFill>
                  <a:srgbClr val="231F20"/>
                </a:solidFill>
                <a:latin typeface="Arial"/>
                <a:cs typeface="Arial"/>
              </a:rPr>
              <a:t>this</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55" dirty="0">
                <a:solidFill>
                  <a:srgbClr val="231F20"/>
                </a:solidFill>
                <a:latin typeface="Arial"/>
                <a:cs typeface="Arial"/>
              </a:rPr>
              <a:t>Boundary </a:t>
            </a:r>
            <a:r>
              <a:rPr sz="1950" spc="160" dirty="0">
                <a:solidFill>
                  <a:srgbClr val="231F20"/>
                </a:solidFill>
                <a:latin typeface="Arial"/>
                <a:cs typeface="Arial"/>
              </a:rPr>
              <a:t>condition </a:t>
            </a:r>
            <a:r>
              <a:rPr sz="1950" spc="155" dirty="0">
                <a:solidFill>
                  <a:srgbClr val="231F20"/>
                </a:solidFill>
                <a:latin typeface="Arial"/>
                <a:cs typeface="Arial"/>
              </a:rPr>
              <a:t>testing</a:t>
            </a:r>
            <a:r>
              <a:rPr sz="1950" spc="525" dirty="0">
                <a:solidFill>
                  <a:srgbClr val="231F20"/>
                </a:solidFill>
                <a:latin typeface="Arial"/>
                <a:cs typeface="Arial"/>
              </a:rPr>
              <a:t> </a:t>
            </a:r>
            <a:r>
              <a:rPr sz="1950" spc="150" dirty="0">
                <a:solidFill>
                  <a:srgbClr val="231F20"/>
                </a:solidFill>
                <a:latin typeface="Arial"/>
                <a:cs typeface="Arial"/>
              </a:rPr>
              <a:t>would</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275" dirty="0">
                <a:solidFill>
                  <a:srgbClr val="231F20"/>
                </a:solidFill>
                <a:latin typeface="Arial"/>
                <a:cs typeface="Arial"/>
              </a:rPr>
              <a:t>But </a:t>
            </a:r>
            <a:r>
              <a:rPr sz="1950" spc="90" dirty="0">
                <a:solidFill>
                  <a:srgbClr val="231F20"/>
                </a:solidFill>
                <a:latin typeface="Arial"/>
                <a:cs typeface="Arial"/>
              </a:rPr>
              <a:t>I </a:t>
            </a:r>
            <a:r>
              <a:rPr sz="1950" spc="190" dirty="0">
                <a:solidFill>
                  <a:srgbClr val="231F20"/>
                </a:solidFill>
                <a:latin typeface="Arial"/>
                <a:cs typeface="Arial"/>
              </a:rPr>
              <a:t>think </a:t>
            </a:r>
            <a:r>
              <a:rPr sz="1950" spc="175" dirty="0">
                <a:solidFill>
                  <a:srgbClr val="231F20"/>
                </a:solidFill>
                <a:latin typeface="Arial"/>
                <a:cs typeface="Arial"/>
              </a:rPr>
              <a:t>the </a:t>
            </a:r>
            <a:r>
              <a:rPr sz="1950" spc="195" dirty="0">
                <a:solidFill>
                  <a:srgbClr val="231F20"/>
                </a:solidFill>
                <a:latin typeface="Arial"/>
                <a:cs typeface="Arial"/>
              </a:rPr>
              <a:t>point </a:t>
            </a:r>
            <a:r>
              <a:rPr sz="1950" spc="40" dirty="0">
                <a:solidFill>
                  <a:srgbClr val="231F20"/>
                </a:solidFill>
                <a:latin typeface="Arial"/>
                <a:cs typeface="Arial"/>
              </a:rPr>
              <a:t>is </a:t>
            </a:r>
            <a:r>
              <a:rPr sz="1950" spc="95" dirty="0">
                <a:solidFill>
                  <a:srgbClr val="231F20"/>
                </a:solidFill>
                <a:latin typeface="Arial"/>
                <a:cs typeface="Arial"/>
              </a:rPr>
              <a:t>clear. </a:t>
            </a:r>
            <a:r>
              <a:rPr sz="1950" spc="145" dirty="0">
                <a:solidFill>
                  <a:srgbClr val="231F20"/>
                </a:solidFill>
                <a:latin typeface="Arial"/>
                <a:cs typeface="Arial"/>
              </a:rPr>
              <a:t>.</a:t>
            </a:r>
            <a:r>
              <a:rPr sz="1950" spc="350" dirty="0">
                <a:solidFill>
                  <a:srgbClr val="231F20"/>
                </a:solidFill>
                <a:latin typeface="Arial"/>
                <a:cs typeface="Arial"/>
              </a:rPr>
              <a:t> </a:t>
            </a:r>
            <a:r>
              <a:rPr sz="1950" spc="145" dirty="0">
                <a:solidFill>
                  <a:srgbClr val="231F20"/>
                </a:solidFill>
                <a:latin typeface="Arial"/>
                <a:cs typeface="Arial"/>
              </a:rPr>
              <a:t>.</a:t>
            </a:r>
            <a:endParaRPr sz="1950">
              <a:latin typeface="Arial"/>
              <a:cs typeface="Arial"/>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776703"/>
            <a:ext cx="7892415" cy="5236210"/>
          </a:xfrm>
          <a:prstGeom prst="rect">
            <a:avLst/>
          </a:prstGeom>
        </p:spPr>
        <p:txBody>
          <a:bodyPr vert="horz" wrap="square" lIns="0" tIns="0" rIns="0" bIns="0" rtlCol="0">
            <a:spAutoFit/>
          </a:bodyPr>
          <a:lstStyle/>
          <a:p>
            <a:pPr marL="2209800">
              <a:lnSpc>
                <a:spcPct val="100000"/>
              </a:lnSpc>
            </a:pPr>
            <a:r>
              <a:rPr sz="1950" spc="390" dirty="0">
                <a:solidFill>
                  <a:srgbClr val="231F20"/>
                </a:solidFill>
                <a:latin typeface="Arial"/>
                <a:cs typeface="Arial"/>
              </a:rPr>
              <a:t>The </a:t>
            </a:r>
            <a:r>
              <a:rPr sz="1950" spc="285" dirty="0">
                <a:solidFill>
                  <a:srgbClr val="231F20"/>
                </a:solidFill>
                <a:latin typeface="Arial"/>
                <a:cs typeface="Arial"/>
              </a:rPr>
              <a:t>Problem </a:t>
            </a:r>
            <a:r>
              <a:rPr sz="1950" spc="385" dirty="0">
                <a:solidFill>
                  <a:srgbClr val="231F20"/>
                </a:solidFill>
                <a:latin typeface="Arial"/>
                <a:cs typeface="Arial"/>
              </a:rPr>
              <a:t>With</a:t>
            </a:r>
            <a:r>
              <a:rPr sz="1950" spc="370" dirty="0">
                <a:solidFill>
                  <a:srgbClr val="231F20"/>
                </a:solidFill>
                <a:latin typeface="Arial"/>
                <a:cs typeface="Arial"/>
              </a:rPr>
              <a:t> </a:t>
            </a:r>
            <a:r>
              <a:rPr sz="1950" spc="265" dirty="0">
                <a:solidFill>
                  <a:srgbClr val="231F20"/>
                </a:solidFill>
                <a:latin typeface="Arial"/>
                <a:cs typeface="Arial"/>
              </a:rPr>
              <a:t>Testing</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30" dirty="0">
                <a:solidFill>
                  <a:srgbClr val="231F20"/>
                </a:solidFill>
                <a:latin typeface="Arial"/>
                <a:cs typeface="Arial"/>
              </a:rPr>
              <a:t>Is </a:t>
            </a:r>
            <a:r>
              <a:rPr sz="1950" spc="235" dirty="0">
                <a:solidFill>
                  <a:srgbClr val="231F20"/>
                </a:solidFill>
                <a:latin typeface="Arial"/>
                <a:cs typeface="Arial"/>
              </a:rPr>
              <a:t>that </a:t>
            </a:r>
            <a:r>
              <a:rPr sz="1950" spc="229" dirty="0">
                <a:solidFill>
                  <a:srgbClr val="231F20"/>
                </a:solidFill>
                <a:latin typeface="Arial"/>
                <a:cs typeface="Arial"/>
              </a:rPr>
              <a:t>it </a:t>
            </a:r>
            <a:r>
              <a:rPr sz="1950" spc="135" dirty="0">
                <a:solidFill>
                  <a:srgbClr val="231F20"/>
                </a:solidFill>
                <a:latin typeface="Arial"/>
                <a:cs typeface="Arial"/>
              </a:rPr>
              <a:t>only </a:t>
            </a:r>
            <a:r>
              <a:rPr sz="1950" spc="85" dirty="0">
                <a:solidFill>
                  <a:srgbClr val="0000FF"/>
                </a:solidFill>
                <a:latin typeface="Arial"/>
                <a:cs typeface="Arial"/>
              </a:rPr>
              <a:t>samples </a:t>
            </a:r>
            <a:r>
              <a:rPr sz="1950" spc="175" dirty="0">
                <a:solidFill>
                  <a:srgbClr val="231F20"/>
                </a:solidFill>
                <a:latin typeface="Arial"/>
                <a:cs typeface="Arial"/>
              </a:rPr>
              <a:t>the </a:t>
            </a:r>
            <a:r>
              <a:rPr sz="1950" spc="110" dirty="0">
                <a:solidFill>
                  <a:srgbClr val="231F20"/>
                </a:solidFill>
                <a:latin typeface="Arial"/>
                <a:cs typeface="Arial"/>
              </a:rPr>
              <a:t>set </a:t>
            </a:r>
            <a:r>
              <a:rPr sz="1950" spc="185" dirty="0">
                <a:solidFill>
                  <a:srgbClr val="231F20"/>
                </a:solidFill>
                <a:latin typeface="Arial"/>
                <a:cs typeface="Arial"/>
              </a:rPr>
              <a:t>of </a:t>
            </a:r>
            <a:r>
              <a:rPr sz="1950" spc="90" dirty="0">
                <a:solidFill>
                  <a:srgbClr val="231F20"/>
                </a:solidFill>
                <a:latin typeface="Arial"/>
                <a:cs typeface="Arial"/>
              </a:rPr>
              <a:t>possible  </a:t>
            </a:r>
            <a:r>
              <a:rPr sz="1950" spc="105" dirty="0">
                <a:solidFill>
                  <a:srgbClr val="231F20"/>
                </a:solidFill>
                <a:latin typeface="Arial"/>
                <a:cs typeface="Arial"/>
              </a:rPr>
              <a:t> </a:t>
            </a:r>
            <a:r>
              <a:rPr sz="1950" spc="100" dirty="0">
                <a:solidFill>
                  <a:srgbClr val="231F20"/>
                </a:solidFill>
                <a:latin typeface="Arial"/>
                <a:cs typeface="Arial"/>
              </a:rPr>
              <a:t>behaviors</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200" dirty="0">
                <a:solidFill>
                  <a:srgbClr val="231F20"/>
                </a:solidFill>
                <a:latin typeface="Arial"/>
                <a:cs typeface="Arial"/>
              </a:rPr>
              <a:t>And </a:t>
            </a:r>
            <a:r>
              <a:rPr sz="1950" spc="110" dirty="0">
                <a:solidFill>
                  <a:srgbClr val="231F20"/>
                </a:solidFill>
                <a:latin typeface="Arial"/>
                <a:cs typeface="Arial"/>
              </a:rPr>
              <a:t>unlike </a:t>
            </a:r>
            <a:r>
              <a:rPr sz="1950" spc="105" dirty="0">
                <a:solidFill>
                  <a:srgbClr val="231F20"/>
                </a:solidFill>
                <a:latin typeface="Arial"/>
                <a:cs typeface="Arial"/>
              </a:rPr>
              <a:t>physical </a:t>
            </a:r>
            <a:r>
              <a:rPr sz="1950" spc="100" dirty="0">
                <a:solidFill>
                  <a:srgbClr val="231F20"/>
                </a:solidFill>
                <a:latin typeface="Arial"/>
                <a:cs typeface="Arial"/>
              </a:rPr>
              <a:t>systems </a:t>
            </a:r>
            <a:r>
              <a:rPr sz="1950" spc="150" dirty="0">
                <a:solidFill>
                  <a:srgbClr val="231F20"/>
                </a:solidFill>
                <a:latin typeface="Arial"/>
                <a:cs typeface="Arial"/>
              </a:rPr>
              <a:t>(where </a:t>
            </a:r>
            <a:r>
              <a:rPr sz="1950" spc="165" dirty="0">
                <a:solidFill>
                  <a:srgbClr val="231F20"/>
                </a:solidFill>
                <a:latin typeface="Arial"/>
                <a:cs typeface="Arial"/>
              </a:rPr>
              <a:t>many </a:t>
            </a:r>
            <a:r>
              <a:rPr sz="1950" spc="85" dirty="0">
                <a:solidFill>
                  <a:srgbClr val="231F20"/>
                </a:solidFill>
                <a:latin typeface="Arial"/>
                <a:cs typeface="Arial"/>
              </a:rPr>
              <a:t>engineers </a:t>
            </a:r>
            <a:r>
              <a:rPr sz="1950" spc="110" dirty="0">
                <a:solidFill>
                  <a:srgbClr val="231F20"/>
                </a:solidFill>
                <a:latin typeface="Arial"/>
                <a:cs typeface="Arial"/>
              </a:rPr>
              <a:t>gained  </a:t>
            </a:r>
            <a:r>
              <a:rPr sz="1950" spc="160" dirty="0">
                <a:solidFill>
                  <a:srgbClr val="231F20"/>
                </a:solidFill>
                <a:latin typeface="Arial"/>
                <a:cs typeface="Arial"/>
              </a:rPr>
              <a:t>their </a:t>
            </a:r>
            <a:r>
              <a:rPr sz="1950" spc="114" dirty="0">
                <a:solidFill>
                  <a:srgbClr val="231F20"/>
                </a:solidFill>
                <a:latin typeface="Arial"/>
                <a:cs typeface="Arial"/>
              </a:rPr>
              <a:t>experience), </a:t>
            </a:r>
            <a:r>
              <a:rPr sz="1950" spc="125" dirty="0">
                <a:solidFill>
                  <a:srgbClr val="231F20"/>
                </a:solidFill>
                <a:latin typeface="Arial"/>
                <a:cs typeface="Arial"/>
              </a:rPr>
              <a:t>software </a:t>
            </a:r>
            <a:r>
              <a:rPr sz="1950" spc="100" dirty="0">
                <a:solidFill>
                  <a:srgbClr val="231F20"/>
                </a:solidFill>
                <a:latin typeface="Arial"/>
                <a:cs typeface="Arial"/>
              </a:rPr>
              <a:t>systems </a:t>
            </a:r>
            <a:r>
              <a:rPr sz="1950" spc="65" dirty="0">
                <a:solidFill>
                  <a:srgbClr val="231F20"/>
                </a:solidFill>
                <a:latin typeface="Arial"/>
                <a:cs typeface="Arial"/>
              </a:rPr>
              <a:t>are </a:t>
            </a:r>
            <a:r>
              <a:rPr sz="1950" spc="340" dirty="0">
                <a:solidFill>
                  <a:srgbClr val="231F20"/>
                </a:solidFill>
                <a:latin typeface="Arial"/>
                <a:cs typeface="Arial"/>
              </a:rPr>
              <a:t> </a:t>
            </a:r>
            <a:r>
              <a:rPr sz="1950" spc="130" dirty="0">
                <a:solidFill>
                  <a:srgbClr val="0000FF"/>
                </a:solidFill>
                <a:latin typeface="Arial"/>
                <a:cs typeface="Arial"/>
              </a:rPr>
              <a:t>discontinuous</a:t>
            </a:r>
            <a:endParaRPr sz="1950">
              <a:latin typeface="Arial"/>
              <a:cs typeface="Arial"/>
            </a:endParaRPr>
          </a:p>
          <a:p>
            <a:pPr marL="300990" marR="297815" indent="-288290">
              <a:lnSpc>
                <a:spcPct val="125000"/>
              </a:lnSpc>
              <a:spcBef>
                <a:spcPts val="1340"/>
              </a:spcBef>
              <a:buClr>
                <a:srgbClr val="231F20"/>
              </a:buClr>
              <a:buSzPct val="105128"/>
              <a:buFont typeface="Lucida Sans Unicode"/>
              <a:buChar char="•"/>
              <a:tabLst>
                <a:tab pos="301625" algn="l"/>
              </a:tabLst>
            </a:pPr>
            <a:r>
              <a:rPr sz="1950" spc="185" dirty="0">
                <a:solidFill>
                  <a:srgbClr val="0000FF"/>
                </a:solidFill>
                <a:latin typeface="Arial"/>
                <a:cs typeface="Arial"/>
              </a:rPr>
              <a:t>There </a:t>
            </a:r>
            <a:r>
              <a:rPr sz="1950" spc="40" dirty="0">
                <a:solidFill>
                  <a:srgbClr val="0000FF"/>
                </a:solidFill>
                <a:latin typeface="Arial"/>
                <a:cs typeface="Arial"/>
              </a:rPr>
              <a:t>is </a:t>
            </a:r>
            <a:r>
              <a:rPr sz="1950" spc="155" dirty="0">
                <a:solidFill>
                  <a:srgbClr val="0000FF"/>
                </a:solidFill>
                <a:latin typeface="Arial"/>
                <a:cs typeface="Arial"/>
              </a:rPr>
              <a:t>no </a:t>
            </a:r>
            <a:r>
              <a:rPr sz="1950" spc="114" dirty="0">
                <a:solidFill>
                  <a:srgbClr val="0000FF"/>
                </a:solidFill>
                <a:latin typeface="Arial"/>
                <a:cs typeface="Arial"/>
              </a:rPr>
              <a:t>sound </a:t>
            </a:r>
            <a:r>
              <a:rPr sz="1950" spc="60" dirty="0">
                <a:solidFill>
                  <a:srgbClr val="0000FF"/>
                </a:solidFill>
                <a:latin typeface="Arial"/>
                <a:cs typeface="Arial"/>
              </a:rPr>
              <a:t>basis </a:t>
            </a:r>
            <a:r>
              <a:rPr sz="1950" spc="155" dirty="0">
                <a:solidFill>
                  <a:srgbClr val="0000FF"/>
                </a:solidFill>
                <a:latin typeface="Arial"/>
                <a:cs typeface="Arial"/>
              </a:rPr>
              <a:t>for </a:t>
            </a:r>
            <a:r>
              <a:rPr sz="1950" spc="160" dirty="0">
                <a:solidFill>
                  <a:srgbClr val="0000FF"/>
                </a:solidFill>
                <a:latin typeface="Arial"/>
                <a:cs typeface="Arial"/>
              </a:rPr>
              <a:t>extrapolating </a:t>
            </a:r>
            <a:r>
              <a:rPr sz="1950" spc="210" dirty="0">
                <a:solidFill>
                  <a:srgbClr val="0000FF"/>
                </a:solidFill>
                <a:latin typeface="Arial"/>
                <a:cs typeface="Arial"/>
              </a:rPr>
              <a:t>from </a:t>
            </a:r>
            <a:r>
              <a:rPr sz="1950" spc="140" dirty="0">
                <a:solidFill>
                  <a:srgbClr val="0000FF"/>
                </a:solidFill>
                <a:latin typeface="Arial"/>
                <a:cs typeface="Arial"/>
              </a:rPr>
              <a:t>tested </a:t>
            </a:r>
            <a:r>
              <a:rPr sz="1950" spc="250" dirty="0">
                <a:solidFill>
                  <a:srgbClr val="0000FF"/>
                </a:solidFill>
                <a:latin typeface="Arial"/>
                <a:cs typeface="Arial"/>
              </a:rPr>
              <a:t>to  </a:t>
            </a:r>
            <a:r>
              <a:rPr sz="1950" spc="145" dirty="0">
                <a:solidFill>
                  <a:srgbClr val="0000FF"/>
                </a:solidFill>
                <a:latin typeface="Arial"/>
                <a:cs typeface="Arial"/>
              </a:rPr>
              <a:t>untested</a:t>
            </a:r>
            <a:r>
              <a:rPr sz="1950" spc="215" dirty="0">
                <a:solidFill>
                  <a:srgbClr val="0000FF"/>
                </a:solidFill>
                <a:latin typeface="Arial"/>
                <a:cs typeface="Arial"/>
              </a:rPr>
              <a:t> </a:t>
            </a:r>
            <a:r>
              <a:rPr sz="1950" spc="30" dirty="0">
                <a:solidFill>
                  <a:srgbClr val="0000FF"/>
                </a:solidFill>
                <a:latin typeface="Arial"/>
                <a:cs typeface="Arial"/>
              </a:rPr>
              <a:t>cases</a:t>
            </a:r>
            <a:endParaRPr sz="1950">
              <a:latin typeface="Arial"/>
              <a:cs typeface="Arial"/>
            </a:endParaRPr>
          </a:p>
          <a:p>
            <a:pPr marL="300990" marR="501015" indent="-288290">
              <a:lnSpc>
                <a:spcPct val="125000"/>
              </a:lnSpc>
              <a:spcBef>
                <a:spcPts val="1340"/>
              </a:spcBef>
              <a:buSzPct val="105128"/>
              <a:buFont typeface="Lucida Sans Unicode"/>
              <a:buChar char="•"/>
              <a:tabLst>
                <a:tab pos="301625" algn="l"/>
              </a:tabLst>
            </a:pPr>
            <a:r>
              <a:rPr sz="1950" spc="114" dirty="0">
                <a:solidFill>
                  <a:srgbClr val="231F20"/>
                </a:solidFill>
                <a:latin typeface="Arial"/>
                <a:cs typeface="Arial"/>
              </a:rPr>
              <a:t>So </a:t>
            </a:r>
            <a:r>
              <a:rPr sz="1950" spc="95" dirty="0">
                <a:solidFill>
                  <a:srgbClr val="231F20"/>
                </a:solidFill>
                <a:latin typeface="Arial"/>
                <a:cs typeface="Arial"/>
              </a:rPr>
              <a:t>we </a:t>
            </a:r>
            <a:r>
              <a:rPr sz="1950" spc="80" dirty="0">
                <a:solidFill>
                  <a:srgbClr val="231F20"/>
                </a:solidFill>
                <a:latin typeface="Arial"/>
                <a:cs typeface="Arial"/>
              </a:rPr>
              <a:t>need </a:t>
            </a:r>
            <a:r>
              <a:rPr sz="1950" spc="250" dirty="0">
                <a:solidFill>
                  <a:srgbClr val="231F20"/>
                </a:solidFill>
                <a:latin typeface="Arial"/>
                <a:cs typeface="Arial"/>
              </a:rPr>
              <a:t>to </a:t>
            </a:r>
            <a:r>
              <a:rPr sz="1950" spc="105" dirty="0">
                <a:solidFill>
                  <a:srgbClr val="231F20"/>
                </a:solidFill>
                <a:latin typeface="Arial"/>
                <a:cs typeface="Arial"/>
              </a:rPr>
              <a:t>consider </a:t>
            </a:r>
            <a:r>
              <a:rPr sz="1950" spc="105" dirty="0">
                <a:solidFill>
                  <a:srgbClr val="FF0000"/>
                </a:solidFill>
                <a:latin typeface="Arial"/>
                <a:cs typeface="Arial"/>
              </a:rPr>
              <a:t>all </a:t>
            </a:r>
            <a:r>
              <a:rPr sz="1950" spc="90" dirty="0">
                <a:solidFill>
                  <a:srgbClr val="FF0000"/>
                </a:solidFill>
                <a:latin typeface="Arial"/>
                <a:cs typeface="Arial"/>
              </a:rPr>
              <a:t>possible </a:t>
            </a:r>
            <a:r>
              <a:rPr sz="1950" spc="50" dirty="0">
                <a:solidFill>
                  <a:srgbClr val="231F20"/>
                </a:solidFill>
                <a:latin typeface="Arial"/>
                <a:cs typeface="Arial"/>
              </a:rPr>
              <a:t>cases. </a:t>
            </a:r>
            <a:r>
              <a:rPr sz="1950" spc="145" dirty="0">
                <a:solidFill>
                  <a:srgbClr val="231F20"/>
                </a:solidFill>
                <a:latin typeface="Arial"/>
                <a:cs typeface="Arial"/>
              </a:rPr>
              <a:t>. . </a:t>
            </a:r>
            <a:r>
              <a:rPr sz="1950" spc="160" dirty="0">
                <a:solidFill>
                  <a:srgbClr val="231F20"/>
                </a:solidFill>
                <a:latin typeface="Arial"/>
                <a:cs typeface="Arial"/>
              </a:rPr>
              <a:t>how </a:t>
            </a:r>
            <a:r>
              <a:rPr sz="1950" spc="40" dirty="0">
                <a:solidFill>
                  <a:srgbClr val="231F20"/>
                </a:solidFill>
                <a:latin typeface="Arial"/>
                <a:cs typeface="Arial"/>
              </a:rPr>
              <a:t>is </a:t>
            </a:r>
            <a:r>
              <a:rPr sz="1950" spc="145" dirty="0">
                <a:solidFill>
                  <a:srgbClr val="231F20"/>
                </a:solidFill>
                <a:latin typeface="Arial"/>
                <a:cs typeface="Arial"/>
              </a:rPr>
              <a:t>this  </a:t>
            </a:r>
            <a:r>
              <a:rPr sz="1950" spc="85" dirty="0">
                <a:solidFill>
                  <a:srgbClr val="231F20"/>
                </a:solidFill>
                <a:latin typeface="Arial"/>
                <a:cs typeface="Arial"/>
              </a:rPr>
              <a:t>possible?</a:t>
            </a:r>
            <a:endParaRPr sz="1950">
              <a:latin typeface="Arial"/>
              <a:cs typeface="Arial"/>
            </a:endParaRPr>
          </a:p>
          <a:p>
            <a:pPr>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65" dirty="0">
                <a:solidFill>
                  <a:srgbClr val="231F20"/>
                </a:solidFill>
                <a:latin typeface="Arial"/>
                <a:cs typeface="Arial"/>
              </a:rPr>
              <a:t>It’s </a:t>
            </a:r>
            <a:r>
              <a:rPr sz="1950" spc="90" dirty="0">
                <a:solidFill>
                  <a:srgbClr val="231F20"/>
                </a:solidFill>
                <a:latin typeface="Arial"/>
                <a:cs typeface="Arial"/>
              </a:rPr>
              <a:t>possible </a:t>
            </a:r>
            <a:r>
              <a:rPr sz="1950" spc="215" dirty="0">
                <a:solidFill>
                  <a:srgbClr val="231F20"/>
                </a:solidFill>
                <a:latin typeface="Arial"/>
                <a:cs typeface="Arial"/>
              </a:rPr>
              <a:t>with </a:t>
            </a:r>
            <a:r>
              <a:rPr sz="1950" spc="140" dirty="0">
                <a:solidFill>
                  <a:srgbClr val="FF0000"/>
                </a:solidFill>
                <a:latin typeface="Arial"/>
                <a:cs typeface="Arial"/>
              </a:rPr>
              <a:t>symbolic</a:t>
            </a:r>
            <a:r>
              <a:rPr sz="1950" spc="610" dirty="0">
                <a:solidFill>
                  <a:srgbClr val="FF0000"/>
                </a:solidFill>
                <a:latin typeface="Arial"/>
                <a:cs typeface="Arial"/>
              </a:rPr>
              <a:t> </a:t>
            </a:r>
            <a:r>
              <a:rPr sz="1950" spc="165" dirty="0">
                <a:solidFill>
                  <a:srgbClr val="231F20"/>
                </a:solidFill>
                <a:latin typeface="Arial"/>
                <a:cs typeface="Arial"/>
              </a:rPr>
              <a:t>methods</a:t>
            </a:r>
            <a:endParaRPr sz="1950">
              <a:latin typeface="Arial"/>
              <a:cs typeface="Arial"/>
            </a:endParaRPr>
          </a:p>
          <a:p>
            <a:pPr marL="12700">
              <a:lnSpc>
                <a:spcPct val="100000"/>
              </a:lnSpc>
              <a:spcBef>
                <a:spcPts val="1825"/>
              </a:spcBef>
              <a:tabLst>
                <a:tab pos="300990" algn="l"/>
                <a:tab pos="4203700" algn="l"/>
              </a:tabLst>
            </a:pPr>
            <a:r>
              <a:rPr sz="2050" spc="-265" dirty="0">
                <a:solidFill>
                  <a:srgbClr val="231F20"/>
                </a:solidFill>
                <a:latin typeface="Lucida Sans Unicode"/>
                <a:cs typeface="Lucida Sans Unicode"/>
              </a:rPr>
              <a:t>•	</a:t>
            </a:r>
            <a:r>
              <a:rPr sz="1950" spc="175" dirty="0">
                <a:solidFill>
                  <a:srgbClr val="231F20"/>
                </a:solidFill>
                <a:latin typeface="Arial"/>
                <a:cs typeface="Arial"/>
              </a:rPr>
              <a:t>Cf. </a:t>
            </a:r>
            <a:r>
              <a:rPr sz="2050" i="1" spc="90" dirty="0">
                <a:solidFill>
                  <a:srgbClr val="FF0000"/>
                </a:solidFill>
                <a:latin typeface="Meiryo"/>
                <a:cs typeface="Meiryo"/>
              </a:rPr>
              <a:t>x</a:t>
            </a:r>
            <a:r>
              <a:rPr sz="2175" spc="135" baseline="28735" dirty="0">
                <a:solidFill>
                  <a:srgbClr val="FF0000"/>
                </a:solidFill>
                <a:latin typeface="PMingLiU"/>
                <a:cs typeface="PMingLiU"/>
              </a:rPr>
              <a:t>2 </a:t>
            </a:r>
            <a:r>
              <a:rPr sz="2050" spc="-25" dirty="0">
                <a:solidFill>
                  <a:srgbClr val="FF0000"/>
                </a:solidFill>
                <a:latin typeface="Lucida Sans Unicode"/>
                <a:cs typeface="Lucida Sans Unicode"/>
              </a:rPr>
              <a:t>− </a:t>
            </a:r>
            <a:r>
              <a:rPr sz="2050" i="1" spc="30" dirty="0">
                <a:solidFill>
                  <a:srgbClr val="FF0000"/>
                </a:solidFill>
                <a:latin typeface="Meiryo"/>
                <a:cs typeface="Meiryo"/>
              </a:rPr>
              <a:t>y</a:t>
            </a:r>
            <a:r>
              <a:rPr sz="2175" spc="44" baseline="28735" dirty="0">
                <a:solidFill>
                  <a:srgbClr val="FF0000"/>
                </a:solidFill>
                <a:latin typeface="PMingLiU"/>
                <a:cs typeface="PMingLiU"/>
              </a:rPr>
              <a:t>2  </a:t>
            </a:r>
            <a:r>
              <a:rPr sz="2050" spc="114" dirty="0">
                <a:solidFill>
                  <a:srgbClr val="FF0000"/>
                </a:solidFill>
                <a:latin typeface="Tahoma"/>
                <a:cs typeface="Tahoma"/>
              </a:rPr>
              <a:t>= </a:t>
            </a:r>
            <a:r>
              <a:rPr sz="2050" spc="30" dirty="0">
                <a:solidFill>
                  <a:srgbClr val="FF0000"/>
                </a:solidFill>
                <a:latin typeface="Tahoma"/>
                <a:cs typeface="Tahoma"/>
              </a:rPr>
              <a:t>(</a:t>
            </a:r>
            <a:r>
              <a:rPr sz="2050" i="1" spc="30" dirty="0">
                <a:solidFill>
                  <a:srgbClr val="FF0000"/>
                </a:solidFill>
                <a:latin typeface="Meiryo"/>
                <a:cs typeface="Meiryo"/>
              </a:rPr>
              <a:t>x </a:t>
            </a:r>
            <a:r>
              <a:rPr sz="2050" spc="-25" dirty="0">
                <a:solidFill>
                  <a:srgbClr val="FF0000"/>
                </a:solidFill>
                <a:latin typeface="Lucida Sans Unicode"/>
                <a:cs typeface="Lucida Sans Unicode"/>
              </a:rPr>
              <a:t>− </a:t>
            </a:r>
            <a:r>
              <a:rPr sz="2050" i="1" dirty="0">
                <a:solidFill>
                  <a:srgbClr val="FF0000"/>
                </a:solidFill>
                <a:latin typeface="Meiryo"/>
                <a:cs typeface="Meiryo"/>
              </a:rPr>
              <a:t>y</a:t>
            </a:r>
            <a:r>
              <a:rPr sz="2050" dirty="0">
                <a:solidFill>
                  <a:srgbClr val="FF0000"/>
                </a:solidFill>
                <a:latin typeface="Tahoma"/>
                <a:cs typeface="Tahoma"/>
              </a:rPr>
              <a:t>)(</a:t>
            </a:r>
            <a:r>
              <a:rPr sz="2050" i="1" dirty="0">
                <a:solidFill>
                  <a:srgbClr val="FF0000"/>
                </a:solidFill>
                <a:latin typeface="Meiryo"/>
                <a:cs typeface="Meiryo"/>
              </a:rPr>
              <a:t>x </a:t>
            </a:r>
            <a:r>
              <a:rPr sz="2050" spc="114" dirty="0">
                <a:solidFill>
                  <a:srgbClr val="FF0000"/>
                </a:solidFill>
                <a:latin typeface="Tahoma"/>
                <a:cs typeface="Tahoma"/>
              </a:rPr>
              <a:t>+</a:t>
            </a:r>
            <a:r>
              <a:rPr sz="2050" spc="-114" dirty="0">
                <a:solidFill>
                  <a:srgbClr val="FF0000"/>
                </a:solidFill>
                <a:latin typeface="Tahoma"/>
                <a:cs typeface="Tahoma"/>
              </a:rPr>
              <a:t> </a:t>
            </a:r>
            <a:r>
              <a:rPr sz="2050" i="1" spc="-30" dirty="0">
                <a:solidFill>
                  <a:srgbClr val="FF0000"/>
                </a:solidFill>
                <a:latin typeface="Meiryo"/>
                <a:cs typeface="Meiryo"/>
              </a:rPr>
              <a:t>y</a:t>
            </a:r>
            <a:r>
              <a:rPr sz="2050" spc="-30" dirty="0">
                <a:solidFill>
                  <a:srgbClr val="FF0000"/>
                </a:solidFill>
                <a:latin typeface="Tahoma"/>
                <a:cs typeface="Tahoma"/>
              </a:rPr>
              <a:t>)</a:t>
            </a:r>
            <a:r>
              <a:rPr sz="2050" spc="355" dirty="0">
                <a:solidFill>
                  <a:srgbClr val="FF0000"/>
                </a:solidFill>
                <a:latin typeface="Tahoma"/>
                <a:cs typeface="Tahoma"/>
              </a:rPr>
              <a:t> </a:t>
            </a:r>
            <a:r>
              <a:rPr sz="1950" spc="80" dirty="0">
                <a:solidFill>
                  <a:srgbClr val="231F20"/>
                </a:solidFill>
                <a:latin typeface="Arial"/>
                <a:cs typeface="Arial"/>
              </a:rPr>
              <a:t>vs.	</a:t>
            </a:r>
            <a:r>
              <a:rPr sz="2050" spc="55" dirty="0">
                <a:solidFill>
                  <a:srgbClr val="0000FF"/>
                </a:solidFill>
                <a:latin typeface="SimSun"/>
                <a:cs typeface="SimSun"/>
              </a:rPr>
              <a:t>5*5-3*3 =</a:t>
            </a:r>
            <a:r>
              <a:rPr sz="2050" spc="-30" dirty="0">
                <a:solidFill>
                  <a:srgbClr val="0000FF"/>
                </a:solidFill>
                <a:latin typeface="SimSun"/>
                <a:cs typeface="SimSun"/>
              </a:rPr>
              <a:t> </a:t>
            </a:r>
            <a:r>
              <a:rPr sz="2050" spc="55" dirty="0">
                <a:solidFill>
                  <a:srgbClr val="0000FF"/>
                </a:solidFill>
                <a:latin typeface="SimSun"/>
                <a:cs typeface="SimSun"/>
              </a:rPr>
              <a:t>(5-3)*(5+3)</a:t>
            </a:r>
            <a:endParaRPr sz="2050">
              <a:latin typeface="SimSun"/>
              <a:cs typeface="SimSun"/>
            </a:endParaRPr>
          </a:p>
          <a:p>
            <a:pPr marL="300990" indent="-288290">
              <a:lnSpc>
                <a:spcPct val="100000"/>
              </a:lnSpc>
              <a:spcBef>
                <a:spcPts val="1905"/>
              </a:spcBef>
              <a:buClr>
                <a:srgbClr val="231F20"/>
              </a:buClr>
              <a:buSzPct val="105128"/>
              <a:buFont typeface="Lucida Sans Unicode"/>
              <a:buChar char="•"/>
              <a:tabLst>
                <a:tab pos="301625" algn="l"/>
              </a:tabLst>
            </a:pPr>
            <a:r>
              <a:rPr sz="1950" spc="180" dirty="0">
                <a:solidFill>
                  <a:srgbClr val="0000FF"/>
                </a:solidFill>
                <a:latin typeface="Arial"/>
                <a:cs typeface="Arial"/>
              </a:rPr>
              <a:t>Static </a:t>
            </a:r>
            <a:r>
              <a:rPr sz="1950" spc="100" dirty="0">
                <a:solidFill>
                  <a:srgbClr val="0000FF"/>
                </a:solidFill>
                <a:latin typeface="Arial"/>
                <a:cs typeface="Arial"/>
              </a:rPr>
              <a:t>Analysis </a:t>
            </a:r>
            <a:r>
              <a:rPr sz="1950" spc="40" dirty="0">
                <a:solidFill>
                  <a:srgbClr val="231F20"/>
                </a:solidFill>
                <a:latin typeface="Arial"/>
                <a:cs typeface="Arial"/>
              </a:rPr>
              <a:t>is </a:t>
            </a:r>
            <a:r>
              <a:rPr sz="1950" spc="190" dirty="0">
                <a:solidFill>
                  <a:srgbClr val="231F20"/>
                </a:solidFill>
                <a:latin typeface="Arial"/>
                <a:cs typeface="Arial"/>
              </a:rPr>
              <a:t>about </a:t>
            </a:r>
            <a:r>
              <a:rPr sz="1950" spc="185" dirty="0">
                <a:solidFill>
                  <a:srgbClr val="0000FF"/>
                </a:solidFill>
                <a:latin typeface="Arial"/>
                <a:cs typeface="Arial"/>
              </a:rPr>
              <a:t>totally </a:t>
            </a:r>
            <a:r>
              <a:rPr sz="1950" spc="180" dirty="0">
                <a:solidFill>
                  <a:srgbClr val="0000FF"/>
                </a:solidFill>
                <a:latin typeface="Arial"/>
                <a:cs typeface="Arial"/>
              </a:rPr>
              <a:t>automated </a:t>
            </a:r>
            <a:r>
              <a:rPr sz="1950" spc="70" dirty="0">
                <a:solidFill>
                  <a:srgbClr val="231F20"/>
                </a:solidFill>
                <a:latin typeface="Arial"/>
                <a:cs typeface="Arial"/>
              </a:rPr>
              <a:t>ways </a:t>
            </a:r>
            <a:r>
              <a:rPr sz="1950" spc="250" dirty="0">
                <a:solidFill>
                  <a:srgbClr val="231F20"/>
                </a:solidFill>
                <a:latin typeface="Arial"/>
                <a:cs typeface="Arial"/>
              </a:rPr>
              <a:t>to </a:t>
            </a:r>
            <a:r>
              <a:rPr sz="1950" spc="155" dirty="0">
                <a:solidFill>
                  <a:srgbClr val="231F20"/>
                </a:solidFill>
                <a:latin typeface="Arial"/>
                <a:cs typeface="Arial"/>
              </a:rPr>
              <a:t>do </a:t>
            </a:r>
            <a:r>
              <a:rPr sz="1950" spc="710" dirty="0">
                <a:solidFill>
                  <a:srgbClr val="231F20"/>
                </a:solidFill>
                <a:latin typeface="Arial"/>
                <a:cs typeface="Arial"/>
              </a:rPr>
              <a:t> </a:t>
            </a:r>
            <a:r>
              <a:rPr sz="1950" spc="145" dirty="0">
                <a:solidFill>
                  <a:srgbClr val="231F20"/>
                </a:solidFill>
                <a:latin typeface="Arial"/>
                <a:cs typeface="Arial"/>
              </a:rPr>
              <a:t>this</a:t>
            </a:r>
            <a:endParaRPr sz="1950">
              <a:latin typeface="Arial"/>
              <a:cs typeface="Arial"/>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195015" y="870316"/>
            <a:ext cx="3669665" cy="31496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90" dirty="0">
                <a:solidFill>
                  <a:srgbClr val="231F20"/>
                </a:solidFill>
                <a:latin typeface="Arial"/>
                <a:cs typeface="Arial"/>
              </a:rPr>
              <a:t>Zune </a:t>
            </a:r>
            <a:r>
              <a:rPr sz="1950" spc="265" dirty="0">
                <a:solidFill>
                  <a:srgbClr val="231F20"/>
                </a:solidFill>
                <a:latin typeface="Arial"/>
                <a:cs typeface="Arial"/>
              </a:rPr>
              <a:t>Example</a:t>
            </a:r>
            <a:r>
              <a:rPr sz="1950" spc="370" dirty="0">
                <a:solidFill>
                  <a:srgbClr val="231F20"/>
                </a:solidFill>
                <a:latin typeface="Arial"/>
                <a:cs typeface="Arial"/>
              </a:rPr>
              <a:t> </a:t>
            </a:r>
            <a:r>
              <a:rPr sz="1950" spc="265" dirty="0">
                <a:solidFill>
                  <a:srgbClr val="231F20"/>
                </a:solidFill>
                <a:latin typeface="Arial"/>
                <a:cs typeface="Arial"/>
              </a:rPr>
              <a:t>Again</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333903" rIns="0" bIns="0" rtlCol="0">
            <a:spAutoFit/>
          </a:bodyPr>
          <a:lstStyle/>
          <a:p>
            <a:pPr marL="17780">
              <a:lnSpc>
                <a:spcPct val="100000"/>
              </a:lnSpc>
            </a:pPr>
            <a:r>
              <a:rPr spc="55" dirty="0">
                <a:solidFill>
                  <a:srgbClr val="FF0000"/>
                </a:solidFill>
              </a:rPr>
              <a:t>[days &gt;</a:t>
            </a:r>
            <a:r>
              <a:rPr spc="-30" dirty="0">
                <a:solidFill>
                  <a:srgbClr val="FF0000"/>
                </a:solidFill>
              </a:rPr>
              <a:t> </a:t>
            </a:r>
            <a:r>
              <a:rPr spc="55" dirty="0">
                <a:solidFill>
                  <a:srgbClr val="FF0000"/>
                </a:solidFill>
              </a:rPr>
              <a:t>0]</a:t>
            </a:r>
          </a:p>
          <a:p>
            <a:pPr marL="17780">
              <a:lnSpc>
                <a:spcPct val="100000"/>
              </a:lnSpc>
              <a:spcBef>
                <a:spcPts val="465"/>
              </a:spcBef>
            </a:pPr>
            <a:r>
              <a:rPr spc="55" dirty="0"/>
              <a:t>while (days &gt; 365)</a:t>
            </a:r>
            <a:r>
              <a:rPr spc="-15" dirty="0"/>
              <a:t> </a:t>
            </a:r>
            <a:r>
              <a:rPr spc="365" dirty="0">
                <a:latin typeface="Lucida Sans Unicode"/>
                <a:cs typeface="Lucida Sans Unicode"/>
              </a:rPr>
              <a:t>{</a:t>
            </a:r>
          </a:p>
        </p:txBody>
      </p:sp>
      <p:sp>
        <p:nvSpPr>
          <p:cNvPr id="4" name="object 4"/>
          <p:cNvSpPr txBox="1"/>
          <p:nvPr/>
        </p:nvSpPr>
        <p:spPr>
          <a:xfrm>
            <a:off x="4477003" y="1626971"/>
            <a:ext cx="1678939" cy="338455"/>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[days &gt;</a:t>
            </a:r>
            <a:r>
              <a:rPr sz="2050" spc="-25" dirty="0">
                <a:solidFill>
                  <a:srgbClr val="FF0000"/>
                </a:solidFill>
                <a:latin typeface="SimSun"/>
                <a:cs typeface="SimSun"/>
              </a:rPr>
              <a:t> </a:t>
            </a:r>
            <a:r>
              <a:rPr sz="2050" spc="55" dirty="0">
                <a:solidFill>
                  <a:srgbClr val="FF0000"/>
                </a:solidFill>
                <a:latin typeface="SimSun"/>
                <a:cs typeface="SimSun"/>
              </a:rPr>
              <a:t>365]</a:t>
            </a:r>
            <a:endParaRPr sz="2050">
              <a:latin typeface="SimSun"/>
              <a:cs typeface="SimSun"/>
            </a:endParaRPr>
          </a:p>
        </p:txBody>
      </p:sp>
      <p:sp>
        <p:nvSpPr>
          <p:cNvPr id="5" name="object 5"/>
          <p:cNvSpPr txBox="1"/>
          <p:nvPr/>
        </p:nvSpPr>
        <p:spPr>
          <a:xfrm>
            <a:off x="1452740" y="1998560"/>
            <a:ext cx="4702810" cy="1453515"/>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if (</a:t>
            </a:r>
            <a:r>
              <a:rPr sz="2050" spc="55" dirty="0">
                <a:solidFill>
                  <a:srgbClr val="FF0000"/>
                </a:solidFill>
                <a:latin typeface="SimSun"/>
                <a:cs typeface="SimSun"/>
              </a:rPr>
              <a:t>*</a:t>
            </a:r>
            <a:r>
              <a:rPr sz="2050" spc="55" dirty="0">
                <a:solidFill>
                  <a:srgbClr val="0000FF"/>
                </a:solidFill>
                <a:latin typeface="SimSun"/>
                <a:cs typeface="SimSun"/>
              </a:rPr>
              <a:t>))</a:t>
            </a:r>
            <a:r>
              <a:rPr sz="2050" spc="-2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1114425" marR="5080" indent="-551180">
              <a:lnSpc>
                <a:spcPct val="118900"/>
              </a:lnSpc>
              <a:tabLst>
                <a:tab pos="3036570" algn="l"/>
              </a:tabLst>
            </a:pPr>
            <a:r>
              <a:rPr sz="2050" spc="55" dirty="0">
                <a:solidFill>
                  <a:srgbClr val="0000FF"/>
                </a:solidFill>
                <a:latin typeface="SimSun"/>
                <a:cs typeface="SimSun"/>
              </a:rPr>
              <a:t>if (days &gt;</a:t>
            </a:r>
            <a:r>
              <a:rPr sz="2050" spc="919" dirty="0">
                <a:solidFill>
                  <a:srgbClr val="0000FF"/>
                </a:solidFill>
                <a:latin typeface="SimSun"/>
                <a:cs typeface="SimSun"/>
              </a:rPr>
              <a:t> </a:t>
            </a:r>
            <a:r>
              <a:rPr sz="2050" spc="55" dirty="0">
                <a:solidFill>
                  <a:srgbClr val="FF0000"/>
                </a:solidFill>
                <a:latin typeface="SimSun"/>
                <a:cs typeface="SimSun"/>
              </a:rPr>
              <a:t>365</a:t>
            </a:r>
            <a:r>
              <a:rPr sz="2050" spc="55" dirty="0">
                <a:solidFill>
                  <a:srgbClr val="0000FF"/>
                </a:solidFill>
                <a:latin typeface="SimSun"/>
                <a:cs typeface="SimSun"/>
              </a:rPr>
              <a:t>)</a:t>
            </a:r>
            <a:r>
              <a:rPr sz="2050" spc="340" dirty="0">
                <a:solidFill>
                  <a:srgbClr val="0000FF"/>
                </a:solidFill>
                <a:latin typeface="SimSun"/>
                <a:cs typeface="SimSun"/>
              </a:rPr>
              <a:t> </a:t>
            </a:r>
            <a:r>
              <a:rPr sz="2050" spc="365" dirty="0">
                <a:solidFill>
                  <a:srgbClr val="0000FF"/>
                </a:solidFill>
                <a:latin typeface="Lucida Sans Unicode"/>
                <a:cs typeface="Lucida Sans Unicode"/>
              </a:rPr>
              <a:t>{	</a:t>
            </a:r>
            <a:r>
              <a:rPr sz="2050" spc="55" dirty="0">
                <a:solidFill>
                  <a:srgbClr val="FF0000"/>
                </a:solidFill>
                <a:latin typeface="SimSun"/>
                <a:cs typeface="SimSun"/>
              </a:rPr>
              <a:t>[days</a:t>
            </a:r>
            <a:r>
              <a:rPr sz="2050" spc="15" dirty="0">
                <a:solidFill>
                  <a:srgbClr val="FF0000"/>
                </a:solidFill>
                <a:latin typeface="SimSun"/>
                <a:cs typeface="SimSun"/>
              </a:rPr>
              <a:t> </a:t>
            </a:r>
            <a:r>
              <a:rPr sz="2050" spc="55" dirty="0">
                <a:solidFill>
                  <a:srgbClr val="FF0000"/>
                </a:solidFill>
                <a:latin typeface="SimSun"/>
                <a:cs typeface="SimSun"/>
              </a:rPr>
              <a:t>&gt;</a:t>
            </a:r>
            <a:r>
              <a:rPr sz="2050" spc="15" dirty="0">
                <a:solidFill>
                  <a:srgbClr val="FF0000"/>
                </a:solidFill>
                <a:latin typeface="SimSun"/>
                <a:cs typeface="SimSun"/>
              </a:rPr>
              <a:t> </a:t>
            </a:r>
            <a:r>
              <a:rPr sz="2050" spc="55" dirty="0">
                <a:solidFill>
                  <a:srgbClr val="FF0000"/>
                </a:solidFill>
                <a:latin typeface="SimSun"/>
                <a:cs typeface="SimSun"/>
              </a:rPr>
              <a:t>365]  </a:t>
            </a:r>
            <a:r>
              <a:rPr sz="2050" spc="55" dirty="0">
                <a:solidFill>
                  <a:srgbClr val="0000FF"/>
                </a:solidFill>
                <a:latin typeface="SimSun"/>
                <a:cs typeface="SimSun"/>
              </a:rPr>
              <a:t>days</a:t>
            </a:r>
            <a:r>
              <a:rPr sz="2050" spc="860" dirty="0">
                <a:solidFill>
                  <a:srgbClr val="0000FF"/>
                </a:solidFill>
                <a:latin typeface="SimSun"/>
                <a:cs typeface="SimSun"/>
              </a:rPr>
              <a:t> </a:t>
            </a:r>
            <a:r>
              <a:rPr sz="2050" spc="55" dirty="0">
                <a:solidFill>
                  <a:srgbClr val="0000FF"/>
                </a:solidFill>
                <a:latin typeface="SimSun"/>
                <a:cs typeface="SimSun"/>
              </a:rPr>
              <a:t>-=</a:t>
            </a:r>
            <a:r>
              <a:rPr sz="2050" spc="860" dirty="0">
                <a:solidFill>
                  <a:srgbClr val="0000FF"/>
                </a:solidFill>
                <a:latin typeface="SimSun"/>
                <a:cs typeface="SimSun"/>
              </a:rPr>
              <a:t> </a:t>
            </a:r>
            <a:r>
              <a:rPr sz="2050" spc="55" dirty="0">
                <a:solidFill>
                  <a:srgbClr val="0000FF"/>
                </a:solidFill>
                <a:latin typeface="SimSun"/>
                <a:cs typeface="SimSun"/>
              </a:rPr>
              <a:t>366;	</a:t>
            </a:r>
            <a:r>
              <a:rPr sz="2050" spc="55" dirty="0">
                <a:solidFill>
                  <a:srgbClr val="FF0000"/>
                </a:solidFill>
                <a:latin typeface="SimSun"/>
                <a:cs typeface="SimSun"/>
              </a:rPr>
              <a:t>[days &gt;=</a:t>
            </a:r>
            <a:r>
              <a:rPr sz="2050" spc="-25" dirty="0">
                <a:solidFill>
                  <a:srgbClr val="FF0000"/>
                </a:solidFill>
                <a:latin typeface="SimSun"/>
                <a:cs typeface="SimSun"/>
              </a:rPr>
              <a:t> </a:t>
            </a:r>
            <a:r>
              <a:rPr sz="2050" spc="55" dirty="0">
                <a:solidFill>
                  <a:srgbClr val="FF0000"/>
                </a:solidFill>
                <a:latin typeface="SimSun"/>
                <a:cs typeface="SimSun"/>
              </a:rPr>
              <a:t>0]</a:t>
            </a:r>
            <a:endParaRPr sz="2050">
              <a:latin typeface="SimSun"/>
              <a:cs typeface="SimSun"/>
            </a:endParaRPr>
          </a:p>
          <a:p>
            <a:pPr marL="1114425">
              <a:lnSpc>
                <a:spcPct val="100000"/>
              </a:lnSpc>
              <a:spcBef>
                <a:spcPts val="465"/>
              </a:spcBef>
            </a:pPr>
            <a:r>
              <a:rPr sz="2050" spc="55" dirty="0">
                <a:solidFill>
                  <a:srgbClr val="0000FF"/>
                </a:solidFill>
                <a:latin typeface="SimSun"/>
                <a:cs typeface="SimSun"/>
              </a:rPr>
              <a:t>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p:txBody>
      </p:sp>
      <p:sp>
        <p:nvSpPr>
          <p:cNvPr id="6" name="object 6"/>
          <p:cNvSpPr txBox="1"/>
          <p:nvPr/>
        </p:nvSpPr>
        <p:spPr>
          <a:xfrm>
            <a:off x="4470488" y="3856393"/>
            <a:ext cx="1678939" cy="709930"/>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[days &gt;</a:t>
            </a:r>
            <a:r>
              <a:rPr sz="2050" spc="-25" dirty="0">
                <a:solidFill>
                  <a:srgbClr val="FF0000"/>
                </a:solidFill>
                <a:latin typeface="SimSun"/>
                <a:cs typeface="SimSun"/>
              </a:rPr>
              <a:t> </a:t>
            </a:r>
            <a:r>
              <a:rPr sz="2050" spc="55" dirty="0">
                <a:solidFill>
                  <a:srgbClr val="FF0000"/>
                </a:solidFill>
                <a:latin typeface="SimSun"/>
                <a:cs typeface="SimSun"/>
              </a:rPr>
              <a:t>365]</a:t>
            </a:r>
            <a:endParaRPr sz="2050">
              <a:latin typeface="SimSun"/>
              <a:cs typeface="SimSun"/>
            </a:endParaRPr>
          </a:p>
          <a:p>
            <a:pPr marL="25400">
              <a:lnSpc>
                <a:spcPct val="100000"/>
              </a:lnSpc>
              <a:spcBef>
                <a:spcPts val="465"/>
              </a:spcBef>
            </a:pPr>
            <a:r>
              <a:rPr sz="2050" spc="55" dirty="0">
                <a:solidFill>
                  <a:srgbClr val="FF0000"/>
                </a:solidFill>
                <a:latin typeface="SimSun"/>
                <a:cs typeface="SimSun"/>
              </a:rPr>
              <a:t>[days &gt;</a:t>
            </a:r>
            <a:r>
              <a:rPr sz="2050" spc="-30" dirty="0">
                <a:solidFill>
                  <a:srgbClr val="FF0000"/>
                </a:solidFill>
                <a:latin typeface="SimSun"/>
                <a:cs typeface="SimSun"/>
              </a:rPr>
              <a:t> </a:t>
            </a:r>
            <a:r>
              <a:rPr sz="2050" spc="55" dirty="0">
                <a:solidFill>
                  <a:srgbClr val="FF0000"/>
                </a:solidFill>
                <a:latin typeface="SimSun"/>
                <a:cs typeface="SimSun"/>
              </a:rPr>
              <a:t>0]</a:t>
            </a:r>
            <a:endParaRPr sz="2050">
              <a:latin typeface="SimSun"/>
              <a:cs typeface="SimSun"/>
            </a:endParaRPr>
          </a:p>
        </p:txBody>
      </p:sp>
      <p:sp>
        <p:nvSpPr>
          <p:cNvPr id="7" name="object 7"/>
          <p:cNvSpPr txBox="1"/>
          <p:nvPr/>
        </p:nvSpPr>
        <p:spPr>
          <a:xfrm>
            <a:off x="1452740" y="3484803"/>
            <a:ext cx="2230120" cy="1825625"/>
          </a:xfrm>
          <a:prstGeom prst="rect">
            <a:avLst/>
          </a:prstGeom>
        </p:spPr>
        <p:txBody>
          <a:bodyPr vert="horz" wrap="square" lIns="0" tIns="0" rIns="0" bIns="0" rtlCol="0">
            <a:spAutoFit/>
          </a:bodyPr>
          <a:lstStyle/>
          <a:p>
            <a:pPr marL="563245">
              <a:lnSpc>
                <a:spcPct val="100000"/>
              </a:lnSpc>
            </a:pP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tabLst>
                <a:tab pos="281305" algn="l"/>
              </a:tabLst>
            </a:pPr>
            <a:r>
              <a:rPr sz="2050" spc="365" dirty="0">
                <a:solidFill>
                  <a:srgbClr val="0000FF"/>
                </a:solidFill>
                <a:latin typeface="Lucida Sans Unicode"/>
                <a:cs typeface="Lucida Sans Unicode"/>
              </a:rPr>
              <a:t>}	</a:t>
            </a:r>
            <a:r>
              <a:rPr sz="2050" spc="55" dirty="0">
                <a:solidFill>
                  <a:srgbClr val="0000FF"/>
                </a:solidFill>
                <a:latin typeface="SimSun"/>
                <a:cs typeface="SimSun"/>
              </a:rPr>
              <a:t>else</a:t>
            </a:r>
            <a:r>
              <a:rPr sz="2050" spc="-3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563245">
              <a:lnSpc>
                <a:spcPct val="100000"/>
              </a:lnSpc>
              <a:spcBef>
                <a:spcPts val="465"/>
              </a:spcBef>
            </a:pPr>
            <a:r>
              <a:rPr sz="2050" spc="55" dirty="0">
                <a:solidFill>
                  <a:srgbClr val="0000FF"/>
                </a:solidFill>
                <a:latin typeface="SimSun"/>
                <a:cs typeface="SimSun"/>
              </a:rPr>
              <a:t>days -=</a:t>
            </a:r>
            <a:r>
              <a:rPr sz="2050" spc="-25" dirty="0">
                <a:solidFill>
                  <a:srgbClr val="0000FF"/>
                </a:solidFill>
                <a:latin typeface="SimSun"/>
                <a:cs typeface="SimSun"/>
              </a:rPr>
              <a:t> </a:t>
            </a:r>
            <a:r>
              <a:rPr sz="2050" spc="55" dirty="0">
                <a:solidFill>
                  <a:srgbClr val="0000FF"/>
                </a:solidFill>
                <a:latin typeface="SimSun"/>
                <a:cs typeface="SimSun"/>
              </a:rPr>
              <a:t>365;</a:t>
            </a:r>
            <a:endParaRPr sz="2050">
              <a:latin typeface="SimSun"/>
              <a:cs typeface="SimSun"/>
            </a:endParaRPr>
          </a:p>
          <a:p>
            <a:pPr marL="563245">
              <a:lnSpc>
                <a:spcPct val="100000"/>
              </a:lnSpc>
              <a:spcBef>
                <a:spcPts val="465"/>
              </a:spcBef>
            </a:pPr>
            <a:r>
              <a:rPr sz="2050" spc="55" dirty="0">
                <a:solidFill>
                  <a:srgbClr val="0000FF"/>
                </a:solidFill>
                <a:latin typeface="SimSun"/>
                <a:cs typeface="SimSun"/>
              </a:rPr>
              <a:t>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a:p>
            <a:pPr marL="12700">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p:txBody>
      </p:sp>
      <p:sp>
        <p:nvSpPr>
          <p:cNvPr id="8" name="object 8"/>
          <p:cNvSpPr txBox="1"/>
          <p:nvPr/>
        </p:nvSpPr>
        <p:spPr>
          <a:xfrm>
            <a:off x="901697" y="5342750"/>
            <a:ext cx="3745229" cy="709930"/>
          </a:xfrm>
          <a:prstGeom prst="rect">
            <a:avLst/>
          </a:prstGeom>
        </p:spPr>
        <p:txBody>
          <a:bodyPr vert="horz" wrap="square" lIns="0" tIns="0" rIns="0" bIns="0" rtlCol="0">
            <a:spAutoFit/>
          </a:bodyPr>
          <a:lstStyle/>
          <a:p>
            <a:pPr marL="12700">
              <a:lnSpc>
                <a:spcPct val="100000"/>
              </a:lnSpc>
            </a:pP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pPr>
            <a:r>
              <a:rPr sz="2050" spc="55" dirty="0">
                <a:solidFill>
                  <a:srgbClr val="FF0000"/>
                </a:solidFill>
                <a:latin typeface="SimSun"/>
                <a:cs typeface="SimSun"/>
              </a:rPr>
              <a:t>[days &gt;= 0 and days &lt;=</a:t>
            </a:r>
            <a:r>
              <a:rPr sz="2050" spc="10" dirty="0">
                <a:solidFill>
                  <a:srgbClr val="FF0000"/>
                </a:solidFill>
                <a:latin typeface="SimSun"/>
                <a:cs typeface="SimSun"/>
              </a:rPr>
              <a:t> </a:t>
            </a:r>
            <a:r>
              <a:rPr sz="2050" spc="55" dirty="0">
                <a:solidFill>
                  <a:srgbClr val="FF0000"/>
                </a:solidFill>
                <a:latin typeface="SimSun"/>
                <a:cs typeface="SimSun"/>
              </a:rPr>
              <a:t>365]</a:t>
            </a:r>
            <a:endParaRPr sz="2050">
              <a:latin typeface="SimSun"/>
              <a:cs typeface="SimSun"/>
            </a:endParaRP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5981"/>
            <a:ext cx="7752715" cy="3058160"/>
          </a:xfrm>
          <a:prstGeom prst="rect">
            <a:avLst/>
          </a:prstGeom>
        </p:spPr>
        <p:txBody>
          <a:bodyPr vert="horz" wrap="square" lIns="0" tIns="0" rIns="0" bIns="0" rtlCol="0">
            <a:spAutoFit/>
          </a:bodyPr>
          <a:lstStyle/>
          <a:p>
            <a:pPr marL="1167130">
              <a:lnSpc>
                <a:spcPct val="100000"/>
              </a:lnSpc>
            </a:pPr>
            <a:r>
              <a:rPr sz="1950" spc="330" dirty="0">
                <a:solidFill>
                  <a:srgbClr val="231F20"/>
                </a:solidFill>
                <a:latin typeface="Arial"/>
                <a:cs typeface="Arial"/>
              </a:rPr>
              <a:t>Automated </a:t>
            </a:r>
            <a:r>
              <a:rPr sz="1950" spc="195" dirty="0">
                <a:solidFill>
                  <a:srgbClr val="231F20"/>
                </a:solidFill>
                <a:latin typeface="Arial"/>
                <a:cs typeface="Arial"/>
              </a:rPr>
              <a:t>Analysis </a:t>
            </a:r>
            <a:r>
              <a:rPr sz="1950" spc="280" dirty="0">
                <a:solidFill>
                  <a:srgbClr val="231F20"/>
                </a:solidFill>
                <a:latin typeface="Arial"/>
                <a:cs typeface="Arial"/>
              </a:rPr>
              <a:t>of </a:t>
            </a:r>
            <a:r>
              <a:rPr sz="1950" spc="285" dirty="0">
                <a:solidFill>
                  <a:srgbClr val="231F20"/>
                </a:solidFill>
                <a:latin typeface="Arial"/>
                <a:cs typeface="Arial"/>
              </a:rPr>
              <a:t>the </a:t>
            </a:r>
            <a:r>
              <a:rPr sz="1950" spc="290" dirty="0">
                <a:solidFill>
                  <a:srgbClr val="231F20"/>
                </a:solidFill>
                <a:latin typeface="Arial"/>
                <a:cs typeface="Arial"/>
              </a:rPr>
              <a:t>Zune</a:t>
            </a:r>
            <a:r>
              <a:rPr sz="1950" spc="715" dirty="0">
                <a:solidFill>
                  <a:srgbClr val="231F20"/>
                </a:solidFill>
                <a:latin typeface="Arial"/>
                <a:cs typeface="Arial"/>
              </a:rPr>
              <a:t> </a:t>
            </a:r>
            <a:r>
              <a:rPr sz="1950" spc="265" dirty="0">
                <a:solidFill>
                  <a:srgbClr val="231F20"/>
                </a:solidFill>
                <a:latin typeface="Arial"/>
                <a:cs typeface="Arial"/>
              </a:rPr>
              <a:t>Example</a:t>
            </a:r>
            <a:endParaRPr sz="1950">
              <a:latin typeface="Arial"/>
              <a:cs typeface="Arial"/>
            </a:endParaRPr>
          </a:p>
          <a:p>
            <a:pPr marL="300990" marR="222250" indent="-288290">
              <a:lnSpc>
                <a:spcPct val="125000"/>
              </a:lnSpc>
              <a:spcBef>
                <a:spcPts val="1030"/>
              </a:spcBef>
              <a:buSzPct val="105128"/>
              <a:buFont typeface="Lucida Sans Unicode"/>
              <a:buChar char="•"/>
              <a:tabLst>
                <a:tab pos="301625" algn="l"/>
              </a:tabLst>
            </a:pPr>
            <a:r>
              <a:rPr sz="1950" spc="110" dirty="0">
                <a:solidFill>
                  <a:srgbClr val="231F20"/>
                </a:solidFill>
                <a:latin typeface="Arial"/>
                <a:cs typeface="Arial"/>
              </a:rPr>
              <a:t>Ashish </a:t>
            </a:r>
            <a:r>
              <a:rPr sz="1950" spc="195" dirty="0">
                <a:solidFill>
                  <a:srgbClr val="231F20"/>
                </a:solidFill>
                <a:latin typeface="Arial"/>
                <a:cs typeface="Arial"/>
              </a:rPr>
              <a:t>Tiwari </a:t>
            </a:r>
            <a:r>
              <a:rPr sz="1950" spc="70" dirty="0">
                <a:solidFill>
                  <a:srgbClr val="231F20"/>
                </a:solidFill>
                <a:latin typeface="Arial"/>
                <a:cs typeface="Arial"/>
              </a:rPr>
              <a:t>has </a:t>
            </a:r>
            <a:r>
              <a:rPr sz="1950" spc="120" dirty="0">
                <a:solidFill>
                  <a:srgbClr val="231F20"/>
                </a:solidFill>
                <a:latin typeface="Arial"/>
                <a:cs typeface="Arial"/>
              </a:rPr>
              <a:t>an </a:t>
            </a:r>
            <a:r>
              <a:rPr sz="1950" spc="105" dirty="0">
                <a:solidFill>
                  <a:srgbClr val="231F20"/>
                </a:solidFill>
                <a:latin typeface="Arial"/>
                <a:cs typeface="Arial"/>
              </a:rPr>
              <a:t>analyzer </a:t>
            </a:r>
            <a:r>
              <a:rPr sz="1950" spc="155" dirty="0">
                <a:solidFill>
                  <a:srgbClr val="231F20"/>
                </a:solidFill>
                <a:latin typeface="Arial"/>
                <a:cs typeface="Arial"/>
              </a:rPr>
              <a:t>for </a:t>
            </a:r>
            <a:r>
              <a:rPr sz="1950" spc="175" dirty="0">
                <a:solidFill>
                  <a:srgbClr val="231F20"/>
                </a:solidFill>
                <a:latin typeface="Arial"/>
                <a:cs typeface="Arial"/>
              </a:rPr>
              <a:t>C </a:t>
            </a:r>
            <a:r>
              <a:rPr sz="1950" spc="135" dirty="0">
                <a:solidFill>
                  <a:srgbClr val="231F20"/>
                </a:solidFill>
                <a:latin typeface="Arial"/>
                <a:cs typeface="Arial"/>
              </a:rPr>
              <a:t>programs </a:t>
            </a:r>
            <a:r>
              <a:rPr sz="1950" spc="235" dirty="0">
                <a:solidFill>
                  <a:srgbClr val="231F20"/>
                </a:solidFill>
                <a:latin typeface="Arial"/>
                <a:cs typeface="Arial"/>
              </a:rPr>
              <a:t>that </a:t>
            </a:r>
            <a:r>
              <a:rPr sz="1950" spc="90" dirty="0">
                <a:solidFill>
                  <a:srgbClr val="231F20"/>
                </a:solidFill>
                <a:latin typeface="Arial"/>
                <a:cs typeface="Arial"/>
              </a:rPr>
              <a:t>does  </a:t>
            </a:r>
            <a:r>
              <a:rPr sz="1950" spc="160" dirty="0">
                <a:solidFill>
                  <a:srgbClr val="0000FF"/>
                </a:solidFill>
                <a:latin typeface="Arial"/>
                <a:cs typeface="Arial"/>
              </a:rPr>
              <a:t>abstract interpretation </a:t>
            </a:r>
            <a:r>
              <a:rPr sz="1950" spc="114" dirty="0">
                <a:solidFill>
                  <a:srgbClr val="231F20"/>
                </a:solidFill>
                <a:latin typeface="Arial"/>
                <a:cs typeface="Arial"/>
              </a:rPr>
              <a:t>over </a:t>
            </a:r>
            <a:r>
              <a:rPr sz="1950" spc="175" dirty="0">
                <a:solidFill>
                  <a:srgbClr val="231F20"/>
                </a:solidFill>
                <a:latin typeface="Arial"/>
                <a:cs typeface="Arial"/>
              </a:rPr>
              <a:t>the </a:t>
            </a:r>
            <a:r>
              <a:rPr sz="1950" spc="165" dirty="0">
                <a:solidFill>
                  <a:srgbClr val="FF0000"/>
                </a:solidFill>
                <a:latin typeface="Arial"/>
                <a:cs typeface="Arial"/>
              </a:rPr>
              <a:t>combination </a:t>
            </a:r>
            <a:r>
              <a:rPr sz="1950" spc="185" dirty="0">
                <a:solidFill>
                  <a:srgbClr val="FF0000"/>
                </a:solidFill>
                <a:latin typeface="Arial"/>
                <a:cs typeface="Arial"/>
              </a:rPr>
              <a:t>of </a:t>
            </a:r>
            <a:r>
              <a:rPr sz="1950" spc="95" dirty="0">
                <a:solidFill>
                  <a:srgbClr val="FF0000"/>
                </a:solidFill>
                <a:latin typeface="Arial"/>
                <a:cs typeface="Arial"/>
              </a:rPr>
              <a:t>linear  </a:t>
            </a:r>
            <a:r>
              <a:rPr sz="1950" spc="170" dirty="0">
                <a:solidFill>
                  <a:srgbClr val="FF0000"/>
                </a:solidFill>
                <a:latin typeface="Arial"/>
                <a:cs typeface="Arial"/>
              </a:rPr>
              <a:t>arithmetic </a:t>
            </a:r>
            <a:r>
              <a:rPr sz="1950" spc="130" dirty="0">
                <a:solidFill>
                  <a:srgbClr val="FF0000"/>
                </a:solidFill>
                <a:latin typeface="Arial"/>
                <a:cs typeface="Arial"/>
              </a:rPr>
              <a:t>and </a:t>
            </a:r>
            <a:r>
              <a:rPr sz="1950" spc="145" dirty="0">
                <a:solidFill>
                  <a:srgbClr val="FF0000"/>
                </a:solidFill>
                <a:latin typeface="Arial"/>
                <a:cs typeface="Arial"/>
              </a:rPr>
              <a:t>uninterpreted</a:t>
            </a:r>
            <a:r>
              <a:rPr sz="1950" spc="505" dirty="0">
                <a:solidFill>
                  <a:srgbClr val="FF0000"/>
                </a:solidFill>
                <a:latin typeface="Arial"/>
                <a:cs typeface="Arial"/>
              </a:rPr>
              <a:t> </a:t>
            </a:r>
            <a:r>
              <a:rPr sz="1950" spc="155" dirty="0">
                <a:solidFill>
                  <a:srgbClr val="FF0000"/>
                </a:solidFill>
                <a:latin typeface="Arial"/>
                <a:cs typeface="Arial"/>
              </a:rPr>
              <a:t>functions</a:t>
            </a:r>
            <a:endParaRPr sz="1950">
              <a:latin typeface="Arial"/>
              <a:cs typeface="Arial"/>
            </a:endParaRPr>
          </a:p>
          <a:p>
            <a:pPr marL="300990" indent="-288290">
              <a:lnSpc>
                <a:spcPct val="100000"/>
              </a:lnSpc>
              <a:spcBef>
                <a:spcPts val="994"/>
              </a:spcBef>
              <a:buSzPct val="105128"/>
              <a:buFont typeface="Lucida Sans Unicode"/>
              <a:buChar char="•"/>
              <a:tabLst>
                <a:tab pos="301625" algn="l"/>
              </a:tabLst>
            </a:pPr>
            <a:r>
              <a:rPr sz="1950" spc="150" dirty="0">
                <a:solidFill>
                  <a:srgbClr val="231F20"/>
                </a:solidFill>
                <a:latin typeface="Arial"/>
                <a:cs typeface="Arial"/>
              </a:rPr>
              <a:t>Primarily </a:t>
            </a:r>
            <a:r>
              <a:rPr sz="1950" spc="70" dirty="0">
                <a:solidFill>
                  <a:srgbClr val="231F20"/>
                </a:solidFill>
                <a:latin typeface="Arial"/>
                <a:cs typeface="Arial"/>
              </a:rPr>
              <a:t>used </a:t>
            </a:r>
            <a:r>
              <a:rPr sz="1950" spc="250" dirty="0">
                <a:solidFill>
                  <a:srgbClr val="231F20"/>
                </a:solidFill>
                <a:latin typeface="Arial"/>
                <a:cs typeface="Arial"/>
              </a:rPr>
              <a:t>to </a:t>
            </a:r>
            <a:r>
              <a:rPr sz="1950" spc="100" dirty="0">
                <a:solidFill>
                  <a:srgbClr val="0000FF"/>
                </a:solidFill>
                <a:latin typeface="Arial"/>
                <a:cs typeface="Arial"/>
              </a:rPr>
              <a:t>discover</a:t>
            </a:r>
            <a:r>
              <a:rPr sz="1950" spc="670" dirty="0">
                <a:solidFill>
                  <a:srgbClr val="0000FF"/>
                </a:solidFill>
                <a:latin typeface="Arial"/>
                <a:cs typeface="Arial"/>
              </a:rPr>
              <a:t> </a:t>
            </a:r>
            <a:r>
              <a:rPr sz="1950" spc="125" dirty="0">
                <a:solidFill>
                  <a:srgbClr val="0000FF"/>
                </a:solidFill>
                <a:latin typeface="Arial"/>
                <a:cs typeface="Arial"/>
              </a:rPr>
              <a:t>invariants</a:t>
            </a:r>
            <a:endParaRPr sz="1950">
              <a:latin typeface="Arial"/>
              <a:cs typeface="Arial"/>
            </a:endParaRPr>
          </a:p>
          <a:p>
            <a:pPr marL="300990" indent="-288290">
              <a:lnSpc>
                <a:spcPts val="2170"/>
              </a:lnSpc>
              <a:spcBef>
                <a:spcPts val="1000"/>
              </a:spcBef>
              <a:buSzPct val="105128"/>
              <a:buFont typeface="Lucida Sans Unicode"/>
              <a:buChar char="•"/>
              <a:tabLst>
                <a:tab pos="301625" algn="l"/>
              </a:tabLst>
            </a:pPr>
            <a:r>
              <a:rPr sz="1950" spc="275" dirty="0">
                <a:solidFill>
                  <a:srgbClr val="231F20"/>
                </a:solidFill>
                <a:latin typeface="Arial"/>
                <a:cs typeface="Arial"/>
              </a:rPr>
              <a:t>But </a:t>
            </a:r>
            <a:r>
              <a:rPr sz="1950" spc="95" dirty="0">
                <a:solidFill>
                  <a:srgbClr val="231F20"/>
                </a:solidFill>
                <a:latin typeface="Arial"/>
                <a:cs typeface="Arial"/>
              </a:rPr>
              <a:t>we </a:t>
            </a:r>
            <a:r>
              <a:rPr sz="1950" spc="120" dirty="0">
                <a:solidFill>
                  <a:srgbClr val="231F20"/>
                </a:solidFill>
                <a:latin typeface="Arial"/>
                <a:cs typeface="Arial"/>
              </a:rPr>
              <a:t>can </a:t>
            </a:r>
            <a:r>
              <a:rPr sz="1950" spc="145" dirty="0">
                <a:solidFill>
                  <a:srgbClr val="231F20"/>
                </a:solidFill>
                <a:latin typeface="Arial"/>
                <a:cs typeface="Arial"/>
              </a:rPr>
              <a:t>illustrate </a:t>
            </a:r>
            <a:r>
              <a:rPr sz="1950" spc="229" dirty="0">
                <a:solidFill>
                  <a:srgbClr val="231F20"/>
                </a:solidFill>
                <a:latin typeface="Arial"/>
                <a:cs typeface="Arial"/>
              </a:rPr>
              <a:t>it </a:t>
            </a:r>
            <a:r>
              <a:rPr sz="1950" spc="155" dirty="0">
                <a:solidFill>
                  <a:srgbClr val="231F20"/>
                </a:solidFill>
                <a:latin typeface="Arial"/>
                <a:cs typeface="Arial"/>
              </a:rPr>
              <a:t>on </a:t>
            </a:r>
            <a:r>
              <a:rPr sz="1950" spc="145" dirty="0">
                <a:solidFill>
                  <a:srgbClr val="231F20"/>
                </a:solidFill>
                <a:latin typeface="Arial"/>
                <a:cs typeface="Arial"/>
              </a:rPr>
              <a:t>this </a:t>
            </a:r>
            <a:r>
              <a:rPr sz="1950" spc="210" dirty="0">
                <a:solidFill>
                  <a:srgbClr val="231F20"/>
                </a:solidFill>
                <a:latin typeface="Arial"/>
                <a:cs typeface="Arial"/>
              </a:rPr>
              <a:t> </a:t>
            </a:r>
            <a:r>
              <a:rPr sz="1950" spc="114" dirty="0">
                <a:solidFill>
                  <a:srgbClr val="231F20"/>
                </a:solidFill>
                <a:latin typeface="Arial"/>
                <a:cs typeface="Arial"/>
              </a:rPr>
              <a:t>example</a:t>
            </a:r>
            <a:endParaRPr sz="1950">
              <a:latin typeface="Arial"/>
              <a:cs typeface="Arial"/>
            </a:endParaRPr>
          </a:p>
          <a:p>
            <a:pPr marL="300990">
              <a:lnSpc>
                <a:spcPts val="2290"/>
              </a:lnSpc>
            </a:pPr>
            <a:r>
              <a:rPr sz="2050" spc="55" dirty="0">
                <a:solidFill>
                  <a:srgbClr val="0000FF"/>
                </a:solidFill>
                <a:latin typeface="SimSun"/>
                <a:cs typeface="SimSun"/>
              </a:rPr>
              <a:t>abs-li</a:t>
            </a:r>
            <a:r>
              <a:rPr sz="2050" spc="-35" dirty="0">
                <a:solidFill>
                  <a:srgbClr val="0000FF"/>
                </a:solidFill>
                <a:latin typeface="SimSun"/>
                <a:cs typeface="SimSun"/>
              </a:rPr>
              <a:t> </a:t>
            </a:r>
            <a:r>
              <a:rPr sz="2050" spc="55" dirty="0">
                <a:solidFill>
                  <a:srgbClr val="0000FF"/>
                </a:solidFill>
                <a:latin typeface="SimSun"/>
                <a:cs typeface="SimSun"/>
              </a:rPr>
              <a:t>zune.c</a:t>
            </a:r>
            <a:endParaRPr sz="2050">
              <a:latin typeface="SimSun"/>
              <a:cs typeface="SimSun"/>
            </a:endParaRPr>
          </a:p>
          <a:p>
            <a:pPr marL="300990">
              <a:lnSpc>
                <a:spcPct val="100000"/>
              </a:lnSpc>
              <a:spcBef>
                <a:spcPts val="465"/>
              </a:spcBef>
            </a:pPr>
            <a:r>
              <a:rPr sz="2050" spc="55" dirty="0">
                <a:solidFill>
                  <a:srgbClr val="0000FF"/>
                </a:solidFill>
                <a:latin typeface="SimSun"/>
                <a:cs typeface="SimSun"/>
              </a:rPr>
              <a:t>-------------------FINAL</a:t>
            </a:r>
            <a:r>
              <a:rPr sz="2050" spc="-40" dirty="0">
                <a:solidFill>
                  <a:srgbClr val="0000FF"/>
                </a:solidFill>
                <a:latin typeface="SimSun"/>
                <a:cs typeface="SimSun"/>
              </a:rPr>
              <a:t> </a:t>
            </a:r>
            <a:r>
              <a:rPr sz="2050" spc="55" dirty="0">
                <a:solidFill>
                  <a:srgbClr val="0000FF"/>
                </a:solidFill>
                <a:latin typeface="SimSun"/>
                <a:cs typeface="SimSun"/>
              </a:rPr>
              <a:t>Invariants-------------------</a:t>
            </a:r>
            <a:endParaRPr sz="2050">
              <a:latin typeface="SimSun"/>
              <a:cs typeface="SimSun"/>
            </a:endParaRPr>
          </a:p>
        </p:txBody>
      </p:sp>
      <p:sp>
        <p:nvSpPr>
          <p:cNvPr id="3" name="object 3"/>
          <p:cNvSpPr txBox="1"/>
          <p:nvPr/>
        </p:nvSpPr>
        <p:spPr>
          <a:xfrm>
            <a:off x="1185162" y="3567099"/>
            <a:ext cx="2229485" cy="709930"/>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days &gt;=</a:t>
            </a:r>
            <a:r>
              <a:rPr sz="2050" spc="-25" dirty="0">
                <a:solidFill>
                  <a:srgbClr val="0000FF"/>
                </a:solidFill>
                <a:latin typeface="SimSun"/>
                <a:cs typeface="SimSun"/>
              </a:rPr>
              <a:t> </a:t>
            </a:r>
            <a:r>
              <a:rPr sz="2050" spc="55" dirty="0">
                <a:solidFill>
                  <a:srgbClr val="0000FF"/>
                </a:solidFill>
                <a:latin typeface="SimSun"/>
                <a:cs typeface="SimSun"/>
              </a:rPr>
              <a:t>1.000000</a:t>
            </a:r>
            <a:endParaRPr sz="2050">
              <a:latin typeface="SimSun"/>
              <a:cs typeface="SimSun"/>
            </a:endParaRPr>
          </a:p>
          <a:p>
            <a:pPr marL="12700">
              <a:lnSpc>
                <a:spcPct val="100000"/>
              </a:lnSpc>
              <a:spcBef>
                <a:spcPts val="465"/>
              </a:spcBef>
            </a:pPr>
            <a:r>
              <a:rPr sz="2050" spc="55" dirty="0">
                <a:solidFill>
                  <a:srgbClr val="0000FF"/>
                </a:solidFill>
                <a:latin typeface="SimSun"/>
                <a:cs typeface="SimSun"/>
              </a:rPr>
              <a:t>loop &gt;=</a:t>
            </a:r>
            <a:r>
              <a:rPr sz="2050" spc="-25" dirty="0">
                <a:solidFill>
                  <a:srgbClr val="0000FF"/>
                </a:solidFill>
                <a:latin typeface="SimSun"/>
                <a:cs typeface="SimSun"/>
              </a:rPr>
              <a:t> </a:t>
            </a:r>
            <a:r>
              <a:rPr sz="2050" spc="55" dirty="0">
                <a:solidFill>
                  <a:srgbClr val="0000FF"/>
                </a:solidFill>
                <a:latin typeface="SimSun"/>
                <a:cs typeface="SimSun"/>
              </a:rPr>
              <a:t>0.000000</a:t>
            </a:r>
            <a:endParaRPr sz="2050">
              <a:latin typeface="SimSun"/>
              <a:cs typeface="SimSun"/>
            </a:endParaRPr>
          </a:p>
        </p:txBody>
      </p:sp>
      <p:sp>
        <p:nvSpPr>
          <p:cNvPr id="4" name="object 4"/>
          <p:cNvSpPr txBox="1"/>
          <p:nvPr/>
        </p:nvSpPr>
        <p:spPr>
          <a:xfrm>
            <a:off x="3664906" y="3567099"/>
            <a:ext cx="2505075" cy="709930"/>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days &lt;=</a:t>
            </a:r>
            <a:r>
              <a:rPr sz="2050" spc="-25" dirty="0">
                <a:solidFill>
                  <a:srgbClr val="0000FF"/>
                </a:solidFill>
                <a:latin typeface="SimSun"/>
                <a:cs typeface="SimSun"/>
              </a:rPr>
              <a:t> </a:t>
            </a:r>
            <a:r>
              <a:rPr sz="2050" spc="55" dirty="0">
                <a:solidFill>
                  <a:srgbClr val="0000FF"/>
                </a:solidFill>
                <a:latin typeface="SimSun"/>
                <a:cs typeface="SimSun"/>
              </a:rPr>
              <a:t>365.000000</a:t>
            </a:r>
            <a:endParaRPr sz="2050">
              <a:latin typeface="SimSun"/>
              <a:cs typeface="SimSun"/>
            </a:endParaRPr>
          </a:p>
          <a:p>
            <a:pPr marL="12700">
              <a:lnSpc>
                <a:spcPct val="100000"/>
              </a:lnSpc>
              <a:spcBef>
                <a:spcPts val="465"/>
              </a:spcBef>
            </a:pPr>
            <a:r>
              <a:rPr sz="2050" spc="55" dirty="0">
                <a:solidFill>
                  <a:srgbClr val="0000FF"/>
                </a:solidFill>
                <a:latin typeface="SimSun"/>
                <a:cs typeface="SimSun"/>
              </a:rPr>
              <a:t>loop &lt;=</a:t>
            </a:r>
            <a:r>
              <a:rPr sz="2050" spc="-25" dirty="0">
                <a:solidFill>
                  <a:srgbClr val="0000FF"/>
                </a:solidFill>
                <a:latin typeface="SimSun"/>
                <a:cs typeface="SimSun"/>
              </a:rPr>
              <a:t> </a:t>
            </a:r>
            <a:r>
              <a:rPr sz="2050" spc="55" dirty="0">
                <a:solidFill>
                  <a:srgbClr val="0000FF"/>
                </a:solidFill>
                <a:latin typeface="SimSun"/>
                <a:cs typeface="SimSun"/>
              </a:rPr>
              <a:t>1.000000</a:t>
            </a:r>
            <a:endParaRPr sz="2050">
              <a:latin typeface="SimSun"/>
              <a:cs typeface="SimSun"/>
            </a:endParaRPr>
          </a:p>
        </p:txBody>
      </p:sp>
      <p:sp>
        <p:nvSpPr>
          <p:cNvPr id="5" name="object 5"/>
          <p:cNvSpPr txBox="1"/>
          <p:nvPr/>
        </p:nvSpPr>
        <p:spPr>
          <a:xfrm>
            <a:off x="896442" y="4244225"/>
            <a:ext cx="8260715" cy="2413000"/>
          </a:xfrm>
          <a:prstGeom prst="rect">
            <a:avLst/>
          </a:prstGeom>
        </p:spPr>
        <p:txBody>
          <a:bodyPr vert="horz" wrap="square" lIns="0" tIns="0" rIns="0" bIns="0" rtlCol="0">
            <a:spAutoFit/>
          </a:bodyPr>
          <a:lstStyle/>
          <a:p>
            <a:pPr marL="300990">
              <a:lnSpc>
                <a:spcPct val="100000"/>
              </a:lnSpc>
            </a:pPr>
            <a:r>
              <a:rPr sz="1950" spc="185" dirty="0">
                <a:solidFill>
                  <a:srgbClr val="231F20"/>
                </a:solidFill>
                <a:latin typeface="Arial"/>
                <a:cs typeface="Arial"/>
              </a:rPr>
              <a:t>Monitoring </a:t>
            </a:r>
            <a:r>
              <a:rPr sz="1950" spc="95" dirty="0">
                <a:solidFill>
                  <a:srgbClr val="231F20"/>
                </a:solidFill>
                <a:latin typeface="Arial"/>
                <a:cs typeface="Arial"/>
              </a:rPr>
              <a:t>variable </a:t>
            </a:r>
            <a:r>
              <a:rPr sz="1950" spc="160" dirty="0">
                <a:solidFill>
                  <a:srgbClr val="0000FF"/>
                </a:solidFill>
                <a:latin typeface="Arial"/>
                <a:cs typeface="Arial"/>
              </a:rPr>
              <a:t>loop </a:t>
            </a:r>
            <a:r>
              <a:rPr sz="1950" spc="120" dirty="0">
                <a:solidFill>
                  <a:srgbClr val="231F20"/>
                </a:solidFill>
                <a:latin typeface="Arial"/>
                <a:cs typeface="Arial"/>
              </a:rPr>
              <a:t>can </a:t>
            </a:r>
            <a:r>
              <a:rPr sz="1950" spc="105" dirty="0">
                <a:solidFill>
                  <a:srgbClr val="231F20"/>
                </a:solidFill>
                <a:latin typeface="Arial"/>
                <a:cs typeface="Arial"/>
              </a:rPr>
              <a:t>equal </a:t>
            </a:r>
            <a:r>
              <a:rPr sz="1950" spc="155" dirty="0">
                <a:solidFill>
                  <a:srgbClr val="231F20"/>
                </a:solidFill>
                <a:latin typeface="Arial"/>
                <a:cs typeface="Arial"/>
              </a:rPr>
              <a:t>1 </a:t>
            </a:r>
            <a:r>
              <a:rPr sz="1950" spc="105" dirty="0">
                <a:solidFill>
                  <a:srgbClr val="231F20"/>
                </a:solidFill>
                <a:latin typeface="Arial"/>
                <a:cs typeface="Arial"/>
              </a:rPr>
              <a:t>means </a:t>
            </a:r>
            <a:r>
              <a:rPr sz="1950" spc="160" dirty="0">
                <a:solidFill>
                  <a:srgbClr val="231F20"/>
                </a:solidFill>
                <a:latin typeface="Arial"/>
                <a:cs typeface="Arial"/>
              </a:rPr>
              <a:t>program </a:t>
            </a:r>
            <a:r>
              <a:rPr sz="1950" spc="120" dirty="0">
                <a:solidFill>
                  <a:srgbClr val="231F20"/>
                </a:solidFill>
                <a:latin typeface="Arial"/>
                <a:cs typeface="Arial"/>
              </a:rPr>
              <a:t>can </a:t>
            </a:r>
            <a:r>
              <a:rPr sz="1950" spc="235" dirty="0">
                <a:solidFill>
                  <a:srgbClr val="231F20"/>
                </a:solidFill>
                <a:latin typeface="Arial"/>
                <a:cs typeface="Arial"/>
              </a:rPr>
              <a:t> </a:t>
            </a:r>
            <a:r>
              <a:rPr sz="1950" spc="160" dirty="0">
                <a:solidFill>
                  <a:srgbClr val="231F20"/>
                </a:solidFill>
                <a:latin typeface="Arial"/>
                <a:cs typeface="Arial"/>
              </a:rPr>
              <a:t>loop</a:t>
            </a:r>
            <a:endParaRPr sz="1950">
              <a:latin typeface="Arial"/>
              <a:cs typeface="Arial"/>
            </a:endParaRPr>
          </a:p>
          <a:p>
            <a:pPr marL="300990" indent="-288290">
              <a:lnSpc>
                <a:spcPts val="2170"/>
              </a:lnSpc>
              <a:spcBef>
                <a:spcPts val="994"/>
              </a:spcBef>
              <a:buSzPct val="105128"/>
              <a:buFont typeface="Lucida Sans Unicode"/>
              <a:buChar char="•"/>
              <a:tabLst>
                <a:tab pos="301625" algn="l"/>
              </a:tabLst>
            </a:pPr>
            <a:r>
              <a:rPr sz="1950" spc="175" dirty="0">
                <a:solidFill>
                  <a:srgbClr val="231F20"/>
                </a:solidFill>
                <a:latin typeface="Arial"/>
                <a:cs typeface="Arial"/>
              </a:rPr>
              <a:t>Now the </a:t>
            </a:r>
            <a:r>
              <a:rPr sz="1950" spc="130" dirty="0">
                <a:solidFill>
                  <a:srgbClr val="231F20"/>
                </a:solidFill>
                <a:latin typeface="Arial"/>
                <a:cs typeface="Arial"/>
              </a:rPr>
              <a:t>hastily </a:t>
            </a:r>
            <a:r>
              <a:rPr sz="1950" spc="125" dirty="0">
                <a:solidFill>
                  <a:srgbClr val="231F20"/>
                </a:solidFill>
                <a:latin typeface="Arial"/>
                <a:cs typeface="Arial"/>
              </a:rPr>
              <a:t>fixed</a:t>
            </a:r>
            <a:r>
              <a:rPr sz="1950" spc="575" dirty="0">
                <a:solidFill>
                  <a:srgbClr val="231F20"/>
                </a:solidFill>
                <a:latin typeface="Arial"/>
                <a:cs typeface="Arial"/>
              </a:rPr>
              <a:t> </a:t>
            </a:r>
            <a:r>
              <a:rPr sz="1950" spc="100" dirty="0">
                <a:solidFill>
                  <a:srgbClr val="231F20"/>
                </a:solidFill>
                <a:latin typeface="Arial"/>
                <a:cs typeface="Arial"/>
              </a:rPr>
              <a:t>version</a:t>
            </a:r>
            <a:endParaRPr sz="1950">
              <a:latin typeface="Arial"/>
              <a:cs typeface="Arial"/>
            </a:endParaRPr>
          </a:p>
          <a:p>
            <a:pPr marL="300990">
              <a:lnSpc>
                <a:spcPts val="2290"/>
              </a:lnSpc>
            </a:pPr>
            <a:r>
              <a:rPr sz="2050" spc="55" dirty="0">
                <a:solidFill>
                  <a:srgbClr val="0000FF"/>
                </a:solidFill>
                <a:latin typeface="SimSun"/>
                <a:cs typeface="SimSun"/>
              </a:rPr>
              <a:t>abs-li</a:t>
            </a:r>
            <a:r>
              <a:rPr sz="2050" spc="-35" dirty="0">
                <a:solidFill>
                  <a:srgbClr val="0000FF"/>
                </a:solidFill>
                <a:latin typeface="SimSun"/>
                <a:cs typeface="SimSun"/>
              </a:rPr>
              <a:t> </a:t>
            </a:r>
            <a:r>
              <a:rPr sz="2050" spc="55" dirty="0">
                <a:solidFill>
                  <a:srgbClr val="0000FF"/>
                </a:solidFill>
                <a:latin typeface="SimSun"/>
                <a:cs typeface="SimSun"/>
              </a:rPr>
              <a:t>zune2.c</a:t>
            </a:r>
            <a:endParaRPr sz="2050">
              <a:latin typeface="SimSun"/>
              <a:cs typeface="SimSun"/>
            </a:endParaRPr>
          </a:p>
          <a:p>
            <a:pPr marL="300990" marR="512445">
              <a:lnSpc>
                <a:spcPct val="118900"/>
              </a:lnSpc>
              <a:tabLst>
                <a:tab pos="2780665" algn="l"/>
              </a:tabLst>
            </a:pPr>
            <a:r>
              <a:rPr sz="2050" spc="55" dirty="0">
                <a:solidFill>
                  <a:srgbClr val="0000FF"/>
                </a:solidFill>
                <a:latin typeface="SimSun"/>
                <a:cs typeface="SimSun"/>
              </a:rPr>
              <a:t>-------------------FINAL Invariants-------------------  days</a:t>
            </a:r>
            <a:r>
              <a:rPr sz="2050" spc="735" dirty="0">
                <a:solidFill>
                  <a:srgbClr val="0000FF"/>
                </a:solidFill>
                <a:latin typeface="SimSun"/>
                <a:cs typeface="SimSun"/>
              </a:rPr>
              <a:t> </a:t>
            </a:r>
            <a:r>
              <a:rPr sz="2050" spc="55" dirty="0">
                <a:solidFill>
                  <a:srgbClr val="0000FF"/>
                </a:solidFill>
                <a:latin typeface="SimSun"/>
                <a:cs typeface="SimSun"/>
              </a:rPr>
              <a:t>&gt;=</a:t>
            </a:r>
            <a:r>
              <a:rPr sz="2050" spc="735" dirty="0">
                <a:solidFill>
                  <a:srgbClr val="0000FF"/>
                </a:solidFill>
                <a:latin typeface="SimSun"/>
                <a:cs typeface="SimSun"/>
              </a:rPr>
              <a:t> </a:t>
            </a:r>
            <a:r>
              <a:rPr sz="2050" spc="55" dirty="0">
                <a:solidFill>
                  <a:srgbClr val="0000FF"/>
                </a:solidFill>
                <a:latin typeface="SimSun"/>
                <a:cs typeface="SimSun"/>
              </a:rPr>
              <a:t>0.000000	days &lt;=</a:t>
            </a:r>
            <a:r>
              <a:rPr sz="2050" spc="-25" dirty="0">
                <a:solidFill>
                  <a:srgbClr val="0000FF"/>
                </a:solidFill>
                <a:latin typeface="SimSun"/>
                <a:cs typeface="SimSun"/>
              </a:rPr>
              <a:t> </a:t>
            </a:r>
            <a:r>
              <a:rPr sz="2050" spc="55" dirty="0">
                <a:solidFill>
                  <a:srgbClr val="0000FF"/>
                </a:solidFill>
                <a:latin typeface="SimSun"/>
                <a:cs typeface="SimSun"/>
              </a:rPr>
              <a:t>365.000000</a:t>
            </a:r>
            <a:endParaRPr sz="2050">
              <a:latin typeface="SimSun"/>
              <a:cs typeface="SimSun"/>
            </a:endParaRPr>
          </a:p>
          <a:p>
            <a:pPr marL="300990">
              <a:lnSpc>
                <a:spcPts val="2435"/>
              </a:lnSpc>
              <a:spcBef>
                <a:spcPts val="465"/>
              </a:spcBef>
            </a:pPr>
            <a:r>
              <a:rPr sz="2050" spc="55" dirty="0">
                <a:solidFill>
                  <a:srgbClr val="0000FF"/>
                </a:solidFill>
                <a:latin typeface="SimSun"/>
                <a:cs typeface="SimSun"/>
              </a:rPr>
              <a:t>loop =</a:t>
            </a:r>
            <a:r>
              <a:rPr sz="2050" spc="-25" dirty="0">
                <a:solidFill>
                  <a:srgbClr val="0000FF"/>
                </a:solidFill>
                <a:latin typeface="SimSun"/>
                <a:cs typeface="SimSun"/>
              </a:rPr>
              <a:t> </a:t>
            </a:r>
            <a:r>
              <a:rPr sz="2050" spc="55" dirty="0">
                <a:solidFill>
                  <a:srgbClr val="0000FF"/>
                </a:solidFill>
                <a:latin typeface="SimSun"/>
                <a:cs typeface="SimSun"/>
              </a:rPr>
              <a:t>0.000000</a:t>
            </a:r>
            <a:endParaRPr sz="2050">
              <a:latin typeface="SimSun"/>
              <a:cs typeface="SimSun"/>
            </a:endParaRPr>
          </a:p>
          <a:p>
            <a:pPr marL="300990">
              <a:lnSpc>
                <a:spcPts val="2315"/>
              </a:lnSpc>
            </a:pPr>
            <a:r>
              <a:rPr sz="1950" spc="175" dirty="0">
                <a:solidFill>
                  <a:srgbClr val="231F20"/>
                </a:solidFill>
                <a:latin typeface="Arial"/>
                <a:cs typeface="Arial"/>
              </a:rPr>
              <a:t>Now </a:t>
            </a:r>
            <a:r>
              <a:rPr sz="1950" spc="229" dirty="0">
                <a:solidFill>
                  <a:srgbClr val="231F20"/>
                </a:solidFill>
                <a:latin typeface="Arial"/>
                <a:cs typeface="Arial"/>
              </a:rPr>
              <a:t>it </a:t>
            </a:r>
            <a:r>
              <a:rPr sz="1950" spc="90" dirty="0">
                <a:solidFill>
                  <a:srgbClr val="231F20"/>
                </a:solidFill>
                <a:latin typeface="Arial"/>
                <a:cs typeface="Arial"/>
              </a:rPr>
              <a:t>does </a:t>
            </a:r>
            <a:r>
              <a:rPr sz="1950" spc="220" dirty="0">
                <a:solidFill>
                  <a:srgbClr val="231F20"/>
                </a:solidFill>
                <a:latin typeface="Arial"/>
                <a:cs typeface="Arial"/>
              </a:rPr>
              <a:t>not </a:t>
            </a:r>
            <a:r>
              <a:rPr sz="1950" spc="155" dirty="0">
                <a:solidFill>
                  <a:srgbClr val="231F20"/>
                </a:solidFill>
                <a:latin typeface="Arial"/>
                <a:cs typeface="Arial"/>
              </a:rPr>
              <a:t>loop, </a:t>
            </a:r>
            <a:r>
              <a:rPr sz="1950" spc="220" dirty="0">
                <a:solidFill>
                  <a:srgbClr val="231F20"/>
                </a:solidFill>
                <a:latin typeface="Arial"/>
                <a:cs typeface="Arial"/>
              </a:rPr>
              <a:t>but </a:t>
            </a:r>
            <a:r>
              <a:rPr sz="1950" spc="65" dirty="0">
                <a:solidFill>
                  <a:srgbClr val="0000FF"/>
                </a:solidFill>
                <a:latin typeface="Arial"/>
                <a:cs typeface="Arial"/>
              </a:rPr>
              <a:t>days </a:t>
            </a:r>
            <a:r>
              <a:rPr sz="1950" spc="120" dirty="0">
                <a:solidFill>
                  <a:srgbClr val="231F20"/>
                </a:solidFill>
                <a:latin typeface="Arial"/>
                <a:cs typeface="Arial"/>
              </a:rPr>
              <a:t>can </a:t>
            </a:r>
            <a:r>
              <a:rPr sz="1950" spc="114" dirty="0">
                <a:solidFill>
                  <a:srgbClr val="231F20"/>
                </a:solidFill>
                <a:latin typeface="Arial"/>
                <a:cs typeface="Arial"/>
              </a:rPr>
              <a:t>be </a:t>
            </a:r>
            <a:r>
              <a:rPr sz="1950" spc="565" dirty="0">
                <a:solidFill>
                  <a:srgbClr val="231F20"/>
                </a:solidFill>
                <a:latin typeface="Arial"/>
                <a:cs typeface="Arial"/>
              </a:rPr>
              <a:t> </a:t>
            </a:r>
            <a:r>
              <a:rPr sz="1950" spc="155" dirty="0">
                <a:solidFill>
                  <a:srgbClr val="231F20"/>
                </a:solidFill>
                <a:latin typeface="Arial"/>
                <a:cs typeface="Arial"/>
              </a:rPr>
              <a:t>0</a:t>
            </a:r>
            <a:endParaRPr sz="1950">
              <a:latin typeface="Arial"/>
              <a:cs typeface="Arial"/>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254365" cy="5826125"/>
          </a:xfrm>
          <a:prstGeom prst="rect">
            <a:avLst/>
          </a:prstGeom>
        </p:spPr>
        <p:txBody>
          <a:bodyPr vert="horz" wrap="square" lIns="0" tIns="0" rIns="0" bIns="0" rtlCol="0">
            <a:spAutoFit/>
          </a:bodyPr>
          <a:lstStyle/>
          <a:p>
            <a:pPr marL="12065" algn="ctr">
              <a:lnSpc>
                <a:spcPct val="100000"/>
              </a:lnSpc>
            </a:pPr>
            <a:r>
              <a:rPr sz="1950" spc="254" dirty="0">
                <a:solidFill>
                  <a:srgbClr val="231F20"/>
                </a:solidFill>
                <a:latin typeface="Arial"/>
                <a:cs typeface="Arial"/>
              </a:rPr>
              <a:t>Approximations</a:t>
            </a:r>
            <a:endParaRPr sz="1950">
              <a:latin typeface="Arial"/>
              <a:cs typeface="Arial"/>
            </a:endParaRPr>
          </a:p>
          <a:p>
            <a:pPr marL="300990" marR="316230" indent="-288290">
              <a:lnSpc>
                <a:spcPct val="125000"/>
              </a:lnSpc>
              <a:spcBef>
                <a:spcPts val="1055"/>
              </a:spcBef>
              <a:buSzPct val="105128"/>
              <a:buFont typeface="Lucida Sans Unicode"/>
              <a:buChar char="•"/>
              <a:tabLst>
                <a:tab pos="301625" algn="l"/>
              </a:tabLst>
            </a:pPr>
            <a:r>
              <a:rPr sz="1950" spc="195" dirty="0">
                <a:solidFill>
                  <a:srgbClr val="231F20"/>
                </a:solidFill>
                <a:latin typeface="Arial"/>
                <a:cs typeface="Arial"/>
              </a:rPr>
              <a:t>We </a:t>
            </a:r>
            <a:r>
              <a:rPr sz="1950" spc="90" dirty="0">
                <a:solidFill>
                  <a:srgbClr val="231F20"/>
                </a:solidFill>
                <a:latin typeface="Arial"/>
                <a:cs typeface="Arial"/>
              </a:rPr>
              <a:t>were </a:t>
            </a:r>
            <a:r>
              <a:rPr sz="1950" spc="140" dirty="0">
                <a:solidFill>
                  <a:srgbClr val="231F20"/>
                </a:solidFill>
                <a:latin typeface="Arial"/>
                <a:cs typeface="Arial"/>
              </a:rPr>
              <a:t>lucky </a:t>
            </a:r>
            <a:r>
              <a:rPr sz="1950" spc="235" dirty="0">
                <a:solidFill>
                  <a:srgbClr val="231F20"/>
                </a:solidFill>
                <a:latin typeface="Arial"/>
                <a:cs typeface="Arial"/>
              </a:rPr>
              <a:t>that </a:t>
            </a:r>
            <a:r>
              <a:rPr sz="1950" spc="95" dirty="0">
                <a:solidFill>
                  <a:srgbClr val="231F20"/>
                </a:solidFill>
                <a:latin typeface="Arial"/>
                <a:cs typeface="Arial"/>
              </a:rPr>
              <a:t>we </a:t>
            </a:r>
            <a:r>
              <a:rPr sz="1950" spc="140" dirty="0">
                <a:solidFill>
                  <a:srgbClr val="231F20"/>
                </a:solidFill>
                <a:latin typeface="Arial"/>
                <a:cs typeface="Arial"/>
              </a:rPr>
              <a:t>could </a:t>
            </a:r>
            <a:r>
              <a:rPr sz="1950" spc="155" dirty="0">
                <a:solidFill>
                  <a:srgbClr val="231F20"/>
                </a:solidFill>
                <a:latin typeface="Arial"/>
                <a:cs typeface="Arial"/>
              </a:rPr>
              <a:t>do </a:t>
            </a:r>
            <a:r>
              <a:rPr sz="1950" spc="175" dirty="0">
                <a:solidFill>
                  <a:srgbClr val="231F20"/>
                </a:solidFill>
                <a:latin typeface="Arial"/>
                <a:cs typeface="Arial"/>
              </a:rPr>
              <a:t>the </a:t>
            </a:r>
            <a:r>
              <a:rPr sz="1950" spc="95" dirty="0">
                <a:solidFill>
                  <a:srgbClr val="231F20"/>
                </a:solidFill>
                <a:latin typeface="Arial"/>
                <a:cs typeface="Arial"/>
              </a:rPr>
              <a:t>previous </a:t>
            </a:r>
            <a:r>
              <a:rPr sz="1950" spc="114" dirty="0">
                <a:solidFill>
                  <a:srgbClr val="231F20"/>
                </a:solidFill>
                <a:latin typeface="Arial"/>
                <a:cs typeface="Arial"/>
              </a:rPr>
              <a:t>example </a:t>
            </a:r>
            <a:r>
              <a:rPr sz="1950" spc="215" dirty="0">
                <a:solidFill>
                  <a:srgbClr val="231F20"/>
                </a:solidFill>
                <a:latin typeface="Arial"/>
                <a:cs typeface="Arial"/>
              </a:rPr>
              <a:t>with  </a:t>
            </a:r>
            <a:r>
              <a:rPr sz="1950" spc="150" dirty="0">
                <a:solidFill>
                  <a:srgbClr val="231F20"/>
                </a:solidFill>
                <a:latin typeface="Arial"/>
                <a:cs typeface="Arial"/>
              </a:rPr>
              <a:t>full </a:t>
            </a:r>
            <a:r>
              <a:rPr sz="1950" spc="140" dirty="0">
                <a:solidFill>
                  <a:srgbClr val="231F20"/>
                </a:solidFill>
                <a:latin typeface="Arial"/>
                <a:cs typeface="Arial"/>
              </a:rPr>
              <a:t>symbolic</a:t>
            </a:r>
            <a:r>
              <a:rPr sz="1950" spc="345" dirty="0">
                <a:solidFill>
                  <a:srgbClr val="231F20"/>
                </a:solidFill>
                <a:latin typeface="Arial"/>
                <a:cs typeface="Arial"/>
              </a:rPr>
              <a:t> </a:t>
            </a:r>
            <a:r>
              <a:rPr sz="1950" spc="170" dirty="0">
                <a:solidFill>
                  <a:srgbClr val="231F20"/>
                </a:solidFill>
                <a:latin typeface="Arial"/>
                <a:cs typeface="Arial"/>
              </a:rPr>
              <a:t>arithmetic</a:t>
            </a:r>
            <a:endParaRPr sz="1950">
              <a:latin typeface="Arial"/>
              <a:cs typeface="Arial"/>
            </a:endParaRPr>
          </a:p>
          <a:p>
            <a:pPr marL="300990" marR="5080" indent="-288290">
              <a:lnSpc>
                <a:spcPct val="125000"/>
              </a:lnSpc>
              <a:spcBef>
                <a:spcPts val="1055"/>
              </a:spcBef>
              <a:buSzPct val="105128"/>
              <a:buFont typeface="Lucida Sans Unicode"/>
              <a:buChar char="•"/>
              <a:tabLst>
                <a:tab pos="301625" algn="l"/>
              </a:tabLst>
            </a:pPr>
            <a:r>
              <a:rPr sz="1950" spc="85" dirty="0">
                <a:solidFill>
                  <a:srgbClr val="231F20"/>
                </a:solidFill>
                <a:latin typeface="Arial"/>
                <a:cs typeface="Arial"/>
              </a:rPr>
              <a:t>Usually, </a:t>
            </a:r>
            <a:r>
              <a:rPr sz="1950" spc="175" dirty="0">
                <a:solidFill>
                  <a:srgbClr val="231F20"/>
                </a:solidFill>
                <a:latin typeface="Arial"/>
                <a:cs typeface="Arial"/>
              </a:rPr>
              <a:t>the </a:t>
            </a:r>
            <a:r>
              <a:rPr sz="1950" spc="135" dirty="0">
                <a:solidFill>
                  <a:srgbClr val="231F20"/>
                </a:solidFill>
                <a:latin typeface="Arial"/>
                <a:cs typeface="Arial"/>
              </a:rPr>
              <a:t>formulas </a:t>
            </a:r>
            <a:r>
              <a:rPr sz="1950" spc="170" dirty="0">
                <a:solidFill>
                  <a:srgbClr val="231F20"/>
                </a:solidFill>
                <a:latin typeface="Arial"/>
                <a:cs typeface="Arial"/>
              </a:rPr>
              <a:t>get </a:t>
            </a:r>
            <a:r>
              <a:rPr sz="1950" spc="125" dirty="0">
                <a:solidFill>
                  <a:srgbClr val="0000FF"/>
                </a:solidFill>
                <a:latin typeface="Arial"/>
                <a:cs typeface="Arial"/>
              </a:rPr>
              <a:t>bigger </a:t>
            </a:r>
            <a:r>
              <a:rPr sz="1950" spc="130" dirty="0">
                <a:solidFill>
                  <a:srgbClr val="0000FF"/>
                </a:solidFill>
                <a:latin typeface="Arial"/>
                <a:cs typeface="Arial"/>
              </a:rPr>
              <a:t>and </a:t>
            </a:r>
            <a:r>
              <a:rPr sz="1950" spc="125" dirty="0">
                <a:solidFill>
                  <a:srgbClr val="0000FF"/>
                </a:solidFill>
                <a:latin typeface="Arial"/>
                <a:cs typeface="Arial"/>
              </a:rPr>
              <a:t>bigger </a:t>
            </a:r>
            <a:r>
              <a:rPr sz="1950" spc="30" dirty="0">
                <a:solidFill>
                  <a:srgbClr val="231F20"/>
                </a:solidFill>
                <a:latin typeface="Arial"/>
                <a:cs typeface="Arial"/>
              </a:rPr>
              <a:t>as </a:t>
            </a:r>
            <a:r>
              <a:rPr sz="1950" spc="95" dirty="0">
                <a:solidFill>
                  <a:srgbClr val="231F20"/>
                </a:solidFill>
                <a:latin typeface="Arial"/>
                <a:cs typeface="Arial"/>
              </a:rPr>
              <a:t>we </a:t>
            </a:r>
            <a:r>
              <a:rPr sz="1950" spc="150" dirty="0">
                <a:solidFill>
                  <a:srgbClr val="231F20"/>
                </a:solidFill>
                <a:latin typeface="Arial"/>
                <a:cs typeface="Arial"/>
              </a:rPr>
              <a:t>accumulate  </a:t>
            </a:r>
            <a:r>
              <a:rPr sz="1950" spc="170" dirty="0">
                <a:solidFill>
                  <a:srgbClr val="231F20"/>
                </a:solidFill>
                <a:latin typeface="Arial"/>
                <a:cs typeface="Arial"/>
              </a:rPr>
              <a:t>information </a:t>
            </a:r>
            <a:r>
              <a:rPr sz="1950" spc="210" dirty="0">
                <a:solidFill>
                  <a:srgbClr val="231F20"/>
                </a:solidFill>
                <a:latin typeface="Arial"/>
                <a:cs typeface="Arial"/>
              </a:rPr>
              <a:t>from </a:t>
            </a:r>
            <a:r>
              <a:rPr sz="1950" spc="160" dirty="0">
                <a:solidFill>
                  <a:srgbClr val="231F20"/>
                </a:solidFill>
                <a:latin typeface="Arial"/>
                <a:cs typeface="Arial"/>
              </a:rPr>
              <a:t>loop </a:t>
            </a:r>
            <a:r>
              <a:rPr sz="1950" spc="145" dirty="0">
                <a:solidFill>
                  <a:srgbClr val="231F20"/>
                </a:solidFill>
                <a:latin typeface="Arial"/>
                <a:cs typeface="Arial"/>
              </a:rPr>
              <a:t>iterations </a:t>
            </a:r>
            <a:r>
              <a:rPr sz="1950" spc="160" dirty="0">
                <a:solidFill>
                  <a:srgbClr val="231F20"/>
                </a:solidFill>
                <a:latin typeface="Arial"/>
                <a:cs typeface="Arial"/>
              </a:rPr>
              <a:t>(we’ll </a:t>
            </a:r>
            <a:r>
              <a:rPr sz="1950" dirty="0">
                <a:solidFill>
                  <a:srgbClr val="231F20"/>
                </a:solidFill>
                <a:latin typeface="Arial"/>
                <a:cs typeface="Arial"/>
              </a:rPr>
              <a:t>see  </a:t>
            </a:r>
            <a:r>
              <a:rPr sz="1950" spc="120" dirty="0">
                <a:solidFill>
                  <a:srgbClr val="231F20"/>
                </a:solidFill>
                <a:latin typeface="Arial"/>
                <a:cs typeface="Arial"/>
              </a:rPr>
              <a:t>an </a:t>
            </a:r>
            <a:r>
              <a:rPr sz="1950" spc="114" dirty="0">
                <a:solidFill>
                  <a:srgbClr val="231F20"/>
                </a:solidFill>
                <a:latin typeface="Arial"/>
                <a:cs typeface="Arial"/>
              </a:rPr>
              <a:t>example  </a:t>
            </a:r>
            <a:r>
              <a:rPr sz="1950" spc="175" dirty="0">
                <a:solidFill>
                  <a:srgbClr val="231F20"/>
                </a:solidFill>
                <a:latin typeface="Arial"/>
                <a:cs typeface="Arial"/>
              </a:rPr>
              <a:t>later)</a:t>
            </a:r>
            <a:endParaRPr sz="1950">
              <a:latin typeface="Arial"/>
              <a:cs typeface="Arial"/>
            </a:endParaRPr>
          </a:p>
          <a:p>
            <a:pPr marL="300990" marR="399415" indent="-288290">
              <a:lnSpc>
                <a:spcPct val="125000"/>
              </a:lnSpc>
              <a:spcBef>
                <a:spcPts val="1055"/>
              </a:spcBef>
              <a:buSzPct val="105128"/>
              <a:buFont typeface="Lucida Sans Unicode"/>
              <a:buChar char="•"/>
              <a:tabLst>
                <a:tab pos="301625" algn="l"/>
              </a:tabLst>
            </a:pPr>
            <a:r>
              <a:rPr sz="1950" spc="114" dirty="0">
                <a:solidFill>
                  <a:srgbClr val="231F20"/>
                </a:solidFill>
                <a:latin typeface="Arial"/>
                <a:cs typeface="Arial"/>
              </a:rPr>
              <a:t>So </a:t>
            </a:r>
            <a:r>
              <a:rPr sz="1950" spc="170" dirty="0">
                <a:solidFill>
                  <a:srgbClr val="231F20"/>
                </a:solidFill>
                <a:latin typeface="Arial"/>
                <a:cs typeface="Arial"/>
              </a:rPr>
              <a:t>it’s </a:t>
            </a:r>
            <a:r>
              <a:rPr sz="1950" spc="195" dirty="0">
                <a:solidFill>
                  <a:srgbClr val="231F20"/>
                </a:solidFill>
                <a:latin typeface="Arial"/>
                <a:cs typeface="Arial"/>
              </a:rPr>
              <a:t>common </a:t>
            </a:r>
            <a:r>
              <a:rPr sz="1950" spc="250" dirty="0">
                <a:solidFill>
                  <a:srgbClr val="231F20"/>
                </a:solidFill>
                <a:latin typeface="Arial"/>
                <a:cs typeface="Arial"/>
              </a:rPr>
              <a:t>to </a:t>
            </a:r>
            <a:r>
              <a:rPr sz="1950" spc="140" dirty="0">
                <a:solidFill>
                  <a:srgbClr val="FF0000"/>
                </a:solidFill>
                <a:latin typeface="Arial"/>
                <a:cs typeface="Arial"/>
              </a:rPr>
              <a:t>approximate </a:t>
            </a:r>
            <a:r>
              <a:rPr sz="1950" spc="130" dirty="0">
                <a:solidFill>
                  <a:srgbClr val="231F20"/>
                </a:solidFill>
                <a:latin typeface="Arial"/>
                <a:cs typeface="Arial"/>
              </a:rPr>
              <a:t>or </a:t>
            </a:r>
            <a:r>
              <a:rPr sz="1950" spc="160" dirty="0">
                <a:solidFill>
                  <a:srgbClr val="FF0000"/>
                </a:solidFill>
                <a:latin typeface="Arial"/>
                <a:cs typeface="Arial"/>
              </a:rPr>
              <a:t>abstract </a:t>
            </a:r>
            <a:r>
              <a:rPr sz="1950" spc="170" dirty="0">
                <a:solidFill>
                  <a:srgbClr val="231F20"/>
                </a:solidFill>
                <a:latin typeface="Arial"/>
                <a:cs typeface="Arial"/>
              </a:rPr>
              <a:t>information </a:t>
            </a:r>
            <a:r>
              <a:rPr sz="1950" spc="250" dirty="0">
                <a:solidFill>
                  <a:srgbClr val="231F20"/>
                </a:solidFill>
                <a:latin typeface="Arial"/>
                <a:cs typeface="Arial"/>
              </a:rPr>
              <a:t>to  </a:t>
            </a:r>
            <a:r>
              <a:rPr sz="1950" spc="215" dirty="0">
                <a:solidFill>
                  <a:srgbClr val="231F20"/>
                </a:solidFill>
                <a:latin typeface="Arial"/>
                <a:cs typeface="Arial"/>
              </a:rPr>
              <a:t>try </a:t>
            </a:r>
            <a:r>
              <a:rPr sz="1950" spc="130" dirty="0">
                <a:solidFill>
                  <a:srgbClr val="231F20"/>
                </a:solidFill>
                <a:latin typeface="Arial"/>
                <a:cs typeface="Arial"/>
              </a:rPr>
              <a:t>and </a:t>
            </a:r>
            <a:r>
              <a:rPr sz="1950" spc="75" dirty="0">
                <a:solidFill>
                  <a:srgbClr val="231F20"/>
                </a:solidFill>
                <a:latin typeface="Arial"/>
                <a:cs typeface="Arial"/>
              </a:rPr>
              <a:t>keep </a:t>
            </a:r>
            <a:r>
              <a:rPr sz="1950" spc="175" dirty="0">
                <a:solidFill>
                  <a:srgbClr val="231F20"/>
                </a:solidFill>
                <a:latin typeface="Arial"/>
                <a:cs typeface="Arial"/>
              </a:rPr>
              <a:t>the </a:t>
            </a:r>
            <a:r>
              <a:rPr sz="1950" spc="135" dirty="0">
                <a:solidFill>
                  <a:srgbClr val="231F20"/>
                </a:solidFill>
                <a:latin typeface="Arial"/>
                <a:cs typeface="Arial"/>
              </a:rPr>
              <a:t>formulas</a:t>
            </a:r>
            <a:r>
              <a:rPr sz="1950" spc="785" dirty="0">
                <a:solidFill>
                  <a:srgbClr val="231F20"/>
                </a:solidFill>
                <a:latin typeface="Arial"/>
                <a:cs typeface="Arial"/>
              </a:rPr>
              <a:t> </a:t>
            </a:r>
            <a:r>
              <a:rPr sz="1950" spc="114" dirty="0">
                <a:solidFill>
                  <a:srgbClr val="231F20"/>
                </a:solidFill>
                <a:latin typeface="Arial"/>
                <a:cs typeface="Arial"/>
              </a:rPr>
              <a:t>manageable</a:t>
            </a:r>
            <a:endParaRPr sz="1950">
              <a:latin typeface="Arial"/>
              <a:cs typeface="Arial"/>
            </a:endParaRPr>
          </a:p>
          <a:p>
            <a:pPr marL="300990" marR="281940" indent="-288290">
              <a:lnSpc>
                <a:spcPct val="125000"/>
              </a:lnSpc>
              <a:spcBef>
                <a:spcPts val="1055"/>
              </a:spcBef>
              <a:buSzPct val="105128"/>
              <a:buFont typeface="Lucida Sans Unicode"/>
              <a:buChar char="•"/>
              <a:tabLst>
                <a:tab pos="301625" algn="l"/>
              </a:tabLst>
            </a:pPr>
            <a:r>
              <a:rPr sz="1950" spc="110" dirty="0">
                <a:solidFill>
                  <a:srgbClr val="231F20"/>
                </a:solidFill>
                <a:latin typeface="Arial"/>
                <a:cs typeface="Arial"/>
              </a:rPr>
              <a:t>Here, </a:t>
            </a:r>
            <a:r>
              <a:rPr sz="1950" spc="120" dirty="0">
                <a:solidFill>
                  <a:srgbClr val="231F20"/>
                </a:solidFill>
                <a:latin typeface="Arial"/>
                <a:cs typeface="Arial"/>
              </a:rPr>
              <a:t>instead </a:t>
            </a:r>
            <a:r>
              <a:rPr sz="1950" spc="185" dirty="0">
                <a:solidFill>
                  <a:srgbClr val="231F20"/>
                </a:solidFill>
                <a:latin typeface="Arial"/>
                <a:cs typeface="Arial"/>
              </a:rPr>
              <a:t>of </a:t>
            </a:r>
            <a:r>
              <a:rPr sz="1950" spc="175" dirty="0">
                <a:solidFill>
                  <a:srgbClr val="231F20"/>
                </a:solidFill>
                <a:latin typeface="Arial"/>
                <a:cs typeface="Arial"/>
              </a:rPr>
              <a:t>the </a:t>
            </a:r>
            <a:r>
              <a:rPr sz="1950" spc="160" dirty="0">
                <a:solidFill>
                  <a:srgbClr val="231F20"/>
                </a:solidFill>
                <a:latin typeface="Arial"/>
                <a:cs typeface="Arial"/>
              </a:rPr>
              <a:t>natural </a:t>
            </a:r>
            <a:r>
              <a:rPr sz="1950" spc="140" dirty="0">
                <a:solidFill>
                  <a:srgbClr val="231F20"/>
                </a:solidFill>
                <a:latin typeface="Arial"/>
                <a:cs typeface="Arial"/>
              </a:rPr>
              <a:t>numbers </a:t>
            </a:r>
            <a:r>
              <a:rPr sz="1950" spc="150" dirty="0">
                <a:solidFill>
                  <a:srgbClr val="231F20"/>
                </a:solidFill>
                <a:latin typeface="Arial"/>
                <a:cs typeface="Arial"/>
              </a:rPr>
              <a:t>0, 1, 2, </a:t>
            </a:r>
            <a:r>
              <a:rPr sz="1950" spc="145" dirty="0">
                <a:solidFill>
                  <a:srgbClr val="231F20"/>
                </a:solidFill>
                <a:latin typeface="Arial"/>
                <a:cs typeface="Arial"/>
              </a:rPr>
              <a:t>. . . , </a:t>
            </a:r>
            <a:r>
              <a:rPr sz="1950" spc="95" dirty="0">
                <a:solidFill>
                  <a:srgbClr val="231F20"/>
                </a:solidFill>
                <a:latin typeface="Arial"/>
                <a:cs typeface="Arial"/>
              </a:rPr>
              <a:t>we </a:t>
            </a:r>
            <a:r>
              <a:rPr sz="1950" spc="140" dirty="0">
                <a:solidFill>
                  <a:srgbClr val="231F20"/>
                </a:solidFill>
                <a:latin typeface="Arial"/>
                <a:cs typeface="Arial"/>
              </a:rPr>
              <a:t>could  </a:t>
            </a:r>
            <a:r>
              <a:rPr sz="1950" spc="45" dirty="0">
                <a:solidFill>
                  <a:srgbClr val="231F20"/>
                </a:solidFill>
                <a:latin typeface="Arial"/>
                <a:cs typeface="Arial"/>
              </a:rPr>
              <a:t>use</a:t>
            </a:r>
            <a:endParaRPr sz="1950">
              <a:latin typeface="Arial"/>
              <a:cs typeface="Arial"/>
            </a:endParaRPr>
          </a:p>
          <a:p>
            <a:pPr marL="741680" lvl="1" indent="-288290">
              <a:lnSpc>
                <a:spcPct val="100000"/>
              </a:lnSpc>
              <a:spcBef>
                <a:spcPts val="905"/>
              </a:spcBef>
              <a:buClr>
                <a:srgbClr val="231F20"/>
              </a:buClr>
              <a:buFont typeface="Lucida Sans Unicode"/>
              <a:buChar char="◦"/>
              <a:tabLst>
                <a:tab pos="742315" algn="l"/>
              </a:tabLst>
            </a:pPr>
            <a:r>
              <a:rPr sz="2050" spc="55" dirty="0">
                <a:solidFill>
                  <a:srgbClr val="0000FF"/>
                </a:solidFill>
                <a:latin typeface="SimSun"/>
                <a:cs typeface="SimSun"/>
              </a:rPr>
              <a:t>zero, small,</a:t>
            </a:r>
            <a:r>
              <a:rPr sz="2050" spc="-25" dirty="0">
                <a:solidFill>
                  <a:srgbClr val="0000FF"/>
                </a:solidFill>
                <a:latin typeface="SimSun"/>
                <a:cs typeface="SimSun"/>
              </a:rPr>
              <a:t> </a:t>
            </a:r>
            <a:r>
              <a:rPr sz="2050" spc="55" dirty="0">
                <a:solidFill>
                  <a:srgbClr val="0000FF"/>
                </a:solidFill>
                <a:latin typeface="SimSun"/>
                <a:cs typeface="SimSun"/>
              </a:rPr>
              <a:t>big</a:t>
            </a:r>
            <a:endParaRPr sz="2050">
              <a:latin typeface="SimSun"/>
              <a:cs typeface="SimSun"/>
            </a:endParaRPr>
          </a:p>
          <a:p>
            <a:pPr marL="741680" marR="124460" lvl="1" indent="-288290">
              <a:lnSpc>
                <a:spcPct val="118900"/>
              </a:lnSpc>
              <a:spcBef>
                <a:spcPts val="210"/>
              </a:spcBef>
              <a:buSzPct val="105128"/>
              <a:buFont typeface="Lucida Sans Unicode"/>
              <a:buChar char="◦"/>
              <a:tabLst>
                <a:tab pos="742315" algn="l"/>
              </a:tabLst>
            </a:pPr>
            <a:r>
              <a:rPr sz="1950" spc="160" dirty="0">
                <a:solidFill>
                  <a:srgbClr val="231F20"/>
                </a:solidFill>
                <a:latin typeface="Arial"/>
                <a:cs typeface="Arial"/>
              </a:rPr>
              <a:t>Where </a:t>
            </a:r>
            <a:r>
              <a:rPr sz="2050" spc="55" dirty="0">
                <a:solidFill>
                  <a:srgbClr val="0000FF"/>
                </a:solidFill>
                <a:latin typeface="SimSun"/>
                <a:cs typeface="SimSun"/>
              </a:rPr>
              <a:t>big </a:t>
            </a:r>
            <a:r>
              <a:rPr sz="1950" spc="140" dirty="0">
                <a:solidFill>
                  <a:srgbClr val="231F20"/>
                </a:solidFill>
                <a:latin typeface="Arial"/>
                <a:cs typeface="Arial"/>
              </a:rPr>
              <a:t>abstracts </a:t>
            </a:r>
            <a:r>
              <a:rPr sz="1950" spc="135" dirty="0">
                <a:solidFill>
                  <a:srgbClr val="231F20"/>
                </a:solidFill>
                <a:latin typeface="Arial"/>
                <a:cs typeface="Arial"/>
              </a:rPr>
              <a:t>everything </a:t>
            </a:r>
            <a:r>
              <a:rPr sz="1950" spc="125" dirty="0">
                <a:solidFill>
                  <a:srgbClr val="231F20"/>
                </a:solidFill>
                <a:latin typeface="Arial"/>
                <a:cs typeface="Arial"/>
              </a:rPr>
              <a:t>bigger </a:t>
            </a:r>
            <a:r>
              <a:rPr sz="1950" spc="185" dirty="0">
                <a:solidFill>
                  <a:srgbClr val="231F20"/>
                </a:solidFill>
                <a:latin typeface="Arial"/>
                <a:cs typeface="Arial"/>
              </a:rPr>
              <a:t>than </a:t>
            </a:r>
            <a:r>
              <a:rPr sz="1950" spc="150" dirty="0">
                <a:solidFill>
                  <a:srgbClr val="231F20"/>
                </a:solidFill>
                <a:latin typeface="Arial"/>
                <a:cs typeface="Arial"/>
              </a:rPr>
              <a:t>365, </a:t>
            </a:r>
            <a:r>
              <a:rPr sz="2050" spc="55" dirty="0">
                <a:solidFill>
                  <a:srgbClr val="0000FF"/>
                </a:solidFill>
                <a:latin typeface="SimSun"/>
                <a:cs typeface="SimSun"/>
              </a:rPr>
              <a:t>small </a:t>
            </a:r>
            <a:r>
              <a:rPr sz="1950" spc="40" dirty="0">
                <a:solidFill>
                  <a:srgbClr val="231F20"/>
                </a:solidFill>
                <a:latin typeface="Arial"/>
                <a:cs typeface="Arial"/>
              </a:rPr>
              <a:t>is  </a:t>
            </a:r>
            <a:r>
              <a:rPr sz="1950" spc="135" dirty="0">
                <a:solidFill>
                  <a:srgbClr val="231F20"/>
                </a:solidFill>
                <a:latin typeface="Arial"/>
                <a:cs typeface="Arial"/>
              </a:rPr>
              <a:t>everything </a:t>
            </a:r>
            <a:r>
              <a:rPr sz="1950" spc="210" dirty="0">
                <a:solidFill>
                  <a:srgbClr val="231F20"/>
                </a:solidFill>
                <a:latin typeface="Arial"/>
                <a:cs typeface="Arial"/>
              </a:rPr>
              <a:t>from </a:t>
            </a:r>
            <a:r>
              <a:rPr sz="1950" spc="155" dirty="0">
                <a:solidFill>
                  <a:srgbClr val="231F20"/>
                </a:solidFill>
                <a:latin typeface="Arial"/>
                <a:cs typeface="Arial"/>
              </a:rPr>
              <a:t>1 </a:t>
            </a:r>
            <a:r>
              <a:rPr sz="1950" spc="250" dirty="0">
                <a:solidFill>
                  <a:srgbClr val="231F20"/>
                </a:solidFill>
                <a:latin typeface="Arial"/>
                <a:cs typeface="Arial"/>
              </a:rPr>
              <a:t>to </a:t>
            </a:r>
            <a:r>
              <a:rPr sz="1950" spc="150" dirty="0">
                <a:solidFill>
                  <a:srgbClr val="231F20"/>
                </a:solidFill>
                <a:latin typeface="Arial"/>
                <a:cs typeface="Arial"/>
              </a:rPr>
              <a:t>365, </a:t>
            </a:r>
            <a:r>
              <a:rPr sz="1950" spc="130" dirty="0">
                <a:solidFill>
                  <a:srgbClr val="231F20"/>
                </a:solidFill>
                <a:latin typeface="Arial"/>
                <a:cs typeface="Arial"/>
              </a:rPr>
              <a:t>and </a:t>
            </a:r>
            <a:r>
              <a:rPr sz="2050" spc="55" dirty="0">
                <a:solidFill>
                  <a:srgbClr val="0000FF"/>
                </a:solidFill>
                <a:latin typeface="SimSun"/>
                <a:cs typeface="SimSun"/>
              </a:rPr>
              <a:t>zero </a:t>
            </a:r>
            <a:r>
              <a:rPr sz="1950" spc="40" dirty="0">
                <a:solidFill>
                  <a:srgbClr val="231F20"/>
                </a:solidFill>
                <a:latin typeface="Arial"/>
                <a:cs typeface="Arial"/>
              </a:rPr>
              <a:t>is </a:t>
            </a:r>
            <a:r>
              <a:rPr sz="1950" spc="80" dirty="0">
                <a:solidFill>
                  <a:srgbClr val="231F20"/>
                </a:solidFill>
                <a:latin typeface="Arial"/>
                <a:cs typeface="Arial"/>
              </a:rPr>
              <a:t> </a:t>
            </a:r>
            <a:r>
              <a:rPr sz="1950" spc="155" dirty="0">
                <a:solidFill>
                  <a:srgbClr val="231F20"/>
                </a:solidFill>
                <a:latin typeface="Arial"/>
                <a:cs typeface="Arial"/>
              </a:rPr>
              <a:t>0</a:t>
            </a:r>
            <a:endParaRPr sz="1950">
              <a:latin typeface="Arial"/>
              <a:cs typeface="Arial"/>
            </a:endParaRPr>
          </a:p>
          <a:p>
            <a:pPr marL="741680" lvl="1" indent="-288290">
              <a:lnSpc>
                <a:spcPct val="100000"/>
              </a:lnSpc>
              <a:spcBef>
                <a:spcPts val="775"/>
              </a:spcBef>
              <a:buSzPct val="105128"/>
              <a:buFont typeface="Lucida Sans Unicode"/>
              <a:buChar char="◦"/>
              <a:tabLst>
                <a:tab pos="742315" algn="l"/>
              </a:tabLst>
            </a:pPr>
            <a:r>
              <a:rPr sz="1950" spc="195" dirty="0">
                <a:solidFill>
                  <a:srgbClr val="231F20"/>
                </a:solidFill>
                <a:latin typeface="Arial"/>
                <a:cs typeface="Arial"/>
              </a:rPr>
              <a:t>Arithmetic </a:t>
            </a:r>
            <a:r>
              <a:rPr sz="1950" spc="110" dirty="0">
                <a:solidFill>
                  <a:srgbClr val="231F20"/>
                </a:solidFill>
                <a:latin typeface="Arial"/>
                <a:cs typeface="Arial"/>
              </a:rPr>
              <a:t>becomes</a:t>
            </a:r>
            <a:r>
              <a:rPr sz="1950" spc="370" dirty="0">
                <a:solidFill>
                  <a:srgbClr val="231F20"/>
                </a:solidFill>
                <a:latin typeface="Arial"/>
                <a:cs typeface="Arial"/>
              </a:rPr>
              <a:t> </a:t>
            </a:r>
            <a:r>
              <a:rPr sz="1950" spc="150" dirty="0">
                <a:solidFill>
                  <a:srgbClr val="FF0000"/>
                </a:solidFill>
                <a:latin typeface="Arial"/>
                <a:cs typeface="Arial"/>
              </a:rPr>
              <a:t>nondeterministic</a:t>
            </a:r>
            <a:endParaRPr sz="1950">
              <a:latin typeface="Arial"/>
              <a:cs typeface="Arial"/>
            </a:endParaRPr>
          </a:p>
          <a:p>
            <a:pPr marL="768350">
              <a:lnSpc>
                <a:spcPct val="100000"/>
              </a:lnSpc>
              <a:spcBef>
                <a:spcPts val="695"/>
              </a:spcBef>
              <a:tabLst>
                <a:tab pos="1056640" algn="l"/>
              </a:tabLst>
            </a:pPr>
            <a:r>
              <a:rPr sz="2050" i="1" spc="-620" dirty="0">
                <a:solidFill>
                  <a:srgbClr val="231F20"/>
                </a:solidFill>
                <a:latin typeface="Meiryo"/>
                <a:cs typeface="Meiryo"/>
              </a:rPr>
              <a:t>⋆	</a:t>
            </a:r>
            <a:r>
              <a:rPr sz="1950" spc="114" dirty="0">
                <a:solidFill>
                  <a:srgbClr val="231F20"/>
                </a:solidFill>
                <a:latin typeface="Arial"/>
                <a:cs typeface="Arial"/>
              </a:rPr>
              <a:t>e.g., </a:t>
            </a:r>
            <a:r>
              <a:rPr sz="2050" spc="55" dirty="0">
                <a:solidFill>
                  <a:srgbClr val="0000FF"/>
                </a:solidFill>
                <a:latin typeface="SimSun"/>
                <a:cs typeface="SimSun"/>
              </a:rPr>
              <a:t>small+small </a:t>
            </a:r>
            <a:r>
              <a:rPr sz="1950" spc="785" dirty="0">
                <a:solidFill>
                  <a:srgbClr val="231F20"/>
                </a:solidFill>
                <a:latin typeface="Arial"/>
                <a:cs typeface="Arial"/>
              </a:rPr>
              <a:t>= </a:t>
            </a:r>
            <a:r>
              <a:rPr sz="2050" spc="55" dirty="0">
                <a:solidFill>
                  <a:srgbClr val="0000FF"/>
                </a:solidFill>
                <a:latin typeface="SimSun"/>
                <a:cs typeface="SimSun"/>
              </a:rPr>
              <a:t>small |</a:t>
            </a:r>
            <a:r>
              <a:rPr sz="2050" spc="-585" dirty="0">
                <a:solidFill>
                  <a:srgbClr val="0000FF"/>
                </a:solidFill>
                <a:latin typeface="SimSun"/>
                <a:cs typeface="SimSun"/>
              </a:rPr>
              <a:t> </a:t>
            </a:r>
            <a:r>
              <a:rPr sz="2050" spc="55" dirty="0">
                <a:solidFill>
                  <a:srgbClr val="0000FF"/>
                </a:solidFill>
                <a:latin typeface="SimSun"/>
                <a:cs typeface="SimSun"/>
              </a:rPr>
              <a:t>big</a:t>
            </a:r>
            <a:endParaRPr sz="2050">
              <a:latin typeface="SimSun"/>
              <a:cs typeface="SimSun"/>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827883" y="870316"/>
            <a:ext cx="4403725" cy="29718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90" dirty="0">
                <a:solidFill>
                  <a:srgbClr val="231F20"/>
                </a:solidFill>
                <a:latin typeface="Arial"/>
                <a:cs typeface="Arial"/>
              </a:rPr>
              <a:t>Zune </a:t>
            </a:r>
            <a:r>
              <a:rPr sz="1950" spc="265" dirty="0">
                <a:solidFill>
                  <a:srgbClr val="231F20"/>
                </a:solidFill>
                <a:latin typeface="Arial"/>
                <a:cs typeface="Arial"/>
              </a:rPr>
              <a:t>Example</a:t>
            </a:r>
            <a:r>
              <a:rPr sz="1950" spc="385" dirty="0">
                <a:solidFill>
                  <a:srgbClr val="231F20"/>
                </a:solidFill>
                <a:latin typeface="Arial"/>
                <a:cs typeface="Arial"/>
              </a:rPr>
              <a:t> </a:t>
            </a:r>
            <a:r>
              <a:rPr sz="1950" spc="275" dirty="0">
                <a:solidFill>
                  <a:srgbClr val="231F20"/>
                </a:solidFill>
                <a:latin typeface="Arial"/>
                <a:cs typeface="Arial"/>
              </a:rPr>
              <a:t>Abstracted</a:t>
            </a:r>
            <a:endParaRPr sz="1950">
              <a:latin typeface="Arial"/>
              <a:cs typeface="Arial"/>
            </a:endParaRPr>
          </a:p>
        </p:txBody>
      </p:sp>
      <p:sp>
        <p:nvSpPr>
          <p:cNvPr id="3" name="object 3"/>
          <p:cNvSpPr txBox="1">
            <a:spLocks noGrp="1"/>
          </p:cNvSpPr>
          <p:nvPr>
            <p:ph type="title"/>
          </p:nvPr>
        </p:nvSpPr>
        <p:spPr>
          <a:xfrm>
            <a:off x="901700" y="1255382"/>
            <a:ext cx="5391785" cy="1056005"/>
          </a:xfrm>
          <a:prstGeom prst="rect">
            <a:avLst/>
          </a:prstGeom>
        </p:spPr>
        <p:txBody>
          <a:bodyPr vert="horz" wrap="square" lIns="0" tIns="0" rIns="0" bIns="0" rtlCol="0">
            <a:spAutoFit/>
          </a:bodyPr>
          <a:lstStyle/>
          <a:p>
            <a:pPr marL="12700">
              <a:lnSpc>
                <a:spcPct val="100000"/>
              </a:lnSpc>
            </a:pPr>
            <a:r>
              <a:rPr spc="55" dirty="0">
                <a:solidFill>
                  <a:srgbClr val="FF0000"/>
                </a:solidFill>
              </a:rPr>
              <a:t>[days = small |</a:t>
            </a:r>
            <a:r>
              <a:rPr spc="-10" dirty="0">
                <a:solidFill>
                  <a:srgbClr val="FF0000"/>
                </a:solidFill>
              </a:rPr>
              <a:t> </a:t>
            </a:r>
            <a:r>
              <a:rPr spc="55" dirty="0">
                <a:solidFill>
                  <a:srgbClr val="FF0000"/>
                </a:solidFill>
              </a:rPr>
              <a:t>big]</a:t>
            </a:r>
          </a:p>
          <a:p>
            <a:pPr marL="563245" marR="5080" indent="-551180">
              <a:lnSpc>
                <a:spcPct val="118900"/>
              </a:lnSpc>
              <a:tabLst>
                <a:tab pos="3725545" algn="l"/>
              </a:tabLst>
            </a:pPr>
            <a:r>
              <a:rPr spc="55" dirty="0"/>
              <a:t>while (days = </a:t>
            </a:r>
            <a:r>
              <a:rPr spc="190" dirty="0"/>
              <a:t> </a:t>
            </a:r>
            <a:r>
              <a:rPr spc="55" dirty="0"/>
              <a:t>big)</a:t>
            </a:r>
            <a:r>
              <a:rPr spc="459" dirty="0"/>
              <a:t> </a:t>
            </a:r>
            <a:r>
              <a:rPr spc="365" dirty="0">
                <a:latin typeface="Lucida Sans Unicode"/>
                <a:cs typeface="Lucida Sans Unicode"/>
              </a:rPr>
              <a:t>{	</a:t>
            </a:r>
            <a:r>
              <a:rPr spc="55" dirty="0">
                <a:solidFill>
                  <a:srgbClr val="FF0000"/>
                </a:solidFill>
              </a:rPr>
              <a:t>[days</a:t>
            </a:r>
            <a:r>
              <a:rPr spc="15" dirty="0">
                <a:solidFill>
                  <a:srgbClr val="FF0000"/>
                </a:solidFill>
              </a:rPr>
              <a:t> </a:t>
            </a:r>
            <a:r>
              <a:rPr spc="55" dirty="0">
                <a:solidFill>
                  <a:srgbClr val="FF0000"/>
                </a:solidFill>
              </a:rPr>
              <a:t>=</a:t>
            </a:r>
            <a:r>
              <a:rPr spc="10" dirty="0">
                <a:solidFill>
                  <a:srgbClr val="FF0000"/>
                </a:solidFill>
              </a:rPr>
              <a:t> </a:t>
            </a:r>
            <a:r>
              <a:rPr spc="55" dirty="0">
                <a:solidFill>
                  <a:srgbClr val="FF0000"/>
                </a:solidFill>
              </a:rPr>
              <a:t>big]  </a:t>
            </a:r>
            <a:r>
              <a:rPr spc="55" dirty="0"/>
              <a:t>if (</a:t>
            </a:r>
            <a:r>
              <a:rPr spc="55" dirty="0">
                <a:solidFill>
                  <a:srgbClr val="FF0000"/>
                </a:solidFill>
              </a:rPr>
              <a:t>*</a:t>
            </a:r>
            <a:r>
              <a:rPr spc="55" dirty="0"/>
              <a:t>))</a:t>
            </a:r>
            <a:r>
              <a:rPr spc="-25" dirty="0"/>
              <a:t> </a:t>
            </a:r>
            <a:r>
              <a:rPr spc="365" dirty="0">
                <a:latin typeface="Lucida Sans Unicode"/>
                <a:cs typeface="Lucida Sans Unicode"/>
              </a:rPr>
              <a:t>{</a:t>
            </a:r>
          </a:p>
        </p:txBody>
      </p:sp>
      <p:sp>
        <p:nvSpPr>
          <p:cNvPr id="4" name="object 4"/>
          <p:cNvSpPr txBox="1"/>
          <p:nvPr/>
        </p:nvSpPr>
        <p:spPr>
          <a:xfrm>
            <a:off x="2003780" y="2370150"/>
            <a:ext cx="4427855" cy="339090"/>
          </a:xfrm>
          <a:prstGeom prst="rect">
            <a:avLst/>
          </a:prstGeom>
        </p:spPr>
        <p:txBody>
          <a:bodyPr vert="horz" wrap="square" lIns="0" tIns="0" rIns="0" bIns="0" rtlCol="0">
            <a:spAutoFit/>
          </a:bodyPr>
          <a:lstStyle/>
          <a:p>
            <a:pPr marL="12700">
              <a:lnSpc>
                <a:spcPct val="100000"/>
              </a:lnSpc>
              <a:tabLst>
                <a:tab pos="2623185" algn="l"/>
              </a:tabLst>
            </a:pPr>
            <a:r>
              <a:rPr sz="2050" spc="55" dirty="0">
                <a:solidFill>
                  <a:srgbClr val="0000FF"/>
                </a:solidFill>
                <a:latin typeface="SimSun"/>
                <a:cs typeface="SimSun"/>
              </a:rPr>
              <a:t>if (days = big</a:t>
            </a:r>
            <a:r>
              <a:rPr sz="2050" spc="975" dirty="0">
                <a:solidFill>
                  <a:srgbClr val="0000FF"/>
                </a:solidFill>
                <a:latin typeface="SimSun"/>
                <a:cs typeface="SimSun"/>
              </a:rPr>
              <a:t> </a:t>
            </a:r>
            <a:r>
              <a:rPr sz="2050" spc="55" dirty="0">
                <a:solidFill>
                  <a:srgbClr val="0000FF"/>
                </a:solidFill>
                <a:latin typeface="SimSun"/>
                <a:cs typeface="SimSun"/>
              </a:rPr>
              <a:t>)</a:t>
            </a:r>
            <a:r>
              <a:rPr sz="2050" spc="285" dirty="0">
                <a:solidFill>
                  <a:srgbClr val="0000FF"/>
                </a:solidFill>
                <a:latin typeface="SimSun"/>
                <a:cs typeface="SimSun"/>
              </a:rPr>
              <a:t> </a:t>
            </a:r>
            <a:r>
              <a:rPr sz="2050" spc="365" dirty="0">
                <a:solidFill>
                  <a:srgbClr val="0000FF"/>
                </a:solidFill>
                <a:latin typeface="Lucida Sans Unicode"/>
                <a:cs typeface="Lucida Sans Unicode"/>
              </a:rPr>
              <a:t>{	</a:t>
            </a:r>
            <a:r>
              <a:rPr sz="2050" spc="55" dirty="0">
                <a:solidFill>
                  <a:srgbClr val="FF0000"/>
                </a:solidFill>
                <a:latin typeface="SimSun"/>
                <a:cs typeface="SimSun"/>
              </a:rPr>
              <a:t>[days = big</a:t>
            </a:r>
            <a:r>
              <a:rPr sz="2050" spc="-20" dirty="0">
                <a:solidFill>
                  <a:srgbClr val="FF0000"/>
                </a:solidFill>
                <a:latin typeface="SimSun"/>
                <a:cs typeface="SimSun"/>
              </a:rPr>
              <a:t> </a:t>
            </a:r>
            <a:r>
              <a:rPr sz="2050" spc="55" dirty="0">
                <a:solidFill>
                  <a:srgbClr val="FF0000"/>
                </a:solidFill>
                <a:latin typeface="SimSun"/>
                <a:cs typeface="SimSun"/>
              </a:rPr>
              <a:t>]</a:t>
            </a:r>
            <a:endParaRPr sz="2050">
              <a:latin typeface="SimSun"/>
              <a:cs typeface="SimSun"/>
            </a:endParaRPr>
          </a:p>
        </p:txBody>
      </p:sp>
      <p:sp>
        <p:nvSpPr>
          <p:cNvPr id="5" name="object 5"/>
          <p:cNvSpPr txBox="1"/>
          <p:nvPr/>
        </p:nvSpPr>
        <p:spPr>
          <a:xfrm>
            <a:off x="4621364" y="2741739"/>
            <a:ext cx="3745229" cy="338455"/>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[days = big | small |</a:t>
            </a:r>
            <a:r>
              <a:rPr sz="2050" spc="10" dirty="0">
                <a:solidFill>
                  <a:srgbClr val="FF0000"/>
                </a:solidFill>
                <a:latin typeface="SimSun"/>
                <a:cs typeface="SimSun"/>
              </a:rPr>
              <a:t> </a:t>
            </a:r>
            <a:r>
              <a:rPr sz="2050" spc="55" dirty="0">
                <a:solidFill>
                  <a:srgbClr val="FF0000"/>
                </a:solidFill>
                <a:latin typeface="SimSun"/>
                <a:cs typeface="SimSun"/>
              </a:rPr>
              <a:t>zero]</a:t>
            </a:r>
            <a:endParaRPr sz="2050">
              <a:latin typeface="SimSun"/>
              <a:cs typeface="SimSun"/>
            </a:endParaRPr>
          </a:p>
        </p:txBody>
      </p:sp>
      <p:sp>
        <p:nvSpPr>
          <p:cNvPr id="6" name="object 6"/>
          <p:cNvSpPr txBox="1"/>
          <p:nvPr/>
        </p:nvSpPr>
        <p:spPr>
          <a:xfrm>
            <a:off x="2554935" y="2682692"/>
            <a:ext cx="1678939" cy="768985"/>
          </a:xfrm>
          <a:prstGeom prst="rect">
            <a:avLst/>
          </a:prstGeom>
        </p:spPr>
        <p:txBody>
          <a:bodyPr vert="horz" wrap="square" lIns="0" tIns="0" rIns="0" bIns="0" rtlCol="0">
            <a:spAutoFit/>
          </a:bodyPr>
          <a:lstStyle/>
          <a:p>
            <a:pPr marL="12700" marR="5080">
              <a:lnSpc>
                <a:spcPct val="118900"/>
              </a:lnSpc>
            </a:pPr>
            <a:r>
              <a:rPr sz="2050" spc="55" dirty="0">
                <a:solidFill>
                  <a:srgbClr val="0000FF"/>
                </a:solidFill>
                <a:latin typeface="SimSun"/>
                <a:cs typeface="SimSun"/>
              </a:rPr>
              <a:t>days -=</a:t>
            </a:r>
            <a:r>
              <a:rPr sz="2050" spc="-25" dirty="0">
                <a:solidFill>
                  <a:srgbClr val="0000FF"/>
                </a:solidFill>
                <a:latin typeface="SimSun"/>
                <a:cs typeface="SimSun"/>
              </a:rPr>
              <a:t> </a:t>
            </a:r>
            <a:r>
              <a:rPr sz="2050" spc="55" dirty="0">
                <a:solidFill>
                  <a:srgbClr val="0000FF"/>
                </a:solidFill>
                <a:latin typeface="SimSun"/>
                <a:cs typeface="SimSun"/>
              </a:rPr>
              <a:t>big;  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p:txBody>
      </p:sp>
      <p:sp>
        <p:nvSpPr>
          <p:cNvPr id="7" name="object 7"/>
          <p:cNvSpPr txBox="1"/>
          <p:nvPr/>
        </p:nvSpPr>
        <p:spPr>
          <a:xfrm>
            <a:off x="4608220" y="3856393"/>
            <a:ext cx="2794000" cy="709930"/>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[days =</a:t>
            </a:r>
            <a:r>
              <a:rPr sz="2050" spc="-25" dirty="0">
                <a:solidFill>
                  <a:srgbClr val="FF0000"/>
                </a:solidFill>
                <a:latin typeface="SimSun"/>
                <a:cs typeface="SimSun"/>
              </a:rPr>
              <a:t> </a:t>
            </a:r>
            <a:r>
              <a:rPr sz="2050" spc="55" dirty="0">
                <a:solidFill>
                  <a:srgbClr val="FF0000"/>
                </a:solidFill>
                <a:latin typeface="SimSun"/>
                <a:cs typeface="SimSun"/>
              </a:rPr>
              <a:t>big]</a:t>
            </a:r>
            <a:endParaRPr sz="2050">
              <a:latin typeface="SimSun"/>
              <a:cs typeface="SimSun"/>
            </a:endParaRPr>
          </a:p>
          <a:p>
            <a:pPr marL="25400">
              <a:lnSpc>
                <a:spcPct val="100000"/>
              </a:lnSpc>
              <a:spcBef>
                <a:spcPts val="465"/>
              </a:spcBef>
            </a:pPr>
            <a:r>
              <a:rPr sz="2050" spc="55" dirty="0">
                <a:solidFill>
                  <a:srgbClr val="FF0000"/>
                </a:solidFill>
                <a:latin typeface="SimSun"/>
                <a:cs typeface="SimSun"/>
              </a:rPr>
              <a:t>[days = big |</a:t>
            </a:r>
            <a:r>
              <a:rPr sz="2050" spc="-10" dirty="0">
                <a:solidFill>
                  <a:srgbClr val="FF0000"/>
                </a:solidFill>
                <a:latin typeface="SimSun"/>
                <a:cs typeface="SimSun"/>
              </a:rPr>
              <a:t> </a:t>
            </a:r>
            <a:r>
              <a:rPr sz="2050" spc="55" dirty="0">
                <a:solidFill>
                  <a:srgbClr val="FF0000"/>
                </a:solidFill>
                <a:latin typeface="SimSun"/>
                <a:cs typeface="SimSun"/>
              </a:rPr>
              <a:t>small]</a:t>
            </a:r>
            <a:endParaRPr sz="2050">
              <a:latin typeface="SimSun"/>
              <a:cs typeface="SimSun"/>
            </a:endParaRPr>
          </a:p>
        </p:txBody>
      </p:sp>
      <p:sp>
        <p:nvSpPr>
          <p:cNvPr id="8" name="object 8"/>
          <p:cNvSpPr txBox="1"/>
          <p:nvPr/>
        </p:nvSpPr>
        <p:spPr>
          <a:xfrm>
            <a:off x="1452740" y="3484803"/>
            <a:ext cx="2505075" cy="1825625"/>
          </a:xfrm>
          <a:prstGeom prst="rect">
            <a:avLst/>
          </a:prstGeom>
        </p:spPr>
        <p:txBody>
          <a:bodyPr vert="horz" wrap="square" lIns="0" tIns="0" rIns="0" bIns="0" rtlCol="0">
            <a:spAutoFit/>
          </a:bodyPr>
          <a:lstStyle/>
          <a:p>
            <a:pPr marL="563245">
              <a:lnSpc>
                <a:spcPct val="100000"/>
              </a:lnSpc>
            </a:pP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tabLst>
                <a:tab pos="281305" algn="l"/>
              </a:tabLst>
            </a:pPr>
            <a:r>
              <a:rPr sz="2050" spc="365" dirty="0">
                <a:solidFill>
                  <a:srgbClr val="0000FF"/>
                </a:solidFill>
                <a:latin typeface="Lucida Sans Unicode"/>
                <a:cs typeface="Lucida Sans Unicode"/>
              </a:rPr>
              <a:t>}	</a:t>
            </a:r>
            <a:r>
              <a:rPr sz="2050" spc="55" dirty="0">
                <a:solidFill>
                  <a:srgbClr val="0000FF"/>
                </a:solidFill>
                <a:latin typeface="SimSun"/>
                <a:cs typeface="SimSun"/>
              </a:rPr>
              <a:t>else</a:t>
            </a:r>
            <a:r>
              <a:rPr sz="2050" spc="-3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563245" marR="5080">
              <a:lnSpc>
                <a:spcPct val="118900"/>
              </a:lnSpc>
            </a:pPr>
            <a:r>
              <a:rPr sz="2050" spc="55" dirty="0">
                <a:solidFill>
                  <a:srgbClr val="0000FF"/>
                </a:solidFill>
                <a:latin typeface="SimSun"/>
                <a:cs typeface="SimSun"/>
              </a:rPr>
              <a:t>days -=</a:t>
            </a:r>
            <a:r>
              <a:rPr sz="2050" spc="-25" dirty="0">
                <a:solidFill>
                  <a:srgbClr val="0000FF"/>
                </a:solidFill>
                <a:latin typeface="SimSun"/>
                <a:cs typeface="SimSun"/>
              </a:rPr>
              <a:t> </a:t>
            </a:r>
            <a:r>
              <a:rPr sz="2050" spc="55" dirty="0">
                <a:solidFill>
                  <a:srgbClr val="0000FF"/>
                </a:solidFill>
                <a:latin typeface="SimSun"/>
                <a:cs typeface="SimSun"/>
              </a:rPr>
              <a:t>small;  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a:p>
            <a:pPr marL="12700">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p:txBody>
      </p:sp>
      <p:sp>
        <p:nvSpPr>
          <p:cNvPr id="9" name="object 9"/>
          <p:cNvSpPr txBox="1"/>
          <p:nvPr/>
        </p:nvSpPr>
        <p:spPr>
          <a:xfrm>
            <a:off x="901697" y="5342750"/>
            <a:ext cx="2918460" cy="709930"/>
          </a:xfrm>
          <a:prstGeom prst="rect">
            <a:avLst/>
          </a:prstGeom>
        </p:spPr>
        <p:txBody>
          <a:bodyPr vert="horz" wrap="square" lIns="0" tIns="0" rIns="0" bIns="0" rtlCol="0">
            <a:spAutoFit/>
          </a:bodyPr>
          <a:lstStyle/>
          <a:p>
            <a:pPr marL="12700">
              <a:lnSpc>
                <a:spcPct val="100000"/>
              </a:lnSpc>
            </a:pP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pPr>
            <a:r>
              <a:rPr sz="2050" spc="55" dirty="0">
                <a:solidFill>
                  <a:srgbClr val="FF0000"/>
                </a:solidFill>
                <a:latin typeface="SimSun"/>
                <a:cs typeface="SimSun"/>
              </a:rPr>
              <a:t>[days = small |</a:t>
            </a:r>
            <a:r>
              <a:rPr sz="2050" spc="-10" dirty="0">
                <a:solidFill>
                  <a:srgbClr val="FF0000"/>
                </a:solidFill>
                <a:latin typeface="SimSun"/>
                <a:cs typeface="SimSun"/>
              </a:rPr>
              <a:t> </a:t>
            </a:r>
            <a:r>
              <a:rPr sz="2050" spc="55" dirty="0">
                <a:solidFill>
                  <a:srgbClr val="FF0000"/>
                </a:solidFill>
                <a:latin typeface="SimSun"/>
                <a:cs typeface="SimSun"/>
              </a:rPr>
              <a:t>zero]</a:t>
            </a:r>
            <a:endParaRPr sz="2050">
              <a:latin typeface="SimSun"/>
              <a:cs typeface="SimSun"/>
            </a:endParaRP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67826" y="475981"/>
            <a:ext cx="5324475" cy="29718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The </a:t>
            </a:r>
            <a:r>
              <a:rPr sz="1950" spc="290" dirty="0">
                <a:solidFill>
                  <a:srgbClr val="231F20"/>
                </a:solidFill>
                <a:latin typeface="Arial"/>
                <a:cs typeface="Arial"/>
              </a:rPr>
              <a:t>Zune </a:t>
            </a:r>
            <a:r>
              <a:rPr sz="1950" spc="265" dirty="0">
                <a:solidFill>
                  <a:srgbClr val="231F20"/>
                </a:solidFill>
                <a:latin typeface="Arial"/>
                <a:cs typeface="Arial"/>
              </a:rPr>
              <a:t>Example </a:t>
            </a:r>
            <a:r>
              <a:rPr sz="1950" spc="275" dirty="0">
                <a:solidFill>
                  <a:srgbClr val="231F20"/>
                </a:solidFill>
                <a:latin typeface="Arial"/>
                <a:cs typeface="Arial"/>
              </a:rPr>
              <a:t>Abstracted</a:t>
            </a:r>
            <a:r>
              <a:rPr sz="1950" spc="495" dirty="0">
                <a:solidFill>
                  <a:srgbClr val="231F20"/>
                </a:solidFill>
                <a:latin typeface="Arial"/>
                <a:cs typeface="Arial"/>
              </a:rPr>
              <a:t> </a:t>
            </a:r>
            <a:r>
              <a:rPr sz="1950" spc="265" dirty="0">
                <a:solidFill>
                  <a:srgbClr val="231F20"/>
                </a:solidFill>
                <a:latin typeface="Arial"/>
                <a:cs typeface="Arial"/>
              </a:rPr>
              <a:t>Again</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44494" rIns="0" bIns="0" rtlCol="0">
            <a:spAutoFit/>
          </a:bodyPr>
          <a:lstStyle/>
          <a:p>
            <a:pPr marL="17780">
              <a:lnSpc>
                <a:spcPct val="100000"/>
              </a:lnSpc>
            </a:pPr>
            <a:r>
              <a:rPr sz="1950" spc="105" dirty="0">
                <a:solidFill>
                  <a:srgbClr val="231F20"/>
                </a:solidFill>
                <a:latin typeface="Arial"/>
                <a:cs typeface="Arial"/>
              </a:rPr>
              <a:t>Suppose </a:t>
            </a:r>
            <a:r>
              <a:rPr sz="1950" spc="95" dirty="0">
                <a:solidFill>
                  <a:srgbClr val="231F20"/>
                </a:solidFill>
                <a:latin typeface="Arial"/>
                <a:cs typeface="Arial"/>
              </a:rPr>
              <a:t>we </a:t>
            </a:r>
            <a:r>
              <a:rPr sz="1950" spc="145" dirty="0">
                <a:solidFill>
                  <a:srgbClr val="231F20"/>
                </a:solidFill>
                <a:latin typeface="Arial"/>
                <a:cs typeface="Arial"/>
              </a:rPr>
              <a:t>abstracted </a:t>
            </a:r>
            <a:r>
              <a:rPr sz="1950" spc="250" dirty="0">
                <a:solidFill>
                  <a:srgbClr val="231F20"/>
                </a:solidFill>
                <a:latin typeface="Arial"/>
                <a:cs typeface="Arial"/>
              </a:rPr>
              <a:t>to </a:t>
            </a:r>
            <a:r>
              <a:rPr spc="150" dirty="0">
                <a:solidFill>
                  <a:srgbClr val="231F20"/>
                </a:solidFill>
                <a:latin typeface="Lucida Sans Unicode"/>
                <a:cs typeface="Lucida Sans Unicode"/>
              </a:rPr>
              <a:t>{</a:t>
            </a:r>
            <a:r>
              <a:rPr sz="1950" spc="150" dirty="0">
                <a:solidFill>
                  <a:srgbClr val="231F20"/>
                </a:solidFill>
                <a:latin typeface="Arial"/>
                <a:cs typeface="Arial"/>
              </a:rPr>
              <a:t>negative, </a:t>
            </a:r>
            <a:r>
              <a:rPr sz="1950" spc="114" dirty="0">
                <a:solidFill>
                  <a:srgbClr val="231F20"/>
                </a:solidFill>
                <a:latin typeface="Arial"/>
                <a:cs typeface="Arial"/>
              </a:rPr>
              <a:t>zero, </a:t>
            </a:r>
            <a:r>
              <a:rPr sz="1950" spc="305" dirty="0">
                <a:solidFill>
                  <a:srgbClr val="231F20"/>
                </a:solidFill>
                <a:latin typeface="Arial"/>
                <a:cs typeface="Arial"/>
              </a:rPr>
              <a:t> </a:t>
            </a:r>
            <a:r>
              <a:rPr sz="1950" spc="155" dirty="0">
                <a:solidFill>
                  <a:srgbClr val="231F20"/>
                </a:solidFill>
                <a:latin typeface="Arial"/>
                <a:cs typeface="Arial"/>
              </a:rPr>
              <a:t>positive</a:t>
            </a:r>
            <a:r>
              <a:rPr spc="155" dirty="0">
                <a:solidFill>
                  <a:srgbClr val="231F20"/>
                </a:solidFill>
                <a:latin typeface="Lucida Sans Unicode"/>
                <a:cs typeface="Lucida Sans Unicode"/>
              </a:rPr>
              <a:t>}</a:t>
            </a:r>
            <a:endParaRPr sz="1950">
              <a:latin typeface="Lucida Sans Unicode"/>
              <a:cs typeface="Lucida Sans Unicode"/>
            </a:endParaRPr>
          </a:p>
        </p:txBody>
      </p:sp>
      <p:sp>
        <p:nvSpPr>
          <p:cNvPr id="4" name="object 4"/>
          <p:cNvSpPr txBox="1"/>
          <p:nvPr/>
        </p:nvSpPr>
        <p:spPr>
          <a:xfrm>
            <a:off x="5303608" y="1883917"/>
            <a:ext cx="2367280" cy="338455"/>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[days =</a:t>
            </a:r>
            <a:r>
              <a:rPr sz="2050" spc="-25" dirty="0">
                <a:solidFill>
                  <a:srgbClr val="FF0000"/>
                </a:solidFill>
                <a:latin typeface="SimSun"/>
                <a:cs typeface="SimSun"/>
              </a:rPr>
              <a:t> </a:t>
            </a:r>
            <a:r>
              <a:rPr sz="2050" spc="55" dirty="0">
                <a:solidFill>
                  <a:srgbClr val="FF0000"/>
                </a:solidFill>
                <a:latin typeface="SimSun"/>
                <a:cs typeface="SimSun"/>
              </a:rPr>
              <a:t>positive]</a:t>
            </a:r>
            <a:endParaRPr sz="2050">
              <a:latin typeface="SimSun"/>
              <a:cs typeface="SimSun"/>
            </a:endParaRPr>
          </a:p>
        </p:txBody>
      </p:sp>
      <p:sp>
        <p:nvSpPr>
          <p:cNvPr id="5" name="object 5"/>
          <p:cNvSpPr txBox="1"/>
          <p:nvPr/>
        </p:nvSpPr>
        <p:spPr>
          <a:xfrm>
            <a:off x="901700" y="1512328"/>
            <a:ext cx="3463290" cy="1082040"/>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[days =</a:t>
            </a:r>
            <a:r>
              <a:rPr sz="2050" spc="-30" dirty="0">
                <a:solidFill>
                  <a:srgbClr val="FF0000"/>
                </a:solidFill>
                <a:latin typeface="SimSun"/>
                <a:cs typeface="SimSun"/>
              </a:rPr>
              <a:t> </a:t>
            </a:r>
            <a:r>
              <a:rPr sz="2050" spc="55" dirty="0">
                <a:solidFill>
                  <a:srgbClr val="FF0000"/>
                </a:solidFill>
                <a:latin typeface="SimSun"/>
                <a:cs typeface="SimSun"/>
              </a:rPr>
              <a:t>positive]</a:t>
            </a:r>
            <a:endParaRPr sz="2050">
              <a:latin typeface="SimSun"/>
              <a:cs typeface="SimSun"/>
            </a:endParaRPr>
          </a:p>
          <a:p>
            <a:pPr marL="12700">
              <a:lnSpc>
                <a:spcPct val="100000"/>
              </a:lnSpc>
              <a:spcBef>
                <a:spcPts val="465"/>
              </a:spcBef>
            </a:pPr>
            <a:r>
              <a:rPr sz="2050" spc="55" dirty="0">
                <a:solidFill>
                  <a:srgbClr val="0000FF"/>
                </a:solidFill>
                <a:latin typeface="SimSun"/>
                <a:cs typeface="SimSun"/>
              </a:rPr>
              <a:t>while (days = positive)</a:t>
            </a:r>
            <a:r>
              <a:rPr sz="2050" spc="-1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R="1094105" algn="ctr">
              <a:lnSpc>
                <a:spcPct val="100000"/>
              </a:lnSpc>
              <a:spcBef>
                <a:spcPts val="465"/>
              </a:spcBef>
            </a:pPr>
            <a:r>
              <a:rPr sz="2050" spc="55" dirty="0">
                <a:solidFill>
                  <a:srgbClr val="0000FF"/>
                </a:solidFill>
                <a:latin typeface="SimSun"/>
                <a:cs typeface="SimSun"/>
              </a:rPr>
              <a:t>if (</a:t>
            </a:r>
            <a:r>
              <a:rPr sz="2050" spc="55" dirty="0">
                <a:solidFill>
                  <a:srgbClr val="FF0000"/>
                </a:solidFill>
                <a:latin typeface="SimSun"/>
                <a:cs typeface="SimSun"/>
              </a:rPr>
              <a:t>*</a:t>
            </a:r>
            <a:r>
              <a:rPr sz="2050" spc="55" dirty="0">
                <a:solidFill>
                  <a:srgbClr val="0000FF"/>
                </a:solidFill>
                <a:latin typeface="SimSun"/>
                <a:cs typeface="SimSun"/>
              </a:rPr>
              <a:t>))</a:t>
            </a:r>
            <a:r>
              <a:rPr sz="2050" spc="-2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p:txBody>
      </p:sp>
      <p:sp>
        <p:nvSpPr>
          <p:cNvPr id="6" name="object 6"/>
          <p:cNvSpPr txBox="1"/>
          <p:nvPr/>
        </p:nvSpPr>
        <p:spPr>
          <a:xfrm>
            <a:off x="2003780" y="2627096"/>
            <a:ext cx="7786370" cy="1081405"/>
          </a:xfrm>
          <a:prstGeom prst="rect">
            <a:avLst/>
          </a:prstGeom>
        </p:spPr>
        <p:txBody>
          <a:bodyPr vert="horz" wrap="square" lIns="0" tIns="0" rIns="0" bIns="0" rtlCol="0">
            <a:spAutoFit/>
          </a:bodyPr>
          <a:lstStyle/>
          <a:p>
            <a:pPr marL="12700">
              <a:lnSpc>
                <a:spcPct val="100000"/>
              </a:lnSpc>
              <a:tabLst>
                <a:tab pos="3312160" algn="l"/>
              </a:tabLst>
            </a:pPr>
            <a:r>
              <a:rPr sz="2050" spc="55" dirty="0">
                <a:solidFill>
                  <a:srgbClr val="0000FF"/>
                </a:solidFill>
                <a:latin typeface="SimSun"/>
                <a:cs typeface="SimSun"/>
              </a:rPr>
              <a:t>if (days = positive</a:t>
            </a:r>
            <a:r>
              <a:rPr sz="2050" spc="994" dirty="0">
                <a:solidFill>
                  <a:srgbClr val="0000FF"/>
                </a:solidFill>
                <a:latin typeface="SimSun"/>
                <a:cs typeface="SimSun"/>
              </a:rPr>
              <a:t> </a:t>
            </a:r>
            <a:r>
              <a:rPr sz="2050" spc="55" dirty="0">
                <a:solidFill>
                  <a:srgbClr val="0000FF"/>
                </a:solidFill>
                <a:latin typeface="SimSun"/>
                <a:cs typeface="SimSun"/>
              </a:rPr>
              <a:t>)</a:t>
            </a:r>
            <a:r>
              <a:rPr sz="2050" spc="290" dirty="0">
                <a:solidFill>
                  <a:srgbClr val="0000FF"/>
                </a:solidFill>
                <a:latin typeface="SimSun"/>
                <a:cs typeface="SimSun"/>
              </a:rPr>
              <a:t> </a:t>
            </a:r>
            <a:r>
              <a:rPr sz="2050" spc="365" dirty="0">
                <a:solidFill>
                  <a:srgbClr val="0000FF"/>
                </a:solidFill>
                <a:latin typeface="Lucida Sans Unicode"/>
                <a:cs typeface="Lucida Sans Unicode"/>
              </a:rPr>
              <a:t>{	</a:t>
            </a:r>
            <a:r>
              <a:rPr sz="2050" spc="55" dirty="0">
                <a:solidFill>
                  <a:srgbClr val="FF0000"/>
                </a:solidFill>
                <a:latin typeface="SimSun"/>
                <a:cs typeface="SimSun"/>
              </a:rPr>
              <a:t>[days = positive</a:t>
            </a:r>
            <a:r>
              <a:rPr sz="2050" spc="-15" dirty="0">
                <a:solidFill>
                  <a:srgbClr val="FF0000"/>
                </a:solidFill>
                <a:latin typeface="SimSun"/>
                <a:cs typeface="SimSun"/>
              </a:rPr>
              <a:t> </a:t>
            </a:r>
            <a:r>
              <a:rPr sz="2050" spc="55" dirty="0">
                <a:solidFill>
                  <a:srgbClr val="FF0000"/>
                </a:solidFill>
                <a:latin typeface="SimSun"/>
                <a:cs typeface="SimSun"/>
              </a:rPr>
              <a:t>]</a:t>
            </a:r>
            <a:endParaRPr sz="2050">
              <a:latin typeface="SimSun"/>
              <a:cs typeface="SimSun"/>
            </a:endParaRPr>
          </a:p>
          <a:p>
            <a:pPr marL="563245" marR="5080">
              <a:lnSpc>
                <a:spcPct val="118900"/>
              </a:lnSpc>
              <a:tabLst>
                <a:tab pos="3318510" algn="l"/>
              </a:tabLst>
            </a:pPr>
            <a:r>
              <a:rPr sz="2050" spc="55" dirty="0">
                <a:solidFill>
                  <a:srgbClr val="0000FF"/>
                </a:solidFill>
                <a:latin typeface="SimSun"/>
                <a:cs typeface="SimSun"/>
              </a:rPr>
              <a:t>days</a:t>
            </a:r>
            <a:r>
              <a:rPr sz="2050" spc="735" dirty="0">
                <a:solidFill>
                  <a:srgbClr val="0000FF"/>
                </a:solidFill>
                <a:latin typeface="SimSun"/>
                <a:cs typeface="SimSun"/>
              </a:rPr>
              <a:t> </a:t>
            </a:r>
            <a:r>
              <a:rPr sz="2050" spc="55" dirty="0">
                <a:solidFill>
                  <a:srgbClr val="0000FF"/>
                </a:solidFill>
                <a:latin typeface="SimSun"/>
                <a:cs typeface="SimSun"/>
              </a:rPr>
              <a:t>-=</a:t>
            </a:r>
            <a:r>
              <a:rPr sz="2050" spc="735" dirty="0">
                <a:solidFill>
                  <a:srgbClr val="0000FF"/>
                </a:solidFill>
                <a:latin typeface="SimSun"/>
                <a:cs typeface="SimSun"/>
              </a:rPr>
              <a:t> </a:t>
            </a:r>
            <a:r>
              <a:rPr sz="2050" spc="55" dirty="0">
                <a:solidFill>
                  <a:srgbClr val="0000FF"/>
                </a:solidFill>
                <a:latin typeface="SimSun"/>
                <a:cs typeface="SimSun"/>
              </a:rPr>
              <a:t>positive;	</a:t>
            </a:r>
            <a:r>
              <a:rPr sz="2050" spc="55" dirty="0">
                <a:solidFill>
                  <a:srgbClr val="FF0000"/>
                </a:solidFill>
                <a:latin typeface="SimSun"/>
                <a:cs typeface="SimSun"/>
              </a:rPr>
              <a:t>[days</a:t>
            </a:r>
            <a:r>
              <a:rPr sz="2050" spc="35" dirty="0">
                <a:solidFill>
                  <a:srgbClr val="FF0000"/>
                </a:solidFill>
                <a:latin typeface="SimSun"/>
                <a:cs typeface="SimSun"/>
              </a:rPr>
              <a:t> </a:t>
            </a:r>
            <a:r>
              <a:rPr sz="2050" spc="55" dirty="0">
                <a:solidFill>
                  <a:srgbClr val="FF0000"/>
                </a:solidFill>
                <a:latin typeface="SimSun"/>
                <a:cs typeface="SimSun"/>
              </a:rPr>
              <a:t>=</a:t>
            </a:r>
            <a:r>
              <a:rPr sz="2050" spc="30" dirty="0">
                <a:solidFill>
                  <a:srgbClr val="FF0000"/>
                </a:solidFill>
                <a:latin typeface="SimSun"/>
                <a:cs typeface="SimSun"/>
              </a:rPr>
              <a:t> </a:t>
            </a:r>
            <a:r>
              <a:rPr sz="2050" spc="55" dirty="0">
                <a:solidFill>
                  <a:srgbClr val="FF0000"/>
                </a:solidFill>
                <a:latin typeface="SimSun"/>
                <a:cs typeface="SimSun"/>
              </a:rPr>
              <a:t>negative</a:t>
            </a:r>
            <a:r>
              <a:rPr sz="2050" spc="-675" dirty="0">
                <a:solidFill>
                  <a:srgbClr val="FF0000"/>
                </a:solidFill>
                <a:latin typeface="SimSun"/>
                <a:cs typeface="SimSun"/>
              </a:rPr>
              <a:t> </a:t>
            </a:r>
            <a:r>
              <a:rPr sz="2050" spc="55" dirty="0">
                <a:solidFill>
                  <a:srgbClr val="FF0000"/>
                </a:solidFill>
                <a:latin typeface="SimSun"/>
                <a:cs typeface="SimSun"/>
              </a:rPr>
              <a:t>|</a:t>
            </a:r>
            <a:r>
              <a:rPr sz="2050" spc="-675" dirty="0">
                <a:solidFill>
                  <a:srgbClr val="FF0000"/>
                </a:solidFill>
                <a:latin typeface="SimSun"/>
                <a:cs typeface="SimSun"/>
              </a:rPr>
              <a:t> </a:t>
            </a:r>
            <a:r>
              <a:rPr sz="2050" spc="55" dirty="0">
                <a:solidFill>
                  <a:srgbClr val="FF0000"/>
                </a:solidFill>
                <a:latin typeface="SimSun"/>
                <a:cs typeface="SimSun"/>
              </a:rPr>
              <a:t>zero</a:t>
            </a:r>
            <a:r>
              <a:rPr sz="2050" spc="-675" dirty="0">
                <a:solidFill>
                  <a:srgbClr val="FF0000"/>
                </a:solidFill>
                <a:latin typeface="SimSun"/>
                <a:cs typeface="SimSun"/>
              </a:rPr>
              <a:t> </a:t>
            </a:r>
            <a:r>
              <a:rPr sz="2050" spc="55" dirty="0">
                <a:solidFill>
                  <a:srgbClr val="FF0000"/>
                </a:solidFill>
                <a:latin typeface="SimSun"/>
                <a:cs typeface="SimSun"/>
              </a:rPr>
              <a:t>|</a:t>
            </a:r>
            <a:r>
              <a:rPr sz="2050" spc="-675" dirty="0">
                <a:solidFill>
                  <a:srgbClr val="FF0000"/>
                </a:solidFill>
                <a:latin typeface="SimSun"/>
                <a:cs typeface="SimSun"/>
              </a:rPr>
              <a:t> </a:t>
            </a:r>
            <a:r>
              <a:rPr sz="2050" spc="55" dirty="0">
                <a:solidFill>
                  <a:srgbClr val="FF0000"/>
                </a:solidFill>
                <a:latin typeface="SimSun"/>
                <a:cs typeface="SimSun"/>
              </a:rPr>
              <a:t>positive]  </a:t>
            </a:r>
            <a:r>
              <a:rPr sz="2050" spc="55" dirty="0">
                <a:solidFill>
                  <a:srgbClr val="0000FF"/>
                </a:solidFill>
                <a:latin typeface="SimSun"/>
                <a:cs typeface="SimSun"/>
              </a:rPr>
              <a:t>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p:txBody>
      </p:sp>
      <p:sp>
        <p:nvSpPr>
          <p:cNvPr id="7" name="object 7"/>
          <p:cNvSpPr txBox="1"/>
          <p:nvPr/>
        </p:nvSpPr>
        <p:spPr>
          <a:xfrm>
            <a:off x="5297106" y="4113453"/>
            <a:ext cx="4492625" cy="709930"/>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[days =</a:t>
            </a:r>
            <a:r>
              <a:rPr sz="2050" spc="-30" dirty="0">
                <a:solidFill>
                  <a:srgbClr val="FF0000"/>
                </a:solidFill>
                <a:latin typeface="SimSun"/>
                <a:cs typeface="SimSun"/>
              </a:rPr>
              <a:t> </a:t>
            </a:r>
            <a:r>
              <a:rPr sz="2050" spc="55" dirty="0">
                <a:solidFill>
                  <a:srgbClr val="FF0000"/>
                </a:solidFill>
                <a:latin typeface="SimSun"/>
                <a:cs typeface="SimSun"/>
              </a:rPr>
              <a:t>positive]</a:t>
            </a:r>
            <a:endParaRPr sz="2050">
              <a:latin typeface="SimSun"/>
              <a:cs typeface="SimSun"/>
            </a:endParaRPr>
          </a:p>
          <a:p>
            <a:pPr marL="25400">
              <a:lnSpc>
                <a:spcPct val="100000"/>
              </a:lnSpc>
              <a:spcBef>
                <a:spcPts val="464"/>
              </a:spcBef>
            </a:pPr>
            <a:r>
              <a:rPr sz="2050" spc="55" dirty="0">
                <a:solidFill>
                  <a:srgbClr val="FF0000"/>
                </a:solidFill>
                <a:latin typeface="SimSun"/>
                <a:cs typeface="SimSun"/>
              </a:rPr>
              <a:t>[days</a:t>
            </a:r>
            <a:r>
              <a:rPr sz="2050" spc="35" dirty="0">
                <a:solidFill>
                  <a:srgbClr val="FF0000"/>
                </a:solidFill>
                <a:latin typeface="SimSun"/>
                <a:cs typeface="SimSun"/>
              </a:rPr>
              <a:t> </a:t>
            </a:r>
            <a:r>
              <a:rPr sz="2050" spc="55" dirty="0">
                <a:solidFill>
                  <a:srgbClr val="FF0000"/>
                </a:solidFill>
                <a:latin typeface="SimSun"/>
                <a:cs typeface="SimSun"/>
              </a:rPr>
              <a:t>=</a:t>
            </a:r>
            <a:r>
              <a:rPr sz="2050" spc="30" dirty="0">
                <a:solidFill>
                  <a:srgbClr val="FF0000"/>
                </a:solidFill>
                <a:latin typeface="SimSun"/>
                <a:cs typeface="SimSun"/>
              </a:rPr>
              <a:t> </a:t>
            </a:r>
            <a:r>
              <a:rPr sz="2050" spc="55" dirty="0">
                <a:solidFill>
                  <a:srgbClr val="FF0000"/>
                </a:solidFill>
                <a:latin typeface="SimSun"/>
                <a:cs typeface="SimSun"/>
              </a:rPr>
              <a:t>negative</a:t>
            </a:r>
            <a:r>
              <a:rPr sz="2050" spc="-675" dirty="0">
                <a:solidFill>
                  <a:srgbClr val="FF0000"/>
                </a:solidFill>
                <a:latin typeface="SimSun"/>
                <a:cs typeface="SimSun"/>
              </a:rPr>
              <a:t> </a:t>
            </a:r>
            <a:r>
              <a:rPr sz="2050" spc="55" dirty="0">
                <a:solidFill>
                  <a:srgbClr val="FF0000"/>
                </a:solidFill>
                <a:latin typeface="SimSun"/>
                <a:cs typeface="SimSun"/>
              </a:rPr>
              <a:t>|</a:t>
            </a:r>
            <a:r>
              <a:rPr sz="2050" spc="-675" dirty="0">
                <a:solidFill>
                  <a:srgbClr val="FF0000"/>
                </a:solidFill>
                <a:latin typeface="SimSun"/>
                <a:cs typeface="SimSun"/>
              </a:rPr>
              <a:t> </a:t>
            </a:r>
            <a:r>
              <a:rPr sz="2050" spc="55" dirty="0">
                <a:solidFill>
                  <a:srgbClr val="FF0000"/>
                </a:solidFill>
                <a:latin typeface="SimSun"/>
                <a:cs typeface="SimSun"/>
              </a:rPr>
              <a:t>zero</a:t>
            </a:r>
            <a:r>
              <a:rPr sz="2050" spc="-675" dirty="0">
                <a:solidFill>
                  <a:srgbClr val="FF0000"/>
                </a:solidFill>
                <a:latin typeface="SimSun"/>
                <a:cs typeface="SimSun"/>
              </a:rPr>
              <a:t> </a:t>
            </a:r>
            <a:r>
              <a:rPr sz="2050" spc="55" dirty="0">
                <a:solidFill>
                  <a:srgbClr val="FF0000"/>
                </a:solidFill>
                <a:latin typeface="SimSun"/>
                <a:cs typeface="SimSun"/>
              </a:rPr>
              <a:t>|</a:t>
            </a:r>
            <a:r>
              <a:rPr sz="2050" spc="-675" dirty="0">
                <a:solidFill>
                  <a:srgbClr val="FF0000"/>
                </a:solidFill>
                <a:latin typeface="SimSun"/>
                <a:cs typeface="SimSun"/>
              </a:rPr>
              <a:t> </a:t>
            </a:r>
            <a:r>
              <a:rPr sz="2050" spc="55" dirty="0">
                <a:solidFill>
                  <a:srgbClr val="FF0000"/>
                </a:solidFill>
                <a:latin typeface="SimSun"/>
                <a:cs typeface="SimSun"/>
              </a:rPr>
              <a:t>positive]</a:t>
            </a:r>
            <a:endParaRPr sz="2050">
              <a:latin typeface="SimSun"/>
              <a:cs typeface="SimSun"/>
            </a:endParaRPr>
          </a:p>
        </p:txBody>
      </p:sp>
      <p:sp>
        <p:nvSpPr>
          <p:cNvPr id="8" name="object 8"/>
          <p:cNvSpPr txBox="1"/>
          <p:nvPr/>
        </p:nvSpPr>
        <p:spPr>
          <a:xfrm>
            <a:off x="901698" y="3741864"/>
            <a:ext cx="3469640" cy="1824989"/>
          </a:xfrm>
          <a:prstGeom prst="rect">
            <a:avLst/>
          </a:prstGeom>
        </p:spPr>
        <p:txBody>
          <a:bodyPr vert="horz" wrap="square" lIns="0" tIns="0" rIns="0" bIns="0" rtlCol="0">
            <a:spAutoFit/>
          </a:bodyPr>
          <a:lstStyle/>
          <a:p>
            <a:pPr marL="1114425">
              <a:lnSpc>
                <a:spcPct val="100000"/>
              </a:lnSpc>
            </a:pPr>
            <a:r>
              <a:rPr sz="2050" spc="365" dirty="0">
                <a:solidFill>
                  <a:srgbClr val="0000FF"/>
                </a:solidFill>
                <a:latin typeface="Lucida Sans Unicode"/>
                <a:cs typeface="Lucida Sans Unicode"/>
              </a:rPr>
              <a:t>}</a:t>
            </a:r>
            <a:endParaRPr sz="2050">
              <a:latin typeface="Lucida Sans Unicode"/>
              <a:cs typeface="Lucida Sans Unicode"/>
            </a:endParaRPr>
          </a:p>
          <a:p>
            <a:pPr marL="563245">
              <a:lnSpc>
                <a:spcPct val="100000"/>
              </a:lnSpc>
              <a:spcBef>
                <a:spcPts val="465"/>
              </a:spcBef>
              <a:tabLst>
                <a:tab pos="832485" algn="l"/>
              </a:tabLst>
            </a:pPr>
            <a:r>
              <a:rPr sz="2050" spc="365" dirty="0">
                <a:solidFill>
                  <a:srgbClr val="0000FF"/>
                </a:solidFill>
                <a:latin typeface="Lucida Sans Unicode"/>
                <a:cs typeface="Lucida Sans Unicode"/>
              </a:rPr>
              <a:t>}	</a:t>
            </a:r>
            <a:r>
              <a:rPr sz="2050" spc="55" dirty="0">
                <a:solidFill>
                  <a:srgbClr val="0000FF"/>
                </a:solidFill>
                <a:latin typeface="SimSun"/>
                <a:cs typeface="SimSun"/>
              </a:rPr>
              <a:t>else</a:t>
            </a:r>
            <a:r>
              <a:rPr sz="2050" spc="-3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1114425" marR="5080">
              <a:lnSpc>
                <a:spcPct val="118900"/>
              </a:lnSpc>
            </a:pPr>
            <a:r>
              <a:rPr sz="2050" spc="55" dirty="0">
                <a:solidFill>
                  <a:srgbClr val="0000FF"/>
                </a:solidFill>
                <a:latin typeface="SimSun"/>
                <a:cs typeface="SimSun"/>
              </a:rPr>
              <a:t>days -=</a:t>
            </a:r>
            <a:r>
              <a:rPr sz="2050" spc="-25" dirty="0">
                <a:solidFill>
                  <a:srgbClr val="0000FF"/>
                </a:solidFill>
                <a:latin typeface="SimSun"/>
                <a:cs typeface="SimSun"/>
              </a:rPr>
              <a:t> </a:t>
            </a:r>
            <a:r>
              <a:rPr sz="2050" spc="55" dirty="0">
                <a:solidFill>
                  <a:srgbClr val="0000FF"/>
                </a:solidFill>
                <a:latin typeface="SimSun"/>
                <a:cs typeface="SimSun"/>
              </a:rPr>
              <a:t>positive;  year +=</a:t>
            </a:r>
            <a:r>
              <a:rPr sz="2050" spc="-25" dirty="0">
                <a:solidFill>
                  <a:srgbClr val="0000FF"/>
                </a:solidFill>
                <a:latin typeface="SimSun"/>
                <a:cs typeface="SimSun"/>
              </a:rPr>
              <a:t> </a:t>
            </a:r>
            <a:r>
              <a:rPr sz="2050" spc="55" dirty="0">
                <a:solidFill>
                  <a:srgbClr val="0000FF"/>
                </a:solidFill>
                <a:latin typeface="SimSun"/>
                <a:cs typeface="SimSun"/>
              </a:rPr>
              <a:t>1;</a:t>
            </a:r>
            <a:endParaRPr sz="2050">
              <a:latin typeface="SimSun"/>
              <a:cs typeface="SimSun"/>
            </a:endParaRPr>
          </a:p>
          <a:p>
            <a:pPr marL="12700">
              <a:lnSpc>
                <a:spcPct val="100000"/>
              </a:lnSpc>
              <a:spcBef>
                <a:spcPts val="465"/>
              </a:spcBef>
              <a:tabLst>
                <a:tab pos="556895" algn="l"/>
              </a:tabLst>
            </a:pPr>
            <a:r>
              <a:rPr sz="2050" spc="365" dirty="0">
                <a:solidFill>
                  <a:srgbClr val="0000FF"/>
                </a:solidFill>
                <a:latin typeface="Lucida Sans Unicode"/>
                <a:cs typeface="Lucida Sans Unicode"/>
              </a:rPr>
              <a:t>}	}</a:t>
            </a:r>
            <a:endParaRPr sz="2050">
              <a:latin typeface="Lucida Sans Unicode"/>
              <a:cs typeface="Lucida Sans Unicode"/>
            </a:endParaRPr>
          </a:p>
        </p:txBody>
      </p:sp>
      <p:sp>
        <p:nvSpPr>
          <p:cNvPr id="9" name="object 9"/>
          <p:cNvSpPr txBox="1"/>
          <p:nvPr/>
        </p:nvSpPr>
        <p:spPr>
          <a:xfrm>
            <a:off x="901700" y="5599696"/>
            <a:ext cx="8158480" cy="1083310"/>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[days = negative |</a:t>
            </a:r>
            <a:r>
              <a:rPr sz="2050" spc="-10" dirty="0">
                <a:solidFill>
                  <a:srgbClr val="FF0000"/>
                </a:solidFill>
                <a:latin typeface="SimSun"/>
                <a:cs typeface="SimSun"/>
              </a:rPr>
              <a:t> </a:t>
            </a:r>
            <a:r>
              <a:rPr sz="2050" spc="55" dirty="0">
                <a:solidFill>
                  <a:srgbClr val="FF0000"/>
                </a:solidFill>
                <a:latin typeface="SimSun"/>
                <a:cs typeface="SimSun"/>
              </a:rPr>
              <a:t>zero]</a:t>
            </a:r>
            <a:endParaRPr sz="2050">
              <a:latin typeface="SimSun"/>
              <a:cs typeface="SimSun"/>
            </a:endParaRPr>
          </a:p>
          <a:p>
            <a:pPr marL="12700">
              <a:lnSpc>
                <a:spcPct val="100000"/>
              </a:lnSpc>
              <a:spcBef>
                <a:spcPts val="570"/>
              </a:spcBef>
              <a:tabLst>
                <a:tab pos="4517390" algn="l"/>
              </a:tabLst>
            </a:pPr>
            <a:r>
              <a:rPr sz="1950" spc="155" dirty="0">
                <a:solidFill>
                  <a:srgbClr val="231F20"/>
                </a:solidFill>
                <a:latin typeface="Arial"/>
                <a:cs typeface="Arial"/>
              </a:rPr>
              <a:t>We’ve  </a:t>
            </a:r>
            <a:r>
              <a:rPr sz="1950" spc="145" dirty="0">
                <a:solidFill>
                  <a:srgbClr val="231F20"/>
                </a:solidFill>
                <a:latin typeface="Arial"/>
                <a:cs typeface="Arial"/>
              </a:rPr>
              <a:t>lost  </a:t>
            </a:r>
            <a:r>
              <a:rPr sz="1950" spc="240" dirty="0">
                <a:solidFill>
                  <a:srgbClr val="231F20"/>
                </a:solidFill>
                <a:latin typeface="Arial"/>
                <a:cs typeface="Arial"/>
              </a:rPr>
              <a:t>too</a:t>
            </a:r>
            <a:r>
              <a:rPr sz="1950" spc="70" dirty="0">
                <a:solidFill>
                  <a:srgbClr val="231F20"/>
                </a:solidFill>
                <a:latin typeface="Arial"/>
                <a:cs typeface="Arial"/>
              </a:rPr>
              <a:t> </a:t>
            </a:r>
            <a:r>
              <a:rPr sz="1950" spc="180" dirty="0">
                <a:solidFill>
                  <a:srgbClr val="231F20"/>
                </a:solidFill>
                <a:latin typeface="Arial"/>
                <a:cs typeface="Arial"/>
              </a:rPr>
              <a:t>much</a:t>
            </a:r>
            <a:r>
              <a:rPr sz="1950" spc="580" dirty="0">
                <a:solidFill>
                  <a:srgbClr val="231F20"/>
                </a:solidFill>
                <a:latin typeface="Arial"/>
                <a:cs typeface="Arial"/>
              </a:rPr>
              <a:t> </a:t>
            </a:r>
            <a:r>
              <a:rPr sz="1950" spc="170" dirty="0">
                <a:solidFill>
                  <a:srgbClr val="231F20"/>
                </a:solidFill>
                <a:latin typeface="Arial"/>
                <a:cs typeface="Arial"/>
              </a:rPr>
              <a:t>information:	</a:t>
            </a:r>
            <a:r>
              <a:rPr sz="1950" spc="95" dirty="0">
                <a:solidFill>
                  <a:srgbClr val="231F20"/>
                </a:solidFill>
                <a:latin typeface="Arial"/>
                <a:cs typeface="Arial"/>
              </a:rPr>
              <a:t>have </a:t>
            </a:r>
            <a:r>
              <a:rPr sz="1950" spc="85" dirty="0">
                <a:solidFill>
                  <a:srgbClr val="231F20"/>
                </a:solidFill>
                <a:latin typeface="Arial"/>
                <a:cs typeface="Arial"/>
              </a:rPr>
              <a:t>a </a:t>
            </a:r>
            <a:r>
              <a:rPr sz="1950" spc="80" dirty="0">
                <a:solidFill>
                  <a:srgbClr val="FF0000"/>
                </a:solidFill>
                <a:latin typeface="Arial"/>
                <a:cs typeface="Arial"/>
              </a:rPr>
              <a:t>false </a:t>
            </a:r>
            <a:r>
              <a:rPr sz="1950" spc="135" dirty="0">
                <a:solidFill>
                  <a:srgbClr val="FF0000"/>
                </a:solidFill>
                <a:latin typeface="Arial"/>
                <a:cs typeface="Arial"/>
              </a:rPr>
              <a:t>alarm </a:t>
            </a:r>
            <a:r>
              <a:rPr sz="1950" spc="235" dirty="0">
                <a:solidFill>
                  <a:srgbClr val="231F20"/>
                </a:solidFill>
                <a:latin typeface="Arial"/>
                <a:cs typeface="Arial"/>
              </a:rPr>
              <a:t>that</a:t>
            </a:r>
            <a:r>
              <a:rPr sz="1950" spc="950" dirty="0">
                <a:solidFill>
                  <a:srgbClr val="231F20"/>
                </a:solidFill>
                <a:latin typeface="Arial"/>
                <a:cs typeface="Arial"/>
              </a:rPr>
              <a:t> </a:t>
            </a:r>
            <a:r>
              <a:rPr sz="2050" spc="55" dirty="0">
                <a:solidFill>
                  <a:srgbClr val="0000FF"/>
                </a:solidFill>
                <a:latin typeface="SimSun"/>
                <a:cs typeface="SimSun"/>
              </a:rPr>
              <a:t>days</a:t>
            </a:r>
            <a:endParaRPr sz="2050">
              <a:latin typeface="SimSun"/>
              <a:cs typeface="SimSun"/>
            </a:endParaRPr>
          </a:p>
          <a:p>
            <a:pPr marL="12700">
              <a:lnSpc>
                <a:spcPct val="100000"/>
              </a:lnSpc>
              <a:spcBef>
                <a:spcPts val="565"/>
              </a:spcBef>
            </a:pPr>
            <a:r>
              <a:rPr sz="1950" spc="120" dirty="0">
                <a:solidFill>
                  <a:srgbClr val="231F20"/>
                </a:solidFill>
                <a:latin typeface="Arial"/>
                <a:cs typeface="Arial"/>
              </a:rPr>
              <a:t>can </a:t>
            </a:r>
            <a:r>
              <a:rPr sz="1950" spc="155" dirty="0">
                <a:solidFill>
                  <a:srgbClr val="231F20"/>
                </a:solidFill>
                <a:latin typeface="Arial"/>
                <a:cs typeface="Arial"/>
              </a:rPr>
              <a:t>go </a:t>
            </a:r>
            <a:r>
              <a:rPr sz="1950" spc="125" dirty="0">
                <a:solidFill>
                  <a:srgbClr val="231F20"/>
                </a:solidFill>
                <a:latin typeface="Arial"/>
                <a:cs typeface="Arial"/>
              </a:rPr>
              <a:t>negative </a:t>
            </a:r>
            <a:r>
              <a:rPr sz="1950" spc="185" dirty="0">
                <a:solidFill>
                  <a:srgbClr val="231F20"/>
                </a:solidFill>
                <a:latin typeface="Arial"/>
                <a:cs typeface="Arial"/>
              </a:rPr>
              <a:t>(pointer </a:t>
            </a:r>
            <a:r>
              <a:rPr sz="1950" spc="75" dirty="0">
                <a:solidFill>
                  <a:srgbClr val="231F20"/>
                </a:solidFill>
                <a:latin typeface="Arial"/>
                <a:cs typeface="Arial"/>
              </a:rPr>
              <a:t>analysis </a:t>
            </a:r>
            <a:r>
              <a:rPr sz="1950" spc="40" dirty="0">
                <a:solidFill>
                  <a:srgbClr val="231F20"/>
                </a:solidFill>
                <a:latin typeface="Arial"/>
                <a:cs typeface="Arial"/>
              </a:rPr>
              <a:t>is </a:t>
            </a:r>
            <a:r>
              <a:rPr sz="1950" spc="130" dirty="0">
                <a:solidFill>
                  <a:srgbClr val="231F20"/>
                </a:solidFill>
                <a:latin typeface="Arial"/>
                <a:cs typeface="Arial"/>
              </a:rPr>
              <a:t>sometimes </a:t>
            </a:r>
            <a:r>
              <a:rPr sz="1950" spc="145" dirty="0">
                <a:solidFill>
                  <a:srgbClr val="231F20"/>
                </a:solidFill>
                <a:latin typeface="Arial"/>
                <a:cs typeface="Arial"/>
              </a:rPr>
              <a:t>this </a:t>
            </a:r>
            <a:r>
              <a:rPr sz="1950" spc="765" dirty="0">
                <a:solidFill>
                  <a:srgbClr val="231F20"/>
                </a:solidFill>
                <a:latin typeface="Arial"/>
                <a:cs typeface="Arial"/>
              </a:rPr>
              <a:t> </a:t>
            </a:r>
            <a:r>
              <a:rPr sz="1950" spc="155" dirty="0">
                <a:solidFill>
                  <a:srgbClr val="231F20"/>
                </a:solidFill>
                <a:latin typeface="Arial"/>
                <a:cs typeface="Arial"/>
              </a:rPr>
              <a:t>crude)</a:t>
            </a:r>
            <a:endParaRPr sz="1950">
              <a:latin typeface="Arial"/>
              <a:cs typeface="Arial"/>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39" y="1275169"/>
            <a:ext cx="8260715" cy="4262120"/>
          </a:xfrm>
          <a:prstGeom prst="rect">
            <a:avLst/>
          </a:prstGeom>
        </p:spPr>
        <p:txBody>
          <a:bodyPr vert="horz" wrap="square" lIns="0" tIns="0" rIns="0" bIns="0" rtlCol="0">
            <a:spAutoFit/>
          </a:bodyPr>
          <a:lstStyle/>
          <a:p>
            <a:pPr marL="739140">
              <a:lnSpc>
                <a:spcPct val="100000"/>
              </a:lnSpc>
            </a:pPr>
            <a:r>
              <a:rPr sz="1950" spc="380" dirty="0">
                <a:solidFill>
                  <a:srgbClr val="231F20"/>
                </a:solidFill>
                <a:latin typeface="Arial"/>
                <a:cs typeface="Arial"/>
              </a:rPr>
              <a:t>We </a:t>
            </a:r>
            <a:r>
              <a:rPr sz="1950" spc="235" dirty="0">
                <a:solidFill>
                  <a:srgbClr val="231F20"/>
                </a:solidFill>
                <a:latin typeface="Arial"/>
                <a:cs typeface="Arial"/>
              </a:rPr>
              <a:t>Have </a:t>
            </a:r>
            <a:r>
              <a:rPr sz="1950" spc="400" dirty="0">
                <a:solidFill>
                  <a:srgbClr val="231F20"/>
                </a:solidFill>
                <a:latin typeface="Arial"/>
                <a:cs typeface="Arial"/>
              </a:rPr>
              <a:t>To </a:t>
            </a:r>
            <a:r>
              <a:rPr sz="1950" spc="265" dirty="0">
                <a:solidFill>
                  <a:srgbClr val="231F20"/>
                </a:solidFill>
                <a:latin typeface="Arial"/>
                <a:cs typeface="Arial"/>
              </a:rPr>
              <a:t>Approximate, </a:t>
            </a:r>
            <a:r>
              <a:rPr sz="1950" spc="400" dirty="0">
                <a:solidFill>
                  <a:srgbClr val="231F20"/>
                </a:solidFill>
                <a:latin typeface="Arial"/>
                <a:cs typeface="Arial"/>
              </a:rPr>
              <a:t>But </a:t>
            </a:r>
            <a:r>
              <a:rPr sz="1950" spc="280" dirty="0">
                <a:solidFill>
                  <a:srgbClr val="231F20"/>
                </a:solidFill>
                <a:latin typeface="Arial"/>
                <a:cs typeface="Arial"/>
              </a:rPr>
              <a:t>There’s </a:t>
            </a:r>
            <a:r>
              <a:rPr sz="1950" spc="459" dirty="0">
                <a:solidFill>
                  <a:srgbClr val="231F20"/>
                </a:solidFill>
                <a:latin typeface="Arial"/>
                <a:cs typeface="Arial"/>
              </a:rPr>
              <a:t>A</a:t>
            </a:r>
            <a:r>
              <a:rPr sz="1950" spc="615" dirty="0">
                <a:solidFill>
                  <a:srgbClr val="231F20"/>
                </a:solidFill>
                <a:latin typeface="Arial"/>
                <a:cs typeface="Arial"/>
              </a:rPr>
              <a:t> </a:t>
            </a:r>
            <a:r>
              <a:rPr sz="1950" spc="240" dirty="0">
                <a:solidFill>
                  <a:srgbClr val="231F20"/>
                </a:solidFill>
                <a:latin typeface="Arial"/>
                <a:cs typeface="Arial"/>
              </a:rPr>
              <a:t>Price</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65" dirty="0">
                <a:solidFill>
                  <a:srgbClr val="231F20"/>
                </a:solidFill>
                <a:latin typeface="Arial"/>
                <a:cs typeface="Arial"/>
              </a:rPr>
              <a:t>It’s </a:t>
            </a:r>
            <a:r>
              <a:rPr sz="1950" spc="155" dirty="0">
                <a:solidFill>
                  <a:srgbClr val="231F20"/>
                </a:solidFill>
                <a:latin typeface="Arial"/>
                <a:cs typeface="Arial"/>
              </a:rPr>
              <a:t>no </a:t>
            </a:r>
            <a:r>
              <a:rPr sz="1950" spc="140" dirty="0">
                <a:solidFill>
                  <a:srgbClr val="231F20"/>
                </a:solidFill>
                <a:latin typeface="Arial"/>
                <a:cs typeface="Arial"/>
              </a:rPr>
              <a:t>accident </a:t>
            </a:r>
            <a:r>
              <a:rPr sz="1950" spc="235" dirty="0">
                <a:solidFill>
                  <a:srgbClr val="231F20"/>
                </a:solidFill>
                <a:latin typeface="Arial"/>
                <a:cs typeface="Arial"/>
              </a:rPr>
              <a:t>that </a:t>
            </a:r>
            <a:r>
              <a:rPr sz="1950" spc="95" dirty="0">
                <a:solidFill>
                  <a:srgbClr val="231F20"/>
                </a:solidFill>
                <a:latin typeface="Arial"/>
                <a:cs typeface="Arial"/>
              </a:rPr>
              <a:t>we </a:t>
            </a:r>
            <a:r>
              <a:rPr sz="1950" spc="130" dirty="0">
                <a:solidFill>
                  <a:srgbClr val="231F20"/>
                </a:solidFill>
                <a:latin typeface="Arial"/>
                <a:cs typeface="Arial"/>
              </a:rPr>
              <a:t>sometimes </a:t>
            </a:r>
            <a:r>
              <a:rPr sz="1950" spc="65" dirty="0">
                <a:solidFill>
                  <a:srgbClr val="231F20"/>
                </a:solidFill>
                <a:latin typeface="Arial"/>
                <a:cs typeface="Arial"/>
              </a:rPr>
              <a:t>lose </a:t>
            </a:r>
            <a:r>
              <a:rPr sz="1950" spc="409" dirty="0">
                <a:solidFill>
                  <a:srgbClr val="231F20"/>
                </a:solidFill>
                <a:latin typeface="Arial"/>
                <a:cs typeface="Arial"/>
              </a:rPr>
              <a:t> </a:t>
            </a:r>
            <a:r>
              <a:rPr sz="1950" spc="100" dirty="0">
                <a:solidFill>
                  <a:srgbClr val="231F20"/>
                </a:solidFill>
                <a:latin typeface="Arial"/>
                <a:cs typeface="Arial"/>
              </a:rPr>
              <a:t>precision</a:t>
            </a:r>
            <a:endParaRPr sz="1950">
              <a:latin typeface="Arial"/>
              <a:cs typeface="Arial"/>
            </a:endParaRPr>
          </a:p>
          <a:p>
            <a:pPr marL="300990" marR="5080" indent="-288290">
              <a:lnSpc>
                <a:spcPct val="125000"/>
              </a:lnSpc>
              <a:spcBef>
                <a:spcPts val="1345"/>
              </a:spcBef>
              <a:buClr>
                <a:srgbClr val="231F20"/>
              </a:buClr>
              <a:buSzPct val="105128"/>
              <a:buFont typeface="Lucida Sans Unicode"/>
              <a:buChar char="•"/>
              <a:tabLst>
                <a:tab pos="301625" algn="l"/>
              </a:tabLst>
            </a:pPr>
            <a:r>
              <a:rPr sz="1950" spc="110" dirty="0">
                <a:solidFill>
                  <a:srgbClr val="0000FF"/>
                </a:solidFill>
                <a:latin typeface="Arial"/>
                <a:cs typeface="Arial"/>
              </a:rPr>
              <a:t>Rice’s </a:t>
            </a:r>
            <a:r>
              <a:rPr sz="1950" spc="185" dirty="0">
                <a:solidFill>
                  <a:srgbClr val="0000FF"/>
                </a:solidFill>
                <a:latin typeface="Arial"/>
                <a:cs typeface="Arial"/>
              </a:rPr>
              <a:t>Theorem </a:t>
            </a:r>
            <a:r>
              <a:rPr sz="1950" spc="20" dirty="0">
                <a:solidFill>
                  <a:srgbClr val="231F20"/>
                </a:solidFill>
                <a:latin typeface="Arial"/>
                <a:cs typeface="Arial"/>
              </a:rPr>
              <a:t>says </a:t>
            </a:r>
            <a:r>
              <a:rPr sz="1950" spc="140" dirty="0">
                <a:solidFill>
                  <a:srgbClr val="231F20"/>
                </a:solidFill>
                <a:latin typeface="Arial"/>
                <a:cs typeface="Arial"/>
              </a:rPr>
              <a:t>there </a:t>
            </a:r>
            <a:r>
              <a:rPr sz="1950" spc="65" dirty="0">
                <a:solidFill>
                  <a:srgbClr val="231F20"/>
                </a:solidFill>
                <a:latin typeface="Arial"/>
                <a:cs typeface="Arial"/>
              </a:rPr>
              <a:t>are </a:t>
            </a:r>
            <a:r>
              <a:rPr sz="1950" spc="140" dirty="0">
                <a:solidFill>
                  <a:srgbClr val="FF0000"/>
                </a:solidFill>
                <a:latin typeface="Arial"/>
                <a:cs typeface="Arial"/>
              </a:rPr>
              <a:t>inherent </a:t>
            </a:r>
            <a:r>
              <a:rPr sz="1950" spc="160" dirty="0">
                <a:solidFill>
                  <a:srgbClr val="FF0000"/>
                </a:solidFill>
                <a:latin typeface="Arial"/>
                <a:cs typeface="Arial"/>
              </a:rPr>
              <a:t>limits </a:t>
            </a:r>
            <a:r>
              <a:rPr sz="1950" spc="155" dirty="0">
                <a:solidFill>
                  <a:srgbClr val="231F20"/>
                </a:solidFill>
                <a:latin typeface="Arial"/>
                <a:cs typeface="Arial"/>
              </a:rPr>
              <a:t>on </a:t>
            </a:r>
            <a:r>
              <a:rPr sz="1950" spc="204" dirty="0">
                <a:solidFill>
                  <a:srgbClr val="231F20"/>
                </a:solidFill>
                <a:latin typeface="Arial"/>
                <a:cs typeface="Arial"/>
              </a:rPr>
              <a:t>what </a:t>
            </a:r>
            <a:r>
              <a:rPr sz="1950" spc="120" dirty="0">
                <a:solidFill>
                  <a:srgbClr val="231F20"/>
                </a:solidFill>
                <a:latin typeface="Arial"/>
                <a:cs typeface="Arial"/>
              </a:rPr>
              <a:t>can </a:t>
            </a:r>
            <a:r>
              <a:rPr sz="1950" spc="114" dirty="0">
                <a:solidFill>
                  <a:srgbClr val="231F20"/>
                </a:solidFill>
                <a:latin typeface="Arial"/>
                <a:cs typeface="Arial"/>
              </a:rPr>
              <a:t>be  </a:t>
            </a:r>
            <a:r>
              <a:rPr sz="1950" spc="120" dirty="0">
                <a:solidFill>
                  <a:srgbClr val="231F20"/>
                </a:solidFill>
                <a:latin typeface="Arial"/>
                <a:cs typeface="Arial"/>
              </a:rPr>
              <a:t>accomplished </a:t>
            </a:r>
            <a:r>
              <a:rPr sz="1950" spc="105" dirty="0">
                <a:solidFill>
                  <a:srgbClr val="231F20"/>
                </a:solidFill>
                <a:latin typeface="Arial"/>
                <a:cs typeface="Arial"/>
              </a:rPr>
              <a:t>by </a:t>
            </a:r>
            <a:r>
              <a:rPr sz="1950" spc="180" dirty="0">
                <a:solidFill>
                  <a:srgbClr val="231F20"/>
                </a:solidFill>
                <a:latin typeface="Arial"/>
                <a:cs typeface="Arial"/>
              </a:rPr>
              <a:t>automated </a:t>
            </a:r>
            <a:r>
              <a:rPr sz="1950" spc="75" dirty="0">
                <a:solidFill>
                  <a:srgbClr val="231F20"/>
                </a:solidFill>
                <a:latin typeface="Arial"/>
                <a:cs typeface="Arial"/>
              </a:rPr>
              <a:t>analysis </a:t>
            </a:r>
            <a:r>
              <a:rPr sz="1950" spc="185" dirty="0">
                <a:solidFill>
                  <a:srgbClr val="231F20"/>
                </a:solidFill>
                <a:latin typeface="Arial"/>
                <a:cs typeface="Arial"/>
              </a:rPr>
              <a:t>of </a:t>
            </a:r>
            <a:r>
              <a:rPr sz="1950" spc="229" dirty="0">
                <a:solidFill>
                  <a:srgbClr val="231F20"/>
                </a:solidFill>
                <a:latin typeface="Arial"/>
                <a:cs typeface="Arial"/>
              </a:rPr>
              <a:t> </a:t>
            </a:r>
            <a:r>
              <a:rPr sz="1950" spc="135" dirty="0">
                <a:solidFill>
                  <a:srgbClr val="231F20"/>
                </a:solidFill>
                <a:latin typeface="Arial"/>
                <a:cs typeface="Arial"/>
              </a:rPr>
              <a:t>programs</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135" dirty="0">
                <a:solidFill>
                  <a:srgbClr val="231F20"/>
                </a:solidFill>
                <a:latin typeface="Arial"/>
                <a:cs typeface="Arial"/>
              </a:rPr>
              <a:t>Sound (miss </a:t>
            </a:r>
            <a:r>
              <a:rPr sz="1950" spc="155" dirty="0">
                <a:solidFill>
                  <a:srgbClr val="231F20"/>
                </a:solidFill>
                <a:latin typeface="Arial"/>
                <a:cs typeface="Arial"/>
              </a:rPr>
              <a:t>no</a:t>
            </a:r>
            <a:r>
              <a:rPr sz="1950" spc="530" dirty="0">
                <a:solidFill>
                  <a:srgbClr val="231F20"/>
                </a:solidFill>
                <a:latin typeface="Arial"/>
                <a:cs typeface="Arial"/>
              </a:rPr>
              <a:t> </a:t>
            </a:r>
            <a:r>
              <a:rPr sz="1950" spc="125" dirty="0">
                <a:solidFill>
                  <a:srgbClr val="231F20"/>
                </a:solidFill>
                <a:latin typeface="Arial"/>
                <a:cs typeface="Arial"/>
              </a:rPr>
              <a:t>errors)</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160" dirty="0">
                <a:solidFill>
                  <a:srgbClr val="231F20"/>
                </a:solidFill>
                <a:latin typeface="Arial"/>
                <a:cs typeface="Arial"/>
              </a:rPr>
              <a:t>Complete </a:t>
            </a:r>
            <a:r>
              <a:rPr sz="1950" spc="204" dirty="0">
                <a:solidFill>
                  <a:srgbClr val="231F20"/>
                </a:solidFill>
                <a:latin typeface="Arial"/>
                <a:cs typeface="Arial"/>
              </a:rPr>
              <a:t>(no </a:t>
            </a:r>
            <a:r>
              <a:rPr sz="1950" spc="80" dirty="0">
                <a:solidFill>
                  <a:srgbClr val="231F20"/>
                </a:solidFill>
                <a:latin typeface="Arial"/>
                <a:cs typeface="Arial"/>
              </a:rPr>
              <a:t>false</a:t>
            </a:r>
            <a:r>
              <a:rPr sz="1950" spc="395" dirty="0">
                <a:solidFill>
                  <a:srgbClr val="231F20"/>
                </a:solidFill>
                <a:latin typeface="Arial"/>
                <a:cs typeface="Arial"/>
              </a:rPr>
              <a:t> </a:t>
            </a:r>
            <a:r>
              <a:rPr sz="1950" spc="140" dirty="0">
                <a:solidFill>
                  <a:srgbClr val="231F20"/>
                </a:solidFill>
                <a:latin typeface="Arial"/>
                <a:cs typeface="Arial"/>
              </a:rPr>
              <a:t>alarms)</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215" dirty="0">
                <a:solidFill>
                  <a:srgbClr val="231F20"/>
                </a:solidFill>
                <a:latin typeface="Arial"/>
                <a:cs typeface="Arial"/>
              </a:rPr>
              <a:t>Automatic</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165" dirty="0">
                <a:solidFill>
                  <a:srgbClr val="231F20"/>
                </a:solidFill>
                <a:latin typeface="Arial"/>
                <a:cs typeface="Arial"/>
              </a:rPr>
              <a:t>Allow </a:t>
            </a:r>
            <a:r>
              <a:rPr sz="1950" spc="140" dirty="0">
                <a:solidFill>
                  <a:srgbClr val="231F20"/>
                </a:solidFill>
                <a:latin typeface="Arial"/>
                <a:cs typeface="Arial"/>
              </a:rPr>
              <a:t>arbitrary </a:t>
            </a:r>
            <a:r>
              <a:rPr sz="1950" spc="175" dirty="0">
                <a:solidFill>
                  <a:srgbClr val="231F20"/>
                </a:solidFill>
                <a:latin typeface="Arial"/>
                <a:cs typeface="Arial"/>
              </a:rPr>
              <a:t>(unbounded) </a:t>
            </a:r>
            <a:r>
              <a:rPr sz="1950" spc="165" dirty="0">
                <a:solidFill>
                  <a:srgbClr val="231F20"/>
                </a:solidFill>
                <a:latin typeface="Arial"/>
                <a:cs typeface="Arial"/>
              </a:rPr>
              <a:t>memory</a:t>
            </a:r>
            <a:r>
              <a:rPr sz="1950" spc="695" dirty="0">
                <a:solidFill>
                  <a:srgbClr val="231F20"/>
                </a:solidFill>
                <a:latin typeface="Arial"/>
                <a:cs typeface="Arial"/>
              </a:rPr>
              <a:t> </a:t>
            </a:r>
            <a:r>
              <a:rPr sz="1950" spc="140" dirty="0">
                <a:solidFill>
                  <a:srgbClr val="231F20"/>
                </a:solidFill>
                <a:latin typeface="Arial"/>
                <a:cs typeface="Arial"/>
              </a:rPr>
              <a:t>structures</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150" dirty="0">
                <a:solidFill>
                  <a:srgbClr val="231F20"/>
                </a:solidFill>
                <a:latin typeface="Arial"/>
                <a:cs typeface="Arial"/>
              </a:rPr>
              <a:t>Final</a:t>
            </a:r>
            <a:r>
              <a:rPr sz="1950" spc="204" dirty="0">
                <a:solidFill>
                  <a:srgbClr val="231F20"/>
                </a:solidFill>
                <a:latin typeface="Arial"/>
                <a:cs typeface="Arial"/>
              </a:rPr>
              <a:t> </a:t>
            </a:r>
            <a:r>
              <a:rPr sz="1950" spc="105" dirty="0">
                <a:solidFill>
                  <a:srgbClr val="231F20"/>
                </a:solidFill>
                <a:latin typeface="Arial"/>
                <a:cs typeface="Arial"/>
              </a:rPr>
              <a:t>results</a:t>
            </a:r>
            <a:endParaRPr sz="1950">
              <a:latin typeface="Arial"/>
              <a:cs typeface="Arial"/>
            </a:endParaRPr>
          </a:p>
          <a:p>
            <a:pPr marL="300990">
              <a:lnSpc>
                <a:spcPct val="100000"/>
              </a:lnSpc>
              <a:spcBef>
                <a:spcPts val="1100"/>
              </a:spcBef>
            </a:pPr>
            <a:r>
              <a:rPr sz="1950" spc="114" dirty="0">
                <a:solidFill>
                  <a:srgbClr val="0000FF"/>
                </a:solidFill>
                <a:latin typeface="Arial"/>
                <a:cs typeface="Arial"/>
              </a:rPr>
              <a:t>Choose </a:t>
            </a:r>
            <a:r>
              <a:rPr sz="1950" spc="215" dirty="0">
                <a:solidFill>
                  <a:srgbClr val="0000FF"/>
                </a:solidFill>
                <a:latin typeface="Arial"/>
                <a:cs typeface="Arial"/>
              </a:rPr>
              <a:t>at </a:t>
            </a:r>
            <a:r>
              <a:rPr sz="1950" spc="195" dirty="0">
                <a:solidFill>
                  <a:srgbClr val="0000FF"/>
                </a:solidFill>
                <a:latin typeface="Arial"/>
                <a:cs typeface="Arial"/>
              </a:rPr>
              <a:t>most </a:t>
            </a:r>
            <a:r>
              <a:rPr sz="1950" spc="155" dirty="0">
                <a:solidFill>
                  <a:srgbClr val="0000FF"/>
                </a:solidFill>
                <a:latin typeface="Arial"/>
                <a:cs typeface="Arial"/>
              </a:rPr>
              <a:t>4 </a:t>
            </a:r>
            <a:r>
              <a:rPr sz="1950" spc="185" dirty="0">
                <a:solidFill>
                  <a:srgbClr val="0000FF"/>
                </a:solidFill>
                <a:latin typeface="Arial"/>
                <a:cs typeface="Arial"/>
              </a:rPr>
              <a:t>of </a:t>
            </a:r>
            <a:r>
              <a:rPr sz="1950" spc="175" dirty="0">
                <a:solidFill>
                  <a:srgbClr val="0000FF"/>
                </a:solidFill>
                <a:latin typeface="Arial"/>
                <a:cs typeface="Arial"/>
              </a:rPr>
              <a:t>the</a:t>
            </a:r>
            <a:r>
              <a:rPr sz="1950" spc="750" dirty="0">
                <a:solidFill>
                  <a:srgbClr val="0000FF"/>
                </a:solidFill>
                <a:latin typeface="Arial"/>
                <a:cs typeface="Arial"/>
              </a:rPr>
              <a:t> </a:t>
            </a:r>
            <a:r>
              <a:rPr sz="1950" spc="155" dirty="0">
                <a:solidFill>
                  <a:srgbClr val="0000FF"/>
                </a:solidFill>
                <a:latin typeface="Arial"/>
                <a:cs typeface="Arial"/>
              </a:rPr>
              <a:t>5</a:t>
            </a:r>
            <a:endParaRPr sz="1950">
              <a:latin typeface="Arial"/>
              <a:cs typeface="Arial"/>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30993" y="475981"/>
            <a:ext cx="2197735" cy="314960"/>
          </a:xfrm>
          <a:prstGeom prst="rect">
            <a:avLst/>
          </a:prstGeom>
        </p:spPr>
        <p:txBody>
          <a:bodyPr vert="horz" wrap="square" lIns="0" tIns="0" rIns="0" bIns="0" rtlCol="0">
            <a:spAutoFit/>
          </a:bodyPr>
          <a:lstStyle/>
          <a:p>
            <a:pPr marL="12700">
              <a:lnSpc>
                <a:spcPct val="100000"/>
              </a:lnSpc>
            </a:pPr>
            <a:r>
              <a:rPr sz="1950" spc="254" dirty="0">
                <a:solidFill>
                  <a:srgbClr val="231F20"/>
                </a:solidFill>
                <a:latin typeface="Arial"/>
                <a:cs typeface="Arial"/>
              </a:rPr>
              <a:t>Approximations</a:t>
            </a:r>
            <a:endParaRPr sz="1950">
              <a:latin typeface="Arial"/>
              <a:cs typeface="Arial"/>
            </a:endParaRPr>
          </a:p>
        </p:txBody>
      </p:sp>
      <p:sp>
        <p:nvSpPr>
          <p:cNvPr id="3" name="object 3"/>
          <p:cNvSpPr/>
          <p:nvPr/>
        </p:nvSpPr>
        <p:spPr>
          <a:xfrm>
            <a:off x="918634" y="1635105"/>
            <a:ext cx="7481825" cy="3114511"/>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300073" y="1974557"/>
            <a:ext cx="6425565" cy="2352040"/>
          </a:xfrm>
          <a:custGeom>
            <a:avLst/>
            <a:gdLst/>
            <a:ahLst/>
            <a:cxnLst/>
            <a:rect l="l" t="t" r="r" b="b"/>
            <a:pathLst>
              <a:path w="6425565" h="2352040">
                <a:moveTo>
                  <a:pt x="6424993" y="1175816"/>
                </a:moveTo>
                <a:lnTo>
                  <a:pt x="5921070" y="587895"/>
                </a:lnTo>
                <a:lnTo>
                  <a:pt x="4871237" y="209956"/>
                </a:lnTo>
                <a:lnTo>
                  <a:pt x="3653421" y="503910"/>
                </a:lnTo>
                <a:lnTo>
                  <a:pt x="3065513" y="0"/>
                </a:lnTo>
                <a:lnTo>
                  <a:pt x="1679727" y="251955"/>
                </a:lnTo>
                <a:lnTo>
                  <a:pt x="755878" y="713879"/>
                </a:lnTo>
                <a:lnTo>
                  <a:pt x="0" y="1175816"/>
                </a:lnTo>
                <a:lnTo>
                  <a:pt x="503923" y="1973681"/>
                </a:lnTo>
                <a:lnTo>
                  <a:pt x="2309634" y="2351620"/>
                </a:lnTo>
                <a:lnTo>
                  <a:pt x="4367314" y="2267635"/>
                </a:lnTo>
                <a:lnTo>
                  <a:pt x="5333161" y="1385773"/>
                </a:lnTo>
                <a:lnTo>
                  <a:pt x="5879071" y="2015680"/>
                </a:lnTo>
                <a:lnTo>
                  <a:pt x="6424993" y="1175816"/>
                </a:lnTo>
                <a:close/>
              </a:path>
            </a:pathLst>
          </a:custGeom>
          <a:solidFill>
            <a:srgbClr val="008E00"/>
          </a:solidFill>
        </p:spPr>
        <p:txBody>
          <a:bodyPr wrap="square" lIns="0" tIns="0" rIns="0" bIns="0" rtlCol="0"/>
          <a:lstStyle/>
          <a:p>
            <a:endParaRPr/>
          </a:p>
        </p:txBody>
      </p:sp>
      <p:sp>
        <p:nvSpPr>
          <p:cNvPr id="5" name="object 5"/>
          <p:cNvSpPr/>
          <p:nvPr/>
        </p:nvSpPr>
        <p:spPr>
          <a:xfrm>
            <a:off x="1300073" y="1974557"/>
            <a:ext cx="6425565" cy="2352040"/>
          </a:xfrm>
          <a:custGeom>
            <a:avLst/>
            <a:gdLst/>
            <a:ahLst/>
            <a:cxnLst/>
            <a:rect l="l" t="t" r="r" b="b"/>
            <a:pathLst>
              <a:path w="6425565" h="2352040">
                <a:moveTo>
                  <a:pt x="755878" y="713879"/>
                </a:moveTo>
                <a:lnTo>
                  <a:pt x="1679727" y="251955"/>
                </a:lnTo>
                <a:lnTo>
                  <a:pt x="3065513" y="0"/>
                </a:lnTo>
                <a:lnTo>
                  <a:pt x="3653421" y="503910"/>
                </a:lnTo>
                <a:lnTo>
                  <a:pt x="4871237" y="209956"/>
                </a:lnTo>
                <a:lnTo>
                  <a:pt x="5921070" y="587895"/>
                </a:lnTo>
                <a:lnTo>
                  <a:pt x="6424993" y="1175816"/>
                </a:lnTo>
                <a:lnTo>
                  <a:pt x="5879071" y="2015680"/>
                </a:lnTo>
                <a:lnTo>
                  <a:pt x="5333161" y="1385773"/>
                </a:lnTo>
                <a:lnTo>
                  <a:pt x="4367314" y="2267635"/>
                </a:lnTo>
                <a:lnTo>
                  <a:pt x="2309634" y="2351620"/>
                </a:lnTo>
                <a:lnTo>
                  <a:pt x="503923" y="1973681"/>
                </a:lnTo>
                <a:lnTo>
                  <a:pt x="0" y="1175816"/>
                </a:lnTo>
                <a:lnTo>
                  <a:pt x="755878" y="713879"/>
                </a:lnTo>
                <a:close/>
              </a:path>
            </a:pathLst>
          </a:custGeom>
          <a:ln w="6998">
            <a:solidFill>
              <a:srgbClr val="000000"/>
            </a:solidFill>
          </a:ln>
        </p:spPr>
        <p:txBody>
          <a:bodyPr wrap="square" lIns="0" tIns="0" rIns="0" bIns="0" rtlCol="0"/>
          <a:lstStyle/>
          <a:p>
            <a:endParaRPr/>
          </a:p>
        </p:txBody>
      </p:sp>
      <p:sp>
        <p:nvSpPr>
          <p:cNvPr id="6" name="object 6"/>
          <p:cNvSpPr txBox="1"/>
          <p:nvPr/>
        </p:nvSpPr>
        <p:spPr>
          <a:xfrm>
            <a:off x="3134601" y="2967647"/>
            <a:ext cx="1706245" cy="332105"/>
          </a:xfrm>
          <a:prstGeom prst="rect">
            <a:avLst/>
          </a:prstGeom>
        </p:spPr>
        <p:txBody>
          <a:bodyPr vert="horz" wrap="square" lIns="0" tIns="0" rIns="0" bIns="0" rtlCol="0">
            <a:spAutoFit/>
          </a:bodyPr>
          <a:lstStyle/>
          <a:p>
            <a:pPr marL="12700">
              <a:lnSpc>
                <a:spcPct val="100000"/>
              </a:lnSpc>
            </a:pPr>
            <a:r>
              <a:rPr sz="2100" dirty="0">
                <a:latin typeface="Times New Roman"/>
                <a:cs typeface="Times New Roman"/>
              </a:rPr>
              <a:t>reachable</a:t>
            </a:r>
            <a:r>
              <a:rPr sz="2100" spc="-100" dirty="0">
                <a:latin typeface="Times New Roman"/>
                <a:cs typeface="Times New Roman"/>
              </a:rPr>
              <a:t> </a:t>
            </a:r>
            <a:r>
              <a:rPr sz="2100" dirty="0">
                <a:latin typeface="Times New Roman"/>
                <a:cs typeface="Times New Roman"/>
              </a:rPr>
              <a:t>states</a:t>
            </a:r>
            <a:endParaRPr sz="2100">
              <a:latin typeface="Times New Roman"/>
              <a:cs typeface="Times New Roman"/>
            </a:endParaRPr>
          </a:p>
        </p:txBody>
      </p:sp>
      <p:sp>
        <p:nvSpPr>
          <p:cNvPr id="7" name="object 7"/>
          <p:cNvSpPr txBox="1">
            <a:spLocks noGrp="1"/>
          </p:cNvSpPr>
          <p:nvPr>
            <p:ph type="title"/>
          </p:nvPr>
        </p:nvSpPr>
        <p:spPr>
          <a:prstGeom prst="rect">
            <a:avLst/>
          </a:prstGeom>
        </p:spPr>
        <p:txBody>
          <a:bodyPr vert="horz" wrap="square" lIns="0" tIns="786366" rIns="0" bIns="0" rtlCol="0">
            <a:spAutoFit/>
          </a:bodyPr>
          <a:lstStyle/>
          <a:p>
            <a:pPr marL="3678554">
              <a:lnSpc>
                <a:spcPct val="100000"/>
              </a:lnSpc>
            </a:pPr>
            <a:r>
              <a:rPr sz="2100" dirty="0">
                <a:solidFill>
                  <a:srgbClr val="000000"/>
                </a:solidFill>
                <a:latin typeface="Times New Roman"/>
                <a:cs typeface="Times New Roman"/>
              </a:rPr>
              <a:t>approximation</a:t>
            </a:r>
            <a:endParaRPr sz="2100">
              <a:latin typeface="Times New Roman"/>
              <a:cs typeface="Times New Roman"/>
            </a:endParaRPr>
          </a:p>
        </p:txBody>
      </p:sp>
      <p:sp>
        <p:nvSpPr>
          <p:cNvPr id="8" name="object 8"/>
          <p:cNvSpPr txBox="1"/>
          <p:nvPr/>
        </p:nvSpPr>
        <p:spPr>
          <a:xfrm>
            <a:off x="901700" y="5580735"/>
            <a:ext cx="7956550" cy="760730"/>
          </a:xfrm>
          <a:prstGeom prst="rect">
            <a:avLst/>
          </a:prstGeom>
        </p:spPr>
        <p:txBody>
          <a:bodyPr vert="horz" wrap="square" lIns="0" tIns="0" rIns="0" bIns="0" rtlCol="0">
            <a:spAutoFit/>
          </a:bodyPr>
          <a:lstStyle/>
          <a:p>
            <a:pPr marL="12700" marR="5080">
              <a:lnSpc>
                <a:spcPct val="125000"/>
              </a:lnSpc>
            </a:pPr>
            <a:r>
              <a:rPr sz="1950" spc="135" dirty="0">
                <a:solidFill>
                  <a:srgbClr val="231F20"/>
                </a:solidFill>
                <a:latin typeface="Arial"/>
                <a:cs typeface="Arial"/>
              </a:rPr>
              <a:t>Sound </a:t>
            </a:r>
            <a:r>
              <a:rPr sz="1950" spc="140" dirty="0">
                <a:solidFill>
                  <a:srgbClr val="231F20"/>
                </a:solidFill>
                <a:latin typeface="Arial"/>
                <a:cs typeface="Arial"/>
              </a:rPr>
              <a:t>approximations </a:t>
            </a:r>
            <a:r>
              <a:rPr sz="1950" spc="114" dirty="0">
                <a:solidFill>
                  <a:srgbClr val="231F20"/>
                </a:solidFill>
                <a:latin typeface="Arial"/>
                <a:cs typeface="Arial"/>
              </a:rPr>
              <a:t>include </a:t>
            </a:r>
            <a:r>
              <a:rPr sz="1950" spc="105" dirty="0">
                <a:solidFill>
                  <a:srgbClr val="231F20"/>
                </a:solidFill>
                <a:latin typeface="Arial"/>
                <a:cs typeface="Arial"/>
              </a:rPr>
              <a:t>all </a:t>
            </a:r>
            <a:r>
              <a:rPr sz="1950" spc="175" dirty="0">
                <a:solidFill>
                  <a:srgbClr val="231F20"/>
                </a:solidFill>
                <a:latin typeface="Arial"/>
                <a:cs typeface="Arial"/>
              </a:rPr>
              <a:t>the </a:t>
            </a:r>
            <a:r>
              <a:rPr sz="1950" spc="100" dirty="0">
                <a:solidFill>
                  <a:srgbClr val="231F20"/>
                </a:solidFill>
                <a:latin typeface="Arial"/>
                <a:cs typeface="Arial"/>
              </a:rPr>
              <a:t>behaviors </a:t>
            </a:r>
            <a:r>
              <a:rPr sz="1950" spc="130" dirty="0">
                <a:solidFill>
                  <a:srgbClr val="231F20"/>
                </a:solidFill>
                <a:latin typeface="Arial"/>
                <a:cs typeface="Arial"/>
              </a:rPr>
              <a:t>and </a:t>
            </a:r>
            <a:r>
              <a:rPr sz="1950" spc="100" dirty="0">
                <a:solidFill>
                  <a:srgbClr val="231F20"/>
                </a:solidFill>
                <a:latin typeface="Arial"/>
                <a:cs typeface="Arial"/>
              </a:rPr>
              <a:t>reachable  </a:t>
            </a:r>
            <a:r>
              <a:rPr sz="1950" spc="125" dirty="0">
                <a:solidFill>
                  <a:srgbClr val="231F20"/>
                </a:solidFill>
                <a:latin typeface="Arial"/>
                <a:cs typeface="Arial"/>
              </a:rPr>
              <a:t>states </a:t>
            </a:r>
            <a:r>
              <a:rPr sz="1950" spc="185" dirty="0">
                <a:solidFill>
                  <a:srgbClr val="231F20"/>
                </a:solidFill>
                <a:latin typeface="Arial"/>
                <a:cs typeface="Arial"/>
              </a:rPr>
              <a:t>of </a:t>
            </a:r>
            <a:r>
              <a:rPr sz="1950" spc="175" dirty="0">
                <a:solidFill>
                  <a:srgbClr val="231F20"/>
                </a:solidFill>
                <a:latin typeface="Arial"/>
                <a:cs typeface="Arial"/>
              </a:rPr>
              <a:t>the </a:t>
            </a:r>
            <a:r>
              <a:rPr sz="1950" spc="95" dirty="0">
                <a:solidFill>
                  <a:srgbClr val="231F20"/>
                </a:solidFill>
                <a:latin typeface="Arial"/>
                <a:cs typeface="Arial"/>
              </a:rPr>
              <a:t>real </a:t>
            </a:r>
            <a:r>
              <a:rPr sz="1950" spc="125" dirty="0">
                <a:solidFill>
                  <a:srgbClr val="231F20"/>
                </a:solidFill>
                <a:latin typeface="Arial"/>
                <a:cs typeface="Arial"/>
              </a:rPr>
              <a:t>system, </a:t>
            </a:r>
            <a:r>
              <a:rPr sz="1950" spc="220" dirty="0">
                <a:solidFill>
                  <a:srgbClr val="231F20"/>
                </a:solidFill>
                <a:latin typeface="Arial"/>
                <a:cs typeface="Arial"/>
              </a:rPr>
              <a:t>but </a:t>
            </a:r>
            <a:r>
              <a:rPr sz="1950" spc="65" dirty="0">
                <a:solidFill>
                  <a:srgbClr val="231F20"/>
                </a:solidFill>
                <a:latin typeface="Arial"/>
                <a:cs typeface="Arial"/>
              </a:rPr>
              <a:t>are </a:t>
            </a:r>
            <a:r>
              <a:rPr sz="1950" spc="60" dirty="0">
                <a:solidFill>
                  <a:srgbClr val="231F20"/>
                </a:solidFill>
                <a:latin typeface="Arial"/>
                <a:cs typeface="Arial"/>
              </a:rPr>
              <a:t>easier </a:t>
            </a:r>
            <a:r>
              <a:rPr sz="1950" spc="250" dirty="0">
                <a:solidFill>
                  <a:srgbClr val="231F20"/>
                </a:solidFill>
                <a:latin typeface="Arial"/>
                <a:cs typeface="Arial"/>
              </a:rPr>
              <a:t>to </a:t>
            </a:r>
            <a:r>
              <a:rPr sz="1950" spc="670" dirty="0">
                <a:solidFill>
                  <a:srgbClr val="231F20"/>
                </a:solidFill>
                <a:latin typeface="Arial"/>
                <a:cs typeface="Arial"/>
              </a:rPr>
              <a:t> </a:t>
            </a:r>
            <a:r>
              <a:rPr sz="1950" spc="180" dirty="0">
                <a:solidFill>
                  <a:srgbClr val="231F20"/>
                </a:solidFill>
                <a:latin typeface="Arial"/>
                <a:cs typeface="Arial"/>
              </a:rPr>
              <a:t>compute</a:t>
            </a:r>
            <a:endParaRPr sz="1950">
              <a:latin typeface="Arial"/>
              <a:cs typeface="Arial"/>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731060" y="475981"/>
            <a:ext cx="6599555" cy="314960"/>
          </a:xfrm>
          <a:prstGeom prst="rect">
            <a:avLst/>
          </a:prstGeom>
        </p:spPr>
        <p:txBody>
          <a:bodyPr vert="horz" wrap="square" lIns="0" tIns="0" rIns="0" bIns="0" rtlCol="0">
            <a:spAutoFit/>
          </a:bodyPr>
          <a:lstStyle/>
          <a:p>
            <a:pPr marL="12700">
              <a:lnSpc>
                <a:spcPct val="100000"/>
              </a:lnSpc>
            </a:pPr>
            <a:r>
              <a:rPr sz="1950" spc="400" dirty="0">
                <a:solidFill>
                  <a:srgbClr val="231F20"/>
                </a:solidFill>
                <a:latin typeface="Arial"/>
                <a:cs typeface="Arial"/>
              </a:rPr>
              <a:t>But </a:t>
            </a:r>
            <a:r>
              <a:rPr sz="1950" spc="254" dirty="0">
                <a:solidFill>
                  <a:srgbClr val="231F20"/>
                </a:solidFill>
                <a:latin typeface="Arial"/>
                <a:cs typeface="Arial"/>
              </a:rPr>
              <a:t>Sound Approximations </a:t>
            </a:r>
            <a:r>
              <a:rPr sz="1950" spc="310" dirty="0">
                <a:solidFill>
                  <a:srgbClr val="231F20"/>
                </a:solidFill>
                <a:latin typeface="Arial"/>
                <a:cs typeface="Arial"/>
              </a:rPr>
              <a:t>Come with </a:t>
            </a:r>
            <a:r>
              <a:rPr sz="1950" spc="195" dirty="0">
                <a:solidFill>
                  <a:srgbClr val="231F20"/>
                </a:solidFill>
                <a:latin typeface="Arial"/>
                <a:cs typeface="Arial"/>
              </a:rPr>
              <a:t>a</a:t>
            </a:r>
            <a:r>
              <a:rPr sz="1950" spc="685" dirty="0">
                <a:solidFill>
                  <a:srgbClr val="231F20"/>
                </a:solidFill>
                <a:latin typeface="Arial"/>
                <a:cs typeface="Arial"/>
              </a:rPr>
              <a:t> </a:t>
            </a:r>
            <a:r>
              <a:rPr sz="1950" spc="240" dirty="0">
                <a:solidFill>
                  <a:srgbClr val="231F20"/>
                </a:solidFill>
                <a:latin typeface="Arial"/>
                <a:cs typeface="Arial"/>
              </a:rPr>
              <a:t>Price</a:t>
            </a:r>
            <a:endParaRPr sz="1950">
              <a:latin typeface="Arial"/>
              <a:cs typeface="Arial"/>
            </a:endParaRPr>
          </a:p>
        </p:txBody>
      </p:sp>
      <p:sp>
        <p:nvSpPr>
          <p:cNvPr id="3" name="object 3"/>
          <p:cNvSpPr/>
          <p:nvPr/>
        </p:nvSpPr>
        <p:spPr>
          <a:xfrm>
            <a:off x="918589" y="1650303"/>
            <a:ext cx="7407489" cy="3083567"/>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1296238" y="1986381"/>
            <a:ext cx="6361430" cy="2328545"/>
          </a:xfrm>
          <a:custGeom>
            <a:avLst/>
            <a:gdLst/>
            <a:ahLst/>
            <a:cxnLst/>
            <a:rect l="l" t="t" r="r" b="b"/>
            <a:pathLst>
              <a:path w="6361430" h="2328545">
                <a:moveTo>
                  <a:pt x="6361163" y="1164132"/>
                </a:moveTo>
                <a:lnTo>
                  <a:pt x="5862243" y="582066"/>
                </a:lnTo>
                <a:lnTo>
                  <a:pt x="4822837" y="207886"/>
                </a:lnTo>
                <a:lnTo>
                  <a:pt x="3617137" y="498919"/>
                </a:lnTo>
                <a:lnTo>
                  <a:pt x="3035071" y="0"/>
                </a:lnTo>
                <a:lnTo>
                  <a:pt x="1663052" y="249453"/>
                </a:lnTo>
                <a:lnTo>
                  <a:pt x="748372" y="706793"/>
                </a:lnTo>
                <a:lnTo>
                  <a:pt x="0" y="1164132"/>
                </a:lnTo>
                <a:lnTo>
                  <a:pt x="498919" y="1954072"/>
                </a:lnTo>
                <a:lnTo>
                  <a:pt x="2286698" y="2328265"/>
                </a:lnTo>
                <a:lnTo>
                  <a:pt x="4323930" y="2245106"/>
                </a:lnTo>
                <a:lnTo>
                  <a:pt x="5280177" y="1372006"/>
                </a:lnTo>
                <a:lnTo>
                  <a:pt x="5820664" y="1995652"/>
                </a:lnTo>
                <a:lnTo>
                  <a:pt x="6361163" y="1164132"/>
                </a:lnTo>
                <a:close/>
              </a:path>
            </a:pathLst>
          </a:custGeom>
          <a:solidFill>
            <a:srgbClr val="008E00"/>
          </a:solidFill>
        </p:spPr>
        <p:txBody>
          <a:bodyPr wrap="square" lIns="0" tIns="0" rIns="0" bIns="0" rtlCol="0"/>
          <a:lstStyle/>
          <a:p>
            <a:endParaRPr/>
          </a:p>
        </p:txBody>
      </p:sp>
      <p:sp>
        <p:nvSpPr>
          <p:cNvPr id="5" name="object 5"/>
          <p:cNvSpPr/>
          <p:nvPr/>
        </p:nvSpPr>
        <p:spPr>
          <a:xfrm>
            <a:off x="1296238" y="1986381"/>
            <a:ext cx="6361430" cy="2328545"/>
          </a:xfrm>
          <a:custGeom>
            <a:avLst/>
            <a:gdLst/>
            <a:ahLst/>
            <a:cxnLst/>
            <a:rect l="l" t="t" r="r" b="b"/>
            <a:pathLst>
              <a:path w="6361430" h="2328545">
                <a:moveTo>
                  <a:pt x="748372" y="706793"/>
                </a:moveTo>
                <a:lnTo>
                  <a:pt x="1663052" y="249453"/>
                </a:lnTo>
                <a:lnTo>
                  <a:pt x="3035071" y="0"/>
                </a:lnTo>
                <a:lnTo>
                  <a:pt x="3617137" y="498919"/>
                </a:lnTo>
                <a:lnTo>
                  <a:pt x="4822837" y="207886"/>
                </a:lnTo>
                <a:lnTo>
                  <a:pt x="5862243" y="582066"/>
                </a:lnTo>
                <a:lnTo>
                  <a:pt x="6361163" y="1164132"/>
                </a:lnTo>
                <a:lnTo>
                  <a:pt x="5820664" y="1995652"/>
                </a:lnTo>
                <a:lnTo>
                  <a:pt x="5280177" y="1372006"/>
                </a:lnTo>
                <a:lnTo>
                  <a:pt x="4323930" y="2245106"/>
                </a:lnTo>
                <a:lnTo>
                  <a:pt x="2286698" y="2328265"/>
                </a:lnTo>
                <a:lnTo>
                  <a:pt x="498919" y="1954072"/>
                </a:lnTo>
                <a:lnTo>
                  <a:pt x="0" y="1164132"/>
                </a:lnTo>
                <a:lnTo>
                  <a:pt x="748372" y="706793"/>
                </a:lnTo>
                <a:close/>
              </a:path>
            </a:pathLst>
          </a:custGeom>
          <a:ln w="6929">
            <a:solidFill>
              <a:srgbClr val="000000"/>
            </a:solidFill>
          </a:ln>
        </p:spPr>
        <p:txBody>
          <a:bodyPr wrap="square" lIns="0" tIns="0" rIns="0" bIns="0" rtlCol="0"/>
          <a:lstStyle/>
          <a:p>
            <a:endParaRPr/>
          </a:p>
        </p:txBody>
      </p:sp>
      <p:sp>
        <p:nvSpPr>
          <p:cNvPr id="6" name="object 6"/>
          <p:cNvSpPr txBox="1"/>
          <p:nvPr/>
        </p:nvSpPr>
        <p:spPr>
          <a:xfrm>
            <a:off x="3112414" y="2973311"/>
            <a:ext cx="1689735" cy="325120"/>
          </a:xfrm>
          <a:prstGeom prst="rect">
            <a:avLst/>
          </a:prstGeom>
        </p:spPr>
        <p:txBody>
          <a:bodyPr vert="horz" wrap="square" lIns="0" tIns="0" rIns="0" bIns="0" rtlCol="0">
            <a:spAutoFit/>
          </a:bodyPr>
          <a:lstStyle/>
          <a:p>
            <a:pPr marL="12700">
              <a:lnSpc>
                <a:spcPct val="100000"/>
              </a:lnSpc>
            </a:pPr>
            <a:r>
              <a:rPr sz="2050" spc="10" dirty="0">
                <a:latin typeface="Times New Roman"/>
                <a:cs typeface="Times New Roman"/>
              </a:rPr>
              <a:t>reachable</a:t>
            </a:r>
            <a:r>
              <a:rPr sz="2050" spc="-70" dirty="0">
                <a:latin typeface="Times New Roman"/>
                <a:cs typeface="Times New Roman"/>
              </a:rPr>
              <a:t> </a:t>
            </a:r>
            <a:r>
              <a:rPr sz="2050" spc="10" dirty="0">
                <a:latin typeface="Times New Roman"/>
                <a:cs typeface="Times New Roman"/>
              </a:rPr>
              <a:t>states</a:t>
            </a:r>
            <a:endParaRPr sz="2050">
              <a:latin typeface="Times New Roman"/>
              <a:cs typeface="Times New Roman"/>
            </a:endParaRPr>
          </a:p>
        </p:txBody>
      </p:sp>
      <p:sp>
        <p:nvSpPr>
          <p:cNvPr id="7" name="object 7"/>
          <p:cNvSpPr txBox="1">
            <a:spLocks noGrp="1"/>
          </p:cNvSpPr>
          <p:nvPr>
            <p:ph type="title"/>
          </p:nvPr>
        </p:nvSpPr>
        <p:spPr>
          <a:prstGeom prst="rect">
            <a:avLst/>
          </a:prstGeom>
        </p:spPr>
        <p:txBody>
          <a:bodyPr vert="horz" wrap="square" lIns="0" tIns="804552" rIns="0" bIns="0" rtlCol="0">
            <a:spAutoFit/>
          </a:bodyPr>
          <a:lstStyle/>
          <a:p>
            <a:pPr marL="3642360">
              <a:lnSpc>
                <a:spcPct val="100000"/>
              </a:lnSpc>
            </a:pPr>
            <a:r>
              <a:rPr spc="10" dirty="0">
                <a:solidFill>
                  <a:srgbClr val="000000"/>
                </a:solidFill>
                <a:latin typeface="Times New Roman"/>
                <a:cs typeface="Times New Roman"/>
              </a:rPr>
              <a:t>approximation</a:t>
            </a:r>
          </a:p>
        </p:txBody>
      </p:sp>
      <p:sp>
        <p:nvSpPr>
          <p:cNvPr id="8" name="object 8"/>
          <p:cNvSpPr txBox="1"/>
          <p:nvPr/>
        </p:nvSpPr>
        <p:spPr>
          <a:xfrm>
            <a:off x="8351494" y="2454112"/>
            <a:ext cx="751840" cy="760730"/>
          </a:xfrm>
          <a:prstGeom prst="rect">
            <a:avLst/>
          </a:prstGeom>
        </p:spPr>
        <p:txBody>
          <a:bodyPr vert="horz" wrap="square" lIns="0" tIns="0" rIns="0" bIns="0" rtlCol="0">
            <a:spAutoFit/>
          </a:bodyPr>
          <a:lstStyle/>
          <a:p>
            <a:pPr marL="137160" marR="5080" indent="-125095">
              <a:lnSpc>
                <a:spcPct val="119800"/>
              </a:lnSpc>
            </a:pPr>
            <a:r>
              <a:rPr sz="2050" spc="10" dirty="0">
                <a:latin typeface="Times New Roman"/>
                <a:cs typeface="Times New Roman"/>
              </a:rPr>
              <a:t>false  alarm</a:t>
            </a:r>
            <a:endParaRPr sz="2050">
              <a:latin typeface="Times New Roman"/>
              <a:cs typeface="Times New Roman"/>
            </a:endParaRPr>
          </a:p>
        </p:txBody>
      </p:sp>
      <p:sp>
        <p:nvSpPr>
          <p:cNvPr id="9" name="object 9"/>
          <p:cNvSpPr txBox="1"/>
          <p:nvPr/>
        </p:nvSpPr>
        <p:spPr>
          <a:xfrm>
            <a:off x="901700" y="5580735"/>
            <a:ext cx="8255000" cy="760730"/>
          </a:xfrm>
          <a:prstGeom prst="rect">
            <a:avLst/>
          </a:prstGeom>
        </p:spPr>
        <p:txBody>
          <a:bodyPr vert="horz" wrap="square" lIns="0" tIns="0" rIns="0" bIns="0" rtlCol="0">
            <a:spAutoFit/>
          </a:bodyPr>
          <a:lstStyle/>
          <a:p>
            <a:pPr marL="12700" marR="5080">
              <a:lnSpc>
                <a:spcPct val="125000"/>
              </a:lnSpc>
              <a:tabLst>
                <a:tab pos="7415530" algn="l"/>
              </a:tabLst>
            </a:pPr>
            <a:r>
              <a:rPr sz="1950" spc="180" dirty="0">
                <a:solidFill>
                  <a:srgbClr val="231F20"/>
                </a:solidFill>
                <a:latin typeface="Arial"/>
                <a:cs typeface="Arial"/>
              </a:rPr>
              <a:t>May </a:t>
            </a:r>
            <a:r>
              <a:rPr sz="1950" spc="140" dirty="0">
                <a:solidFill>
                  <a:srgbClr val="231F20"/>
                </a:solidFill>
                <a:latin typeface="Arial"/>
                <a:cs typeface="Arial"/>
              </a:rPr>
              <a:t>flag </a:t>
            </a:r>
            <a:r>
              <a:rPr sz="1950" spc="120" dirty="0">
                <a:solidFill>
                  <a:srgbClr val="231F20"/>
                </a:solidFill>
                <a:latin typeface="Arial"/>
                <a:cs typeface="Arial"/>
              </a:rPr>
              <a:t>an error </a:t>
            </a:r>
            <a:r>
              <a:rPr sz="1950" spc="235" dirty="0">
                <a:solidFill>
                  <a:srgbClr val="231F20"/>
                </a:solidFill>
                <a:latin typeface="Arial"/>
                <a:cs typeface="Arial"/>
              </a:rPr>
              <a:t>that </a:t>
            </a:r>
            <a:r>
              <a:rPr sz="1950" spc="40" dirty="0">
                <a:solidFill>
                  <a:srgbClr val="231F20"/>
                </a:solidFill>
                <a:latin typeface="Arial"/>
                <a:cs typeface="Arial"/>
              </a:rPr>
              <a:t>is  </a:t>
            </a:r>
            <a:r>
              <a:rPr sz="1950" spc="110" dirty="0">
                <a:solidFill>
                  <a:srgbClr val="231F20"/>
                </a:solidFill>
                <a:latin typeface="Arial"/>
                <a:cs typeface="Arial"/>
              </a:rPr>
              <a:t>unreachable </a:t>
            </a:r>
            <a:r>
              <a:rPr sz="1950" spc="130" dirty="0">
                <a:solidFill>
                  <a:srgbClr val="231F20"/>
                </a:solidFill>
                <a:latin typeface="Arial"/>
                <a:cs typeface="Arial"/>
              </a:rPr>
              <a:t>in </a:t>
            </a:r>
            <a:r>
              <a:rPr sz="1950" spc="175" dirty="0">
                <a:solidFill>
                  <a:srgbClr val="231F20"/>
                </a:solidFill>
                <a:latin typeface="Arial"/>
                <a:cs typeface="Arial"/>
              </a:rPr>
              <a:t>the  </a:t>
            </a:r>
            <a:r>
              <a:rPr sz="1950" spc="405" dirty="0">
                <a:solidFill>
                  <a:srgbClr val="231F20"/>
                </a:solidFill>
                <a:latin typeface="Arial"/>
                <a:cs typeface="Arial"/>
              </a:rPr>
              <a:t> </a:t>
            </a:r>
            <a:r>
              <a:rPr sz="1950" spc="95" dirty="0">
                <a:solidFill>
                  <a:srgbClr val="231F20"/>
                </a:solidFill>
                <a:latin typeface="Arial"/>
                <a:cs typeface="Arial"/>
              </a:rPr>
              <a:t>real</a:t>
            </a:r>
            <a:r>
              <a:rPr sz="1950" spc="385" dirty="0">
                <a:solidFill>
                  <a:srgbClr val="231F20"/>
                </a:solidFill>
                <a:latin typeface="Arial"/>
                <a:cs typeface="Arial"/>
              </a:rPr>
              <a:t> </a:t>
            </a:r>
            <a:r>
              <a:rPr sz="1950" spc="125" dirty="0">
                <a:solidFill>
                  <a:srgbClr val="231F20"/>
                </a:solidFill>
                <a:latin typeface="Arial"/>
                <a:cs typeface="Arial"/>
              </a:rPr>
              <a:t>system:	</a:t>
            </a:r>
            <a:r>
              <a:rPr sz="1950" spc="85" dirty="0">
                <a:solidFill>
                  <a:srgbClr val="231F20"/>
                </a:solidFill>
                <a:latin typeface="Arial"/>
                <a:cs typeface="Arial"/>
              </a:rPr>
              <a:t>a</a:t>
            </a:r>
            <a:r>
              <a:rPr sz="1950" spc="165" dirty="0">
                <a:solidFill>
                  <a:srgbClr val="231F20"/>
                </a:solidFill>
                <a:latin typeface="Arial"/>
                <a:cs typeface="Arial"/>
              </a:rPr>
              <a:t> </a:t>
            </a:r>
            <a:r>
              <a:rPr sz="1950" spc="80" dirty="0">
                <a:solidFill>
                  <a:srgbClr val="0000FF"/>
                </a:solidFill>
                <a:latin typeface="Arial"/>
                <a:cs typeface="Arial"/>
              </a:rPr>
              <a:t>false </a:t>
            </a:r>
            <a:r>
              <a:rPr sz="1950" spc="5" dirty="0">
                <a:solidFill>
                  <a:srgbClr val="0000FF"/>
                </a:solidFill>
                <a:latin typeface="Arial"/>
                <a:cs typeface="Arial"/>
              </a:rPr>
              <a:t> </a:t>
            </a:r>
            <a:r>
              <a:rPr sz="1950" spc="130" dirty="0">
                <a:solidFill>
                  <a:srgbClr val="0000FF"/>
                </a:solidFill>
                <a:latin typeface="Arial"/>
                <a:cs typeface="Arial"/>
              </a:rPr>
              <a:t>positive</a:t>
            </a:r>
            <a:r>
              <a:rPr sz="1950" spc="130" dirty="0">
                <a:solidFill>
                  <a:srgbClr val="231F20"/>
                </a:solidFill>
                <a:latin typeface="Arial"/>
                <a:cs typeface="Arial"/>
              </a:rPr>
              <a:t>, or </a:t>
            </a:r>
            <a:r>
              <a:rPr sz="1950" spc="80" dirty="0">
                <a:solidFill>
                  <a:srgbClr val="231F20"/>
                </a:solidFill>
                <a:latin typeface="Arial"/>
                <a:cs typeface="Arial"/>
              </a:rPr>
              <a:t>false</a:t>
            </a:r>
            <a:r>
              <a:rPr sz="1950" spc="555" dirty="0">
                <a:solidFill>
                  <a:srgbClr val="231F20"/>
                </a:solidFill>
                <a:latin typeface="Arial"/>
                <a:cs typeface="Arial"/>
              </a:rPr>
              <a:t> </a:t>
            </a:r>
            <a:r>
              <a:rPr sz="1950" spc="135" dirty="0">
                <a:solidFill>
                  <a:srgbClr val="231F20"/>
                </a:solidFill>
                <a:latin typeface="Arial"/>
                <a:cs typeface="Arial"/>
              </a:rPr>
              <a:t>alarm</a:t>
            </a:r>
            <a:endParaRPr sz="1950">
              <a:latin typeface="Arial"/>
              <a:cs typeface="Arial"/>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88973" y="475981"/>
            <a:ext cx="7083425" cy="314960"/>
          </a:xfrm>
          <a:prstGeom prst="rect">
            <a:avLst/>
          </a:prstGeom>
        </p:spPr>
        <p:txBody>
          <a:bodyPr vert="horz" wrap="square" lIns="0" tIns="0" rIns="0" bIns="0" rtlCol="0">
            <a:spAutoFit/>
          </a:bodyPr>
          <a:lstStyle/>
          <a:p>
            <a:pPr marL="12700">
              <a:lnSpc>
                <a:spcPct val="100000"/>
              </a:lnSpc>
            </a:pPr>
            <a:r>
              <a:rPr sz="1950" spc="250" dirty="0">
                <a:solidFill>
                  <a:srgbClr val="231F20"/>
                </a:solidFill>
                <a:latin typeface="Arial"/>
                <a:cs typeface="Arial"/>
              </a:rPr>
              <a:t>Unsound </a:t>
            </a:r>
            <a:r>
              <a:rPr sz="1950" spc="254" dirty="0">
                <a:solidFill>
                  <a:srgbClr val="231F20"/>
                </a:solidFill>
                <a:latin typeface="Arial"/>
                <a:cs typeface="Arial"/>
              </a:rPr>
              <a:t>Approximations </a:t>
            </a:r>
            <a:r>
              <a:rPr sz="1950" spc="310" dirty="0">
                <a:solidFill>
                  <a:srgbClr val="231F20"/>
                </a:solidFill>
                <a:latin typeface="Arial"/>
                <a:cs typeface="Arial"/>
              </a:rPr>
              <a:t>Come with </a:t>
            </a:r>
            <a:r>
              <a:rPr sz="1950" spc="195" dirty="0">
                <a:solidFill>
                  <a:srgbClr val="231F20"/>
                </a:solidFill>
                <a:latin typeface="Arial"/>
                <a:cs typeface="Arial"/>
              </a:rPr>
              <a:t>a </a:t>
            </a:r>
            <a:r>
              <a:rPr sz="1950" spc="235" dirty="0">
                <a:solidFill>
                  <a:srgbClr val="231F20"/>
                </a:solidFill>
                <a:latin typeface="Arial"/>
                <a:cs typeface="Arial"/>
              </a:rPr>
              <a:t>Price,</a:t>
            </a:r>
            <a:r>
              <a:rPr sz="1950" spc="915" dirty="0">
                <a:solidFill>
                  <a:srgbClr val="231F20"/>
                </a:solidFill>
                <a:latin typeface="Arial"/>
                <a:cs typeface="Arial"/>
              </a:rPr>
              <a:t> </a:t>
            </a:r>
            <a:r>
              <a:rPr sz="1950" spc="385" dirty="0">
                <a:solidFill>
                  <a:srgbClr val="231F20"/>
                </a:solidFill>
                <a:latin typeface="Arial"/>
                <a:cs typeface="Arial"/>
              </a:rPr>
              <a:t>Too</a:t>
            </a:r>
            <a:endParaRPr sz="1950">
              <a:latin typeface="Arial"/>
              <a:cs typeface="Arial"/>
            </a:endParaRPr>
          </a:p>
        </p:txBody>
      </p:sp>
      <p:sp>
        <p:nvSpPr>
          <p:cNvPr id="3" name="object 3"/>
          <p:cNvSpPr/>
          <p:nvPr/>
        </p:nvSpPr>
        <p:spPr>
          <a:xfrm>
            <a:off x="1524740" y="1384482"/>
            <a:ext cx="5838791" cy="3987639"/>
          </a:xfrm>
          <a:prstGeom prst="rect">
            <a:avLst/>
          </a:prstGeom>
          <a:blipFill>
            <a:blip r:embed="rId2" cstate="print"/>
            <a:stretch>
              <a:fillRect/>
            </a:stretch>
          </a:blipFill>
        </p:spPr>
        <p:txBody>
          <a:bodyPr wrap="square" lIns="0" tIns="0" rIns="0" bIns="0" rtlCol="0"/>
          <a:lstStyle/>
          <a:p>
            <a:endParaRPr/>
          </a:p>
        </p:txBody>
      </p:sp>
      <p:sp>
        <p:nvSpPr>
          <p:cNvPr id="4" name="object 4"/>
          <p:cNvSpPr/>
          <p:nvPr/>
        </p:nvSpPr>
        <p:spPr>
          <a:xfrm>
            <a:off x="926990" y="2175065"/>
            <a:ext cx="7080884" cy="2592070"/>
          </a:xfrm>
          <a:custGeom>
            <a:avLst/>
            <a:gdLst/>
            <a:ahLst/>
            <a:cxnLst/>
            <a:rect l="l" t="t" r="r" b="b"/>
            <a:pathLst>
              <a:path w="7080884" h="2592070">
                <a:moveTo>
                  <a:pt x="7080575" y="1295793"/>
                </a:moveTo>
                <a:lnTo>
                  <a:pt x="6525229" y="647890"/>
                </a:lnTo>
                <a:lnTo>
                  <a:pt x="5368272" y="231394"/>
                </a:lnTo>
                <a:lnTo>
                  <a:pt x="4026212" y="555345"/>
                </a:lnTo>
                <a:lnTo>
                  <a:pt x="3378309" y="0"/>
                </a:lnTo>
                <a:lnTo>
                  <a:pt x="1851134" y="277672"/>
                </a:lnTo>
                <a:lnTo>
                  <a:pt x="833000" y="786726"/>
                </a:lnTo>
                <a:lnTo>
                  <a:pt x="0" y="1295793"/>
                </a:lnTo>
                <a:lnTo>
                  <a:pt x="555340" y="2175078"/>
                </a:lnTo>
                <a:lnTo>
                  <a:pt x="2545303" y="2591587"/>
                </a:lnTo>
                <a:lnTo>
                  <a:pt x="4812939" y="2499029"/>
                </a:lnTo>
                <a:lnTo>
                  <a:pt x="5877339" y="1527187"/>
                </a:lnTo>
                <a:lnTo>
                  <a:pt x="6478950" y="2221357"/>
                </a:lnTo>
                <a:lnTo>
                  <a:pt x="7080575" y="1295793"/>
                </a:lnTo>
                <a:close/>
              </a:path>
            </a:pathLst>
          </a:custGeom>
          <a:solidFill>
            <a:srgbClr val="008E00"/>
          </a:solidFill>
        </p:spPr>
        <p:txBody>
          <a:bodyPr wrap="square" lIns="0" tIns="0" rIns="0" bIns="0" rtlCol="0"/>
          <a:lstStyle/>
          <a:p>
            <a:endParaRPr/>
          </a:p>
        </p:txBody>
      </p:sp>
      <p:sp>
        <p:nvSpPr>
          <p:cNvPr id="5" name="object 5"/>
          <p:cNvSpPr/>
          <p:nvPr/>
        </p:nvSpPr>
        <p:spPr>
          <a:xfrm>
            <a:off x="926990" y="2175065"/>
            <a:ext cx="7080884" cy="2592070"/>
          </a:xfrm>
          <a:custGeom>
            <a:avLst/>
            <a:gdLst/>
            <a:ahLst/>
            <a:cxnLst/>
            <a:rect l="l" t="t" r="r" b="b"/>
            <a:pathLst>
              <a:path w="7080884" h="2592070">
                <a:moveTo>
                  <a:pt x="833000" y="786726"/>
                </a:moveTo>
                <a:lnTo>
                  <a:pt x="1851134" y="277672"/>
                </a:lnTo>
                <a:lnTo>
                  <a:pt x="3378309" y="0"/>
                </a:lnTo>
                <a:lnTo>
                  <a:pt x="4026212" y="555345"/>
                </a:lnTo>
                <a:lnTo>
                  <a:pt x="5368272" y="231394"/>
                </a:lnTo>
                <a:lnTo>
                  <a:pt x="6525229" y="647890"/>
                </a:lnTo>
                <a:lnTo>
                  <a:pt x="7080575" y="1295793"/>
                </a:lnTo>
                <a:lnTo>
                  <a:pt x="6478950" y="2221357"/>
                </a:lnTo>
                <a:lnTo>
                  <a:pt x="5877339" y="1527187"/>
                </a:lnTo>
                <a:lnTo>
                  <a:pt x="4812939" y="2499029"/>
                </a:lnTo>
                <a:lnTo>
                  <a:pt x="2545303" y="2591587"/>
                </a:lnTo>
                <a:lnTo>
                  <a:pt x="555340" y="2175078"/>
                </a:lnTo>
                <a:lnTo>
                  <a:pt x="0" y="1295793"/>
                </a:lnTo>
                <a:lnTo>
                  <a:pt x="833000" y="786726"/>
                </a:lnTo>
                <a:close/>
              </a:path>
            </a:pathLst>
          </a:custGeom>
          <a:ln w="7713">
            <a:solidFill>
              <a:srgbClr val="000000"/>
            </a:solidFill>
          </a:ln>
        </p:spPr>
        <p:txBody>
          <a:bodyPr wrap="square" lIns="0" tIns="0" rIns="0" bIns="0" rtlCol="0"/>
          <a:lstStyle/>
          <a:p>
            <a:endParaRPr/>
          </a:p>
        </p:txBody>
      </p:sp>
      <p:sp>
        <p:nvSpPr>
          <p:cNvPr id="6" name="object 6"/>
          <p:cNvSpPr txBox="1"/>
          <p:nvPr/>
        </p:nvSpPr>
        <p:spPr>
          <a:xfrm>
            <a:off x="2764891" y="3132480"/>
            <a:ext cx="1877695" cy="362585"/>
          </a:xfrm>
          <a:prstGeom prst="rect">
            <a:avLst/>
          </a:prstGeom>
        </p:spPr>
        <p:txBody>
          <a:bodyPr vert="horz" wrap="square" lIns="0" tIns="0" rIns="0" bIns="0" rtlCol="0">
            <a:spAutoFit/>
          </a:bodyPr>
          <a:lstStyle/>
          <a:p>
            <a:pPr marL="12700">
              <a:lnSpc>
                <a:spcPct val="100000"/>
              </a:lnSpc>
            </a:pPr>
            <a:r>
              <a:rPr sz="2300" spc="5" dirty="0">
                <a:latin typeface="Times New Roman"/>
                <a:cs typeface="Times New Roman"/>
              </a:rPr>
              <a:t>reachable</a:t>
            </a:r>
            <a:r>
              <a:rPr sz="2300" spc="-90" dirty="0">
                <a:latin typeface="Times New Roman"/>
                <a:cs typeface="Times New Roman"/>
              </a:rPr>
              <a:t> </a:t>
            </a:r>
            <a:r>
              <a:rPr sz="2300" spc="5" dirty="0">
                <a:latin typeface="Times New Roman"/>
                <a:cs typeface="Times New Roman"/>
              </a:rPr>
              <a:t>states</a:t>
            </a:r>
            <a:endParaRPr sz="2300">
              <a:latin typeface="Times New Roman"/>
              <a:cs typeface="Times New Roman"/>
            </a:endParaRPr>
          </a:p>
        </p:txBody>
      </p:sp>
      <p:sp>
        <p:nvSpPr>
          <p:cNvPr id="7" name="object 7"/>
          <p:cNvSpPr txBox="1">
            <a:spLocks noGrp="1"/>
          </p:cNvSpPr>
          <p:nvPr>
            <p:ph type="title"/>
          </p:nvPr>
        </p:nvSpPr>
        <p:spPr>
          <a:prstGeom prst="rect">
            <a:avLst/>
          </a:prstGeom>
        </p:spPr>
        <p:txBody>
          <a:bodyPr vert="horz" wrap="square" lIns="0" tIns="683826" rIns="0" bIns="0" rtlCol="0">
            <a:spAutoFit/>
          </a:bodyPr>
          <a:lstStyle/>
          <a:p>
            <a:pPr marL="2436495">
              <a:lnSpc>
                <a:spcPct val="100000"/>
              </a:lnSpc>
            </a:pPr>
            <a:r>
              <a:rPr sz="2300" spc="5" dirty="0">
                <a:solidFill>
                  <a:srgbClr val="000000"/>
                </a:solidFill>
                <a:latin typeface="Times New Roman"/>
                <a:cs typeface="Times New Roman"/>
              </a:rPr>
              <a:t>underapproximation</a:t>
            </a:r>
            <a:endParaRPr sz="2300">
              <a:latin typeface="Times New Roman"/>
              <a:cs typeface="Times New Roman"/>
            </a:endParaRPr>
          </a:p>
        </p:txBody>
      </p:sp>
      <p:sp>
        <p:nvSpPr>
          <p:cNvPr id="8" name="object 8"/>
          <p:cNvSpPr txBox="1"/>
          <p:nvPr/>
        </p:nvSpPr>
        <p:spPr>
          <a:xfrm>
            <a:off x="8087423" y="2835221"/>
            <a:ext cx="1021080" cy="1029969"/>
          </a:xfrm>
          <a:prstGeom prst="rect">
            <a:avLst/>
          </a:prstGeom>
        </p:spPr>
        <p:txBody>
          <a:bodyPr vert="horz" wrap="square" lIns="0" tIns="0" rIns="0" bIns="0" rtlCol="0">
            <a:spAutoFit/>
          </a:bodyPr>
          <a:lstStyle/>
          <a:p>
            <a:pPr marL="12700" marR="5080">
              <a:lnSpc>
                <a:spcPct val="145200"/>
              </a:lnSpc>
            </a:pPr>
            <a:r>
              <a:rPr sz="2300" spc="5" dirty="0">
                <a:latin typeface="Times New Roman"/>
                <a:cs typeface="Times New Roman"/>
              </a:rPr>
              <a:t>false  negative</a:t>
            </a:r>
            <a:endParaRPr sz="2300">
              <a:latin typeface="Times New Roman"/>
              <a:cs typeface="Times New Roman"/>
            </a:endParaRPr>
          </a:p>
        </p:txBody>
      </p:sp>
      <p:sp>
        <p:nvSpPr>
          <p:cNvPr id="9" name="object 9"/>
          <p:cNvSpPr/>
          <p:nvPr/>
        </p:nvSpPr>
        <p:spPr>
          <a:xfrm>
            <a:off x="7553007" y="3340252"/>
            <a:ext cx="261620" cy="261620"/>
          </a:xfrm>
          <a:custGeom>
            <a:avLst/>
            <a:gdLst/>
            <a:ahLst/>
            <a:cxnLst/>
            <a:rect l="l" t="t" r="r" b="b"/>
            <a:pathLst>
              <a:path w="261620" h="261620">
                <a:moveTo>
                  <a:pt x="261213" y="130606"/>
                </a:moveTo>
                <a:lnTo>
                  <a:pt x="254555" y="89323"/>
                </a:lnTo>
                <a:lnTo>
                  <a:pt x="236015" y="53470"/>
                </a:lnTo>
                <a:lnTo>
                  <a:pt x="207743" y="25198"/>
                </a:lnTo>
                <a:lnTo>
                  <a:pt x="171890" y="6658"/>
                </a:lnTo>
                <a:lnTo>
                  <a:pt x="130606" y="0"/>
                </a:lnTo>
                <a:lnTo>
                  <a:pt x="125818" y="86"/>
                </a:lnTo>
                <a:lnTo>
                  <a:pt x="85032" y="8170"/>
                </a:lnTo>
                <a:lnTo>
                  <a:pt x="49915" y="27898"/>
                </a:lnTo>
                <a:lnTo>
                  <a:pt x="22618" y="57119"/>
                </a:lnTo>
                <a:lnTo>
                  <a:pt x="5292" y="93681"/>
                </a:lnTo>
                <a:lnTo>
                  <a:pt x="0" y="130606"/>
                </a:lnTo>
                <a:lnTo>
                  <a:pt x="86" y="135395"/>
                </a:lnTo>
                <a:lnTo>
                  <a:pt x="8170" y="176181"/>
                </a:lnTo>
                <a:lnTo>
                  <a:pt x="27898" y="211298"/>
                </a:lnTo>
                <a:lnTo>
                  <a:pt x="57119" y="238595"/>
                </a:lnTo>
                <a:lnTo>
                  <a:pt x="93681" y="255921"/>
                </a:lnTo>
                <a:lnTo>
                  <a:pt x="130606" y="261213"/>
                </a:lnTo>
                <a:lnTo>
                  <a:pt x="135395" y="261127"/>
                </a:lnTo>
                <a:lnTo>
                  <a:pt x="176181" y="253042"/>
                </a:lnTo>
                <a:lnTo>
                  <a:pt x="211298" y="233315"/>
                </a:lnTo>
                <a:lnTo>
                  <a:pt x="238595" y="204094"/>
                </a:lnTo>
                <a:lnTo>
                  <a:pt x="255921" y="167531"/>
                </a:lnTo>
                <a:lnTo>
                  <a:pt x="261213" y="130606"/>
                </a:lnTo>
                <a:close/>
              </a:path>
            </a:pathLst>
          </a:custGeom>
          <a:solidFill>
            <a:srgbClr val="0000FF"/>
          </a:solidFill>
        </p:spPr>
        <p:txBody>
          <a:bodyPr wrap="square" lIns="0" tIns="0" rIns="0" bIns="0" rtlCol="0"/>
          <a:lstStyle/>
          <a:p>
            <a:endParaRPr/>
          </a:p>
        </p:txBody>
      </p:sp>
      <p:sp>
        <p:nvSpPr>
          <p:cNvPr id="10" name="object 10"/>
          <p:cNvSpPr/>
          <p:nvPr/>
        </p:nvSpPr>
        <p:spPr>
          <a:xfrm>
            <a:off x="7553007" y="3340252"/>
            <a:ext cx="261620" cy="261620"/>
          </a:xfrm>
          <a:custGeom>
            <a:avLst/>
            <a:gdLst/>
            <a:ahLst/>
            <a:cxnLst/>
            <a:rect l="l" t="t" r="r" b="b"/>
            <a:pathLst>
              <a:path w="261620" h="261620">
                <a:moveTo>
                  <a:pt x="261213" y="130606"/>
                </a:moveTo>
                <a:lnTo>
                  <a:pt x="254555" y="171890"/>
                </a:lnTo>
                <a:lnTo>
                  <a:pt x="236015" y="207743"/>
                </a:lnTo>
                <a:lnTo>
                  <a:pt x="207743" y="236015"/>
                </a:lnTo>
                <a:lnTo>
                  <a:pt x="171890" y="254555"/>
                </a:lnTo>
                <a:lnTo>
                  <a:pt x="130606" y="261213"/>
                </a:lnTo>
                <a:lnTo>
                  <a:pt x="125818" y="261127"/>
                </a:lnTo>
                <a:lnTo>
                  <a:pt x="85032" y="253042"/>
                </a:lnTo>
                <a:lnTo>
                  <a:pt x="49915" y="233315"/>
                </a:lnTo>
                <a:lnTo>
                  <a:pt x="22618" y="204094"/>
                </a:lnTo>
                <a:lnTo>
                  <a:pt x="5292" y="167531"/>
                </a:lnTo>
                <a:lnTo>
                  <a:pt x="0" y="130606"/>
                </a:lnTo>
                <a:lnTo>
                  <a:pt x="86" y="125818"/>
                </a:lnTo>
                <a:lnTo>
                  <a:pt x="8170" y="85032"/>
                </a:lnTo>
                <a:lnTo>
                  <a:pt x="27898" y="49915"/>
                </a:lnTo>
                <a:lnTo>
                  <a:pt x="57119" y="22618"/>
                </a:lnTo>
                <a:lnTo>
                  <a:pt x="93681" y="5292"/>
                </a:lnTo>
                <a:lnTo>
                  <a:pt x="130606" y="0"/>
                </a:lnTo>
                <a:lnTo>
                  <a:pt x="135395" y="86"/>
                </a:lnTo>
                <a:lnTo>
                  <a:pt x="176181" y="8170"/>
                </a:lnTo>
                <a:lnTo>
                  <a:pt x="211298" y="27898"/>
                </a:lnTo>
                <a:lnTo>
                  <a:pt x="238595" y="57119"/>
                </a:lnTo>
                <a:lnTo>
                  <a:pt x="255921" y="93681"/>
                </a:lnTo>
                <a:lnTo>
                  <a:pt x="261213" y="130606"/>
                </a:lnTo>
                <a:close/>
              </a:path>
            </a:pathLst>
          </a:custGeom>
          <a:ln w="7713">
            <a:solidFill>
              <a:srgbClr val="000000"/>
            </a:solidFill>
          </a:ln>
        </p:spPr>
        <p:txBody>
          <a:bodyPr wrap="square" lIns="0" tIns="0" rIns="0" bIns="0" rtlCol="0"/>
          <a:lstStyle/>
          <a:p>
            <a:endParaRPr/>
          </a:p>
        </p:txBody>
      </p:sp>
      <p:sp>
        <p:nvSpPr>
          <p:cNvPr id="11" name="object 11"/>
          <p:cNvSpPr txBox="1"/>
          <p:nvPr/>
        </p:nvSpPr>
        <p:spPr>
          <a:xfrm>
            <a:off x="901700" y="6026619"/>
            <a:ext cx="4820920" cy="314325"/>
          </a:xfrm>
          <a:prstGeom prst="rect">
            <a:avLst/>
          </a:prstGeom>
        </p:spPr>
        <p:txBody>
          <a:bodyPr vert="horz" wrap="square" lIns="0" tIns="0" rIns="0" bIns="0" rtlCol="0">
            <a:spAutoFit/>
          </a:bodyPr>
          <a:lstStyle/>
          <a:p>
            <a:pPr marL="12700">
              <a:lnSpc>
                <a:spcPct val="100000"/>
              </a:lnSpc>
              <a:tabLst>
                <a:tab pos="2806700" algn="l"/>
              </a:tabLst>
            </a:pPr>
            <a:r>
              <a:rPr sz="1950" spc="135" dirty="0">
                <a:solidFill>
                  <a:srgbClr val="231F20"/>
                </a:solidFill>
                <a:latin typeface="Arial"/>
                <a:cs typeface="Arial"/>
              </a:rPr>
              <a:t>Can  </a:t>
            </a:r>
            <a:r>
              <a:rPr sz="1950" spc="90" dirty="0">
                <a:solidFill>
                  <a:srgbClr val="231F20"/>
                </a:solidFill>
                <a:latin typeface="Arial"/>
                <a:cs typeface="Arial"/>
              </a:rPr>
              <a:t>miss</a:t>
            </a:r>
            <a:r>
              <a:rPr sz="1950" spc="515" dirty="0">
                <a:solidFill>
                  <a:srgbClr val="231F20"/>
                </a:solidFill>
                <a:latin typeface="Arial"/>
                <a:cs typeface="Arial"/>
              </a:rPr>
              <a:t> </a:t>
            </a:r>
            <a:r>
              <a:rPr sz="1950" spc="95" dirty="0">
                <a:solidFill>
                  <a:srgbClr val="231F20"/>
                </a:solidFill>
                <a:latin typeface="Arial"/>
                <a:cs typeface="Arial"/>
              </a:rPr>
              <a:t>real</a:t>
            </a:r>
            <a:r>
              <a:rPr sz="1950" spc="665" dirty="0">
                <a:solidFill>
                  <a:srgbClr val="231F20"/>
                </a:solidFill>
                <a:latin typeface="Arial"/>
                <a:cs typeface="Arial"/>
              </a:rPr>
              <a:t> </a:t>
            </a:r>
            <a:r>
              <a:rPr sz="1950" spc="105" dirty="0">
                <a:solidFill>
                  <a:srgbClr val="231F20"/>
                </a:solidFill>
                <a:latin typeface="Arial"/>
                <a:cs typeface="Arial"/>
              </a:rPr>
              <a:t>errors:	</a:t>
            </a:r>
            <a:r>
              <a:rPr sz="1950" spc="85" dirty="0">
                <a:solidFill>
                  <a:srgbClr val="231F20"/>
                </a:solidFill>
                <a:latin typeface="Arial"/>
                <a:cs typeface="Arial"/>
              </a:rPr>
              <a:t>a </a:t>
            </a:r>
            <a:r>
              <a:rPr sz="1950" spc="80" dirty="0">
                <a:solidFill>
                  <a:srgbClr val="0000FF"/>
                </a:solidFill>
                <a:latin typeface="Arial"/>
                <a:cs typeface="Arial"/>
              </a:rPr>
              <a:t>false</a:t>
            </a:r>
            <a:r>
              <a:rPr sz="1950" spc="405" dirty="0">
                <a:solidFill>
                  <a:srgbClr val="0000FF"/>
                </a:solidFill>
                <a:latin typeface="Arial"/>
                <a:cs typeface="Arial"/>
              </a:rPr>
              <a:t> </a:t>
            </a:r>
            <a:r>
              <a:rPr sz="1950" spc="125" dirty="0">
                <a:solidFill>
                  <a:srgbClr val="0000FF"/>
                </a:solidFill>
                <a:latin typeface="Arial"/>
                <a:cs typeface="Arial"/>
              </a:rPr>
              <a:t>negative</a:t>
            </a:r>
            <a:endParaRPr sz="1950">
              <a:latin typeface="Arial"/>
              <a:cs typeface="Arial"/>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917754"/>
            <a:ext cx="8260715" cy="4942205"/>
          </a:xfrm>
          <a:prstGeom prst="rect">
            <a:avLst/>
          </a:prstGeom>
        </p:spPr>
        <p:txBody>
          <a:bodyPr vert="horz" wrap="square" lIns="0" tIns="0" rIns="0" bIns="0" rtlCol="0">
            <a:spAutoFit/>
          </a:bodyPr>
          <a:lstStyle/>
          <a:p>
            <a:pPr marL="2591435">
              <a:lnSpc>
                <a:spcPct val="100000"/>
              </a:lnSpc>
            </a:pPr>
            <a:r>
              <a:rPr sz="1950" spc="250" dirty="0">
                <a:solidFill>
                  <a:srgbClr val="231F20"/>
                </a:solidFill>
                <a:latin typeface="Arial"/>
                <a:cs typeface="Arial"/>
              </a:rPr>
              <a:t>Predicate</a:t>
            </a:r>
            <a:r>
              <a:rPr sz="1950" spc="310"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50" dirty="0">
                <a:solidFill>
                  <a:srgbClr val="231F20"/>
                </a:solidFill>
                <a:latin typeface="Arial"/>
                <a:cs typeface="Arial"/>
              </a:rPr>
              <a:t>The </a:t>
            </a:r>
            <a:r>
              <a:rPr sz="1950" spc="160" dirty="0">
                <a:solidFill>
                  <a:srgbClr val="231F20"/>
                </a:solidFill>
                <a:latin typeface="Arial"/>
                <a:cs typeface="Arial"/>
              </a:rPr>
              <a:t>Zune </a:t>
            </a:r>
            <a:r>
              <a:rPr sz="1950" spc="114" dirty="0">
                <a:solidFill>
                  <a:srgbClr val="231F20"/>
                </a:solidFill>
                <a:latin typeface="Arial"/>
                <a:cs typeface="Arial"/>
              </a:rPr>
              <a:t>example </a:t>
            </a:r>
            <a:r>
              <a:rPr sz="1950" spc="70" dirty="0">
                <a:solidFill>
                  <a:srgbClr val="231F20"/>
                </a:solidFill>
                <a:latin typeface="Arial"/>
                <a:cs typeface="Arial"/>
              </a:rPr>
              <a:t>used </a:t>
            </a:r>
            <a:r>
              <a:rPr sz="1950" spc="170" dirty="0">
                <a:solidFill>
                  <a:srgbClr val="0000FF"/>
                </a:solidFill>
                <a:latin typeface="Arial"/>
                <a:cs typeface="Arial"/>
              </a:rPr>
              <a:t>data</a:t>
            </a:r>
            <a:r>
              <a:rPr sz="1950" spc="775" dirty="0">
                <a:solidFill>
                  <a:srgbClr val="0000FF"/>
                </a:solidFill>
                <a:latin typeface="Arial"/>
                <a:cs typeface="Arial"/>
              </a:rPr>
              <a:t> </a:t>
            </a:r>
            <a:r>
              <a:rPr sz="1950" spc="155" dirty="0">
                <a:solidFill>
                  <a:srgbClr val="0000FF"/>
                </a:solidFill>
                <a:latin typeface="Arial"/>
                <a:cs typeface="Arial"/>
              </a:rPr>
              <a:t>abstraction</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295" dirty="0">
                <a:solidFill>
                  <a:srgbClr val="231F20"/>
                </a:solidFill>
                <a:latin typeface="Arial"/>
                <a:cs typeface="Arial"/>
              </a:rPr>
              <a:t>A </a:t>
            </a:r>
            <a:r>
              <a:rPr sz="1950" spc="150" dirty="0">
                <a:solidFill>
                  <a:srgbClr val="231F20"/>
                </a:solidFill>
                <a:latin typeface="Arial"/>
                <a:cs typeface="Arial"/>
              </a:rPr>
              <a:t>kind </a:t>
            </a:r>
            <a:r>
              <a:rPr sz="1950" spc="185" dirty="0">
                <a:solidFill>
                  <a:srgbClr val="231F20"/>
                </a:solidFill>
                <a:latin typeface="Arial"/>
                <a:cs typeface="Arial"/>
              </a:rPr>
              <a:t>of </a:t>
            </a:r>
            <a:r>
              <a:rPr sz="1950" spc="160" dirty="0">
                <a:solidFill>
                  <a:srgbClr val="FF0000"/>
                </a:solidFill>
                <a:latin typeface="Arial"/>
                <a:cs typeface="Arial"/>
              </a:rPr>
              <a:t>abstract</a:t>
            </a:r>
            <a:r>
              <a:rPr sz="1950" spc="495" dirty="0">
                <a:solidFill>
                  <a:srgbClr val="FF0000"/>
                </a:solidFill>
                <a:latin typeface="Arial"/>
                <a:cs typeface="Arial"/>
              </a:rPr>
              <a:t> </a:t>
            </a:r>
            <a:r>
              <a:rPr sz="1950" spc="160" dirty="0">
                <a:solidFill>
                  <a:srgbClr val="FF0000"/>
                </a:solidFill>
                <a:latin typeface="Arial"/>
                <a:cs typeface="Arial"/>
              </a:rPr>
              <a:t>interpretation</a:t>
            </a:r>
            <a:endParaRPr sz="1950">
              <a:latin typeface="Arial"/>
              <a:cs typeface="Arial"/>
            </a:endParaRPr>
          </a:p>
          <a:p>
            <a:pPr marL="300990" marR="1261110" indent="-288290">
              <a:lnSpc>
                <a:spcPct val="125000"/>
              </a:lnSpc>
              <a:spcBef>
                <a:spcPts val="1340"/>
              </a:spcBef>
              <a:buSzPct val="105128"/>
              <a:buFont typeface="Lucida Sans Unicode"/>
              <a:buChar char="•"/>
              <a:tabLst>
                <a:tab pos="301625" algn="l"/>
              </a:tabLst>
            </a:pPr>
            <a:r>
              <a:rPr sz="1950" spc="85" dirty="0">
                <a:solidFill>
                  <a:srgbClr val="231F20"/>
                </a:solidFill>
                <a:latin typeface="Arial"/>
                <a:cs typeface="Arial"/>
              </a:rPr>
              <a:t>Replaces variables </a:t>
            </a:r>
            <a:r>
              <a:rPr sz="1950" spc="185" dirty="0">
                <a:solidFill>
                  <a:srgbClr val="231F20"/>
                </a:solidFill>
                <a:latin typeface="Arial"/>
                <a:cs typeface="Arial"/>
              </a:rPr>
              <a:t>of </a:t>
            </a:r>
            <a:r>
              <a:rPr sz="1950" spc="140" dirty="0">
                <a:solidFill>
                  <a:srgbClr val="231F20"/>
                </a:solidFill>
                <a:latin typeface="Arial"/>
                <a:cs typeface="Arial"/>
              </a:rPr>
              <a:t>complex </a:t>
            </a:r>
            <a:r>
              <a:rPr sz="1950" spc="170" dirty="0">
                <a:solidFill>
                  <a:srgbClr val="231F20"/>
                </a:solidFill>
                <a:latin typeface="Arial"/>
                <a:cs typeface="Arial"/>
              </a:rPr>
              <a:t>data </a:t>
            </a:r>
            <a:r>
              <a:rPr sz="1950" spc="120" dirty="0">
                <a:solidFill>
                  <a:srgbClr val="231F20"/>
                </a:solidFill>
                <a:latin typeface="Arial"/>
                <a:cs typeface="Arial"/>
              </a:rPr>
              <a:t>types </a:t>
            </a:r>
            <a:r>
              <a:rPr sz="1950" spc="105" dirty="0">
                <a:solidFill>
                  <a:srgbClr val="231F20"/>
                </a:solidFill>
                <a:latin typeface="Arial"/>
                <a:cs typeface="Arial"/>
              </a:rPr>
              <a:t>by </a:t>
            </a:r>
            <a:r>
              <a:rPr sz="1950" spc="120" dirty="0">
                <a:solidFill>
                  <a:srgbClr val="231F20"/>
                </a:solidFill>
                <a:latin typeface="Arial"/>
                <a:cs typeface="Arial"/>
              </a:rPr>
              <a:t>simpler  </a:t>
            </a:r>
            <a:r>
              <a:rPr sz="1950" spc="200" dirty="0">
                <a:solidFill>
                  <a:srgbClr val="231F20"/>
                </a:solidFill>
                <a:latin typeface="Arial"/>
                <a:cs typeface="Arial"/>
              </a:rPr>
              <a:t>(often </a:t>
            </a:r>
            <a:r>
              <a:rPr sz="1950" spc="180" dirty="0">
                <a:solidFill>
                  <a:srgbClr val="231F20"/>
                </a:solidFill>
                <a:latin typeface="Arial"/>
                <a:cs typeface="Arial"/>
              </a:rPr>
              <a:t>finite)</a:t>
            </a:r>
            <a:r>
              <a:rPr sz="1950" spc="305" dirty="0">
                <a:solidFill>
                  <a:srgbClr val="231F20"/>
                </a:solidFill>
                <a:latin typeface="Arial"/>
                <a:cs typeface="Arial"/>
              </a:rPr>
              <a:t> </a:t>
            </a:r>
            <a:r>
              <a:rPr sz="1950" spc="70" dirty="0">
                <a:solidFill>
                  <a:srgbClr val="231F20"/>
                </a:solidFill>
                <a:latin typeface="Arial"/>
                <a:cs typeface="Arial"/>
              </a:rPr>
              <a:t>ones</a:t>
            </a:r>
            <a:endParaRPr sz="1950">
              <a:latin typeface="Arial"/>
              <a:cs typeface="Arial"/>
            </a:endParaRPr>
          </a:p>
          <a:p>
            <a:pPr marL="741680" lvl="1" indent="-288290">
              <a:lnSpc>
                <a:spcPct val="100000"/>
              </a:lnSpc>
              <a:spcBef>
                <a:spcPts val="1000"/>
              </a:spcBef>
              <a:buSzPct val="105128"/>
              <a:buFont typeface="Lucida Sans Unicode"/>
              <a:buChar char="◦"/>
              <a:tabLst>
                <a:tab pos="742315" algn="l"/>
              </a:tabLst>
            </a:pPr>
            <a:r>
              <a:rPr sz="1950" spc="114" dirty="0">
                <a:solidFill>
                  <a:srgbClr val="231F20"/>
                </a:solidFill>
                <a:latin typeface="Arial"/>
                <a:cs typeface="Arial"/>
              </a:rPr>
              <a:t>e.g., integers </a:t>
            </a:r>
            <a:r>
              <a:rPr sz="1950" spc="100" dirty="0">
                <a:solidFill>
                  <a:srgbClr val="231F20"/>
                </a:solidFill>
                <a:latin typeface="Arial"/>
                <a:cs typeface="Arial"/>
              </a:rPr>
              <a:t>replaced </a:t>
            </a:r>
            <a:r>
              <a:rPr sz="1950" spc="105" dirty="0">
                <a:solidFill>
                  <a:srgbClr val="231F20"/>
                </a:solidFill>
                <a:latin typeface="Arial"/>
                <a:cs typeface="Arial"/>
              </a:rPr>
              <a:t>by </a:t>
            </a:r>
            <a:r>
              <a:rPr sz="2050" spc="85" dirty="0">
                <a:solidFill>
                  <a:srgbClr val="0000FF"/>
                </a:solidFill>
                <a:latin typeface="Lucida Sans Unicode"/>
                <a:cs typeface="Lucida Sans Unicode"/>
              </a:rPr>
              <a:t>{</a:t>
            </a:r>
            <a:r>
              <a:rPr sz="2050" spc="85" dirty="0">
                <a:solidFill>
                  <a:srgbClr val="0000FF"/>
                </a:solidFill>
                <a:latin typeface="SimSun"/>
                <a:cs typeface="SimSun"/>
              </a:rPr>
              <a:t>negative, </a:t>
            </a:r>
            <a:r>
              <a:rPr sz="2050" spc="55" dirty="0">
                <a:solidFill>
                  <a:srgbClr val="0000FF"/>
                </a:solidFill>
                <a:latin typeface="SimSun"/>
                <a:cs typeface="SimSun"/>
              </a:rPr>
              <a:t>zero,</a:t>
            </a:r>
            <a:r>
              <a:rPr sz="2050" spc="770" dirty="0">
                <a:solidFill>
                  <a:srgbClr val="0000FF"/>
                </a:solidFill>
                <a:latin typeface="SimSun"/>
                <a:cs typeface="SimSun"/>
              </a:rPr>
              <a:t> </a:t>
            </a:r>
            <a:r>
              <a:rPr sz="2050" spc="85" dirty="0">
                <a:solidFill>
                  <a:srgbClr val="0000FF"/>
                </a:solidFill>
                <a:latin typeface="SimSun"/>
                <a:cs typeface="SimSun"/>
              </a:rPr>
              <a:t>positive</a:t>
            </a:r>
            <a:r>
              <a:rPr sz="2050" spc="85" dirty="0">
                <a:solidFill>
                  <a:srgbClr val="0000FF"/>
                </a:solidFill>
                <a:latin typeface="Lucida Sans Unicode"/>
                <a:cs typeface="Lucida Sans Unicode"/>
              </a:rPr>
              <a:t>}</a:t>
            </a:r>
            <a:endParaRPr sz="2050">
              <a:latin typeface="Lucida Sans Unicode"/>
              <a:cs typeface="Lucida Sans Unicode"/>
            </a:endParaRPr>
          </a:p>
          <a:p>
            <a:pPr lvl="1">
              <a:lnSpc>
                <a:spcPct val="100000"/>
              </a:lnSpc>
              <a:spcBef>
                <a:spcPts val="1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75" dirty="0">
                <a:solidFill>
                  <a:srgbClr val="231F20"/>
                </a:solidFill>
                <a:latin typeface="Arial"/>
                <a:cs typeface="Arial"/>
              </a:rPr>
              <a:t>But </a:t>
            </a:r>
            <a:r>
              <a:rPr sz="1950" spc="130" dirty="0">
                <a:solidFill>
                  <a:srgbClr val="231F20"/>
                </a:solidFill>
                <a:latin typeface="Arial"/>
                <a:cs typeface="Arial"/>
              </a:rPr>
              <a:t>sometimes </a:t>
            </a:r>
            <a:r>
              <a:rPr sz="1950" spc="145" dirty="0">
                <a:solidFill>
                  <a:srgbClr val="231F20"/>
                </a:solidFill>
                <a:latin typeface="Arial"/>
                <a:cs typeface="Arial"/>
              </a:rPr>
              <a:t>this </a:t>
            </a:r>
            <a:r>
              <a:rPr sz="1950" spc="160" dirty="0">
                <a:solidFill>
                  <a:srgbClr val="231F20"/>
                </a:solidFill>
                <a:latin typeface="Arial"/>
                <a:cs typeface="Arial"/>
              </a:rPr>
              <a:t>doesn’t</a:t>
            </a:r>
            <a:r>
              <a:rPr sz="1950" spc="545" dirty="0">
                <a:solidFill>
                  <a:srgbClr val="231F20"/>
                </a:solidFill>
                <a:latin typeface="Arial"/>
                <a:cs typeface="Arial"/>
              </a:rPr>
              <a:t> </a:t>
            </a:r>
            <a:r>
              <a:rPr sz="1950" spc="155" dirty="0">
                <a:solidFill>
                  <a:srgbClr val="231F20"/>
                </a:solidFill>
                <a:latin typeface="Arial"/>
                <a:cs typeface="Arial"/>
              </a:rPr>
              <a:t>work</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160" dirty="0">
                <a:solidFill>
                  <a:srgbClr val="231F20"/>
                </a:solidFill>
                <a:latin typeface="Arial"/>
                <a:cs typeface="Arial"/>
              </a:rPr>
              <a:t>Just </a:t>
            </a:r>
            <a:r>
              <a:rPr sz="1950" spc="80" dirty="0">
                <a:solidFill>
                  <a:srgbClr val="231F20"/>
                </a:solidFill>
                <a:latin typeface="Arial"/>
                <a:cs typeface="Arial"/>
              </a:rPr>
              <a:t>replaces </a:t>
            </a:r>
            <a:r>
              <a:rPr sz="1950" spc="125" dirty="0">
                <a:solidFill>
                  <a:srgbClr val="231F20"/>
                </a:solidFill>
                <a:latin typeface="Arial"/>
                <a:cs typeface="Arial"/>
              </a:rPr>
              <a:t>individual</a:t>
            </a:r>
            <a:r>
              <a:rPr sz="1950" spc="560" dirty="0">
                <a:solidFill>
                  <a:srgbClr val="231F20"/>
                </a:solidFill>
                <a:latin typeface="Arial"/>
                <a:cs typeface="Arial"/>
              </a:rPr>
              <a:t> </a:t>
            </a:r>
            <a:r>
              <a:rPr sz="1950" spc="85" dirty="0">
                <a:solidFill>
                  <a:srgbClr val="231F20"/>
                </a:solidFill>
                <a:latin typeface="Arial"/>
                <a:cs typeface="Arial"/>
              </a:rPr>
              <a:t>variables</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225" dirty="0">
                <a:solidFill>
                  <a:srgbClr val="231F20"/>
                </a:solidFill>
                <a:latin typeface="Arial"/>
                <a:cs typeface="Arial"/>
              </a:rPr>
              <a:t>Often </a:t>
            </a:r>
            <a:r>
              <a:rPr sz="1950" spc="145" dirty="0">
                <a:solidFill>
                  <a:srgbClr val="231F20"/>
                </a:solidFill>
                <a:latin typeface="Arial"/>
                <a:cs typeface="Arial"/>
              </a:rPr>
              <a:t>its </a:t>
            </a:r>
            <a:r>
              <a:rPr sz="1950" spc="175" dirty="0">
                <a:solidFill>
                  <a:srgbClr val="231F20"/>
                </a:solidFill>
                <a:latin typeface="Arial"/>
                <a:cs typeface="Arial"/>
              </a:rPr>
              <a:t>the </a:t>
            </a:r>
            <a:r>
              <a:rPr sz="1950" spc="130" dirty="0">
                <a:solidFill>
                  <a:srgbClr val="0000FF"/>
                </a:solidFill>
                <a:latin typeface="Arial"/>
                <a:cs typeface="Arial"/>
              </a:rPr>
              <a:t>relationship </a:t>
            </a:r>
            <a:r>
              <a:rPr sz="1950" spc="120" dirty="0">
                <a:solidFill>
                  <a:srgbClr val="231F20"/>
                </a:solidFill>
                <a:latin typeface="Arial"/>
                <a:cs typeface="Arial"/>
              </a:rPr>
              <a:t>between </a:t>
            </a:r>
            <a:r>
              <a:rPr sz="1950" spc="85" dirty="0">
                <a:solidFill>
                  <a:srgbClr val="231F20"/>
                </a:solidFill>
                <a:latin typeface="Arial"/>
                <a:cs typeface="Arial"/>
              </a:rPr>
              <a:t>variables </a:t>
            </a:r>
            <a:r>
              <a:rPr sz="1950" spc="235" dirty="0">
                <a:solidFill>
                  <a:srgbClr val="231F20"/>
                </a:solidFill>
                <a:latin typeface="Arial"/>
                <a:cs typeface="Arial"/>
              </a:rPr>
              <a:t>that </a:t>
            </a:r>
            <a:r>
              <a:rPr sz="1950" spc="300" dirty="0">
                <a:solidFill>
                  <a:srgbClr val="231F20"/>
                </a:solidFill>
                <a:latin typeface="Arial"/>
                <a:cs typeface="Arial"/>
              </a:rPr>
              <a:t> </a:t>
            </a:r>
            <a:r>
              <a:rPr sz="1950" spc="175" dirty="0">
                <a:solidFill>
                  <a:srgbClr val="231F20"/>
                </a:solidFill>
                <a:latin typeface="Arial"/>
                <a:cs typeface="Arial"/>
              </a:rPr>
              <a:t>matters</a:t>
            </a:r>
            <a:endParaRPr sz="1950">
              <a:latin typeface="Arial"/>
              <a:cs typeface="Arial"/>
            </a:endParaRPr>
          </a:p>
          <a:p>
            <a:pPr marL="300990" marR="5080" indent="-288290">
              <a:lnSpc>
                <a:spcPct val="125000"/>
              </a:lnSpc>
              <a:spcBef>
                <a:spcPts val="1340"/>
              </a:spcBef>
              <a:buClr>
                <a:srgbClr val="231F20"/>
              </a:buClr>
              <a:buSzPct val="105128"/>
              <a:buFont typeface="Lucida Sans Unicode"/>
              <a:buChar char="•"/>
              <a:tabLst>
                <a:tab pos="301625" algn="l"/>
              </a:tabLst>
            </a:pPr>
            <a:r>
              <a:rPr sz="1950" spc="140" dirty="0">
                <a:solidFill>
                  <a:srgbClr val="FF0000"/>
                </a:solidFill>
                <a:latin typeface="Arial"/>
                <a:cs typeface="Arial"/>
              </a:rPr>
              <a:t>Predicate </a:t>
            </a:r>
            <a:r>
              <a:rPr sz="1950" spc="155" dirty="0">
                <a:solidFill>
                  <a:srgbClr val="FF0000"/>
                </a:solidFill>
                <a:latin typeface="Arial"/>
                <a:cs typeface="Arial"/>
              </a:rPr>
              <a:t>abstraction </a:t>
            </a:r>
            <a:r>
              <a:rPr sz="1950" spc="80" dirty="0">
                <a:solidFill>
                  <a:srgbClr val="231F20"/>
                </a:solidFill>
                <a:latin typeface="Arial"/>
                <a:cs typeface="Arial"/>
              </a:rPr>
              <a:t>replaces </a:t>
            </a:r>
            <a:r>
              <a:rPr sz="1950" spc="110" dirty="0">
                <a:solidFill>
                  <a:srgbClr val="231F20"/>
                </a:solidFill>
                <a:latin typeface="Arial"/>
                <a:cs typeface="Arial"/>
              </a:rPr>
              <a:t>some </a:t>
            </a:r>
            <a:r>
              <a:rPr sz="1950" spc="114" dirty="0">
                <a:solidFill>
                  <a:srgbClr val="231F20"/>
                </a:solidFill>
                <a:latin typeface="Arial"/>
                <a:cs typeface="Arial"/>
              </a:rPr>
              <a:t>relationships </a:t>
            </a:r>
            <a:r>
              <a:rPr sz="1950" spc="140" dirty="0">
                <a:solidFill>
                  <a:srgbClr val="231F20"/>
                </a:solidFill>
                <a:latin typeface="Arial"/>
                <a:cs typeface="Arial"/>
              </a:rPr>
              <a:t>(predicates)  </a:t>
            </a:r>
            <a:r>
              <a:rPr sz="1950" spc="105" dirty="0">
                <a:solidFill>
                  <a:srgbClr val="231F20"/>
                </a:solidFill>
                <a:latin typeface="Arial"/>
                <a:cs typeface="Arial"/>
              </a:rPr>
              <a:t>by </a:t>
            </a:r>
            <a:r>
              <a:rPr sz="1950" spc="150" dirty="0">
                <a:solidFill>
                  <a:srgbClr val="231F20"/>
                </a:solidFill>
                <a:latin typeface="Arial"/>
                <a:cs typeface="Arial"/>
              </a:rPr>
              <a:t>Boolean</a:t>
            </a:r>
            <a:r>
              <a:rPr sz="1950" spc="380" dirty="0">
                <a:solidFill>
                  <a:srgbClr val="231F20"/>
                </a:solidFill>
                <a:latin typeface="Arial"/>
                <a:cs typeface="Arial"/>
              </a:rPr>
              <a:t> </a:t>
            </a:r>
            <a:r>
              <a:rPr sz="1950" spc="85" dirty="0">
                <a:solidFill>
                  <a:srgbClr val="231F20"/>
                </a:solidFill>
                <a:latin typeface="Arial"/>
                <a:cs typeface="Arial"/>
              </a:rPr>
              <a:t>variables</a:t>
            </a:r>
            <a:endParaRPr sz="1950">
              <a:latin typeface="Arial"/>
              <a:cs typeface="Arial"/>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788689" y="1074343"/>
            <a:ext cx="2482215" cy="297180"/>
          </a:xfrm>
          <a:prstGeom prst="rect">
            <a:avLst/>
          </a:prstGeom>
        </p:spPr>
        <p:txBody>
          <a:bodyPr vert="horz" wrap="square" lIns="0" tIns="0" rIns="0" bIns="0" rtlCol="0">
            <a:spAutoFit/>
          </a:bodyPr>
          <a:lstStyle/>
          <a:p>
            <a:pPr marL="12700">
              <a:lnSpc>
                <a:spcPct val="100000"/>
              </a:lnSpc>
            </a:pPr>
            <a:r>
              <a:rPr sz="1950" spc="300" dirty="0">
                <a:solidFill>
                  <a:srgbClr val="231F20"/>
                </a:solidFill>
                <a:latin typeface="Arial"/>
                <a:cs typeface="Arial"/>
              </a:rPr>
              <a:t>Another</a:t>
            </a:r>
            <a:r>
              <a:rPr sz="1950" spc="295" dirty="0">
                <a:solidFill>
                  <a:srgbClr val="231F20"/>
                </a:solidFill>
                <a:latin typeface="Arial"/>
                <a:cs typeface="Arial"/>
              </a:rPr>
              <a:t> </a:t>
            </a:r>
            <a:r>
              <a:rPr sz="1950" spc="265" dirty="0">
                <a:solidFill>
                  <a:srgbClr val="231F20"/>
                </a:solidFill>
                <a:latin typeface="Arial"/>
                <a:cs typeface="Arial"/>
              </a:rPr>
              <a:t>Example</a:t>
            </a:r>
            <a:endParaRPr sz="1950">
              <a:latin typeface="Arial"/>
              <a:cs typeface="Arial"/>
            </a:endParaRPr>
          </a:p>
        </p:txBody>
      </p:sp>
      <p:sp>
        <p:nvSpPr>
          <p:cNvPr id="3" name="object 3"/>
          <p:cNvSpPr txBox="1">
            <a:spLocks noGrp="1"/>
          </p:cNvSpPr>
          <p:nvPr>
            <p:ph type="title"/>
          </p:nvPr>
        </p:nvSpPr>
        <p:spPr>
          <a:xfrm>
            <a:off x="901700" y="1400360"/>
            <a:ext cx="2918460" cy="1858010"/>
          </a:xfrm>
          <a:prstGeom prst="rect">
            <a:avLst/>
          </a:prstGeom>
        </p:spPr>
        <p:txBody>
          <a:bodyPr vert="horz" wrap="square" lIns="0" tIns="0" rIns="0" bIns="0" rtlCol="0">
            <a:spAutoFit/>
          </a:bodyPr>
          <a:lstStyle/>
          <a:p>
            <a:pPr marL="12700" marR="5080">
              <a:lnSpc>
                <a:spcPct val="118900"/>
              </a:lnSpc>
            </a:pPr>
            <a:r>
              <a:rPr spc="55" dirty="0">
                <a:solidFill>
                  <a:srgbClr val="FF0000"/>
                </a:solidFill>
              </a:rPr>
              <a:t>start with r</a:t>
            </a:r>
            <a:r>
              <a:rPr spc="-15" dirty="0">
                <a:solidFill>
                  <a:srgbClr val="FF0000"/>
                </a:solidFill>
              </a:rPr>
              <a:t> </a:t>
            </a:r>
            <a:r>
              <a:rPr spc="55" dirty="0">
                <a:solidFill>
                  <a:srgbClr val="FF0000"/>
                </a:solidFill>
              </a:rPr>
              <a:t>unlocked  </a:t>
            </a:r>
            <a:r>
              <a:rPr spc="55" dirty="0"/>
              <a:t>do</a:t>
            </a:r>
            <a:r>
              <a:rPr spc="-35" dirty="0"/>
              <a:t> </a:t>
            </a:r>
            <a:r>
              <a:rPr spc="365" dirty="0">
                <a:latin typeface="Lucida Sans Unicode"/>
                <a:cs typeface="Lucida Sans Unicode"/>
              </a:rPr>
              <a:t>{</a:t>
            </a:r>
          </a:p>
          <a:p>
            <a:pPr marL="287655" marR="1382395">
              <a:lnSpc>
                <a:spcPct val="118900"/>
              </a:lnSpc>
            </a:pPr>
            <a:r>
              <a:rPr spc="55" dirty="0"/>
              <a:t>lock(r)  old =</a:t>
            </a:r>
            <a:r>
              <a:rPr spc="-25" dirty="0"/>
              <a:t> </a:t>
            </a:r>
            <a:r>
              <a:rPr spc="55" dirty="0"/>
              <a:t>new  if (*)</a:t>
            </a:r>
            <a:r>
              <a:rPr spc="-25" dirty="0"/>
              <a:t> </a:t>
            </a:r>
            <a:r>
              <a:rPr spc="365" dirty="0">
                <a:latin typeface="Lucida Sans Unicode"/>
                <a:cs typeface="Lucida Sans Unicode"/>
              </a:rPr>
              <a:t>{</a:t>
            </a:r>
          </a:p>
        </p:txBody>
      </p:sp>
      <p:sp>
        <p:nvSpPr>
          <p:cNvPr id="4" name="object 4"/>
          <p:cNvSpPr txBox="1"/>
          <p:nvPr/>
        </p:nvSpPr>
        <p:spPr>
          <a:xfrm>
            <a:off x="901700" y="3258192"/>
            <a:ext cx="4572000" cy="2601595"/>
          </a:xfrm>
          <a:prstGeom prst="rect">
            <a:avLst/>
          </a:prstGeom>
        </p:spPr>
        <p:txBody>
          <a:bodyPr vert="horz" wrap="square" lIns="0" tIns="0" rIns="0" bIns="0" rtlCol="0">
            <a:spAutoFit/>
          </a:bodyPr>
          <a:lstStyle/>
          <a:p>
            <a:pPr marL="563245" marR="2760345">
              <a:lnSpc>
                <a:spcPct val="118900"/>
              </a:lnSpc>
            </a:pPr>
            <a:r>
              <a:rPr sz="2050" spc="50" dirty="0">
                <a:solidFill>
                  <a:srgbClr val="0000FF"/>
                </a:solidFill>
                <a:latin typeface="SimSun"/>
                <a:cs typeface="SimSun"/>
              </a:rPr>
              <a:t>unlock(r</a:t>
            </a:r>
            <a:r>
              <a:rPr sz="2050" spc="55" dirty="0">
                <a:solidFill>
                  <a:srgbClr val="0000FF"/>
                </a:solidFill>
                <a:latin typeface="SimSun"/>
                <a:cs typeface="SimSun"/>
              </a:rPr>
              <a:t>)  new++</a:t>
            </a:r>
            <a:endParaRPr sz="2050">
              <a:latin typeface="SimSun"/>
              <a:cs typeface="SimSun"/>
            </a:endParaRPr>
          </a:p>
          <a:p>
            <a:pPr marL="287655">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12700">
              <a:lnSpc>
                <a:spcPct val="100000"/>
              </a:lnSpc>
              <a:spcBef>
                <a:spcPts val="465"/>
              </a:spcBef>
            </a:pPr>
            <a:r>
              <a:rPr sz="2050" spc="55" dirty="0">
                <a:solidFill>
                  <a:srgbClr val="0000FF"/>
                </a:solidFill>
                <a:latin typeface="SimSun"/>
                <a:cs typeface="SimSun"/>
              </a:rPr>
              <a:t>while old !=</a:t>
            </a:r>
            <a:r>
              <a:rPr sz="2050" spc="-15" dirty="0">
                <a:solidFill>
                  <a:srgbClr val="0000FF"/>
                </a:solidFill>
                <a:latin typeface="SimSun"/>
                <a:cs typeface="SimSun"/>
              </a:rPr>
              <a:t> </a:t>
            </a:r>
            <a:r>
              <a:rPr sz="2050" spc="55" dirty="0">
                <a:solidFill>
                  <a:srgbClr val="0000FF"/>
                </a:solidFill>
                <a:latin typeface="SimSun"/>
                <a:cs typeface="SimSun"/>
              </a:rPr>
              <a:t>new</a:t>
            </a:r>
            <a:endParaRPr sz="2050">
              <a:latin typeface="SimSun"/>
              <a:cs typeface="SimSun"/>
            </a:endParaRPr>
          </a:p>
          <a:p>
            <a:pPr marL="12700" marR="5080">
              <a:lnSpc>
                <a:spcPct val="118900"/>
              </a:lnSpc>
            </a:pPr>
            <a:r>
              <a:rPr sz="2050" spc="55" dirty="0">
                <a:solidFill>
                  <a:srgbClr val="FF0000"/>
                </a:solidFill>
                <a:latin typeface="SimSun"/>
                <a:cs typeface="SimSun"/>
              </a:rPr>
              <a:t>want r to be locked at this point  </a:t>
            </a:r>
            <a:r>
              <a:rPr sz="2050" spc="55" dirty="0">
                <a:solidFill>
                  <a:srgbClr val="0000FF"/>
                </a:solidFill>
                <a:latin typeface="SimSun"/>
                <a:cs typeface="SimSun"/>
              </a:rPr>
              <a:t>unlock(r)</a:t>
            </a:r>
            <a:endParaRPr sz="2050">
              <a:latin typeface="SimSun"/>
              <a:cs typeface="SimSun"/>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588093" y="475981"/>
            <a:ext cx="2883535" cy="297180"/>
          </a:xfrm>
          <a:prstGeom prst="rect">
            <a:avLst/>
          </a:prstGeom>
        </p:spPr>
        <p:txBody>
          <a:bodyPr vert="horz" wrap="square" lIns="0" tIns="0" rIns="0" bIns="0" rtlCol="0">
            <a:spAutoFit/>
          </a:bodyPr>
          <a:lstStyle/>
          <a:p>
            <a:pPr marL="12700">
              <a:lnSpc>
                <a:spcPct val="100000"/>
              </a:lnSpc>
            </a:pPr>
            <a:r>
              <a:rPr sz="1950" spc="275" dirty="0">
                <a:solidFill>
                  <a:srgbClr val="231F20"/>
                </a:solidFill>
                <a:latin typeface="Arial"/>
                <a:cs typeface="Arial"/>
              </a:rPr>
              <a:t>Abstracted</a:t>
            </a:r>
            <a:r>
              <a:rPr sz="1950" spc="310" dirty="0">
                <a:solidFill>
                  <a:srgbClr val="231F20"/>
                </a:solidFill>
                <a:latin typeface="Arial"/>
                <a:cs typeface="Arial"/>
              </a:rPr>
              <a:t> </a:t>
            </a:r>
            <a:r>
              <a:rPr sz="1950" spc="265" dirty="0">
                <a:solidFill>
                  <a:srgbClr val="231F20"/>
                </a:solidFill>
                <a:latin typeface="Arial"/>
                <a:cs typeface="Arial"/>
              </a:rPr>
              <a:t>Example</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44494" rIns="0" bIns="0" rtlCol="0">
            <a:spAutoFit/>
          </a:bodyPr>
          <a:lstStyle/>
          <a:p>
            <a:pPr marL="17780">
              <a:lnSpc>
                <a:spcPct val="100000"/>
              </a:lnSpc>
            </a:pPr>
            <a:r>
              <a:rPr sz="1950" spc="250" dirty="0">
                <a:solidFill>
                  <a:srgbClr val="231F20"/>
                </a:solidFill>
                <a:latin typeface="Arial"/>
                <a:cs typeface="Arial"/>
              </a:rPr>
              <a:t>The </a:t>
            </a:r>
            <a:r>
              <a:rPr sz="1950" spc="140" dirty="0">
                <a:solidFill>
                  <a:srgbClr val="231F20"/>
                </a:solidFill>
                <a:latin typeface="Arial"/>
                <a:cs typeface="Arial"/>
              </a:rPr>
              <a:t>significant </a:t>
            </a:r>
            <a:r>
              <a:rPr sz="1950" spc="130" dirty="0">
                <a:solidFill>
                  <a:srgbClr val="231F20"/>
                </a:solidFill>
                <a:latin typeface="Arial"/>
                <a:cs typeface="Arial"/>
              </a:rPr>
              <a:t>relationship </a:t>
            </a:r>
            <a:r>
              <a:rPr sz="1950" spc="55" dirty="0">
                <a:solidFill>
                  <a:srgbClr val="231F20"/>
                </a:solidFill>
                <a:latin typeface="Arial"/>
                <a:cs typeface="Arial"/>
              </a:rPr>
              <a:t>seems </a:t>
            </a:r>
            <a:r>
              <a:rPr sz="1950" spc="250" dirty="0">
                <a:solidFill>
                  <a:srgbClr val="231F20"/>
                </a:solidFill>
                <a:latin typeface="Arial"/>
                <a:cs typeface="Arial"/>
              </a:rPr>
              <a:t>to </a:t>
            </a:r>
            <a:r>
              <a:rPr sz="1950" spc="114" dirty="0">
                <a:solidFill>
                  <a:srgbClr val="231F20"/>
                </a:solidFill>
                <a:latin typeface="Arial"/>
                <a:cs typeface="Arial"/>
              </a:rPr>
              <a:t>be </a:t>
            </a:r>
            <a:r>
              <a:rPr spc="55" dirty="0"/>
              <a:t>old ==</a:t>
            </a:r>
            <a:r>
              <a:rPr spc="775" dirty="0"/>
              <a:t> </a:t>
            </a:r>
            <a:r>
              <a:rPr spc="55" dirty="0"/>
              <a:t>new</a:t>
            </a:r>
            <a:endParaRPr sz="1950">
              <a:latin typeface="Arial"/>
              <a:cs typeface="Arial"/>
            </a:endParaRPr>
          </a:p>
        </p:txBody>
      </p:sp>
      <p:sp>
        <p:nvSpPr>
          <p:cNvPr id="4" name="object 4"/>
          <p:cNvSpPr txBox="1"/>
          <p:nvPr/>
        </p:nvSpPr>
        <p:spPr>
          <a:xfrm>
            <a:off x="901700" y="1442605"/>
            <a:ext cx="5626735" cy="312420"/>
          </a:xfrm>
          <a:prstGeom prst="rect">
            <a:avLst/>
          </a:prstGeom>
        </p:spPr>
        <p:txBody>
          <a:bodyPr vert="horz" wrap="square" lIns="0" tIns="0" rIns="0" bIns="0" rtlCol="0">
            <a:spAutoFit/>
          </a:bodyPr>
          <a:lstStyle/>
          <a:p>
            <a:pPr marL="12700">
              <a:lnSpc>
                <a:spcPct val="100000"/>
              </a:lnSpc>
            </a:pPr>
            <a:r>
              <a:rPr sz="1950" spc="100" dirty="0">
                <a:solidFill>
                  <a:srgbClr val="231F20"/>
                </a:solidFill>
                <a:latin typeface="Arial"/>
                <a:cs typeface="Arial"/>
              </a:rPr>
              <a:t>Replace </a:t>
            </a:r>
            <a:r>
              <a:rPr sz="1950" spc="145" dirty="0">
                <a:solidFill>
                  <a:srgbClr val="231F20"/>
                </a:solidFill>
                <a:latin typeface="Arial"/>
                <a:cs typeface="Arial"/>
              </a:rPr>
              <a:t>this </a:t>
            </a:r>
            <a:r>
              <a:rPr sz="1950" spc="105" dirty="0">
                <a:solidFill>
                  <a:srgbClr val="231F20"/>
                </a:solidFill>
                <a:latin typeface="Arial"/>
                <a:cs typeface="Arial"/>
              </a:rPr>
              <a:t>by </a:t>
            </a:r>
            <a:r>
              <a:rPr sz="2050" spc="85" dirty="0">
                <a:solidFill>
                  <a:srgbClr val="0000FF"/>
                </a:solidFill>
                <a:latin typeface="SimSun"/>
                <a:cs typeface="SimSun"/>
              </a:rPr>
              <a:t>eq</a:t>
            </a:r>
            <a:r>
              <a:rPr sz="1950" spc="85" dirty="0">
                <a:solidFill>
                  <a:srgbClr val="231F20"/>
                </a:solidFill>
                <a:latin typeface="Arial"/>
                <a:cs typeface="Arial"/>
              </a:rPr>
              <a:t>, </a:t>
            </a:r>
            <a:r>
              <a:rPr sz="1950" spc="200" dirty="0">
                <a:solidFill>
                  <a:srgbClr val="231F20"/>
                </a:solidFill>
                <a:latin typeface="Arial"/>
                <a:cs typeface="Arial"/>
              </a:rPr>
              <a:t>throw </a:t>
            </a:r>
            <a:r>
              <a:rPr sz="1950" spc="80" dirty="0">
                <a:solidFill>
                  <a:srgbClr val="231F20"/>
                </a:solidFill>
                <a:latin typeface="Arial"/>
                <a:cs typeface="Arial"/>
              </a:rPr>
              <a:t>away </a:t>
            </a:r>
            <a:r>
              <a:rPr sz="2050" spc="55" dirty="0">
                <a:solidFill>
                  <a:srgbClr val="0000FF"/>
                </a:solidFill>
                <a:latin typeface="SimSun"/>
                <a:cs typeface="SimSun"/>
              </a:rPr>
              <a:t>old </a:t>
            </a:r>
            <a:r>
              <a:rPr sz="1950" spc="130" dirty="0">
                <a:solidFill>
                  <a:srgbClr val="231F20"/>
                </a:solidFill>
                <a:latin typeface="Arial"/>
                <a:cs typeface="Arial"/>
              </a:rPr>
              <a:t>and </a:t>
            </a:r>
            <a:r>
              <a:rPr sz="1950" spc="310" dirty="0">
                <a:solidFill>
                  <a:srgbClr val="231F20"/>
                </a:solidFill>
                <a:latin typeface="Arial"/>
                <a:cs typeface="Arial"/>
              </a:rPr>
              <a:t> </a:t>
            </a:r>
            <a:r>
              <a:rPr sz="2050" spc="55" dirty="0">
                <a:solidFill>
                  <a:srgbClr val="0000FF"/>
                </a:solidFill>
                <a:latin typeface="SimSun"/>
                <a:cs typeface="SimSun"/>
              </a:rPr>
              <a:t>new</a:t>
            </a:r>
            <a:endParaRPr sz="2050">
              <a:latin typeface="SimSun"/>
              <a:cs typeface="SimSun"/>
            </a:endParaRPr>
          </a:p>
        </p:txBody>
      </p:sp>
      <p:sp>
        <p:nvSpPr>
          <p:cNvPr id="5" name="object 5"/>
          <p:cNvSpPr txBox="1"/>
          <p:nvPr/>
        </p:nvSpPr>
        <p:spPr>
          <a:xfrm>
            <a:off x="2968244" y="2817337"/>
            <a:ext cx="1678939" cy="768985"/>
          </a:xfrm>
          <a:prstGeom prst="rect">
            <a:avLst/>
          </a:prstGeom>
        </p:spPr>
        <p:txBody>
          <a:bodyPr vert="horz" wrap="square" lIns="0" tIns="0" rIns="0" bIns="0" rtlCol="0">
            <a:spAutoFit/>
          </a:bodyPr>
          <a:lstStyle/>
          <a:p>
            <a:pPr marL="12700" marR="5080">
              <a:lnSpc>
                <a:spcPct val="118900"/>
              </a:lnSpc>
            </a:pPr>
            <a:r>
              <a:rPr sz="2050" spc="55" dirty="0">
                <a:solidFill>
                  <a:srgbClr val="FF0000"/>
                </a:solidFill>
                <a:latin typeface="SimSun"/>
                <a:cs typeface="SimSun"/>
              </a:rPr>
              <a:t>[locked]  [locked,</a:t>
            </a:r>
            <a:r>
              <a:rPr sz="2050" spc="-35" dirty="0">
                <a:solidFill>
                  <a:srgbClr val="FF0000"/>
                </a:solidFill>
                <a:latin typeface="SimSun"/>
                <a:cs typeface="SimSun"/>
              </a:rPr>
              <a:t> </a:t>
            </a:r>
            <a:r>
              <a:rPr sz="2050" spc="55" dirty="0">
                <a:solidFill>
                  <a:srgbClr val="FF0000"/>
                </a:solidFill>
                <a:latin typeface="SimSun"/>
                <a:cs typeface="SimSun"/>
              </a:rPr>
              <a:t>eq]</a:t>
            </a:r>
            <a:endParaRPr sz="2050">
              <a:latin typeface="SimSun"/>
              <a:cs typeface="SimSun"/>
            </a:endParaRPr>
          </a:p>
        </p:txBody>
      </p:sp>
      <p:sp>
        <p:nvSpPr>
          <p:cNvPr id="6" name="object 6"/>
          <p:cNvSpPr txBox="1"/>
          <p:nvPr/>
        </p:nvSpPr>
        <p:spPr>
          <a:xfrm>
            <a:off x="901700" y="2074158"/>
            <a:ext cx="1816100" cy="2255520"/>
          </a:xfrm>
          <a:prstGeom prst="rect">
            <a:avLst/>
          </a:prstGeom>
        </p:spPr>
        <p:txBody>
          <a:bodyPr vert="horz" wrap="square" lIns="0" tIns="0" rIns="0" bIns="0" rtlCol="0">
            <a:spAutoFit/>
          </a:bodyPr>
          <a:lstStyle/>
          <a:p>
            <a:pPr marL="12700" marR="555625">
              <a:lnSpc>
                <a:spcPct val="118900"/>
              </a:lnSpc>
            </a:pPr>
            <a:r>
              <a:rPr sz="2050" spc="50" dirty="0">
                <a:solidFill>
                  <a:srgbClr val="FF0000"/>
                </a:solidFill>
                <a:latin typeface="SimSun"/>
                <a:cs typeface="SimSun"/>
              </a:rPr>
              <a:t>[!locked</a:t>
            </a:r>
            <a:r>
              <a:rPr sz="2050" spc="55" dirty="0">
                <a:solidFill>
                  <a:srgbClr val="FF0000"/>
                </a:solidFill>
                <a:latin typeface="SimSun"/>
                <a:cs typeface="SimSun"/>
              </a:rPr>
              <a:t>]  </a:t>
            </a:r>
            <a:r>
              <a:rPr sz="2050" spc="55" dirty="0">
                <a:solidFill>
                  <a:srgbClr val="0000FF"/>
                </a:solidFill>
                <a:latin typeface="SimSun"/>
                <a:cs typeface="SimSun"/>
              </a:rPr>
              <a:t>do</a:t>
            </a:r>
            <a:r>
              <a:rPr sz="2050" spc="-3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287655" marR="280035">
              <a:lnSpc>
                <a:spcPct val="118900"/>
              </a:lnSpc>
            </a:pPr>
            <a:r>
              <a:rPr sz="2050" spc="55" dirty="0">
                <a:solidFill>
                  <a:srgbClr val="0000FF"/>
                </a:solidFill>
                <a:latin typeface="SimSun"/>
                <a:cs typeface="SimSun"/>
              </a:rPr>
              <a:t>lock(r)  eq =</a:t>
            </a:r>
            <a:r>
              <a:rPr sz="2050" spc="-25" dirty="0">
                <a:solidFill>
                  <a:srgbClr val="0000FF"/>
                </a:solidFill>
                <a:latin typeface="SimSun"/>
                <a:cs typeface="SimSun"/>
              </a:rPr>
              <a:t> </a:t>
            </a:r>
            <a:r>
              <a:rPr sz="2050" spc="55" dirty="0">
                <a:solidFill>
                  <a:srgbClr val="0000FF"/>
                </a:solidFill>
                <a:latin typeface="SimSun"/>
                <a:cs typeface="SimSun"/>
              </a:rPr>
              <a:t>true  if (*)</a:t>
            </a:r>
            <a:r>
              <a:rPr sz="2050" spc="-2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563245">
              <a:lnSpc>
                <a:spcPct val="100000"/>
              </a:lnSpc>
              <a:spcBef>
                <a:spcPts val="465"/>
              </a:spcBef>
            </a:pPr>
            <a:r>
              <a:rPr sz="2050" spc="50" dirty="0">
                <a:solidFill>
                  <a:srgbClr val="0000FF"/>
                </a:solidFill>
                <a:latin typeface="SimSun"/>
                <a:cs typeface="SimSun"/>
              </a:rPr>
              <a:t>unlock(r</a:t>
            </a:r>
            <a:r>
              <a:rPr sz="2050" spc="55" dirty="0">
                <a:solidFill>
                  <a:srgbClr val="0000FF"/>
                </a:solidFill>
                <a:latin typeface="SimSun"/>
                <a:cs typeface="SimSun"/>
              </a:rPr>
              <a:t>)</a:t>
            </a:r>
            <a:endParaRPr sz="2050">
              <a:latin typeface="SimSun"/>
              <a:cs typeface="SimSun"/>
            </a:endParaRPr>
          </a:p>
        </p:txBody>
      </p:sp>
      <p:sp>
        <p:nvSpPr>
          <p:cNvPr id="7" name="object 7"/>
          <p:cNvSpPr txBox="1"/>
          <p:nvPr/>
        </p:nvSpPr>
        <p:spPr>
          <a:xfrm>
            <a:off x="2968244" y="3991152"/>
            <a:ext cx="1816735" cy="338455"/>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[!locked,</a:t>
            </a:r>
            <a:r>
              <a:rPr sz="2050" spc="-35" dirty="0">
                <a:solidFill>
                  <a:srgbClr val="FF0000"/>
                </a:solidFill>
                <a:latin typeface="SimSun"/>
                <a:cs typeface="SimSun"/>
              </a:rPr>
              <a:t> </a:t>
            </a:r>
            <a:r>
              <a:rPr sz="2050" spc="55" dirty="0">
                <a:solidFill>
                  <a:srgbClr val="FF0000"/>
                </a:solidFill>
                <a:latin typeface="SimSun"/>
                <a:cs typeface="SimSun"/>
              </a:rPr>
              <a:t>eq]</a:t>
            </a:r>
            <a:endParaRPr sz="2050">
              <a:latin typeface="SimSun"/>
              <a:cs typeface="SimSun"/>
            </a:endParaRPr>
          </a:p>
        </p:txBody>
      </p:sp>
      <p:sp>
        <p:nvSpPr>
          <p:cNvPr id="8" name="object 8"/>
          <p:cNvSpPr txBox="1"/>
          <p:nvPr/>
        </p:nvSpPr>
        <p:spPr>
          <a:xfrm>
            <a:off x="901700" y="4362742"/>
            <a:ext cx="4565015" cy="2196465"/>
          </a:xfrm>
          <a:prstGeom prst="rect">
            <a:avLst/>
          </a:prstGeom>
        </p:spPr>
        <p:txBody>
          <a:bodyPr vert="horz" wrap="square" lIns="0" tIns="0" rIns="0" bIns="0" rtlCol="0">
            <a:spAutoFit/>
          </a:bodyPr>
          <a:lstStyle/>
          <a:p>
            <a:pPr marL="563245">
              <a:lnSpc>
                <a:spcPct val="100000"/>
              </a:lnSpc>
            </a:pPr>
            <a:r>
              <a:rPr sz="2050" spc="55" dirty="0">
                <a:solidFill>
                  <a:srgbClr val="0000FF"/>
                </a:solidFill>
                <a:latin typeface="SimSun"/>
                <a:cs typeface="SimSun"/>
              </a:rPr>
              <a:t>eq = false </a:t>
            </a:r>
            <a:r>
              <a:rPr sz="2050" spc="55" dirty="0">
                <a:solidFill>
                  <a:srgbClr val="FF0000"/>
                </a:solidFill>
                <a:latin typeface="SimSun"/>
                <a:cs typeface="SimSun"/>
              </a:rPr>
              <a:t>[!locked,</a:t>
            </a:r>
            <a:r>
              <a:rPr sz="2050" spc="-5" dirty="0">
                <a:solidFill>
                  <a:srgbClr val="FF0000"/>
                </a:solidFill>
                <a:latin typeface="SimSun"/>
                <a:cs typeface="SimSun"/>
              </a:rPr>
              <a:t> </a:t>
            </a:r>
            <a:r>
              <a:rPr sz="2050" spc="55" dirty="0">
                <a:solidFill>
                  <a:srgbClr val="FF0000"/>
                </a:solidFill>
                <a:latin typeface="SimSun"/>
                <a:cs typeface="SimSun"/>
              </a:rPr>
              <a:t>!eq]</a:t>
            </a:r>
            <a:endParaRPr sz="2050">
              <a:latin typeface="SimSun"/>
              <a:cs typeface="SimSun"/>
            </a:endParaRPr>
          </a:p>
          <a:p>
            <a:pPr marL="287655">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12700" marR="5080">
              <a:lnSpc>
                <a:spcPct val="118900"/>
              </a:lnSpc>
              <a:tabLst>
                <a:tab pos="419100" algn="l"/>
              </a:tabLst>
            </a:pPr>
            <a:r>
              <a:rPr sz="2050" spc="365" dirty="0">
                <a:solidFill>
                  <a:srgbClr val="0000FF"/>
                </a:solidFill>
                <a:latin typeface="Lucida Sans Unicode"/>
                <a:cs typeface="Lucida Sans Unicode"/>
              </a:rPr>
              <a:t>}	</a:t>
            </a:r>
            <a:r>
              <a:rPr sz="2050" spc="55" dirty="0">
                <a:solidFill>
                  <a:srgbClr val="FF0000"/>
                </a:solidFill>
                <a:latin typeface="SimSun"/>
                <a:cs typeface="SimSun"/>
              </a:rPr>
              <a:t>[locked, eq] or</a:t>
            </a:r>
            <a:r>
              <a:rPr sz="2050" spc="5" dirty="0">
                <a:solidFill>
                  <a:srgbClr val="FF0000"/>
                </a:solidFill>
                <a:latin typeface="SimSun"/>
                <a:cs typeface="SimSun"/>
              </a:rPr>
              <a:t> </a:t>
            </a:r>
            <a:r>
              <a:rPr sz="2050" spc="55" dirty="0">
                <a:solidFill>
                  <a:srgbClr val="FF0000"/>
                </a:solidFill>
                <a:latin typeface="SimSun"/>
                <a:cs typeface="SimSun"/>
              </a:rPr>
              <a:t>[!locked,</a:t>
            </a:r>
            <a:r>
              <a:rPr sz="2050" spc="35" dirty="0">
                <a:solidFill>
                  <a:srgbClr val="FF0000"/>
                </a:solidFill>
                <a:latin typeface="SimSun"/>
                <a:cs typeface="SimSun"/>
              </a:rPr>
              <a:t> </a:t>
            </a:r>
            <a:r>
              <a:rPr sz="2050" spc="55" dirty="0">
                <a:solidFill>
                  <a:srgbClr val="FF0000"/>
                </a:solidFill>
                <a:latin typeface="SimSun"/>
                <a:cs typeface="SimSun"/>
              </a:rPr>
              <a:t>!eq]  </a:t>
            </a:r>
            <a:r>
              <a:rPr sz="2050" spc="55" dirty="0">
                <a:solidFill>
                  <a:srgbClr val="0000FF"/>
                </a:solidFill>
                <a:latin typeface="SimSun"/>
                <a:cs typeface="SimSun"/>
              </a:rPr>
              <a:t>while not</a:t>
            </a:r>
            <a:r>
              <a:rPr sz="2050" spc="-25" dirty="0">
                <a:solidFill>
                  <a:srgbClr val="0000FF"/>
                </a:solidFill>
                <a:latin typeface="SimSun"/>
                <a:cs typeface="SimSun"/>
              </a:rPr>
              <a:t> </a:t>
            </a:r>
            <a:r>
              <a:rPr sz="2050" spc="55" dirty="0">
                <a:solidFill>
                  <a:srgbClr val="0000FF"/>
                </a:solidFill>
                <a:latin typeface="SimSun"/>
                <a:cs typeface="SimSun"/>
              </a:rPr>
              <a:t>eq</a:t>
            </a:r>
            <a:endParaRPr sz="2050">
              <a:latin typeface="SimSun"/>
              <a:cs typeface="SimSun"/>
            </a:endParaRPr>
          </a:p>
          <a:p>
            <a:pPr marL="12700" marR="2891155">
              <a:lnSpc>
                <a:spcPct val="118900"/>
              </a:lnSpc>
            </a:pPr>
            <a:r>
              <a:rPr sz="2050" spc="55" dirty="0">
                <a:solidFill>
                  <a:srgbClr val="FF0000"/>
                </a:solidFill>
                <a:latin typeface="SimSun"/>
                <a:cs typeface="SimSun"/>
              </a:rPr>
              <a:t>[locked,</a:t>
            </a:r>
            <a:r>
              <a:rPr sz="2050" spc="-30" dirty="0">
                <a:solidFill>
                  <a:srgbClr val="FF0000"/>
                </a:solidFill>
                <a:latin typeface="SimSun"/>
                <a:cs typeface="SimSun"/>
              </a:rPr>
              <a:t> </a:t>
            </a:r>
            <a:r>
              <a:rPr sz="2050" spc="55" dirty="0">
                <a:solidFill>
                  <a:srgbClr val="FF0000"/>
                </a:solidFill>
                <a:latin typeface="SimSun"/>
                <a:cs typeface="SimSun"/>
              </a:rPr>
              <a:t>eq]  </a:t>
            </a:r>
            <a:r>
              <a:rPr sz="2050" spc="55" dirty="0">
                <a:solidFill>
                  <a:srgbClr val="0000FF"/>
                </a:solidFill>
                <a:latin typeface="SimSun"/>
                <a:cs typeface="SimSun"/>
              </a:rPr>
              <a:t>unlock(r)</a:t>
            </a:r>
            <a:endParaRPr sz="2050">
              <a:latin typeface="SimSun"/>
              <a:cs typeface="SimSun"/>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491966" y="505931"/>
            <a:ext cx="3075940" cy="297180"/>
          </a:xfrm>
          <a:prstGeom prst="rect">
            <a:avLst/>
          </a:prstGeom>
        </p:spPr>
        <p:txBody>
          <a:bodyPr vert="horz" wrap="square" lIns="0" tIns="0" rIns="0" bIns="0" rtlCol="0">
            <a:spAutoFit/>
          </a:bodyPr>
          <a:lstStyle/>
          <a:p>
            <a:pPr marL="12700">
              <a:lnSpc>
                <a:spcPct val="100000"/>
              </a:lnSpc>
            </a:pPr>
            <a:r>
              <a:rPr sz="1950" spc="275" dirty="0">
                <a:solidFill>
                  <a:srgbClr val="231F20"/>
                </a:solidFill>
                <a:latin typeface="Arial"/>
                <a:cs typeface="Arial"/>
              </a:rPr>
              <a:t>Yet </a:t>
            </a:r>
            <a:r>
              <a:rPr sz="1950" spc="300" dirty="0">
                <a:solidFill>
                  <a:srgbClr val="231F20"/>
                </a:solidFill>
                <a:latin typeface="Arial"/>
                <a:cs typeface="Arial"/>
              </a:rPr>
              <a:t>Another</a:t>
            </a:r>
            <a:r>
              <a:rPr sz="1950" spc="395" dirty="0">
                <a:solidFill>
                  <a:srgbClr val="231F20"/>
                </a:solidFill>
                <a:latin typeface="Arial"/>
                <a:cs typeface="Arial"/>
              </a:rPr>
              <a:t> </a:t>
            </a:r>
            <a:r>
              <a:rPr sz="1950" spc="265" dirty="0">
                <a:solidFill>
                  <a:srgbClr val="231F20"/>
                </a:solidFill>
                <a:latin typeface="Arial"/>
                <a:cs typeface="Arial"/>
              </a:rPr>
              <a:t>Example</a:t>
            </a:r>
            <a:endParaRPr sz="1950">
              <a:latin typeface="Arial"/>
              <a:cs typeface="Arial"/>
            </a:endParaRPr>
          </a:p>
        </p:txBody>
      </p:sp>
      <p:sp>
        <p:nvSpPr>
          <p:cNvPr id="3" name="object 3"/>
          <p:cNvSpPr txBox="1">
            <a:spLocks noGrp="1"/>
          </p:cNvSpPr>
          <p:nvPr>
            <p:ph type="title"/>
          </p:nvPr>
        </p:nvSpPr>
        <p:spPr>
          <a:prstGeom prst="rect">
            <a:avLst/>
          </a:prstGeom>
        </p:spPr>
        <p:txBody>
          <a:bodyPr vert="horz" wrap="square" lIns="0" tIns="0" rIns="0" bIns="0" rtlCol="0">
            <a:spAutoFit/>
          </a:bodyPr>
          <a:lstStyle/>
          <a:p>
            <a:pPr marL="17780">
              <a:lnSpc>
                <a:spcPct val="100000"/>
              </a:lnSpc>
            </a:pPr>
            <a:r>
              <a:rPr spc="55" dirty="0"/>
              <a:t>z := n; x := 0; y :=</a:t>
            </a:r>
            <a:r>
              <a:rPr spc="25" dirty="0"/>
              <a:t> </a:t>
            </a:r>
            <a:r>
              <a:rPr spc="55" dirty="0"/>
              <a:t>0;</a:t>
            </a:r>
          </a:p>
          <a:p>
            <a:pPr marL="17780">
              <a:lnSpc>
                <a:spcPct val="100000"/>
              </a:lnSpc>
              <a:spcBef>
                <a:spcPts val="465"/>
              </a:spcBef>
            </a:pPr>
            <a:r>
              <a:rPr spc="55" dirty="0"/>
              <a:t>while (z &gt; 0)</a:t>
            </a:r>
            <a:r>
              <a:rPr spc="-15" dirty="0"/>
              <a:t> </a:t>
            </a:r>
            <a:r>
              <a:rPr spc="365" dirty="0">
                <a:latin typeface="Lucida Sans Unicode"/>
                <a:cs typeface="Lucida Sans Unicode"/>
              </a:rPr>
              <a:t>{</a:t>
            </a:r>
          </a:p>
        </p:txBody>
      </p:sp>
      <p:sp>
        <p:nvSpPr>
          <p:cNvPr id="4" name="object 4"/>
          <p:cNvSpPr txBox="1"/>
          <p:nvPr/>
        </p:nvSpPr>
        <p:spPr>
          <a:xfrm>
            <a:off x="896440" y="1634172"/>
            <a:ext cx="8003540" cy="4637405"/>
          </a:xfrm>
          <a:prstGeom prst="rect">
            <a:avLst/>
          </a:prstGeom>
        </p:spPr>
        <p:txBody>
          <a:bodyPr vert="horz" wrap="square" lIns="0" tIns="0" rIns="0" bIns="0" rtlCol="0">
            <a:spAutoFit/>
          </a:bodyPr>
          <a:lstStyle/>
          <a:p>
            <a:pPr marL="293370">
              <a:lnSpc>
                <a:spcPct val="100000"/>
              </a:lnSpc>
            </a:pPr>
            <a:r>
              <a:rPr sz="2050" spc="55" dirty="0">
                <a:solidFill>
                  <a:srgbClr val="0000FF"/>
                </a:solidFill>
                <a:latin typeface="SimSun"/>
                <a:cs typeface="SimSun"/>
              </a:rPr>
              <a:t>if (*)</a:t>
            </a:r>
            <a:r>
              <a:rPr sz="2050" spc="-2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706755" marR="6048375">
              <a:lnSpc>
                <a:spcPct val="118900"/>
              </a:lnSpc>
            </a:pPr>
            <a:r>
              <a:rPr sz="2050" spc="55" dirty="0">
                <a:solidFill>
                  <a:srgbClr val="0000FF"/>
                </a:solidFill>
                <a:latin typeface="SimSun"/>
                <a:cs typeface="SimSun"/>
              </a:rPr>
              <a:t>x :=</a:t>
            </a:r>
            <a:r>
              <a:rPr sz="2050" spc="-25" dirty="0">
                <a:solidFill>
                  <a:srgbClr val="0000FF"/>
                </a:solidFill>
                <a:latin typeface="SimSun"/>
                <a:cs typeface="SimSun"/>
              </a:rPr>
              <a:t> </a:t>
            </a:r>
            <a:r>
              <a:rPr sz="2050" spc="55" dirty="0">
                <a:solidFill>
                  <a:srgbClr val="0000FF"/>
                </a:solidFill>
                <a:latin typeface="SimSun"/>
                <a:cs typeface="SimSun"/>
              </a:rPr>
              <a:t>x+1;  z :=</a:t>
            </a:r>
            <a:r>
              <a:rPr sz="2050" spc="-30" dirty="0">
                <a:solidFill>
                  <a:srgbClr val="0000FF"/>
                </a:solidFill>
                <a:latin typeface="SimSun"/>
                <a:cs typeface="SimSun"/>
              </a:rPr>
              <a:t> </a:t>
            </a:r>
            <a:r>
              <a:rPr sz="2050" spc="55" dirty="0">
                <a:solidFill>
                  <a:srgbClr val="0000FF"/>
                </a:solidFill>
                <a:latin typeface="SimSun"/>
                <a:cs typeface="SimSun"/>
              </a:rPr>
              <a:t>z-1;</a:t>
            </a:r>
            <a:endParaRPr sz="2050">
              <a:latin typeface="SimSun"/>
              <a:cs typeface="SimSun"/>
            </a:endParaRPr>
          </a:p>
          <a:p>
            <a:pPr marL="293370">
              <a:lnSpc>
                <a:spcPct val="100000"/>
              </a:lnSpc>
              <a:spcBef>
                <a:spcPts val="465"/>
              </a:spcBef>
              <a:tabLst>
                <a:tab pos="561975" algn="l"/>
              </a:tabLst>
            </a:pPr>
            <a:r>
              <a:rPr sz="2050" spc="365" dirty="0">
                <a:solidFill>
                  <a:srgbClr val="0000FF"/>
                </a:solidFill>
                <a:latin typeface="Lucida Sans Unicode"/>
                <a:cs typeface="Lucida Sans Unicode"/>
              </a:rPr>
              <a:t>}	</a:t>
            </a:r>
            <a:r>
              <a:rPr sz="2050" spc="55" dirty="0">
                <a:solidFill>
                  <a:srgbClr val="0000FF"/>
                </a:solidFill>
                <a:latin typeface="SimSun"/>
                <a:cs typeface="SimSun"/>
              </a:rPr>
              <a:t>else</a:t>
            </a:r>
            <a:r>
              <a:rPr sz="2050" spc="-3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706755" marR="6048375">
              <a:lnSpc>
                <a:spcPct val="118900"/>
              </a:lnSpc>
            </a:pPr>
            <a:r>
              <a:rPr sz="2050" spc="55" dirty="0">
                <a:solidFill>
                  <a:srgbClr val="0000FF"/>
                </a:solidFill>
                <a:latin typeface="SimSun"/>
                <a:cs typeface="SimSun"/>
              </a:rPr>
              <a:t>y :=</a:t>
            </a:r>
            <a:r>
              <a:rPr sz="2050" spc="-25" dirty="0">
                <a:solidFill>
                  <a:srgbClr val="0000FF"/>
                </a:solidFill>
                <a:latin typeface="SimSun"/>
                <a:cs typeface="SimSun"/>
              </a:rPr>
              <a:t> </a:t>
            </a:r>
            <a:r>
              <a:rPr sz="2050" spc="55" dirty="0">
                <a:solidFill>
                  <a:srgbClr val="0000FF"/>
                </a:solidFill>
                <a:latin typeface="SimSun"/>
                <a:cs typeface="SimSun"/>
              </a:rPr>
              <a:t>y+1;  z :=</a:t>
            </a:r>
            <a:r>
              <a:rPr sz="2050" spc="-30" dirty="0">
                <a:solidFill>
                  <a:srgbClr val="0000FF"/>
                </a:solidFill>
                <a:latin typeface="SimSun"/>
                <a:cs typeface="SimSun"/>
              </a:rPr>
              <a:t> </a:t>
            </a:r>
            <a:r>
              <a:rPr sz="2050" spc="55" dirty="0">
                <a:solidFill>
                  <a:srgbClr val="0000FF"/>
                </a:solidFill>
                <a:latin typeface="SimSun"/>
                <a:cs typeface="SimSun"/>
              </a:rPr>
              <a:t>z-1;</a:t>
            </a:r>
            <a:endParaRPr sz="2050">
              <a:latin typeface="SimSun"/>
              <a:cs typeface="SimSun"/>
            </a:endParaRPr>
          </a:p>
          <a:p>
            <a:pPr marL="293370">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17780">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17780">
              <a:lnSpc>
                <a:spcPct val="100000"/>
              </a:lnSpc>
              <a:spcBef>
                <a:spcPts val="465"/>
              </a:spcBef>
            </a:pPr>
            <a:r>
              <a:rPr sz="2050" spc="55" dirty="0">
                <a:solidFill>
                  <a:srgbClr val="FF0000"/>
                </a:solidFill>
                <a:latin typeface="SimSun"/>
                <a:cs typeface="SimSun"/>
              </a:rPr>
              <a:t>want y!= 0, given x != z, n &gt;</a:t>
            </a:r>
            <a:r>
              <a:rPr sz="2050" spc="40" dirty="0">
                <a:solidFill>
                  <a:srgbClr val="FF0000"/>
                </a:solidFill>
                <a:latin typeface="SimSun"/>
                <a:cs typeface="SimSun"/>
              </a:rPr>
              <a:t> </a:t>
            </a:r>
            <a:r>
              <a:rPr sz="2050" spc="55" dirty="0">
                <a:solidFill>
                  <a:srgbClr val="FF0000"/>
                </a:solidFill>
                <a:latin typeface="SimSun"/>
                <a:cs typeface="SimSun"/>
              </a:rPr>
              <a:t>0</a:t>
            </a:r>
            <a:endParaRPr sz="2050">
              <a:latin typeface="SimSun"/>
              <a:cs typeface="SimSun"/>
            </a:endParaRPr>
          </a:p>
          <a:p>
            <a:pPr marL="300990" indent="-288290">
              <a:lnSpc>
                <a:spcPct val="100000"/>
              </a:lnSpc>
              <a:spcBef>
                <a:spcPts val="875"/>
              </a:spcBef>
              <a:buSzPct val="105128"/>
              <a:buFont typeface="Lucida Sans Unicode"/>
              <a:buChar char="•"/>
              <a:tabLst>
                <a:tab pos="301625" algn="l"/>
              </a:tabLst>
            </a:pPr>
            <a:r>
              <a:rPr sz="1950" spc="250" dirty="0">
                <a:solidFill>
                  <a:srgbClr val="231F20"/>
                </a:solidFill>
                <a:latin typeface="Arial"/>
                <a:cs typeface="Arial"/>
              </a:rPr>
              <a:t>The </a:t>
            </a:r>
            <a:r>
              <a:rPr sz="1950" spc="140" dirty="0">
                <a:solidFill>
                  <a:srgbClr val="0000FF"/>
                </a:solidFill>
                <a:latin typeface="Arial"/>
                <a:cs typeface="Arial"/>
              </a:rPr>
              <a:t>invariant </a:t>
            </a:r>
            <a:r>
              <a:rPr sz="1950" spc="80" dirty="0">
                <a:solidFill>
                  <a:srgbClr val="231F20"/>
                </a:solidFill>
                <a:latin typeface="Arial"/>
                <a:cs typeface="Arial"/>
              </a:rPr>
              <a:t>needed </a:t>
            </a:r>
            <a:r>
              <a:rPr sz="1950" spc="40" dirty="0">
                <a:solidFill>
                  <a:srgbClr val="231F20"/>
                </a:solidFill>
                <a:latin typeface="Arial"/>
                <a:cs typeface="Arial"/>
              </a:rPr>
              <a:t>is </a:t>
            </a:r>
            <a:r>
              <a:rPr sz="2050" spc="55" dirty="0">
                <a:solidFill>
                  <a:srgbClr val="0000FF"/>
                </a:solidFill>
                <a:latin typeface="SimSun"/>
                <a:cs typeface="SimSun"/>
              </a:rPr>
              <a:t>x + y + z =</a:t>
            </a:r>
            <a:r>
              <a:rPr sz="2050" spc="690" dirty="0">
                <a:solidFill>
                  <a:srgbClr val="0000FF"/>
                </a:solidFill>
                <a:latin typeface="SimSun"/>
                <a:cs typeface="SimSun"/>
              </a:rPr>
              <a:t> </a:t>
            </a:r>
            <a:r>
              <a:rPr sz="2050" spc="55" dirty="0">
                <a:solidFill>
                  <a:srgbClr val="0000FF"/>
                </a:solidFill>
                <a:latin typeface="SimSun"/>
                <a:cs typeface="SimSun"/>
              </a:rPr>
              <a:t>n</a:t>
            </a:r>
            <a:endParaRPr sz="2050">
              <a:latin typeface="SimSun"/>
              <a:cs typeface="SimSun"/>
            </a:endParaRPr>
          </a:p>
          <a:p>
            <a:pPr marL="300990" marR="5080" indent="-288290">
              <a:lnSpc>
                <a:spcPct val="125000"/>
              </a:lnSpc>
              <a:spcBef>
                <a:spcPts val="1320"/>
              </a:spcBef>
              <a:buSzPct val="105128"/>
              <a:buFont typeface="Lucida Sans Unicode"/>
              <a:buChar char="•"/>
              <a:tabLst>
                <a:tab pos="301625" algn="l"/>
              </a:tabLst>
            </a:pPr>
            <a:r>
              <a:rPr sz="1950" spc="275" dirty="0">
                <a:solidFill>
                  <a:srgbClr val="231F20"/>
                </a:solidFill>
                <a:latin typeface="Arial"/>
                <a:cs typeface="Arial"/>
              </a:rPr>
              <a:t>But </a:t>
            </a:r>
            <a:r>
              <a:rPr sz="1950" spc="140" dirty="0">
                <a:solidFill>
                  <a:srgbClr val="231F20"/>
                </a:solidFill>
                <a:latin typeface="Arial"/>
                <a:cs typeface="Arial"/>
              </a:rPr>
              <a:t>neither </a:t>
            </a:r>
            <a:r>
              <a:rPr sz="1950" spc="145" dirty="0">
                <a:solidFill>
                  <a:srgbClr val="231F20"/>
                </a:solidFill>
                <a:latin typeface="Arial"/>
                <a:cs typeface="Arial"/>
              </a:rPr>
              <a:t>this </a:t>
            </a:r>
            <a:r>
              <a:rPr sz="1950" spc="135" dirty="0">
                <a:solidFill>
                  <a:srgbClr val="231F20"/>
                </a:solidFill>
                <a:latin typeface="Arial"/>
                <a:cs typeface="Arial"/>
              </a:rPr>
              <a:t>nor </a:t>
            </a:r>
            <a:r>
              <a:rPr sz="1950" spc="145" dirty="0">
                <a:solidFill>
                  <a:srgbClr val="231F20"/>
                </a:solidFill>
                <a:latin typeface="Arial"/>
                <a:cs typeface="Arial"/>
              </a:rPr>
              <a:t>its </a:t>
            </a:r>
            <a:r>
              <a:rPr sz="1950" spc="155" dirty="0">
                <a:solidFill>
                  <a:srgbClr val="231F20"/>
                </a:solidFill>
                <a:latin typeface="Arial"/>
                <a:cs typeface="Arial"/>
              </a:rPr>
              <a:t>fragments </a:t>
            </a:r>
            <a:r>
              <a:rPr sz="1950" spc="110" dirty="0">
                <a:solidFill>
                  <a:srgbClr val="231F20"/>
                </a:solidFill>
                <a:latin typeface="Arial"/>
                <a:cs typeface="Arial"/>
              </a:rPr>
              <a:t>appear </a:t>
            </a:r>
            <a:r>
              <a:rPr sz="1950" spc="130" dirty="0">
                <a:solidFill>
                  <a:srgbClr val="231F20"/>
                </a:solidFill>
                <a:latin typeface="Arial"/>
                <a:cs typeface="Arial"/>
              </a:rPr>
              <a:t>in </a:t>
            </a:r>
            <a:r>
              <a:rPr sz="1950" spc="175" dirty="0">
                <a:solidFill>
                  <a:srgbClr val="231F20"/>
                </a:solidFill>
                <a:latin typeface="Arial"/>
                <a:cs typeface="Arial"/>
              </a:rPr>
              <a:t>the </a:t>
            </a:r>
            <a:r>
              <a:rPr sz="1950" spc="160" dirty="0">
                <a:solidFill>
                  <a:srgbClr val="231F20"/>
                </a:solidFill>
                <a:latin typeface="Arial"/>
                <a:cs typeface="Arial"/>
              </a:rPr>
              <a:t>program </a:t>
            </a:r>
            <a:r>
              <a:rPr sz="1950" spc="130" dirty="0">
                <a:solidFill>
                  <a:srgbClr val="231F20"/>
                </a:solidFill>
                <a:latin typeface="Arial"/>
                <a:cs typeface="Arial"/>
              </a:rPr>
              <a:t>or  </a:t>
            </a:r>
            <a:r>
              <a:rPr sz="1950" spc="175" dirty="0">
                <a:solidFill>
                  <a:srgbClr val="231F20"/>
                </a:solidFill>
                <a:latin typeface="Arial"/>
                <a:cs typeface="Arial"/>
              </a:rPr>
              <a:t>the </a:t>
            </a:r>
            <a:r>
              <a:rPr sz="1950" spc="85" dirty="0">
                <a:solidFill>
                  <a:srgbClr val="231F20"/>
                </a:solidFill>
                <a:latin typeface="Arial"/>
                <a:cs typeface="Arial"/>
              </a:rPr>
              <a:t>desired</a:t>
            </a:r>
            <a:r>
              <a:rPr sz="1950" spc="320" dirty="0">
                <a:solidFill>
                  <a:srgbClr val="231F20"/>
                </a:solidFill>
                <a:latin typeface="Arial"/>
                <a:cs typeface="Arial"/>
              </a:rPr>
              <a:t> </a:t>
            </a:r>
            <a:r>
              <a:rPr sz="1950" spc="150" dirty="0">
                <a:solidFill>
                  <a:srgbClr val="231F20"/>
                </a:solidFill>
                <a:latin typeface="Arial"/>
                <a:cs typeface="Arial"/>
              </a:rPr>
              <a:t>property</a:t>
            </a:r>
            <a:endParaRPr sz="1950">
              <a:latin typeface="Arial"/>
              <a:cs typeface="Aria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75981"/>
            <a:ext cx="5608955" cy="1518920"/>
          </a:xfrm>
          <a:prstGeom prst="rect">
            <a:avLst/>
          </a:prstGeom>
        </p:spPr>
        <p:txBody>
          <a:bodyPr vert="horz" wrap="square" lIns="0" tIns="0" rIns="0" bIns="0" rtlCol="0">
            <a:spAutoFit/>
          </a:bodyPr>
          <a:lstStyle/>
          <a:p>
            <a:pPr marL="2659380">
              <a:lnSpc>
                <a:spcPct val="100000"/>
              </a:lnSpc>
            </a:pPr>
            <a:r>
              <a:rPr sz="1950" spc="285" dirty="0">
                <a:solidFill>
                  <a:srgbClr val="231F20"/>
                </a:solidFill>
                <a:latin typeface="Arial"/>
                <a:cs typeface="Arial"/>
              </a:rPr>
              <a:t>Let’s </a:t>
            </a:r>
            <a:r>
              <a:rPr sz="1950" spc="265" dirty="0">
                <a:solidFill>
                  <a:srgbClr val="231F20"/>
                </a:solidFill>
                <a:latin typeface="Arial"/>
                <a:cs typeface="Arial"/>
              </a:rPr>
              <a:t>Just </a:t>
            </a:r>
            <a:r>
              <a:rPr sz="1950" spc="285" dirty="0">
                <a:solidFill>
                  <a:srgbClr val="231F20"/>
                </a:solidFill>
                <a:latin typeface="Arial"/>
                <a:cs typeface="Arial"/>
              </a:rPr>
              <a:t>Go</a:t>
            </a:r>
            <a:r>
              <a:rPr sz="1950" spc="484" dirty="0">
                <a:solidFill>
                  <a:srgbClr val="231F20"/>
                </a:solidFill>
                <a:latin typeface="Arial"/>
                <a:cs typeface="Arial"/>
              </a:rPr>
              <a:t> </a:t>
            </a:r>
            <a:r>
              <a:rPr sz="1950" spc="265" dirty="0">
                <a:solidFill>
                  <a:srgbClr val="231F20"/>
                </a:solidFill>
                <a:latin typeface="Arial"/>
                <a:cs typeface="Arial"/>
              </a:rPr>
              <a:t>Ahead</a:t>
            </a:r>
            <a:endParaRPr sz="1950">
              <a:latin typeface="Arial"/>
              <a:cs typeface="Arial"/>
            </a:endParaRPr>
          </a:p>
          <a:p>
            <a:pPr marL="12700">
              <a:lnSpc>
                <a:spcPct val="100000"/>
              </a:lnSpc>
              <a:spcBef>
                <a:spcPts val="1614"/>
              </a:spcBef>
            </a:pPr>
            <a:r>
              <a:rPr sz="1950" spc="175" dirty="0">
                <a:solidFill>
                  <a:srgbClr val="231F20"/>
                </a:solidFill>
                <a:latin typeface="Arial"/>
                <a:cs typeface="Arial"/>
              </a:rPr>
              <a:t>First </a:t>
            </a:r>
            <a:r>
              <a:rPr sz="1950" spc="195" dirty="0">
                <a:solidFill>
                  <a:srgbClr val="231F20"/>
                </a:solidFill>
                <a:latin typeface="Arial"/>
                <a:cs typeface="Arial"/>
              </a:rPr>
              <a:t>time </a:t>
            </a:r>
            <a:r>
              <a:rPr sz="1950" spc="190" dirty="0">
                <a:solidFill>
                  <a:srgbClr val="231F20"/>
                </a:solidFill>
                <a:latin typeface="Arial"/>
                <a:cs typeface="Arial"/>
              </a:rPr>
              <a:t>into </a:t>
            </a:r>
            <a:r>
              <a:rPr sz="1950" spc="175" dirty="0">
                <a:solidFill>
                  <a:srgbClr val="231F20"/>
                </a:solidFill>
                <a:latin typeface="Arial"/>
                <a:cs typeface="Arial"/>
              </a:rPr>
              <a:t>the</a:t>
            </a:r>
            <a:r>
              <a:rPr sz="1950" spc="515" dirty="0">
                <a:solidFill>
                  <a:srgbClr val="231F20"/>
                </a:solidFill>
                <a:latin typeface="Arial"/>
                <a:cs typeface="Arial"/>
              </a:rPr>
              <a:t> </a:t>
            </a:r>
            <a:r>
              <a:rPr sz="1950" spc="160" dirty="0">
                <a:solidFill>
                  <a:srgbClr val="231F20"/>
                </a:solidFill>
                <a:latin typeface="Arial"/>
                <a:cs typeface="Arial"/>
              </a:rPr>
              <a:t>loop</a:t>
            </a:r>
            <a:endParaRPr sz="1950">
              <a:latin typeface="Arial"/>
              <a:cs typeface="Arial"/>
            </a:endParaRPr>
          </a:p>
          <a:p>
            <a:pPr marL="12700">
              <a:lnSpc>
                <a:spcPct val="100000"/>
              </a:lnSpc>
              <a:spcBef>
                <a:spcPts val="70"/>
              </a:spcBef>
            </a:pPr>
            <a:r>
              <a:rPr sz="2050" spc="55" dirty="0">
                <a:solidFill>
                  <a:srgbClr val="FF0000"/>
                </a:solidFill>
                <a:latin typeface="SimSun"/>
                <a:cs typeface="SimSun"/>
              </a:rPr>
              <a:t>[n &gt;</a:t>
            </a:r>
            <a:r>
              <a:rPr sz="2050" spc="-25" dirty="0">
                <a:solidFill>
                  <a:srgbClr val="FF0000"/>
                </a:solidFill>
                <a:latin typeface="SimSun"/>
                <a:cs typeface="SimSun"/>
              </a:rPr>
              <a:t> </a:t>
            </a:r>
            <a:r>
              <a:rPr sz="2050" spc="55" dirty="0">
                <a:solidFill>
                  <a:srgbClr val="FF0000"/>
                </a:solidFill>
                <a:latin typeface="SimSun"/>
                <a:cs typeface="SimSun"/>
              </a:rPr>
              <a:t>0]</a:t>
            </a:r>
            <a:endParaRPr sz="2050">
              <a:latin typeface="SimSun"/>
              <a:cs typeface="SimSun"/>
            </a:endParaRPr>
          </a:p>
          <a:p>
            <a:pPr marL="12700">
              <a:lnSpc>
                <a:spcPct val="100000"/>
              </a:lnSpc>
              <a:spcBef>
                <a:spcPts val="465"/>
              </a:spcBef>
            </a:pPr>
            <a:r>
              <a:rPr sz="2050" spc="55" dirty="0">
                <a:solidFill>
                  <a:srgbClr val="0000FF"/>
                </a:solidFill>
                <a:latin typeface="SimSun"/>
                <a:cs typeface="SimSun"/>
              </a:rPr>
              <a:t>z := n; x := 0; y :=</a:t>
            </a:r>
            <a:r>
              <a:rPr sz="2050" spc="25" dirty="0">
                <a:solidFill>
                  <a:srgbClr val="0000FF"/>
                </a:solidFill>
                <a:latin typeface="SimSun"/>
                <a:cs typeface="SimSun"/>
              </a:rPr>
              <a:t> </a:t>
            </a:r>
            <a:r>
              <a:rPr sz="2050" spc="55" dirty="0">
                <a:solidFill>
                  <a:srgbClr val="0000FF"/>
                </a:solidFill>
                <a:latin typeface="SimSun"/>
                <a:cs typeface="SimSun"/>
              </a:rPr>
              <a:t>0;</a:t>
            </a:r>
            <a:endParaRPr sz="2050">
              <a:latin typeface="SimSun"/>
              <a:cs typeface="SimSun"/>
            </a:endParaRPr>
          </a:p>
        </p:txBody>
      </p:sp>
      <p:sp>
        <p:nvSpPr>
          <p:cNvPr id="3" name="object 3"/>
          <p:cNvSpPr txBox="1"/>
          <p:nvPr/>
        </p:nvSpPr>
        <p:spPr>
          <a:xfrm>
            <a:off x="3374923" y="2028278"/>
            <a:ext cx="2919095" cy="338455"/>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[x = 0, y = 0, z =</a:t>
            </a:r>
            <a:r>
              <a:rPr sz="2050" spc="25" dirty="0">
                <a:solidFill>
                  <a:srgbClr val="FF0000"/>
                </a:solidFill>
                <a:latin typeface="SimSun"/>
                <a:cs typeface="SimSun"/>
              </a:rPr>
              <a:t> </a:t>
            </a:r>
            <a:r>
              <a:rPr sz="2050" spc="55" dirty="0">
                <a:solidFill>
                  <a:srgbClr val="FF0000"/>
                </a:solidFill>
                <a:latin typeface="SimSun"/>
                <a:cs typeface="SimSun"/>
              </a:rPr>
              <a:t>n]</a:t>
            </a:r>
            <a:endParaRPr sz="2050">
              <a:latin typeface="SimSun"/>
              <a:cs typeface="SimSun"/>
            </a:endParaRPr>
          </a:p>
        </p:txBody>
      </p:sp>
      <p:sp>
        <p:nvSpPr>
          <p:cNvPr id="4" name="object 4"/>
          <p:cNvSpPr txBox="1"/>
          <p:nvPr/>
        </p:nvSpPr>
        <p:spPr>
          <a:xfrm>
            <a:off x="3381438" y="3143046"/>
            <a:ext cx="3194050" cy="338455"/>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[x = 1, y = 0, z =</a:t>
            </a:r>
            <a:r>
              <a:rPr sz="2050" spc="25" dirty="0">
                <a:solidFill>
                  <a:srgbClr val="FF0000"/>
                </a:solidFill>
                <a:latin typeface="SimSun"/>
                <a:cs typeface="SimSun"/>
              </a:rPr>
              <a:t> </a:t>
            </a:r>
            <a:r>
              <a:rPr sz="2050" spc="55" dirty="0">
                <a:solidFill>
                  <a:srgbClr val="FF0000"/>
                </a:solidFill>
                <a:latin typeface="SimSun"/>
                <a:cs typeface="SimSun"/>
              </a:rPr>
              <a:t>n-1]</a:t>
            </a:r>
            <a:endParaRPr sz="2050">
              <a:latin typeface="SimSun"/>
              <a:cs typeface="SimSun"/>
            </a:endParaRPr>
          </a:p>
        </p:txBody>
      </p:sp>
      <p:sp>
        <p:nvSpPr>
          <p:cNvPr id="5" name="object 5"/>
          <p:cNvSpPr txBox="1"/>
          <p:nvPr/>
        </p:nvSpPr>
        <p:spPr>
          <a:xfrm>
            <a:off x="901700" y="2028278"/>
            <a:ext cx="2085339" cy="2567940"/>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while (z &gt; 0)</a:t>
            </a:r>
            <a:r>
              <a:rPr sz="2050" spc="-1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287655">
              <a:lnSpc>
                <a:spcPct val="100000"/>
              </a:lnSpc>
              <a:spcBef>
                <a:spcPts val="465"/>
              </a:spcBef>
            </a:pPr>
            <a:r>
              <a:rPr sz="2050" spc="55" dirty="0">
                <a:solidFill>
                  <a:srgbClr val="0000FF"/>
                </a:solidFill>
                <a:latin typeface="SimSun"/>
                <a:cs typeface="SimSun"/>
              </a:rPr>
              <a:t>if (*)</a:t>
            </a:r>
            <a:r>
              <a:rPr sz="2050" spc="-2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701040" marR="135890">
              <a:lnSpc>
                <a:spcPct val="118900"/>
              </a:lnSpc>
            </a:pPr>
            <a:r>
              <a:rPr sz="2050" spc="55" dirty="0">
                <a:solidFill>
                  <a:srgbClr val="0000FF"/>
                </a:solidFill>
                <a:latin typeface="SimSun"/>
                <a:cs typeface="SimSun"/>
              </a:rPr>
              <a:t>x :=</a:t>
            </a:r>
            <a:r>
              <a:rPr sz="2050" spc="-25" dirty="0">
                <a:solidFill>
                  <a:srgbClr val="0000FF"/>
                </a:solidFill>
                <a:latin typeface="SimSun"/>
                <a:cs typeface="SimSun"/>
              </a:rPr>
              <a:t> </a:t>
            </a:r>
            <a:r>
              <a:rPr sz="2050" spc="55" dirty="0">
                <a:solidFill>
                  <a:srgbClr val="0000FF"/>
                </a:solidFill>
                <a:latin typeface="SimSun"/>
                <a:cs typeface="SimSun"/>
              </a:rPr>
              <a:t>x+1;  z :=</a:t>
            </a:r>
            <a:r>
              <a:rPr sz="2050" spc="-30" dirty="0">
                <a:solidFill>
                  <a:srgbClr val="0000FF"/>
                </a:solidFill>
                <a:latin typeface="SimSun"/>
                <a:cs typeface="SimSun"/>
              </a:rPr>
              <a:t> </a:t>
            </a:r>
            <a:r>
              <a:rPr sz="2050" spc="55" dirty="0">
                <a:solidFill>
                  <a:srgbClr val="0000FF"/>
                </a:solidFill>
                <a:latin typeface="SimSun"/>
                <a:cs typeface="SimSun"/>
              </a:rPr>
              <a:t>z-1;</a:t>
            </a:r>
            <a:endParaRPr sz="2050">
              <a:latin typeface="SimSun"/>
              <a:cs typeface="SimSun"/>
            </a:endParaRPr>
          </a:p>
          <a:p>
            <a:pPr marL="287655">
              <a:lnSpc>
                <a:spcPct val="100000"/>
              </a:lnSpc>
              <a:spcBef>
                <a:spcPts val="464"/>
              </a:spcBef>
              <a:tabLst>
                <a:tab pos="556895" algn="l"/>
              </a:tabLst>
            </a:pPr>
            <a:r>
              <a:rPr sz="2050" spc="365" dirty="0">
                <a:solidFill>
                  <a:srgbClr val="0000FF"/>
                </a:solidFill>
                <a:latin typeface="Lucida Sans Unicode"/>
                <a:cs typeface="Lucida Sans Unicode"/>
              </a:rPr>
              <a:t>}	</a:t>
            </a:r>
            <a:r>
              <a:rPr sz="2050" spc="55" dirty="0">
                <a:solidFill>
                  <a:srgbClr val="0000FF"/>
                </a:solidFill>
                <a:latin typeface="SimSun"/>
                <a:cs typeface="SimSun"/>
              </a:rPr>
              <a:t>else</a:t>
            </a:r>
            <a:r>
              <a:rPr sz="2050" spc="-35" dirty="0">
                <a:solidFill>
                  <a:srgbClr val="0000FF"/>
                </a:solidFill>
                <a:latin typeface="SimSun"/>
                <a:cs typeface="SimSun"/>
              </a:rPr>
              <a:t> </a:t>
            </a:r>
            <a:r>
              <a:rPr sz="2050" spc="365" dirty="0">
                <a:solidFill>
                  <a:srgbClr val="0000FF"/>
                </a:solidFill>
                <a:latin typeface="Lucida Sans Unicode"/>
                <a:cs typeface="Lucida Sans Unicode"/>
              </a:rPr>
              <a:t>{</a:t>
            </a:r>
            <a:endParaRPr sz="2050">
              <a:latin typeface="Lucida Sans Unicode"/>
              <a:cs typeface="Lucida Sans Unicode"/>
            </a:endParaRPr>
          </a:p>
          <a:p>
            <a:pPr marL="701040" marR="135890">
              <a:lnSpc>
                <a:spcPct val="118900"/>
              </a:lnSpc>
            </a:pPr>
            <a:r>
              <a:rPr sz="2050" spc="55" dirty="0">
                <a:solidFill>
                  <a:srgbClr val="0000FF"/>
                </a:solidFill>
                <a:latin typeface="SimSun"/>
                <a:cs typeface="SimSun"/>
              </a:rPr>
              <a:t>y :=</a:t>
            </a:r>
            <a:r>
              <a:rPr sz="2050" spc="-25" dirty="0">
                <a:solidFill>
                  <a:srgbClr val="0000FF"/>
                </a:solidFill>
                <a:latin typeface="SimSun"/>
                <a:cs typeface="SimSun"/>
              </a:rPr>
              <a:t> </a:t>
            </a:r>
            <a:r>
              <a:rPr sz="2050" spc="55" dirty="0">
                <a:solidFill>
                  <a:srgbClr val="0000FF"/>
                </a:solidFill>
                <a:latin typeface="SimSun"/>
                <a:cs typeface="SimSun"/>
              </a:rPr>
              <a:t>y+1;  z :=</a:t>
            </a:r>
            <a:r>
              <a:rPr sz="2050" spc="-30" dirty="0">
                <a:solidFill>
                  <a:srgbClr val="0000FF"/>
                </a:solidFill>
                <a:latin typeface="SimSun"/>
                <a:cs typeface="SimSun"/>
              </a:rPr>
              <a:t> </a:t>
            </a:r>
            <a:r>
              <a:rPr sz="2050" spc="55" dirty="0">
                <a:solidFill>
                  <a:srgbClr val="0000FF"/>
                </a:solidFill>
                <a:latin typeface="SimSun"/>
                <a:cs typeface="SimSun"/>
              </a:rPr>
              <a:t>z-1;</a:t>
            </a:r>
            <a:endParaRPr sz="2050">
              <a:latin typeface="SimSun"/>
              <a:cs typeface="SimSun"/>
            </a:endParaRPr>
          </a:p>
        </p:txBody>
      </p:sp>
      <p:sp>
        <p:nvSpPr>
          <p:cNvPr id="6" name="object 6"/>
          <p:cNvSpPr txBox="1"/>
          <p:nvPr/>
        </p:nvSpPr>
        <p:spPr>
          <a:xfrm>
            <a:off x="3381438" y="4257700"/>
            <a:ext cx="3194050" cy="338455"/>
          </a:xfrm>
          <a:prstGeom prst="rect">
            <a:avLst/>
          </a:prstGeom>
        </p:spPr>
        <p:txBody>
          <a:bodyPr vert="horz" wrap="square" lIns="0" tIns="0" rIns="0" bIns="0" rtlCol="0">
            <a:spAutoFit/>
          </a:bodyPr>
          <a:lstStyle/>
          <a:p>
            <a:pPr marL="12700">
              <a:lnSpc>
                <a:spcPct val="100000"/>
              </a:lnSpc>
            </a:pPr>
            <a:r>
              <a:rPr sz="2050" spc="55" dirty="0">
                <a:solidFill>
                  <a:srgbClr val="FF0000"/>
                </a:solidFill>
                <a:latin typeface="SimSun"/>
                <a:cs typeface="SimSun"/>
              </a:rPr>
              <a:t>[x = 0, y = 1, z =</a:t>
            </a:r>
            <a:r>
              <a:rPr sz="2050" spc="25" dirty="0">
                <a:solidFill>
                  <a:srgbClr val="FF0000"/>
                </a:solidFill>
                <a:latin typeface="SimSun"/>
                <a:cs typeface="SimSun"/>
              </a:rPr>
              <a:t> </a:t>
            </a:r>
            <a:r>
              <a:rPr sz="2050" spc="55" dirty="0">
                <a:solidFill>
                  <a:srgbClr val="FF0000"/>
                </a:solidFill>
                <a:latin typeface="SimSun"/>
                <a:cs typeface="SimSun"/>
              </a:rPr>
              <a:t>n-1]</a:t>
            </a:r>
            <a:endParaRPr sz="2050">
              <a:latin typeface="SimSun"/>
              <a:cs typeface="SimSun"/>
            </a:endParaRPr>
          </a:p>
        </p:txBody>
      </p:sp>
      <p:sp>
        <p:nvSpPr>
          <p:cNvPr id="7" name="object 7"/>
          <p:cNvSpPr txBox="1"/>
          <p:nvPr/>
        </p:nvSpPr>
        <p:spPr>
          <a:xfrm>
            <a:off x="901700" y="4629289"/>
            <a:ext cx="8082280" cy="2023745"/>
          </a:xfrm>
          <a:prstGeom prst="rect">
            <a:avLst/>
          </a:prstGeom>
        </p:spPr>
        <p:txBody>
          <a:bodyPr vert="horz" wrap="square" lIns="0" tIns="0" rIns="0" bIns="0" rtlCol="0">
            <a:spAutoFit/>
          </a:bodyPr>
          <a:lstStyle/>
          <a:p>
            <a:pPr marL="287655">
              <a:lnSpc>
                <a:spcPct val="100000"/>
              </a:lnSpc>
              <a:tabLst>
                <a:tab pos="556895" algn="l"/>
              </a:tabLst>
            </a:pPr>
            <a:r>
              <a:rPr sz="2050" spc="365" dirty="0">
                <a:solidFill>
                  <a:srgbClr val="0000FF"/>
                </a:solidFill>
                <a:latin typeface="Lucida Sans Unicode"/>
                <a:cs typeface="Lucida Sans Unicode"/>
              </a:rPr>
              <a:t>}	</a:t>
            </a:r>
            <a:r>
              <a:rPr sz="2050" spc="55" dirty="0">
                <a:solidFill>
                  <a:srgbClr val="FF0000"/>
                </a:solidFill>
                <a:latin typeface="SimSun"/>
                <a:cs typeface="SimSun"/>
              </a:rPr>
              <a:t>[x = 1, y = 0, z = n-1] </a:t>
            </a:r>
            <a:r>
              <a:rPr sz="2050" spc="55" dirty="0">
                <a:solidFill>
                  <a:srgbClr val="0000FF"/>
                </a:solidFill>
                <a:latin typeface="SimSun"/>
                <a:cs typeface="SimSun"/>
              </a:rPr>
              <a:t>or </a:t>
            </a:r>
            <a:r>
              <a:rPr sz="2050" spc="55" dirty="0">
                <a:solidFill>
                  <a:srgbClr val="FF0000"/>
                </a:solidFill>
                <a:latin typeface="SimSun"/>
                <a:cs typeface="SimSun"/>
              </a:rPr>
              <a:t>[x = 0, y = 1, z =</a:t>
            </a:r>
            <a:r>
              <a:rPr sz="2050" spc="110" dirty="0">
                <a:solidFill>
                  <a:srgbClr val="FF0000"/>
                </a:solidFill>
                <a:latin typeface="SimSun"/>
                <a:cs typeface="SimSun"/>
              </a:rPr>
              <a:t> </a:t>
            </a:r>
            <a:r>
              <a:rPr sz="2050" spc="55" dirty="0">
                <a:solidFill>
                  <a:srgbClr val="FF0000"/>
                </a:solidFill>
                <a:latin typeface="SimSun"/>
                <a:cs typeface="SimSun"/>
              </a:rPr>
              <a:t>n-1]</a:t>
            </a:r>
            <a:endParaRPr sz="2050">
              <a:latin typeface="SimSun"/>
              <a:cs typeface="SimSun"/>
            </a:endParaRPr>
          </a:p>
          <a:p>
            <a:pPr marL="12700">
              <a:lnSpc>
                <a:spcPct val="100000"/>
              </a:lnSpc>
              <a:spcBef>
                <a:spcPts val="465"/>
              </a:spcBef>
            </a:pPr>
            <a:r>
              <a:rPr sz="2050" spc="365" dirty="0">
                <a:solidFill>
                  <a:srgbClr val="0000FF"/>
                </a:solidFill>
                <a:latin typeface="Lucida Sans Unicode"/>
                <a:cs typeface="Lucida Sans Unicode"/>
              </a:rPr>
              <a:t>}</a:t>
            </a:r>
            <a:endParaRPr sz="2050">
              <a:latin typeface="Lucida Sans Unicode"/>
              <a:cs typeface="Lucida Sans Unicode"/>
            </a:endParaRPr>
          </a:p>
          <a:p>
            <a:pPr marL="12700" marR="5080">
              <a:lnSpc>
                <a:spcPct val="125000"/>
              </a:lnSpc>
              <a:spcBef>
                <a:spcPts val="805"/>
              </a:spcBef>
            </a:pPr>
            <a:r>
              <a:rPr sz="1950" spc="170" dirty="0">
                <a:solidFill>
                  <a:srgbClr val="231F20"/>
                </a:solidFill>
                <a:latin typeface="Arial"/>
                <a:cs typeface="Arial"/>
              </a:rPr>
              <a:t>Next </a:t>
            </a:r>
            <a:r>
              <a:rPr sz="1950" spc="195" dirty="0">
                <a:solidFill>
                  <a:srgbClr val="231F20"/>
                </a:solidFill>
                <a:latin typeface="Arial"/>
                <a:cs typeface="Arial"/>
              </a:rPr>
              <a:t>time </a:t>
            </a:r>
            <a:r>
              <a:rPr sz="1950" spc="135" dirty="0">
                <a:solidFill>
                  <a:srgbClr val="231F20"/>
                </a:solidFill>
                <a:latin typeface="Arial"/>
                <a:cs typeface="Arial"/>
              </a:rPr>
              <a:t>around </a:t>
            </a:r>
            <a:r>
              <a:rPr sz="1950" spc="175" dirty="0">
                <a:solidFill>
                  <a:srgbClr val="231F20"/>
                </a:solidFill>
                <a:latin typeface="Arial"/>
                <a:cs typeface="Arial"/>
              </a:rPr>
              <a:t>the </a:t>
            </a:r>
            <a:r>
              <a:rPr sz="1950" spc="160" dirty="0">
                <a:solidFill>
                  <a:srgbClr val="231F20"/>
                </a:solidFill>
                <a:latin typeface="Arial"/>
                <a:cs typeface="Arial"/>
              </a:rPr>
              <a:t>loop </a:t>
            </a:r>
            <a:r>
              <a:rPr sz="1950" spc="130" dirty="0">
                <a:solidFill>
                  <a:srgbClr val="231F20"/>
                </a:solidFill>
                <a:latin typeface="Arial"/>
                <a:cs typeface="Arial"/>
              </a:rPr>
              <a:t>we’ll </a:t>
            </a:r>
            <a:r>
              <a:rPr sz="1950" spc="95" dirty="0">
                <a:solidFill>
                  <a:srgbClr val="231F20"/>
                </a:solidFill>
                <a:latin typeface="Arial"/>
                <a:cs typeface="Arial"/>
              </a:rPr>
              <a:t>have </a:t>
            </a:r>
            <a:r>
              <a:rPr sz="1950" spc="155" dirty="0">
                <a:solidFill>
                  <a:srgbClr val="231F20"/>
                </a:solidFill>
                <a:latin typeface="Arial"/>
                <a:cs typeface="Arial"/>
              </a:rPr>
              <a:t>4 </a:t>
            </a:r>
            <a:r>
              <a:rPr sz="1950" spc="130" dirty="0">
                <a:solidFill>
                  <a:srgbClr val="231F20"/>
                </a:solidFill>
                <a:latin typeface="Arial"/>
                <a:cs typeface="Arial"/>
              </a:rPr>
              <a:t>disjuncts, </a:t>
            </a:r>
            <a:r>
              <a:rPr sz="1950" spc="165" dirty="0">
                <a:solidFill>
                  <a:srgbClr val="231F20"/>
                </a:solidFill>
                <a:latin typeface="Arial"/>
                <a:cs typeface="Arial"/>
              </a:rPr>
              <a:t>then </a:t>
            </a:r>
            <a:r>
              <a:rPr sz="1950" spc="150" dirty="0">
                <a:solidFill>
                  <a:srgbClr val="231F20"/>
                </a:solidFill>
                <a:latin typeface="Arial"/>
                <a:cs typeface="Arial"/>
              </a:rPr>
              <a:t>8, </a:t>
            </a:r>
            <a:r>
              <a:rPr sz="1950" spc="165" dirty="0">
                <a:solidFill>
                  <a:srgbClr val="231F20"/>
                </a:solidFill>
                <a:latin typeface="Arial"/>
                <a:cs typeface="Arial"/>
              </a:rPr>
              <a:t>then  </a:t>
            </a:r>
            <a:r>
              <a:rPr sz="1950" spc="150" dirty="0">
                <a:solidFill>
                  <a:srgbClr val="231F20"/>
                </a:solidFill>
                <a:latin typeface="Arial"/>
                <a:cs typeface="Arial"/>
              </a:rPr>
              <a:t>16, </a:t>
            </a:r>
            <a:r>
              <a:rPr sz="1950" spc="130" dirty="0">
                <a:solidFill>
                  <a:srgbClr val="231F20"/>
                </a:solidFill>
                <a:latin typeface="Arial"/>
                <a:cs typeface="Arial"/>
              </a:rPr>
              <a:t>and </a:t>
            </a:r>
            <a:r>
              <a:rPr sz="1950" spc="65" dirty="0">
                <a:solidFill>
                  <a:srgbClr val="231F20"/>
                </a:solidFill>
                <a:latin typeface="Arial"/>
                <a:cs typeface="Arial"/>
              </a:rPr>
              <a:t>so</a:t>
            </a:r>
            <a:r>
              <a:rPr sz="1950" spc="475" dirty="0">
                <a:solidFill>
                  <a:srgbClr val="231F20"/>
                </a:solidFill>
                <a:latin typeface="Arial"/>
                <a:cs typeface="Arial"/>
              </a:rPr>
              <a:t> </a:t>
            </a:r>
            <a:r>
              <a:rPr sz="1950" spc="155" dirty="0">
                <a:solidFill>
                  <a:srgbClr val="231F20"/>
                </a:solidFill>
                <a:latin typeface="Arial"/>
                <a:cs typeface="Arial"/>
              </a:rPr>
              <a:t>on</a:t>
            </a:r>
            <a:endParaRPr sz="1950">
              <a:latin typeface="Arial"/>
              <a:cs typeface="Arial"/>
            </a:endParaRPr>
          </a:p>
          <a:p>
            <a:pPr marL="12700">
              <a:lnSpc>
                <a:spcPct val="100000"/>
              </a:lnSpc>
              <a:spcBef>
                <a:spcPts val="1410"/>
              </a:spcBef>
            </a:pPr>
            <a:r>
              <a:rPr sz="1950" spc="204" dirty="0">
                <a:solidFill>
                  <a:srgbClr val="231F20"/>
                </a:solidFill>
                <a:latin typeface="Arial"/>
                <a:cs typeface="Arial"/>
              </a:rPr>
              <a:t>This </a:t>
            </a:r>
            <a:r>
              <a:rPr sz="1950" spc="215" dirty="0">
                <a:solidFill>
                  <a:srgbClr val="231F20"/>
                </a:solidFill>
                <a:latin typeface="Arial"/>
                <a:cs typeface="Arial"/>
              </a:rPr>
              <a:t>won’t </a:t>
            </a:r>
            <a:r>
              <a:rPr sz="1950" spc="170" dirty="0">
                <a:solidFill>
                  <a:srgbClr val="231F20"/>
                </a:solidFill>
                <a:latin typeface="Arial"/>
                <a:cs typeface="Arial"/>
              </a:rPr>
              <a:t>get </a:t>
            </a:r>
            <a:r>
              <a:rPr sz="1950" spc="65" dirty="0">
                <a:solidFill>
                  <a:srgbClr val="231F20"/>
                </a:solidFill>
                <a:latin typeface="Arial"/>
                <a:cs typeface="Arial"/>
              </a:rPr>
              <a:t>us </a:t>
            </a:r>
            <a:r>
              <a:rPr sz="1950" spc="120" dirty="0">
                <a:solidFill>
                  <a:srgbClr val="231F20"/>
                </a:solidFill>
                <a:latin typeface="Arial"/>
                <a:cs typeface="Arial"/>
              </a:rPr>
              <a:t>anywhere</a:t>
            </a:r>
            <a:r>
              <a:rPr sz="1950" spc="690" dirty="0">
                <a:solidFill>
                  <a:srgbClr val="231F20"/>
                </a:solidFill>
                <a:latin typeface="Arial"/>
                <a:cs typeface="Arial"/>
              </a:rPr>
              <a:t> </a:t>
            </a:r>
            <a:r>
              <a:rPr sz="1950" spc="105" dirty="0">
                <a:solidFill>
                  <a:srgbClr val="231F20"/>
                </a:solidFill>
                <a:latin typeface="Arial"/>
                <a:cs typeface="Arial"/>
              </a:rPr>
              <a:t>useful</a:t>
            </a:r>
            <a:endParaRPr sz="1950">
              <a:latin typeface="Arial"/>
              <a:cs typeface="Arial"/>
            </a:endParaRP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1165783"/>
            <a:ext cx="8260715" cy="4492625"/>
          </a:xfrm>
          <a:prstGeom prst="rect">
            <a:avLst/>
          </a:prstGeom>
        </p:spPr>
        <p:txBody>
          <a:bodyPr vert="horz" wrap="square" lIns="0" tIns="0" rIns="0" bIns="0" rtlCol="0">
            <a:spAutoFit/>
          </a:bodyPr>
          <a:lstStyle/>
          <a:p>
            <a:pPr marL="2317750">
              <a:lnSpc>
                <a:spcPct val="100000"/>
              </a:lnSpc>
            </a:pPr>
            <a:r>
              <a:rPr sz="1950" spc="275" dirty="0">
                <a:solidFill>
                  <a:srgbClr val="231F20"/>
                </a:solidFill>
                <a:latin typeface="Arial"/>
                <a:cs typeface="Arial"/>
              </a:rPr>
              <a:t>Widening </a:t>
            </a:r>
            <a:r>
              <a:rPr sz="1950" spc="285" dirty="0">
                <a:solidFill>
                  <a:srgbClr val="231F20"/>
                </a:solidFill>
                <a:latin typeface="Arial"/>
                <a:cs typeface="Arial"/>
              </a:rPr>
              <a:t>the</a:t>
            </a:r>
            <a:r>
              <a:rPr sz="1950" spc="400" dirty="0">
                <a:solidFill>
                  <a:srgbClr val="231F20"/>
                </a:solidFill>
                <a:latin typeface="Arial"/>
                <a:cs typeface="Arial"/>
              </a:rPr>
              <a:t> </a:t>
            </a:r>
            <a:r>
              <a:rPr sz="1950" spc="275" dirty="0">
                <a:solidFill>
                  <a:srgbClr val="231F20"/>
                </a:solidFill>
                <a:latin typeface="Arial"/>
                <a:cs typeface="Arial"/>
              </a:rPr>
              <a:t>Abstraction</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95" dirty="0">
                <a:solidFill>
                  <a:srgbClr val="231F20"/>
                </a:solidFill>
                <a:latin typeface="Arial"/>
                <a:cs typeface="Arial"/>
              </a:rPr>
              <a:t>We </a:t>
            </a:r>
            <a:r>
              <a:rPr sz="1950" spc="140" dirty="0">
                <a:solidFill>
                  <a:srgbClr val="231F20"/>
                </a:solidFill>
                <a:latin typeface="Arial"/>
                <a:cs typeface="Arial"/>
              </a:rPr>
              <a:t>could </a:t>
            </a:r>
            <a:r>
              <a:rPr sz="1950" spc="215" dirty="0">
                <a:solidFill>
                  <a:srgbClr val="231F20"/>
                </a:solidFill>
                <a:latin typeface="Arial"/>
                <a:cs typeface="Arial"/>
              </a:rPr>
              <a:t>try </a:t>
            </a:r>
            <a:r>
              <a:rPr sz="1950" spc="140" dirty="0">
                <a:solidFill>
                  <a:srgbClr val="0000FF"/>
                </a:solidFill>
                <a:latin typeface="Arial"/>
                <a:cs typeface="Arial"/>
              </a:rPr>
              <a:t>eliminate</a:t>
            </a:r>
            <a:r>
              <a:rPr sz="1950" spc="515" dirty="0">
                <a:solidFill>
                  <a:srgbClr val="0000FF"/>
                </a:solidFill>
                <a:latin typeface="Arial"/>
                <a:cs typeface="Arial"/>
              </a:rPr>
              <a:t> </a:t>
            </a:r>
            <a:r>
              <a:rPr sz="1950" spc="130" dirty="0">
                <a:solidFill>
                  <a:srgbClr val="0000FF"/>
                </a:solidFill>
                <a:latin typeface="Arial"/>
                <a:cs typeface="Arial"/>
              </a:rPr>
              <a:t>disjuncts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20" dirty="0">
                <a:solidFill>
                  <a:srgbClr val="231F20"/>
                </a:solidFill>
                <a:latin typeface="Arial"/>
                <a:cs typeface="Arial"/>
              </a:rPr>
              <a:t>Look </a:t>
            </a:r>
            <a:r>
              <a:rPr sz="1950" spc="155" dirty="0">
                <a:solidFill>
                  <a:srgbClr val="231F20"/>
                </a:solidFill>
                <a:latin typeface="Arial"/>
                <a:cs typeface="Arial"/>
              </a:rPr>
              <a:t>for </a:t>
            </a:r>
            <a:r>
              <a:rPr sz="1950" spc="85" dirty="0">
                <a:solidFill>
                  <a:srgbClr val="231F20"/>
                </a:solidFill>
                <a:latin typeface="Arial"/>
                <a:cs typeface="Arial"/>
              </a:rPr>
              <a:t>a </a:t>
            </a:r>
            <a:r>
              <a:rPr sz="1950" spc="165" dirty="0">
                <a:solidFill>
                  <a:srgbClr val="0000FF"/>
                </a:solidFill>
                <a:latin typeface="Arial"/>
                <a:cs typeface="Arial"/>
              </a:rPr>
              <a:t>conjunction </a:t>
            </a:r>
            <a:r>
              <a:rPr sz="1950" spc="235" dirty="0">
                <a:solidFill>
                  <a:srgbClr val="231F20"/>
                </a:solidFill>
                <a:latin typeface="Arial"/>
                <a:cs typeface="Arial"/>
              </a:rPr>
              <a:t>that </a:t>
            </a:r>
            <a:r>
              <a:rPr sz="1950" spc="40" dirty="0">
                <a:solidFill>
                  <a:srgbClr val="231F20"/>
                </a:solidFill>
                <a:latin typeface="Arial"/>
                <a:cs typeface="Arial"/>
              </a:rPr>
              <a:t>is </a:t>
            </a:r>
            <a:r>
              <a:rPr sz="1950" spc="135" dirty="0">
                <a:solidFill>
                  <a:srgbClr val="0000FF"/>
                </a:solidFill>
                <a:latin typeface="Arial"/>
                <a:cs typeface="Arial"/>
              </a:rPr>
              <a:t>implied </a:t>
            </a:r>
            <a:r>
              <a:rPr sz="1950" spc="105" dirty="0">
                <a:solidFill>
                  <a:srgbClr val="231F20"/>
                </a:solidFill>
                <a:latin typeface="Arial"/>
                <a:cs typeface="Arial"/>
              </a:rPr>
              <a:t>by </a:t>
            </a:r>
            <a:r>
              <a:rPr sz="1950" spc="90" dirty="0">
                <a:solidFill>
                  <a:srgbClr val="231F20"/>
                </a:solidFill>
                <a:latin typeface="Arial"/>
                <a:cs typeface="Arial"/>
              </a:rPr>
              <a:t>each </a:t>
            </a:r>
            <a:r>
              <a:rPr sz="1950" spc="185" dirty="0">
                <a:solidFill>
                  <a:srgbClr val="231F20"/>
                </a:solidFill>
                <a:latin typeface="Arial"/>
                <a:cs typeface="Arial"/>
              </a:rPr>
              <a:t>of </a:t>
            </a:r>
            <a:r>
              <a:rPr sz="1950" spc="175" dirty="0">
                <a:solidFill>
                  <a:srgbClr val="231F20"/>
                </a:solidFill>
                <a:latin typeface="Arial"/>
                <a:cs typeface="Arial"/>
              </a:rPr>
              <a:t>the</a:t>
            </a:r>
            <a:r>
              <a:rPr sz="1950" spc="635" dirty="0">
                <a:solidFill>
                  <a:srgbClr val="231F20"/>
                </a:solidFill>
                <a:latin typeface="Arial"/>
                <a:cs typeface="Arial"/>
              </a:rPr>
              <a:t> </a:t>
            </a:r>
            <a:r>
              <a:rPr sz="1950" spc="130" dirty="0">
                <a:solidFill>
                  <a:srgbClr val="231F20"/>
                </a:solidFill>
                <a:latin typeface="Arial"/>
                <a:cs typeface="Arial"/>
              </a:rPr>
              <a:t>disjuncts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85" dirty="0">
                <a:solidFill>
                  <a:srgbClr val="231F20"/>
                </a:solidFill>
                <a:latin typeface="Arial"/>
                <a:cs typeface="Arial"/>
              </a:rPr>
              <a:t>One </a:t>
            </a:r>
            <a:r>
              <a:rPr sz="1950" spc="100" dirty="0">
                <a:solidFill>
                  <a:srgbClr val="231F20"/>
                </a:solidFill>
                <a:latin typeface="Arial"/>
                <a:cs typeface="Arial"/>
              </a:rPr>
              <a:t>such </a:t>
            </a:r>
            <a:r>
              <a:rPr sz="1950" spc="40" dirty="0">
                <a:solidFill>
                  <a:srgbClr val="231F20"/>
                </a:solidFill>
                <a:latin typeface="Arial"/>
                <a:cs typeface="Arial"/>
              </a:rPr>
              <a:t>is </a:t>
            </a:r>
            <a:r>
              <a:rPr sz="1950" spc="295" dirty="0">
                <a:solidFill>
                  <a:srgbClr val="FF0000"/>
                </a:solidFill>
                <a:latin typeface="Arial"/>
                <a:cs typeface="Arial"/>
              </a:rPr>
              <a:t>[x+y </a:t>
            </a:r>
            <a:r>
              <a:rPr sz="1950" spc="785" dirty="0">
                <a:solidFill>
                  <a:srgbClr val="FF0000"/>
                </a:solidFill>
                <a:latin typeface="Arial"/>
                <a:cs typeface="Arial"/>
              </a:rPr>
              <a:t>= </a:t>
            </a:r>
            <a:r>
              <a:rPr sz="1950" spc="150" dirty="0">
                <a:solidFill>
                  <a:srgbClr val="FF0000"/>
                </a:solidFill>
                <a:latin typeface="Arial"/>
                <a:cs typeface="Arial"/>
              </a:rPr>
              <a:t>1, </a:t>
            </a:r>
            <a:r>
              <a:rPr sz="1950" spc="90" dirty="0">
                <a:solidFill>
                  <a:srgbClr val="FF0000"/>
                </a:solidFill>
                <a:latin typeface="Arial"/>
                <a:cs typeface="Arial"/>
              </a:rPr>
              <a:t>z </a:t>
            </a:r>
            <a:r>
              <a:rPr sz="1950" spc="785" dirty="0">
                <a:solidFill>
                  <a:srgbClr val="FF0000"/>
                </a:solidFill>
                <a:latin typeface="Arial"/>
                <a:cs typeface="Arial"/>
              </a:rPr>
              <a:t>=</a:t>
            </a:r>
            <a:r>
              <a:rPr sz="1950" spc="565" dirty="0">
                <a:solidFill>
                  <a:srgbClr val="FF0000"/>
                </a:solidFill>
                <a:latin typeface="Arial"/>
                <a:cs typeface="Arial"/>
              </a:rPr>
              <a:t> </a:t>
            </a:r>
            <a:r>
              <a:rPr sz="1950" spc="160" dirty="0">
                <a:solidFill>
                  <a:srgbClr val="FF0000"/>
                </a:solidFill>
                <a:latin typeface="Arial"/>
                <a:cs typeface="Arial"/>
              </a:rPr>
              <a:t>n-1]</a:t>
            </a:r>
            <a:endParaRPr sz="1950">
              <a:latin typeface="Arial"/>
              <a:cs typeface="Arial"/>
            </a:endParaRPr>
          </a:p>
          <a:p>
            <a:pPr marL="300990" marR="2155825" indent="-288290">
              <a:lnSpc>
                <a:spcPct val="125000"/>
              </a:lnSpc>
              <a:spcBef>
                <a:spcPts val="1345"/>
              </a:spcBef>
              <a:buSzPct val="105128"/>
              <a:buFont typeface="Lucida Sans Unicode"/>
              <a:buChar char="•"/>
              <a:tabLst>
                <a:tab pos="301625" algn="l"/>
              </a:tabLst>
            </a:pPr>
            <a:r>
              <a:rPr sz="1950" spc="225" dirty="0">
                <a:solidFill>
                  <a:srgbClr val="231F20"/>
                </a:solidFill>
                <a:latin typeface="Arial"/>
                <a:cs typeface="Arial"/>
              </a:rPr>
              <a:t>Then </a:t>
            </a:r>
            <a:r>
              <a:rPr sz="1950" spc="145" dirty="0">
                <a:solidFill>
                  <a:srgbClr val="231F20"/>
                </a:solidFill>
                <a:latin typeface="Arial"/>
                <a:cs typeface="Arial"/>
              </a:rPr>
              <a:t>we’d </a:t>
            </a:r>
            <a:r>
              <a:rPr sz="1950" spc="80" dirty="0">
                <a:solidFill>
                  <a:srgbClr val="231F20"/>
                </a:solidFill>
                <a:latin typeface="Arial"/>
                <a:cs typeface="Arial"/>
              </a:rPr>
              <a:t>need </a:t>
            </a:r>
            <a:r>
              <a:rPr sz="1950" spc="250" dirty="0">
                <a:solidFill>
                  <a:srgbClr val="231F20"/>
                </a:solidFill>
                <a:latin typeface="Arial"/>
                <a:cs typeface="Arial"/>
              </a:rPr>
              <a:t>to </a:t>
            </a:r>
            <a:r>
              <a:rPr sz="1950" spc="155" dirty="0">
                <a:solidFill>
                  <a:srgbClr val="231F20"/>
                </a:solidFill>
                <a:latin typeface="Arial"/>
                <a:cs typeface="Arial"/>
              </a:rPr>
              <a:t>do </a:t>
            </a:r>
            <a:r>
              <a:rPr sz="1950" spc="175" dirty="0">
                <a:solidFill>
                  <a:srgbClr val="231F20"/>
                </a:solidFill>
                <a:latin typeface="Arial"/>
                <a:cs typeface="Arial"/>
              </a:rPr>
              <a:t>the </a:t>
            </a:r>
            <a:r>
              <a:rPr sz="1950" spc="95" dirty="0">
                <a:solidFill>
                  <a:srgbClr val="231F20"/>
                </a:solidFill>
                <a:latin typeface="Arial"/>
                <a:cs typeface="Arial"/>
              </a:rPr>
              <a:t>same </a:t>
            </a:r>
            <a:r>
              <a:rPr sz="1950" spc="185" dirty="0">
                <a:solidFill>
                  <a:srgbClr val="231F20"/>
                </a:solidFill>
                <a:latin typeface="Arial"/>
                <a:cs typeface="Arial"/>
              </a:rPr>
              <a:t>thing </a:t>
            </a:r>
            <a:r>
              <a:rPr sz="1950" spc="215" dirty="0">
                <a:solidFill>
                  <a:srgbClr val="231F20"/>
                </a:solidFill>
                <a:latin typeface="Arial"/>
                <a:cs typeface="Arial"/>
              </a:rPr>
              <a:t>with  </a:t>
            </a:r>
            <a:r>
              <a:rPr sz="1950" spc="295" dirty="0">
                <a:solidFill>
                  <a:srgbClr val="FF0000"/>
                </a:solidFill>
                <a:latin typeface="Arial"/>
                <a:cs typeface="Arial"/>
              </a:rPr>
              <a:t>[x+y</a:t>
            </a:r>
            <a:r>
              <a:rPr sz="1950" spc="275" dirty="0">
                <a:solidFill>
                  <a:srgbClr val="FF0000"/>
                </a:solidFill>
                <a:latin typeface="Arial"/>
                <a:cs typeface="Arial"/>
              </a:rPr>
              <a:t> </a:t>
            </a:r>
            <a:r>
              <a:rPr sz="1950" spc="785" dirty="0">
                <a:solidFill>
                  <a:srgbClr val="FF0000"/>
                </a:solidFill>
                <a:latin typeface="Arial"/>
                <a:cs typeface="Arial"/>
              </a:rPr>
              <a:t>=</a:t>
            </a:r>
            <a:r>
              <a:rPr sz="1950" spc="275" dirty="0">
                <a:solidFill>
                  <a:srgbClr val="FF0000"/>
                </a:solidFill>
                <a:latin typeface="Arial"/>
                <a:cs typeface="Arial"/>
              </a:rPr>
              <a:t> </a:t>
            </a:r>
            <a:r>
              <a:rPr sz="1950" spc="150" dirty="0">
                <a:solidFill>
                  <a:srgbClr val="FF0000"/>
                </a:solidFill>
                <a:latin typeface="Arial"/>
                <a:cs typeface="Arial"/>
              </a:rPr>
              <a:t>1,</a:t>
            </a:r>
            <a:r>
              <a:rPr sz="1950" spc="275" dirty="0">
                <a:solidFill>
                  <a:srgbClr val="FF0000"/>
                </a:solidFill>
                <a:latin typeface="Arial"/>
                <a:cs typeface="Arial"/>
              </a:rPr>
              <a:t> </a:t>
            </a:r>
            <a:r>
              <a:rPr sz="1950" spc="90" dirty="0">
                <a:solidFill>
                  <a:srgbClr val="FF0000"/>
                </a:solidFill>
                <a:latin typeface="Arial"/>
                <a:cs typeface="Arial"/>
              </a:rPr>
              <a:t>z</a:t>
            </a:r>
            <a:r>
              <a:rPr sz="1950" spc="275" dirty="0">
                <a:solidFill>
                  <a:srgbClr val="FF0000"/>
                </a:solidFill>
                <a:latin typeface="Arial"/>
                <a:cs typeface="Arial"/>
              </a:rPr>
              <a:t> </a:t>
            </a:r>
            <a:r>
              <a:rPr sz="1950" spc="785" dirty="0">
                <a:solidFill>
                  <a:srgbClr val="FF0000"/>
                </a:solidFill>
                <a:latin typeface="Arial"/>
                <a:cs typeface="Arial"/>
              </a:rPr>
              <a:t>=</a:t>
            </a:r>
            <a:r>
              <a:rPr sz="1950" spc="275" dirty="0">
                <a:solidFill>
                  <a:srgbClr val="FF0000"/>
                </a:solidFill>
                <a:latin typeface="Arial"/>
                <a:cs typeface="Arial"/>
              </a:rPr>
              <a:t> </a:t>
            </a:r>
            <a:r>
              <a:rPr sz="1950" spc="160" dirty="0">
                <a:solidFill>
                  <a:srgbClr val="FF0000"/>
                </a:solidFill>
                <a:latin typeface="Arial"/>
                <a:cs typeface="Arial"/>
              </a:rPr>
              <a:t>n-1]</a:t>
            </a:r>
            <a:r>
              <a:rPr sz="1950" spc="275" dirty="0">
                <a:solidFill>
                  <a:srgbClr val="FF0000"/>
                </a:solidFill>
                <a:latin typeface="Arial"/>
                <a:cs typeface="Arial"/>
              </a:rPr>
              <a:t> </a:t>
            </a:r>
            <a:r>
              <a:rPr sz="1950" spc="130" dirty="0">
                <a:solidFill>
                  <a:srgbClr val="231F20"/>
                </a:solidFill>
                <a:latin typeface="Arial"/>
                <a:cs typeface="Arial"/>
              </a:rPr>
              <a:t>or</a:t>
            </a:r>
            <a:r>
              <a:rPr sz="1950" spc="275" dirty="0">
                <a:solidFill>
                  <a:srgbClr val="231F20"/>
                </a:solidFill>
                <a:latin typeface="Arial"/>
                <a:cs typeface="Arial"/>
              </a:rPr>
              <a:t> </a:t>
            </a:r>
            <a:r>
              <a:rPr sz="1950" spc="140" dirty="0">
                <a:solidFill>
                  <a:srgbClr val="FF0000"/>
                </a:solidFill>
                <a:latin typeface="Arial"/>
                <a:cs typeface="Arial"/>
              </a:rPr>
              <a:t>[x</a:t>
            </a:r>
            <a:r>
              <a:rPr sz="1950" spc="275" dirty="0">
                <a:solidFill>
                  <a:srgbClr val="FF0000"/>
                </a:solidFill>
                <a:latin typeface="Arial"/>
                <a:cs typeface="Arial"/>
              </a:rPr>
              <a:t> </a:t>
            </a:r>
            <a:r>
              <a:rPr sz="1950" spc="785" dirty="0">
                <a:solidFill>
                  <a:srgbClr val="FF0000"/>
                </a:solidFill>
                <a:latin typeface="Arial"/>
                <a:cs typeface="Arial"/>
              </a:rPr>
              <a:t>=</a:t>
            </a:r>
            <a:r>
              <a:rPr sz="1950" spc="275" dirty="0">
                <a:solidFill>
                  <a:srgbClr val="FF0000"/>
                </a:solidFill>
                <a:latin typeface="Arial"/>
                <a:cs typeface="Arial"/>
              </a:rPr>
              <a:t> </a:t>
            </a:r>
            <a:r>
              <a:rPr sz="1950" spc="150" dirty="0">
                <a:solidFill>
                  <a:srgbClr val="FF0000"/>
                </a:solidFill>
                <a:latin typeface="Arial"/>
                <a:cs typeface="Arial"/>
              </a:rPr>
              <a:t>0,</a:t>
            </a:r>
            <a:r>
              <a:rPr sz="1950" spc="275" dirty="0">
                <a:solidFill>
                  <a:srgbClr val="FF0000"/>
                </a:solidFill>
                <a:latin typeface="Arial"/>
                <a:cs typeface="Arial"/>
              </a:rPr>
              <a:t> </a:t>
            </a:r>
            <a:r>
              <a:rPr sz="1950" spc="125" dirty="0">
                <a:solidFill>
                  <a:srgbClr val="FF0000"/>
                </a:solidFill>
                <a:latin typeface="Arial"/>
                <a:cs typeface="Arial"/>
              </a:rPr>
              <a:t>y</a:t>
            </a:r>
            <a:r>
              <a:rPr sz="1950" spc="275" dirty="0">
                <a:solidFill>
                  <a:srgbClr val="FF0000"/>
                </a:solidFill>
                <a:latin typeface="Arial"/>
                <a:cs typeface="Arial"/>
              </a:rPr>
              <a:t> </a:t>
            </a:r>
            <a:r>
              <a:rPr sz="1950" spc="785" dirty="0">
                <a:solidFill>
                  <a:srgbClr val="FF0000"/>
                </a:solidFill>
                <a:latin typeface="Arial"/>
                <a:cs typeface="Arial"/>
              </a:rPr>
              <a:t>=</a:t>
            </a:r>
            <a:r>
              <a:rPr sz="1950" spc="275" dirty="0">
                <a:solidFill>
                  <a:srgbClr val="FF0000"/>
                </a:solidFill>
                <a:latin typeface="Arial"/>
                <a:cs typeface="Arial"/>
              </a:rPr>
              <a:t> </a:t>
            </a:r>
            <a:r>
              <a:rPr sz="1950" spc="150" dirty="0">
                <a:solidFill>
                  <a:srgbClr val="FF0000"/>
                </a:solidFill>
                <a:latin typeface="Arial"/>
                <a:cs typeface="Arial"/>
              </a:rPr>
              <a:t>0,</a:t>
            </a:r>
            <a:r>
              <a:rPr sz="1950" spc="275" dirty="0">
                <a:solidFill>
                  <a:srgbClr val="FF0000"/>
                </a:solidFill>
                <a:latin typeface="Arial"/>
                <a:cs typeface="Arial"/>
              </a:rPr>
              <a:t> </a:t>
            </a:r>
            <a:r>
              <a:rPr sz="1950" spc="90" dirty="0">
                <a:solidFill>
                  <a:srgbClr val="FF0000"/>
                </a:solidFill>
                <a:latin typeface="Arial"/>
                <a:cs typeface="Arial"/>
              </a:rPr>
              <a:t>z</a:t>
            </a:r>
            <a:r>
              <a:rPr sz="1950" spc="275" dirty="0">
                <a:solidFill>
                  <a:srgbClr val="FF0000"/>
                </a:solidFill>
                <a:latin typeface="Arial"/>
                <a:cs typeface="Arial"/>
              </a:rPr>
              <a:t> </a:t>
            </a:r>
            <a:r>
              <a:rPr sz="1950" spc="785" dirty="0">
                <a:solidFill>
                  <a:srgbClr val="FF0000"/>
                </a:solidFill>
                <a:latin typeface="Arial"/>
                <a:cs typeface="Arial"/>
              </a:rPr>
              <a:t>=</a:t>
            </a:r>
            <a:r>
              <a:rPr sz="1950" spc="275" dirty="0">
                <a:solidFill>
                  <a:srgbClr val="FF0000"/>
                </a:solidFill>
                <a:latin typeface="Arial"/>
                <a:cs typeface="Arial"/>
              </a:rPr>
              <a:t> </a:t>
            </a:r>
            <a:r>
              <a:rPr sz="1950" spc="155" dirty="0">
                <a:solidFill>
                  <a:srgbClr val="FF0000"/>
                </a:solidFill>
                <a:latin typeface="Arial"/>
                <a:cs typeface="Arial"/>
              </a:rPr>
              <a:t>n]</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90" dirty="0">
                <a:solidFill>
                  <a:srgbClr val="231F20"/>
                </a:solidFill>
                <a:latin typeface="Arial"/>
                <a:cs typeface="Arial"/>
              </a:rPr>
              <a:t>That </a:t>
            </a:r>
            <a:r>
              <a:rPr sz="1950" spc="75" dirty="0">
                <a:solidFill>
                  <a:srgbClr val="231F20"/>
                </a:solidFill>
                <a:latin typeface="Arial"/>
                <a:cs typeface="Arial"/>
              </a:rPr>
              <a:t>gives </a:t>
            </a:r>
            <a:r>
              <a:rPr sz="1950" spc="140" dirty="0">
                <a:solidFill>
                  <a:srgbClr val="FF0000"/>
                </a:solidFill>
                <a:latin typeface="Arial"/>
                <a:cs typeface="Arial"/>
              </a:rPr>
              <a:t>[x </a:t>
            </a:r>
            <a:r>
              <a:rPr sz="1950" spc="785" dirty="0">
                <a:solidFill>
                  <a:srgbClr val="FF0000"/>
                </a:solidFill>
                <a:latin typeface="Arial"/>
                <a:cs typeface="Arial"/>
              </a:rPr>
              <a:t>+ </a:t>
            </a:r>
            <a:r>
              <a:rPr sz="1950" spc="125" dirty="0">
                <a:solidFill>
                  <a:srgbClr val="FF0000"/>
                </a:solidFill>
                <a:latin typeface="Arial"/>
                <a:cs typeface="Arial"/>
              </a:rPr>
              <a:t>y </a:t>
            </a:r>
            <a:r>
              <a:rPr sz="1950" spc="785" dirty="0">
                <a:solidFill>
                  <a:srgbClr val="FF0000"/>
                </a:solidFill>
                <a:latin typeface="Arial"/>
                <a:cs typeface="Arial"/>
              </a:rPr>
              <a:t>+ </a:t>
            </a:r>
            <a:r>
              <a:rPr sz="1950" spc="90" dirty="0">
                <a:solidFill>
                  <a:srgbClr val="FF0000"/>
                </a:solidFill>
                <a:latin typeface="Arial"/>
                <a:cs typeface="Arial"/>
              </a:rPr>
              <a:t>z </a:t>
            </a:r>
            <a:r>
              <a:rPr sz="1950" spc="785" dirty="0">
                <a:solidFill>
                  <a:srgbClr val="FF0000"/>
                </a:solidFill>
                <a:latin typeface="Arial"/>
                <a:cs typeface="Arial"/>
              </a:rPr>
              <a:t>=</a:t>
            </a:r>
            <a:r>
              <a:rPr sz="1950" spc="-95" dirty="0">
                <a:solidFill>
                  <a:srgbClr val="FF0000"/>
                </a:solidFill>
                <a:latin typeface="Arial"/>
                <a:cs typeface="Arial"/>
              </a:rPr>
              <a:t> </a:t>
            </a:r>
            <a:r>
              <a:rPr sz="1950" spc="155" dirty="0">
                <a:solidFill>
                  <a:srgbClr val="FF0000"/>
                </a:solidFill>
                <a:latin typeface="Arial"/>
                <a:cs typeface="Arial"/>
              </a:rPr>
              <a:t>n]</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85" dirty="0">
                <a:solidFill>
                  <a:srgbClr val="0000FF"/>
                </a:solidFill>
                <a:latin typeface="Arial"/>
                <a:cs typeface="Arial"/>
              </a:rPr>
              <a:t>There </a:t>
            </a:r>
            <a:r>
              <a:rPr sz="1950" spc="65" dirty="0">
                <a:solidFill>
                  <a:srgbClr val="0000FF"/>
                </a:solidFill>
                <a:latin typeface="Arial"/>
                <a:cs typeface="Arial"/>
              </a:rPr>
              <a:t>are </a:t>
            </a:r>
            <a:r>
              <a:rPr sz="1950" spc="120" dirty="0">
                <a:solidFill>
                  <a:srgbClr val="0000FF"/>
                </a:solidFill>
                <a:latin typeface="Arial"/>
                <a:cs typeface="Arial"/>
              </a:rPr>
              <a:t>techniques </a:t>
            </a:r>
            <a:r>
              <a:rPr sz="1950" spc="235" dirty="0">
                <a:solidFill>
                  <a:srgbClr val="0000FF"/>
                </a:solidFill>
                <a:latin typeface="Arial"/>
                <a:cs typeface="Arial"/>
              </a:rPr>
              <a:t>that </a:t>
            </a:r>
            <a:r>
              <a:rPr sz="1950" spc="120" dirty="0">
                <a:solidFill>
                  <a:srgbClr val="0000FF"/>
                </a:solidFill>
                <a:latin typeface="Arial"/>
                <a:cs typeface="Arial"/>
              </a:rPr>
              <a:t>can </a:t>
            </a:r>
            <a:r>
              <a:rPr sz="1950" spc="155" dirty="0">
                <a:solidFill>
                  <a:srgbClr val="0000FF"/>
                </a:solidFill>
                <a:latin typeface="Arial"/>
                <a:cs typeface="Arial"/>
              </a:rPr>
              <a:t>do </a:t>
            </a:r>
            <a:r>
              <a:rPr sz="1950" spc="145" dirty="0">
                <a:solidFill>
                  <a:srgbClr val="0000FF"/>
                </a:solidFill>
                <a:latin typeface="Arial"/>
                <a:cs typeface="Arial"/>
              </a:rPr>
              <a:t>this </a:t>
            </a:r>
            <a:r>
              <a:rPr sz="1950" spc="395" dirty="0">
                <a:solidFill>
                  <a:srgbClr val="0000FF"/>
                </a:solidFill>
                <a:latin typeface="Arial"/>
                <a:cs typeface="Arial"/>
              </a:rPr>
              <a:t> </a:t>
            </a:r>
            <a:r>
              <a:rPr sz="1950" spc="165" dirty="0">
                <a:solidFill>
                  <a:srgbClr val="0000FF"/>
                </a:solidFill>
                <a:latin typeface="Arial"/>
                <a:cs typeface="Arial"/>
              </a:rPr>
              <a:t>automatically</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04" dirty="0">
                <a:solidFill>
                  <a:srgbClr val="231F20"/>
                </a:solidFill>
                <a:latin typeface="Arial"/>
                <a:cs typeface="Arial"/>
              </a:rPr>
              <a:t>This </a:t>
            </a:r>
            <a:r>
              <a:rPr sz="1950" spc="40" dirty="0">
                <a:solidFill>
                  <a:srgbClr val="231F20"/>
                </a:solidFill>
                <a:latin typeface="Arial"/>
                <a:cs typeface="Arial"/>
              </a:rPr>
              <a:t>is </a:t>
            </a:r>
            <a:r>
              <a:rPr sz="1950" spc="120" dirty="0">
                <a:solidFill>
                  <a:srgbClr val="231F20"/>
                </a:solidFill>
                <a:latin typeface="Arial"/>
                <a:cs typeface="Arial"/>
              </a:rPr>
              <a:t>where </a:t>
            </a:r>
            <a:r>
              <a:rPr sz="1950" spc="85" dirty="0">
                <a:solidFill>
                  <a:srgbClr val="231F20"/>
                </a:solidFill>
                <a:latin typeface="Arial"/>
                <a:cs typeface="Arial"/>
              </a:rPr>
              <a:t>a </a:t>
            </a:r>
            <a:r>
              <a:rPr sz="1950" spc="204" dirty="0">
                <a:solidFill>
                  <a:srgbClr val="231F20"/>
                </a:solidFill>
                <a:latin typeface="Arial"/>
                <a:cs typeface="Arial"/>
              </a:rPr>
              <a:t>lot </a:t>
            </a:r>
            <a:r>
              <a:rPr sz="1950" spc="185" dirty="0">
                <a:solidFill>
                  <a:srgbClr val="231F20"/>
                </a:solidFill>
                <a:latin typeface="Arial"/>
                <a:cs typeface="Arial"/>
              </a:rPr>
              <a:t>of </a:t>
            </a:r>
            <a:r>
              <a:rPr sz="1950" spc="175" dirty="0">
                <a:solidFill>
                  <a:srgbClr val="231F20"/>
                </a:solidFill>
                <a:latin typeface="Arial"/>
                <a:cs typeface="Arial"/>
              </a:rPr>
              <a:t>the </a:t>
            </a:r>
            <a:r>
              <a:rPr sz="1950" spc="80" dirty="0">
                <a:solidFill>
                  <a:srgbClr val="231F20"/>
                </a:solidFill>
                <a:latin typeface="Arial"/>
                <a:cs typeface="Arial"/>
              </a:rPr>
              <a:t>research </a:t>
            </a:r>
            <a:r>
              <a:rPr sz="1950" spc="160" dirty="0">
                <a:solidFill>
                  <a:srgbClr val="231F20"/>
                </a:solidFill>
                <a:latin typeface="Arial"/>
                <a:cs typeface="Arial"/>
              </a:rPr>
              <a:t>action </a:t>
            </a:r>
            <a:r>
              <a:rPr sz="1950" spc="705" dirty="0">
                <a:solidFill>
                  <a:srgbClr val="231F20"/>
                </a:solidFill>
                <a:latin typeface="Arial"/>
                <a:cs typeface="Arial"/>
              </a:rPr>
              <a:t> </a:t>
            </a:r>
            <a:r>
              <a:rPr sz="1950" spc="40" dirty="0">
                <a:solidFill>
                  <a:srgbClr val="231F20"/>
                </a:solidFill>
                <a:latin typeface="Arial"/>
                <a:cs typeface="Arial"/>
              </a:rPr>
              <a:t>is</a:t>
            </a:r>
            <a:endParaRPr sz="1950">
              <a:latin typeface="Arial"/>
              <a:cs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225155" cy="4131310"/>
          </a:xfrm>
          <a:prstGeom prst="rect">
            <a:avLst/>
          </a:prstGeom>
        </p:spPr>
        <p:txBody>
          <a:bodyPr vert="horz" wrap="square" lIns="0" tIns="0" rIns="0" bIns="0" rtlCol="0">
            <a:spAutoFit/>
          </a:bodyPr>
          <a:lstStyle/>
          <a:p>
            <a:pPr marL="40005" algn="ctr">
              <a:lnSpc>
                <a:spcPct val="100000"/>
              </a:lnSpc>
            </a:pPr>
            <a:r>
              <a:rPr sz="1950" spc="245" dirty="0">
                <a:solidFill>
                  <a:srgbClr val="231F20"/>
                </a:solidFill>
                <a:latin typeface="Arial"/>
                <a:cs typeface="Arial"/>
              </a:rPr>
              <a:t>Tradeoffs</a:t>
            </a:r>
            <a:endParaRPr sz="1950">
              <a:latin typeface="Arial"/>
              <a:cs typeface="Arial"/>
            </a:endParaRPr>
          </a:p>
          <a:p>
            <a:pPr marL="300990" indent="-288290">
              <a:lnSpc>
                <a:spcPct val="100000"/>
              </a:lnSpc>
              <a:spcBef>
                <a:spcPts val="1614"/>
              </a:spcBef>
              <a:buSzPct val="105128"/>
              <a:buFont typeface="Lucida Sans Unicode"/>
              <a:buChar char="•"/>
              <a:tabLst>
                <a:tab pos="301625" algn="l"/>
              </a:tabLst>
            </a:pPr>
            <a:r>
              <a:rPr sz="1950" spc="165" dirty="0">
                <a:solidFill>
                  <a:srgbClr val="231F20"/>
                </a:solidFill>
                <a:latin typeface="Arial"/>
                <a:cs typeface="Arial"/>
              </a:rPr>
              <a:t>We’re </a:t>
            </a:r>
            <a:r>
              <a:rPr sz="1950" spc="175" dirty="0">
                <a:solidFill>
                  <a:srgbClr val="231F20"/>
                </a:solidFill>
                <a:latin typeface="Arial"/>
                <a:cs typeface="Arial"/>
              </a:rPr>
              <a:t>trying </a:t>
            </a:r>
            <a:r>
              <a:rPr sz="1950" spc="250" dirty="0">
                <a:solidFill>
                  <a:srgbClr val="231F20"/>
                </a:solidFill>
                <a:latin typeface="Arial"/>
                <a:cs typeface="Arial"/>
              </a:rPr>
              <a:t>to </a:t>
            </a:r>
            <a:r>
              <a:rPr sz="1950" spc="125" dirty="0">
                <a:solidFill>
                  <a:srgbClr val="FF0000"/>
                </a:solidFill>
                <a:latin typeface="Arial"/>
                <a:cs typeface="Arial"/>
              </a:rPr>
              <a:t>guarantee </a:t>
            </a:r>
            <a:r>
              <a:rPr sz="1950" spc="75" dirty="0">
                <a:solidFill>
                  <a:srgbClr val="FF0000"/>
                </a:solidFill>
                <a:latin typeface="Arial"/>
                <a:cs typeface="Arial"/>
              </a:rPr>
              <a:t>absence </a:t>
            </a:r>
            <a:r>
              <a:rPr sz="1950" spc="185" dirty="0">
                <a:solidFill>
                  <a:srgbClr val="FF0000"/>
                </a:solidFill>
                <a:latin typeface="Arial"/>
                <a:cs typeface="Arial"/>
              </a:rPr>
              <a:t>of </a:t>
            </a:r>
            <a:r>
              <a:rPr sz="1950" spc="95" dirty="0">
                <a:solidFill>
                  <a:srgbClr val="FF0000"/>
                </a:solidFill>
                <a:latin typeface="Arial"/>
                <a:cs typeface="Arial"/>
              </a:rPr>
              <a:t>errors </a:t>
            </a:r>
            <a:r>
              <a:rPr sz="1950" spc="130" dirty="0">
                <a:solidFill>
                  <a:srgbClr val="231F20"/>
                </a:solidFill>
                <a:latin typeface="Arial"/>
                <a:cs typeface="Arial"/>
              </a:rPr>
              <a:t>in </a:t>
            </a:r>
            <a:r>
              <a:rPr sz="1950" spc="85" dirty="0">
                <a:solidFill>
                  <a:srgbClr val="231F20"/>
                </a:solidFill>
                <a:latin typeface="Arial"/>
                <a:cs typeface="Arial"/>
              </a:rPr>
              <a:t>a </a:t>
            </a:r>
            <a:r>
              <a:rPr sz="1950" spc="145" dirty="0">
                <a:solidFill>
                  <a:srgbClr val="231F20"/>
                </a:solidFill>
                <a:latin typeface="Arial"/>
                <a:cs typeface="Arial"/>
              </a:rPr>
              <a:t>certain   </a:t>
            </a:r>
            <a:r>
              <a:rPr sz="1950" spc="50" dirty="0">
                <a:solidFill>
                  <a:srgbClr val="231F20"/>
                </a:solidFill>
                <a:latin typeface="Arial"/>
                <a:cs typeface="Arial"/>
              </a:rPr>
              <a:t>class</a:t>
            </a:r>
            <a:endParaRPr sz="1950">
              <a:latin typeface="Arial"/>
              <a:cs typeface="Arial"/>
            </a:endParaRPr>
          </a:p>
          <a:p>
            <a:pPr marL="300990" indent="-288290">
              <a:lnSpc>
                <a:spcPct val="100000"/>
              </a:lnSpc>
              <a:spcBef>
                <a:spcPts val="1000"/>
              </a:spcBef>
              <a:buSzPct val="105128"/>
              <a:buFont typeface="Lucida Sans Unicode"/>
              <a:buChar char="•"/>
              <a:tabLst>
                <a:tab pos="301625" algn="l"/>
              </a:tabLst>
            </a:pPr>
            <a:r>
              <a:rPr sz="1950" spc="125" dirty="0">
                <a:solidFill>
                  <a:srgbClr val="231F20"/>
                </a:solidFill>
                <a:latin typeface="Arial"/>
                <a:cs typeface="Arial"/>
              </a:rPr>
              <a:t>Equivalently, </a:t>
            </a:r>
            <a:r>
              <a:rPr sz="1950" spc="175" dirty="0">
                <a:solidFill>
                  <a:srgbClr val="231F20"/>
                </a:solidFill>
                <a:latin typeface="Arial"/>
                <a:cs typeface="Arial"/>
              </a:rPr>
              <a:t>trying </a:t>
            </a:r>
            <a:r>
              <a:rPr sz="1950" spc="250" dirty="0">
                <a:solidFill>
                  <a:srgbClr val="231F20"/>
                </a:solidFill>
                <a:latin typeface="Arial"/>
                <a:cs typeface="Arial"/>
              </a:rPr>
              <a:t>to </a:t>
            </a:r>
            <a:r>
              <a:rPr sz="1950" spc="125" dirty="0">
                <a:solidFill>
                  <a:srgbClr val="FF0000"/>
                </a:solidFill>
                <a:latin typeface="Arial"/>
                <a:cs typeface="Arial"/>
              </a:rPr>
              <a:t>verify properties </a:t>
            </a:r>
            <a:r>
              <a:rPr sz="1950" spc="185" dirty="0">
                <a:solidFill>
                  <a:srgbClr val="231F20"/>
                </a:solidFill>
                <a:latin typeface="Arial"/>
                <a:cs typeface="Arial"/>
              </a:rPr>
              <a:t>of </a:t>
            </a:r>
            <a:r>
              <a:rPr sz="1950" spc="85" dirty="0">
                <a:solidFill>
                  <a:srgbClr val="231F20"/>
                </a:solidFill>
                <a:latin typeface="Arial"/>
                <a:cs typeface="Arial"/>
              </a:rPr>
              <a:t>a </a:t>
            </a:r>
            <a:r>
              <a:rPr sz="1950" spc="145" dirty="0">
                <a:solidFill>
                  <a:srgbClr val="231F20"/>
                </a:solidFill>
                <a:latin typeface="Arial"/>
                <a:cs typeface="Arial"/>
              </a:rPr>
              <a:t>certain </a:t>
            </a:r>
            <a:r>
              <a:rPr sz="1950" spc="540" dirty="0">
                <a:solidFill>
                  <a:srgbClr val="231F20"/>
                </a:solidFill>
                <a:latin typeface="Arial"/>
                <a:cs typeface="Arial"/>
              </a:rPr>
              <a:t> </a:t>
            </a:r>
            <a:r>
              <a:rPr sz="1950" spc="50" dirty="0">
                <a:solidFill>
                  <a:srgbClr val="231F20"/>
                </a:solidFill>
                <a:latin typeface="Arial"/>
                <a:cs typeface="Arial"/>
              </a:rPr>
              <a:t>class</a:t>
            </a:r>
            <a:endParaRPr sz="1950">
              <a:latin typeface="Arial"/>
              <a:cs typeface="Arial"/>
            </a:endParaRPr>
          </a:p>
          <a:p>
            <a:pPr marL="300990" marR="2700020" indent="-288290">
              <a:lnSpc>
                <a:spcPct val="138300"/>
              </a:lnSpc>
              <a:spcBef>
                <a:spcPts val="100"/>
              </a:spcBef>
              <a:buSzPct val="105128"/>
              <a:buFont typeface="Lucida Sans Unicode"/>
              <a:buChar char="•"/>
              <a:tabLst>
                <a:tab pos="301625" algn="l"/>
                <a:tab pos="3013710" algn="l"/>
              </a:tabLst>
            </a:pPr>
            <a:r>
              <a:rPr sz="1950" spc="165" dirty="0">
                <a:solidFill>
                  <a:srgbClr val="231F20"/>
                </a:solidFill>
                <a:latin typeface="Arial"/>
                <a:cs typeface="Arial"/>
              </a:rPr>
              <a:t>Terminology </a:t>
            </a:r>
            <a:r>
              <a:rPr sz="1950" spc="40" dirty="0">
                <a:solidFill>
                  <a:srgbClr val="231F20"/>
                </a:solidFill>
                <a:latin typeface="Arial"/>
                <a:cs typeface="Arial"/>
              </a:rPr>
              <a:t>is </a:t>
            </a:r>
            <a:r>
              <a:rPr sz="1950" spc="130" dirty="0">
                <a:solidFill>
                  <a:srgbClr val="231F20"/>
                </a:solidFill>
                <a:latin typeface="Arial"/>
                <a:cs typeface="Arial"/>
              </a:rPr>
              <a:t>in </a:t>
            </a:r>
            <a:r>
              <a:rPr sz="1950" spc="160" dirty="0">
                <a:solidFill>
                  <a:srgbClr val="231F20"/>
                </a:solidFill>
                <a:latin typeface="Arial"/>
                <a:cs typeface="Arial"/>
              </a:rPr>
              <a:t>terms </a:t>
            </a:r>
            <a:r>
              <a:rPr sz="1950" spc="185" dirty="0">
                <a:solidFill>
                  <a:srgbClr val="231F20"/>
                </a:solidFill>
                <a:latin typeface="Arial"/>
                <a:cs typeface="Arial"/>
              </a:rPr>
              <a:t>of </a:t>
            </a:r>
            <a:r>
              <a:rPr sz="1950" spc="150" dirty="0">
                <a:solidFill>
                  <a:srgbClr val="231F20"/>
                </a:solidFill>
                <a:latin typeface="Arial"/>
                <a:cs typeface="Arial"/>
              </a:rPr>
              <a:t>finding </a:t>
            </a:r>
            <a:r>
              <a:rPr sz="1950" spc="95" dirty="0">
                <a:solidFill>
                  <a:srgbClr val="231F20"/>
                </a:solidFill>
                <a:latin typeface="Arial"/>
                <a:cs typeface="Arial"/>
              </a:rPr>
              <a:t>errors  </a:t>
            </a:r>
            <a:r>
              <a:rPr sz="1950" spc="585" dirty="0">
                <a:solidFill>
                  <a:srgbClr val="231F20"/>
                </a:solidFill>
                <a:latin typeface="Arial"/>
                <a:cs typeface="Arial"/>
              </a:rPr>
              <a:t>TP</a:t>
            </a:r>
            <a:r>
              <a:rPr sz="1950" spc="944" dirty="0">
                <a:solidFill>
                  <a:srgbClr val="231F20"/>
                </a:solidFill>
                <a:latin typeface="Arial"/>
                <a:cs typeface="Arial"/>
              </a:rPr>
              <a:t> </a:t>
            </a:r>
            <a:r>
              <a:rPr sz="1950" spc="300" dirty="0">
                <a:solidFill>
                  <a:srgbClr val="0000FF"/>
                </a:solidFill>
                <a:latin typeface="Arial"/>
                <a:cs typeface="Arial"/>
              </a:rPr>
              <a:t>True</a:t>
            </a:r>
            <a:r>
              <a:rPr sz="1950" spc="950" dirty="0">
                <a:solidFill>
                  <a:srgbClr val="0000FF"/>
                </a:solidFill>
                <a:latin typeface="Arial"/>
                <a:cs typeface="Arial"/>
              </a:rPr>
              <a:t> </a:t>
            </a:r>
            <a:r>
              <a:rPr sz="1950" spc="220" dirty="0">
                <a:solidFill>
                  <a:srgbClr val="0000FF"/>
                </a:solidFill>
                <a:latin typeface="Arial"/>
                <a:cs typeface="Arial"/>
              </a:rPr>
              <a:t>Positive</a:t>
            </a:r>
            <a:r>
              <a:rPr sz="1950" spc="220" dirty="0">
                <a:solidFill>
                  <a:srgbClr val="231F20"/>
                </a:solidFill>
                <a:latin typeface="Arial"/>
                <a:cs typeface="Arial"/>
              </a:rPr>
              <a:t>:	</a:t>
            </a:r>
            <a:r>
              <a:rPr sz="1950" spc="165" dirty="0">
                <a:solidFill>
                  <a:srgbClr val="231F20"/>
                </a:solidFill>
                <a:latin typeface="Arial"/>
                <a:cs typeface="Arial"/>
              </a:rPr>
              <a:t>found </a:t>
            </a:r>
            <a:r>
              <a:rPr sz="1950" spc="85" dirty="0">
                <a:solidFill>
                  <a:srgbClr val="231F20"/>
                </a:solidFill>
                <a:latin typeface="Arial"/>
                <a:cs typeface="Arial"/>
              </a:rPr>
              <a:t>a</a:t>
            </a:r>
            <a:r>
              <a:rPr sz="1950" spc="360" dirty="0">
                <a:solidFill>
                  <a:srgbClr val="231F20"/>
                </a:solidFill>
                <a:latin typeface="Arial"/>
                <a:cs typeface="Arial"/>
              </a:rPr>
              <a:t> </a:t>
            </a:r>
            <a:r>
              <a:rPr sz="1950" spc="95" dirty="0">
                <a:solidFill>
                  <a:srgbClr val="231F20"/>
                </a:solidFill>
                <a:latin typeface="Arial"/>
                <a:cs typeface="Arial"/>
              </a:rPr>
              <a:t>real</a:t>
            </a:r>
            <a:r>
              <a:rPr sz="1950" spc="260" dirty="0">
                <a:solidFill>
                  <a:srgbClr val="231F20"/>
                </a:solidFill>
                <a:latin typeface="Arial"/>
                <a:cs typeface="Arial"/>
              </a:rPr>
              <a:t> </a:t>
            </a:r>
            <a:r>
              <a:rPr sz="1950" spc="120" dirty="0">
                <a:solidFill>
                  <a:srgbClr val="231F20"/>
                </a:solidFill>
                <a:latin typeface="Arial"/>
                <a:cs typeface="Arial"/>
              </a:rPr>
              <a:t>error </a:t>
            </a:r>
            <a:r>
              <a:rPr sz="1950" spc="145" dirty="0">
                <a:solidFill>
                  <a:srgbClr val="231F20"/>
                </a:solidFill>
                <a:latin typeface="Arial"/>
                <a:cs typeface="Arial"/>
              </a:rPr>
              <a:t> </a:t>
            </a:r>
            <a:r>
              <a:rPr sz="1950" spc="415" dirty="0">
                <a:solidFill>
                  <a:srgbClr val="231F20"/>
                </a:solidFill>
                <a:latin typeface="Arial"/>
                <a:cs typeface="Arial"/>
              </a:rPr>
              <a:t>FP</a:t>
            </a:r>
            <a:r>
              <a:rPr sz="1950" spc="365" dirty="0">
                <a:solidFill>
                  <a:srgbClr val="231F20"/>
                </a:solidFill>
                <a:latin typeface="Arial"/>
                <a:cs typeface="Arial"/>
              </a:rPr>
              <a:t> </a:t>
            </a:r>
            <a:r>
              <a:rPr sz="1950" spc="180" dirty="0">
                <a:solidFill>
                  <a:srgbClr val="0000FF"/>
                </a:solidFill>
                <a:latin typeface="Arial"/>
                <a:cs typeface="Arial"/>
              </a:rPr>
              <a:t>False</a:t>
            </a:r>
            <a:r>
              <a:rPr sz="1950" spc="365" dirty="0">
                <a:solidFill>
                  <a:srgbClr val="0000FF"/>
                </a:solidFill>
                <a:latin typeface="Arial"/>
                <a:cs typeface="Arial"/>
              </a:rPr>
              <a:t> </a:t>
            </a:r>
            <a:r>
              <a:rPr sz="1950" spc="220" dirty="0">
                <a:solidFill>
                  <a:srgbClr val="0000FF"/>
                </a:solidFill>
                <a:latin typeface="Arial"/>
                <a:cs typeface="Arial"/>
              </a:rPr>
              <a:t>Positive</a:t>
            </a:r>
            <a:r>
              <a:rPr sz="1950" spc="220" dirty="0">
                <a:solidFill>
                  <a:srgbClr val="231F20"/>
                </a:solidFill>
                <a:latin typeface="Arial"/>
                <a:cs typeface="Arial"/>
              </a:rPr>
              <a:t>:	</a:t>
            </a:r>
            <a:r>
              <a:rPr sz="1950" spc="80" dirty="0">
                <a:solidFill>
                  <a:srgbClr val="231F20"/>
                </a:solidFill>
                <a:latin typeface="Arial"/>
                <a:cs typeface="Arial"/>
              </a:rPr>
              <a:t>false</a:t>
            </a:r>
            <a:r>
              <a:rPr sz="1950" spc="280" dirty="0">
                <a:solidFill>
                  <a:srgbClr val="231F20"/>
                </a:solidFill>
                <a:latin typeface="Arial"/>
                <a:cs typeface="Arial"/>
              </a:rPr>
              <a:t> </a:t>
            </a:r>
            <a:r>
              <a:rPr sz="1950" spc="135" dirty="0">
                <a:solidFill>
                  <a:srgbClr val="231F20"/>
                </a:solidFill>
                <a:latin typeface="Arial"/>
                <a:cs typeface="Arial"/>
              </a:rPr>
              <a:t>alarm</a:t>
            </a:r>
            <a:endParaRPr sz="1950">
              <a:latin typeface="Arial"/>
              <a:cs typeface="Arial"/>
            </a:endParaRPr>
          </a:p>
          <a:p>
            <a:pPr marL="300990">
              <a:lnSpc>
                <a:spcPct val="100000"/>
              </a:lnSpc>
              <a:spcBef>
                <a:spcPts val="790"/>
              </a:spcBef>
              <a:tabLst>
                <a:tab pos="3151505" algn="l"/>
              </a:tabLst>
            </a:pPr>
            <a:r>
              <a:rPr sz="1950" spc="565" dirty="0">
                <a:solidFill>
                  <a:srgbClr val="231F20"/>
                </a:solidFill>
                <a:latin typeface="Arial"/>
                <a:cs typeface="Arial"/>
              </a:rPr>
              <a:t>TN</a:t>
            </a:r>
            <a:r>
              <a:rPr sz="1950" spc="935" dirty="0">
                <a:solidFill>
                  <a:srgbClr val="231F20"/>
                </a:solidFill>
                <a:latin typeface="Arial"/>
                <a:cs typeface="Arial"/>
              </a:rPr>
              <a:t> </a:t>
            </a:r>
            <a:r>
              <a:rPr sz="1950" spc="300" dirty="0">
                <a:solidFill>
                  <a:srgbClr val="0000FF"/>
                </a:solidFill>
                <a:latin typeface="Arial"/>
                <a:cs typeface="Arial"/>
              </a:rPr>
              <a:t>True</a:t>
            </a:r>
            <a:r>
              <a:rPr sz="1950" spc="935" dirty="0">
                <a:solidFill>
                  <a:srgbClr val="0000FF"/>
                </a:solidFill>
                <a:latin typeface="Arial"/>
                <a:cs typeface="Arial"/>
              </a:rPr>
              <a:t> </a:t>
            </a:r>
            <a:r>
              <a:rPr sz="1950" spc="240" dirty="0">
                <a:solidFill>
                  <a:srgbClr val="0000FF"/>
                </a:solidFill>
                <a:latin typeface="Arial"/>
                <a:cs typeface="Arial"/>
              </a:rPr>
              <a:t>Negative</a:t>
            </a:r>
            <a:r>
              <a:rPr sz="1950" spc="240" dirty="0">
                <a:solidFill>
                  <a:srgbClr val="231F20"/>
                </a:solidFill>
                <a:latin typeface="Arial"/>
                <a:cs typeface="Arial"/>
              </a:rPr>
              <a:t>:	</a:t>
            </a:r>
            <a:r>
              <a:rPr sz="1950" spc="155" dirty="0">
                <a:solidFill>
                  <a:srgbClr val="231F20"/>
                </a:solidFill>
                <a:latin typeface="Arial"/>
                <a:cs typeface="Arial"/>
              </a:rPr>
              <a:t>no </a:t>
            </a:r>
            <a:r>
              <a:rPr sz="1950" spc="125" dirty="0">
                <a:solidFill>
                  <a:srgbClr val="231F20"/>
                </a:solidFill>
                <a:latin typeface="Arial"/>
                <a:cs typeface="Arial"/>
              </a:rPr>
              <a:t>error, </a:t>
            </a:r>
            <a:r>
              <a:rPr sz="1950" spc="155" dirty="0">
                <a:solidFill>
                  <a:srgbClr val="231F20"/>
                </a:solidFill>
                <a:latin typeface="Arial"/>
                <a:cs typeface="Arial"/>
              </a:rPr>
              <a:t>no</a:t>
            </a:r>
            <a:r>
              <a:rPr sz="1950" spc="495" dirty="0">
                <a:solidFill>
                  <a:srgbClr val="231F20"/>
                </a:solidFill>
                <a:latin typeface="Arial"/>
                <a:cs typeface="Arial"/>
              </a:rPr>
              <a:t> </a:t>
            </a:r>
            <a:r>
              <a:rPr sz="1950" spc="245" dirty="0">
                <a:solidFill>
                  <a:srgbClr val="231F20"/>
                </a:solidFill>
                <a:latin typeface="Arial"/>
                <a:cs typeface="Arial"/>
              </a:rPr>
              <a:t>alarm—OK</a:t>
            </a:r>
            <a:endParaRPr sz="1950">
              <a:latin typeface="Arial"/>
              <a:cs typeface="Arial"/>
            </a:endParaRPr>
          </a:p>
          <a:p>
            <a:pPr marL="300990">
              <a:lnSpc>
                <a:spcPct val="100000"/>
              </a:lnSpc>
              <a:spcBef>
                <a:spcPts val="790"/>
              </a:spcBef>
              <a:tabLst>
                <a:tab pos="3171190" algn="l"/>
              </a:tabLst>
            </a:pPr>
            <a:r>
              <a:rPr sz="1950" spc="395" dirty="0">
                <a:solidFill>
                  <a:srgbClr val="231F20"/>
                </a:solidFill>
                <a:latin typeface="Arial"/>
                <a:cs typeface="Arial"/>
              </a:rPr>
              <a:t>FN</a:t>
            </a:r>
            <a:r>
              <a:rPr sz="1950" spc="950" dirty="0">
                <a:solidFill>
                  <a:srgbClr val="231F20"/>
                </a:solidFill>
                <a:latin typeface="Arial"/>
                <a:cs typeface="Arial"/>
              </a:rPr>
              <a:t> </a:t>
            </a:r>
            <a:r>
              <a:rPr sz="1950" spc="180" dirty="0">
                <a:solidFill>
                  <a:srgbClr val="0000FF"/>
                </a:solidFill>
                <a:latin typeface="Arial"/>
                <a:cs typeface="Arial"/>
              </a:rPr>
              <a:t>False </a:t>
            </a:r>
            <a:r>
              <a:rPr sz="1950" spc="225" dirty="0">
                <a:solidFill>
                  <a:srgbClr val="0000FF"/>
                </a:solidFill>
                <a:latin typeface="Arial"/>
                <a:cs typeface="Arial"/>
              </a:rPr>
              <a:t> </a:t>
            </a:r>
            <a:r>
              <a:rPr sz="1950" spc="240" dirty="0">
                <a:solidFill>
                  <a:srgbClr val="0000FF"/>
                </a:solidFill>
                <a:latin typeface="Arial"/>
                <a:cs typeface="Arial"/>
              </a:rPr>
              <a:t>Negative</a:t>
            </a:r>
            <a:r>
              <a:rPr sz="1950" spc="240" dirty="0">
                <a:solidFill>
                  <a:srgbClr val="231F20"/>
                </a:solidFill>
                <a:latin typeface="Arial"/>
                <a:cs typeface="Arial"/>
              </a:rPr>
              <a:t>:	</a:t>
            </a:r>
            <a:r>
              <a:rPr sz="1950" spc="85" dirty="0">
                <a:solidFill>
                  <a:srgbClr val="231F20"/>
                </a:solidFill>
                <a:latin typeface="Arial"/>
                <a:cs typeface="Arial"/>
              </a:rPr>
              <a:t>missed</a:t>
            </a:r>
            <a:r>
              <a:rPr sz="1950" spc="229" dirty="0">
                <a:solidFill>
                  <a:srgbClr val="231F20"/>
                </a:solidFill>
                <a:latin typeface="Arial"/>
                <a:cs typeface="Arial"/>
              </a:rPr>
              <a:t> </a:t>
            </a:r>
            <a:r>
              <a:rPr sz="1950" spc="120" dirty="0">
                <a:solidFill>
                  <a:srgbClr val="231F20"/>
                </a:solidFill>
                <a:latin typeface="Arial"/>
                <a:cs typeface="Arial"/>
              </a:rPr>
              <a:t>error</a:t>
            </a:r>
            <a:endParaRPr sz="1950">
              <a:latin typeface="Arial"/>
              <a:cs typeface="Arial"/>
            </a:endParaRPr>
          </a:p>
          <a:p>
            <a:pPr marL="300990" indent="-288290">
              <a:lnSpc>
                <a:spcPct val="100000"/>
              </a:lnSpc>
              <a:spcBef>
                <a:spcPts val="994"/>
              </a:spcBef>
              <a:buSzPct val="105128"/>
              <a:buFont typeface="Lucida Sans Unicode"/>
              <a:buChar char="•"/>
              <a:tabLst>
                <a:tab pos="301625" algn="l"/>
              </a:tabLst>
            </a:pPr>
            <a:r>
              <a:rPr sz="1950" spc="225" dirty="0">
                <a:solidFill>
                  <a:srgbClr val="231F20"/>
                </a:solidFill>
                <a:latin typeface="Arial"/>
                <a:cs typeface="Arial"/>
              </a:rPr>
              <a:t>Then </a:t>
            </a:r>
            <a:r>
              <a:rPr sz="1950" spc="95" dirty="0">
                <a:solidFill>
                  <a:srgbClr val="231F20"/>
                </a:solidFill>
                <a:latin typeface="Arial"/>
                <a:cs typeface="Arial"/>
              </a:rPr>
              <a:t>we</a:t>
            </a:r>
            <a:r>
              <a:rPr sz="1950" spc="245" dirty="0">
                <a:solidFill>
                  <a:srgbClr val="231F20"/>
                </a:solidFill>
                <a:latin typeface="Arial"/>
                <a:cs typeface="Arial"/>
              </a:rPr>
              <a:t> </a:t>
            </a:r>
            <a:r>
              <a:rPr sz="1950" spc="95" dirty="0">
                <a:solidFill>
                  <a:srgbClr val="231F20"/>
                </a:solidFill>
                <a:latin typeface="Arial"/>
                <a:cs typeface="Arial"/>
              </a:rPr>
              <a:t>have</a:t>
            </a:r>
            <a:endParaRPr sz="1950">
              <a:latin typeface="Arial"/>
              <a:cs typeface="Arial"/>
            </a:endParaRPr>
          </a:p>
          <a:p>
            <a:pPr marL="300990">
              <a:lnSpc>
                <a:spcPct val="100000"/>
              </a:lnSpc>
              <a:spcBef>
                <a:spcPts val="994"/>
              </a:spcBef>
              <a:tabLst>
                <a:tab pos="1434465" algn="l"/>
              </a:tabLst>
            </a:pPr>
            <a:r>
              <a:rPr sz="1950" spc="250" dirty="0">
                <a:solidFill>
                  <a:srgbClr val="FF0000"/>
                </a:solidFill>
                <a:latin typeface="Arial"/>
                <a:cs typeface="Arial"/>
              </a:rPr>
              <a:t>Sound</a:t>
            </a:r>
            <a:r>
              <a:rPr sz="1950" spc="250" dirty="0">
                <a:solidFill>
                  <a:srgbClr val="231F20"/>
                </a:solidFill>
                <a:latin typeface="Arial"/>
                <a:cs typeface="Arial"/>
              </a:rPr>
              <a:t>:	</a:t>
            </a:r>
            <a:r>
              <a:rPr sz="1950" spc="155" dirty="0">
                <a:solidFill>
                  <a:srgbClr val="231F20"/>
                </a:solidFill>
                <a:latin typeface="Arial"/>
                <a:cs typeface="Arial"/>
              </a:rPr>
              <a:t>no </a:t>
            </a:r>
            <a:r>
              <a:rPr sz="1950" spc="80" dirty="0">
                <a:solidFill>
                  <a:srgbClr val="231F20"/>
                </a:solidFill>
                <a:latin typeface="Arial"/>
                <a:cs typeface="Arial"/>
              </a:rPr>
              <a:t>false</a:t>
            </a:r>
            <a:r>
              <a:rPr sz="1950" spc="360" dirty="0">
                <a:solidFill>
                  <a:srgbClr val="231F20"/>
                </a:solidFill>
                <a:latin typeface="Arial"/>
                <a:cs typeface="Arial"/>
              </a:rPr>
              <a:t> </a:t>
            </a:r>
            <a:r>
              <a:rPr sz="1950" spc="105" dirty="0">
                <a:solidFill>
                  <a:srgbClr val="231F20"/>
                </a:solidFill>
                <a:latin typeface="Arial"/>
                <a:cs typeface="Arial"/>
              </a:rPr>
              <a:t>negatives</a:t>
            </a:r>
            <a:endParaRPr sz="1950">
              <a:latin typeface="Arial"/>
              <a:cs typeface="Arial"/>
            </a:endParaRPr>
          </a:p>
        </p:txBody>
      </p:sp>
      <p:sp>
        <p:nvSpPr>
          <p:cNvPr id="3" name="object 3"/>
          <p:cNvSpPr txBox="1"/>
          <p:nvPr/>
        </p:nvSpPr>
        <p:spPr>
          <a:xfrm>
            <a:off x="1185162" y="4690338"/>
            <a:ext cx="972819" cy="314960"/>
          </a:xfrm>
          <a:prstGeom prst="rect">
            <a:avLst/>
          </a:prstGeom>
        </p:spPr>
        <p:txBody>
          <a:bodyPr vert="horz" wrap="square" lIns="0" tIns="0" rIns="0" bIns="0" rtlCol="0">
            <a:spAutoFit/>
          </a:bodyPr>
          <a:lstStyle/>
          <a:p>
            <a:pPr marL="12700">
              <a:lnSpc>
                <a:spcPct val="100000"/>
              </a:lnSpc>
            </a:pPr>
            <a:r>
              <a:rPr sz="1950" spc="365" dirty="0">
                <a:solidFill>
                  <a:srgbClr val="FF0000"/>
                </a:solidFill>
                <a:latin typeface="Arial"/>
                <a:cs typeface="Arial"/>
              </a:rPr>
              <a:t>R</a:t>
            </a:r>
            <a:r>
              <a:rPr sz="1950" spc="150" dirty="0">
                <a:solidFill>
                  <a:srgbClr val="FF0000"/>
                </a:solidFill>
                <a:latin typeface="Arial"/>
                <a:cs typeface="Arial"/>
              </a:rPr>
              <a:t>e</a:t>
            </a:r>
            <a:r>
              <a:rPr sz="1950" spc="235" dirty="0">
                <a:solidFill>
                  <a:srgbClr val="FF0000"/>
                </a:solidFill>
                <a:latin typeface="Arial"/>
                <a:cs typeface="Arial"/>
              </a:rPr>
              <a:t>c</a:t>
            </a:r>
            <a:r>
              <a:rPr sz="1950" spc="190" dirty="0">
                <a:solidFill>
                  <a:srgbClr val="FF0000"/>
                </a:solidFill>
                <a:latin typeface="Arial"/>
                <a:cs typeface="Arial"/>
              </a:rPr>
              <a:t>a</a:t>
            </a:r>
            <a:r>
              <a:rPr sz="1950" spc="150" dirty="0">
                <a:solidFill>
                  <a:srgbClr val="FF0000"/>
                </a:solidFill>
                <a:latin typeface="Arial"/>
                <a:cs typeface="Arial"/>
              </a:rPr>
              <a:t>ll</a:t>
            </a:r>
            <a:r>
              <a:rPr sz="1950" spc="215" dirty="0">
                <a:solidFill>
                  <a:srgbClr val="231F20"/>
                </a:solidFill>
                <a:latin typeface="Arial"/>
                <a:cs typeface="Arial"/>
              </a:rPr>
              <a:t>:</a:t>
            </a:r>
            <a:endParaRPr sz="1950">
              <a:latin typeface="Arial"/>
              <a:cs typeface="Arial"/>
            </a:endParaRPr>
          </a:p>
        </p:txBody>
      </p:sp>
      <p:sp>
        <p:nvSpPr>
          <p:cNvPr id="4" name="object 4"/>
          <p:cNvSpPr txBox="1"/>
          <p:nvPr/>
        </p:nvSpPr>
        <p:spPr>
          <a:xfrm>
            <a:off x="2289873" y="4677638"/>
            <a:ext cx="4721860" cy="338455"/>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TP/(TP+FN) </a:t>
            </a:r>
            <a:r>
              <a:rPr sz="1950" spc="85" dirty="0">
                <a:solidFill>
                  <a:srgbClr val="231F20"/>
                </a:solidFill>
                <a:latin typeface="Arial"/>
                <a:cs typeface="Arial"/>
              </a:rPr>
              <a:t>measures </a:t>
            </a:r>
            <a:r>
              <a:rPr sz="1950" spc="160" dirty="0">
                <a:solidFill>
                  <a:srgbClr val="231F20"/>
                </a:solidFill>
                <a:latin typeface="Arial"/>
                <a:cs typeface="Arial"/>
              </a:rPr>
              <a:t>how</a:t>
            </a:r>
            <a:r>
              <a:rPr sz="1950" spc="185" dirty="0">
                <a:solidFill>
                  <a:srgbClr val="231F20"/>
                </a:solidFill>
                <a:latin typeface="Arial"/>
                <a:cs typeface="Arial"/>
              </a:rPr>
              <a:t> </a:t>
            </a:r>
            <a:r>
              <a:rPr sz="1950" spc="165" dirty="0">
                <a:solidFill>
                  <a:srgbClr val="231F20"/>
                </a:solidFill>
                <a:latin typeface="Arial"/>
                <a:cs typeface="Arial"/>
              </a:rPr>
              <a:t>(un)sound</a:t>
            </a:r>
            <a:endParaRPr sz="1950">
              <a:latin typeface="Arial"/>
              <a:cs typeface="Arial"/>
            </a:endParaRPr>
          </a:p>
        </p:txBody>
      </p:sp>
      <p:sp>
        <p:nvSpPr>
          <p:cNvPr id="5" name="object 5"/>
          <p:cNvSpPr txBox="1"/>
          <p:nvPr/>
        </p:nvSpPr>
        <p:spPr>
          <a:xfrm>
            <a:off x="1185162" y="5049113"/>
            <a:ext cx="4283710" cy="725170"/>
          </a:xfrm>
          <a:prstGeom prst="rect">
            <a:avLst/>
          </a:prstGeom>
        </p:spPr>
        <p:txBody>
          <a:bodyPr vert="horz" wrap="square" lIns="0" tIns="0" rIns="0" bIns="0" rtlCol="0">
            <a:spAutoFit/>
          </a:bodyPr>
          <a:lstStyle/>
          <a:p>
            <a:pPr marL="453390">
              <a:lnSpc>
                <a:spcPct val="100000"/>
              </a:lnSpc>
            </a:pPr>
            <a:r>
              <a:rPr sz="2050" spc="55" dirty="0">
                <a:solidFill>
                  <a:srgbClr val="0000FF"/>
                </a:solidFill>
                <a:latin typeface="SimSun"/>
                <a:cs typeface="SimSun"/>
              </a:rPr>
              <a:t>TP+FN </a:t>
            </a:r>
            <a:r>
              <a:rPr sz="1950" spc="40" dirty="0">
                <a:solidFill>
                  <a:srgbClr val="231F20"/>
                </a:solidFill>
                <a:latin typeface="Arial"/>
                <a:cs typeface="Arial"/>
              </a:rPr>
              <a:t>is </a:t>
            </a:r>
            <a:r>
              <a:rPr sz="1950" spc="170" dirty="0">
                <a:solidFill>
                  <a:srgbClr val="231F20"/>
                </a:solidFill>
                <a:latin typeface="Arial"/>
                <a:cs typeface="Arial"/>
              </a:rPr>
              <a:t>number </a:t>
            </a:r>
            <a:r>
              <a:rPr sz="1950" spc="185" dirty="0">
                <a:solidFill>
                  <a:srgbClr val="231F20"/>
                </a:solidFill>
                <a:latin typeface="Arial"/>
                <a:cs typeface="Arial"/>
              </a:rPr>
              <a:t>of </a:t>
            </a:r>
            <a:r>
              <a:rPr sz="1950" spc="95" dirty="0">
                <a:solidFill>
                  <a:srgbClr val="231F20"/>
                </a:solidFill>
                <a:latin typeface="Arial"/>
                <a:cs typeface="Arial"/>
              </a:rPr>
              <a:t>real</a:t>
            </a:r>
            <a:r>
              <a:rPr sz="1950" spc="425" dirty="0">
                <a:solidFill>
                  <a:srgbClr val="231F20"/>
                </a:solidFill>
                <a:latin typeface="Arial"/>
                <a:cs typeface="Arial"/>
              </a:rPr>
              <a:t> </a:t>
            </a:r>
            <a:r>
              <a:rPr sz="1950" spc="95" dirty="0">
                <a:solidFill>
                  <a:srgbClr val="231F20"/>
                </a:solidFill>
                <a:latin typeface="Arial"/>
                <a:cs typeface="Arial"/>
              </a:rPr>
              <a:t>errors</a:t>
            </a:r>
            <a:endParaRPr sz="1950">
              <a:latin typeface="Arial"/>
              <a:cs typeface="Arial"/>
            </a:endParaRPr>
          </a:p>
          <a:p>
            <a:pPr marL="12700">
              <a:lnSpc>
                <a:spcPct val="100000"/>
              </a:lnSpc>
              <a:spcBef>
                <a:spcPts val="770"/>
              </a:spcBef>
              <a:tabLst>
                <a:tab pos="1615440" algn="l"/>
              </a:tabLst>
            </a:pPr>
            <a:r>
              <a:rPr sz="1950" spc="270" dirty="0">
                <a:solidFill>
                  <a:srgbClr val="FF0000"/>
                </a:solidFill>
                <a:latin typeface="Arial"/>
                <a:cs typeface="Arial"/>
              </a:rPr>
              <a:t>Complete</a:t>
            </a:r>
            <a:r>
              <a:rPr sz="1950" spc="270" dirty="0">
                <a:solidFill>
                  <a:srgbClr val="231F20"/>
                </a:solidFill>
                <a:latin typeface="Arial"/>
                <a:cs typeface="Arial"/>
              </a:rPr>
              <a:t>:	</a:t>
            </a:r>
            <a:r>
              <a:rPr sz="1950" spc="155" dirty="0">
                <a:solidFill>
                  <a:srgbClr val="231F20"/>
                </a:solidFill>
                <a:latin typeface="Arial"/>
                <a:cs typeface="Arial"/>
              </a:rPr>
              <a:t>no </a:t>
            </a:r>
            <a:r>
              <a:rPr sz="1950" spc="80" dirty="0">
                <a:solidFill>
                  <a:srgbClr val="231F20"/>
                </a:solidFill>
                <a:latin typeface="Arial"/>
                <a:cs typeface="Arial"/>
              </a:rPr>
              <a:t>false</a:t>
            </a:r>
            <a:r>
              <a:rPr sz="1950" spc="320" dirty="0">
                <a:solidFill>
                  <a:srgbClr val="231F20"/>
                </a:solidFill>
                <a:latin typeface="Arial"/>
                <a:cs typeface="Arial"/>
              </a:rPr>
              <a:t> </a:t>
            </a:r>
            <a:r>
              <a:rPr sz="1950" spc="110" dirty="0">
                <a:solidFill>
                  <a:srgbClr val="231F20"/>
                </a:solidFill>
                <a:latin typeface="Arial"/>
                <a:cs typeface="Arial"/>
              </a:rPr>
              <a:t>alarms</a:t>
            </a:r>
            <a:endParaRPr sz="1950">
              <a:latin typeface="Arial"/>
              <a:cs typeface="Arial"/>
            </a:endParaRPr>
          </a:p>
        </p:txBody>
      </p:sp>
      <p:sp>
        <p:nvSpPr>
          <p:cNvPr id="6" name="object 6"/>
          <p:cNvSpPr txBox="1"/>
          <p:nvPr/>
        </p:nvSpPr>
        <p:spPr>
          <a:xfrm>
            <a:off x="1185162" y="5857455"/>
            <a:ext cx="1393825" cy="314960"/>
          </a:xfrm>
          <a:prstGeom prst="rect">
            <a:avLst/>
          </a:prstGeom>
        </p:spPr>
        <p:txBody>
          <a:bodyPr vert="horz" wrap="square" lIns="0" tIns="0" rIns="0" bIns="0" rtlCol="0">
            <a:spAutoFit/>
          </a:bodyPr>
          <a:lstStyle/>
          <a:p>
            <a:pPr marL="12700">
              <a:lnSpc>
                <a:spcPct val="100000"/>
              </a:lnSpc>
            </a:pPr>
            <a:r>
              <a:rPr sz="1950" spc="215" dirty="0">
                <a:solidFill>
                  <a:srgbClr val="FF0000"/>
                </a:solidFill>
                <a:latin typeface="Arial"/>
                <a:cs typeface="Arial"/>
              </a:rPr>
              <a:t>Precision</a:t>
            </a:r>
            <a:r>
              <a:rPr sz="1950" spc="215" dirty="0">
                <a:solidFill>
                  <a:srgbClr val="231F20"/>
                </a:solidFill>
                <a:latin typeface="Arial"/>
                <a:cs typeface="Arial"/>
              </a:rPr>
              <a:t>:</a:t>
            </a:r>
            <a:endParaRPr sz="1950">
              <a:latin typeface="Arial"/>
              <a:cs typeface="Arial"/>
            </a:endParaRPr>
          </a:p>
        </p:txBody>
      </p:sp>
      <p:sp>
        <p:nvSpPr>
          <p:cNvPr id="7" name="object 7"/>
          <p:cNvSpPr txBox="1"/>
          <p:nvPr/>
        </p:nvSpPr>
        <p:spPr>
          <a:xfrm>
            <a:off x="2710840" y="5844755"/>
            <a:ext cx="5047615" cy="338455"/>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TP/(TP+FP) </a:t>
            </a:r>
            <a:r>
              <a:rPr sz="1950" spc="85" dirty="0">
                <a:solidFill>
                  <a:srgbClr val="231F20"/>
                </a:solidFill>
                <a:latin typeface="Arial"/>
                <a:cs typeface="Arial"/>
              </a:rPr>
              <a:t>measures </a:t>
            </a:r>
            <a:r>
              <a:rPr sz="1950" spc="160" dirty="0">
                <a:solidFill>
                  <a:srgbClr val="231F20"/>
                </a:solidFill>
                <a:latin typeface="Arial"/>
                <a:cs typeface="Arial"/>
              </a:rPr>
              <a:t>how</a:t>
            </a:r>
            <a:r>
              <a:rPr sz="1950" spc="165" dirty="0">
                <a:solidFill>
                  <a:srgbClr val="231F20"/>
                </a:solidFill>
                <a:latin typeface="Arial"/>
                <a:cs typeface="Arial"/>
              </a:rPr>
              <a:t> </a:t>
            </a:r>
            <a:r>
              <a:rPr sz="1950" spc="175" dirty="0">
                <a:solidFill>
                  <a:srgbClr val="231F20"/>
                </a:solidFill>
                <a:latin typeface="Arial"/>
                <a:cs typeface="Arial"/>
              </a:rPr>
              <a:t>(in)complete</a:t>
            </a:r>
            <a:endParaRPr sz="1950">
              <a:latin typeface="Arial"/>
              <a:cs typeface="Arial"/>
            </a:endParaRPr>
          </a:p>
        </p:txBody>
      </p:sp>
      <p:sp>
        <p:nvSpPr>
          <p:cNvPr id="8" name="object 8"/>
          <p:cNvSpPr txBox="1"/>
          <p:nvPr/>
        </p:nvSpPr>
        <p:spPr>
          <a:xfrm>
            <a:off x="1626019" y="6216345"/>
            <a:ext cx="3378835" cy="338455"/>
          </a:xfrm>
          <a:prstGeom prst="rect">
            <a:avLst/>
          </a:prstGeom>
        </p:spPr>
        <p:txBody>
          <a:bodyPr vert="horz" wrap="square" lIns="0" tIns="0" rIns="0" bIns="0" rtlCol="0">
            <a:spAutoFit/>
          </a:bodyPr>
          <a:lstStyle/>
          <a:p>
            <a:pPr marL="12700">
              <a:lnSpc>
                <a:spcPct val="100000"/>
              </a:lnSpc>
            </a:pPr>
            <a:r>
              <a:rPr sz="2050" spc="55" dirty="0">
                <a:solidFill>
                  <a:srgbClr val="0000FF"/>
                </a:solidFill>
                <a:latin typeface="SimSun"/>
                <a:cs typeface="SimSun"/>
              </a:rPr>
              <a:t>TP+FP </a:t>
            </a:r>
            <a:r>
              <a:rPr sz="1950" spc="40" dirty="0">
                <a:solidFill>
                  <a:srgbClr val="231F20"/>
                </a:solidFill>
                <a:latin typeface="Arial"/>
                <a:cs typeface="Arial"/>
              </a:rPr>
              <a:t>is </a:t>
            </a:r>
            <a:r>
              <a:rPr sz="1950" spc="170" dirty="0">
                <a:solidFill>
                  <a:srgbClr val="231F20"/>
                </a:solidFill>
                <a:latin typeface="Arial"/>
                <a:cs typeface="Arial"/>
              </a:rPr>
              <a:t>number </a:t>
            </a:r>
            <a:r>
              <a:rPr sz="1950" spc="185" dirty="0">
                <a:solidFill>
                  <a:srgbClr val="231F20"/>
                </a:solidFill>
                <a:latin typeface="Arial"/>
                <a:cs typeface="Arial"/>
              </a:rPr>
              <a:t>of</a:t>
            </a:r>
            <a:r>
              <a:rPr sz="1950" spc="305" dirty="0">
                <a:solidFill>
                  <a:srgbClr val="231F20"/>
                </a:solidFill>
                <a:latin typeface="Arial"/>
                <a:cs typeface="Arial"/>
              </a:rPr>
              <a:t> </a:t>
            </a:r>
            <a:r>
              <a:rPr sz="1950" spc="110" dirty="0">
                <a:solidFill>
                  <a:srgbClr val="231F20"/>
                </a:solidFill>
                <a:latin typeface="Arial"/>
                <a:cs typeface="Arial"/>
              </a:rPr>
              <a:t>alarms</a:t>
            </a:r>
            <a:endParaRPr sz="1950">
              <a:latin typeface="Arial"/>
              <a:cs typeface="Aria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39222" y="475981"/>
            <a:ext cx="2180590" cy="314960"/>
          </a:xfrm>
          <a:prstGeom prst="rect">
            <a:avLst/>
          </a:prstGeom>
        </p:spPr>
        <p:txBody>
          <a:bodyPr vert="horz" wrap="square" lIns="0" tIns="0" rIns="0" bIns="0" rtlCol="0">
            <a:spAutoFit/>
          </a:bodyPr>
          <a:lstStyle/>
          <a:p>
            <a:pPr marL="12700">
              <a:lnSpc>
                <a:spcPct val="100000"/>
              </a:lnSpc>
            </a:pPr>
            <a:r>
              <a:rPr sz="1950" spc="270" dirty="0">
                <a:solidFill>
                  <a:srgbClr val="231F20"/>
                </a:solidFill>
                <a:latin typeface="Arial"/>
                <a:cs typeface="Arial"/>
              </a:rPr>
              <a:t>Tradeoff</a:t>
            </a:r>
            <a:r>
              <a:rPr sz="1950" spc="300" dirty="0">
                <a:solidFill>
                  <a:srgbClr val="231F20"/>
                </a:solidFill>
                <a:latin typeface="Arial"/>
                <a:cs typeface="Arial"/>
              </a:rPr>
              <a:t> </a:t>
            </a:r>
            <a:r>
              <a:rPr sz="1950" spc="210" dirty="0">
                <a:solidFill>
                  <a:srgbClr val="231F20"/>
                </a:solidFill>
                <a:latin typeface="Arial"/>
                <a:cs typeface="Arial"/>
              </a:rPr>
              <a:t>Space</a:t>
            </a:r>
            <a:endParaRPr sz="1950">
              <a:latin typeface="Arial"/>
              <a:cs typeface="Arial"/>
            </a:endParaRPr>
          </a:p>
        </p:txBody>
      </p:sp>
      <p:sp>
        <p:nvSpPr>
          <p:cNvPr id="3" name="object 3"/>
          <p:cNvSpPr txBox="1"/>
          <p:nvPr/>
        </p:nvSpPr>
        <p:spPr>
          <a:xfrm>
            <a:off x="896440" y="995248"/>
            <a:ext cx="7331709" cy="845185"/>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25" dirty="0">
                <a:solidFill>
                  <a:srgbClr val="231F20"/>
                </a:solidFill>
                <a:latin typeface="Arial"/>
                <a:cs typeface="Arial"/>
              </a:rPr>
              <a:t>Basic </a:t>
            </a:r>
            <a:r>
              <a:rPr sz="1950" spc="160" dirty="0">
                <a:solidFill>
                  <a:srgbClr val="231F20"/>
                </a:solidFill>
                <a:latin typeface="Arial"/>
                <a:cs typeface="Arial"/>
              </a:rPr>
              <a:t>tradeoff </a:t>
            </a:r>
            <a:r>
              <a:rPr sz="1950" spc="40" dirty="0">
                <a:solidFill>
                  <a:srgbClr val="231F20"/>
                </a:solidFill>
                <a:latin typeface="Arial"/>
                <a:cs typeface="Arial"/>
              </a:rPr>
              <a:t>is </a:t>
            </a:r>
            <a:r>
              <a:rPr sz="1950" spc="120" dirty="0">
                <a:solidFill>
                  <a:srgbClr val="231F20"/>
                </a:solidFill>
                <a:latin typeface="Arial"/>
                <a:cs typeface="Arial"/>
              </a:rPr>
              <a:t>between </a:t>
            </a:r>
            <a:r>
              <a:rPr sz="1950" spc="75" dirty="0">
                <a:solidFill>
                  <a:srgbClr val="0000FF"/>
                </a:solidFill>
                <a:latin typeface="Arial"/>
                <a:cs typeface="Arial"/>
              </a:rPr>
              <a:t>soundness </a:t>
            </a:r>
            <a:r>
              <a:rPr sz="1950" spc="130" dirty="0">
                <a:solidFill>
                  <a:srgbClr val="231F20"/>
                </a:solidFill>
                <a:latin typeface="Arial"/>
                <a:cs typeface="Arial"/>
              </a:rPr>
              <a:t>and </a:t>
            </a:r>
            <a:r>
              <a:rPr sz="1950" spc="530" dirty="0">
                <a:solidFill>
                  <a:srgbClr val="231F20"/>
                </a:solidFill>
                <a:latin typeface="Arial"/>
                <a:cs typeface="Arial"/>
              </a:rPr>
              <a:t> </a:t>
            </a:r>
            <a:r>
              <a:rPr sz="1950" spc="110" dirty="0">
                <a:solidFill>
                  <a:srgbClr val="0000FF"/>
                </a:solidFill>
                <a:latin typeface="Arial"/>
                <a:cs typeface="Arial"/>
              </a:rPr>
              <a:t>completeness</a:t>
            </a:r>
            <a:endParaRPr sz="1950">
              <a:latin typeface="Arial"/>
              <a:cs typeface="Arial"/>
            </a:endParaRPr>
          </a:p>
          <a:p>
            <a:pPr marL="12700">
              <a:lnSpc>
                <a:spcPct val="100000"/>
              </a:lnSpc>
              <a:spcBef>
                <a:spcPts val="1645"/>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4" name="object 4"/>
          <p:cNvSpPr txBox="1"/>
          <p:nvPr/>
        </p:nvSpPr>
        <p:spPr>
          <a:xfrm>
            <a:off x="1185162" y="1514398"/>
            <a:ext cx="4429125" cy="314325"/>
          </a:xfrm>
          <a:prstGeom prst="rect">
            <a:avLst/>
          </a:prstGeom>
        </p:spPr>
        <p:txBody>
          <a:bodyPr vert="horz" wrap="square" lIns="0" tIns="0" rIns="0" bIns="0" rtlCol="0">
            <a:spAutoFit/>
          </a:bodyPr>
          <a:lstStyle/>
          <a:p>
            <a:pPr marL="12700">
              <a:lnSpc>
                <a:spcPct val="100000"/>
              </a:lnSpc>
            </a:pPr>
            <a:r>
              <a:rPr sz="1950" spc="155" dirty="0">
                <a:solidFill>
                  <a:srgbClr val="231F20"/>
                </a:solidFill>
                <a:latin typeface="Arial"/>
                <a:cs typeface="Arial"/>
              </a:rPr>
              <a:t>For </a:t>
            </a:r>
            <a:r>
              <a:rPr sz="1950" spc="85" dirty="0">
                <a:solidFill>
                  <a:srgbClr val="FF0000"/>
                </a:solidFill>
                <a:latin typeface="Arial"/>
                <a:cs typeface="Arial"/>
              </a:rPr>
              <a:t>assurance</a:t>
            </a:r>
            <a:r>
              <a:rPr sz="1950" spc="85" dirty="0">
                <a:solidFill>
                  <a:srgbClr val="231F20"/>
                </a:solidFill>
                <a:latin typeface="Arial"/>
                <a:cs typeface="Arial"/>
              </a:rPr>
              <a:t>, </a:t>
            </a:r>
            <a:r>
              <a:rPr sz="1950" spc="95" dirty="0">
                <a:solidFill>
                  <a:srgbClr val="231F20"/>
                </a:solidFill>
                <a:latin typeface="Arial"/>
                <a:cs typeface="Arial"/>
              </a:rPr>
              <a:t>we </a:t>
            </a:r>
            <a:r>
              <a:rPr sz="1950" spc="80" dirty="0">
                <a:solidFill>
                  <a:srgbClr val="231F20"/>
                </a:solidFill>
                <a:latin typeface="Arial"/>
                <a:cs typeface="Arial"/>
              </a:rPr>
              <a:t>need </a:t>
            </a:r>
            <a:r>
              <a:rPr sz="1950" spc="175" dirty="0">
                <a:solidFill>
                  <a:srgbClr val="231F20"/>
                </a:solidFill>
                <a:latin typeface="Arial"/>
                <a:cs typeface="Arial"/>
              </a:rPr>
              <a:t> </a:t>
            </a:r>
            <a:r>
              <a:rPr sz="1950" spc="75" dirty="0">
                <a:solidFill>
                  <a:srgbClr val="FF0000"/>
                </a:solidFill>
                <a:latin typeface="Arial"/>
                <a:cs typeface="Arial"/>
              </a:rPr>
              <a:t>soundness</a:t>
            </a:r>
            <a:endParaRPr sz="1950">
              <a:latin typeface="Arial"/>
              <a:cs typeface="Arial"/>
            </a:endParaRPr>
          </a:p>
        </p:txBody>
      </p:sp>
      <p:sp>
        <p:nvSpPr>
          <p:cNvPr id="5" name="object 5"/>
          <p:cNvSpPr txBox="1"/>
          <p:nvPr/>
        </p:nvSpPr>
        <p:spPr>
          <a:xfrm>
            <a:off x="896440" y="1944052"/>
            <a:ext cx="8091170" cy="2897505"/>
          </a:xfrm>
          <a:prstGeom prst="rect">
            <a:avLst/>
          </a:prstGeom>
        </p:spPr>
        <p:txBody>
          <a:bodyPr vert="horz" wrap="square" lIns="0" tIns="0" rIns="0" bIns="0" rtlCol="0">
            <a:spAutoFit/>
          </a:bodyPr>
          <a:lstStyle/>
          <a:p>
            <a:pPr marL="741680" indent="-288290">
              <a:lnSpc>
                <a:spcPct val="100000"/>
              </a:lnSpc>
              <a:buSzPct val="105128"/>
              <a:buFont typeface="Lucida Sans Unicode"/>
              <a:buChar char="◦"/>
              <a:tabLst>
                <a:tab pos="742315" algn="l"/>
              </a:tabLst>
            </a:pPr>
            <a:r>
              <a:rPr sz="1950" spc="190" dirty="0">
                <a:solidFill>
                  <a:srgbClr val="231F20"/>
                </a:solidFill>
                <a:latin typeface="Arial"/>
                <a:cs typeface="Arial"/>
              </a:rPr>
              <a:t>When told </a:t>
            </a:r>
            <a:r>
              <a:rPr sz="1950" spc="140" dirty="0">
                <a:solidFill>
                  <a:srgbClr val="231F20"/>
                </a:solidFill>
                <a:latin typeface="Arial"/>
                <a:cs typeface="Arial"/>
              </a:rPr>
              <a:t>there </a:t>
            </a:r>
            <a:r>
              <a:rPr sz="1950" spc="65" dirty="0">
                <a:solidFill>
                  <a:srgbClr val="231F20"/>
                </a:solidFill>
                <a:latin typeface="Arial"/>
                <a:cs typeface="Arial"/>
              </a:rPr>
              <a:t>are </a:t>
            </a:r>
            <a:r>
              <a:rPr sz="1950" spc="155" dirty="0">
                <a:solidFill>
                  <a:srgbClr val="231F20"/>
                </a:solidFill>
                <a:latin typeface="Arial"/>
                <a:cs typeface="Arial"/>
              </a:rPr>
              <a:t>no </a:t>
            </a:r>
            <a:r>
              <a:rPr sz="1950" spc="105" dirty="0">
                <a:solidFill>
                  <a:srgbClr val="231F20"/>
                </a:solidFill>
                <a:latin typeface="Arial"/>
                <a:cs typeface="Arial"/>
              </a:rPr>
              <a:t>errors, </a:t>
            </a:r>
            <a:r>
              <a:rPr sz="1950" spc="140" dirty="0">
                <a:solidFill>
                  <a:srgbClr val="231F20"/>
                </a:solidFill>
                <a:latin typeface="Arial"/>
                <a:cs typeface="Arial"/>
              </a:rPr>
              <a:t>there </a:t>
            </a:r>
            <a:r>
              <a:rPr sz="1950" spc="195" dirty="0">
                <a:solidFill>
                  <a:srgbClr val="FF0000"/>
                </a:solidFill>
                <a:latin typeface="Arial"/>
                <a:cs typeface="Arial"/>
              </a:rPr>
              <a:t>must </a:t>
            </a:r>
            <a:r>
              <a:rPr sz="1950" spc="114" dirty="0">
                <a:solidFill>
                  <a:srgbClr val="FF0000"/>
                </a:solidFill>
                <a:latin typeface="Arial"/>
                <a:cs typeface="Arial"/>
              </a:rPr>
              <a:t>be </a:t>
            </a:r>
            <a:r>
              <a:rPr sz="1950" spc="680" dirty="0">
                <a:solidFill>
                  <a:srgbClr val="FF0000"/>
                </a:solidFill>
                <a:latin typeface="Arial"/>
                <a:cs typeface="Arial"/>
              </a:rPr>
              <a:t> </a:t>
            </a:r>
            <a:r>
              <a:rPr sz="1950" spc="120" dirty="0">
                <a:solidFill>
                  <a:srgbClr val="FF0000"/>
                </a:solidFill>
                <a:latin typeface="Arial"/>
                <a:cs typeface="Arial"/>
              </a:rPr>
              <a:t>none</a:t>
            </a:r>
            <a:endParaRPr sz="1950">
              <a:latin typeface="Arial"/>
              <a:cs typeface="Arial"/>
            </a:endParaRPr>
          </a:p>
          <a:p>
            <a:pPr marL="300990">
              <a:lnSpc>
                <a:spcPct val="100000"/>
              </a:lnSpc>
              <a:spcBef>
                <a:spcPts val="1040"/>
              </a:spcBef>
            </a:pPr>
            <a:r>
              <a:rPr sz="1950" spc="114" dirty="0">
                <a:solidFill>
                  <a:srgbClr val="0000FF"/>
                </a:solidFill>
                <a:latin typeface="Arial"/>
                <a:cs typeface="Arial"/>
              </a:rPr>
              <a:t>So </a:t>
            </a:r>
            <a:r>
              <a:rPr sz="1950" spc="95" dirty="0">
                <a:solidFill>
                  <a:srgbClr val="0000FF"/>
                </a:solidFill>
                <a:latin typeface="Arial"/>
                <a:cs typeface="Arial"/>
              </a:rPr>
              <a:t>have </a:t>
            </a:r>
            <a:r>
              <a:rPr sz="1950" spc="250" dirty="0">
                <a:solidFill>
                  <a:srgbClr val="0000FF"/>
                </a:solidFill>
                <a:latin typeface="Arial"/>
                <a:cs typeface="Arial"/>
              </a:rPr>
              <a:t>to </a:t>
            </a:r>
            <a:r>
              <a:rPr sz="1950" spc="140" dirty="0">
                <a:solidFill>
                  <a:srgbClr val="0000FF"/>
                </a:solidFill>
                <a:latin typeface="Arial"/>
                <a:cs typeface="Arial"/>
              </a:rPr>
              <a:t>accept </a:t>
            </a:r>
            <a:r>
              <a:rPr sz="1950" spc="80" dirty="0">
                <a:solidFill>
                  <a:srgbClr val="0000FF"/>
                </a:solidFill>
                <a:latin typeface="Arial"/>
                <a:cs typeface="Arial"/>
              </a:rPr>
              <a:t>false </a:t>
            </a:r>
            <a:r>
              <a:rPr sz="1950" spc="125" dirty="0">
                <a:solidFill>
                  <a:srgbClr val="0000FF"/>
                </a:solidFill>
                <a:latin typeface="Arial"/>
                <a:cs typeface="Arial"/>
              </a:rPr>
              <a:t> </a:t>
            </a:r>
            <a:r>
              <a:rPr sz="1950" spc="110" dirty="0">
                <a:solidFill>
                  <a:srgbClr val="0000FF"/>
                </a:solidFill>
                <a:latin typeface="Arial"/>
                <a:cs typeface="Arial"/>
              </a:rPr>
              <a:t>alarms</a:t>
            </a:r>
            <a:endParaRPr sz="1950">
              <a:latin typeface="Arial"/>
              <a:cs typeface="Arial"/>
            </a:endParaRPr>
          </a:p>
          <a:p>
            <a:pPr marL="300990" marR="148590" indent="-288290">
              <a:lnSpc>
                <a:spcPct val="125000"/>
              </a:lnSpc>
              <a:spcBef>
                <a:spcPts val="1160"/>
              </a:spcBef>
              <a:buSzPct val="105128"/>
              <a:buFont typeface="Lucida Sans Unicode"/>
              <a:buChar char="•"/>
              <a:tabLst>
                <a:tab pos="301625" algn="l"/>
              </a:tabLst>
            </a:pPr>
            <a:r>
              <a:rPr sz="1950" spc="275" dirty="0">
                <a:solidFill>
                  <a:srgbClr val="231F20"/>
                </a:solidFill>
                <a:latin typeface="Arial"/>
                <a:cs typeface="Arial"/>
              </a:rPr>
              <a:t>But </a:t>
            </a:r>
            <a:r>
              <a:rPr sz="1950" spc="175" dirty="0">
                <a:solidFill>
                  <a:srgbClr val="231F20"/>
                </a:solidFill>
                <a:latin typeface="Arial"/>
                <a:cs typeface="Arial"/>
              </a:rPr>
              <a:t>the </a:t>
            </a:r>
            <a:r>
              <a:rPr sz="1950" spc="160" dirty="0">
                <a:solidFill>
                  <a:srgbClr val="231F20"/>
                </a:solidFill>
                <a:latin typeface="Arial"/>
                <a:cs typeface="Arial"/>
              </a:rPr>
              <a:t>main market </a:t>
            </a:r>
            <a:r>
              <a:rPr sz="1950" spc="155" dirty="0">
                <a:solidFill>
                  <a:srgbClr val="231F20"/>
                </a:solidFill>
                <a:latin typeface="Arial"/>
                <a:cs typeface="Arial"/>
              </a:rPr>
              <a:t>for </a:t>
            </a:r>
            <a:r>
              <a:rPr sz="1950" spc="165" dirty="0">
                <a:solidFill>
                  <a:srgbClr val="231F20"/>
                </a:solidFill>
                <a:latin typeface="Arial"/>
                <a:cs typeface="Arial"/>
              </a:rPr>
              <a:t>static </a:t>
            </a:r>
            <a:r>
              <a:rPr sz="1950" spc="75" dirty="0">
                <a:solidFill>
                  <a:srgbClr val="231F20"/>
                </a:solidFill>
                <a:latin typeface="Arial"/>
                <a:cs typeface="Arial"/>
              </a:rPr>
              <a:t>analysis </a:t>
            </a:r>
            <a:r>
              <a:rPr sz="1950" spc="40" dirty="0">
                <a:solidFill>
                  <a:srgbClr val="231F20"/>
                </a:solidFill>
                <a:latin typeface="Arial"/>
                <a:cs typeface="Arial"/>
              </a:rPr>
              <a:t>is </a:t>
            </a:r>
            <a:r>
              <a:rPr sz="1950" spc="155" dirty="0">
                <a:solidFill>
                  <a:srgbClr val="FF0000"/>
                </a:solidFill>
                <a:latin typeface="Arial"/>
                <a:cs typeface="Arial"/>
              </a:rPr>
              <a:t>bug </a:t>
            </a:r>
            <a:r>
              <a:rPr sz="1950" spc="150" dirty="0">
                <a:solidFill>
                  <a:srgbClr val="FF0000"/>
                </a:solidFill>
                <a:latin typeface="Arial"/>
                <a:cs typeface="Arial"/>
              </a:rPr>
              <a:t>finding </a:t>
            </a:r>
            <a:r>
              <a:rPr sz="1950" spc="130" dirty="0">
                <a:solidFill>
                  <a:srgbClr val="231F20"/>
                </a:solidFill>
                <a:latin typeface="Arial"/>
                <a:cs typeface="Arial"/>
              </a:rPr>
              <a:t>in  </a:t>
            </a:r>
            <a:r>
              <a:rPr sz="1950" spc="114" dirty="0">
                <a:solidFill>
                  <a:srgbClr val="FF0000"/>
                </a:solidFill>
                <a:latin typeface="Arial"/>
                <a:cs typeface="Arial"/>
              </a:rPr>
              <a:t>general-purpose </a:t>
            </a:r>
            <a:r>
              <a:rPr sz="1950" spc="125" dirty="0">
                <a:solidFill>
                  <a:srgbClr val="FF0000"/>
                </a:solidFill>
                <a:latin typeface="Arial"/>
                <a:cs typeface="Arial"/>
              </a:rPr>
              <a:t>software</a:t>
            </a:r>
            <a:r>
              <a:rPr sz="1950" spc="125" dirty="0">
                <a:solidFill>
                  <a:srgbClr val="231F20"/>
                </a:solidFill>
                <a:latin typeface="Arial"/>
                <a:cs typeface="Arial"/>
              </a:rPr>
              <a:t>, </a:t>
            </a:r>
            <a:r>
              <a:rPr sz="1950" spc="120" dirty="0">
                <a:solidFill>
                  <a:srgbClr val="231F20"/>
                </a:solidFill>
                <a:latin typeface="Arial"/>
                <a:cs typeface="Arial"/>
              </a:rPr>
              <a:t>where </a:t>
            </a:r>
            <a:r>
              <a:rPr sz="1950" spc="160" dirty="0">
                <a:solidFill>
                  <a:srgbClr val="231F20"/>
                </a:solidFill>
                <a:latin typeface="Arial"/>
                <a:cs typeface="Arial"/>
              </a:rPr>
              <a:t>they </a:t>
            </a:r>
            <a:r>
              <a:rPr sz="1950" spc="165" dirty="0">
                <a:solidFill>
                  <a:srgbClr val="231F20"/>
                </a:solidFill>
                <a:latin typeface="Arial"/>
                <a:cs typeface="Arial"/>
              </a:rPr>
              <a:t>aim </a:t>
            </a:r>
            <a:r>
              <a:rPr sz="1950" spc="120" dirty="0">
                <a:solidFill>
                  <a:srgbClr val="231F20"/>
                </a:solidFill>
                <a:latin typeface="Arial"/>
                <a:cs typeface="Arial"/>
              </a:rPr>
              <a:t>merely </a:t>
            </a:r>
            <a:r>
              <a:rPr sz="1950" spc="250" dirty="0">
                <a:solidFill>
                  <a:srgbClr val="231F20"/>
                </a:solidFill>
                <a:latin typeface="Arial"/>
                <a:cs typeface="Arial"/>
              </a:rPr>
              <a:t>to </a:t>
            </a:r>
            <a:r>
              <a:rPr sz="1950" spc="105" dirty="0">
                <a:solidFill>
                  <a:srgbClr val="FF0000"/>
                </a:solidFill>
                <a:latin typeface="Arial"/>
                <a:cs typeface="Arial"/>
              </a:rPr>
              <a:t>reduce  </a:t>
            </a:r>
            <a:r>
              <a:rPr sz="1950" spc="175" dirty="0">
                <a:solidFill>
                  <a:srgbClr val="FF0000"/>
                </a:solidFill>
                <a:latin typeface="Arial"/>
                <a:cs typeface="Arial"/>
              </a:rPr>
              <a:t>the </a:t>
            </a:r>
            <a:r>
              <a:rPr sz="1950" spc="170" dirty="0">
                <a:solidFill>
                  <a:srgbClr val="FF0000"/>
                </a:solidFill>
                <a:latin typeface="Arial"/>
                <a:cs typeface="Arial"/>
              </a:rPr>
              <a:t>number </a:t>
            </a:r>
            <a:r>
              <a:rPr sz="1950" spc="185" dirty="0">
                <a:solidFill>
                  <a:srgbClr val="231F20"/>
                </a:solidFill>
                <a:latin typeface="Arial"/>
                <a:cs typeface="Arial"/>
              </a:rPr>
              <a:t>of </a:t>
            </a:r>
            <a:r>
              <a:rPr sz="1950" spc="114" dirty="0">
                <a:solidFill>
                  <a:srgbClr val="231F20"/>
                </a:solidFill>
                <a:latin typeface="Arial"/>
                <a:cs typeface="Arial"/>
              </a:rPr>
              <a:t>bugs, </a:t>
            </a:r>
            <a:r>
              <a:rPr sz="1950" spc="220" dirty="0">
                <a:solidFill>
                  <a:srgbClr val="231F20"/>
                </a:solidFill>
                <a:latin typeface="Arial"/>
                <a:cs typeface="Arial"/>
              </a:rPr>
              <a:t>not </a:t>
            </a:r>
            <a:r>
              <a:rPr sz="1950" spc="250" dirty="0">
                <a:solidFill>
                  <a:srgbClr val="231F20"/>
                </a:solidFill>
                <a:latin typeface="Arial"/>
                <a:cs typeface="Arial"/>
              </a:rPr>
              <a:t>to </a:t>
            </a:r>
            <a:r>
              <a:rPr sz="1950" spc="140" dirty="0">
                <a:solidFill>
                  <a:srgbClr val="231F20"/>
                </a:solidFill>
                <a:latin typeface="Arial"/>
                <a:cs typeface="Arial"/>
              </a:rPr>
              <a:t>eliminate</a:t>
            </a:r>
            <a:r>
              <a:rPr sz="1950" spc="800" dirty="0">
                <a:solidFill>
                  <a:srgbClr val="231F20"/>
                </a:solidFill>
                <a:latin typeface="Arial"/>
                <a:cs typeface="Arial"/>
              </a:rPr>
              <a:t> </a:t>
            </a:r>
            <a:r>
              <a:rPr sz="1950" spc="204" dirty="0">
                <a:solidFill>
                  <a:srgbClr val="231F20"/>
                </a:solidFill>
                <a:latin typeface="Arial"/>
                <a:cs typeface="Arial"/>
              </a:rPr>
              <a:t>them</a:t>
            </a:r>
            <a:endParaRPr sz="1950">
              <a:latin typeface="Arial"/>
              <a:cs typeface="Arial"/>
            </a:endParaRPr>
          </a:p>
          <a:p>
            <a:pPr marL="300990" marR="5080" indent="-288290">
              <a:lnSpc>
                <a:spcPct val="125000"/>
              </a:lnSpc>
              <a:spcBef>
                <a:spcPts val="1160"/>
              </a:spcBef>
              <a:buSzPct val="105128"/>
              <a:buFont typeface="Lucida Sans Unicode"/>
              <a:buChar char="•"/>
              <a:tabLst>
                <a:tab pos="301625" algn="l"/>
              </a:tabLst>
            </a:pPr>
            <a:r>
              <a:rPr sz="1950" spc="204" dirty="0">
                <a:solidFill>
                  <a:srgbClr val="231F20"/>
                </a:solidFill>
                <a:latin typeface="Arial"/>
                <a:cs typeface="Arial"/>
              </a:rPr>
              <a:t>Their </a:t>
            </a:r>
            <a:r>
              <a:rPr sz="1950" spc="100" dirty="0">
                <a:solidFill>
                  <a:srgbClr val="231F20"/>
                </a:solidFill>
                <a:latin typeface="Arial"/>
                <a:cs typeface="Arial"/>
              </a:rPr>
              <a:t>general </a:t>
            </a:r>
            <a:r>
              <a:rPr sz="1950" spc="135" dirty="0">
                <a:solidFill>
                  <a:srgbClr val="231F20"/>
                </a:solidFill>
                <a:latin typeface="Arial"/>
                <a:cs typeface="Arial"/>
              </a:rPr>
              <a:t>customers </a:t>
            </a:r>
            <a:r>
              <a:rPr sz="1950" spc="145" dirty="0">
                <a:solidFill>
                  <a:srgbClr val="231F20"/>
                </a:solidFill>
                <a:latin typeface="Arial"/>
                <a:cs typeface="Arial"/>
              </a:rPr>
              <a:t>will </a:t>
            </a:r>
            <a:r>
              <a:rPr sz="1950" spc="220" dirty="0">
                <a:solidFill>
                  <a:srgbClr val="231F20"/>
                </a:solidFill>
                <a:latin typeface="Arial"/>
                <a:cs typeface="Arial"/>
              </a:rPr>
              <a:t>not </a:t>
            </a:r>
            <a:r>
              <a:rPr sz="1950" spc="155" dirty="0">
                <a:solidFill>
                  <a:srgbClr val="231F20"/>
                </a:solidFill>
                <a:latin typeface="Arial"/>
                <a:cs typeface="Arial"/>
              </a:rPr>
              <a:t>tolerate </a:t>
            </a:r>
            <a:r>
              <a:rPr sz="1950" spc="165" dirty="0">
                <a:solidFill>
                  <a:srgbClr val="231F20"/>
                </a:solidFill>
                <a:latin typeface="Arial"/>
                <a:cs typeface="Arial"/>
              </a:rPr>
              <a:t>many </a:t>
            </a:r>
            <a:r>
              <a:rPr sz="1950" spc="80" dirty="0">
                <a:solidFill>
                  <a:srgbClr val="231F20"/>
                </a:solidFill>
                <a:latin typeface="Arial"/>
                <a:cs typeface="Arial"/>
              </a:rPr>
              <a:t>false </a:t>
            </a:r>
            <a:r>
              <a:rPr sz="1950" spc="114" dirty="0">
                <a:solidFill>
                  <a:srgbClr val="231F20"/>
                </a:solidFill>
                <a:latin typeface="Arial"/>
                <a:cs typeface="Arial"/>
              </a:rPr>
              <a:t>alarms,  </a:t>
            </a:r>
            <a:r>
              <a:rPr sz="1950" spc="65" dirty="0">
                <a:solidFill>
                  <a:srgbClr val="231F20"/>
                </a:solidFill>
                <a:latin typeface="Arial"/>
                <a:cs typeface="Arial"/>
              </a:rPr>
              <a:t>so </a:t>
            </a:r>
            <a:r>
              <a:rPr sz="1950" spc="210" dirty="0">
                <a:solidFill>
                  <a:srgbClr val="0000FF"/>
                </a:solidFill>
                <a:latin typeface="Arial"/>
                <a:cs typeface="Arial"/>
              </a:rPr>
              <a:t>tool </a:t>
            </a:r>
            <a:r>
              <a:rPr sz="1950" spc="95" dirty="0">
                <a:solidFill>
                  <a:srgbClr val="0000FF"/>
                </a:solidFill>
                <a:latin typeface="Arial"/>
                <a:cs typeface="Arial"/>
              </a:rPr>
              <a:t>vendors </a:t>
            </a:r>
            <a:r>
              <a:rPr sz="1950" spc="100" dirty="0">
                <a:solidFill>
                  <a:srgbClr val="0000FF"/>
                </a:solidFill>
                <a:latin typeface="Arial"/>
                <a:cs typeface="Arial"/>
              </a:rPr>
              <a:t>give </a:t>
            </a:r>
            <a:r>
              <a:rPr sz="1950" spc="155" dirty="0">
                <a:solidFill>
                  <a:srgbClr val="0000FF"/>
                </a:solidFill>
                <a:latin typeface="Arial"/>
                <a:cs typeface="Arial"/>
              </a:rPr>
              <a:t>up </a:t>
            </a:r>
            <a:r>
              <a:rPr sz="1950" spc="210" dirty="0">
                <a:solidFill>
                  <a:srgbClr val="0000FF"/>
                </a:solidFill>
                <a:latin typeface="Arial"/>
                <a:cs typeface="Arial"/>
              </a:rPr>
              <a:t> </a:t>
            </a:r>
            <a:r>
              <a:rPr sz="1950" spc="75" dirty="0">
                <a:solidFill>
                  <a:srgbClr val="0000FF"/>
                </a:solidFill>
                <a:latin typeface="Arial"/>
                <a:cs typeface="Arial"/>
              </a:rPr>
              <a:t>soundness</a:t>
            </a:r>
            <a:endParaRPr sz="1950">
              <a:latin typeface="Arial"/>
              <a:cs typeface="Arial"/>
            </a:endParaRPr>
          </a:p>
        </p:txBody>
      </p:sp>
      <p:sp>
        <p:nvSpPr>
          <p:cNvPr id="6" name="object 6"/>
          <p:cNvSpPr txBox="1"/>
          <p:nvPr/>
        </p:nvSpPr>
        <p:spPr>
          <a:xfrm>
            <a:off x="896440" y="5046040"/>
            <a:ext cx="4791710" cy="845819"/>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95" dirty="0">
                <a:solidFill>
                  <a:srgbClr val="231F20"/>
                </a:solidFill>
                <a:latin typeface="Arial"/>
                <a:cs typeface="Arial"/>
              </a:rPr>
              <a:t>Will </a:t>
            </a:r>
            <a:r>
              <a:rPr sz="1950" spc="105" dirty="0">
                <a:solidFill>
                  <a:srgbClr val="231F20"/>
                </a:solidFill>
                <a:latin typeface="Arial"/>
                <a:cs typeface="Arial"/>
              </a:rPr>
              <a:t>consider </a:t>
            </a:r>
            <a:r>
              <a:rPr sz="1950" spc="175" dirty="0">
                <a:solidFill>
                  <a:srgbClr val="231F20"/>
                </a:solidFill>
                <a:latin typeface="Arial"/>
                <a:cs typeface="Arial"/>
              </a:rPr>
              <a:t>the </a:t>
            </a:r>
            <a:r>
              <a:rPr sz="1950" spc="145" dirty="0">
                <a:solidFill>
                  <a:srgbClr val="231F20"/>
                </a:solidFill>
                <a:latin typeface="Arial"/>
                <a:cs typeface="Arial"/>
              </a:rPr>
              <a:t>implications</a:t>
            </a:r>
            <a:r>
              <a:rPr sz="1950" spc="630" dirty="0">
                <a:solidFill>
                  <a:srgbClr val="231F20"/>
                </a:solidFill>
                <a:latin typeface="Arial"/>
                <a:cs typeface="Arial"/>
              </a:rPr>
              <a:t> </a:t>
            </a:r>
            <a:r>
              <a:rPr sz="1950" spc="145" dirty="0">
                <a:solidFill>
                  <a:srgbClr val="231F20"/>
                </a:solidFill>
                <a:latin typeface="Arial"/>
                <a:cs typeface="Arial"/>
              </a:rPr>
              <a:t>later</a:t>
            </a:r>
            <a:endParaRPr sz="1950">
              <a:latin typeface="Arial"/>
              <a:cs typeface="Arial"/>
            </a:endParaRPr>
          </a:p>
          <a:p>
            <a:pPr marL="12700">
              <a:lnSpc>
                <a:spcPct val="100000"/>
              </a:lnSpc>
              <a:spcBef>
                <a:spcPts val="1645"/>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7" name="object 7"/>
          <p:cNvSpPr txBox="1"/>
          <p:nvPr/>
        </p:nvSpPr>
        <p:spPr>
          <a:xfrm>
            <a:off x="1185162" y="5565305"/>
            <a:ext cx="3614420" cy="314325"/>
          </a:xfrm>
          <a:prstGeom prst="rect">
            <a:avLst/>
          </a:prstGeom>
        </p:spPr>
        <p:txBody>
          <a:bodyPr vert="horz" wrap="square" lIns="0" tIns="0" rIns="0" bIns="0" rtlCol="0">
            <a:spAutoFit/>
          </a:bodyPr>
          <a:lstStyle/>
          <a:p>
            <a:pPr marL="12700">
              <a:lnSpc>
                <a:spcPct val="100000"/>
              </a:lnSpc>
            </a:pPr>
            <a:r>
              <a:rPr sz="1950" spc="215" dirty="0">
                <a:solidFill>
                  <a:srgbClr val="231F20"/>
                </a:solidFill>
                <a:latin typeface="Arial"/>
                <a:cs typeface="Arial"/>
              </a:rPr>
              <a:t>Other </a:t>
            </a:r>
            <a:r>
              <a:rPr sz="1950" spc="140" dirty="0">
                <a:solidFill>
                  <a:srgbClr val="231F20"/>
                </a:solidFill>
                <a:latin typeface="Arial"/>
                <a:cs typeface="Arial"/>
              </a:rPr>
              <a:t>tradeoffs </a:t>
            </a:r>
            <a:r>
              <a:rPr sz="1950" spc="65" dirty="0">
                <a:solidFill>
                  <a:srgbClr val="231F20"/>
                </a:solidFill>
                <a:latin typeface="Arial"/>
                <a:cs typeface="Arial"/>
              </a:rPr>
              <a:t>are</a:t>
            </a:r>
            <a:r>
              <a:rPr sz="1950" spc="434" dirty="0">
                <a:solidFill>
                  <a:srgbClr val="231F20"/>
                </a:solidFill>
                <a:latin typeface="Arial"/>
                <a:cs typeface="Arial"/>
              </a:rPr>
              <a:t> </a:t>
            </a:r>
            <a:r>
              <a:rPr sz="1950" spc="90" dirty="0">
                <a:solidFill>
                  <a:srgbClr val="231F20"/>
                </a:solidFill>
                <a:latin typeface="Arial"/>
                <a:cs typeface="Arial"/>
              </a:rPr>
              <a:t>possible</a:t>
            </a:r>
            <a:endParaRPr sz="1950">
              <a:latin typeface="Arial"/>
              <a:cs typeface="Arial"/>
            </a:endParaRPr>
          </a:p>
        </p:txBody>
      </p:sp>
      <p:sp>
        <p:nvSpPr>
          <p:cNvPr id="8" name="object 8"/>
          <p:cNvSpPr txBox="1"/>
          <p:nvPr/>
        </p:nvSpPr>
        <p:spPr>
          <a:xfrm>
            <a:off x="1337297" y="5994844"/>
            <a:ext cx="7249795" cy="326390"/>
          </a:xfrm>
          <a:prstGeom prst="rect">
            <a:avLst/>
          </a:prstGeom>
        </p:spPr>
        <p:txBody>
          <a:bodyPr vert="horz" wrap="square" lIns="0" tIns="0" rIns="0" bIns="0" rtlCol="0">
            <a:spAutoFit/>
          </a:bodyPr>
          <a:lstStyle/>
          <a:p>
            <a:pPr marL="300990" indent="-288290">
              <a:lnSpc>
                <a:spcPct val="100000"/>
              </a:lnSpc>
              <a:buClr>
                <a:srgbClr val="231F20"/>
              </a:buClr>
              <a:buSzPct val="105128"/>
              <a:buFont typeface="Lucida Sans Unicode"/>
              <a:buChar char="◦"/>
              <a:tabLst>
                <a:tab pos="301625" algn="l"/>
                <a:tab pos="3581400" algn="l"/>
              </a:tabLst>
            </a:pPr>
            <a:r>
              <a:rPr sz="1950" spc="95" dirty="0">
                <a:solidFill>
                  <a:srgbClr val="0000FF"/>
                </a:solidFill>
                <a:latin typeface="Arial"/>
                <a:cs typeface="Arial"/>
              </a:rPr>
              <a:t>Give  </a:t>
            </a:r>
            <a:r>
              <a:rPr sz="1950" spc="155" dirty="0">
                <a:solidFill>
                  <a:srgbClr val="0000FF"/>
                </a:solidFill>
                <a:latin typeface="Arial"/>
                <a:cs typeface="Arial"/>
              </a:rPr>
              <a:t>up</a:t>
            </a:r>
            <a:r>
              <a:rPr sz="1950" spc="605" dirty="0">
                <a:solidFill>
                  <a:srgbClr val="0000FF"/>
                </a:solidFill>
                <a:latin typeface="Arial"/>
                <a:cs typeface="Arial"/>
              </a:rPr>
              <a:t> </a:t>
            </a:r>
            <a:r>
              <a:rPr sz="1950" spc="150" dirty="0">
                <a:solidFill>
                  <a:srgbClr val="0000FF"/>
                </a:solidFill>
                <a:latin typeface="Arial"/>
                <a:cs typeface="Arial"/>
              </a:rPr>
              <a:t>full</a:t>
            </a:r>
            <a:r>
              <a:rPr sz="1950" spc="665" dirty="0">
                <a:solidFill>
                  <a:srgbClr val="0000FF"/>
                </a:solidFill>
                <a:latin typeface="Arial"/>
                <a:cs typeface="Arial"/>
              </a:rPr>
              <a:t> </a:t>
            </a:r>
            <a:r>
              <a:rPr sz="1950" spc="185" dirty="0">
                <a:solidFill>
                  <a:srgbClr val="0000FF"/>
                </a:solidFill>
                <a:latin typeface="Arial"/>
                <a:cs typeface="Arial"/>
              </a:rPr>
              <a:t>automation</a:t>
            </a:r>
            <a:r>
              <a:rPr sz="1950" spc="185" dirty="0">
                <a:solidFill>
                  <a:srgbClr val="231F20"/>
                </a:solidFill>
                <a:latin typeface="Arial"/>
                <a:cs typeface="Arial"/>
              </a:rPr>
              <a:t>:	</a:t>
            </a:r>
            <a:r>
              <a:rPr sz="1950" spc="114" dirty="0">
                <a:solidFill>
                  <a:srgbClr val="231F20"/>
                </a:solidFill>
                <a:latin typeface="Arial"/>
                <a:cs typeface="Arial"/>
              </a:rPr>
              <a:t>e.g., </a:t>
            </a:r>
            <a:r>
              <a:rPr sz="1950" spc="110" dirty="0">
                <a:solidFill>
                  <a:srgbClr val="231F20"/>
                </a:solidFill>
                <a:latin typeface="Arial"/>
                <a:cs typeface="Arial"/>
              </a:rPr>
              <a:t>require </a:t>
            </a:r>
            <a:r>
              <a:rPr sz="1950" spc="80" dirty="0">
                <a:solidFill>
                  <a:srgbClr val="231F20"/>
                </a:solidFill>
                <a:latin typeface="Arial"/>
                <a:cs typeface="Arial"/>
              </a:rPr>
              <a:t>user</a:t>
            </a:r>
            <a:r>
              <a:rPr sz="1950" spc="590" dirty="0">
                <a:solidFill>
                  <a:srgbClr val="231F20"/>
                </a:solidFill>
                <a:latin typeface="Arial"/>
                <a:cs typeface="Arial"/>
              </a:rPr>
              <a:t> </a:t>
            </a:r>
            <a:r>
              <a:rPr sz="1950" spc="175" dirty="0">
                <a:solidFill>
                  <a:srgbClr val="231F20"/>
                </a:solidFill>
                <a:latin typeface="Arial"/>
                <a:cs typeface="Arial"/>
              </a:rPr>
              <a:t>annotation</a:t>
            </a:r>
            <a:endParaRPr sz="1950">
              <a:latin typeface="Arial"/>
              <a:cs typeface="Arial"/>
            </a:endParaRP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978673"/>
            <a:ext cx="1078865" cy="314960"/>
          </a:xfrm>
          <a:prstGeom prst="rect">
            <a:avLst/>
          </a:prstGeom>
        </p:spPr>
        <p:txBody>
          <a:bodyPr vert="horz" wrap="square" lIns="0" tIns="0" rIns="0" bIns="0" rtlCol="0">
            <a:spAutoFit/>
          </a:bodyPr>
          <a:lstStyle/>
          <a:p>
            <a:pPr marL="12700">
              <a:lnSpc>
                <a:spcPct val="100000"/>
              </a:lnSpc>
            </a:pPr>
            <a:r>
              <a:rPr sz="1950" spc="265" dirty="0">
                <a:solidFill>
                  <a:srgbClr val="0000FF"/>
                </a:solidFill>
                <a:latin typeface="Arial"/>
                <a:cs typeface="Arial"/>
              </a:rPr>
              <a:t>Testing</a:t>
            </a:r>
            <a:endParaRPr sz="1950">
              <a:latin typeface="Arial"/>
              <a:cs typeface="Arial"/>
            </a:endParaRPr>
          </a:p>
        </p:txBody>
      </p:sp>
      <p:sp>
        <p:nvSpPr>
          <p:cNvPr id="3" name="object 3"/>
          <p:cNvSpPr txBox="1"/>
          <p:nvPr/>
        </p:nvSpPr>
        <p:spPr>
          <a:xfrm>
            <a:off x="2111679" y="475981"/>
            <a:ext cx="4425315" cy="817244"/>
          </a:xfrm>
          <a:prstGeom prst="rect">
            <a:avLst/>
          </a:prstGeom>
        </p:spPr>
        <p:txBody>
          <a:bodyPr vert="horz" wrap="square" lIns="0" tIns="0" rIns="0" bIns="0" rtlCol="0">
            <a:spAutoFit/>
          </a:bodyPr>
          <a:lstStyle/>
          <a:p>
            <a:pPr marL="1423035">
              <a:lnSpc>
                <a:spcPct val="100000"/>
              </a:lnSpc>
            </a:pPr>
            <a:r>
              <a:rPr sz="1950" spc="245" dirty="0">
                <a:solidFill>
                  <a:srgbClr val="231F20"/>
                </a:solidFill>
                <a:latin typeface="Arial"/>
                <a:cs typeface="Arial"/>
              </a:rPr>
              <a:t>Tradeoffs </a:t>
            </a:r>
            <a:r>
              <a:rPr sz="1950" spc="220" dirty="0">
                <a:solidFill>
                  <a:srgbClr val="231F20"/>
                </a:solidFill>
                <a:latin typeface="Arial"/>
                <a:cs typeface="Arial"/>
              </a:rPr>
              <a:t>In</a:t>
            </a:r>
            <a:r>
              <a:rPr sz="1950" spc="434" dirty="0">
                <a:solidFill>
                  <a:srgbClr val="231F20"/>
                </a:solidFill>
                <a:latin typeface="Arial"/>
                <a:cs typeface="Arial"/>
              </a:rPr>
              <a:t> </a:t>
            </a:r>
            <a:r>
              <a:rPr sz="1950" spc="260" dirty="0">
                <a:solidFill>
                  <a:srgbClr val="231F20"/>
                </a:solidFill>
                <a:latin typeface="Arial"/>
                <a:cs typeface="Arial"/>
              </a:rPr>
              <a:t>Practice</a:t>
            </a:r>
            <a:endParaRPr sz="1950">
              <a:latin typeface="Arial"/>
              <a:cs typeface="Arial"/>
            </a:endParaRPr>
          </a:p>
          <a:p>
            <a:pPr marL="12700">
              <a:lnSpc>
                <a:spcPct val="100000"/>
              </a:lnSpc>
              <a:spcBef>
                <a:spcPts val="1614"/>
              </a:spcBef>
            </a:pPr>
            <a:r>
              <a:rPr sz="1950" spc="40" dirty="0">
                <a:solidFill>
                  <a:srgbClr val="231F20"/>
                </a:solidFill>
                <a:latin typeface="Arial"/>
                <a:cs typeface="Arial"/>
              </a:rPr>
              <a:t>is </a:t>
            </a:r>
            <a:r>
              <a:rPr sz="1950" spc="150" dirty="0">
                <a:solidFill>
                  <a:srgbClr val="231F20"/>
                </a:solidFill>
                <a:latin typeface="Arial"/>
                <a:cs typeface="Arial"/>
              </a:rPr>
              <a:t>complete </a:t>
            </a:r>
            <a:r>
              <a:rPr sz="1950" spc="220" dirty="0">
                <a:solidFill>
                  <a:srgbClr val="231F20"/>
                </a:solidFill>
                <a:latin typeface="Arial"/>
                <a:cs typeface="Arial"/>
              </a:rPr>
              <a:t>but</a:t>
            </a:r>
            <a:r>
              <a:rPr sz="1950" spc="630" dirty="0">
                <a:solidFill>
                  <a:srgbClr val="231F20"/>
                </a:solidFill>
                <a:latin typeface="Arial"/>
                <a:cs typeface="Arial"/>
              </a:rPr>
              <a:t> </a:t>
            </a:r>
            <a:r>
              <a:rPr sz="1950" spc="125" dirty="0">
                <a:solidFill>
                  <a:srgbClr val="231F20"/>
                </a:solidFill>
                <a:latin typeface="Arial"/>
                <a:cs typeface="Arial"/>
              </a:rPr>
              <a:t>unsound</a:t>
            </a:r>
            <a:endParaRPr sz="1950">
              <a:latin typeface="Arial"/>
              <a:cs typeface="Arial"/>
            </a:endParaRPr>
          </a:p>
        </p:txBody>
      </p:sp>
      <p:sp>
        <p:nvSpPr>
          <p:cNvPr id="4" name="object 4"/>
          <p:cNvSpPr txBox="1"/>
          <p:nvPr/>
        </p:nvSpPr>
        <p:spPr>
          <a:xfrm>
            <a:off x="901700" y="1328546"/>
            <a:ext cx="8133715" cy="5188585"/>
          </a:xfrm>
          <a:prstGeom prst="rect">
            <a:avLst/>
          </a:prstGeom>
        </p:spPr>
        <p:txBody>
          <a:bodyPr vert="horz" wrap="square" lIns="0" tIns="0" rIns="0" bIns="0" rtlCol="0">
            <a:spAutoFit/>
          </a:bodyPr>
          <a:lstStyle/>
          <a:p>
            <a:pPr marL="295910" marR="1139190" indent="-283845">
              <a:lnSpc>
                <a:spcPct val="125000"/>
              </a:lnSpc>
              <a:tabLst>
                <a:tab pos="4234180" algn="l"/>
              </a:tabLst>
            </a:pPr>
            <a:r>
              <a:rPr sz="1950" spc="229" dirty="0">
                <a:solidFill>
                  <a:srgbClr val="0000FF"/>
                </a:solidFill>
                <a:latin typeface="Arial"/>
                <a:cs typeface="Arial"/>
              </a:rPr>
              <a:t>Spark  </a:t>
            </a:r>
            <a:r>
              <a:rPr sz="1950" spc="305" dirty="0">
                <a:solidFill>
                  <a:srgbClr val="0000FF"/>
                </a:solidFill>
                <a:latin typeface="Arial"/>
                <a:cs typeface="Arial"/>
              </a:rPr>
              <a:t>Ada </a:t>
            </a:r>
            <a:r>
              <a:rPr sz="1950" spc="310" dirty="0">
                <a:solidFill>
                  <a:srgbClr val="231F20"/>
                </a:solidFill>
                <a:latin typeface="Arial"/>
                <a:cs typeface="Arial"/>
              </a:rPr>
              <a:t>with</a:t>
            </a:r>
            <a:r>
              <a:rPr sz="1950" spc="645" dirty="0">
                <a:solidFill>
                  <a:srgbClr val="231F20"/>
                </a:solidFill>
                <a:latin typeface="Arial"/>
                <a:cs typeface="Arial"/>
              </a:rPr>
              <a:t> </a:t>
            </a:r>
            <a:r>
              <a:rPr sz="1950" spc="220" dirty="0">
                <a:solidFill>
                  <a:srgbClr val="231F20"/>
                </a:solidFill>
                <a:latin typeface="Arial"/>
                <a:cs typeface="Arial"/>
              </a:rPr>
              <a:t>its</a:t>
            </a:r>
            <a:r>
              <a:rPr sz="1950" spc="645" dirty="0">
                <a:solidFill>
                  <a:srgbClr val="231F20"/>
                </a:solidFill>
                <a:latin typeface="Arial"/>
                <a:cs typeface="Arial"/>
              </a:rPr>
              <a:t> </a:t>
            </a:r>
            <a:r>
              <a:rPr sz="1950" spc="265" dirty="0">
                <a:solidFill>
                  <a:srgbClr val="0000FF"/>
                </a:solidFill>
                <a:latin typeface="Arial"/>
                <a:cs typeface="Arial"/>
              </a:rPr>
              <a:t>Examiner	</a:t>
            </a:r>
            <a:r>
              <a:rPr sz="1950" spc="40" dirty="0">
                <a:solidFill>
                  <a:srgbClr val="231F20"/>
                </a:solidFill>
                <a:latin typeface="Arial"/>
                <a:cs typeface="Arial"/>
              </a:rPr>
              <a:t>is </a:t>
            </a:r>
            <a:r>
              <a:rPr sz="1950" spc="114" dirty="0">
                <a:solidFill>
                  <a:srgbClr val="231F20"/>
                </a:solidFill>
                <a:latin typeface="Arial"/>
                <a:cs typeface="Arial"/>
              </a:rPr>
              <a:t>sound </a:t>
            </a:r>
            <a:r>
              <a:rPr sz="1950" spc="220" dirty="0">
                <a:solidFill>
                  <a:srgbClr val="231F20"/>
                </a:solidFill>
                <a:latin typeface="Arial"/>
                <a:cs typeface="Arial"/>
              </a:rPr>
              <a:t>but</a:t>
            </a:r>
            <a:r>
              <a:rPr sz="1950" spc="640" dirty="0">
                <a:solidFill>
                  <a:srgbClr val="231F20"/>
                </a:solidFill>
                <a:latin typeface="Arial"/>
                <a:cs typeface="Arial"/>
              </a:rPr>
              <a:t> </a:t>
            </a:r>
            <a:r>
              <a:rPr sz="1950" spc="220" dirty="0">
                <a:solidFill>
                  <a:srgbClr val="231F20"/>
                </a:solidFill>
                <a:latin typeface="Arial"/>
                <a:cs typeface="Arial"/>
              </a:rPr>
              <a:t>not</a:t>
            </a:r>
            <a:r>
              <a:rPr sz="1950" spc="265" dirty="0">
                <a:solidFill>
                  <a:srgbClr val="231F20"/>
                </a:solidFill>
                <a:latin typeface="Arial"/>
                <a:cs typeface="Arial"/>
              </a:rPr>
              <a:t> </a:t>
            </a:r>
            <a:r>
              <a:rPr sz="1950" spc="145" dirty="0">
                <a:solidFill>
                  <a:srgbClr val="231F20"/>
                </a:solidFill>
                <a:latin typeface="Arial"/>
                <a:cs typeface="Arial"/>
              </a:rPr>
              <a:t>fully </a:t>
            </a:r>
            <a:r>
              <a:rPr sz="1950" spc="70" dirty="0">
                <a:solidFill>
                  <a:srgbClr val="231F20"/>
                </a:solidFill>
                <a:latin typeface="Arial"/>
                <a:cs typeface="Arial"/>
              </a:rPr>
              <a:t> </a:t>
            </a:r>
            <a:r>
              <a:rPr sz="1950" spc="190" dirty="0">
                <a:solidFill>
                  <a:srgbClr val="231F20"/>
                </a:solidFill>
                <a:latin typeface="Arial"/>
                <a:cs typeface="Arial"/>
              </a:rPr>
              <a:t>automatic</a:t>
            </a:r>
            <a:endParaRPr sz="1950">
              <a:latin typeface="Arial"/>
              <a:cs typeface="Arial"/>
            </a:endParaRPr>
          </a:p>
          <a:p>
            <a:pPr marL="295910" marR="791210" indent="-283845">
              <a:lnSpc>
                <a:spcPct val="125000"/>
              </a:lnSpc>
              <a:spcBef>
                <a:spcPts val="414"/>
              </a:spcBef>
              <a:tabLst>
                <a:tab pos="3422015" algn="l"/>
              </a:tabLst>
            </a:pPr>
            <a:r>
              <a:rPr sz="1950" spc="295" dirty="0">
                <a:solidFill>
                  <a:srgbClr val="0000FF"/>
                </a:solidFill>
                <a:latin typeface="Arial"/>
                <a:cs typeface="Arial"/>
              </a:rPr>
              <a:t>Abstract </a:t>
            </a:r>
            <a:r>
              <a:rPr sz="1950" spc="655" dirty="0">
                <a:solidFill>
                  <a:srgbClr val="0000FF"/>
                </a:solidFill>
                <a:latin typeface="Arial"/>
                <a:cs typeface="Arial"/>
              </a:rPr>
              <a:t> </a:t>
            </a:r>
            <a:r>
              <a:rPr sz="1950" spc="260" dirty="0">
                <a:solidFill>
                  <a:srgbClr val="0000FF"/>
                </a:solidFill>
                <a:latin typeface="Arial"/>
                <a:cs typeface="Arial"/>
              </a:rPr>
              <a:t>Interpretation	</a:t>
            </a:r>
            <a:r>
              <a:rPr sz="1950" spc="150" dirty="0">
                <a:solidFill>
                  <a:srgbClr val="231F20"/>
                </a:solidFill>
                <a:latin typeface="Arial"/>
                <a:cs typeface="Arial"/>
              </a:rPr>
              <a:t>(e.g., </a:t>
            </a:r>
            <a:r>
              <a:rPr sz="1950" spc="130" dirty="0">
                <a:solidFill>
                  <a:srgbClr val="FF0000"/>
                </a:solidFill>
                <a:latin typeface="Arial"/>
                <a:cs typeface="Arial"/>
              </a:rPr>
              <a:t>PolySpace</a:t>
            </a:r>
            <a:r>
              <a:rPr sz="1950" spc="130" dirty="0">
                <a:solidFill>
                  <a:srgbClr val="231F20"/>
                </a:solidFill>
                <a:latin typeface="Arial"/>
                <a:cs typeface="Arial"/>
              </a:rPr>
              <a:t>) </a:t>
            </a:r>
            <a:r>
              <a:rPr sz="1950" spc="40" dirty="0">
                <a:solidFill>
                  <a:srgbClr val="231F20"/>
                </a:solidFill>
                <a:latin typeface="Arial"/>
                <a:cs typeface="Arial"/>
              </a:rPr>
              <a:t>is</a:t>
            </a:r>
            <a:r>
              <a:rPr sz="1950" spc="555" dirty="0">
                <a:solidFill>
                  <a:srgbClr val="231F20"/>
                </a:solidFill>
                <a:latin typeface="Arial"/>
                <a:cs typeface="Arial"/>
              </a:rPr>
              <a:t> </a:t>
            </a:r>
            <a:r>
              <a:rPr sz="1950" spc="114" dirty="0">
                <a:solidFill>
                  <a:srgbClr val="231F20"/>
                </a:solidFill>
                <a:latin typeface="Arial"/>
                <a:cs typeface="Arial"/>
              </a:rPr>
              <a:t>sound</a:t>
            </a:r>
            <a:r>
              <a:rPr sz="1950" spc="275" dirty="0">
                <a:solidFill>
                  <a:srgbClr val="231F20"/>
                </a:solidFill>
                <a:latin typeface="Arial"/>
                <a:cs typeface="Arial"/>
              </a:rPr>
              <a:t> </a:t>
            </a:r>
            <a:r>
              <a:rPr sz="1950" spc="220" dirty="0">
                <a:solidFill>
                  <a:srgbClr val="231F20"/>
                </a:solidFill>
                <a:latin typeface="Arial"/>
                <a:cs typeface="Arial"/>
              </a:rPr>
              <a:t>but </a:t>
            </a:r>
            <a:r>
              <a:rPr sz="1950" spc="350" dirty="0">
                <a:solidFill>
                  <a:srgbClr val="231F20"/>
                </a:solidFill>
                <a:latin typeface="Arial"/>
                <a:cs typeface="Arial"/>
              </a:rPr>
              <a:t> </a:t>
            </a:r>
            <a:r>
              <a:rPr sz="1950" spc="145" dirty="0">
                <a:solidFill>
                  <a:srgbClr val="231F20"/>
                </a:solidFill>
                <a:latin typeface="Arial"/>
                <a:cs typeface="Arial"/>
              </a:rPr>
              <a:t>incomplete, </a:t>
            </a:r>
            <a:r>
              <a:rPr sz="1950" spc="130" dirty="0">
                <a:solidFill>
                  <a:srgbClr val="231F20"/>
                </a:solidFill>
                <a:latin typeface="Arial"/>
                <a:cs typeface="Arial"/>
              </a:rPr>
              <a:t>and </a:t>
            </a:r>
            <a:r>
              <a:rPr sz="1950" spc="145" dirty="0">
                <a:solidFill>
                  <a:srgbClr val="231F20"/>
                </a:solidFill>
                <a:latin typeface="Arial"/>
                <a:cs typeface="Arial"/>
              </a:rPr>
              <a:t>may </a:t>
            </a:r>
            <a:r>
              <a:rPr sz="1950" spc="220" dirty="0">
                <a:solidFill>
                  <a:srgbClr val="231F20"/>
                </a:solidFill>
                <a:latin typeface="Arial"/>
                <a:cs typeface="Arial"/>
              </a:rPr>
              <a:t>not</a:t>
            </a:r>
            <a:r>
              <a:rPr sz="1950" spc="715" dirty="0">
                <a:solidFill>
                  <a:srgbClr val="231F20"/>
                </a:solidFill>
                <a:latin typeface="Arial"/>
                <a:cs typeface="Arial"/>
              </a:rPr>
              <a:t> </a:t>
            </a:r>
            <a:r>
              <a:rPr sz="1950" spc="170" dirty="0">
                <a:solidFill>
                  <a:srgbClr val="231F20"/>
                </a:solidFill>
                <a:latin typeface="Arial"/>
                <a:cs typeface="Arial"/>
              </a:rPr>
              <a:t>terminate</a:t>
            </a:r>
            <a:endParaRPr sz="1950">
              <a:latin typeface="Arial"/>
              <a:cs typeface="Arial"/>
            </a:endParaRPr>
          </a:p>
          <a:p>
            <a:pPr marL="736600" indent="-288290">
              <a:lnSpc>
                <a:spcPct val="100000"/>
              </a:lnSpc>
              <a:spcBef>
                <a:spcPts val="994"/>
              </a:spcBef>
              <a:buClr>
                <a:srgbClr val="231F20"/>
              </a:buClr>
              <a:buSzPct val="105128"/>
              <a:buFont typeface="Lucida Sans Unicode"/>
              <a:buChar char="•"/>
              <a:tabLst>
                <a:tab pos="737235" algn="l"/>
              </a:tabLst>
            </a:pPr>
            <a:r>
              <a:rPr sz="1950" spc="25" dirty="0">
                <a:solidFill>
                  <a:srgbClr val="FF0000"/>
                </a:solidFill>
                <a:latin typeface="Arial"/>
                <a:cs typeface="Arial"/>
              </a:rPr>
              <a:t>Astr´ee </a:t>
            </a:r>
            <a:r>
              <a:rPr sz="1950" spc="40" dirty="0">
                <a:solidFill>
                  <a:srgbClr val="231F20"/>
                </a:solidFill>
                <a:latin typeface="Arial"/>
                <a:cs typeface="Arial"/>
              </a:rPr>
              <a:t>is </a:t>
            </a:r>
            <a:r>
              <a:rPr sz="1950" spc="145" dirty="0">
                <a:solidFill>
                  <a:srgbClr val="231F20"/>
                </a:solidFill>
                <a:latin typeface="Arial"/>
                <a:cs typeface="Arial"/>
              </a:rPr>
              <a:t>pragmatically </a:t>
            </a:r>
            <a:r>
              <a:rPr sz="1950" spc="150" dirty="0">
                <a:solidFill>
                  <a:srgbClr val="231F20"/>
                </a:solidFill>
                <a:latin typeface="Arial"/>
                <a:cs typeface="Arial"/>
              </a:rPr>
              <a:t>complete </a:t>
            </a:r>
            <a:r>
              <a:rPr sz="1950" spc="155" dirty="0">
                <a:solidFill>
                  <a:srgbClr val="231F20"/>
                </a:solidFill>
                <a:latin typeface="Arial"/>
                <a:cs typeface="Arial"/>
              </a:rPr>
              <a:t>for </a:t>
            </a:r>
            <a:r>
              <a:rPr sz="1950" spc="145" dirty="0">
                <a:solidFill>
                  <a:srgbClr val="231F20"/>
                </a:solidFill>
                <a:latin typeface="Arial"/>
                <a:cs typeface="Arial"/>
              </a:rPr>
              <a:t>its </a:t>
            </a:r>
            <a:r>
              <a:rPr sz="1950" spc="495" dirty="0">
                <a:solidFill>
                  <a:srgbClr val="231F20"/>
                </a:solidFill>
                <a:latin typeface="Arial"/>
                <a:cs typeface="Arial"/>
              </a:rPr>
              <a:t> </a:t>
            </a:r>
            <a:r>
              <a:rPr sz="1950" spc="160" dirty="0">
                <a:solidFill>
                  <a:srgbClr val="231F20"/>
                </a:solidFill>
                <a:latin typeface="Arial"/>
                <a:cs typeface="Arial"/>
              </a:rPr>
              <a:t>domain</a:t>
            </a:r>
            <a:endParaRPr sz="1950">
              <a:latin typeface="Arial"/>
              <a:cs typeface="Arial"/>
            </a:endParaRPr>
          </a:p>
          <a:p>
            <a:pPr marL="295910" marR="5080" indent="-283845">
              <a:lnSpc>
                <a:spcPct val="125000"/>
              </a:lnSpc>
              <a:spcBef>
                <a:spcPts val="414"/>
              </a:spcBef>
              <a:tabLst>
                <a:tab pos="2636520" algn="l"/>
                <a:tab pos="3371215" algn="l"/>
              </a:tabLst>
            </a:pPr>
            <a:r>
              <a:rPr sz="1950" spc="295" dirty="0">
                <a:solidFill>
                  <a:srgbClr val="0000FF"/>
                </a:solidFill>
                <a:latin typeface="Arial"/>
                <a:cs typeface="Arial"/>
              </a:rPr>
              <a:t>Pattern </a:t>
            </a:r>
            <a:r>
              <a:rPr sz="1950" spc="680" dirty="0">
                <a:solidFill>
                  <a:srgbClr val="0000FF"/>
                </a:solidFill>
                <a:latin typeface="Arial"/>
                <a:cs typeface="Arial"/>
              </a:rPr>
              <a:t> </a:t>
            </a:r>
            <a:r>
              <a:rPr sz="1950" spc="260" dirty="0">
                <a:solidFill>
                  <a:srgbClr val="0000FF"/>
                </a:solidFill>
                <a:latin typeface="Arial"/>
                <a:cs typeface="Arial"/>
              </a:rPr>
              <a:t>matchers	</a:t>
            </a:r>
            <a:r>
              <a:rPr sz="1950" spc="150" dirty="0">
                <a:solidFill>
                  <a:srgbClr val="231F20"/>
                </a:solidFill>
                <a:latin typeface="Arial"/>
                <a:cs typeface="Arial"/>
              </a:rPr>
              <a:t>(e.g.	</a:t>
            </a:r>
            <a:r>
              <a:rPr sz="1950" spc="215" dirty="0">
                <a:solidFill>
                  <a:srgbClr val="FF0000"/>
                </a:solidFill>
                <a:latin typeface="Arial"/>
                <a:cs typeface="Arial"/>
              </a:rPr>
              <a:t>Lint</a:t>
            </a:r>
            <a:r>
              <a:rPr sz="1950" spc="215" dirty="0">
                <a:solidFill>
                  <a:srgbClr val="231F20"/>
                </a:solidFill>
                <a:latin typeface="Arial"/>
                <a:cs typeface="Arial"/>
              </a:rPr>
              <a:t>, </a:t>
            </a:r>
            <a:r>
              <a:rPr sz="1950" spc="160" dirty="0">
                <a:solidFill>
                  <a:srgbClr val="FF0000"/>
                </a:solidFill>
                <a:latin typeface="Arial"/>
                <a:cs typeface="Arial"/>
              </a:rPr>
              <a:t>Findbugs</a:t>
            </a:r>
            <a:r>
              <a:rPr sz="1950" spc="160" dirty="0">
                <a:solidFill>
                  <a:srgbClr val="231F20"/>
                </a:solidFill>
                <a:latin typeface="Arial"/>
                <a:cs typeface="Arial"/>
              </a:rPr>
              <a:t>) </a:t>
            </a:r>
            <a:r>
              <a:rPr sz="1950" spc="65" dirty="0">
                <a:solidFill>
                  <a:srgbClr val="231F20"/>
                </a:solidFill>
                <a:latin typeface="Arial"/>
                <a:cs typeface="Arial"/>
              </a:rPr>
              <a:t>are </a:t>
            </a:r>
            <a:r>
              <a:rPr sz="1950" spc="220" dirty="0">
                <a:solidFill>
                  <a:srgbClr val="231F20"/>
                </a:solidFill>
                <a:latin typeface="Arial"/>
                <a:cs typeface="Arial"/>
              </a:rPr>
              <a:t>not</a:t>
            </a:r>
            <a:r>
              <a:rPr sz="1950" spc="650" dirty="0">
                <a:solidFill>
                  <a:srgbClr val="231F20"/>
                </a:solidFill>
                <a:latin typeface="Arial"/>
                <a:cs typeface="Arial"/>
              </a:rPr>
              <a:t> </a:t>
            </a:r>
            <a:r>
              <a:rPr sz="1950" spc="75" dirty="0">
                <a:solidFill>
                  <a:srgbClr val="231F20"/>
                </a:solidFill>
                <a:latin typeface="Arial"/>
                <a:cs typeface="Arial"/>
              </a:rPr>
              <a:t>based</a:t>
            </a:r>
            <a:r>
              <a:rPr sz="1950" spc="270" dirty="0">
                <a:solidFill>
                  <a:srgbClr val="231F20"/>
                </a:solidFill>
                <a:latin typeface="Arial"/>
                <a:cs typeface="Arial"/>
              </a:rPr>
              <a:t> </a:t>
            </a:r>
            <a:r>
              <a:rPr sz="1950" spc="155" dirty="0">
                <a:solidFill>
                  <a:srgbClr val="231F20"/>
                </a:solidFill>
                <a:latin typeface="Arial"/>
                <a:cs typeface="Arial"/>
              </a:rPr>
              <a:t>on </a:t>
            </a:r>
            <a:r>
              <a:rPr sz="1950" spc="75" dirty="0">
                <a:solidFill>
                  <a:srgbClr val="231F20"/>
                </a:solidFill>
                <a:latin typeface="Arial"/>
                <a:cs typeface="Arial"/>
              </a:rPr>
              <a:t> </a:t>
            </a:r>
            <a:r>
              <a:rPr sz="1950" spc="120" dirty="0">
                <a:solidFill>
                  <a:srgbClr val="231F20"/>
                </a:solidFill>
                <a:latin typeface="Arial"/>
                <a:cs typeface="Arial"/>
              </a:rPr>
              <a:t>semantics </a:t>
            </a:r>
            <a:r>
              <a:rPr sz="1950" spc="185" dirty="0">
                <a:solidFill>
                  <a:srgbClr val="231F20"/>
                </a:solidFill>
                <a:latin typeface="Arial"/>
                <a:cs typeface="Arial"/>
              </a:rPr>
              <a:t>of </a:t>
            </a:r>
            <a:r>
              <a:rPr sz="1950" spc="160" dirty="0">
                <a:solidFill>
                  <a:srgbClr val="231F20"/>
                </a:solidFill>
                <a:latin typeface="Arial"/>
                <a:cs typeface="Arial"/>
              </a:rPr>
              <a:t>program </a:t>
            </a:r>
            <a:r>
              <a:rPr sz="1950" spc="135" dirty="0">
                <a:solidFill>
                  <a:srgbClr val="231F20"/>
                </a:solidFill>
                <a:latin typeface="Arial"/>
                <a:cs typeface="Arial"/>
              </a:rPr>
              <a:t>execution, </a:t>
            </a:r>
            <a:r>
              <a:rPr sz="1950" spc="140" dirty="0">
                <a:solidFill>
                  <a:srgbClr val="231F20"/>
                </a:solidFill>
                <a:latin typeface="Arial"/>
                <a:cs typeface="Arial"/>
              </a:rPr>
              <a:t>neither </a:t>
            </a:r>
            <a:r>
              <a:rPr sz="1950" spc="114" dirty="0">
                <a:solidFill>
                  <a:srgbClr val="231F20"/>
                </a:solidFill>
                <a:latin typeface="Arial"/>
                <a:cs typeface="Arial"/>
              </a:rPr>
              <a:t>sound </a:t>
            </a:r>
            <a:r>
              <a:rPr sz="1950" spc="135" dirty="0">
                <a:solidFill>
                  <a:srgbClr val="231F20"/>
                </a:solidFill>
                <a:latin typeface="Arial"/>
                <a:cs typeface="Arial"/>
              </a:rPr>
              <a:t>nor </a:t>
            </a:r>
            <a:r>
              <a:rPr sz="1950" spc="440" dirty="0">
                <a:solidFill>
                  <a:srgbClr val="231F20"/>
                </a:solidFill>
                <a:latin typeface="Arial"/>
                <a:cs typeface="Arial"/>
              </a:rPr>
              <a:t> </a:t>
            </a:r>
            <a:r>
              <a:rPr sz="1950" spc="150" dirty="0">
                <a:solidFill>
                  <a:srgbClr val="231F20"/>
                </a:solidFill>
                <a:latin typeface="Arial"/>
                <a:cs typeface="Arial"/>
              </a:rPr>
              <a:t>complete</a:t>
            </a:r>
            <a:endParaRPr sz="1950">
              <a:latin typeface="Arial"/>
              <a:cs typeface="Arial"/>
            </a:endParaRPr>
          </a:p>
          <a:p>
            <a:pPr marL="736600" indent="-288290">
              <a:lnSpc>
                <a:spcPct val="100000"/>
              </a:lnSpc>
              <a:spcBef>
                <a:spcPts val="994"/>
              </a:spcBef>
              <a:buSzPct val="105128"/>
              <a:buFont typeface="Lucida Sans Unicode"/>
              <a:buChar char="•"/>
              <a:tabLst>
                <a:tab pos="737235" algn="l"/>
              </a:tabLst>
            </a:pPr>
            <a:r>
              <a:rPr sz="1950" spc="275" dirty="0">
                <a:solidFill>
                  <a:srgbClr val="231F20"/>
                </a:solidFill>
                <a:latin typeface="Arial"/>
                <a:cs typeface="Arial"/>
              </a:rPr>
              <a:t>But </a:t>
            </a:r>
            <a:r>
              <a:rPr sz="1950" spc="145" dirty="0">
                <a:solidFill>
                  <a:srgbClr val="231F20"/>
                </a:solidFill>
                <a:latin typeface="Arial"/>
                <a:cs typeface="Arial"/>
              </a:rPr>
              <a:t>pragmatically </a:t>
            </a:r>
            <a:r>
              <a:rPr sz="1950" spc="120" dirty="0">
                <a:solidFill>
                  <a:srgbClr val="231F20"/>
                </a:solidFill>
                <a:latin typeface="Arial"/>
                <a:cs typeface="Arial"/>
              </a:rPr>
              <a:t>effective </a:t>
            </a:r>
            <a:r>
              <a:rPr sz="1950" spc="155" dirty="0">
                <a:solidFill>
                  <a:srgbClr val="231F20"/>
                </a:solidFill>
                <a:latin typeface="Arial"/>
                <a:cs typeface="Arial"/>
              </a:rPr>
              <a:t>for bug</a:t>
            </a:r>
            <a:r>
              <a:rPr sz="1950" spc="730" dirty="0">
                <a:solidFill>
                  <a:srgbClr val="231F20"/>
                </a:solidFill>
                <a:latin typeface="Arial"/>
                <a:cs typeface="Arial"/>
              </a:rPr>
              <a:t> </a:t>
            </a:r>
            <a:r>
              <a:rPr sz="1950" spc="150" dirty="0">
                <a:solidFill>
                  <a:srgbClr val="231F20"/>
                </a:solidFill>
                <a:latin typeface="Arial"/>
                <a:cs typeface="Arial"/>
              </a:rPr>
              <a:t>finding</a:t>
            </a:r>
            <a:endParaRPr sz="1950">
              <a:latin typeface="Arial"/>
              <a:cs typeface="Arial"/>
            </a:endParaRPr>
          </a:p>
          <a:p>
            <a:pPr marL="295910" marR="807085" indent="-283845">
              <a:lnSpc>
                <a:spcPct val="125000"/>
              </a:lnSpc>
              <a:spcBef>
                <a:spcPts val="409"/>
              </a:spcBef>
              <a:tabLst>
                <a:tab pos="2643505" algn="l"/>
              </a:tabLst>
            </a:pPr>
            <a:r>
              <a:rPr sz="1950" spc="270" dirty="0">
                <a:solidFill>
                  <a:srgbClr val="0000FF"/>
                </a:solidFill>
                <a:latin typeface="Arial"/>
                <a:cs typeface="Arial"/>
              </a:rPr>
              <a:t>Commercial </a:t>
            </a:r>
            <a:r>
              <a:rPr sz="1950" spc="715" dirty="0">
                <a:solidFill>
                  <a:srgbClr val="0000FF"/>
                </a:solidFill>
                <a:latin typeface="Arial"/>
                <a:cs typeface="Arial"/>
              </a:rPr>
              <a:t> </a:t>
            </a:r>
            <a:r>
              <a:rPr sz="1950" spc="254" dirty="0">
                <a:solidFill>
                  <a:srgbClr val="0000FF"/>
                </a:solidFill>
                <a:latin typeface="Arial"/>
                <a:cs typeface="Arial"/>
              </a:rPr>
              <a:t>tools	</a:t>
            </a:r>
            <a:r>
              <a:rPr sz="1950" spc="150" dirty="0">
                <a:solidFill>
                  <a:srgbClr val="231F20"/>
                </a:solidFill>
                <a:latin typeface="Arial"/>
                <a:cs typeface="Arial"/>
              </a:rPr>
              <a:t>(e.g., </a:t>
            </a:r>
            <a:r>
              <a:rPr sz="1950" spc="140" dirty="0">
                <a:solidFill>
                  <a:srgbClr val="FF0000"/>
                </a:solidFill>
                <a:latin typeface="Arial"/>
                <a:cs typeface="Arial"/>
              </a:rPr>
              <a:t>Coverity</a:t>
            </a:r>
            <a:r>
              <a:rPr sz="1950" spc="140" dirty="0">
                <a:solidFill>
                  <a:srgbClr val="231F20"/>
                </a:solidFill>
                <a:latin typeface="Arial"/>
                <a:cs typeface="Arial"/>
              </a:rPr>
              <a:t>, </a:t>
            </a:r>
            <a:r>
              <a:rPr sz="1950" spc="140" dirty="0">
                <a:solidFill>
                  <a:srgbClr val="FF0000"/>
                </a:solidFill>
                <a:latin typeface="Arial"/>
                <a:cs typeface="Arial"/>
              </a:rPr>
              <a:t>Code</a:t>
            </a:r>
            <a:r>
              <a:rPr sz="1950" spc="540" dirty="0">
                <a:solidFill>
                  <a:srgbClr val="FF0000"/>
                </a:solidFill>
                <a:latin typeface="Arial"/>
                <a:cs typeface="Arial"/>
              </a:rPr>
              <a:t> </a:t>
            </a:r>
            <a:r>
              <a:rPr sz="1950" spc="120" dirty="0">
                <a:solidFill>
                  <a:srgbClr val="FF0000"/>
                </a:solidFill>
                <a:latin typeface="Arial"/>
                <a:cs typeface="Arial"/>
              </a:rPr>
              <a:t>Sonar</a:t>
            </a:r>
            <a:r>
              <a:rPr sz="1950" spc="120" dirty="0">
                <a:solidFill>
                  <a:srgbClr val="231F20"/>
                </a:solidFill>
                <a:latin typeface="Arial"/>
                <a:cs typeface="Arial"/>
              </a:rPr>
              <a:t>,</a:t>
            </a:r>
            <a:r>
              <a:rPr sz="1950" spc="275" dirty="0">
                <a:solidFill>
                  <a:srgbClr val="231F20"/>
                </a:solidFill>
                <a:latin typeface="Arial"/>
                <a:cs typeface="Arial"/>
              </a:rPr>
              <a:t> </a:t>
            </a:r>
            <a:r>
              <a:rPr sz="1950" spc="175" dirty="0">
                <a:solidFill>
                  <a:srgbClr val="FF0000"/>
                </a:solidFill>
                <a:latin typeface="Arial"/>
                <a:cs typeface="Arial"/>
              </a:rPr>
              <a:t>Fortify</a:t>
            </a:r>
            <a:r>
              <a:rPr sz="1950" spc="175" dirty="0">
                <a:solidFill>
                  <a:srgbClr val="231F20"/>
                </a:solidFill>
                <a:latin typeface="Arial"/>
                <a:cs typeface="Arial"/>
              </a:rPr>
              <a:t>, </a:t>
            </a:r>
            <a:r>
              <a:rPr sz="1950" spc="145" dirty="0">
                <a:solidFill>
                  <a:srgbClr val="231F20"/>
                </a:solidFill>
                <a:latin typeface="Arial"/>
                <a:cs typeface="Arial"/>
              </a:rPr>
              <a:t> </a:t>
            </a:r>
            <a:r>
              <a:rPr sz="1950" spc="195" dirty="0">
                <a:solidFill>
                  <a:srgbClr val="FF0000"/>
                </a:solidFill>
                <a:latin typeface="Arial"/>
                <a:cs typeface="Arial"/>
              </a:rPr>
              <a:t>KlocWork</a:t>
            </a:r>
            <a:r>
              <a:rPr sz="1950" spc="195" dirty="0">
                <a:solidFill>
                  <a:srgbClr val="231F20"/>
                </a:solidFill>
                <a:latin typeface="Arial"/>
                <a:cs typeface="Arial"/>
              </a:rPr>
              <a:t>, </a:t>
            </a:r>
            <a:r>
              <a:rPr sz="1950" spc="295" dirty="0">
                <a:solidFill>
                  <a:srgbClr val="FF0000"/>
                </a:solidFill>
                <a:latin typeface="Arial"/>
                <a:cs typeface="Arial"/>
              </a:rPr>
              <a:t>LDRA</a:t>
            </a:r>
            <a:r>
              <a:rPr sz="1950" spc="295" dirty="0">
                <a:solidFill>
                  <a:srgbClr val="231F20"/>
                </a:solidFill>
                <a:latin typeface="Arial"/>
                <a:cs typeface="Arial"/>
              </a:rPr>
              <a:t>) </a:t>
            </a:r>
            <a:r>
              <a:rPr sz="1950" spc="65" dirty="0">
                <a:solidFill>
                  <a:srgbClr val="231F20"/>
                </a:solidFill>
                <a:latin typeface="Arial"/>
                <a:cs typeface="Arial"/>
              </a:rPr>
              <a:t>are </a:t>
            </a:r>
            <a:r>
              <a:rPr sz="1950" spc="140" dirty="0">
                <a:solidFill>
                  <a:srgbClr val="231F20"/>
                </a:solidFill>
                <a:latin typeface="Arial"/>
                <a:cs typeface="Arial"/>
              </a:rPr>
              <a:t>neither </a:t>
            </a:r>
            <a:r>
              <a:rPr sz="1950" spc="114" dirty="0">
                <a:solidFill>
                  <a:srgbClr val="231F20"/>
                </a:solidFill>
                <a:latin typeface="Arial"/>
                <a:cs typeface="Arial"/>
              </a:rPr>
              <a:t>sound </a:t>
            </a:r>
            <a:r>
              <a:rPr sz="1950" spc="135" dirty="0">
                <a:solidFill>
                  <a:srgbClr val="231F20"/>
                </a:solidFill>
                <a:latin typeface="Arial"/>
                <a:cs typeface="Arial"/>
              </a:rPr>
              <a:t>nor </a:t>
            </a:r>
            <a:r>
              <a:rPr sz="1950" spc="225" dirty="0">
                <a:solidFill>
                  <a:srgbClr val="231F20"/>
                </a:solidFill>
                <a:latin typeface="Arial"/>
                <a:cs typeface="Arial"/>
              </a:rPr>
              <a:t> </a:t>
            </a:r>
            <a:r>
              <a:rPr sz="1950" spc="150" dirty="0">
                <a:solidFill>
                  <a:srgbClr val="231F20"/>
                </a:solidFill>
                <a:latin typeface="Arial"/>
                <a:cs typeface="Arial"/>
              </a:rPr>
              <a:t>complete</a:t>
            </a:r>
            <a:endParaRPr sz="1950">
              <a:latin typeface="Arial"/>
              <a:cs typeface="Arial"/>
            </a:endParaRPr>
          </a:p>
          <a:p>
            <a:pPr marL="736600" indent="-288290">
              <a:lnSpc>
                <a:spcPct val="100000"/>
              </a:lnSpc>
              <a:spcBef>
                <a:spcPts val="994"/>
              </a:spcBef>
              <a:buSzPct val="105128"/>
              <a:buFont typeface="Lucida Sans Unicode"/>
              <a:buChar char="•"/>
              <a:tabLst>
                <a:tab pos="737235" algn="l"/>
              </a:tabLst>
            </a:pPr>
            <a:r>
              <a:rPr sz="1950" spc="160" dirty="0">
                <a:solidFill>
                  <a:srgbClr val="231F20"/>
                </a:solidFill>
                <a:latin typeface="Arial"/>
                <a:cs typeface="Arial"/>
              </a:rPr>
              <a:t>Pragmatically</a:t>
            </a:r>
            <a:r>
              <a:rPr sz="1950" spc="229" dirty="0">
                <a:solidFill>
                  <a:srgbClr val="231F20"/>
                </a:solidFill>
                <a:latin typeface="Arial"/>
                <a:cs typeface="Arial"/>
              </a:rPr>
              <a:t> </a:t>
            </a:r>
            <a:r>
              <a:rPr sz="1950" spc="120" dirty="0">
                <a:solidFill>
                  <a:srgbClr val="231F20"/>
                </a:solidFill>
                <a:latin typeface="Arial"/>
                <a:cs typeface="Arial"/>
              </a:rPr>
              <a:t>effective</a:t>
            </a:r>
            <a:endParaRPr sz="1950">
              <a:latin typeface="Arial"/>
              <a:cs typeface="Arial"/>
            </a:endParaRPr>
          </a:p>
          <a:p>
            <a:pPr marL="736600" marR="669925" indent="-288290">
              <a:lnSpc>
                <a:spcPct val="125000"/>
              </a:lnSpc>
              <a:spcBef>
                <a:spcPts val="204"/>
              </a:spcBef>
              <a:buSzPct val="105128"/>
              <a:buFont typeface="Lucida Sans Unicode"/>
              <a:buChar char="•"/>
              <a:tabLst>
                <a:tab pos="737235" algn="l"/>
              </a:tabLst>
            </a:pPr>
            <a:r>
              <a:rPr sz="1950" spc="170" dirty="0">
                <a:solidFill>
                  <a:srgbClr val="231F20"/>
                </a:solidFill>
                <a:latin typeface="Arial"/>
                <a:cs typeface="Arial"/>
              </a:rPr>
              <a:t>Different </a:t>
            </a:r>
            <a:r>
              <a:rPr sz="1950" spc="160" dirty="0">
                <a:solidFill>
                  <a:srgbClr val="231F20"/>
                </a:solidFill>
                <a:latin typeface="Arial"/>
                <a:cs typeface="Arial"/>
              </a:rPr>
              <a:t>tools </a:t>
            </a:r>
            <a:r>
              <a:rPr sz="1950" spc="45" dirty="0">
                <a:solidFill>
                  <a:srgbClr val="231F20"/>
                </a:solidFill>
                <a:latin typeface="Arial"/>
                <a:cs typeface="Arial"/>
              </a:rPr>
              <a:t>use </a:t>
            </a:r>
            <a:r>
              <a:rPr sz="1950" spc="145" dirty="0">
                <a:solidFill>
                  <a:srgbClr val="231F20"/>
                </a:solidFill>
                <a:latin typeface="Arial"/>
                <a:cs typeface="Arial"/>
              </a:rPr>
              <a:t>different </a:t>
            </a:r>
            <a:r>
              <a:rPr sz="1950" spc="165" dirty="0">
                <a:solidFill>
                  <a:srgbClr val="231F20"/>
                </a:solidFill>
                <a:latin typeface="Arial"/>
                <a:cs typeface="Arial"/>
              </a:rPr>
              <a:t>methods, </a:t>
            </a:r>
            <a:r>
              <a:rPr sz="1950" spc="95" dirty="0">
                <a:solidFill>
                  <a:srgbClr val="231F20"/>
                </a:solidFill>
                <a:latin typeface="Arial"/>
                <a:cs typeface="Arial"/>
              </a:rPr>
              <a:t>have </a:t>
            </a:r>
            <a:r>
              <a:rPr sz="1950" spc="145" dirty="0">
                <a:solidFill>
                  <a:srgbClr val="231F20"/>
                </a:solidFill>
                <a:latin typeface="Arial"/>
                <a:cs typeface="Arial"/>
              </a:rPr>
              <a:t>different  </a:t>
            </a:r>
            <a:r>
              <a:rPr sz="1950" spc="114" dirty="0">
                <a:solidFill>
                  <a:srgbClr val="231F20"/>
                </a:solidFill>
                <a:latin typeface="Arial"/>
                <a:cs typeface="Arial"/>
              </a:rPr>
              <a:t>capabilities, </a:t>
            </a:r>
            <a:r>
              <a:rPr sz="1950" spc="130" dirty="0">
                <a:solidFill>
                  <a:srgbClr val="231F20"/>
                </a:solidFill>
                <a:latin typeface="Arial"/>
                <a:cs typeface="Arial"/>
              </a:rPr>
              <a:t>make </a:t>
            </a:r>
            <a:r>
              <a:rPr sz="1950" spc="145" dirty="0">
                <a:solidFill>
                  <a:srgbClr val="231F20"/>
                </a:solidFill>
                <a:latin typeface="Arial"/>
                <a:cs typeface="Arial"/>
              </a:rPr>
              <a:t>different</a:t>
            </a:r>
            <a:r>
              <a:rPr sz="1950" spc="610" dirty="0">
                <a:solidFill>
                  <a:srgbClr val="231F20"/>
                </a:solidFill>
                <a:latin typeface="Arial"/>
                <a:cs typeface="Arial"/>
              </a:rPr>
              <a:t> </a:t>
            </a:r>
            <a:r>
              <a:rPr sz="1950" spc="140" dirty="0">
                <a:solidFill>
                  <a:srgbClr val="231F20"/>
                </a:solidFill>
                <a:latin typeface="Arial"/>
                <a:cs typeface="Arial"/>
              </a:rPr>
              <a:t>tradeoffs</a:t>
            </a:r>
            <a:endParaRPr sz="1950">
              <a:latin typeface="Arial"/>
              <a:cs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157845" cy="3021330"/>
          </a:xfrm>
          <a:prstGeom prst="rect">
            <a:avLst/>
          </a:prstGeom>
        </p:spPr>
        <p:txBody>
          <a:bodyPr vert="horz" wrap="square" lIns="0" tIns="0" rIns="0" bIns="0" rtlCol="0">
            <a:spAutoFit/>
          </a:bodyPr>
          <a:lstStyle/>
          <a:p>
            <a:pPr marL="2756535">
              <a:lnSpc>
                <a:spcPct val="100000"/>
              </a:lnSpc>
            </a:pPr>
            <a:r>
              <a:rPr sz="1950" spc="250" dirty="0">
                <a:solidFill>
                  <a:srgbClr val="231F20"/>
                </a:solidFill>
                <a:latin typeface="Arial"/>
                <a:cs typeface="Arial"/>
              </a:rPr>
              <a:t>Properties</a:t>
            </a:r>
            <a:r>
              <a:rPr sz="1950" spc="290" dirty="0">
                <a:solidFill>
                  <a:srgbClr val="231F20"/>
                </a:solidFill>
                <a:latin typeface="Arial"/>
                <a:cs typeface="Arial"/>
              </a:rPr>
              <a:t> </a:t>
            </a:r>
            <a:r>
              <a:rPr sz="1950" spc="229" dirty="0">
                <a:solidFill>
                  <a:srgbClr val="231F20"/>
                </a:solidFill>
                <a:latin typeface="Arial"/>
                <a:cs typeface="Arial"/>
              </a:rPr>
              <a:t>Checked</a:t>
            </a:r>
            <a:endParaRPr sz="1950">
              <a:latin typeface="Arial"/>
              <a:cs typeface="Arial"/>
            </a:endParaRPr>
          </a:p>
          <a:p>
            <a:pPr>
              <a:lnSpc>
                <a:spcPct val="100000"/>
              </a:lnSpc>
              <a:spcBef>
                <a:spcPts val="35"/>
              </a:spcBef>
            </a:pPr>
            <a:endParaRPr sz="1550">
              <a:latin typeface="Times New Roman"/>
              <a:cs typeface="Times New Roman"/>
            </a:endParaRPr>
          </a:p>
          <a:p>
            <a:pPr marL="300990" indent="-288290">
              <a:lnSpc>
                <a:spcPct val="100000"/>
              </a:lnSpc>
              <a:buSzPct val="105128"/>
              <a:buFont typeface="Lucida Sans Unicode"/>
              <a:buChar char="•"/>
              <a:tabLst>
                <a:tab pos="301625" algn="l"/>
              </a:tabLst>
            </a:pPr>
            <a:r>
              <a:rPr sz="1950" spc="250" dirty="0">
                <a:solidFill>
                  <a:srgbClr val="231F20"/>
                </a:solidFill>
                <a:latin typeface="Arial"/>
                <a:cs typeface="Arial"/>
              </a:rPr>
              <a:t>The </a:t>
            </a:r>
            <a:r>
              <a:rPr sz="1950" spc="125" dirty="0">
                <a:solidFill>
                  <a:srgbClr val="231F20"/>
                </a:solidFill>
                <a:latin typeface="Arial"/>
                <a:cs typeface="Arial"/>
              </a:rPr>
              <a:t>properties </a:t>
            </a:r>
            <a:r>
              <a:rPr sz="1950" spc="100" dirty="0">
                <a:solidFill>
                  <a:srgbClr val="231F20"/>
                </a:solidFill>
                <a:latin typeface="Arial"/>
                <a:cs typeface="Arial"/>
              </a:rPr>
              <a:t>checked </a:t>
            </a:r>
            <a:r>
              <a:rPr sz="1950" spc="65" dirty="0">
                <a:solidFill>
                  <a:srgbClr val="231F20"/>
                </a:solidFill>
                <a:latin typeface="Arial"/>
                <a:cs typeface="Arial"/>
              </a:rPr>
              <a:t>are </a:t>
            </a:r>
            <a:r>
              <a:rPr sz="1950" spc="100" dirty="0">
                <a:solidFill>
                  <a:srgbClr val="231F20"/>
                </a:solidFill>
                <a:latin typeface="Arial"/>
                <a:cs typeface="Arial"/>
              </a:rPr>
              <a:t>usually </a:t>
            </a:r>
            <a:r>
              <a:rPr sz="1950" spc="225" dirty="0">
                <a:solidFill>
                  <a:srgbClr val="231F20"/>
                </a:solidFill>
                <a:latin typeface="Arial"/>
                <a:cs typeface="Arial"/>
              </a:rPr>
              <a:t> </a:t>
            </a:r>
            <a:r>
              <a:rPr sz="1950" spc="170" dirty="0">
                <a:solidFill>
                  <a:srgbClr val="0000FF"/>
                </a:solidFill>
                <a:latin typeface="Arial"/>
                <a:cs typeface="Arial"/>
              </a:rPr>
              <a:t>implicit</a:t>
            </a:r>
            <a:endParaRPr sz="1950">
              <a:latin typeface="Arial"/>
              <a:cs typeface="Arial"/>
            </a:endParaRPr>
          </a:p>
          <a:p>
            <a:pPr marL="741680" marR="594360" lvl="1" indent="-288290">
              <a:lnSpc>
                <a:spcPct val="125000"/>
              </a:lnSpc>
              <a:spcBef>
                <a:spcPts val="480"/>
              </a:spcBef>
              <a:buSzPct val="105128"/>
              <a:buFont typeface="Lucida Sans Unicode"/>
              <a:buChar char="◦"/>
              <a:tabLst>
                <a:tab pos="742315" algn="l"/>
              </a:tabLst>
            </a:pPr>
            <a:r>
              <a:rPr sz="1950" spc="114" dirty="0">
                <a:solidFill>
                  <a:srgbClr val="231F20"/>
                </a:solidFill>
                <a:latin typeface="Arial"/>
                <a:cs typeface="Arial"/>
              </a:rPr>
              <a:t>e.g., </a:t>
            </a:r>
            <a:r>
              <a:rPr sz="1950" spc="130" dirty="0">
                <a:solidFill>
                  <a:srgbClr val="231F20"/>
                </a:solidFill>
                <a:latin typeface="Arial"/>
                <a:cs typeface="Arial"/>
              </a:rPr>
              <a:t>uninitialized </a:t>
            </a:r>
            <a:r>
              <a:rPr sz="1950" spc="90" dirty="0">
                <a:solidFill>
                  <a:srgbClr val="231F20"/>
                </a:solidFill>
                <a:latin typeface="Arial"/>
                <a:cs typeface="Arial"/>
              </a:rPr>
              <a:t>variables, </a:t>
            </a:r>
            <a:r>
              <a:rPr sz="1950" spc="110" dirty="0">
                <a:solidFill>
                  <a:srgbClr val="231F20"/>
                </a:solidFill>
                <a:latin typeface="Arial"/>
                <a:cs typeface="Arial"/>
              </a:rPr>
              <a:t>divide </a:t>
            </a:r>
            <a:r>
              <a:rPr sz="1950" spc="105" dirty="0">
                <a:solidFill>
                  <a:srgbClr val="231F20"/>
                </a:solidFill>
                <a:latin typeface="Arial"/>
                <a:cs typeface="Arial"/>
              </a:rPr>
              <a:t>by zero </a:t>
            </a:r>
            <a:r>
              <a:rPr sz="1950" spc="175" dirty="0">
                <a:solidFill>
                  <a:srgbClr val="231F20"/>
                </a:solidFill>
                <a:latin typeface="Arial"/>
                <a:cs typeface="Arial"/>
              </a:rPr>
              <a:t>(and </a:t>
            </a:r>
            <a:r>
              <a:rPr sz="1950" spc="170" dirty="0">
                <a:solidFill>
                  <a:srgbClr val="231F20"/>
                </a:solidFill>
                <a:latin typeface="Arial"/>
                <a:cs typeface="Arial"/>
              </a:rPr>
              <a:t>other  </a:t>
            </a:r>
            <a:r>
              <a:rPr sz="1950" spc="135" dirty="0">
                <a:solidFill>
                  <a:srgbClr val="231F20"/>
                </a:solidFill>
                <a:latin typeface="Arial"/>
                <a:cs typeface="Arial"/>
              </a:rPr>
              <a:t>exceptions), null </a:t>
            </a:r>
            <a:r>
              <a:rPr sz="1950" spc="165" dirty="0">
                <a:solidFill>
                  <a:srgbClr val="231F20"/>
                </a:solidFill>
                <a:latin typeface="Arial"/>
                <a:cs typeface="Arial"/>
              </a:rPr>
              <a:t>pointer </a:t>
            </a:r>
            <a:r>
              <a:rPr sz="1950" spc="100" dirty="0">
                <a:solidFill>
                  <a:srgbClr val="231F20"/>
                </a:solidFill>
                <a:latin typeface="Arial"/>
                <a:cs typeface="Arial"/>
              </a:rPr>
              <a:t>dereference, </a:t>
            </a:r>
            <a:r>
              <a:rPr sz="1950" spc="140" dirty="0">
                <a:solidFill>
                  <a:srgbClr val="231F20"/>
                </a:solidFill>
                <a:latin typeface="Arial"/>
                <a:cs typeface="Arial"/>
              </a:rPr>
              <a:t>buffer </a:t>
            </a:r>
            <a:r>
              <a:rPr sz="1950" spc="180" dirty="0">
                <a:solidFill>
                  <a:srgbClr val="231F20"/>
                </a:solidFill>
                <a:latin typeface="Arial"/>
                <a:cs typeface="Arial"/>
              </a:rPr>
              <a:t> </a:t>
            </a:r>
            <a:r>
              <a:rPr sz="1950" spc="135" dirty="0">
                <a:solidFill>
                  <a:srgbClr val="231F20"/>
                </a:solidFill>
                <a:latin typeface="Arial"/>
                <a:cs typeface="Arial"/>
              </a:rPr>
              <a:t>overrun</a:t>
            </a:r>
            <a:endParaRPr sz="1950">
              <a:latin typeface="Arial"/>
              <a:cs typeface="Arial"/>
            </a:endParaRPr>
          </a:p>
          <a:p>
            <a:pPr lvl="1">
              <a:lnSpc>
                <a:spcPct val="100000"/>
              </a:lnSpc>
              <a:spcBef>
                <a:spcPts val="36"/>
              </a:spcBef>
              <a:buClr>
                <a:srgbClr val="231F20"/>
              </a:buClr>
              <a:buFont typeface="Lucida Sans Unicode"/>
              <a:buChar char="◦"/>
            </a:pPr>
            <a:endParaRPr sz="1550">
              <a:latin typeface="Times New Roman"/>
              <a:cs typeface="Times New Roman"/>
            </a:endParaRPr>
          </a:p>
          <a:p>
            <a:pPr marL="300990" indent="-288290">
              <a:lnSpc>
                <a:spcPct val="100000"/>
              </a:lnSpc>
              <a:buSzPct val="105128"/>
              <a:buFont typeface="Lucida Sans Unicode"/>
              <a:buChar char="•"/>
              <a:tabLst>
                <a:tab pos="301625" algn="l"/>
              </a:tabLst>
            </a:pPr>
            <a:r>
              <a:rPr sz="1950" spc="204" dirty="0">
                <a:solidFill>
                  <a:srgbClr val="231F20"/>
                </a:solidFill>
                <a:latin typeface="Arial"/>
                <a:cs typeface="Arial"/>
              </a:rPr>
              <a:t>Much </a:t>
            </a:r>
            <a:r>
              <a:rPr sz="1950" spc="185" dirty="0">
                <a:solidFill>
                  <a:srgbClr val="231F20"/>
                </a:solidFill>
                <a:latin typeface="Arial"/>
                <a:cs typeface="Arial"/>
              </a:rPr>
              <a:t>of </a:t>
            </a:r>
            <a:r>
              <a:rPr sz="1950" spc="145" dirty="0">
                <a:solidFill>
                  <a:srgbClr val="231F20"/>
                </a:solidFill>
                <a:latin typeface="Arial"/>
                <a:cs typeface="Arial"/>
              </a:rPr>
              <a:t>this </a:t>
            </a:r>
            <a:r>
              <a:rPr sz="1950" spc="40" dirty="0">
                <a:solidFill>
                  <a:srgbClr val="231F20"/>
                </a:solidFill>
                <a:latin typeface="Arial"/>
                <a:cs typeface="Arial"/>
              </a:rPr>
              <a:t>is </a:t>
            </a:r>
            <a:r>
              <a:rPr sz="1950" spc="150" dirty="0">
                <a:solidFill>
                  <a:srgbClr val="231F20"/>
                </a:solidFill>
                <a:latin typeface="Arial"/>
                <a:cs typeface="Arial"/>
              </a:rPr>
              <a:t>compensating </a:t>
            </a:r>
            <a:r>
              <a:rPr sz="1950" spc="155" dirty="0">
                <a:solidFill>
                  <a:srgbClr val="231F20"/>
                </a:solidFill>
                <a:latin typeface="Arial"/>
                <a:cs typeface="Arial"/>
              </a:rPr>
              <a:t>for </a:t>
            </a:r>
            <a:r>
              <a:rPr sz="1950" spc="90" dirty="0">
                <a:solidFill>
                  <a:srgbClr val="231F20"/>
                </a:solidFill>
                <a:latin typeface="Arial"/>
                <a:cs typeface="Arial"/>
              </a:rPr>
              <a:t>deficiencies </a:t>
            </a:r>
            <a:r>
              <a:rPr sz="1950" spc="185" dirty="0">
                <a:solidFill>
                  <a:srgbClr val="231F20"/>
                </a:solidFill>
                <a:latin typeface="Arial"/>
                <a:cs typeface="Arial"/>
              </a:rPr>
              <a:t>of </a:t>
            </a:r>
            <a:r>
              <a:rPr sz="1950" spc="175" dirty="0">
                <a:solidFill>
                  <a:srgbClr val="231F20"/>
                </a:solidFill>
                <a:latin typeface="Arial"/>
                <a:cs typeface="Arial"/>
              </a:rPr>
              <a:t>C </a:t>
            </a:r>
            <a:r>
              <a:rPr sz="1950" spc="130" dirty="0">
                <a:solidFill>
                  <a:srgbClr val="231F20"/>
                </a:solidFill>
                <a:latin typeface="Arial"/>
                <a:cs typeface="Arial"/>
              </a:rPr>
              <a:t>and  </a:t>
            </a:r>
            <a:r>
              <a:rPr sz="1950" spc="180" dirty="0">
                <a:solidFill>
                  <a:srgbClr val="231F20"/>
                </a:solidFill>
                <a:latin typeface="Arial"/>
                <a:cs typeface="Arial"/>
              </a:rPr>
              <a:t> </a:t>
            </a:r>
            <a:r>
              <a:rPr sz="1950" spc="580" dirty="0">
                <a:solidFill>
                  <a:srgbClr val="231F20"/>
                </a:solidFill>
                <a:latin typeface="Arial"/>
                <a:cs typeface="Arial"/>
              </a:rPr>
              <a:t>C++</a:t>
            </a:r>
            <a:endParaRPr sz="1950">
              <a:latin typeface="Arial"/>
              <a:cs typeface="Arial"/>
            </a:endParaRPr>
          </a:p>
          <a:p>
            <a:pPr marL="741680" lvl="1" indent="-288290">
              <a:lnSpc>
                <a:spcPct val="100000"/>
              </a:lnSpc>
              <a:spcBef>
                <a:spcPts val="1065"/>
              </a:spcBef>
              <a:buSzPct val="105128"/>
              <a:buFont typeface="Lucida Sans Unicode"/>
              <a:buChar char="◦"/>
              <a:tabLst>
                <a:tab pos="742315" algn="l"/>
              </a:tabLst>
            </a:pPr>
            <a:r>
              <a:rPr sz="1950" spc="135" dirty="0">
                <a:solidFill>
                  <a:srgbClr val="231F20"/>
                </a:solidFill>
                <a:latin typeface="Arial"/>
                <a:cs typeface="Arial"/>
              </a:rPr>
              <a:t>Some </a:t>
            </a:r>
            <a:r>
              <a:rPr sz="1950" spc="160" dirty="0">
                <a:solidFill>
                  <a:srgbClr val="231F20"/>
                </a:solidFill>
                <a:latin typeface="Arial"/>
                <a:cs typeface="Arial"/>
              </a:rPr>
              <a:t>tools </a:t>
            </a:r>
            <a:r>
              <a:rPr sz="1950" spc="155" dirty="0">
                <a:solidFill>
                  <a:srgbClr val="231F20"/>
                </a:solidFill>
                <a:latin typeface="Arial"/>
                <a:cs typeface="Arial"/>
              </a:rPr>
              <a:t>support </a:t>
            </a:r>
            <a:r>
              <a:rPr sz="1950" spc="170" dirty="0">
                <a:solidFill>
                  <a:srgbClr val="231F20"/>
                </a:solidFill>
                <a:latin typeface="Arial"/>
                <a:cs typeface="Arial"/>
              </a:rPr>
              <a:t>Ada, </a:t>
            </a:r>
            <a:r>
              <a:rPr sz="1950" spc="120" dirty="0">
                <a:solidFill>
                  <a:srgbClr val="231F20"/>
                </a:solidFill>
                <a:latin typeface="Arial"/>
                <a:cs typeface="Arial"/>
              </a:rPr>
              <a:t>Java, </a:t>
            </a:r>
            <a:r>
              <a:rPr sz="1950" spc="220" dirty="0">
                <a:solidFill>
                  <a:srgbClr val="231F20"/>
                </a:solidFill>
                <a:latin typeface="Arial"/>
                <a:cs typeface="Arial"/>
              </a:rPr>
              <a:t>not </a:t>
            </a:r>
            <a:r>
              <a:rPr sz="1950" spc="180" dirty="0">
                <a:solidFill>
                  <a:srgbClr val="231F20"/>
                </a:solidFill>
                <a:latin typeface="Arial"/>
                <a:cs typeface="Arial"/>
              </a:rPr>
              <a:t>much </a:t>
            </a:r>
            <a:r>
              <a:rPr sz="1950" spc="155" dirty="0">
                <a:solidFill>
                  <a:srgbClr val="231F20"/>
                </a:solidFill>
                <a:latin typeface="Arial"/>
                <a:cs typeface="Arial"/>
              </a:rPr>
              <a:t>for </a:t>
            </a:r>
            <a:r>
              <a:rPr sz="1950" spc="415" dirty="0">
                <a:solidFill>
                  <a:srgbClr val="231F20"/>
                </a:solidFill>
                <a:latin typeface="Arial"/>
                <a:cs typeface="Arial"/>
              </a:rPr>
              <a:t> </a:t>
            </a:r>
            <a:r>
              <a:rPr sz="1950" spc="360" dirty="0">
                <a:solidFill>
                  <a:srgbClr val="231F20"/>
                </a:solidFill>
                <a:latin typeface="Arial"/>
                <a:cs typeface="Arial"/>
              </a:rPr>
              <a:t>MBD</a:t>
            </a:r>
            <a:endParaRPr sz="1950">
              <a:latin typeface="Arial"/>
              <a:cs typeface="Arial"/>
            </a:endParaRPr>
          </a:p>
          <a:p>
            <a:pPr marL="741680" lvl="1" indent="-288290">
              <a:lnSpc>
                <a:spcPct val="100000"/>
              </a:lnSpc>
              <a:spcBef>
                <a:spcPts val="825"/>
              </a:spcBef>
              <a:buSzPct val="105128"/>
              <a:buFont typeface="Lucida Sans Unicode"/>
              <a:buChar char="◦"/>
              <a:tabLst>
                <a:tab pos="742315" algn="l"/>
              </a:tabLst>
            </a:pPr>
            <a:r>
              <a:rPr sz="1950" spc="275" dirty="0">
                <a:solidFill>
                  <a:srgbClr val="231F20"/>
                </a:solidFill>
                <a:latin typeface="Arial"/>
                <a:cs typeface="Arial"/>
              </a:rPr>
              <a:t>But </a:t>
            </a:r>
            <a:r>
              <a:rPr sz="1950" spc="175" dirty="0">
                <a:solidFill>
                  <a:srgbClr val="231F20"/>
                </a:solidFill>
                <a:latin typeface="Arial"/>
                <a:cs typeface="Arial"/>
              </a:rPr>
              <a:t>Mathworks </a:t>
            </a:r>
            <a:r>
              <a:rPr sz="1950" spc="70" dirty="0">
                <a:solidFill>
                  <a:srgbClr val="231F20"/>
                </a:solidFill>
                <a:latin typeface="Arial"/>
                <a:cs typeface="Arial"/>
              </a:rPr>
              <a:t>has </a:t>
            </a:r>
            <a:r>
              <a:rPr sz="1950" spc="125" dirty="0">
                <a:solidFill>
                  <a:srgbClr val="231F20"/>
                </a:solidFill>
                <a:latin typeface="Arial"/>
                <a:cs typeface="Arial"/>
              </a:rPr>
              <a:t>Design </a:t>
            </a:r>
            <a:r>
              <a:rPr sz="1950" spc="130" dirty="0">
                <a:solidFill>
                  <a:srgbClr val="231F20"/>
                </a:solidFill>
                <a:latin typeface="Arial"/>
                <a:cs typeface="Arial"/>
              </a:rPr>
              <a:t>Verifier </a:t>
            </a:r>
            <a:r>
              <a:rPr sz="1950" spc="155" dirty="0">
                <a:solidFill>
                  <a:srgbClr val="231F20"/>
                </a:solidFill>
                <a:latin typeface="Arial"/>
                <a:cs typeface="Arial"/>
              </a:rPr>
              <a:t>for </a:t>
            </a:r>
            <a:r>
              <a:rPr sz="1950" spc="225" dirty="0">
                <a:solidFill>
                  <a:srgbClr val="231F20"/>
                </a:solidFill>
                <a:latin typeface="Arial"/>
                <a:cs typeface="Arial"/>
              </a:rPr>
              <a:t> </a:t>
            </a:r>
            <a:r>
              <a:rPr sz="1950" spc="150" dirty="0">
                <a:solidFill>
                  <a:srgbClr val="231F20"/>
                </a:solidFill>
                <a:latin typeface="Arial"/>
                <a:cs typeface="Arial"/>
              </a:rPr>
              <a:t>Simulink</a:t>
            </a:r>
            <a:endParaRPr sz="1950">
              <a:latin typeface="Arial"/>
              <a:cs typeface="Arial"/>
            </a:endParaRPr>
          </a:p>
        </p:txBody>
      </p:sp>
      <p:sp>
        <p:nvSpPr>
          <p:cNvPr id="3" name="object 3"/>
          <p:cNvSpPr txBox="1"/>
          <p:nvPr/>
        </p:nvSpPr>
        <p:spPr>
          <a:xfrm>
            <a:off x="896443" y="3699014"/>
            <a:ext cx="6612890" cy="854710"/>
          </a:xfrm>
          <a:prstGeom prst="rect">
            <a:avLst/>
          </a:prstGeom>
        </p:spPr>
        <p:txBody>
          <a:bodyPr vert="horz" wrap="square" lIns="0" tIns="0" rIns="0" bIns="0" rtlCol="0">
            <a:spAutoFit/>
          </a:bodyPr>
          <a:lstStyle/>
          <a:p>
            <a:pPr marL="300990" indent="-288290">
              <a:lnSpc>
                <a:spcPct val="100000"/>
              </a:lnSpc>
              <a:buSzPct val="105128"/>
              <a:buFont typeface="Lucida Sans Unicode"/>
              <a:buChar char="•"/>
              <a:tabLst>
                <a:tab pos="301625" algn="l"/>
              </a:tabLst>
            </a:pPr>
            <a:r>
              <a:rPr sz="1950" spc="135" dirty="0">
                <a:solidFill>
                  <a:srgbClr val="231F20"/>
                </a:solidFill>
                <a:latin typeface="Arial"/>
                <a:cs typeface="Arial"/>
              </a:rPr>
              <a:t>Some </a:t>
            </a:r>
            <a:r>
              <a:rPr sz="1950" spc="160" dirty="0">
                <a:solidFill>
                  <a:srgbClr val="231F20"/>
                </a:solidFill>
                <a:latin typeface="Arial"/>
                <a:cs typeface="Arial"/>
              </a:rPr>
              <a:t>tools </a:t>
            </a:r>
            <a:r>
              <a:rPr sz="1950" spc="155" dirty="0">
                <a:solidFill>
                  <a:srgbClr val="231F20"/>
                </a:solidFill>
                <a:latin typeface="Arial"/>
                <a:cs typeface="Arial"/>
              </a:rPr>
              <a:t>support </a:t>
            </a:r>
            <a:r>
              <a:rPr sz="1950" spc="100" dirty="0">
                <a:solidFill>
                  <a:srgbClr val="231F20"/>
                </a:solidFill>
                <a:latin typeface="Arial"/>
                <a:cs typeface="Arial"/>
              </a:rPr>
              <a:t>user-specified checks, </a:t>
            </a:r>
            <a:r>
              <a:rPr sz="1950" spc="200" dirty="0">
                <a:solidFill>
                  <a:srgbClr val="231F20"/>
                </a:solidFill>
                <a:latin typeface="Arial"/>
                <a:cs typeface="Arial"/>
              </a:rPr>
              <a:t>but. </a:t>
            </a:r>
            <a:r>
              <a:rPr sz="1950" spc="145" dirty="0">
                <a:solidFill>
                  <a:srgbClr val="231F20"/>
                </a:solidFill>
                <a:latin typeface="Arial"/>
                <a:cs typeface="Arial"/>
              </a:rPr>
              <a:t>.</a:t>
            </a:r>
            <a:r>
              <a:rPr sz="1950" spc="340" dirty="0">
                <a:solidFill>
                  <a:srgbClr val="231F20"/>
                </a:solidFill>
                <a:latin typeface="Arial"/>
                <a:cs typeface="Arial"/>
              </a:rPr>
              <a:t> </a:t>
            </a:r>
            <a:r>
              <a:rPr sz="1950" spc="145" dirty="0">
                <a:solidFill>
                  <a:srgbClr val="231F20"/>
                </a:solidFill>
                <a:latin typeface="Arial"/>
                <a:cs typeface="Arial"/>
              </a:rPr>
              <a:t>.</a:t>
            </a:r>
            <a:endParaRPr sz="1950">
              <a:latin typeface="Arial"/>
              <a:cs typeface="Arial"/>
            </a:endParaRPr>
          </a:p>
          <a:p>
            <a:pPr marL="12700">
              <a:lnSpc>
                <a:spcPct val="100000"/>
              </a:lnSpc>
              <a:spcBef>
                <a:spcPts val="1714"/>
              </a:spcBef>
            </a:pPr>
            <a:r>
              <a:rPr sz="2050" spc="-265" dirty="0">
                <a:solidFill>
                  <a:srgbClr val="231F20"/>
                </a:solidFill>
                <a:latin typeface="Lucida Sans Unicode"/>
                <a:cs typeface="Lucida Sans Unicode"/>
              </a:rPr>
              <a:t>•</a:t>
            </a:r>
            <a:endParaRPr sz="2050">
              <a:latin typeface="Lucida Sans Unicode"/>
              <a:cs typeface="Lucida Sans Unicode"/>
            </a:endParaRPr>
          </a:p>
        </p:txBody>
      </p:sp>
      <p:sp>
        <p:nvSpPr>
          <p:cNvPr id="4" name="object 4"/>
          <p:cNvSpPr txBox="1"/>
          <p:nvPr/>
        </p:nvSpPr>
        <p:spPr>
          <a:xfrm>
            <a:off x="1185165" y="4227195"/>
            <a:ext cx="3782060" cy="314325"/>
          </a:xfrm>
          <a:prstGeom prst="rect">
            <a:avLst/>
          </a:prstGeom>
        </p:spPr>
        <p:txBody>
          <a:bodyPr vert="horz" wrap="square" lIns="0" tIns="0" rIns="0" bIns="0" rtlCol="0">
            <a:spAutoFit/>
          </a:bodyPr>
          <a:lstStyle/>
          <a:p>
            <a:pPr marL="12700">
              <a:lnSpc>
                <a:spcPct val="100000"/>
              </a:lnSpc>
            </a:pPr>
            <a:r>
              <a:rPr sz="1950" spc="135" dirty="0">
                <a:solidFill>
                  <a:srgbClr val="231F20"/>
                </a:solidFill>
                <a:latin typeface="Arial"/>
                <a:cs typeface="Arial"/>
              </a:rPr>
              <a:t>Some </a:t>
            </a:r>
            <a:r>
              <a:rPr sz="1950" spc="160" dirty="0">
                <a:solidFill>
                  <a:srgbClr val="231F20"/>
                </a:solidFill>
                <a:latin typeface="Arial"/>
                <a:cs typeface="Arial"/>
              </a:rPr>
              <a:t>tools </a:t>
            </a:r>
            <a:r>
              <a:rPr sz="1950" spc="170" dirty="0">
                <a:solidFill>
                  <a:srgbClr val="231F20"/>
                </a:solidFill>
                <a:latin typeface="Arial"/>
                <a:cs typeface="Arial"/>
              </a:rPr>
              <a:t>look </a:t>
            </a:r>
            <a:r>
              <a:rPr sz="1950" spc="215" dirty="0">
                <a:solidFill>
                  <a:srgbClr val="231F20"/>
                </a:solidFill>
                <a:latin typeface="Arial"/>
                <a:cs typeface="Arial"/>
              </a:rPr>
              <a:t>at</a:t>
            </a:r>
            <a:r>
              <a:rPr sz="1950" spc="645" dirty="0">
                <a:solidFill>
                  <a:srgbClr val="231F20"/>
                </a:solidFill>
                <a:latin typeface="Arial"/>
                <a:cs typeface="Arial"/>
              </a:rPr>
              <a:t> </a:t>
            </a:r>
            <a:r>
              <a:rPr sz="1950" spc="80" dirty="0">
                <a:solidFill>
                  <a:srgbClr val="0000FF"/>
                </a:solidFill>
                <a:latin typeface="Arial"/>
                <a:cs typeface="Arial"/>
              </a:rPr>
              <a:t>resources</a:t>
            </a:r>
            <a:endParaRPr sz="1950">
              <a:latin typeface="Arial"/>
              <a:cs typeface="Arial"/>
            </a:endParaRPr>
          </a:p>
        </p:txBody>
      </p:sp>
      <p:sp>
        <p:nvSpPr>
          <p:cNvPr id="5" name="object 5"/>
          <p:cNvSpPr txBox="1"/>
          <p:nvPr/>
        </p:nvSpPr>
        <p:spPr>
          <a:xfrm>
            <a:off x="896443" y="4585411"/>
            <a:ext cx="7879080" cy="1732914"/>
          </a:xfrm>
          <a:prstGeom prst="rect">
            <a:avLst/>
          </a:prstGeom>
        </p:spPr>
        <p:txBody>
          <a:bodyPr vert="horz" wrap="square" lIns="0" tIns="0" rIns="0" bIns="0" rtlCol="0">
            <a:spAutoFit/>
          </a:bodyPr>
          <a:lstStyle/>
          <a:p>
            <a:pPr marL="741680" marR="257810" indent="-288290">
              <a:lnSpc>
                <a:spcPct val="125000"/>
              </a:lnSpc>
              <a:buSzPct val="105128"/>
              <a:buFont typeface="Lucida Sans Unicode"/>
              <a:buChar char="◦"/>
              <a:tabLst>
                <a:tab pos="742315" algn="l"/>
              </a:tabLst>
            </a:pPr>
            <a:r>
              <a:rPr sz="1950" spc="114" dirty="0">
                <a:solidFill>
                  <a:srgbClr val="231F20"/>
                </a:solidFill>
                <a:latin typeface="Arial"/>
                <a:cs typeface="Arial"/>
              </a:rPr>
              <a:t>e.g., </a:t>
            </a:r>
            <a:r>
              <a:rPr sz="1950" spc="165" dirty="0">
                <a:solidFill>
                  <a:srgbClr val="231F20"/>
                </a:solidFill>
                <a:latin typeface="Arial"/>
                <a:cs typeface="Arial"/>
              </a:rPr>
              <a:t>memory </a:t>
            </a:r>
            <a:r>
              <a:rPr sz="1950" spc="85" dirty="0">
                <a:solidFill>
                  <a:srgbClr val="231F20"/>
                </a:solidFill>
                <a:latin typeface="Arial"/>
                <a:cs typeface="Arial"/>
              </a:rPr>
              <a:t>leaks, </a:t>
            </a:r>
            <a:r>
              <a:rPr sz="1950" spc="125" dirty="0">
                <a:solidFill>
                  <a:srgbClr val="231F20"/>
                </a:solidFill>
                <a:latin typeface="Arial"/>
                <a:cs typeface="Arial"/>
              </a:rPr>
              <a:t>locks </a:t>
            </a:r>
            <a:r>
              <a:rPr sz="1950" spc="240" dirty="0">
                <a:solidFill>
                  <a:srgbClr val="231F20"/>
                </a:solidFill>
                <a:latin typeface="Arial"/>
                <a:cs typeface="Arial"/>
              </a:rPr>
              <a:t>(not </a:t>
            </a:r>
            <a:r>
              <a:rPr sz="1950" spc="114" dirty="0">
                <a:solidFill>
                  <a:srgbClr val="231F20"/>
                </a:solidFill>
                <a:latin typeface="Arial"/>
                <a:cs typeface="Arial"/>
              </a:rPr>
              <a:t>freed, </a:t>
            </a:r>
            <a:r>
              <a:rPr sz="1950" spc="110" dirty="0">
                <a:solidFill>
                  <a:srgbClr val="231F20"/>
                </a:solidFill>
                <a:latin typeface="Arial"/>
                <a:cs typeface="Arial"/>
              </a:rPr>
              <a:t>freed </a:t>
            </a:r>
            <a:r>
              <a:rPr sz="1950" spc="150" dirty="0">
                <a:solidFill>
                  <a:srgbClr val="231F20"/>
                </a:solidFill>
                <a:latin typeface="Arial"/>
                <a:cs typeface="Arial"/>
              </a:rPr>
              <a:t>twice, </a:t>
            </a:r>
            <a:r>
              <a:rPr sz="1950" spc="45" dirty="0">
                <a:solidFill>
                  <a:srgbClr val="231F20"/>
                </a:solidFill>
                <a:latin typeface="Arial"/>
                <a:cs typeface="Arial"/>
              </a:rPr>
              <a:t>use  </a:t>
            </a:r>
            <a:r>
              <a:rPr sz="1950" spc="165" dirty="0">
                <a:solidFill>
                  <a:srgbClr val="231F20"/>
                </a:solidFill>
                <a:latin typeface="Arial"/>
                <a:cs typeface="Arial"/>
              </a:rPr>
              <a:t>after</a:t>
            </a:r>
            <a:r>
              <a:rPr sz="1950" spc="204" dirty="0">
                <a:solidFill>
                  <a:srgbClr val="231F20"/>
                </a:solidFill>
                <a:latin typeface="Arial"/>
                <a:cs typeface="Arial"/>
              </a:rPr>
              <a:t> </a:t>
            </a:r>
            <a:r>
              <a:rPr sz="1950" spc="145" dirty="0">
                <a:solidFill>
                  <a:srgbClr val="231F20"/>
                </a:solidFill>
                <a:latin typeface="Arial"/>
                <a:cs typeface="Arial"/>
              </a:rPr>
              <a:t>free)</a:t>
            </a:r>
            <a:endParaRPr sz="1950">
              <a:latin typeface="Arial"/>
              <a:cs typeface="Arial"/>
            </a:endParaRPr>
          </a:p>
          <a:p>
            <a:pPr>
              <a:lnSpc>
                <a:spcPct val="100000"/>
              </a:lnSpc>
              <a:spcBef>
                <a:spcPts val="36"/>
              </a:spcBef>
            </a:pPr>
            <a:endParaRPr sz="1550">
              <a:latin typeface="Times New Roman"/>
              <a:cs typeface="Times New Roman"/>
            </a:endParaRPr>
          </a:p>
          <a:p>
            <a:pPr marL="300990" indent="-288290">
              <a:lnSpc>
                <a:spcPct val="100000"/>
              </a:lnSpc>
              <a:buSzPct val="105128"/>
              <a:buFont typeface="Lucida Sans Unicode"/>
              <a:buChar char="•"/>
              <a:tabLst>
                <a:tab pos="301625" algn="l"/>
              </a:tabLst>
            </a:pPr>
            <a:r>
              <a:rPr sz="1950" spc="135" dirty="0">
                <a:solidFill>
                  <a:srgbClr val="231F20"/>
                </a:solidFill>
                <a:latin typeface="Arial"/>
                <a:cs typeface="Arial"/>
              </a:rPr>
              <a:t>Some </a:t>
            </a:r>
            <a:r>
              <a:rPr sz="1950" spc="150" dirty="0">
                <a:solidFill>
                  <a:srgbClr val="231F20"/>
                </a:solidFill>
                <a:latin typeface="Arial"/>
                <a:cs typeface="Arial"/>
              </a:rPr>
              <a:t>(e.g., </a:t>
            </a:r>
            <a:r>
              <a:rPr sz="1950" spc="190" dirty="0">
                <a:solidFill>
                  <a:srgbClr val="FF0000"/>
                </a:solidFill>
                <a:latin typeface="Arial"/>
                <a:cs typeface="Arial"/>
              </a:rPr>
              <a:t>AbsInt</a:t>
            </a:r>
            <a:r>
              <a:rPr sz="1950" spc="190" dirty="0">
                <a:solidFill>
                  <a:srgbClr val="231F20"/>
                </a:solidFill>
                <a:latin typeface="Arial"/>
                <a:cs typeface="Arial"/>
              </a:rPr>
              <a:t>) </a:t>
            </a:r>
            <a:r>
              <a:rPr sz="1950" spc="120" dirty="0">
                <a:solidFill>
                  <a:srgbClr val="231F20"/>
                </a:solidFill>
                <a:latin typeface="Arial"/>
                <a:cs typeface="Arial"/>
              </a:rPr>
              <a:t>can </a:t>
            </a:r>
            <a:r>
              <a:rPr sz="1950" spc="155" dirty="0">
                <a:solidFill>
                  <a:srgbClr val="231F20"/>
                </a:solidFill>
                <a:latin typeface="Arial"/>
                <a:cs typeface="Arial"/>
              </a:rPr>
              <a:t>do </a:t>
            </a:r>
            <a:r>
              <a:rPr sz="1950" spc="170" dirty="0">
                <a:solidFill>
                  <a:srgbClr val="0000FF"/>
                </a:solidFill>
                <a:latin typeface="Arial"/>
                <a:cs typeface="Arial"/>
              </a:rPr>
              <a:t>quantitative </a:t>
            </a:r>
            <a:r>
              <a:rPr sz="1950" spc="215" dirty="0">
                <a:solidFill>
                  <a:srgbClr val="0000FF"/>
                </a:solidFill>
                <a:latin typeface="Arial"/>
                <a:cs typeface="Arial"/>
              </a:rPr>
              <a:t> </a:t>
            </a:r>
            <a:r>
              <a:rPr sz="1950" spc="75" dirty="0">
                <a:solidFill>
                  <a:srgbClr val="231F20"/>
                </a:solidFill>
                <a:latin typeface="Arial"/>
                <a:cs typeface="Arial"/>
              </a:rPr>
              <a:t>analysis</a:t>
            </a:r>
            <a:endParaRPr sz="1950">
              <a:latin typeface="Arial"/>
              <a:cs typeface="Arial"/>
            </a:endParaRPr>
          </a:p>
          <a:p>
            <a:pPr marL="741680" lvl="1" indent="-288290">
              <a:lnSpc>
                <a:spcPct val="100000"/>
              </a:lnSpc>
              <a:spcBef>
                <a:spcPts val="1065"/>
              </a:spcBef>
              <a:buSzPct val="105128"/>
              <a:buFont typeface="Lucida Sans Unicode"/>
              <a:buChar char="◦"/>
              <a:tabLst>
                <a:tab pos="742315" algn="l"/>
              </a:tabLst>
            </a:pPr>
            <a:r>
              <a:rPr sz="1950" spc="114" dirty="0">
                <a:solidFill>
                  <a:srgbClr val="231F20"/>
                </a:solidFill>
                <a:latin typeface="Arial"/>
                <a:cs typeface="Arial"/>
              </a:rPr>
              <a:t>e.g., </a:t>
            </a:r>
            <a:r>
              <a:rPr sz="1950" spc="150" dirty="0">
                <a:solidFill>
                  <a:srgbClr val="231F20"/>
                </a:solidFill>
                <a:latin typeface="Arial"/>
                <a:cs typeface="Arial"/>
              </a:rPr>
              <a:t>worst </a:t>
            </a:r>
            <a:r>
              <a:rPr sz="1950" spc="50" dirty="0">
                <a:solidFill>
                  <a:srgbClr val="231F20"/>
                </a:solidFill>
                <a:latin typeface="Arial"/>
                <a:cs typeface="Arial"/>
              </a:rPr>
              <a:t>case </a:t>
            </a:r>
            <a:r>
              <a:rPr sz="1950" spc="130" dirty="0">
                <a:solidFill>
                  <a:srgbClr val="231F20"/>
                </a:solidFill>
                <a:latin typeface="Arial"/>
                <a:cs typeface="Arial"/>
              </a:rPr>
              <a:t>execution </a:t>
            </a:r>
            <a:r>
              <a:rPr sz="1950" spc="185" dirty="0">
                <a:solidFill>
                  <a:srgbClr val="231F20"/>
                </a:solidFill>
                <a:latin typeface="Arial"/>
                <a:cs typeface="Arial"/>
              </a:rPr>
              <a:t>time, </a:t>
            </a:r>
            <a:r>
              <a:rPr sz="1950" spc="195" dirty="0">
                <a:solidFill>
                  <a:srgbClr val="231F20"/>
                </a:solidFill>
                <a:latin typeface="Arial"/>
                <a:cs typeface="Arial"/>
              </a:rPr>
              <a:t>maximum </a:t>
            </a:r>
            <a:r>
              <a:rPr sz="1950" spc="145" dirty="0">
                <a:solidFill>
                  <a:srgbClr val="231F20"/>
                </a:solidFill>
                <a:latin typeface="Arial"/>
                <a:cs typeface="Arial"/>
              </a:rPr>
              <a:t>stack </a:t>
            </a:r>
            <a:r>
              <a:rPr sz="1950" spc="480" dirty="0">
                <a:solidFill>
                  <a:srgbClr val="231F20"/>
                </a:solidFill>
                <a:latin typeface="Arial"/>
                <a:cs typeface="Arial"/>
              </a:rPr>
              <a:t> </a:t>
            </a:r>
            <a:r>
              <a:rPr sz="1950" spc="155" dirty="0">
                <a:solidFill>
                  <a:srgbClr val="231F20"/>
                </a:solidFill>
                <a:latin typeface="Arial"/>
                <a:cs typeface="Arial"/>
              </a:rPr>
              <a:t>height</a:t>
            </a:r>
            <a:endParaRPr sz="1950">
              <a:latin typeface="Arial"/>
              <a:cs typeface="Aria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1200759"/>
            <a:ext cx="8009890" cy="4387850"/>
          </a:xfrm>
          <a:prstGeom prst="rect">
            <a:avLst/>
          </a:prstGeom>
        </p:spPr>
        <p:txBody>
          <a:bodyPr vert="horz" wrap="square" lIns="0" tIns="0" rIns="0" bIns="0" rtlCol="0">
            <a:spAutoFit/>
          </a:bodyPr>
          <a:lstStyle/>
          <a:p>
            <a:pPr marL="255904" algn="ctr">
              <a:lnSpc>
                <a:spcPct val="100000"/>
              </a:lnSpc>
            </a:pPr>
            <a:r>
              <a:rPr sz="1950" spc="215" dirty="0">
                <a:solidFill>
                  <a:srgbClr val="231F20"/>
                </a:solidFill>
                <a:latin typeface="Arial"/>
                <a:cs typeface="Arial"/>
              </a:rPr>
              <a:t>Real</a:t>
            </a:r>
            <a:r>
              <a:rPr sz="1950" spc="310" dirty="0">
                <a:solidFill>
                  <a:srgbClr val="231F20"/>
                </a:solidFill>
                <a:latin typeface="Arial"/>
                <a:cs typeface="Arial"/>
              </a:rPr>
              <a:t> </a:t>
            </a:r>
            <a:r>
              <a:rPr sz="1950" spc="245" dirty="0">
                <a:solidFill>
                  <a:srgbClr val="231F20"/>
                </a:solidFill>
                <a:latin typeface="Arial"/>
                <a:cs typeface="Arial"/>
              </a:rPr>
              <a:t>Software</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65" dirty="0">
                <a:solidFill>
                  <a:srgbClr val="231F20"/>
                </a:solidFill>
                <a:latin typeface="Arial"/>
                <a:cs typeface="Arial"/>
              </a:rPr>
              <a:t>It’s </a:t>
            </a:r>
            <a:r>
              <a:rPr sz="1950" spc="220" dirty="0">
                <a:solidFill>
                  <a:srgbClr val="231F20"/>
                </a:solidFill>
                <a:latin typeface="Arial"/>
                <a:cs typeface="Arial"/>
              </a:rPr>
              <a:t>not </a:t>
            </a:r>
            <a:r>
              <a:rPr sz="1950" spc="130" dirty="0">
                <a:solidFill>
                  <a:srgbClr val="231F20"/>
                </a:solidFill>
                <a:latin typeface="Arial"/>
                <a:cs typeface="Arial"/>
              </a:rPr>
              <a:t>enough </a:t>
            </a:r>
            <a:r>
              <a:rPr sz="1950" spc="250" dirty="0">
                <a:solidFill>
                  <a:srgbClr val="231F20"/>
                </a:solidFill>
                <a:latin typeface="Arial"/>
                <a:cs typeface="Arial"/>
              </a:rPr>
              <a:t>to </a:t>
            </a:r>
            <a:r>
              <a:rPr sz="1950" spc="120" dirty="0">
                <a:solidFill>
                  <a:srgbClr val="231F20"/>
                </a:solidFill>
                <a:latin typeface="Arial"/>
                <a:cs typeface="Arial"/>
              </a:rPr>
              <a:t>check </a:t>
            </a:r>
            <a:r>
              <a:rPr sz="1950" spc="125" dirty="0">
                <a:solidFill>
                  <a:srgbClr val="231F20"/>
                </a:solidFill>
                <a:latin typeface="Arial"/>
                <a:cs typeface="Arial"/>
              </a:rPr>
              <a:t>individual </a:t>
            </a:r>
            <a:r>
              <a:rPr sz="1950" spc="140" dirty="0">
                <a:solidFill>
                  <a:srgbClr val="231F20"/>
                </a:solidFill>
                <a:latin typeface="Arial"/>
                <a:cs typeface="Arial"/>
              </a:rPr>
              <a:t> </a:t>
            </a:r>
            <a:r>
              <a:rPr sz="1950" spc="135" dirty="0">
                <a:solidFill>
                  <a:srgbClr val="231F20"/>
                </a:solidFill>
                <a:latin typeface="Arial"/>
                <a:cs typeface="Arial"/>
              </a:rPr>
              <a:t>programs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95" dirty="0">
                <a:solidFill>
                  <a:srgbClr val="231F20"/>
                </a:solidFill>
                <a:latin typeface="Arial"/>
                <a:cs typeface="Arial"/>
              </a:rPr>
              <a:t>Need </a:t>
            </a:r>
            <a:r>
              <a:rPr sz="1950" spc="170" dirty="0">
                <a:solidFill>
                  <a:srgbClr val="231F20"/>
                </a:solidFill>
                <a:latin typeface="Arial"/>
                <a:cs typeface="Arial"/>
              </a:rPr>
              <a:t>information </a:t>
            </a:r>
            <a:r>
              <a:rPr sz="1950" spc="210" dirty="0">
                <a:solidFill>
                  <a:srgbClr val="231F20"/>
                </a:solidFill>
                <a:latin typeface="Arial"/>
                <a:cs typeface="Arial"/>
              </a:rPr>
              <a:t>from </a:t>
            </a:r>
            <a:r>
              <a:rPr sz="1950" spc="80" dirty="0">
                <a:solidFill>
                  <a:srgbClr val="231F20"/>
                </a:solidFill>
                <a:latin typeface="Arial"/>
                <a:cs typeface="Arial"/>
              </a:rPr>
              <a:t>calls </a:t>
            </a:r>
            <a:r>
              <a:rPr sz="1950" spc="250" dirty="0">
                <a:solidFill>
                  <a:srgbClr val="231F20"/>
                </a:solidFill>
                <a:latin typeface="Arial"/>
                <a:cs typeface="Arial"/>
              </a:rPr>
              <a:t>to </a:t>
            </a:r>
            <a:r>
              <a:rPr sz="1950" spc="110" dirty="0">
                <a:solidFill>
                  <a:srgbClr val="0000FF"/>
                </a:solidFill>
                <a:latin typeface="Arial"/>
                <a:cs typeface="Arial"/>
              </a:rPr>
              <a:t>procedures</a:t>
            </a:r>
            <a:r>
              <a:rPr sz="1950" spc="110" dirty="0">
                <a:solidFill>
                  <a:srgbClr val="231F20"/>
                </a:solidFill>
                <a:latin typeface="Arial"/>
                <a:cs typeface="Arial"/>
              </a:rPr>
              <a:t>, </a:t>
            </a:r>
            <a:r>
              <a:rPr sz="1950" spc="265" dirty="0">
                <a:solidFill>
                  <a:srgbClr val="231F20"/>
                </a:solidFill>
                <a:latin typeface="Arial"/>
                <a:cs typeface="Arial"/>
              </a:rPr>
              <a:t> </a:t>
            </a:r>
            <a:r>
              <a:rPr sz="1950" spc="114" dirty="0">
                <a:solidFill>
                  <a:srgbClr val="231F20"/>
                </a:solidFill>
                <a:latin typeface="Arial"/>
                <a:cs typeface="Arial"/>
              </a:rPr>
              <a:t>subroutines</a:t>
            </a:r>
            <a:endParaRPr sz="1950">
              <a:latin typeface="Arial"/>
              <a:cs typeface="Arial"/>
            </a:endParaRPr>
          </a:p>
          <a:p>
            <a:pPr marL="741680" marR="572770" lvl="1" indent="-288290">
              <a:lnSpc>
                <a:spcPct val="125000"/>
              </a:lnSpc>
              <a:spcBef>
                <a:spcPts val="515"/>
              </a:spcBef>
              <a:buSzPct val="105128"/>
              <a:buFont typeface="Lucida Sans Unicode"/>
              <a:buChar char="◦"/>
              <a:tabLst>
                <a:tab pos="742315" algn="l"/>
              </a:tabLst>
            </a:pPr>
            <a:r>
              <a:rPr sz="1950" spc="125" dirty="0">
                <a:solidFill>
                  <a:srgbClr val="231F20"/>
                </a:solidFill>
                <a:latin typeface="Arial"/>
                <a:cs typeface="Arial"/>
              </a:rPr>
              <a:t>Analyze </a:t>
            </a:r>
            <a:r>
              <a:rPr sz="1950" spc="90" dirty="0">
                <a:solidFill>
                  <a:srgbClr val="231F20"/>
                </a:solidFill>
                <a:latin typeface="Arial"/>
                <a:cs typeface="Arial"/>
              </a:rPr>
              <a:t>each </a:t>
            </a:r>
            <a:r>
              <a:rPr sz="1950" spc="130" dirty="0">
                <a:solidFill>
                  <a:srgbClr val="231F20"/>
                </a:solidFill>
                <a:latin typeface="Arial"/>
                <a:cs typeface="Arial"/>
              </a:rPr>
              <a:t>in </a:t>
            </a:r>
            <a:r>
              <a:rPr sz="1950" spc="135" dirty="0">
                <a:solidFill>
                  <a:srgbClr val="231F20"/>
                </a:solidFill>
                <a:latin typeface="Arial"/>
                <a:cs typeface="Arial"/>
              </a:rPr>
              <a:t>isolation, </a:t>
            </a:r>
            <a:r>
              <a:rPr sz="1950" spc="165" dirty="0">
                <a:solidFill>
                  <a:srgbClr val="231F20"/>
                </a:solidFill>
                <a:latin typeface="Arial"/>
                <a:cs typeface="Arial"/>
              </a:rPr>
              <a:t>then </a:t>
            </a:r>
            <a:r>
              <a:rPr sz="1950" spc="130" dirty="0">
                <a:solidFill>
                  <a:srgbClr val="231F20"/>
                </a:solidFill>
                <a:latin typeface="Arial"/>
                <a:cs typeface="Arial"/>
              </a:rPr>
              <a:t>produce </a:t>
            </a:r>
            <a:r>
              <a:rPr sz="1950" spc="85" dirty="0">
                <a:solidFill>
                  <a:srgbClr val="231F20"/>
                </a:solidFill>
                <a:latin typeface="Arial"/>
                <a:cs typeface="Arial"/>
              </a:rPr>
              <a:t>a </a:t>
            </a:r>
            <a:r>
              <a:rPr sz="1950" spc="120" dirty="0">
                <a:solidFill>
                  <a:srgbClr val="FF0000"/>
                </a:solidFill>
                <a:latin typeface="Arial"/>
                <a:cs typeface="Arial"/>
              </a:rPr>
              <a:t>procedure  </a:t>
            </a:r>
            <a:r>
              <a:rPr sz="1950" spc="150" dirty="0">
                <a:solidFill>
                  <a:srgbClr val="FF0000"/>
                </a:solidFill>
                <a:latin typeface="Arial"/>
                <a:cs typeface="Arial"/>
              </a:rPr>
              <a:t>summary </a:t>
            </a:r>
            <a:r>
              <a:rPr sz="1950" spc="155" dirty="0">
                <a:solidFill>
                  <a:srgbClr val="231F20"/>
                </a:solidFill>
                <a:latin typeface="Arial"/>
                <a:cs typeface="Arial"/>
              </a:rPr>
              <a:t>for </a:t>
            </a:r>
            <a:r>
              <a:rPr sz="1950" spc="45" dirty="0">
                <a:solidFill>
                  <a:srgbClr val="231F20"/>
                </a:solidFill>
                <a:latin typeface="Arial"/>
                <a:cs typeface="Arial"/>
              </a:rPr>
              <a:t>use </a:t>
            </a:r>
            <a:r>
              <a:rPr sz="1950" spc="105" dirty="0">
                <a:solidFill>
                  <a:srgbClr val="231F20"/>
                </a:solidFill>
                <a:latin typeface="Arial"/>
                <a:cs typeface="Arial"/>
              </a:rPr>
              <a:t>by</a:t>
            </a:r>
            <a:r>
              <a:rPr sz="1950" spc="725" dirty="0">
                <a:solidFill>
                  <a:srgbClr val="231F20"/>
                </a:solidFill>
                <a:latin typeface="Arial"/>
                <a:cs typeface="Arial"/>
              </a:rPr>
              <a:t> </a:t>
            </a:r>
            <a:r>
              <a:rPr sz="1950" spc="135" dirty="0">
                <a:solidFill>
                  <a:srgbClr val="231F20"/>
                </a:solidFill>
                <a:latin typeface="Arial"/>
                <a:cs typeface="Arial"/>
              </a:rPr>
              <a:t>others</a:t>
            </a:r>
            <a:endParaRPr sz="1950">
              <a:latin typeface="Arial"/>
              <a:cs typeface="Arial"/>
            </a:endParaRPr>
          </a:p>
          <a:p>
            <a:pPr lvl="1">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95" dirty="0">
                <a:solidFill>
                  <a:srgbClr val="231F20"/>
                </a:solidFill>
                <a:latin typeface="Arial"/>
                <a:cs typeface="Arial"/>
              </a:rPr>
              <a:t>Need </a:t>
            </a:r>
            <a:r>
              <a:rPr sz="1950" spc="110" dirty="0">
                <a:solidFill>
                  <a:srgbClr val="231F20"/>
                </a:solidFill>
                <a:latin typeface="Arial"/>
                <a:cs typeface="Arial"/>
              </a:rPr>
              <a:t>summaries </a:t>
            </a:r>
            <a:r>
              <a:rPr sz="1950" spc="155" dirty="0">
                <a:solidFill>
                  <a:srgbClr val="231F20"/>
                </a:solidFill>
                <a:latin typeface="Arial"/>
                <a:cs typeface="Arial"/>
              </a:rPr>
              <a:t>for </a:t>
            </a:r>
            <a:r>
              <a:rPr sz="1950" spc="90" dirty="0">
                <a:solidFill>
                  <a:srgbClr val="0000FF"/>
                </a:solidFill>
                <a:latin typeface="Arial"/>
                <a:cs typeface="Arial"/>
              </a:rPr>
              <a:t>libraries</a:t>
            </a:r>
            <a:r>
              <a:rPr sz="1950" spc="90" dirty="0">
                <a:solidFill>
                  <a:srgbClr val="231F20"/>
                </a:solidFill>
                <a:latin typeface="Arial"/>
                <a:cs typeface="Arial"/>
              </a:rPr>
              <a:t>, </a:t>
            </a:r>
            <a:r>
              <a:rPr sz="1950" spc="155" dirty="0">
                <a:solidFill>
                  <a:srgbClr val="231F20"/>
                </a:solidFill>
                <a:latin typeface="Arial"/>
                <a:cs typeface="Arial"/>
              </a:rPr>
              <a:t>operating </a:t>
            </a:r>
            <a:r>
              <a:rPr sz="1950" spc="120" dirty="0">
                <a:solidFill>
                  <a:srgbClr val="231F20"/>
                </a:solidFill>
                <a:latin typeface="Arial"/>
                <a:cs typeface="Arial"/>
              </a:rPr>
              <a:t>system </a:t>
            </a:r>
            <a:r>
              <a:rPr sz="1950" spc="459" dirty="0">
                <a:solidFill>
                  <a:srgbClr val="231F20"/>
                </a:solidFill>
                <a:latin typeface="Arial"/>
                <a:cs typeface="Arial"/>
              </a:rPr>
              <a:t> </a:t>
            </a:r>
            <a:r>
              <a:rPr sz="1950" spc="80" dirty="0">
                <a:solidFill>
                  <a:srgbClr val="231F20"/>
                </a:solidFill>
                <a:latin typeface="Arial"/>
                <a:cs typeface="Arial"/>
              </a:rPr>
              <a:t>calls</a:t>
            </a:r>
            <a:endParaRPr sz="1950">
              <a:latin typeface="Arial"/>
              <a:cs typeface="Arial"/>
            </a:endParaRPr>
          </a:p>
          <a:p>
            <a:pPr>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30" dirty="0">
                <a:solidFill>
                  <a:srgbClr val="231F20"/>
                </a:solidFill>
                <a:latin typeface="Arial"/>
                <a:cs typeface="Arial"/>
              </a:rPr>
              <a:t>Analyzer </a:t>
            </a:r>
            <a:r>
              <a:rPr sz="1950" spc="195" dirty="0">
                <a:solidFill>
                  <a:srgbClr val="231F20"/>
                </a:solidFill>
                <a:latin typeface="Arial"/>
                <a:cs typeface="Arial"/>
              </a:rPr>
              <a:t>must </a:t>
            </a:r>
            <a:r>
              <a:rPr sz="1950" spc="155" dirty="0">
                <a:solidFill>
                  <a:srgbClr val="231F20"/>
                </a:solidFill>
                <a:latin typeface="Arial"/>
                <a:cs typeface="Arial"/>
              </a:rPr>
              <a:t>integrate </a:t>
            </a:r>
            <a:r>
              <a:rPr sz="1950" spc="215" dirty="0">
                <a:solidFill>
                  <a:srgbClr val="231F20"/>
                </a:solidFill>
                <a:latin typeface="Arial"/>
                <a:cs typeface="Arial"/>
              </a:rPr>
              <a:t>with </a:t>
            </a:r>
            <a:r>
              <a:rPr sz="1950" spc="175" dirty="0">
                <a:solidFill>
                  <a:srgbClr val="231F20"/>
                </a:solidFill>
                <a:latin typeface="Arial"/>
                <a:cs typeface="Arial"/>
              </a:rPr>
              <a:t>the </a:t>
            </a:r>
            <a:r>
              <a:rPr sz="1950" spc="135" dirty="0">
                <a:solidFill>
                  <a:srgbClr val="0000FF"/>
                </a:solidFill>
                <a:latin typeface="Arial"/>
                <a:cs typeface="Arial"/>
              </a:rPr>
              <a:t>build</a:t>
            </a:r>
            <a:r>
              <a:rPr sz="1950" spc="790" dirty="0">
                <a:solidFill>
                  <a:srgbClr val="0000FF"/>
                </a:solidFill>
                <a:latin typeface="Arial"/>
                <a:cs typeface="Arial"/>
              </a:rPr>
              <a:t> </a:t>
            </a:r>
            <a:r>
              <a:rPr sz="1950" spc="80" dirty="0">
                <a:solidFill>
                  <a:srgbClr val="0000FF"/>
                </a:solidFill>
                <a:latin typeface="Arial"/>
                <a:cs typeface="Arial"/>
              </a:rPr>
              <a:t>process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20" dirty="0">
                <a:solidFill>
                  <a:srgbClr val="231F20"/>
                </a:solidFill>
                <a:latin typeface="Arial"/>
                <a:cs typeface="Arial"/>
              </a:rPr>
              <a:t>Must </a:t>
            </a:r>
            <a:r>
              <a:rPr sz="1950" spc="105" dirty="0">
                <a:solidFill>
                  <a:srgbClr val="0000FF"/>
                </a:solidFill>
                <a:latin typeface="Arial"/>
                <a:cs typeface="Arial"/>
              </a:rPr>
              <a:t>present </a:t>
            </a:r>
            <a:r>
              <a:rPr sz="1950" spc="175" dirty="0">
                <a:solidFill>
                  <a:srgbClr val="0000FF"/>
                </a:solidFill>
                <a:latin typeface="Arial"/>
                <a:cs typeface="Arial"/>
              </a:rPr>
              <a:t>the </a:t>
            </a:r>
            <a:r>
              <a:rPr sz="1950" spc="170" dirty="0">
                <a:solidFill>
                  <a:srgbClr val="0000FF"/>
                </a:solidFill>
                <a:latin typeface="Arial"/>
                <a:cs typeface="Arial"/>
              </a:rPr>
              <a:t>information </a:t>
            </a:r>
            <a:r>
              <a:rPr sz="1950" spc="130" dirty="0">
                <a:solidFill>
                  <a:srgbClr val="231F20"/>
                </a:solidFill>
                <a:latin typeface="Arial"/>
                <a:cs typeface="Arial"/>
              </a:rPr>
              <a:t>in </a:t>
            </a:r>
            <a:r>
              <a:rPr sz="1950" spc="85" dirty="0">
                <a:solidFill>
                  <a:srgbClr val="231F20"/>
                </a:solidFill>
                <a:latin typeface="Arial"/>
                <a:cs typeface="Arial"/>
              </a:rPr>
              <a:t>a </a:t>
            </a:r>
            <a:r>
              <a:rPr sz="1950" spc="105" dirty="0">
                <a:solidFill>
                  <a:srgbClr val="231F20"/>
                </a:solidFill>
                <a:latin typeface="Arial"/>
                <a:cs typeface="Arial"/>
              </a:rPr>
              <a:t>useful </a:t>
            </a:r>
            <a:r>
              <a:rPr sz="1950" spc="130" dirty="0">
                <a:solidFill>
                  <a:srgbClr val="231F20"/>
                </a:solidFill>
                <a:latin typeface="Arial"/>
                <a:cs typeface="Arial"/>
              </a:rPr>
              <a:t>and </a:t>
            </a:r>
            <a:r>
              <a:rPr sz="1950" spc="175" dirty="0">
                <a:solidFill>
                  <a:srgbClr val="231F20"/>
                </a:solidFill>
                <a:latin typeface="Arial"/>
                <a:cs typeface="Arial"/>
              </a:rPr>
              <a:t>attractive </a:t>
            </a:r>
            <a:r>
              <a:rPr sz="1950" spc="725" dirty="0">
                <a:solidFill>
                  <a:srgbClr val="231F20"/>
                </a:solidFill>
                <a:latin typeface="Arial"/>
                <a:cs typeface="Arial"/>
              </a:rPr>
              <a:t> </a:t>
            </a:r>
            <a:r>
              <a:rPr sz="1950" spc="105" dirty="0">
                <a:solidFill>
                  <a:srgbClr val="231F20"/>
                </a:solidFill>
                <a:latin typeface="Arial"/>
                <a:cs typeface="Arial"/>
              </a:rPr>
              <a:t>way</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04" dirty="0">
                <a:solidFill>
                  <a:srgbClr val="231F20"/>
                </a:solidFill>
                <a:latin typeface="Arial"/>
                <a:cs typeface="Arial"/>
              </a:rPr>
              <a:t>Much </a:t>
            </a:r>
            <a:r>
              <a:rPr sz="1950" spc="185" dirty="0">
                <a:solidFill>
                  <a:srgbClr val="231F20"/>
                </a:solidFill>
                <a:latin typeface="Arial"/>
                <a:cs typeface="Arial"/>
              </a:rPr>
              <a:t>of </a:t>
            </a:r>
            <a:r>
              <a:rPr sz="1950" spc="175" dirty="0">
                <a:solidFill>
                  <a:srgbClr val="231F20"/>
                </a:solidFill>
                <a:latin typeface="Arial"/>
                <a:cs typeface="Arial"/>
              </a:rPr>
              <a:t>the </a:t>
            </a:r>
            <a:r>
              <a:rPr sz="1950" spc="110" dirty="0">
                <a:solidFill>
                  <a:srgbClr val="231F20"/>
                </a:solidFill>
                <a:latin typeface="Arial"/>
                <a:cs typeface="Arial"/>
              </a:rPr>
              <a:t>engineering </a:t>
            </a:r>
            <a:r>
              <a:rPr sz="1950" spc="130" dirty="0">
                <a:solidFill>
                  <a:srgbClr val="231F20"/>
                </a:solidFill>
                <a:latin typeface="Arial"/>
                <a:cs typeface="Arial"/>
              </a:rPr>
              <a:t>in </a:t>
            </a:r>
            <a:r>
              <a:rPr sz="1950" spc="150" dirty="0">
                <a:solidFill>
                  <a:srgbClr val="231F20"/>
                </a:solidFill>
                <a:latin typeface="Arial"/>
                <a:cs typeface="Arial"/>
              </a:rPr>
              <a:t>commercial </a:t>
            </a:r>
            <a:r>
              <a:rPr sz="1950" spc="160" dirty="0">
                <a:solidFill>
                  <a:srgbClr val="231F20"/>
                </a:solidFill>
                <a:latin typeface="Arial"/>
                <a:cs typeface="Arial"/>
              </a:rPr>
              <a:t>tools </a:t>
            </a:r>
            <a:r>
              <a:rPr sz="1950" spc="90" dirty="0">
                <a:solidFill>
                  <a:srgbClr val="231F20"/>
                </a:solidFill>
                <a:latin typeface="Arial"/>
                <a:cs typeface="Arial"/>
              </a:rPr>
              <a:t>goes </a:t>
            </a:r>
            <a:r>
              <a:rPr sz="1950" spc="470" dirty="0">
                <a:solidFill>
                  <a:srgbClr val="231F20"/>
                </a:solidFill>
                <a:latin typeface="Arial"/>
                <a:cs typeface="Arial"/>
              </a:rPr>
              <a:t> </a:t>
            </a:r>
            <a:r>
              <a:rPr sz="1950" spc="90" dirty="0">
                <a:solidFill>
                  <a:srgbClr val="231F20"/>
                </a:solidFill>
                <a:latin typeface="Arial"/>
                <a:cs typeface="Arial"/>
              </a:rPr>
              <a:t>here</a:t>
            </a:r>
            <a:endParaRPr sz="1950">
              <a:latin typeface="Arial"/>
              <a:cs typeface="Arial"/>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261350" cy="6273165"/>
          </a:xfrm>
          <a:prstGeom prst="rect">
            <a:avLst/>
          </a:prstGeom>
        </p:spPr>
        <p:txBody>
          <a:bodyPr vert="horz" wrap="square" lIns="0" tIns="0" rIns="0" bIns="0" rtlCol="0">
            <a:spAutoFit/>
          </a:bodyPr>
          <a:lstStyle/>
          <a:p>
            <a:pPr marL="1550035">
              <a:lnSpc>
                <a:spcPct val="100000"/>
              </a:lnSpc>
            </a:pPr>
            <a:r>
              <a:rPr sz="1950" spc="245" dirty="0">
                <a:solidFill>
                  <a:srgbClr val="231F20"/>
                </a:solidFill>
                <a:latin typeface="Arial"/>
                <a:cs typeface="Arial"/>
              </a:rPr>
              <a:t>So </a:t>
            </a:r>
            <a:r>
              <a:rPr sz="1950" spc="320" dirty="0">
                <a:solidFill>
                  <a:srgbClr val="231F20"/>
                </a:solidFill>
                <a:latin typeface="Arial"/>
                <a:cs typeface="Arial"/>
              </a:rPr>
              <a:t>How </a:t>
            </a:r>
            <a:r>
              <a:rPr sz="1950" spc="315" dirty="0">
                <a:solidFill>
                  <a:srgbClr val="231F20"/>
                </a:solidFill>
                <a:latin typeface="Arial"/>
                <a:cs typeface="Arial"/>
              </a:rPr>
              <a:t>Good </a:t>
            </a:r>
            <a:r>
              <a:rPr sz="1950" spc="290" dirty="0">
                <a:solidFill>
                  <a:srgbClr val="231F20"/>
                </a:solidFill>
                <a:latin typeface="Arial"/>
                <a:cs typeface="Arial"/>
              </a:rPr>
              <a:t>Are </a:t>
            </a:r>
            <a:r>
              <a:rPr sz="1950" spc="275" dirty="0">
                <a:solidFill>
                  <a:srgbClr val="231F20"/>
                </a:solidFill>
                <a:latin typeface="Arial"/>
                <a:cs typeface="Arial"/>
              </a:rPr>
              <a:t>Static</a:t>
            </a:r>
            <a:r>
              <a:rPr sz="1950" spc="640" dirty="0">
                <a:solidFill>
                  <a:srgbClr val="231F20"/>
                </a:solidFill>
                <a:latin typeface="Arial"/>
                <a:cs typeface="Arial"/>
              </a:rPr>
              <a:t> </a:t>
            </a:r>
            <a:r>
              <a:rPr sz="1950" spc="215" dirty="0">
                <a:solidFill>
                  <a:srgbClr val="231F20"/>
                </a:solidFill>
                <a:latin typeface="Arial"/>
                <a:cs typeface="Arial"/>
              </a:rPr>
              <a:t>Analyzers?</a:t>
            </a:r>
            <a:endParaRPr sz="1950">
              <a:latin typeface="Arial"/>
              <a:cs typeface="Arial"/>
            </a:endParaRPr>
          </a:p>
          <a:p>
            <a:pPr marL="300990" indent="-288290">
              <a:lnSpc>
                <a:spcPct val="100000"/>
              </a:lnSpc>
              <a:spcBef>
                <a:spcPts val="1614"/>
              </a:spcBef>
              <a:buSzPct val="105128"/>
              <a:buFont typeface="Lucida Sans Unicode"/>
              <a:buChar char="•"/>
              <a:tabLst>
                <a:tab pos="301625" algn="l"/>
              </a:tabLst>
            </a:pPr>
            <a:r>
              <a:rPr sz="1950" spc="135" dirty="0">
                <a:solidFill>
                  <a:srgbClr val="231F20"/>
                </a:solidFill>
                <a:latin typeface="Arial"/>
                <a:cs typeface="Arial"/>
              </a:rPr>
              <a:t>Some </a:t>
            </a:r>
            <a:r>
              <a:rPr sz="1950" spc="210" dirty="0">
                <a:solidFill>
                  <a:srgbClr val="231F20"/>
                </a:solidFill>
                <a:latin typeface="Arial"/>
                <a:cs typeface="Arial"/>
              </a:rPr>
              <a:t>tool </a:t>
            </a:r>
            <a:r>
              <a:rPr sz="1950" spc="75" dirty="0">
                <a:solidFill>
                  <a:srgbClr val="231F20"/>
                </a:solidFill>
                <a:latin typeface="Arial"/>
                <a:cs typeface="Arial"/>
              </a:rPr>
              <a:t>licences </a:t>
            </a:r>
            <a:r>
              <a:rPr sz="1950" spc="145" dirty="0">
                <a:solidFill>
                  <a:srgbClr val="231F20"/>
                </a:solidFill>
                <a:latin typeface="Arial"/>
                <a:cs typeface="Arial"/>
              </a:rPr>
              <a:t>forbid</a:t>
            </a:r>
            <a:r>
              <a:rPr sz="1950" spc="720" dirty="0">
                <a:solidFill>
                  <a:srgbClr val="231F20"/>
                </a:solidFill>
                <a:latin typeface="Arial"/>
                <a:cs typeface="Arial"/>
              </a:rPr>
              <a:t> </a:t>
            </a:r>
            <a:r>
              <a:rPr sz="1950" spc="145" dirty="0">
                <a:solidFill>
                  <a:srgbClr val="231F20"/>
                </a:solidFill>
                <a:latin typeface="Arial"/>
                <a:cs typeface="Arial"/>
              </a:rPr>
              <a:t>benchmarking</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35" dirty="0">
                <a:solidFill>
                  <a:srgbClr val="231F20"/>
                </a:solidFill>
                <a:latin typeface="Arial"/>
                <a:cs typeface="Arial"/>
              </a:rPr>
              <a:t>Hard </a:t>
            </a:r>
            <a:r>
              <a:rPr sz="1950" spc="250" dirty="0">
                <a:solidFill>
                  <a:srgbClr val="231F20"/>
                </a:solidFill>
                <a:latin typeface="Arial"/>
                <a:cs typeface="Arial"/>
              </a:rPr>
              <a:t>to </a:t>
            </a:r>
            <a:r>
              <a:rPr sz="1950" spc="170" dirty="0">
                <a:solidFill>
                  <a:srgbClr val="231F20"/>
                </a:solidFill>
                <a:latin typeface="Arial"/>
                <a:cs typeface="Arial"/>
              </a:rPr>
              <a:t>get </a:t>
            </a:r>
            <a:r>
              <a:rPr sz="1950" spc="114" dirty="0">
                <a:solidFill>
                  <a:srgbClr val="231F20"/>
                </a:solidFill>
                <a:latin typeface="Arial"/>
                <a:cs typeface="Arial"/>
              </a:rPr>
              <a:t>representative</a:t>
            </a:r>
            <a:r>
              <a:rPr sz="1950" spc="565" dirty="0">
                <a:solidFill>
                  <a:srgbClr val="231F20"/>
                </a:solidFill>
                <a:latin typeface="Arial"/>
                <a:cs typeface="Arial"/>
              </a:rPr>
              <a:t> </a:t>
            </a:r>
            <a:r>
              <a:rPr sz="1950" spc="95" dirty="0">
                <a:solidFill>
                  <a:srgbClr val="231F20"/>
                </a:solidFill>
                <a:latin typeface="Arial"/>
                <a:cs typeface="Arial"/>
              </a:rPr>
              <a:t>examples</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235" dirty="0">
                <a:solidFill>
                  <a:srgbClr val="0000FF"/>
                </a:solidFill>
                <a:latin typeface="Arial"/>
                <a:cs typeface="Arial"/>
              </a:rPr>
              <a:t>NIST </a:t>
            </a:r>
            <a:r>
              <a:rPr sz="1950" spc="280" dirty="0">
                <a:solidFill>
                  <a:srgbClr val="0000FF"/>
                </a:solidFill>
                <a:latin typeface="Arial"/>
                <a:cs typeface="Arial"/>
              </a:rPr>
              <a:t>SAMATE </a:t>
            </a:r>
            <a:r>
              <a:rPr sz="1950" spc="150" dirty="0">
                <a:solidFill>
                  <a:srgbClr val="0000FF"/>
                </a:solidFill>
                <a:latin typeface="Arial"/>
                <a:cs typeface="Arial"/>
              </a:rPr>
              <a:t>study </a:t>
            </a:r>
            <a:r>
              <a:rPr sz="1950" spc="135" dirty="0">
                <a:solidFill>
                  <a:srgbClr val="0000FF"/>
                </a:solidFill>
                <a:latin typeface="Arial"/>
                <a:cs typeface="Arial"/>
              </a:rPr>
              <a:t>compared</a:t>
            </a:r>
            <a:r>
              <a:rPr sz="1950" spc="420" dirty="0">
                <a:solidFill>
                  <a:srgbClr val="0000FF"/>
                </a:solidFill>
                <a:latin typeface="Arial"/>
                <a:cs typeface="Arial"/>
              </a:rPr>
              <a:t> </a:t>
            </a:r>
            <a:r>
              <a:rPr sz="1950" spc="70" dirty="0">
                <a:solidFill>
                  <a:srgbClr val="0000FF"/>
                </a:solidFill>
                <a:latin typeface="Arial"/>
                <a:cs typeface="Arial"/>
              </a:rPr>
              <a:t>several</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65" dirty="0">
                <a:solidFill>
                  <a:srgbClr val="231F20"/>
                </a:solidFill>
                <a:latin typeface="Arial"/>
                <a:cs typeface="Arial"/>
              </a:rPr>
              <a:t>Found </a:t>
            </a:r>
            <a:r>
              <a:rPr sz="1950" spc="105" dirty="0">
                <a:solidFill>
                  <a:srgbClr val="231F20"/>
                </a:solidFill>
                <a:latin typeface="Arial"/>
                <a:cs typeface="Arial"/>
              </a:rPr>
              <a:t>all </a:t>
            </a:r>
            <a:r>
              <a:rPr sz="1950" spc="130" dirty="0">
                <a:solidFill>
                  <a:srgbClr val="231F20"/>
                </a:solidFill>
                <a:latin typeface="Arial"/>
                <a:cs typeface="Arial"/>
              </a:rPr>
              <a:t>had </a:t>
            </a:r>
            <a:r>
              <a:rPr sz="1950" spc="145" dirty="0">
                <a:solidFill>
                  <a:srgbClr val="231F20"/>
                </a:solidFill>
                <a:latin typeface="Arial"/>
                <a:cs typeface="Arial"/>
              </a:rPr>
              <a:t>strengths </a:t>
            </a:r>
            <a:r>
              <a:rPr sz="1950" spc="130" dirty="0">
                <a:solidFill>
                  <a:srgbClr val="231F20"/>
                </a:solidFill>
                <a:latin typeface="Arial"/>
                <a:cs typeface="Arial"/>
              </a:rPr>
              <a:t>and </a:t>
            </a:r>
            <a:r>
              <a:rPr sz="1950" spc="145" dirty="0">
                <a:solidFill>
                  <a:srgbClr val="231F20"/>
                </a:solidFill>
                <a:latin typeface="Arial"/>
                <a:cs typeface="Arial"/>
              </a:rPr>
              <a:t> </a:t>
            </a:r>
            <a:r>
              <a:rPr sz="1950" spc="55" dirty="0">
                <a:solidFill>
                  <a:srgbClr val="231F20"/>
                </a:solidFill>
                <a:latin typeface="Arial"/>
                <a:cs typeface="Arial"/>
              </a:rPr>
              <a:t>weaknesses</a:t>
            </a:r>
            <a:endParaRPr sz="1950">
              <a:latin typeface="Arial"/>
              <a:cs typeface="Arial"/>
            </a:endParaRPr>
          </a:p>
          <a:p>
            <a:pPr marL="741680" marR="1201420" lvl="1" indent="-288290">
              <a:lnSpc>
                <a:spcPct val="125000"/>
              </a:lnSpc>
              <a:spcBef>
                <a:spcPts val="204"/>
              </a:spcBef>
              <a:buSzPct val="105128"/>
              <a:buFont typeface="Lucida Sans Unicode"/>
              <a:buChar char="◦"/>
              <a:tabLst>
                <a:tab pos="742315" algn="l"/>
              </a:tabLst>
            </a:pPr>
            <a:r>
              <a:rPr sz="1950" spc="90" dirty="0">
                <a:solidFill>
                  <a:srgbClr val="231F20"/>
                </a:solidFill>
                <a:latin typeface="Arial"/>
                <a:cs typeface="Arial"/>
              </a:rPr>
              <a:t>Needed </a:t>
            </a:r>
            <a:r>
              <a:rPr sz="1950" spc="85" dirty="0">
                <a:solidFill>
                  <a:srgbClr val="231F20"/>
                </a:solidFill>
                <a:latin typeface="Arial"/>
                <a:cs typeface="Arial"/>
              </a:rPr>
              <a:t>a </a:t>
            </a:r>
            <a:r>
              <a:rPr sz="1950" spc="165" dirty="0">
                <a:solidFill>
                  <a:srgbClr val="231F20"/>
                </a:solidFill>
                <a:latin typeface="Arial"/>
                <a:cs typeface="Arial"/>
              </a:rPr>
              <a:t>combination </a:t>
            </a:r>
            <a:r>
              <a:rPr sz="1950" spc="250" dirty="0">
                <a:solidFill>
                  <a:srgbClr val="231F20"/>
                </a:solidFill>
                <a:latin typeface="Arial"/>
                <a:cs typeface="Arial"/>
              </a:rPr>
              <a:t>to </a:t>
            </a:r>
            <a:r>
              <a:rPr sz="1950" spc="170" dirty="0">
                <a:solidFill>
                  <a:srgbClr val="231F20"/>
                </a:solidFill>
                <a:latin typeface="Arial"/>
                <a:cs typeface="Arial"/>
              </a:rPr>
              <a:t>get </a:t>
            </a:r>
            <a:r>
              <a:rPr sz="1950" spc="105" dirty="0">
                <a:solidFill>
                  <a:srgbClr val="231F20"/>
                </a:solidFill>
                <a:latin typeface="Arial"/>
                <a:cs typeface="Arial"/>
              </a:rPr>
              <a:t>comprehensive </a:t>
            </a:r>
            <a:r>
              <a:rPr sz="1950" spc="155" dirty="0">
                <a:solidFill>
                  <a:srgbClr val="231F20"/>
                </a:solidFill>
                <a:latin typeface="Arial"/>
                <a:cs typeface="Arial"/>
              </a:rPr>
              <a:t>bug  detection</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204" dirty="0">
                <a:solidFill>
                  <a:srgbClr val="231F20"/>
                </a:solidFill>
                <a:latin typeface="Arial"/>
                <a:cs typeface="Arial"/>
              </a:rPr>
              <a:t>This </a:t>
            </a:r>
            <a:r>
              <a:rPr sz="1950" spc="75" dirty="0">
                <a:solidFill>
                  <a:srgbClr val="231F20"/>
                </a:solidFill>
                <a:latin typeface="Arial"/>
                <a:cs typeface="Arial"/>
              </a:rPr>
              <a:t>was </a:t>
            </a:r>
            <a:r>
              <a:rPr sz="1950" spc="155" dirty="0">
                <a:solidFill>
                  <a:srgbClr val="231F20"/>
                </a:solidFill>
                <a:latin typeface="Arial"/>
                <a:cs typeface="Arial"/>
              </a:rPr>
              <a:t>bug </a:t>
            </a:r>
            <a:r>
              <a:rPr sz="1950" spc="150" dirty="0">
                <a:solidFill>
                  <a:srgbClr val="231F20"/>
                </a:solidFill>
                <a:latin typeface="Arial"/>
                <a:cs typeface="Arial"/>
              </a:rPr>
              <a:t>finding, </a:t>
            </a:r>
            <a:r>
              <a:rPr sz="1950" spc="220" dirty="0">
                <a:solidFill>
                  <a:srgbClr val="231F20"/>
                </a:solidFill>
                <a:latin typeface="Arial"/>
                <a:cs typeface="Arial"/>
              </a:rPr>
              <a:t>not</a:t>
            </a:r>
            <a:r>
              <a:rPr sz="1950" spc="780" dirty="0">
                <a:solidFill>
                  <a:srgbClr val="231F20"/>
                </a:solidFill>
                <a:latin typeface="Arial"/>
                <a:cs typeface="Arial"/>
              </a:rPr>
              <a:t> </a:t>
            </a:r>
            <a:r>
              <a:rPr sz="1950" spc="80" dirty="0">
                <a:solidFill>
                  <a:srgbClr val="231F20"/>
                </a:solidFill>
                <a:latin typeface="Arial"/>
                <a:cs typeface="Arial"/>
              </a:rPr>
              <a:t>assurance</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60" dirty="0">
                <a:solidFill>
                  <a:srgbClr val="231F20"/>
                </a:solidFill>
                <a:latin typeface="Arial"/>
                <a:cs typeface="Arial"/>
              </a:rPr>
              <a:t>Anecdotal </a:t>
            </a:r>
            <a:r>
              <a:rPr sz="1950" spc="85" dirty="0">
                <a:solidFill>
                  <a:srgbClr val="231F20"/>
                </a:solidFill>
                <a:latin typeface="Arial"/>
                <a:cs typeface="Arial"/>
              </a:rPr>
              <a:t>evidence </a:t>
            </a:r>
            <a:r>
              <a:rPr sz="1950" spc="40" dirty="0">
                <a:solidFill>
                  <a:srgbClr val="231F20"/>
                </a:solidFill>
                <a:latin typeface="Arial"/>
                <a:cs typeface="Arial"/>
              </a:rPr>
              <a:t>is </a:t>
            </a:r>
            <a:r>
              <a:rPr sz="1950" spc="160" dirty="0">
                <a:solidFill>
                  <a:srgbClr val="231F20"/>
                </a:solidFill>
                <a:latin typeface="Arial"/>
                <a:cs typeface="Arial"/>
              </a:rPr>
              <a:t>they </a:t>
            </a:r>
            <a:r>
              <a:rPr sz="1950" spc="65" dirty="0">
                <a:solidFill>
                  <a:srgbClr val="231F20"/>
                </a:solidFill>
                <a:latin typeface="Arial"/>
                <a:cs typeface="Arial"/>
              </a:rPr>
              <a:t>are </a:t>
            </a:r>
            <a:r>
              <a:rPr sz="1950" spc="105" dirty="0">
                <a:solidFill>
                  <a:srgbClr val="231F20"/>
                </a:solidFill>
                <a:latin typeface="Arial"/>
                <a:cs typeface="Arial"/>
              </a:rPr>
              <a:t>very useful </a:t>
            </a:r>
            <a:r>
              <a:rPr sz="1950" spc="155" dirty="0">
                <a:solidFill>
                  <a:srgbClr val="231F20"/>
                </a:solidFill>
                <a:latin typeface="Arial"/>
                <a:cs typeface="Arial"/>
              </a:rPr>
              <a:t>for </a:t>
            </a:r>
            <a:r>
              <a:rPr sz="1950" spc="100" dirty="0">
                <a:solidFill>
                  <a:srgbClr val="231F20"/>
                </a:solidFill>
                <a:latin typeface="Arial"/>
                <a:cs typeface="Arial"/>
              </a:rPr>
              <a:t>general  </a:t>
            </a:r>
            <a:r>
              <a:rPr sz="1950" spc="400" dirty="0">
                <a:solidFill>
                  <a:srgbClr val="231F20"/>
                </a:solidFill>
                <a:latin typeface="Arial"/>
                <a:cs typeface="Arial"/>
              </a:rPr>
              <a:t> </a:t>
            </a:r>
            <a:r>
              <a:rPr sz="1950" spc="345" dirty="0">
                <a:solidFill>
                  <a:srgbClr val="231F20"/>
                </a:solidFill>
                <a:latin typeface="Arial"/>
                <a:cs typeface="Arial"/>
              </a:rPr>
              <a:t>QA</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95" dirty="0">
                <a:solidFill>
                  <a:srgbClr val="231F20"/>
                </a:solidFill>
                <a:latin typeface="Arial"/>
                <a:cs typeface="Arial"/>
              </a:rPr>
              <a:t>Need </a:t>
            </a:r>
            <a:r>
              <a:rPr sz="1950" spc="250" dirty="0">
                <a:solidFill>
                  <a:srgbClr val="231F20"/>
                </a:solidFill>
                <a:latin typeface="Arial"/>
                <a:cs typeface="Arial"/>
              </a:rPr>
              <a:t>to </a:t>
            </a:r>
            <a:r>
              <a:rPr sz="1950" spc="114" dirty="0">
                <a:solidFill>
                  <a:srgbClr val="231F20"/>
                </a:solidFill>
                <a:latin typeface="Arial"/>
                <a:cs typeface="Arial"/>
              </a:rPr>
              <a:t>be </a:t>
            </a:r>
            <a:r>
              <a:rPr sz="1950" spc="165" dirty="0">
                <a:solidFill>
                  <a:srgbClr val="231F20"/>
                </a:solidFill>
                <a:latin typeface="Arial"/>
                <a:cs typeface="Arial"/>
              </a:rPr>
              <a:t>tuned </a:t>
            </a:r>
            <a:r>
              <a:rPr sz="1950" spc="250" dirty="0">
                <a:solidFill>
                  <a:srgbClr val="231F20"/>
                </a:solidFill>
                <a:latin typeface="Arial"/>
                <a:cs typeface="Arial"/>
              </a:rPr>
              <a:t>to </a:t>
            </a:r>
            <a:r>
              <a:rPr sz="1950" spc="125" dirty="0">
                <a:solidFill>
                  <a:srgbClr val="231F20"/>
                </a:solidFill>
                <a:latin typeface="Arial"/>
                <a:cs typeface="Arial"/>
              </a:rPr>
              <a:t>individual </a:t>
            </a:r>
            <a:r>
              <a:rPr sz="1950" spc="130" dirty="0">
                <a:solidFill>
                  <a:srgbClr val="231F20"/>
                </a:solidFill>
                <a:latin typeface="Arial"/>
                <a:cs typeface="Arial"/>
              </a:rPr>
              <a:t> </a:t>
            </a:r>
            <a:r>
              <a:rPr sz="1950" spc="155" dirty="0">
                <a:solidFill>
                  <a:srgbClr val="231F20"/>
                </a:solidFill>
                <a:latin typeface="Arial"/>
                <a:cs typeface="Arial"/>
              </a:rPr>
              <a:t>environment</a:t>
            </a:r>
            <a:endParaRPr sz="1950">
              <a:latin typeface="Arial"/>
              <a:cs typeface="Arial"/>
            </a:endParaRPr>
          </a:p>
          <a:p>
            <a:pPr marL="300990" marR="197485" indent="-288290">
              <a:lnSpc>
                <a:spcPct val="125000"/>
              </a:lnSpc>
              <a:spcBef>
                <a:spcPts val="1035"/>
              </a:spcBef>
              <a:buSzPct val="105128"/>
              <a:buFont typeface="Lucida Sans Unicode"/>
              <a:buChar char="•"/>
              <a:tabLst>
                <a:tab pos="301625" algn="l"/>
              </a:tabLst>
            </a:pPr>
            <a:r>
              <a:rPr sz="1950" spc="114" dirty="0">
                <a:solidFill>
                  <a:srgbClr val="231F20"/>
                </a:solidFill>
                <a:latin typeface="Arial"/>
                <a:cs typeface="Arial"/>
              </a:rPr>
              <a:t>e.g., </a:t>
            </a:r>
            <a:r>
              <a:rPr sz="1950" spc="25" dirty="0">
                <a:solidFill>
                  <a:srgbClr val="FF0000"/>
                </a:solidFill>
                <a:latin typeface="Arial"/>
                <a:cs typeface="Arial"/>
              </a:rPr>
              <a:t>Astr´ee </a:t>
            </a:r>
            <a:r>
              <a:rPr sz="1950" spc="165" dirty="0">
                <a:solidFill>
                  <a:srgbClr val="231F20"/>
                </a:solidFill>
                <a:latin typeface="Arial"/>
                <a:cs typeface="Arial"/>
              </a:rPr>
              <a:t>tuned </a:t>
            </a:r>
            <a:r>
              <a:rPr sz="1950" spc="250" dirty="0">
                <a:solidFill>
                  <a:srgbClr val="231F20"/>
                </a:solidFill>
                <a:latin typeface="Arial"/>
                <a:cs typeface="Arial"/>
              </a:rPr>
              <a:t>to </a:t>
            </a:r>
            <a:r>
              <a:rPr sz="1950" spc="140" dirty="0">
                <a:solidFill>
                  <a:srgbClr val="231F20"/>
                </a:solidFill>
                <a:latin typeface="Arial"/>
                <a:cs typeface="Arial"/>
              </a:rPr>
              <a:t>Airbus </a:t>
            </a:r>
            <a:r>
              <a:rPr sz="1950" spc="185" dirty="0">
                <a:solidFill>
                  <a:srgbClr val="231F20"/>
                </a:solidFill>
                <a:latin typeface="Arial"/>
                <a:cs typeface="Arial"/>
              </a:rPr>
              <a:t>A380 </a:t>
            </a:r>
            <a:r>
              <a:rPr sz="1950" spc="160" dirty="0">
                <a:solidFill>
                  <a:srgbClr val="231F20"/>
                </a:solidFill>
                <a:latin typeface="Arial"/>
                <a:cs typeface="Arial"/>
              </a:rPr>
              <a:t>SCADE-generated </a:t>
            </a:r>
            <a:r>
              <a:rPr sz="1950" spc="155" dirty="0">
                <a:solidFill>
                  <a:srgbClr val="231F20"/>
                </a:solidFill>
                <a:latin typeface="Arial"/>
                <a:cs typeface="Arial"/>
              </a:rPr>
              <a:t>digital  </a:t>
            </a:r>
            <a:r>
              <a:rPr sz="1950" spc="135" dirty="0">
                <a:solidFill>
                  <a:srgbClr val="231F20"/>
                </a:solidFill>
                <a:latin typeface="Arial"/>
                <a:cs typeface="Arial"/>
              </a:rPr>
              <a:t>filters </a:t>
            </a:r>
            <a:r>
              <a:rPr sz="1950" spc="40" dirty="0">
                <a:solidFill>
                  <a:srgbClr val="231F20"/>
                </a:solidFill>
                <a:latin typeface="Arial"/>
                <a:cs typeface="Arial"/>
              </a:rPr>
              <a:t>is </a:t>
            </a:r>
            <a:r>
              <a:rPr sz="1950" spc="114" dirty="0">
                <a:solidFill>
                  <a:srgbClr val="231F20"/>
                </a:solidFill>
                <a:latin typeface="Arial"/>
                <a:cs typeface="Arial"/>
              </a:rPr>
              <a:t>sound </a:t>
            </a:r>
            <a:r>
              <a:rPr sz="1950" spc="130" dirty="0">
                <a:solidFill>
                  <a:srgbClr val="231F20"/>
                </a:solidFill>
                <a:latin typeface="Arial"/>
                <a:cs typeface="Arial"/>
              </a:rPr>
              <a:t>and </a:t>
            </a:r>
            <a:r>
              <a:rPr sz="1950" spc="145" dirty="0">
                <a:solidFill>
                  <a:srgbClr val="231F20"/>
                </a:solidFill>
                <a:latin typeface="Arial"/>
                <a:cs typeface="Arial"/>
              </a:rPr>
              <a:t>pragmatically </a:t>
            </a:r>
            <a:r>
              <a:rPr sz="1950" spc="320" dirty="0">
                <a:solidFill>
                  <a:srgbClr val="231F20"/>
                </a:solidFill>
                <a:latin typeface="Arial"/>
                <a:cs typeface="Arial"/>
              </a:rPr>
              <a:t> </a:t>
            </a:r>
            <a:r>
              <a:rPr sz="1950" spc="150" dirty="0">
                <a:solidFill>
                  <a:srgbClr val="231F20"/>
                </a:solidFill>
                <a:latin typeface="Arial"/>
                <a:cs typeface="Arial"/>
              </a:rPr>
              <a:t>complete</a:t>
            </a:r>
            <a:endParaRPr sz="1950">
              <a:latin typeface="Arial"/>
              <a:cs typeface="Arial"/>
            </a:endParaRPr>
          </a:p>
          <a:p>
            <a:pPr marL="300990" marR="5080" indent="-288290">
              <a:lnSpc>
                <a:spcPct val="125000"/>
              </a:lnSpc>
              <a:spcBef>
                <a:spcPts val="1030"/>
              </a:spcBef>
              <a:buSzPct val="105128"/>
              <a:buFont typeface="Lucida Sans Unicode"/>
              <a:buChar char="•"/>
              <a:tabLst>
                <a:tab pos="301625" algn="l"/>
              </a:tabLst>
            </a:pPr>
            <a:r>
              <a:rPr sz="1950" spc="185" dirty="0">
                <a:solidFill>
                  <a:srgbClr val="231F20"/>
                </a:solidFill>
                <a:latin typeface="Arial"/>
                <a:cs typeface="Arial"/>
              </a:rPr>
              <a:t>There </a:t>
            </a:r>
            <a:r>
              <a:rPr sz="1950" spc="65" dirty="0">
                <a:solidFill>
                  <a:srgbClr val="231F20"/>
                </a:solidFill>
                <a:latin typeface="Arial"/>
                <a:cs typeface="Arial"/>
              </a:rPr>
              <a:t>are </a:t>
            </a:r>
            <a:r>
              <a:rPr sz="1950" spc="100" dirty="0">
                <a:solidFill>
                  <a:srgbClr val="231F20"/>
                </a:solidFill>
                <a:latin typeface="Arial"/>
                <a:cs typeface="Arial"/>
              </a:rPr>
              <a:t>papers </a:t>
            </a:r>
            <a:r>
              <a:rPr sz="1950" spc="105" dirty="0">
                <a:solidFill>
                  <a:srgbClr val="231F20"/>
                </a:solidFill>
                <a:latin typeface="Arial"/>
                <a:cs typeface="Arial"/>
              </a:rPr>
              <a:t>by </a:t>
            </a:r>
            <a:r>
              <a:rPr sz="1950" spc="140" dirty="0">
                <a:solidFill>
                  <a:srgbClr val="231F20"/>
                </a:solidFill>
                <a:latin typeface="Arial"/>
                <a:cs typeface="Arial"/>
              </a:rPr>
              <a:t>Raoul </a:t>
            </a:r>
            <a:r>
              <a:rPr sz="1950" spc="130" dirty="0">
                <a:solidFill>
                  <a:srgbClr val="231F20"/>
                </a:solidFill>
                <a:latin typeface="Arial"/>
                <a:cs typeface="Arial"/>
              </a:rPr>
              <a:t>Jetley and </a:t>
            </a:r>
            <a:r>
              <a:rPr sz="1950" spc="135" dirty="0">
                <a:solidFill>
                  <a:srgbClr val="231F20"/>
                </a:solidFill>
                <a:latin typeface="Arial"/>
                <a:cs typeface="Arial"/>
              </a:rPr>
              <a:t>others </a:t>
            </a:r>
            <a:r>
              <a:rPr sz="1950" spc="185" dirty="0">
                <a:solidFill>
                  <a:srgbClr val="231F20"/>
                </a:solidFill>
                <a:latin typeface="Arial"/>
                <a:cs typeface="Arial"/>
              </a:rPr>
              <a:t>of </a:t>
            </a:r>
            <a:r>
              <a:rPr sz="1950" spc="285" dirty="0">
                <a:solidFill>
                  <a:srgbClr val="231F20"/>
                </a:solidFill>
                <a:latin typeface="Arial"/>
                <a:cs typeface="Arial"/>
              </a:rPr>
              <a:t>FDA </a:t>
            </a:r>
            <a:r>
              <a:rPr sz="1950" spc="130" dirty="0">
                <a:solidFill>
                  <a:srgbClr val="231F20"/>
                </a:solidFill>
                <a:latin typeface="Arial"/>
                <a:cs typeface="Arial"/>
              </a:rPr>
              <a:t>applying  </a:t>
            </a:r>
            <a:r>
              <a:rPr sz="1950" spc="160" dirty="0">
                <a:solidFill>
                  <a:srgbClr val="231F20"/>
                </a:solidFill>
                <a:latin typeface="Arial"/>
                <a:cs typeface="Arial"/>
              </a:rPr>
              <a:t>tools </a:t>
            </a:r>
            <a:r>
              <a:rPr sz="1950" spc="250" dirty="0">
                <a:solidFill>
                  <a:srgbClr val="231F20"/>
                </a:solidFill>
                <a:latin typeface="Arial"/>
                <a:cs typeface="Arial"/>
              </a:rPr>
              <a:t>to </a:t>
            </a:r>
            <a:r>
              <a:rPr sz="1950" spc="130" dirty="0">
                <a:solidFill>
                  <a:srgbClr val="231F20"/>
                </a:solidFill>
                <a:latin typeface="Arial"/>
                <a:cs typeface="Arial"/>
              </a:rPr>
              <a:t>medical </a:t>
            </a:r>
            <a:r>
              <a:rPr sz="1950" spc="90" dirty="0">
                <a:solidFill>
                  <a:srgbClr val="231F20"/>
                </a:solidFill>
                <a:latin typeface="Arial"/>
                <a:cs typeface="Arial"/>
              </a:rPr>
              <a:t>device</a:t>
            </a:r>
            <a:r>
              <a:rPr sz="1950" spc="530" dirty="0">
                <a:solidFill>
                  <a:srgbClr val="231F20"/>
                </a:solidFill>
                <a:latin typeface="Arial"/>
                <a:cs typeface="Arial"/>
              </a:rPr>
              <a:t> </a:t>
            </a:r>
            <a:r>
              <a:rPr sz="1950" spc="125" dirty="0">
                <a:solidFill>
                  <a:srgbClr val="231F20"/>
                </a:solidFill>
                <a:latin typeface="Arial"/>
                <a:cs typeface="Arial"/>
              </a:rPr>
              <a:t>software</a:t>
            </a:r>
            <a:endParaRPr sz="1950">
              <a:latin typeface="Arial"/>
              <a:cs typeface="Arial"/>
            </a:endParaRPr>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914439"/>
            <a:ext cx="7613650" cy="4960620"/>
          </a:xfrm>
          <a:prstGeom prst="rect">
            <a:avLst/>
          </a:prstGeom>
        </p:spPr>
        <p:txBody>
          <a:bodyPr vert="horz" wrap="square" lIns="0" tIns="0" rIns="0" bIns="0" rtlCol="0">
            <a:spAutoFit/>
          </a:bodyPr>
          <a:lstStyle/>
          <a:p>
            <a:pPr marL="969644">
              <a:lnSpc>
                <a:spcPct val="100000"/>
              </a:lnSpc>
              <a:tabLst>
                <a:tab pos="3532504" algn="l"/>
              </a:tabLst>
            </a:pPr>
            <a:r>
              <a:rPr sz="1950" spc="185" dirty="0">
                <a:solidFill>
                  <a:srgbClr val="231F20"/>
                </a:solidFill>
                <a:latin typeface="Arial"/>
                <a:cs typeface="Arial"/>
              </a:rPr>
              <a:t>Possible </a:t>
            </a:r>
            <a:r>
              <a:rPr sz="1950" spc="780" dirty="0">
                <a:solidFill>
                  <a:srgbClr val="231F20"/>
                </a:solidFill>
                <a:latin typeface="Arial"/>
                <a:cs typeface="Arial"/>
              </a:rPr>
              <a:t> </a:t>
            </a:r>
            <a:r>
              <a:rPr sz="1950" spc="250" dirty="0">
                <a:solidFill>
                  <a:srgbClr val="231F20"/>
                </a:solidFill>
                <a:latin typeface="Arial"/>
                <a:cs typeface="Arial"/>
              </a:rPr>
              <a:t>Futures:	</a:t>
            </a:r>
            <a:r>
              <a:rPr sz="1950" spc="280" dirty="0">
                <a:solidFill>
                  <a:srgbClr val="231F20"/>
                </a:solidFill>
                <a:latin typeface="Arial"/>
                <a:cs typeface="Arial"/>
              </a:rPr>
              <a:t>Combination </a:t>
            </a:r>
            <a:r>
              <a:rPr sz="1950" spc="385" dirty="0">
                <a:solidFill>
                  <a:srgbClr val="231F20"/>
                </a:solidFill>
                <a:latin typeface="Arial"/>
                <a:cs typeface="Arial"/>
              </a:rPr>
              <a:t>With</a:t>
            </a:r>
            <a:r>
              <a:rPr sz="1950" spc="400" dirty="0">
                <a:solidFill>
                  <a:srgbClr val="231F20"/>
                </a:solidFill>
                <a:latin typeface="Arial"/>
                <a:cs typeface="Arial"/>
              </a:rPr>
              <a:t> </a:t>
            </a:r>
            <a:r>
              <a:rPr sz="1950" spc="265" dirty="0">
                <a:solidFill>
                  <a:srgbClr val="231F20"/>
                </a:solidFill>
                <a:latin typeface="Arial"/>
                <a:cs typeface="Arial"/>
              </a:rPr>
              <a:t>Testing</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204" dirty="0">
                <a:solidFill>
                  <a:srgbClr val="0000FF"/>
                </a:solidFill>
                <a:latin typeface="Arial"/>
                <a:cs typeface="Arial"/>
              </a:rPr>
              <a:t>Automated </a:t>
            </a:r>
            <a:r>
              <a:rPr sz="1950" spc="170" dirty="0">
                <a:solidFill>
                  <a:srgbClr val="0000FF"/>
                </a:solidFill>
                <a:latin typeface="Arial"/>
                <a:cs typeface="Arial"/>
              </a:rPr>
              <a:t>test </a:t>
            </a:r>
            <a:r>
              <a:rPr sz="1950" spc="135" dirty="0">
                <a:solidFill>
                  <a:srgbClr val="0000FF"/>
                </a:solidFill>
                <a:latin typeface="Arial"/>
                <a:cs typeface="Arial"/>
              </a:rPr>
              <a:t>generation </a:t>
            </a:r>
            <a:r>
              <a:rPr sz="1950" spc="40" dirty="0">
                <a:solidFill>
                  <a:srgbClr val="0000FF"/>
                </a:solidFill>
                <a:latin typeface="Arial"/>
                <a:cs typeface="Arial"/>
              </a:rPr>
              <a:t>is </a:t>
            </a:r>
            <a:r>
              <a:rPr sz="1950" spc="185" dirty="0">
                <a:solidFill>
                  <a:srgbClr val="0000FF"/>
                </a:solidFill>
                <a:latin typeface="Arial"/>
                <a:cs typeface="Arial"/>
              </a:rPr>
              <a:t>getting </a:t>
            </a:r>
            <a:r>
              <a:rPr sz="1950" spc="170" dirty="0">
                <a:solidFill>
                  <a:srgbClr val="0000FF"/>
                </a:solidFill>
                <a:latin typeface="Arial"/>
                <a:cs typeface="Arial"/>
              </a:rPr>
              <a:t>pretty </a:t>
            </a:r>
            <a:r>
              <a:rPr sz="1950" spc="240" dirty="0">
                <a:solidFill>
                  <a:srgbClr val="0000FF"/>
                </a:solidFill>
                <a:latin typeface="Arial"/>
                <a:cs typeface="Arial"/>
              </a:rPr>
              <a:t> </a:t>
            </a:r>
            <a:r>
              <a:rPr sz="1950" spc="185" dirty="0">
                <a:solidFill>
                  <a:srgbClr val="0000FF"/>
                </a:solidFill>
                <a:latin typeface="Arial"/>
                <a:cs typeface="Arial"/>
              </a:rPr>
              <a:t>good</a:t>
            </a:r>
            <a:endParaRPr sz="1950">
              <a:latin typeface="Arial"/>
              <a:cs typeface="Arial"/>
            </a:endParaRPr>
          </a:p>
          <a:p>
            <a:pPr marL="300990" marR="531495" indent="-288290">
              <a:lnSpc>
                <a:spcPct val="125000"/>
              </a:lnSpc>
              <a:spcBef>
                <a:spcPts val="1345"/>
              </a:spcBef>
              <a:buSzPct val="105128"/>
              <a:buFont typeface="Lucida Sans Unicode"/>
              <a:buChar char="•"/>
              <a:tabLst>
                <a:tab pos="301625" algn="l"/>
              </a:tabLst>
            </a:pPr>
            <a:r>
              <a:rPr sz="1950" spc="60" dirty="0">
                <a:solidFill>
                  <a:srgbClr val="231F20"/>
                </a:solidFill>
                <a:latin typeface="Arial"/>
                <a:cs typeface="Arial"/>
              </a:rPr>
              <a:t>Use </a:t>
            </a:r>
            <a:r>
              <a:rPr sz="1950" spc="85" dirty="0">
                <a:solidFill>
                  <a:srgbClr val="231F20"/>
                </a:solidFill>
                <a:latin typeface="Arial"/>
                <a:cs typeface="Arial"/>
              </a:rPr>
              <a:t>a </a:t>
            </a:r>
            <a:r>
              <a:rPr sz="1950" spc="160" dirty="0">
                <a:solidFill>
                  <a:srgbClr val="231F20"/>
                </a:solidFill>
                <a:latin typeface="Arial"/>
                <a:cs typeface="Arial"/>
              </a:rPr>
              <a:t>constraint </a:t>
            </a:r>
            <a:r>
              <a:rPr sz="1950" spc="90" dirty="0">
                <a:solidFill>
                  <a:srgbClr val="231F20"/>
                </a:solidFill>
                <a:latin typeface="Arial"/>
                <a:cs typeface="Arial"/>
              </a:rPr>
              <a:t>solver </a:t>
            </a:r>
            <a:r>
              <a:rPr sz="1950" spc="250" dirty="0">
                <a:solidFill>
                  <a:srgbClr val="231F20"/>
                </a:solidFill>
                <a:latin typeface="Arial"/>
                <a:cs typeface="Arial"/>
              </a:rPr>
              <a:t>to </a:t>
            </a:r>
            <a:r>
              <a:rPr sz="1950" spc="160" dirty="0">
                <a:solidFill>
                  <a:srgbClr val="231F20"/>
                </a:solidFill>
                <a:latin typeface="Arial"/>
                <a:cs typeface="Arial"/>
              </a:rPr>
              <a:t>find </a:t>
            </a:r>
            <a:r>
              <a:rPr sz="1950" spc="85" dirty="0">
                <a:solidFill>
                  <a:srgbClr val="231F20"/>
                </a:solidFill>
                <a:latin typeface="Arial"/>
                <a:cs typeface="Arial"/>
              </a:rPr>
              <a:t>a </a:t>
            </a:r>
            <a:r>
              <a:rPr sz="1950" spc="114" dirty="0">
                <a:solidFill>
                  <a:srgbClr val="231F20"/>
                </a:solidFill>
                <a:latin typeface="Arial"/>
                <a:cs typeface="Arial"/>
              </a:rPr>
              <a:t>witness </a:t>
            </a:r>
            <a:r>
              <a:rPr sz="1950" spc="250" dirty="0">
                <a:solidFill>
                  <a:srgbClr val="231F20"/>
                </a:solidFill>
                <a:latin typeface="Arial"/>
                <a:cs typeface="Arial"/>
              </a:rPr>
              <a:t>to </a:t>
            </a:r>
            <a:r>
              <a:rPr sz="1950" spc="175" dirty="0">
                <a:solidFill>
                  <a:srgbClr val="231F20"/>
                </a:solidFill>
                <a:latin typeface="Arial"/>
                <a:cs typeface="Arial"/>
              </a:rPr>
              <a:t>the </a:t>
            </a:r>
            <a:r>
              <a:rPr sz="1950" spc="185" dirty="0">
                <a:solidFill>
                  <a:srgbClr val="231F20"/>
                </a:solidFill>
                <a:latin typeface="Arial"/>
                <a:cs typeface="Arial"/>
              </a:rPr>
              <a:t>path  </a:t>
            </a:r>
            <a:r>
              <a:rPr sz="1950" spc="120" dirty="0">
                <a:solidFill>
                  <a:srgbClr val="231F20"/>
                </a:solidFill>
                <a:latin typeface="Arial"/>
                <a:cs typeface="Arial"/>
              </a:rPr>
              <a:t>predicate </a:t>
            </a:r>
            <a:r>
              <a:rPr sz="1950" spc="110" dirty="0">
                <a:solidFill>
                  <a:srgbClr val="231F20"/>
                </a:solidFill>
                <a:latin typeface="Arial"/>
                <a:cs typeface="Arial"/>
              </a:rPr>
              <a:t>leading </a:t>
            </a:r>
            <a:r>
              <a:rPr sz="1950" spc="250" dirty="0">
                <a:solidFill>
                  <a:srgbClr val="231F20"/>
                </a:solidFill>
                <a:latin typeface="Arial"/>
                <a:cs typeface="Arial"/>
              </a:rPr>
              <a:t>to </a:t>
            </a:r>
            <a:r>
              <a:rPr sz="1950" spc="85" dirty="0">
                <a:solidFill>
                  <a:srgbClr val="231F20"/>
                </a:solidFill>
                <a:latin typeface="Arial"/>
                <a:cs typeface="Arial"/>
              </a:rPr>
              <a:t>a </a:t>
            </a:r>
            <a:r>
              <a:rPr sz="1950" spc="110" dirty="0">
                <a:solidFill>
                  <a:srgbClr val="231F20"/>
                </a:solidFill>
                <a:latin typeface="Arial"/>
                <a:cs typeface="Arial"/>
              </a:rPr>
              <a:t>given </a:t>
            </a:r>
            <a:r>
              <a:rPr sz="1950" spc="180" dirty="0">
                <a:solidFill>
                  <a:srgbClr val="231F20"/>
                </a:solidFill>
                <a:latin typeface="Arial"/>
                <a:cs typeface="Arial"/>
              </a:rPr>
              <a:t> </a:t>
            </a:r>
            <a:r>
              <a:rPr sz="1950" spc="155" dirty="0">
                <a:solidFill>
                  <a:srgbClr val="231F20"/>
                </a:solidFill>
                <a:latin typeface="Arial"/>
                <a:cs typeface="Arial"/>
              </a:rPr>
              <a:t>state</a:t>
            </a:r>
            <a:endParaRPr sz="1950">
              <a:latin typeface="Arial"/>
              <a:cs typeface="Arial"/>
            </a:endParaRPr>
          </a:p>
          <a:p>
            <a:pPr marL="741680" marR="50165" lvl="1" indent="-288290">
              <a:lnSpc>
                <a:spcPct val="125000"/>
              </a:lnSpc>
              <a:spcBef>
                <a:spcPts val="515"/>
              </a:spcBef>
              <a:buClr>
                <a:srgbClr val="231F20"/>
              </a:buClr>
              <a:buSzPct val="105128"/>
              <a:buFont typeface="Lucida Sans Unicode"/>
              <a:buChar char="◦"/>
              <a:tabLst>
                <a:tab pos="742315" algn="l"/>
              </a:tabLst>
            </a:pPr>
            <a:r>
              <a:rPr sz="1950" spc="114" dirty="0">
                <a:solidFill>
                  <a:srgbClr val="0000FF"/>
                </a:solidFill>
                <a:latin typeface="Arial"/>
                <a:cs typeface="Arial"/>
              </a:rPr>
              <a:t>e.g., </a:t>
            </a:r>
            <a:r>
              <a:rPr sz="1950" spc="125" dirty="0">
                <a:solidFill>
                  <a:srgbClr val="0000FF"/>
                </a:solidFill>
                <a:latin typeface="Arial"/>
                <a:cs typeface="Arial"/>
              </a:rPr>
              <a:t>counterexamples </a:t>
            </a:r>
            <a:r>
              <a:rPr sz="1950" spc="210" dirty="0">
                <a:solidFill>
                  <a:srgbClr val="0000FF"/>
                </a:solidFill>
                <a:latin typeface="Arial"/>
                <a:cs typeface="Arial"/>
              </a:rPr>
              <a:t>from </a:t>
            </a:r>
            <a:r>
              <a:rPr sz="1950" spc="185" dirty="0">
                <a:solidFill>
                  <a:srgbClr val="0000FF"/>
                </a:solidFill>
                <a:latin typeface="Arial"/>
                <a:cs typeface="Arial"/>
              </a:rPr>
              <a:t>(infinite) </a:t>
            </a:r>
            <a:r>
              <a:rPr sz="1950" spc="140" dirty="0">
                <a:solidFill>
                  <a:srgbClr val="0000FF"/>
                </a:solidFill>
                <a:latin typeface="Arial"/>
                <a:cs typeface="Arial"/>
              </a:rPr>
              <a:t>bounded </a:t>
            </a:r>
            <a:r>
              <a:rPr sz="1950" spc="160" dirty="0">
                <a:solidFill>
                  <a:srgbClr val="0000FF"/>
                </a:solidFill>
                <a:latin typeface="Arial"/>
                <a:cs typeface="Arial"/>
              </a:rPr>
              <a:t>model  </a:t>
            </a:r>
            <a:r>
              <a:rPr sz="1950" spc="125" dirty="0">
                <a:solidFill>
                  <a:srgbClr val="0000FF"/>
                </a:solidFill>
                <a:latin typeface="Arial"/>
                <a:cs typeface="Arial"/>
              </a:rPr>
              <a:t>checking </a:t>
            </a:r>
            <a:r>
              <a:rPr sz="1950" spc="110" dirty="0">
                <a:solidFill>
                  <a:srgbClr val="0000FF"/>
                </a:solidFill>
                <a:latin typeface="Arial"/>
                <a:cs typeface="Arial"/>
              </a:rPr>
              <a:t>using </a:t>
            </a:r>
            <a:r>
              <a:rPr sz="1950" spc="350" dirty="0">
                <a:solidFill>
                  <a:srgbClr val="0000FF"/>
                </a:solidFill>
                <a:latin typeface="Arial"/>
                <a:cs typeface="Arial"/>
              </a:rPr>
              <a:t>SMT</a:t>
            </a:r>
            <a:r>
              <a:rPr sz="1950" spc="560" dirty="0">
                <a:solidFill>
                  <a:srgbClr val="0000FF"/>
                </a:solidFill>
                <a:latin typeface="Arial"/>
                <a:cs typeface="Arial"/>
              </a:rPr>
              <a:t> </a:t>
            </a:r>
            <a:r>
              <a:rPr sz="1950" spc="75" dirty="0">
                <a:solidFill>
                  <a:srgbClr val="0000FF"/>
                </a:solidFill>
                <a:latin typeface="Arial"/>
                <a:cs typeface="Arial"/>
              </a:rPr>
              <a:t>solvers</a:t>
            </a:r>
            <a:endParaRPr sz="1950">
              <a:latin typeface="Arial"/>
              <a:cs typeface="Arial"/>
            </a:endParaRPr>
          </a:p>
          <a:p>
            <a:pPr marL="300990" marR="5080" indent="-288290" algn="just">
              <a:lnSpc>
                <a:spcPct val="125000"/>
              </a:lnSpc>
              <a:spcBef>
                <a:spcPts val="1340"/>
              </a:spcBef>
              <a:buSzPct val="105128"/>
              <a:buFont typeface="Lucida Sans Unicode"/>
              <a:buChar char="•"/>
              <a:tabLst>
                <a:tab pos="301625" algn="l"/>
              </a:tabLst>
            </a:pPr>
            <a:r>
              <a:rPr sz="1950" spc="114" dirty="0">
                <a:solidFill>
                  <a:srgbClr val="231F20"/>
                </a:solidFill>
                <a:latin typeface="Arial"/>
                <a:cs typeface="Arial"/>
              </a:rPr>
              <a:t>So </a:t>
            </a:r>
            <a:r>
              <a:rPr sz="1950" spc="215" dirty="0">
                <a:solidFill>
                  <a:srgbClr val="231F20"/>
                </a:solidFill>
                <a:latin typeface="Arial"/>
                <a:cs typeface="Arial"/>
              </a:rPr>
              <a:t>try </a:t>
            </a:r>
            <a:r>
              <a:rPr sz="1950" spc="250" dirty="0">
                <a:solidFill>
                  <a:srgbClr val="231F20"/>
                </a:solidFill>
                <a:latin typeface="Arial"/>
                <a:cs typeface="Arial"/>
              </a:rPr>
              <a:t>to </a:t>
            </a:r>
            <a:r>
              <a:rPr sz="1950" dirty="0">
                <a:solidFill>
                  <a:srgbClr val="231F20"/>
                </a:solidFill>
                <a:latin typeface="Arial"/>
                <a:cs typeface="Arial"/>
              </a:rPr>
              <a:t>see </a:t>
            </a:r>
            <a:r>
              <a:rPr sz="1950" spc="160" dirty="0">
                <a:solidFill>
                  <a:srgbClr val="231F20"/>
                </a:solidFill>
                <a:latin typeface="Arial"/>
                <a:cs typeface="Arial"/>
              </a:rPr>
              <a:t>if </a:t>
            </a:r>
            <a:r>
              <a:rPr sz="1950" spc="120" dirty="0">
                <a:solidFill>
                  <a:srgbClr val="231F20"/>
                </a:solidFill>
                <a:latin typeface="Arial"/>
                <a:cs typeface="Arial"/>
              </a:rPr>
              <a:t>you can generate an </a:t>
            </a:r>
            <a:r>
              <a:rPr sz="1950" spc="135" dirty="0">
                <a:solidFill>
                  <a:srgbClr val="231F20"/>
                </a:solidFill>
                <a:latin typeface="Arial"/>
                <a:cs typeface="Arial"/>
              </a:rPr>
              <a:t>explicit </a:t>
            </a:r>
            <a:r>
              <a:rPr sz="1950" spc="170" dirty="0">
                <a:solidFill>
                  <a:srgbClr val="231F20"/>
                </a:solidFill>
                <a:latin typeface="Arial"/>
                <a:cs typeface="Arial"/>
              </a:rPr>
              <a:t>test </a:t>
            </a:r>
            <a:r>
              <a:rPr sz="1950" spc="50" dirty="0">
                <a:solidFill>
                  <a:srgbClr val="231F20"/>
                </a:solidFill>
                <a:latin typeface="Arial"/>
                <a:cs typeface="Arial"/>
              </a:rPr>
              <a:t>case </a:t>
            </a:r>
            <a:r>
              <a:rPr sz="1950" spc="250" dirty="0">
                <a:solidFill>
                  <a:srgbClr val="231F20"/>
                </a:solidFill>
                <a:latin typeface="Arial"/>
                <a:cs typeface="Arial"/>
              </a:rPr>
              <a:t>to  </a:t>
            </a:r>
            <a:r>
              <a:rPr sz="1950" spc="150" dirty="0">
                <a:solidFill>
                  <a:srgbClr val="231F20"/>
                </a:solidFill>
                <a:latin typeface="Arial"/>
                <a:cs typeface="Arial"/>
              </a:rPr>
              <a:t>manifest </a:t>
            </a:r>
            <a:r>
              <a:rPr sz="1950" spc="85" dirty="0">
                <a:solidFill>
                  <a:srgbClr val="231F20"/>
                </a:solidFill>
                <a:latin typeface="Arial"/>
                <a:cs typeface="Arial"/>
              </a:rPr>
              <a:t>a </a:t>
            </a:r>
            <a:r>
              <a:rPr sz="1950" spc="95" dirty="0">
                <a:solidFill>
                  <a:srgbClr val="231F20"/>
                </a:solidFill>
                <a:latin typeface="Arial"/>
                <a:cs typeface="Arial"/>
              </a:rPr>
              <a:t>real </a:t>
            </a:r>
            <a:r>
              <a:rPr sz="1950" spc="155" dirty="0">
                <a:solidFill>
                  <a:srgbClr val="231F20"/>
                </a:solidFill>
                <a:latin typeface="Arial"/>
                <a:cs typeface="Arial"/>
              </a:rPr>
              <a:t>bug for </a:t>
            </a:r>
            <a:r>
              <a:rPr sz="1950" spc="90" dirty="0">
                <a:solidFill>
                  <a:srgbClr val="231F20"/>
                </a:solidFill>
                <a:latin typeface="Arial"/>
                <a:cs typeface="Arial"/>
              </a:rPr>
              <a:t>each </a:t>
            </a:r>
            <a:r>
              <a:rPr sz="1950" spc="130" dirty="0">
                <a:solidFill>
                  <a:srgbClr val="231F20"/>
                </a:solidFill>
                <a:latin typeface="Arial"/>
                <a:cs typeface="Arial"/>
              </a:rPr>
              <a:t>positive </a:t>
            </a:r>
            <a:r>
              <a:rPr sz="1950" spc="165" dirty="0">
                <a:solidFill>
                  <a:srgbClr val="231F20"/>
                </a:solidFill>
                <a:latin typeface="Arial"/>
                <a:cs typeface="Arial"/>
              </a:rPr>
              <a:t>turned </a:t>
            </a:r>
            <a:r>
              <a:rPr sz="1950" spc="155" dirty="0">
                <a:solidFill>
                  <a:srgbClr val="231F20"/>
                </a:solidFill>
                <a:latin typeface="Arial"/>
                <a:cs typeface="Arial"/>
              </a:rPr>
              <a:t>up </a:t>
            </a:r>
            <a:r>
              <a:rPr sz="1950" spc="105" dirty="0">
                <a:solidFill>
                  <a:srgbClr val="231F20"/>
                </a:solidFill>
                <a:latin typeface="Arial"/>
                <a:cs typeface="Arial"/>
              </a:rPr>
              <a:t>by </a:t>
            </a:r>
            <a:r>
              <a:rPr sz="1950" spc="165" dirty="0">
                <a:solidFill>
                  <a:srgbClr val="231F20"/>
                </a:solidFill>
                <a:latin typeface="Arial"/>
                <a:cs typeface="Arial"/>
              </a:rPr>
              <a:t>static  </a:t>
            </a:r>
            <a:r>
              <a:rPr sz="1950" spc="75" dirty="0">
                <a:solidFill>
                  <a:srgbClr val="231F20"/>
                </a:solidFill>
                <a:latin typeface="Arial"/>
                <a:cs typeface="Arial"/>
              </a:rPr>
              <a:t>analysis</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245" dirty="0">
                <a:solidFill>
                  <a:srgbClr val="231F20"/>
                </a:solidFill>
                <a:latin typeface="Arial"/>
                <a:cs typeface="Arial"/>
              </a:rPr>
              <a:t>Throw </a:t>
            </a:r>
            <a:r>
              <a:rPr sz="1950" spc="80" dirty="0">
                <a:solidFill>
                  <a:srgbClr val="231F20"/>
                </a:solidFill>
                <a:latin typeface="Arial"/>
                <a:cs typeface="Arial"/>
              </a:rPr>
              <a:t>away </a:t>
            </a:r>
            <a:r>
              <a:rPr sz="1950" spc="130" dirty="0">
                <a:solidFill>
                  <a:srgbClr val="231F20"/>
                </a:solidFill>
                <a:latin typeface="Arial"/>
                <a:cs typeface="Arial"/>
              </a:rPr>
              <a:t>those </a:t>
            </a:r>
            <a:r>
              <a:rPr sz="1950" spc="120" dirty="0">
                <a:solidFill>
                  <a:srgbClr val="231F20"/>
                </a:solidFill>
                <a:latin typeface="Arial"/>
                <a:cs typeface="Arial"/>
              </a:rPr>
              <a:t>you </a:t>
            </a:r>
            <a:r>
              <a:rPr sz="1950" spc="170" dirty="0">
                <a:solidFill>
                  <a:srgbClr val="231F20"/>
                </a:solidFill>
                <a:latin typeface="Arial"/>
                <a:cs typeface="Arial"/>
              </a:rPr>
              <a:t>cannot</a:t>
            </a:r>
            <a:r>
              <a:rPr sz="1950" spc="795" dirty="0">
                <a:solidFill>
                  <a:srgbClr val="231F20"/>
                </a:solidFill>
                <a:latin typeface="Arial"/>
                <a:cs typeface="Arial"/>
              </a:rPr>
              <a:t> </a:t>
            </a:r>
            <a:r>
              <a:rPr sz="1950" spc="150" dirty="0">
                <a:solidFill>
                  <a:srgbClr val="231F20"/>
                </a:solidFill>
                <a:latin typeface="Arial"/>
                <a:cs typeface="Arial"/>
              </a:rPr>
              <a:t>manifest</a:t>
            </a:r>
            <a:endParaRPr sz="1950">
              <a:latin typeface="Arial"/>
              <a:cs typeface="Arial"/>
            </a:endParaRPr>
          </a:p>
          <a:p>
            <a:pPr>
              <a:lnSpc>
                <a:spcPct val="100000"/>
              </a:lnSpc>
              <a:spcBef>
                <a:spcPts val="32"/>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 pos="1039494" algn="l"/>
              </a:tabLst>
            </a:pPr>
            <a:r>
              <a:rPr sz="1950" spc="170" dirty="0">
                <a:solidFill>
                  <a:srgbClr val="FF0000"/>
                </a:solidFill>
                <a:latin typeface="Arial"/>
                <a:cs typeface="Arial"/>
              </a:rPr>
              <a:t>Aha!	</a:t>
            </a:r>
            <a:r>
              <a:rPr sz="1950" spc="170" dirty="0">
                <a:solidFill>
                  <a:srgbClr val="231F20"/>
                </a:solidFill>
                <a:latin typeface="Arial"/>
                <a:cs typeface="Arial"/>
              </a:rPr>
              <a:t>Next </a:t>
            </a:r>
            <a:r>
              <a:rPr sz="1950" spc="135" dirty="0">
                <a:solidFill>
                  <a:srgbClr val="231F20"/>
                </a:solidFill>
                <a:latin typeface="Arial"/>
                <a:cs typeface="Arial"/>
              </a:rPr>
              <a:t>generation </a:t>
            </a:r>
            <a:r>
              <a:rPr sz="1950" spc="185" dirty="0">
                <a:solidFill>
                  <a:srgbClr val="231F20"/>
                </a:solidFill>
                <a:latin typeface="Arial"/>
                <a:cs typeface="Arial"/>
              </a:rPr>
              <a:t>of </a:t>
            </a:r>
            <a:r>
              <a:rPr sz="1950" spc="160" dirty="0">
                <a:solidFill>
                  <a:srgbClr val="231F20"/>
                </a:solidFill>
                <a:latin typeface="Arial"/>
                <a:cs typeface="Arial"/>
              </a:rPr>
              <a:t>tools </a:t>
            </a:r>
            <a:r>
              <a:rPr sz="1950" spc="155" dirty="0">
                <a:solidFill>
                  <a:srgbClr val="231F20"/>
                </a:solidFill>
                <a:latin typeface="Arial"/>
                <a:cs typeface="Arial"/>
              </a:rPr>
              <a:t>do</a:t>
            </a:r>
            <a:r>
              <a:rPr sz="1950" spc="730" dirty="0">
                <a:solidFill>
                  <a:srgbClr val="231F20"/>
                </a:solidFill>
                <a:latin typeface="Arial"/>
                <a:cs typeface="Arial"/>
              </a:rPr>
              <a:t> </a:t>
            </a:r>
            <a:r>
              <a:rPr sz="1950" spc="145" dirty="0">
                <a:solidFill>
                  <a:srgbClr val="231F20"/>
                </a:solidFill>
                <a:latin typeface="Arial"/>
                <a:cs typeface="Arial"/>
              </a:rPr>
              <a:t>this</a:t>
            </a:r>
            <a:endParaRPr sz="1950">
              <a:latin typeface="Arial"/>
              <a:cs typeface="Arial"/>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024251" y="3249129"/>
            <a:ext cx="4011929" cy="314960"/>
          </a:xfrm>
          <a:prstGeom prst="rect">
            <a:avLst/>
          </a:prstGeom>
        </p:spPr>
        <p:txBody>
          <a:bodyPr vert="horz" wrap="square" lIns="0" tIns="0" rIns="0" bIns="0" rtlCol="0">
            <a:spAutoFit/>
          </a:bodyPr>
          <a:lstStyle/>
          <a:p>
            <a:pPr marL="12700">
              <a:lnSpc>
                <a:spcPct val="100000"/>
              </a:lnSpc>
            </a:pPr>
            <a:r>
              <a:rPr sz="1950" spc="330" dirty="0">
                <a:solidFill>
                  <a:srgbClr val="231F20"/>
                </a:solidFill>
                <a:latin typeface="Arial"/>
                <a:cs typeface="Arial"/>
              </a:rPr>
              <a:t>Automated </a:t>
            </a:r>
            <a:r>
              <a:rPr sz="1950" spc="295" dirty="0">
                <a:solidFill>
                  <a:srgbClr val="231F20"/>
                </a:solidFill>
                <a:latin typeface="Arial"/>
                <a:cs typeface="Arial"/>
              </a:rPr>
              <a:t>Test</a:t>
            </a:r>
            <a:r>
              <a:rPr sz="1950" spc="325" dirty="0">
                <a:solidFill>
                  <a:srgbClr val="231F20"/>
                </a:solidFill>
                <a:latin typeface="Arial"/>
                <a:cs typeface="Arial"/>
              </a:rPr>
              <a:t> </a:t>
            </a:r>
            <a:r>
              <a:rPr sz="1950" spc="245" dirty="0">
                <a:solidFill>
                  <a:srgbClr val="231F20"/>
                </a:solidFill>
                <a:latin typeface="Arial"/>
                <a:cs typeface="Arial"/>
              </a:rPr>
              <a:t>Generation</a:t>
            </a:r>
            <a:endParaRPr sz="1950">
              <a:latin typeface="Arial"/>
              <a:cs typeface="Arial"/>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639088"/>
            <a:ext cx="8157845" cy="5494020"/>
          </a:xfrm>
          <a:prstGeom prst="rect">
            <a:avLst/>
          </a:prstGeom>
        </p:spPr>
        <p:txBody>
          <a:bodyPr vert="horz" wrap="square" lIns="0" tIns="0" rIns="0" bIns="0" rtlCol="0">
            <a:spAutoFit/>
          </a:bodyPr>
          <a:lstStyle/>
          <a:p>
            <a:pPr marL="108585" algn="ctr">
              <a:lnSpc>
                <a:spcPct val="100000"/>
              </a:lnSpc>
            </a:pPr>
            <a:r>
              <a:rPr sz="1950" spc="295" dirty="0">
                <a:solidFill>
                  <a:srgbClr val="231F20"/>
                </a:solidFill>
                <a:latin typeface="Arial"/>
                <a:cs typeface="Arial"/>
              </a:rPr>
              <a:t>Test</a:t>
            </a:r>
            <a:r>
              <a:rPr sz="1950" spc="285" dirty="0">
                <a:solidFill>
                  <a:srgbClr val="231F20"/>
                </a:solidFill>
                <a:latin typeface="Arial"/>
                <a:cs typeface="Arial"/>
              </a:rPr>
              <a:t> </a:t>
            </a:r>
            <a:r>
              <a:rPr sz="1950" spc="245" dirty="0">
                <a:solidFill>
                  <a:srgbClr val="231F20"/>
                </a:solidFill>
                <a:latin typeface="Arial"/>
                <a:cs typeface="Arial"/>
              </a:rPr>
              <a:t>Generation</a:t>
            </a:r>
            <a:endParaRPr sz="1950">
              <a:latin typeface="Arial"/>
              <a:cs typeface="Arial"/>
            </a:endParaRPr>
          </a:p>
          <a:p>
            <a:pPr marL="300990" marR="480695" indent="-288290">
              <a:lnSpc>
                <a:spcPct val="125000"/>
              </a:lnSpc>
              <a:spcBef>
                <a:spcPts val="1340"/>
              </a:spcBef>
              <a:buSzPct val="105128"/>
              <a:buFont typeface="Lucida Sans Unicode"/>
              <a:buChar char="•"/>
              <a:tabLst>
                <a:tab pos="301625" algn="l"/>
                <a:tab pos="6609080" algn="l"/>
              </a:tabLst>
            </a:pPr>
            <a:r>
              <a:rPr sz="1950" spc="390" dirty="0">
                <a:solidFill>
                  <a:srgbClr val="231F20"/>
                </a:solidFill>
                <a:latin typeface="Arial"/>
                <a:cs typeface="Arial"/>
              </a:rPr>
              <a:t>O</a:t>
            </a:r>
            <a:r>
              <a:rPr sz="1950" spc="155" dirty="0">
                <a:solidFill>
                  <a:srgbClr val="231F20"/>
                </a:solidFill>
                <a:latin typeface="Arial"/>
                <a:cs typeface="Arial"/>
              </a:rPr>
              <a:t>b</a:t>
            </a:r>
            <a:r>
              <a:rPr sz="1950" spc="-25" dirty="0">
                <a:solidFill>
                  <a:srgbClr val="231F20"/>
                </a:solidFill>
                <a:latin typeface="Arial"/>
                <a:cs typeface="Arial"/>
              </a:rPr>
              <a:t>s</a:t>
            </a:r>
            <a:r>
              <a:rPr sz="1950" spc="10" dirty="0">
                <a:solidFill>
                  <a:srgbClr val="231F20"/>
                </a:solidFill>
                <a:latin typeface="Arial"/>
                <a:cs typeface="Arial"/>
              </a:rPr>
              <a:t>e</a:t>
            </a:r>
            <a:r>
              <a:rPr sz="1950" spc="170" dirty="0">
                <a:solidFill>
                  <a:srgbClr val="231F20"/>
                </a:solidFill>
                <a:latin typeface="Arial"/>
                <a:cs typeface="Arial"/>
              </a:rPr>
              <a:t>r</a:t>
            </a:r>
            <a:r>
              <a:rPr sz="1950" spc="120" dirty="0">
                <a:solidFill>
                  <a:srgbClr val="231F20"/>
                </a:solidFill>
                <a:latin typeface="Arial"/>
                <a:cs typeface="Arial"/>
              </a:rPr>
              <a:t>v</a:t>
            </a:r>
            <a:r>
              <a:rPr sz="1950" spc="15" dirty="0">
                <a:solidFill>
                  <a:srgbClr val="231F20"/>
                </a:solidFill>
                <a:latin typeface="Arial"/>
                <a:cs typeface="Arial"/>
              </a:rPr>
              <a:t>e</a:t>
            </a:r>
            <a:r>
              <a:rPr sz="1950" dirty="0">
                <a:solidFill>
                  <a:srgbClr val="231F20"/>
                </a:solidFill>
                <a:latin typeface="Arial"/>
                <a:cs typeface="Arial"/>
              </a:rPr>
              <a:t> </a:t>
            </a:r>
            <a:r>
              <a:rPr sz="1950" spc="-260" dirty="0">
                <a:solidFill>
                  <a:srgbClr val="231F20"/>
                </a:solidFill>
                <a:latin typeface="Arial"/>
                <a:cs typeface="Arial"/>
              </a:rPr>
              <a:t> </a:t>
            </a:r>
            <a:r>
              <a:rPr sz="1950" spc="350" dirty="0">
                <a:solidFill>
                  <a:srgbClr val="231F20"/>
                </a:solidFill>
                <a:latin typeface="Arial"/>
                <a:cs typeface="Arial"/>
              </a:rPr>
              <a:t>t</a:t>
            </a:r>
            <a:r>
              <a:rPr sz="1950" spc="155" dirty="0">
                <a:solidFill>
                  <a:srgbClr val="231F20"/>
                </a:solidFill>
                <a:latin typeface="Arial"/>
                <a:cs typeface="Arial"/>
              </a:rPr>
              <a:t>h</a:t>
            </a:r>
            <a:r>
              <a:rPr sz="1950" spc="215" dirty="0">
                <a:solidFill>
                  <a:srgbClr val="231F20"/>
                </a:solidFill>
                <a:latin typeface="Arial"/>
                <a:cs typeface="Arial"/>
              </a:rPr>
              <a:t>at</a:t>
            </a:r>
            <a:r>
              <a:rPr sz="1950" dirty="0">
                <a:solidFill>
                  <a:srgbClr val="231F20"/>
                </a:solidFill>
                <a:latin typeface="Arial"/>
                <a:cs typeface="Arial"/>
              </a:rPr>
              <a:t> </a:t>
            </a:r>
            <a:r>
              <a:rPr sz="1950" spc="-260" dirty="0">
                <a:solidFill>
                  <a:srgbClr val="231F20"/>
                </a:solidFill>
                <a:latin typeface="Arial"/>
                <a:cs typeface="Arial"/>
              </a:rPr>
              <a:t> </a:t>
            </a:r>
            <a:r>
              <a:rPr sz="1950" spc="85" dirty="0">
                <a:solidFill>
                  <a:srgbClr val="231F20"/>
                </a:solidFill>
                <a:latin typeface="Arial"/>
                <a:cs typeface="Arial"/>
              </a:rPr>
              <a:t>a</a:t>
            </a:r>
            <a:r>
              <a:rPr sz="1950" dirty="0">
                <a:solidFill>
                  <a:srgbClr val="231F20"/>
                </a:solidFill>
                <a:latin typeface="Arial"/>
                <a:cs typeface="Arial"/>
              </a:rPr>
              <a:t> </a:t>
            </a:r>
            <a:r>
              <a:rPr sz="1950" spc="-260" dirty="0">
                <a:solidFill>
                  <a:srgbClr val="231F20"/>
                </a:solidFill>
                <a:latin typeface="Arial"/>
                <a:cs typeface="Arial"/>
              </a:rPr>
              <a:t> </a:t>
            </a:r>
            <a:r>
              <a:rPr sz="1950" spc="120" dirty="0">
                <a:solidFill>
                  <a:srgbClr val="FF0000"/>
                </a:solidFill>
                <a:latin typeface="Arial"/>
                <a:cs typeface="Arial"/>
              </a:rPr>
              <a:t>c</a:t>
            </a:r>
            <a:r>
              <a:rPr sz="1950" spc="155" dirty="0">
                <a:solidFill>
                  <a:srgbClr val="FF0000"/>
                </a:solidFill>
                <a:latin typeface="Arial"/>
                <a:cs typeface="Arial"/>
              </a:rPr>
              <a:t>oun</a:t>
            </a:r>
            <a:r>
              <a:rPr sz="1950" spc="350" dirty="0">
                <a:solidFill>
                  <a:srgbClr val="FF0000"/>
                </a:solidFill>
                <a:latin typeface="Arial"/>
                <a:cs typeface="Arial"/>
              </a:rPr>
              <a:t>t</a:t>
            </a:r>
            <a:r>
              <a:rPr sz="1950" spc="10" dirty="0">
                <a:solidFill>
                  <a:srgbClr val="FF0000"/>
                </a:solidFill>
                <a:latin typeface="Arial"/>
                <a:cs typeface="Arial"/>
              </a:rPr>
              <a:t>e</a:t>
            </a:r>
            <a:r>
              <a:rPr sz="1950" spc="170" dirty="0">
                <a:solidFill>
                  <a:srgbClr val="FF0000"/>
                </a:solidFill>
                <a:latin typeface="Arial"/>
                <a:cs typeface="Arial"/>
              </a:rPr>
              <a:t>r</a:t>
            </a:r>
            <a:r>
              <a:rPr sz="1950" spc="10" dirty="0">
                <a:solidFill>
                  <a:srgbClr val="FF0000"/>
                </a:solidFill>
                <a:latin typeface="Arial"/>
                <a:cs typeface="Arial"/>
              </a:rPr>
              <a:t>e</a:t>
            </a:r>
            <a:r>
              <a:rPr sz="1950" spc="120" dirty="0">
                <a:solidFill>
                  <a:srgbClr val="FF0000"/>
                </a:solidFill>
                <a:latin typeface="Arial"/>
                <a:cs typeface="Arial"/>
              </a:rPr>
              <a:t>x</a:t>
            </a:r>
            <a:r>
              <a:rPr sz="1950" spc="190" dirty="0">
                <a:solidFill>
                  <a:srgbClr val="FF0000"/>
                </a:solidFill>
                <a:latin typeface="Arial"/>
                <a:cs typeface="Arial"/>
              </a:rPr>
              <a:t>am</a:t>
            </a:r>
            <a:r>
              <a:rPr sz="1950" spc="155" dirty="0">
                <a:solidFill>
                  <a:srgbClr val="FF0000"/>
                </a:solidFill>
                <a:latin typeface="Arial"/>
                <a:cs typeface="Arial"/>
              </a:rPr>
              <a:t>p</a:t>
            </a:r>
            <a:r>
              <a:rPr sz="1950" spc="110" dirty="0">
                <a:solidFill>
                  <a:srgbClr val="FF0000"/>
                </a:solidFill>
                <a:latin typeface="Arial"/>
                <a:cs typeface="Arial"/>
              </a:rPr>
              <a:t>l</a:t>
            </a:r>
            <a:r>
              <a:rPr sz="1950" spc="15" dirty="0">
                <a:solidFill>
                  <a:srgbClr val="FF0000"/>
                </a:solidFill>
                <a:latin typeface="Arial"/>
                <a:cs typeface="Arial"/>
              </a:rPr>
              <a:t>e</a:t>
            </a:r>
            <a:r>
              <a:rPr sz="1950" dirty="0">
                <a:solidFill>
                  <a:srgbClr val="FF0000"/>
                </a:solidFill>
                <a:latin typeface="Arial"/>
                <a:cs typeface="Arial"/>
              </a:rPr>
              <a:t> </a:t>
            </a:r>
            <a:r>
              <a:rPr sz="1950" spc="-265" dirty="0">
                <a:solidFill>
                  <a:srgbClr val="FF0000"/>
                </a:solidFill>
                <a:latin typeface="Arial"/>
                <a:cs typeface="Arial"/>
              </a:rPr>
              <a:t> </a:t>
            </a:r>
            <a:r>
              <a:rPr sz="1950" spc="350" dirty="0">
                <a:solidFill>
                  <a:srgbClr val="231F20"/>
                </a:solidFill>
                <a:latin typeface="Arial"/>
                <a:cs typeface="Arial"/>
              </a:rPr>
              <a:t>t</a:t>
            </a:r>
            <a:r>
              <a:rPr sz="1950" spc="155" dirty="0">
                <a:solidFill>
                  <a:srgbClr val="231F20"/>
                </a:solidFill>
                <a:latin typeface="Arial"/>
                <a:cs typeface="Arial"/>
              </a:rPr>
              <a:t>o</a:t>
            </a:r>
            <a:r>
              <a:rPr sz="1950" dirty="0">
                <a:solidFill>
                  <a:srgbClr val="231F20"/>
                </a:solidFill>
                <a:latin typeface="Arial"/>
                <a:cs typeface="Arial"/>
              </a:rPr>
              <a:t> </a:t>
            </a:r>
            <a:r>
              <a:rPr sz="1950" spc="-260" dirty="0">
                <a:solidFill>
                  <a:srgbClr val="231F20"/>
                </a:solidFill>
                <a:latin typeface="Arial"/>
                <a:cs typeface="Arial"/>
              </a:rPr>
              <a:t> </a:t>
            </a:r>
            <a:r>
              <a:rPr sz="1950" spc="120" dirty="0">
                <a:solidFill>
                  <a:srgbClr val="231F20"/>
                </a:solidFill>
                <a:latin typeface="Arial"/>
                <a:cs typeface="Arial"/>
              </a:rPr>
              <a:t>an</a:t>
            </a:r>
            <a:r>
              <a:rPr sz="1950" dirty="0">
                <a:solidFill>
                  <a:srgbClr val="231F20"/>
                </a:solidFill>
                <a:latin typeface="Arial"/>
                <a:cs typeface="Arial"/>
              </a:rPr>
              <a:t> </a:t>
            </a:r>
            <a:r>
              <a:rPr sz="1950" spc="-260" dirty="0">
                <a:solidFill>
                  <a:srgbClr val="231F20"/>
                </a:solidFill>
                <a:latin typeface="Arial"/>
                <a:cs typeface="Arial"/>
              </a:rPr>
              <a:t> </a:t>
            </a:r>
            <a:r>
              <a:rPr sz="1950" spc="30" dirty="0">
                <a:solidFill>
                  <a:srgbClr val="231F20"/>
                </a:solidFill>
                <a:latin typeface="Arial"/>
                <a:cs typeface="Arial"/>
              </a:rPr>
              <a:t>as</a:t>
            </a:r>
            <a:r>
              <a:rPr sz="1950" spc="-25" dirty="0">
                <a:solidFill>
                  <a:srgbClr val="231F20"/>
                </a:solidFill>
                <a:latin typeface="Arial"/>
                <a:cs typeface="Arial"/>
              </a:rPr>
              <a:t>s</a:t>
            </a:r>
            <a:r>
              <a:rPr sz="1950" spc="10" dirty="0">
                <a:solidFill>
                  <a:srgbClr val="231F20"/>
                </a:solidFill>
                <a:latin typeface="Arial"/>
                <a:cs typeface="Arial"/>
              </a:rPr>
              <a:t>e</a:t>
            </a:r>
            <a:r>
              <a:rPr sz="1950" spc="170" dirty="0">
                <a:solidFill>
                  <a:srgbClr val="231F20"/>
                </a:solidFill>
                <a:latin typeface="Arial"/>
                <a:cs typeface="Arial"/>
              </a:rPr>
              <a:t>r</a:t>
            </a:r>
            <a:r>
              <a:rPr sz="1950" spc="350" dirty="0">
                <a:solidFill>
                  <a:srgbClr val="231F20"/>
                </a:solidFill>
                <a:latin typeface="Arial"/>
                <a:cs typeface="Arial"/>
              </a:rPr>
              <a:t>t</a:t>
            </a:r>
            <a:r>
              <a:rPr sz="1950" spc="110" dirty="0">
                <a:solidFill>
                  <a:srgbClr val="231F20"/>
                </a:solidFill>
                <a:latin typeface="Arial"/>
                <a:cs typeface="Arial"/>
              </a:rPr>
              <a:t>i</a:t>
            </a:r>
            <a:r>
              <a:rPr sz="1950" spc="155" dirty="0">
                <a:solidFill>
                  <a:srgbClr val="231F20"/>
                </a:solidFill>
                <a:latin typeface="Arial"/>
                <a:cs typeface="Arial"/>
              </a:rPr>
              <a:t>on</a:t>
            </a:r>
            <a:r>
              <a:rPr sz="1950" spc="145" dirty="0">
                <a:solidFill>
                  <a:srgbClr val="231F20"/>
                </a:solidFill>
                <a:latin typeface="Arial"/>
                <a:cs typeface="Arial"/>
              </a:rPr>
              <a:t>:</a:t>
            </a:r>
            <a:r>
              <a:rPr sz="1950" dirty="0">
                <a:solidFill>
                  <a:srgbClr val="231F20"/>
                </a:solidFill>
                <a:latin typeface="Arial"/>
                <a:cs typeface="Arial"/>
              </a:rPr>
              <a:t>	</a:t>
            </a:r>
            <a:r>
              <a:rPr sz="1950" spc="590" dirty="0">
                <a:solidFill>
                  <a:srgbClr val="231F20"/>
                </a:solidFill>
                <a:latin typeface="Arial"/>
                <a:cs typeface="Arial"/>
              </a:rPr>
              <a:t>“</a:t>
            </a:r>
            <a:r>
              <a:rPr sz="1950" spc="120" dirty="0">
                <a:solidFill>
                  <a:srgbClr val="0000FF"/>
                </a:solidFill>
                <a:latin typeface="Arial"/>
                <a:cs typeface="Arial"/>
              </a:rPr>
              <a:t>c</a:t>
            </a:r>
            <a:r>
              <a:rPr sz="1950" spc="155" dirty="0">
                <a:solidFill>
                  <a:srgbClr val="0000FF"/>
                </a:solidFill>
                <a:latin typeface="Arial"/>
                <a:cs typeface="Arial"/>
              </a:rPr>
              <a:t>on</a:t>
            </a:r>
            <a:r>
              <a:rPr sz="1950" spc="350" dirty="0">
                <a:solidFill>
                  <a:srgbClr val="0000FF"/>
                </a:solidFill>
                <a:latin typeface="Arial"/>
                <a:cs typeface="Arial"/>
              </a:rPr>
              <a:t>t</a:t>
            </a:r>
            <a:r>
              <a:rPr sz="1950" spc="170" dirty="0">
                <a:solidFill>
                  <a:srgbClr val="0000FF"/>
                </a:solidFill>
                <a:latin typeface="Arial"/>
                <a:cs typeface="Arial"/>
              </a:rPr>
              <a:t>r</a:t>
            </a:r>
            <a:r>
              <a:rPr sz="1950" spc="155" dirty="0">
                <a:solidFill>
                  <a:srgbClr val="0000FF"/>
                </a:solidFill>
                <a:latin typeface="Arial"/>
                <a:cs typeface="Arial"/>
              </a:rPr>
              <a:t>o</a:t>
            </a:r>
            <a:r>
              <a:rPr sz="1950" spc="130" dirty="0">
                <a:solidFill>
                  <a:srgbClr val="0000FF"/>
                </a:solidFill>
                <a:latin typeface="Arial"/>
                <a:cs typeface="Arial"/>
              </a:rPr>
              <a:t>l </a:t>
            </a:r>
            <a:r>
              <a:rPr sz="1950" spc="145" dirty="0">
                <a:solidFill>
                  <a:srgbClr val="0000FF"/>
                </a:solidFill>
                <a:latin typeface="Arial"/>
                <a:cs typeface="Arial"/>
              </a:rPr>
              <a:t> </a:t>
            </a:r>
            <a:r>
              <a:rPr sz="1950" spc="170" dirty="0">
                <a:solidFill>
                  <a:srgbClr val="0000FF"/>
                </a:solidFill>
                <a:latin typeface="Arial"/>
                <a:cs typeface="Arial"/>
              </a:rPr>
              <a:t>cannot </a:t>
            </a:r>
            <a:r>
              <a:rPr sz="1950" spc="110" dirty="0">
                <a:solidFill>
                  <a:srgbClr val="0000FF"/>
                </a:solidFill>
                <a:latin typeface="Arial"/>
                <a:cs typeface="Arial"/>
              </a:rPr>
              <a:t>reach </a:t>
            </a:r>
            <a:r>
              <a:rPr sz="1950" spc="145" dirty="0">
                <a:solidFill>
                  <a:srgbClr val="0000FF"/>
                </a:solidFill>
                <a:latin typeface="Arial"/>
                <a:cs typeface="Arial"/>
              </a:rPr>
              <a:t>this </a:t>
            </a:r>
            <a:r>
              <a:rPr sz="1950" spc="260" dirty="0">
                <a:solidFill>
                  <a:srgbClr val="0000FF"/>
                </a:solidFill>
                <a:latin typeface="Arial"/>
                <a:cs typeface="Arial"/>
              </a:rPr>
              <a:t>point</a:t>
            </a:r>
            <a:r>
              <a:rPr sz="1950" spc="260" dirty="0">
                <a:solidFill>
                  <a:srgbClr val="231F20"/>
                </a:solidFill>
                <a:latin typeface="Arial"/>
                <a:cs typeface="Arial"/>
              </a:rPr>
              <a:t>” </a:t>
            </a:r>
            <a:r>
              <a:rPr sz="1950" spc="40" dirty="0">
                <a:solidFill>
                  <a:srgbClr val="231F20"/>
                </a:solidFill>
                <a:latin typeface="Arial"/>
                <a:cs typeface="Arial"/>
              </a:rPr>
              <a:t>is </a:t>
            </a:r>
            <a:r>
              <a:rPr sz="1950" spc="85" dirty="0">
                <a:solidFill>
                  <a:srgbClr val="231F20"/>
                </a:solidFill>
                <a:latin typeface="Arial"/>
                <a:cs typeface="Arial"/>
              </a:rPr>
              <a:t>a </a:t>
            </a:r>
            <a:r>
              <a:rPr sz="1950" spc="165" dirty="0">
                <a:solidFill>
                  <a:srgbClr val="FF0000"/>
                </a:solidFill>
                <a:latin typeface="Arial"/>
                <a:cs typeface="Arial"/>
              </a:rPr>
              <a:t>structural </a:t>
            </a:r>
            <a:r>
              <a:rPr sz="1950" spc="170" dirty="0">
                <a:solidFill>
                  <a:srgbClr val="FF0000"/>
                </a:solidFill>
                <a:latin typeface="Arial"/>
                <a:cs typeface="Arial"/>
              </a:rPr>
              <a:t>test </a:t>
            </a:r>
            <a:r>
              <a:rPr sz="1950" spc="550" dirty="0">
                <a:solidFill>
                  <a:srgbClr val="FF0000"/>
                </a:solidFill>
                <a:latin typeface="Arial"/>
                <a:cs typeface="Arial"/>
              </a:rPr>
              <a:t> </a:t>
            </a:r>
            <a:r>
              <a:rPr sz="1950" spc="50" dirty="0">
                <a:solidFill>
                  <a:srgbClr val="FF0000"/>
                </a:solidFill>
                <a:latin typeface="Arial"/>
                <a:cs typeface="Arial"/>
              </a:rPr>
              <a:t>case</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14" dirty="0">
                <a:solidFill>
                  <a:srgbClr val="0000FF"/>
                </a:solidFill>
                <a:latin typeface="Arial"/>
                <a:cs typeface="Arial"/>
              </a:rPr>
              <a:t>So </a:t>
            </a:r>
            <a:r>
              <a:rPr sz="1950" spc="300" dirty="0">
                <a:solidFill>
                  <a:srgbClr val="0000FF"/>
                </a:solidFill>
                <a:latin typeface="Arial"/>
                <a:cs typeface="Arial"/>
              </a:rPr>
              <a:t>BMC </a:t>
            </a:r>
            <a:r>
              <a:rPr sz="1950" spc="120" dirty="0">
                <a:solidFill>
                  <a:srgbClr val="0000FF"/>
                </a:solidFill>
                <a:latin typeface="Arial"/>
                <a:cs typeface="Arial"/>
              </a:rPr>
              <a:t>can </a:t>
            </a:r>
            <a:r>
              <a:rPr sz="1950" spc="114" dirty="0">
                <a:solidFill>
                  <a:srgbClr val="0000FF"/>
                </a:solidFill>
                <a:latin typeface="Arial"/>
                <a:cs typeface="Arial"/>
              </a:rPr>
              <a:t>be </a:t>
            </a:r>
            <a:r>
              <a:rPr sz="1950" spc="70" dirty="0">
                <a:solidFill>
                  <a:srgbClr val="0000FF"/>
                </a:solidFill>
                <a:latin typeface="Arial"/>
                <a:cs typeface="Arial"/>
              </a:rPr>
              <a:t>used </a:t>
            </a:r>
            <a:r>
              <a:rPr sz="1950" spc="155" dirty="0">
                <a:solidFill>
                  <a:srgbClr val="0000FF"/>
                </a:solidFill>
                <a:latin typeface="Arial"/>
                <a:cs typeface="Arial"/>
              </a:rPr>
              <a:t>for </a:t>
            </a:r>
            <a:r>
              <a:rPr sz="1950" spc="180" dirty="0">
                <a:solidFill>
                  <a:srgbClr val="0000FF"/>
                </a:solidFill>
                <a:latin typeface="Arial"/>
                <a:cs typeface="Arial"/>
              </a:rPr>
              <a:t>automated </a:t>
            </a:r>
            <a:r>
              <a:rPr sz="1950" spc="170" dirty="0">
                <a:solidFill>
                  <a:srgbClr val="0000FF"/>
                </a:solidFill>
                <a:latin typeface="Arial"/>
                <a:cs typeface="Arial"/>
              </a:rPr>
              <a:t>test </a:t>
            </a:r>
            <a:r>
              <a:rPr sz="1950" spc="509" dirty="0">
                <a:solidFill>
                  <a:srgbClr val="0000FF"/>
                </a:solidFill>
                <a:latin typeface="Arial"/>
                <a:cs typeface="Arial"/>
              </a:rPr>
              <a:t> </a:t>
            </a:r>
            <a:r>
              <a:rPr sz="1950" spc="135" dirty="0">
                <a:solidFill>
                  <a:srgbClr val="0000FF"/>
                </a:solidFill>
                <a:latin typeface="Arial"/>
                <a:cs typeface="Arial"/>
              </a:rPr>
              <a:t>generation</a:t>
            </a:r>
            <a:endParaRPr sz="1950">
              <a:latin typeface="Arial"/>
              <a:cs typeface="Arial"/>
            </a:endParaRPr>
          </a:p>
          <a:p>
            <a:pPr marL="300990" marR="5080" indent="-288290">
              <a:lnSpc>
                <a:spcPct val="125000"/>
              </a:lnSpc>
              <a:spcBef>
                <a:spcPts val="1345"/>
              </a:spcBef>
              <a:buSzPct val="105128"/>
              <a:buFont typeface="Lucida Sans Unicode"/>
              <a:buChar char="•"/>
              <a:tabLst>
                <a:tab pos="301625" algn="l"/>
              </a:tabLst>
            </a:pPr>
            <a:r>
              <a:rPr sz="1950" spc="140" dirty="0">
                <a:solidFill>
                  <a:srgbClr val="231F20"/>
                </a:solidFill>
                <a:latin typeface="Arial"/>
                <a:cs typeface="Arial"/>
              </a:rPr>
              <a:t>Actually, </a:t>
            </a:r>
            <a:r>
              <a:rPr sz="1950" spc="85" dirty="0">
                <a:solidFill>
                  <a:srgbClr val="231F20"/>
                </a:solidFill>
                <a:latin typeface="Arial"/>
                <a:cs typeface="Arial"/>
              </a:rPr>
              <a:t>a </a:t>
            </a:r>
            <a:r>
              <a:rPr sz="1950" spc="140" dirty="0">
                <a:solidFill>
                  <a:srgbClr val="FF0000"/>
                </a:solidFill>
                <a:latin typeface="Arial"/>
                <a:cs typeface="Arial"/>
              </a:rPr>
              <a:t>customized </a:t>
            </a:r>
            <a:r>
              <a:rPr sz="1950" spc="165" dirty="0">
                <a:solidFill>
                  <a:srgbClr val="FF0000"/>
                </a:solidFill>
                <a:latin typeface="Arial"/>
                <a:cs typeface="Arial"/>
              </a:rPr>
              <a:t>combination </a:t>
            </a:r>
            <a:r>
              <a:rPr sz="1950" spc="185" dirty="0">
                <a:solidFill>
                  <a:srgbClr val="231F20"/>
                </a:solidFill>
                <a:latin typeface="Arial"/>
                <a:cs typeface="Arial"/>
              </a:rPr>
              <a:t>of </a:t>
            </a:r>
            <a:r>
              <a:rPr sz="1950" spc="215" dirty="0">
                <a:solidFill>
                  <a:srgbClr val="231F20"/>
                </a:solidFill>
                <a:latin typeface="Arial"/>
                <a:cs typeface="Arial"/>
              </a:rPr>
              <a:t>SMC </a:t>
            </a:r>
            <a:r>
              <a:rPr sz="1950" spc="130" dirty="0">
                <a:solidFill>
                  <a:srgbClr val="231F20"/>
                </a:solidFill>
                <a:latin typeface="Arial"/>
                <a:cs typeface="Arial"/>
              </a:rPr>
              <a:t>and </a:t>
            </a:r>
            <a:r>
              <a:rPr sz="1950" spc="300" dirty="0">
                <a:solidFill>
                  <a:srgbClr val="231F20"/>
                </a:solidFill>
                <a:latin typeface="Arial"/>
                <a:cs typeface="Arial"/>
              </a:rPr>
              <a:t>BMC </a:t>
            </a:r>
            <a:r>
              <a:rPr sz="1950" spc="120" dirty="0">
                <a:solidFill>
                  <a:srgbClr val="231F20"/>
                </a:solidFill>
                <a:latin typeface="Arial"/>
                <a:cs typeface="Arial"/>
              </a:rPr>
              <a:t>works  </a:t>
            </a:r>
            <a:r>
              <a:rPr sz="1950" spc="140" dirty="0">
                <a:solidFill>
                  <a:srgbClr val="231F20"/>
                </a:solidFill>
                <a:latin typeface="Arial"/>
                <a:cs typeface="Arial"/>
              </a:rPr>
              <a:t>best</a:t>
            </a:r>
            <a:endParaRPr sz="1950">
              <a:latin typeface="Arial"/>
              <a:cs typeface="Arial"/>
            </a:endParaRPr>
          </a:p>
          <a:p>
            <a:pPr marL="741680" marR="215900" lvl="1" indent="-288290">
              <a:lnSpc>
                <a:spcPct val="125000"/>
              </a:lnSpc>
              <a:spcBef>
                <a:spcPts val="515"/>
              </a:spcBef>
              <a:buSzPct val="105128"/>
              <a:buFont typeface="Lucida Sans Unicode"/>
              <a:buChar char="◦"/>
              <a:tabLst>
                <a:tab pos="742315" algn="l"/>
              </a:tabLst>
            </a:pPr>
            <a:r>
              <a:rPr sz="1950" spc="60" dirty="0">
                <a:solidFill>
                  <a:srgbClr val="231F20"/>
                </a:solidFill>
                <a:latin typeface="Arial"/>
                <a:cs typeface="Arial"/>
              </a:rPr>
              <a:t>Use </a:t>
            </a:r>
            <a:r>
              <a:rPr sz="1950" spc="215" dirty="0">
                <a:solidFill>
                  <a:srgbClr val="231F20"/>
                </a:solidFill>
                <a:latin typeface="Arial"/>
                <a:cs typeface="Arial"/>
              </a:rPr>
              <a:t>SMC </a:t>
            </a:r>
            <a:r>
              <a:rPr sz="1950" spc="250" dirty="0">
                <a:solidFill>
                  <a:srgbClr val="231F20"/>
                </a:solidFill>
                <a:latin typeface="Arial"/>
                <a:cs typeface="Arial"/>
              </a:rPr>
              <a:t>to </a:t>
            </a:r>
            <a:r>
              <a:rPr sz="1950" spc="110" dirty="0">
                <a:solidFill>
                  <a:srgbClr val="231F20"/>
                </a:solidFill>
                <a:latin typeface="Arial"/>
                <a:cs typeface="Arial"/>
              </a:rPr>
              <a:t>reach </a:t>
            </a:r>
            <a:r>
              <a:rPr sz="1950" spc="165" dirty="0">
                <a:solidFill>
                  <a:srgbClr val="231F20"/>
                </a:solidFill>
                <a:latin typeface="Arial"/>
                <a:cs typeface="Arial"/>
              </a:rPr>
              <a:t>first </a:t>
            </a:r>
            <a:r>
              <a:rPr sz="1950" spc="175" dirty="0">
                <a:solidFill>
                  <a:srgbClr val="231F20"/>
                </a:solidFill>
                <a:latin typeface="Arial"/>
                <a:cs typeface="Arial"/>
              </a:rPr>
              <a:t>control </a:t>
            </a:r>
            <a:r>
              <a:rPr sz="1950" spc="190" dirty="0">
                <a:solidFill>
                  <a:srgbClr val="231F20"/>
                </a:solidFill>
                <a:latin typeface="Arial"/>
                <a:cs typeface="Arial"/>
              </a:rPr>
              <a:t>point, </a:t>
            </a:r>
            <a:r>
              <a:rPr sz="1950" spc="165" dirty="0">
                <a:solidFill>
                  <a:srgbClr val="231F20"/>
                </a:solidFill>
                <a:latin typeface="Arial"/>
                <a:cs typeface="Arial"/>
              </a:rPr>
              <a:t>then </a:t>
            </a:r>
            <a:r>
              <a:rPr sz="1950" spc="45" dirty="0">
                <a:solidFill>
                  <a:srgbClr val="231F20"/>
                </a:solidFill>
                <a:latin typeface="Arial"/>
                <a:cs typeface="Arial"/>
              </a:rPr>
              <a:t>use </a:t>
            </a:r>
            <a:r>
              <a:rPr sz="1950" spc="300" dirty="0">
                <a:solidFill>
                  <a:srgbClr val="231F20"/>
                </a:solidFill>
                <a:latin typeface="Arial"/>
                <a:cs typeface="Arial"/>
              </a:rPr>
              <a:t>BMC </a:t>
            </a:r>
            <a:r>
              <a:rPr sz="1950" spc="250" dirty="0">
                <a:solidFill>
                  <a:srgbClr val="231F20"/>
                </a:solidFill>
                <a:latin typeface="Arial"/>
                <a:cs typeface="Arial"/>
              </a:rPr>
              <a:t>to  </a:t>
            </a:r>
            <a:r>
              <a:rPr sz="1950" spc="135" dirty="0">
                <a:solidFill>
                  <a:srgbClr val="231F20"/>
                </a:solidFill>
                <a:latin typeface="Arial"/>
                <a:cs typeface="Arial"/>
              </a:rPr>
              <a:t>extend </a:t>
            </a:r>
            <a:r>
              <a:rPr sz="1950" spc="250" dirty="0">
                <a:solidFill>
                  <a:srgbClr val="231F20"/>
                </a:solidFill>
                <a:latin typeface="Arial"/>
                <a:cs typeface="Arial"/>
              </a:rPr>
              <a:t>to </a:t>
            </a:r>
            <a:r>
              <a:rPr sz="1950" spc="175" dirty="0">
                <a:solidFill>
                  <a:srgbClr val="231F20"/>
                </a:solidFill>
                <a:latin typeface="Arial"/>
                <a:cs typeface="Arial"/>
              </a:rPr>
              <a:t>further control</a:t>
            </a:r>
            <a:r>
              <a:rPr sz="1950" spc="515" dirty="0">
                <a:solidFill>
                  <a:srgbClr val="231F20"/>
                </a:solidFill>
                <a:latin typeface="Arial"/>
                <a:cs typeface="Arial"/>
              </a:rPr>
              <a:t> </a:t>
            </a:r>
            <a:r>
              <a:rPr sz="1950" spc="160" dirty="0">
                <a:solidFill>
                  <a:srgbClr val="231F20"/>
                </a:solidFill>
                <a:latin typeface="Arial"/>
                <a:cs typeface="Arial"/>
              </a:rPr>
              <a:t>points</a:t>
            </a:r>
            <a:endParaRPr sz="1950">
              <a:latin typeface="Arial"/>
              <a:cs typeface="Arial"/>
            </a:endParaRPr>
          </a:p>
          <a:p>
            <a:pPr marL="741680" lvl="1" indent="-288290">
              <a:lnSpc>
                <a:spcPct val="100000"/>
              </a:lnSpc>
              <a:spcBef>
                <a:spcPts val="845"/>
              </a:spcBef>
              <a:buClr>
                <a:srgbClr val="231F20"/>
              </a:buClr>
              <a:buSzPct val="105128"/>
              <a:buFont typeface="Lucida Sans Unicode"/>
              <a:buChar char="◦"/>
              <a:tabLst>
                <a:tab pos="742315" algn="l"/>
              </a:tabLst>
            </a:pPr>
            <a:r>
              <a:rPr sz="1950" spc="165" dirty="0">
                <a:solidFill>
                  <a:srgbClr val="0000FF"/>
                </a:solidFill>
                <a:latin typeface="Arial"/>
                <a:cs typeface="Arial"/>
              </a:rPr>
              <a:t>Get </a:t>
            </a:r>
            <a:r>
              <a:rPr sz="1950" spc="140" dirty="0">
                <a:solidFill>
                  <a:srgbClr val="0000FF"/>
                </a:solidFill>
                <a:latin typeface="Arial"/>
                <a:cs typeface="Arial"/>
              </a:rPr>
              <a:t>long </a:t>
            </a:r>
            <a:r>
              <a:rPr sz="1950" spc="130" dirty="0">
                <a:solidFill>
                  <a:srgbClr val="0000FF"/>
                </a:solidFill>
                <a:latin typeface="Arial"/>
                <a:cs typeface="Arial"/>
              </a:rPr>
              <a:t>tests </a:t>
            </a:r>
            <a:r>
              <a:rPr sz="1950" spc="235" dirty="0">
                <a:solidFill>
                  <a:srgbClr val="0000FF"/>
                </a:solidFill>
                <a:latin typeface="Arial"/>
                <a:cs typeface="Arial"/>
              </a:rPr>
              <a:t>that </a:t>
            </a:r>
            <a:r>
              <a:rPr sz="1950" spc="130" dirty="0">
                <a:solidFill>
                  <a:srgbClr val="0000FF"/>
                </a:solidFill>
                <a:latin typeface="Arial"/>
                <a:cs typeface="Arial"/>
              </a:rPr>
              <a:t>probe </a:t>
            </a:r>
            <a:r>
              <a:rPr sz="1950" spc="80" dirty="0">
                <a:solidFill>
                  <a:srgbClr val="0000FF"/>
                </a:solidFill>
                <a:latin typeface="Arial"/>
                <a:cs typeface="Arial"/>
              </a:rPr>
              <a:t>deep </a:t>
            </a:r>
            <a:r>
              <a:rPr sz="1950" spc="190" dirty="0">
                <a:solidFill>
                  <a:srgbClr val="0000FF"/>
                </a:solidFill>
                <a:latin typeface="Arial"/>
                <a:cs typeface="Arial"/>
              </a:rPr>
              <a:t>into </a:t>
            </a:r>
            <a:r>
              <a:rPr sz="1950" spc="175" dirty="0">
                <a:solidFill>
                  <a:srgbClr val="0000FF"/>
                </a:solidFill>
                <a:latin typeface="Arial"/>
                <a:cs typeface="Arial"/>
              </a:rPr>
              <a:t>the </a:t>
            </a:r>
            <a:r>
              <a:rPr sz="1950" spc="480" dirty="0">
                <a:solidFill>
                  <a:srgbClr val="0000FF"/>
                </a:solidFill>
                <a:latin typeface="Arial"/>
                <a:cs typeface="Arial"/>
              </a:rPr>
              <a:t> </a:t>
            </a:r>
            <a:r>
              <a:rPr sz="1950" spc="120" dirty="0">
                <a:solidFill>
                  <a:srgbClr val="0000FF"/>
                </a:solidFill>
                <a:latin typeface="Arial"/>
                <a:cs typeface="Arial"/>
              </a:rPr>
              <a:t>system</a:t>
            </a:r>
            <a:endParaRPr sz="1950">
              <a:latin typeface="Arial"/>
              <a:cs typeface="Arial"/>
            </a:endParaRPr>
          </a:p>
          <a:p>
            <a:pPr marL="741680" marR="247650" lvl="1" indent="-288290">
              <a:lnSpc>
                <a:spcPct val="125000"/>
              </a:lnSpc>
              <a:spcBef>
                <a:spcPts val="259"/>
              </a:spcBef>
              <a:buSzPct val="105128"/>
              <a:buFont typeface="Lucida Sans Unicode"/>
              <a:buChar char="◦"/>
              <a:tabLst>
                <a:tab pos="742315" algn="l"/>
              </a:tabLst>
            </a:pPr>
            <a:r>
              <a:rPr sz="1950" spc="135" dirty="0">
                <a:solidFill>
                  <a:srgbClr val="231F20"/>
                </a:solidFill>
                <a:latin typeface="Arial"/>
                <a:cs typeface="Arial"/>
              </a:rPr>
              <a:t>Can </a:t>
            </a:r>
            <a:r>
              <a:rPr sz="1950" spc="130" dirty="0">
                <a:solidFill>
                  <a:srgbClr val="231F20"/>
                </a:solidFill>
                <a:latin typeface="Arial"/>
                <a:cs typeface="Arial"/>
              </a:rPr>
              <a:t>add </a:t>
            </a:r>
            <a:r>
              <a:rPr sz="1950" spc="170" dirty="0">
                <a:solidFill>
                  <a:srgbClr val="FF0000"/>
                </a:solidFill>
                <a:latin typeface="Arial"/>
                <a:cs typeface="Arial"/>
              </a:rPr>
              <a:t>test </a:t>
            </a:r>
            <a:r>
              <a:rPr sz="1950" spc="100" dirty="0">
                <a:solidFill>
                  <a:srgbClr val="FF0000"/>
                </a:solidFill>
                <a:latin typeface="Arial"/>
                <a:cs typeface="Arial"/>
              </a:rPr>
              <a:t>purposes </a:t>
            </a:r>
            <a:r>
              <a:rPr sz="1950" spc="235" dirty="0">
                <a:solidFill>
                  <a:srgbClr val="231F20"/>
                </a:solidFill>
                <a:latin typeface="Arial"/>
                <a:cs typeface="Arial"/>
              </a:rPr>
              <a:t>that </a:t>
            </a:r>
            <a:r>
              <a:rPr sz="1950" spc="140" dirty="0">
                <a:solidFill>
                  <a:srgbClr val="231F20"/>
                </a:solidFill>
                <a:latin typeface="Arial"/>
                <a:cs typeface="Arial"/>
              </a:rPr>
              <a:t>constrain </a:t>
            </a:r>
            <a:r>
              <a:rPr sz="1950" spc="175" dirty="0">
                <a:solidFill>
                  <a:srgbClr val="231F20"/>
                </a:solidFill>
                <a:latin typeface="Arial"/>
                <a:cs typeface="Arial"/>
              </a:rPr>
              <a:t>the </a:t>
            </a:r>
            <a:r>
              <a:rPr sz="1950" spc="114" dirty="0">
                <a:solidFill>
                  <a:srgbClr val="231F20"/>
                </a:solidFill>
                <a:latin typeface="Arial"/>
                <a:cs typeface="Arial"/>
              </a:rPr>
              <a:t>kinds </a:t>
            </a:r>
            <a:r>
              <a:rPr sz="1950" spc="185" dirty="0">
                <a:solidFill>
                  <a:srgbClr val="231F20"/>
                </a:solidFill>
                <a:latin typeface="Arial"/>
                <a:cs typeface="Arial"/>
              </a:rPr>
              <a:t>of </a:t>
            </a:r>
            <a:r>
              <a:rPr sz="1950" spc="130" dirty="0">
                <a:solidFill>
                  <a:srgbClr val="231F20"/>
                </a:solidFill>
                <a:latin typeface="Arial"/>
                <a:cs typeface="Arial"/>
              </a:rPr>
              <a:t>tests  </a:t>
            </a:r>
            <a:r>
              <a:rPr sz="1950" spc="120" dirty="0">
                <a:solidFill>
                  <a:srgbClr val="231F20"/>
                </a:solidFill>
                <a:latin typeface="Arial"/>
                <a:cs typeface="Arial"/>
              </a:rPr>
              <a:t>generated</a:t>
            </a:r>
            <a:endParaRPr sz="1950">
              <a:latin typeface="Arial"/>
              <a:cs typeface="Arial"/>
            </a:endParaRPr>
          </a:p>
          <a:p>
            <a:pPr marL="768350">
              <a:lnSpc>
                <a:spcPct val="100000"/>
              </a:lnSpc>
              <a:spcBef>
                <a:spcPts val="745"/>
              </a:spcBef>
              <a:tabLst>
                <a:tab pos="1056640" algn="l"/>
              </a:tabLst>
            </a:pPr>
            <a:r>
              <a:rPr sz="2050" i="1" spc="-620" dirty="0">
                <a:solidFill>
                  <a:srgbClr val="231F20"/>
                </a:solidFill>
                <a:latin typeface="Meiryo"/>
                <a:cs typeface="Meiryo"/>
              </a:rPr>
              <a:t>⋆	</a:t>
            </a:r>
            <a:r>
              <a:rPr sz="1950" spc="114" dirty="0">
                <a:solidFill>
                  <a:srgbClr val="231F20"/>
                </a:solidFill>
                <a:latin typeface="Arial"/>
                <a:cs typeface="Arial"/>
              </a:rPr>
              <a:t>e.g., </a:t>
            </a:r>
            <a:r>
              <a:rPr sz="1950" spc="120" dirty="0">
                <a:solidFill>
                  <a:srgbClr val="0000FF"/>
                </a:solidFill>
                <a:latin typeface="Arial"/>
                <a:cs typeface="Arial"/>
              </a:rPr>
              <a:t>Change </a:t>
            </a:r>
            <a:r>
              <a:rPr sz="1950" spc="175" dirty="0">
                <a:solidFill>
                  <a:srgbClr val="0000FF"/>
                </a:solidFill>
                <a:latin typeface="Arial"/>
                <a:cs typeface="Arial"/>
              </a:rPr>
              <a:t>the </a:t>
            </a:r>
            <a:r>
              <a:rPr sz="1950" spc="90" dirty="0">
                <a:solidFill>
                  <a:srgbClr val="0000FF"/>
                </a:solidFill>
                <a:latin typeface="Arial"/>
                <a:cs typeface="Arial"/>
              </a:rPr>
              <a:t>gear </a:t>
            </a:r>
            <a:r>
              <a:rPr sz="1950" spc="185" dirty="0">
                <a:solidFill>
                  <a:srgbClr val="0000FF"/>
                </a:solidFill>
                <a:latin typeface="Arial"/>
                <a:cs typeface="Arial"/>
              </a:rPr>
              <a:t>input </a:t>
            </a:r>
            <a:r>
              <a:rPr sz="1950" spc="105" dirty="0">
                <a:solidFill>
                  <a:srgbClr val="0000FF"/>
                </a:solidFill>
                <a:latin typeface="Arial"/>
                <a:cs typeface="Arial"/>
              </a:rPr>
              <a:t>by </a:t>
            </a:r>
            <a:r>
              <a:rPr sz="1950" spc="155" dirty="0">
                <a:solidFill>
                  <a:srgbClr val="0000FF"/>
                </a:solidFill>
                <a:latin typeface="Arial"/>
                <a:cs typeface="Arial"/>
              </a:rPr>
              <a:t>1 </a:t>
            </a:r>
            <a:r>
              <a:rPr sz="1950" spc="215" dirty="0">
                <a:solidFill>
                  <a:srgbClr val="0000FF"/>
                </a:solidFill>
                <a:latin typeface="Arial"/>
                <a:cs typeface="Arial"/>
              </a:rPr>
              <a:t>at </a:t>
            </a:r>
            <a:r>
              <a:rPr sz="1950" spc="90" dirty="0">
                <a:solidFill>
                  <a:srgbClr val="0000FF"/>
                </a:solidFill>
                <a:latin typeface="Arial"/>
                <a:cs typeface="Arial"/>
              </a:rPr>
              <a:t>every  </a:t>
            </a:r>
            <a:r>
              <a:rPr sz="1950" spc="100" dirty="0">
                <a:solidFill>
                  <a:srgbClr val="0000FF"/>
                </a:solidFill>
                <a:latin typeface="Arial"/>
                <a:cs typeface="Arial"/>
              </a:rPr>
              <a:t> </a:t>
            </a:r>
            <a:r>
              <a:rPr sz="1950" spc="120" dirty="0">
                <a:solidFill>
                  <a:srgbClr val="0000FF"/>
                </a:solidFill>
                <a:latin typeface="Arial"/>
                <a:cs typeface="Arial"/>
              </a:rPr>
              <a:t>step</a:t>
            </a:r>
            <a:endParaRPr sz="1950">
              <a:latin typeface="Arial"/>
              <a:cs typeface="Arial"/>
            </a:endParaRPr>
          </a:p>
          <a:p>
            <a:pPr marL="741680" lvl="1" indent="-288290">
              <a:lnSpc>
                <a:spcPct val="100000"/>
              </a:lnSpc>
              <a:spcBef>
                <a:spcPts val="825"/>
              </a:spcBef>
              <a:buSzPct val="105128"/>
              <a:buFont typeface="Lucida Sans Unicode"/>
              <a:buChar char="◦"/>
              <a:tabLst>
                <a:tab pos="742315" algn="l"/>
              </a:tabLst>
            </a:pPr>
            <a:r>
              <a:rPr sz="1950" spc="105" dirty="0">
                <a:solidFill>
                  <a:srgbClr val="231F20"/>
                </a:solidFill>
                <a:latin typeface="Arial"/>
                <a:cs typeface="Arial"/>
              </a:rPr>
              <a:t>Easily </a:t>
            </a:r>
            <a:r>
              <a:rPr sz="1950" spc="175" dirty="0">
                <a:solidFill>
                  <a:srgbClr val="231F20"/>
                </a:solidFill>
                <a:latin typeface="Arial"/>
                <a:cs typeface="Arial"/>
              </a:rPr>
              <a:t>built </a:t>
            </a:r>
            <a:r>
              <a:rPr sz="1950" spc="80" dirty="0">
                <a:solidFill>
                  <a:srgbClr val="231F20"/>
                </a:solidFill>
                <a:latin typeface="Arial"/>
                <a:cs typeface="Arial"/>
              </a:rPr>
              <a:t>because </a:t>
            </a:r>
            <a:r>
              <a:rPr sz="1950" spc="85" dirty="0">
                <a:solidFill>
                  <a:srgbClr val="231F20"/>
                </a:solidFill>
                <a:latin typeface="Arial"/>
                <a:cs typeface="Arial"/>
              </a:rPr>
              <a:t>checkers </a:t>
            </a:r>
            <a:r>
              <a:rPr sz="1950" spc="65" dirty="0">
                <a:solidFill>
                  <a:srgbClr val="231F20"/>
                </a:solidFill>
                <a:latin typeface="Arial"/>
                <a:cs typeface="Arial"/>
              </a:rPr>
              <a:t>are </a:t>
            </a:r>
            <a:r>
              <a:rPr sz="1950" spc="125" dirty="0">
                <a:solidFill>
                  <a:srgbClr val="FF0000"/>
                </a:solidFill>
                <a:latin typeface="Arial"/>
                <a:cs typeface="Arial"/>
              </a:rPr>
              <a:t>scriptable </a:t>
            </a:r>
            <a:r>
              <a:rPr sz="1950" spc="190" dirty="0">
                <a:solidFill>
                  <a:srgbClr val="231F20"/>
                </a:solidFill>
                <a:latin typeface="Arial"/>
                <a:cs typeface="Arial"/>
              </a:rPr>
              <a:t>(in </a:t>
            </a:r>
            <a:r>
              <a:rPr sz="1950" spc="650" dirty="0">
                <a:solidFill>
                  <a:srgbClr val="231F20"/>
                </a:solidFill>
                <a:latin typeface="Arial"/>
                <a:cs typeface="Arial"/>
              </a:rPr>
              <a:t> </a:t>
            </a:r>
            <a:r>
              <a:rPr sz="1950" spc="140" dirty="0">
                <a:solidFill>
                  <a:srgbClr val="231F20"/>
                </a:solidFill>
                <a:latin typeface="Arial"/>
                <a:cs typeface="Arial"/>
              </a:rPr>
              <a:t>Scheme)</a:t>
            </a:r>
            <a:endParaRPr sz="1950">
              <a:latin typeface="Arial"/>
              <a:cs typeface="Arial"/>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75981"/>
            <a:ext cx="7941945" cy="6001385"/>
          </a:xfrm>
          <a:prstGeom prst="rect">
            <a:avLst/>
          </a:prstGeom>
        </p:spPr>
        <p:txBody>
          <a:bodyPr vert="horz" wrap="square" lIns="0" tIns="0" rIns="0" bIns="0" rtlCol="0">
            <a:spAutoFit/>
          </a:bodyPr>
          <a:lstStyle/>
          <a:p>
            <a:pPr marL="772795">
              <a:lnSpc>
                <a:spcPct val="100000"/>
              </a:lnSpc>
            </a:pPr>
            <a:r>
              <a:rPr sz="1950" spc="235" dirty="0">
                <a:solidFill>
                  <a:srgbClr val="231F20"/>
                </a:solidFill>
                <a:latin typeface="Arial"/>
                <a:cs typeface="Arial"/>
              </a:rPr>
              <a:t>Core </a:t>
            </a:r>
            <a:r>
              <a:rPr sz="1950" spc="434" dirty="0">
                <a:solidFill>
                  <a:srgbClr val="231F20"/>
                </a:solidFill>
                <a:latin typeface="Arial"/>
                <a:cs typeface="Arial"/>
              </a:rPr>
              <a:t>Of </a:t>
            </a:r>
            <a:r>
              <a:rPr sz="1950" spc="390" dirty="0">
                <a:solidFill>
                  <a:srgbClr val="231F20"/>
                </a:solidFill>
                <a:latin typeface="Arial"/>
                <a:cs typeface="Arial"/>
              </a:rPr>
              <a:t>The </a:t>
            </a:r>
            <a:r>
              <a:rPr sz="1950" spc="380" dirty="0">
                <a:solidFill>
                  <a:srgbClr val="00FF00"/>
                </a:solidFill>
                <a:latin typeface="Arial"/>
                <a:cs typeface="Arial"/>
              </a:rPr>
              <a:t>SAL-ATG </a:t>
            </a:r>
            <a:r>
              <a:rPr sz="1950" spc="295" dirty="0">
                <a:solidFill>
                  <a:srgbClr val="231F20"/>
                </a:solidFill>
                <a:latin typeface="Arial"/>
                <a:cs typeface="Arial"/>
              </a:rPr>
              <a:t>Test </a:t>
            </a:r>
            <a:r>
              <a:rPr sz="1950" spc="245" dirty="0">
                <a:solidFill>
                  <a:srgbClr val="231F20"/>
                </a:solidFill>
                <a:latin typeface="Arial"/>
                <a:cs typeface="Arial"/>
              </a:rPr>
              <a:t>Generation</a:t>
            </a:r>
            <a:r>
              <a:rPr sz="1950" spc="420" dirty="0">
                <a:solidFill>
                  <a:srgbClr val="231F20"/>
                </a:solidFill>
                <a:latin typeface="Arial"/>
                <a:cs typeface="Arial"/>
              </a:rPr>
              <a:t> </a:t>
            </a:r>
            <a:r>
              <a:rPr sz="1950" spc="260" dirty="0">
                <a:solidFill>
                  <a:srgbClr val="231F20"/>
                </a:solidFill>
                <a:latin typeface="Arial"/>
                <a:cs typeface="Arial"/>
              </a:rPr>
              <a:t>Script</a:t>
            </a:r>
            <a:endParaRPr sz="1950">
              <a:latin typeface="Arial"/>
              <a:cs typeface="Arial"/>
            </a:endParaRPr>
          </a:p>
          <a:p>
            <a:pPr marL="12700">
              <a:lnSpc>
                <a:spcPct val="100000"/>
              </a:lnSpc>
            </a:pPr>
            <a:r>
              <a:rPr sz="1650" spc="155" dirty="0">
                <a:solidFill>
                  <a:srgbClr val="0000FF"/>
                </a:solidFill>
                <a:latin typeface="Arial"/>
                <a:cs typeface="Arial"/>
              </a:rPr>
              <a:t>(define </a:t>
            </a:r>
            <a:r>
              <a:rPr sz="1650" spc="90" dirty="0">
                <a:solidFill>
                  <a:srgbClr val="0000FF"/>
                </a:solidFill>
                <a:latin typeface="Arial"/>
                <a:cs typeface="Arial"/>
              </a:rPr>
              <a:t>(extend-search  </a:t>
            </a:r>
            <a:r>
              <a:rPr sz="1650" spc="-25" dirty="0">
                <a:solidFill>
                  <a:srgbClr val="0000FF"/>
                </a:solidFill>
                <a:latin typeface="Arial"/>
                <a:cs typeface="Arial"/>
              </a:rPr>
              <a:t>module</a:t>
            </a:r>
            <a:r>
              <a:rPr sz="1650" spc="405" dirty="0">
                <a:solidFill>
                  <a:srgbClr val="0000FF"/>
                </a:solidFill>
                <a:latin typeface="Arial"/>
                <a:cs typeface="Arial"/>
              </a:rPr>
              <a:t> </a:t>
            </a:r>
            <a:r>
              <a:rPr sz="1650" spc="245" dirty="0">
                <a:solidFill>
                  <a:srgbClr val="0000FF"/>
                </a:solidFill>
                <a:latin typeface="Arial"/>
                <a:cs typeface="Arial"/>
              </a:rPr>
              <a:t>goal-list</a:t>
            </a:r>
            <a:endParaRPr sz="1650">
              <a:latin typeface="Arial"/>
              <a:cs typeface="Arial"/>
            </a:endParaRPr>
          </a:p>
          <a:p>
            <a:pPr marL="1016000">
              <a:lnSpc>
                <a:spcPct val="100000"/>
              </a:lnSpc>
              <a:spcBef>
                <a:spcPts val="270"/>
              </a:spcBef>
            </a:pPr>
            <a:r>
              <a:rPr sz="1650" spc="70" dirty="0">
                <a:solidFill>
                  <a:srgbClr val="0000FF"/>
                </a:solidFill>
                <a:latin typeface="Arial"/>
                <a:cs typeface="Arial"/>
              </a:rPr>
              <a:t>path  </a:t>
            </a:r>
            <a:r>
              <a:rPr sz="1650" spc="5" dirty="0">
                <a:solidFill>
                  <a:srgbClr val="0000FF"/>
                </a:solidFill>
                <a:latin typeface="Arial"/>
                <a:cs typeface="Arial"/>
              </a:rPr>
              <a:t>scan  </a:t>
            </a:r>
            <a:r>
              <a:rPr sz="1650" spc="30" dirty="0">
                <a:solidFill>
                  <a:srgbClr val="0000FF"/>
                </a:solidFill>
                <a:latin typeface="Arial"/>
                <a:cs typeface="Arial"/>
              </a:rPr>
              <a:t>prune  </a:t>
            </a:r>
            <a:r>
              <a:rPr sz="1650" spc="180" dirty="0">
                <a:solidFill>
                  <a:srgbClr val="0000FF"/>
                </a:solidFill>
                <a:latin typeface="Arial"/>
                <a:cs typeface="Arial"/>
              </a:rPr>
              <a:t>innerslice </a:t>
            </a:r>
            <a:r>
              <a:rPr sz="1650" spc="235" dirty="0">
                <a:solidFill>
                  <a:srgbClr val="0000FF"/>
                </a:solidFill>
                <a:latin typeface="Arial"/>
                <a:cs typeface="Arial"/>
              </a:rPr>
              <a:t>start </a:t>
            </a:r>
            <a:r>
              <a:rPr sz="1650" spc="95" dirty="0">
                <a:solidFill>
                  <a:srgbClr val="0000FF"/>
                </a:solidFill>
                <a:latin typeface="Arial"/>
                <a:cs typeface="Arial"/>
              </a:rPr>
              <a:t>step</a:t>
            </a:r>
            <a:r>
              <a:rPr sz="1650" spc="490" dirty="0">
                <a:solidFill>
                  <a:srgbClr val="0000FF"/>
                </a:solidFill>
                <a:latin typeface="Arial"/>
                <a:cs typeface="Arial"/>
              </a:rPr>
              <a:t> </a:t>
            </a:r>
            <a:r>
              <a:rPr sz="1650" spc="140" dirty="0">
                <a:solidFill>
                  <a:srgbClr val="0000FF"/>
                </a:solidFill>
                <a:latin typeface="Arial"/>
                <a:cs typeface="Arial"/>
              </a:rPr>
              <a:t>stop)</a:t>
            </a:r>
            <a:endParaRPr sz="1650">
              <a:latin typeface="Arial"/>
              <a:cs typeface="Arial"/>
            </a:endParaRPr>
          </a:p>
          <a:p>
            <a:pPr marL="346710">
              <a:lnSpc>
                <a:spcPct val="100000"/>
              </a:lnSpc>
              <a:spcBef>
                <a:spcPts val="270"/>
              </a:spcBef>
            </a:pPr>
            <a:r>
              <a:rPr sz="1650" spc="300" dirty="0">
                <a:solidFill>
                  <a:srgbClr val="0000FF"/>
                </a:solidFill>
                <a:latin typeface="Arial"/>
                <a:cs typeface="Arial"/>
              </a:rPr>
              <a:t>(let </a:t>
            </a:r>
            <a:r>
              <a:rPr sz="1650" spc="185" dirty="0">
                <a:solidFill>
                  <a:srgbClr val="0000FF"/>
                </a:solidFill>
                <a:latin typeface="Arial"/>
                <a:cs typeface="Arial"/>
              </a:rPr>
              <a:t>((new-goal-list </a:t>
            </a:r>
            <a:r>
              <a:rPr sz="1650" spc="415" dirty="0">
                <a:solidFill>
                  <a:srgbClr val="0000FF"/>
                </a:solidFill>
                <a:latin typeface="Arial"/>
                <a:cs typeface="Arial"/>
              </a:rPr>
              <a:t>(if </a:t>
            </a:r>
            <a:r>
              <a:rPr sz="1650" spc="30" dirty="0">
                <a:solidFill>
                  <a:srgbClr val="0000FF"/>
                </a:solidFill>
                <a:latin typeface="Arial"/>
                <a:cs typeface="Arial"/>
              </a:rPr>
              <a:t>prune  </a:t>
            </a:r>
            <a:r>
              <a:rPr sz="1650" spc="105" dirty="0">
                <a:solidFill>
                  <a:srgbClr val="0000FF"/>
                </a:solidFill>
                <a:latin typeface="Arial"/>
                <a:cs typeface="Arial"/>
              </a:rPr>
              <a:t>(goal-reduce  </a:t>
            </a:r>
            <a:r>
              <a:rPr sz="1650" spc="5" dirty="0">
                <a:solidFill>
                  <a:srgbClr val="0000FF"/>
                </a:solidFill>
                <a:latin typeface="Arial"/>
                <a:cs typeface="Arial"/>
              </a:rPr>
              <a:t>scan  </a:t>
            </a:r>
            <a:r>
              <a:rPr sz="1650" spc="245" dirty="0">
                <a:solidFill>
                  <a:srgbClr val="0000FF"/>
                </a:solidFill>
                <a:latin typeface="Arial"/>
                <a:cs typeface="Arial"/>
              </a:rPr>
              <a:t>goal-list</a:t>
            </a:r>
            <a:r>
              <a:rPr sz="1650" spc="385" dirty="0">
                <a:solidFill>
                  <a:srgbClr val="0000FF"/>
                </a:solidFill>
                <a:latin typeface="Arial"/>
                <a:cs typeface="Arial"/>
              </a:rPr>
              <a:t> </a:t>
            </a:r>
            <a:r>
              <a:rPr sz="1650" spc="125" dirty="0">
                <a:solidFill>
                  <a:srgbClr val="0000FF"/>
                </a:solidFill>
                <a:latin typeface="Arial"/>
                <a:cs typeface="Arial"/>
              </a:rPr>
              <a:t>path)</a:t>
            </a:r>
            <a:endParaRPr sz="1650">
              <a:latin typeface="Arial"/>
              <a:cs typeface="Arial"/>
            </a:endParaRPr>
          </a:p>
          <a:p>
            <a:pPr marL="458470" marR="5080" indent="2564765">
              <a:lnSpc>
                <a:spcPct val="113599"/>
              </a:lnSpc>
            </a:pPr>
            <a:r>
              <a:rPr sz="1650" spc="100" dirty="0">
                <a:solidFill>
                  <a:srgbClr val="0000FF"/>
                </a:solidFill>
                <a:latin typeface="Arial"/>
                <a:cs typeface="Arial"/>
              </a:rPr>
              <a:t>(minimal-goal-reduce </a:t>
            </a:r>
            <a:r>
              <a:rPr sz="1650" spc="5" dirty="0">
                <a:solidFill>
                  <a:srgbClr val="0000FF"/>
                </a:solidFill>
                <a:latin typeface="Arial"/>
                <a:cs typeface="Arial"/>
              </a:rPr>
              <a:t>scan </a:t>
            </a:r>
            <a:r>
              <a:rPr sz="1650" spc="245" dirty="0">
                <a:solidFill>
                  <a:srgbClr val="0000FF"/>
                </a:solidFill>
                <a:latin typeface="Arial"/>
                <a:cs typeface="Arial"/>
              </a:rPr>
              <a:t>goal-list </a:t>
            </a:r>
            <a:r>
              <a:rPr sz="1650" spc="200" dirty="0">
                <a:solidFill>
                  <a:srgbClr val="0000FF"/>
                </a:solidFill>
                <a:latin typeface="Arial"/>
                <a:cs typeface="Arial"/>
              </a:rPr>
              <a:t>path))))  </a:t>
            </a:r>
            <a:r>
              <a:rPr sz="1650" spc="50" dirty="0">
                <a:solidFill>
                  <a:srgbClr val="0000FF"/>
                </a:solidFill>
                <a:latin typeface="Arial"/>
                <a:cs typeface="Arial"/>
              </a:rPr>
              <a:t>(cond  </a:t>
            </a:r>
            <a:r>
              <a:rPr sz="1650" spc="220" dirty="0">
                <a:solidFill>
                  <a:srgbClr val="0000FF"/>
                </a:solidFill>
                <a:latin typeface="Arial"/>
                <a:cs typeface="Arial"/>
              </a:rPr>
              <a:t>((null? </a:t>
            </a:r>
            <a:r>
              <a:rPr sz="1650" spc="175" dirty="0">
                <a:solidFill>
                  <a:srgbClr val="0000FF"/>
                </a:solidFill>
                <a:latin typeface="Arial"/>
                <a:cs typeface="Arial"/>
              </a:rPr>
              <a:t>new-goal-list) </a:t>
            </a:r>
            <a:r>
              <a:rPr sz="1650" spc="70" dirty="0">
                <a:solidFill>
                  <a:srgbClr val="0000FF"/>
                </a:solidFill>
                <a:latin typeface="Arial"/>
                <a:cs typeface="Arial"/>
              </a:rPr>
              <a:t>(cons  </a:t>
            </a:r>
            <a:r>
              <a:rPr sz="1650" spc="385" dirty="0">
                <a:solidFill>
                  <a:srgbClr val="0000FF"/>
                </a:solidFill>
                <a:latin typeface="Arial"/>
                <a:cs typeface="Arial"/>
              </a:rPr>
              <a:t>’()</a:t>
            </a:r>
            <a:r>
              <a:rPr sz="1650" spc="535" dirty="0">
                <a:solidFill>
                  <a:srgbClr val="0000FF"/>
                </a:solidFill>
                <a:latin typeface="Arial"/>
                <a:cs typeface="Arial"/>
              </a:rPr>
              <a:t> </a:t>
            </a:r>
            <a:r>
              <a:rPr sz="1650" spc="155" dirty="0">
                <a:solidFill>
                  <a:srgbClr val="0000FF"/>
                </a:solidFill>
                <a:latin typeface="Arial"/>
                <a:cs typeface="Arial"/>
              </a:rPr>
              <a:t>path))</a:t>
            </a:r>
            <a:endParaRPr sz="1650">
              <a:latin typeface="Arial"/>
              <a:cs typeface="Arial"/>
            </a:endParaRPr>
          </a:p>
          <a:p>
            <a:pPr marL="1127760" marR="2123440">
              <a:lnSpc>
                <a:spcPct val="113599"/>
              </a:lnSpc>
            </a:pPr>
            <a:r>
              <a:rPr sz="1650" spc="190" dirty="0">
                <a:solidFill>
                  <a:srgbClr val="0000FF"/>
                </a:solidFill>
                <a:latin typeface="Arial"/>
                <a:cs typeface="Arial"/>
              </a:rPr>
              <a:t>((&gt; </a:t>
            </a:r>
            <a:r>
              <a:rPr sz="1650" spc="235" dirty="0">
                <a:solidFill>
                  <a:srgbClr val="0000FF"/>
                </a:solidFill>
                <a:latin typeface="Arial"/>
                <a:cs typeface="Arial"/>
              </a:rPr>
              <a:t>start </a:t>
            </a:r>
            <a:r>
              <a:rPr sz="1650" spc="140" dirty="0">
                <a:solidFill>
                  <a:srgbClr val="0000FF"/>
                </a:solidFill>
                <a:latin typeface="Arial"/>
                <a:cs typeface="Arial"/>
              </a:rPr>
              <a:t>stop) </a:t>
            </a:r>
            <a:r>
              <a:rPr sz="1650" spc="70" dirty="0">
                <a:solidFill>
                  <a:srgbClr val="0000FF"/>
                </a:solidFill>
                <a:latin typeface="Arial"/>
                <a:cs typeface="Arial"/>
              </a:rPr>
              <a:t>(cons </a:t>
            </a:r>
            <a:r>
              <a:rPr sz="1650" spc="165" dirty="0">
                <a:solidFill>
                  <a:srgbClr val="0000FF"/>
                </a:solidFill>
                <a:latin typeface="Arial"/>
                <a:cs typeface="Arial"/>
              </a:rPr>
              <a:t>new-goal-list </a:t>
            </a:r>
            <a:r>
              <a:rPr sz="1650" spc="155" dirty="0">
                <a:solidFill>
                  <a:srgbClr val="0000FF"/>
                </a:solidFill>
                <a:latin typeface="Arial"/>
                <a:cs typeface="Arial"/>
              </a:rPr>
              <a:t>path))  </a:t>
            </a:r>
            <a:r>
              <a:rPr sz="1650" spc="160" dirty="0">
                <a:solidFill>
                  <a:srgbClr val="0000FF"/>
                </a:solidFill>
                <a:latin typeface="Arial"/>
                <a:cs typeface="Arial"/>
              </a:rPr>
              <a:t>(else</a:t>
            </a:r>
            <a:endParaRPr sz="1650">
              <a:latin typeface="Arial"/>
              <a:cs typeface="Arial"/>
            </a:endParaRPr>
          </a:p>
          <a:p>
            <a:pPr marL="2019935" marR="1454785" indent="-781050">
              <a:lnSpc>
                <a:spcPct val="113599"/>
              </a:lnSpc>
            </a:pPr>
            <a:r>
              <a:rPr sz="1650" spc="290" dirty="0">
                <a:solidFill>
                  <a:srgbClr val="0000FF"/>
                </a:solidFill>
                <a:latin typeface="Arial"/>
                <a:cs typeface="Arial"/>
              </a:rPr>
              <a:t>(let* </a:t>
            </a:r>
            <a:r>
              <a:rPr sz="1650" spc="170" dirty="0">
                <a:solidFill>
                  <a:srgbClr val="0000FF"/>
                </a:solidFill>
                <a:latin typeface="Arial"/>
                <a:cs typeface="Arial"/>
              </a:rPr>
              <a:t>((goal </a:t>
            </a:r>
            <a:r>
              <a:rPr sz="1650" spc="220" dirty="0">
                <a:solidFill>
                  <a:srgbClr val="0000FF"/>
                </a:solidFill>
                <a:latin typeface="Arial"/>
                <a:cs typeface="Arial"/>
              </a:rPr>
              <a:t>(list-&gt;goal </a:t>
            </a:r>
            <a:r>
              <a:rPr sz="1650" spc="165" dirty="0">
                <a:solidFill>
                  <a:srgbClr val="0000FF"/>
                </a:solidFill>
                <a:latin typeface="Arial"/>
                <a:cs typeface="Arial"/>
              </a:rPr>
              <a:t>new-goal-list </a:t>
            </a:r>
            <a:r>
              <a:rPr sz="1650" spc="60" dirty="0">
                <a:solidFill>
                  <a:srgbClr val="0000FF"/>
                </a:solidFill>
                <a:latin typeface="Arial"/>
                <a:cs typeface="Arial"/>
              </a:rPr>
              <a:t>module))  </a:t>
            </a:r>
            <a:r>
              <a:rPr sz="1650" spc="-65" dirty="0">
                <a:solidFill>
                  <a:srgbClr val="0000FF"/>
                </a:solidFill>
                <a:latin typeface="Arial"/>
                <a:cs typeface="Arial"/>
              </a:rPr>
              <a:t>(mod  </a:t>
            </a:r>
            <a:r>
              <a:rPr sz="1650" spc="415" dirty="0">
                <a:solidFill>
                  <a:srgbClr val="0000FF"/>
                </a:solidFill>
                <a:latin typeface="Arial"/>
                <a:cs typeface="Arial"/>
              </a:rPr>
              <a:t>(if</a:t>
            </a:r>
            <a:r>
              <a:rPr sz="1650" spc="440" dirty="0">
                <a:solidFill>
                  <a:srgbClr val="0000FF"/>
                </a:solidFill>
                <a:latin typeface="Arial"/>
                <a:cs typeface="Arial"/>
              </a:rPr>
              <a:t> </a:t>
            </a:r>
            <a:r>
              <a:rPr sz="1650" spc="180" dirty="0">
                <a:solidFill>
                  <a:srgbClr val="0000FF"/>
                </a:solidFill>
                <a:latin typeface="Arial"/>
                <a:cs typeface="Arial"/>
              </a:rPr>
              <a:t>innerslice</a:t>
            </a:r>
            <a:endParaRPr sz="1650">
              <a:latin typeface="Arial"/>
              <a:cs typeface="Arial"/>
            </a:endParaRPr>
          </a:p>
          <a:p>
            <a:pPr marL="2019935" marR="337820" indent="780415">
              <a:lnSpc>
                <a:spcPct val="113599"/>
              </a:lnSpc>
            </a:pPr>
            <a:r>
              <a:rPr sz="1650" spc="170" dirty="0">
                <a:solidFill>
                  <a:srgbClr val="0000FF"/>
                </a:solidFill>
                <a:latin typeface="Arial"/>
                <a:cs typeface="Arial"/>
              </a:rPr>
              <a:t>(</a:t>
            </a:r>
            <a:r>
              <a:rPr sz="1650" spc="170" dirty="0">
                <a:solidFill>
                  <a:srgbClr val="FF0000"/>
                </a:solidFill>
                <a:latin typeface="Arial"/>
                <a:cs typeface="Arial"/>
              </a:rPr>
              <a:t>sal-module/slice-for </a:t>
            </a:r>
            <a:r>
              <a:rPr sz="1650" spc="-25" dirty="0">
                <a:solidFill>
                  <a:srgbClr val="FF0000"/>
                </a:solidFill>
                <a:latin typeface="Arial"/>
                <a:cs typeface="Arial"/>
              </a:rPr>
              <a:t>module </a:t>
            </a:r>
            <a:r>
              <a:rPr sz="1650" spc="140" dirty="0">
                <a:solidFill>
                  <a:srgbClr val="0000FF"/>
                </a:solidFill>
                <a:latin typeface="Arial"/>
                <a:cs typeface="Arial"/>
              </a:rPr>
              <a:t>goal) </a:t>
            </a:r>
            <a:r>
              <a:rPr sz="1650" spc="60" dirty="0">
                <a:solidFill>
                  <a:srgbClr val="0000FF"/>
                </a:solidFill>
                <a:latin typeface="Arial"/>
                <a:cs typeface="Arial"/>
              </a:rPr>
              <a:t>module))  (new-path</a:t>
            </a:r>
            <a:endParaRPr sz="1650">
              <a:latin typeface="Arial"/>
              <a:cs typeface="Arial"/>
            </a:endParaRPr>
          </a:p>
          <a:p>
            <a:pPr marL="2131695">
              <a:lnSpc>
                <a:spcPct val="100000"/>
              </a:lnSpc>
              <a:spcBef>
                <a:spcPts val="270"/>
              </a:spcBef>
            </a:pPr>
            <a:r>
              <a:rPr sz="1650" spc="300" dirty="0">
                <a:solidFill>
                  <a:srgbClr val="0000FF"/>
                </a:solidFill>
                <a:latin typeface="Arial"/>
                <a:cs typeface="Arial"/>
              </a:rPr>
              <a:t>(let </a:t>
            </a:r>
            <a:r>
              <a:rPr sz="1650" spc="95" dirty="0">
                <a:solidFill>
                  <a:srgbClr val="0000FF"/>
                </a:solidFill>
                <a:latin typeface="Arial"/>
                <a:cs typeface="Arial"/>
              </a:rPr>
              <a:t>loop  </a:t>
            </a:r>
            <a:r>
              <a:rPr sz="1650" spc="130" dirty="0">
                <a:solidFill>
                  <a:srgbClr val="0000FF"/>
                </a:solidFill>
                <a:latin typeface="Arial"/>
                <a:cs typeface="Arial"/>
              </a:rPr>
              <a:t>((depth</a:t>
            </a:r>
            <a:r>
              <a:rPr sz="1650" spc="254" dirty="0">
                <a:solidFill>
                  <a:srgbClr val="0000FF"/>
                </a:solidFill>
                <a:latin typeface="Arial"/>
                <a:cs typeface="Arial"/>
              </a:rPr>
              <a:t> </a:t>
            </a:r>
            <a:r>
              <a:rPr sz="1650" spc="260" dirty="0">
                <a:solidFill>
                  <a:srgbClr val="0000FF"/>
                </a:solidFill>
                <a:latin typeface="Arial"/>
                <a:cs typeface="Arial"/>
              </a:rPr>
              <a:t>start))</a:t>
            </a:r>
            <a:endParaRPr sz="1650">
              <a:latin typeface="Arial"/>
              <a:cs typeface="Arial"/>
            </a:endParaRPr>
          </a:p>
          <a:p>
            <a:pPr marL="3357879" marR="2233930" indent="-669290">
              <a:lnSpc>
                <a:spcPct val="113599"/>
              </a:lnSpc>
            </a:pPr>
            <a:r>
              <a:rPr sz="1650" spc="50" dirty="0">
                <a:solidFill>
                  <a:srgbClr val="0000FF"/>
                </a:solidFill>
                <a:latin typeface="Arial"/>
                <a:cs typeface="Arial"/>
              </a:rPr>
              <a:t>(cond </a:t>
            </a:r>
            <a:r>
              <a:rPr sz="1650" spc="190" dirty="0">
                <a:solidFill>
                  <a:srgbClr val="0000FF"/>
                </a:solidFill>
                <a:latin typeface="Arial"/>
                <a:cs typeface="Arial"/>
              </a:rPr>
              <a:t>((&gt; </a:t>
            </a:r>
            <a:r>
              <a:rPr sz="1650" spc="50" dirty="0">
                <a:solidFill>
                  <a:srgbClr val="0000FF"/>
                </a:solidFill>
                <a:latin typeface="Arial"/>
                <a:cs typeface="Arial"/>
              </a:rPr>
              <a:t>depth </a:t>
            </a:r>
            <a:r>
              <a:rPr sz="1650" spc="140" dirty="0">
                <a:solidFill>
                  <a:srgbClr val="0000FF"/>
                </a:solidFill>
                <a:latin typeface="Arial"/>
                <a:cs typeface="Arial"/>
              </a:rPr>
              <a:t>stop) </a:t>
            </a:r>
            <a:r>
              <a:rPr sz="1650" spc="370" dirty="0">
                <a:solidFill>
                  <a:srgbClr val="0000FF"/>
                </a:solidFill>
                <a:latin typeface="Arial"/>
                <a:cs typeface="Arial"/>
              </a:rPr>
              <a:t>’())  </a:t>
            </a:r>
            <a:r>
              <a:rPr sz="1650" spc="325" dirty="0">
                <a:solidFill>
                  <a:srgbClr val="0000FF"/>
                </a:solidFill>
                <a:latin typeface="Arial"/>
                <a:cs typeface="Arial"/>
              </a:rPr>
              <a:t>((</a:t>
            </a:r>
            <a:r>
              <a:rPr sz="1650" spc="50" dirty="0">
                <a:solidFill>
                  <a:srgbClr val="FF0000"/>
                </a:solidFill>
                <a:latin typeface="Arial"/>
                <a:cs typeface="Arial"/>
              </a:rPr>
              <a:t>s</a:t>
            </a:r>
            <a:r>
              <a:rPr sz="1650" spc="-40" dirty="0">
                <a:solidFill>
                  <a:srgbClr val="FF0000"/>
                </a:solidFill>
                <a:latin typeface="Arial"/>
                <a:cs typeface="Arial"/>
              </a:rPr>
              <a:t>a</a:t>
            </a:r>
            <a:r>
              <a:rPr sz="1650" spc="509" dirty="0">
                <a:solidFill>
                  <a:srgbClr val="FF0000"/>
                </a:solidFill>
                <a:latin typeface="Arial"/>
                <a:cs typeface="Arial"/>
              </a:rPr>
              <a:t>l</a:t>
            </a:r>
            <a:r>
              <a:rPr sz="1650" spc="325" dirty="0">
                <a:solidFill>
                  <a:srgbClr val="FF0000"/>
                </a:solidFill>
                <a:latin typeface="Arial"/>
                <a:cs typeface="Arial"/>
              </a:rPr>
              <a:t>-</a:t>
            </a:r>
            <a:r>
              <a:rPr sz="1650" spc="-40" dirty="0">
                <a:solidFill>
                  <a:srgbClr val="FF0000"/>
                </a:solidFill>
                <a:latin typeface="Arial"/>
                <a:cs typeface="Arial"/>
              </a:rPr>
              <a:t>b</a:t>
            </a:r>
            <a:r>
              <a:rPr sz="1650" spc="-500" dirty="0">
                <a:solidFill>
                  <a:srgbClr val="FF0000"/>
                </a:solidFill>
                <a:latin typeface="Arial"/>
                <a:cs typeface="Arial"/>
              </a:rPr>
              <a:t>m</a:t>
            </a:r>
            <a:r>
              <a:rPr sz="1650" spc="50" dirty="0">
                <a:solidFill>
                  <a:srgbClr val="FF0000"/>
                </a:solidFill>
                <a:latin typeface="Arial"/>
                <a:cs typeface="Arial"/>
              </a:rPr>
              <a:t>c</a:t>
            </a:r>
            <a:r>
              <a:rPr sz="1650" spc="415" dirty="0">
                <a:solidFill>
                  <a:srgbClr val="FF0000"/>
                </a:solidFill>
                <a:latin typeface="Arial"/>
                <a:cs typeface="Arial"/>
              </a:rPr>
              <a:t>/</a:t>
            </a:r>
            <a:r>
              <a:rPr sz="1650" spc="-40" dirty="0">
                <a:solidFill>
                  <a:srgbClr val="FF0000"/>
                </a:solidFill>
                <a:latin typeface="Arial"/>
                <a:cs typeface="Arial"/>
              </a:rPr>
              <a:t>e</a:t>
            </a:r>
            <a:r>
              <a:rPr sz="1650" spc="50" dirty="0">
                <a:solidFill>
                  <a:srgbClr val="FF0000"/>
                </a:solidFill>
                <a:latin typeface="Arial"/>
                <a:cs typeface="Arial"/>
              </a:rPr>
              <a:t>x</a:t>
            </a:r>
            <a:r>
              <a:rPr sz="1650" spc="415" dirty="0">
                <a:solidFill>
                  <a:srgbClr val="FF0000"/>
                </a:solidFill>
                <a:latin typeface="Arial"/>
                <a:cs typeface="Arial"/>
              </a:rPr>
              <a:t>t</a:t>
            </a:r>
            <a:r>
              <a:rPr sz="1650" spc="-40" dirty="0">
                <a:solidFill>
                  <a:srgbClr val="FF0000"/>
                </a:solidFill>
                <a:latin typeface="Arial"/>
                <a:cs typeface="Arial"/>
              </a:rPr>
              <a:t>end</a:t>
            </a:r>
            <a:r>
              <a:rPr sz="1650" spc="325" dirty="0">
                <a:solidFill>
                  <a:srgbClr val="FF0000"/>
                </a:solidFill>
                <a:latin typeface="Arial"/>
                <a:cs typeface="Arial"/>
              </a:rPr>
              <a:t>-</a:t>
            </a:r>
            <a:r>
              <a:rPr sz="1650" spc="-40" dirty="0">
                <a:solidFill>
                  <a:srgbClr val="FF0000"/>
                </a:solidFill>
                <a:latin typeface="Arial"/>
                <a:cs typeface="Arial"/>
              </a:rPr>
              <a:t>pa</a:t>
            </a:r>
            <a:r>
              <a:rPr sz="1650" spc="415" dirty="0">
                <a:solidFill>
                  <a:srgbClr val="FF0000"/>
                </a:solidFill>
                <a:latin typeface="Arial"/>
                <a:cs typeface="Arial"/>
              </a:rPr>
              <a:t>t</a:t>
            </a:r>
            <a:r>
              <a:rPr sz="1650" spc="-40" dirty="0">
                <a:solidFill>
                  <a:srgbClr val="FF0000"/>
                </a:solidFill>
                <a:latin typeface="Arial"/>
                <a:cs typeface="Arial"/>
              </a:rPr>
              <a:t>h</a:t>
            </a:r>
            <a:endParaRPr sz="1650">
              <a:latin typeface="Arial"/>
              <a:cs typeface="Arial"/>
            </a:endParaRPr>
          </a:p>
          <a:p>
            <a:pPr marL="3357879" marR="1007744" indent="445770">
              <a:lnSpc>
                <a:spcPct val="113599"/>
              </a:lnSpc>
            </a:pPr>
            <a:r>
              <a:rPr sz="1650" spc="70" dirty="0">
                <a:solidFill>
                  <a:srgbClr val="0000FF"/>
                </a:solidFill>
                <a:latin typeface="Arial"/>
                <a:cs typeface="Arial"/>
              </a:rPr>
              <a:t>path </a:t>
            </a:r>
            <a:r>
              <a:rPr sz="1650" spc="-195" dirty="0">
                <a:solidFill>
                  <a:srgbClr val="0000FF"/>
                </a:solidFill>
                <a:latin typeface="Arial"/>
                <a:cs typeface="Arial"/>
              </a:rPr>
              <a:t>mod </a:t>
            </a:r>
            <a:r>
              <a:rPr sz="1650" spc="95" dirty="0">
                <a:solidFill>
                  <a:srgbClr val="0000FF"/>
                </a:solidFill>
                <a:latin typeface="Arial"/>
                <a:cs typeface="Arial"/>
              </a:rPr>
              <a:t>goal </a:t>
            </a:r>
            <a:r>
              <a:rPr sz="1650" spc="50" dirty="0">
                <a:solidFill>
                  <a:srgbClr val="0000FF"/>
                </a:solidFill>
                <a:latin typeface="Arial"/>
                <a:cs typeface="Arial"/>
              </a:rPr>
              <a:t>depth </a:t>
            </a:r>
            <a:r>
              <a:rPr sz="1650" spc="295" dirty="0">
                <a:solidFill>
                  <a:srgbClr val="0000FF"/>
                </a:solidFill>
                <a:latin typeface="Arial"/>
                <a:cs typeface="Arial"/>
              </a:rPr>
              <a:t>’ics))  </a:t>
            </a:r>
            <a:r>
              <a:rPr sz="1650" spc="160" dirty="0">
                <a:solidFill>
                  <a:srgbClr val="0000FF"/>
                </a:solidFill>
                <a:latin typeface="Arial"/>
                <a:cs typeface="Arial"/>
              </a:rPr>
              <a:t>(else </a:t>
            </a:r>
            <a:r>
              <a:rPr sz="1650" spc="140" dirty="0">
                <a:solidFill>
                  <a:srgbClr val="0000FF"/>
                </a:solidFill>
                <a:latin typeface="Arial"/>
                <a:cs typeface="Arial"/>
              </a:rPr>
              <a:t>(loop </a:t>
            </a:r>
            <a:r>
              <a:rPr sz="1650" spc="120" dirty="0">
                <a:solidFill>
                  <a:srgbClr val="0000FF"/>
                </a:solidFill>
                <a:latin typeface="Arial"/>
                <a:cs typeface="Arial"/>
              </a:rPr>
              <a:t>(+  </a:t>
            </a:r>
            <a:r>
              <a:rPr sz="1650" spc="50" dirty="0">
                <a:solidFill>
                  <a:srgbClr val="0000FF"/>
                </a:solidFill>
                <a:latin typeface="Arial"/>
                <a:cs typeface="Arial"/>
              </a:rPr>
              <a:t>depth </a:t>
            </a:r>
            <a:r>
              <a:rPr sz="1650" spc="160" dirty="0">
                <a:solidFill>
                  <a:srgbClr val="0000FF"/>
                </a:solidFill>
                <a:latin typeface="Arial"/>
                <a:cs typeface="Arial"/>
              </a:rPr>
              <a:t> </a:t>
            </a:r>
            <a:r>
              <a:rPr sz="1650" spc="240" dirty="0">
                <a:solidFill>
                  <a:srgbClr val="0000FF"/>
                </a:solidFill>
                <a:latin typeface="Arial"/>
                <a:cs typeface="Arial"/>
              </a:rPr>
              <a:t>step)))))))</a:t>
            </a:r>
            <a:endParaRPr sz="1650">
              <a:latin typeface="Arial"/>
              <a:cs typeface="Arial"/>
            </a:endParaRPr>
          </a:p>
          <a:p>
            <a:pPr marL="1462405">
              <a:lnSpc>
                <a:spcPct val="100000"/>
              </a:lnSpc>
              <a:spcBef>
                <a:spcPts val="270"/>
              </a:spcBef>
            </a:pPr>
            <a:r>
              <a:rPr sz="1650" spc="415" dirty="0">
                <a:solidFill>
                  <a:srgbClr val="0000FF"/>
                </a:solidFill>
                <a:latin typeface="Arial"/>
                <a:cs typeface="Arial"/>
              </a:rPr>
              <a:t>(if </a:t>
            </a:r>
            <a:r>
              <a:rPr sz="1650" spc="170" dirty="0">
                <a:solidFill>
                  <a:srgbClr val="0000FF"/>
                </a:solidFill>
                <a:latin typeface="Arial"/>
                <a:cs typeface="Arial"/>
              </a:rPr>
              <a:t>(pair?</a:t>
            </a:r>
            <a:r>
              <a:rPr sz="1650" spc="385" dirty="0">
                <a:solidFill>
                  <a:srgbClr val="0000FF"/>
                </a:solidFill>
                <a:latin typeface="Arial"/>
                <a:cs typeface="Arial"/>
              </a:rPr>
              <a:t> </a:t>
            </a:r>
            <a:r>
              <a:rPr sz="1650" spc="60" dirty="0">
                <a:solidFill>
                  <a:srgbClr val="0000FF"/>
                </a:solidFill>
                <a:latin typeface="Arial"/>
                <a:cs typeface="Arial"/>
              </a:rPr>
              <a:t>new-path)</a:t>
            </a:r>
            <a:endParaRPr sz="1650">
              <a:latin typeface="Arial"/>
              <a:cs typeface="Arial"/>
            </a:endParaRPr>
          </a:p>
          <a:p>
            <a:pPr marL="1908175">
              <a:lnSpc>
                <a:spcPct val="100000"/>
              </a:lnSpc>
              <a:spcBef>
                <a:spcPts val="270"/>
              </a:spcBef>
            </a:pPr>
            <a:r>
              <a:rPr sz="1650" spc="90" dirty="0">
                <a:solidFill>
                  <a:srgbClr val="0000FF"/>
                </a:solidFill>
                <a:latin typeface="Arial"/>
                <a:cs typeface="Arial"/>
              </a:rPr>
              <a:t>(extend-search  </a:t>
            </a:r>
            <a:r>
              <a:rPr sz="1650" spc="-195" dirty="0">
                <a:solidFill>
                  <a:srgbClr val="0000FF"/>
                </a:solidFill>
                <a:latin typeface="Arial"/>
                <a:cs typeface="Arial"/>
              </a:rPr>
              <a:t>mod   </a:t>
            </a:r>
            <a:r>
              <a:rPr sz="1650" spc="165" dirty="0">
                <a:solidFill>
                  <a:srgbClr val="0000FF"/>
                </a:solidFill>
                <a:latin typeface="Arial"/>
                <a:cs typeface="Arial"/>
              </a:rPr>
              <a:t>new-goal-list </a:t>
            </a:r>
            <a:r>
              <a:rPr sz="1650" spc="25" dirty="0">
                <a:solidFill>
                  <a:srgbClr val="0000FF"/>
                </a:solidFill>
                <a:latin typeface="Arial"/>
                <a:cs typeface="Arial"/>
              </a:rPr>
              <a:t>new-path</a:t>
            </a:r>
            <a:r>
              <a:rPr sz="1650" spc="500" dirty="0">
                <a:solidFill>
                  <a:srgbClr val="0000FF"/>
                </a:solidFill>
                <a:latin typeface="Arial"/>
                <a:cs typeface="Arial"/>
              </a:rPr>
              <a:t> </a:t>
            </a:r>
            <a:r>
              <a:rPr sz="1650" spc="5" dirty="0">
                <a:solidFill>
                  <a:srgbClr val="0000FF"/>
                </a:solidFill>
                <a:latin typeface="Arial"/>
                <a:cs typeface="Arial"/>
              </a:rPr>
              <a:t>scan</a:t>
            </a:r>
            <a:endParaRPr sz="1650">
              <a:latin typeface="Arial"/>
              <a:cs typeface="Arial"/>
            </a:endParaRPr>
          </a:p>
          <a:p>
            <a:pPr marL="1685289" marR="673100" indent="1895475">
              <a:lnSpc>
                <a:spcPct val="113599"/>
              </a:lnSpc>
            </a:pPr>
            <a:r>
              <a:rPr sz="1650" spc="30" dirty="0">
                <a:solidFill>
                  <a:srgbClr val="0000FF"/>
                </a:solidFill>
                <a:latin typeface="Arial"/>
                <a:cs typeface="Arial"/>
              </a:rPr>
              <a:t>prune </a:t>
            </a:r>
            <a:r>
              <a:rPr sz="1650" spc="180" dirty="0">
                <a:solidFill>
                  <a:srgbClr val="0000FF"/>
                </a:solidFill>
                <a:latin typeface="Arial"/>
                <a:cs typeface="Arial"/>
              </a:rPr>
              <a:t>innerslice </a:t>
            </a:r>
            <a:r>
              <a:rPr sz="1650" spc="235" dirty="0">
                <a:solidFill>
                  <a:srgbClr val="0000FF"/>
                </a:solidFill>
                <a:latin typeface="Arial"/>
                <a:cs typeface="Arial"/>
              </a:rPr>
              <a:t>start </a:t>
            </a:r>
            <a:r>
              <a:rPr sz="1650" spc="95" dirty="0">
                <a:solidFill>
                  <a:srgbClr val="0000FF"/>
                </a:solidFill>
                <a:latin typeface="Arial"/>
                <a:cs typeface="Arial"/>
              </a:rPr>
              <a:t>step </a:t>
            </a:r>
            <a:r>
              <a:rPr sz="1650" spc="140" dirty="0">
                <a:solidFill>
                  <a:srgbClr val="0000FF"/>
                </a:solidFill>
                <a:latin typeface="Arial"/>
                <a:cs typeface="Arial"/>
              </a:rPr>
              <a:t>stop)  </a:t>
            </a:r>
            <a:r>
              <a:rPr sz="1650" spc="70" dirty="0">
                <a:solidFill>
                  <a:srgbClr val="0000FF"/>
                </a:solidFill>
                <a:latin typeface="Arial"/>
                <a:cs typeface="Arial"/>
              </a:rPr>
              <a:t>(cons  </a:t>
            </a:r>
            <a:r>
              <a:rPr sz="1650" spc="165" dirty="0">
                <a:solidFill>
                  <a:srgbClr val="0000FF"/>
                </a:solidFill>
                <a:latin typeface="Arial"/>
                <a:cs typeface="Arial"/>
              </a:rPr>
              <a:t>new-goal-list</a:t>
            </a:r>
            <a:r>
              <a:rPr sz="1650" spc="150" dirty="0">
                <a:solidFill>
                  <a:srgbClr val="0000FF"/>
                </a:solidFill>
                <a:latin typeface="Arial"/>
                <a:cs typeface="Arial"/>
              </a:rPr>
              <a:t> </a:t>
            </a:r>
            <a:r>
              <a:rPr sz="1650" spc="235" dirty="0">
                <a:solidFill>
                  <a:srgbClr val="0000FF"/>
                </a:solidFill>
                <a:latin typeface="Arial"/>
                <a:cs typeface="Arial"/>
              </a:rPr>
              <a:t>path)))))))</a:t>
            </a:r>
            <a:endParaRPr sz="1650">
              <a:latin typeface="Arial"/>
              <a:cs typeface="Arial"/>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153502" y="475981"/>
            <a:ext cx="7753350" cy="314960"/>
          </a:xfrm>
          <a:prstGeom prst="rect">
            <a:avLst/>
          </a:prstGeom>
        </p:spPr>
        <p:txBody>
          <a:bodyPr vert="horz" wrap="square" lIns="0" tIns="0" rIns="0" bIns="0" rtlCol="0">
            <a:spAutoFit/>
          </a:bodyPr>
          <a:lstStyle/>
          <a:p>
            <a:pPr marL="12700">
              <a:lnSpc>
                <a:spcPct val="100000"/>
              </a:lnSpc>
            </a:pPr>
            <a:r>
              <a:rPr sz="1950" spc="335" dirty="0">
                <a:solidFill>
                  <a:srgbClr val="231F20"/>
                </a:solidFill>
                <a:latin typeface="Arial"/>
                <a:cs typeface="Arial"/>
              </a:rPr>
              <a:t>Outer Loop </a:t>
            </a:r>
            <a:r>
              <a:rPr sz="1950" spc="434" dirty="0">
                <a:solidFill>
                  <a:srgbClr val="231F20"/>
                </a:solidFill>
                <a:latin typeface="Arial"/>
                <a:cs typeface="Arial"/>
              </a:rPr>
              <a:t>Of </a:t>
            </a:r>
            <a:r>
              <a:rPr sz="1950" spc="390" dirty="0">
                <a:solidFill>
                  <a:srgbClr val="231F20"/>
                </a:solidFill>
                <a:latin typeface="Arial"/>
                <a:cs typeface="Arial"/>
              </a:rPr>
              <a:t>The </a:t>
            </a:r>
            <a:r>
              <a:rPr sz="1950" spc="380" dirty="0">
                <a:solidFill>
                  <a:srgbClr val="00FF00"/>
                </a:solidFill>
                <a:latin typeface="Arial"/>
                <a:cs typeface="Arial"/>
              </a:rPr>
              <a:t>SAL-ATG </a:t>
            </a:r>
            <a:r>
              <a:rPr sz="1950" spc="295" dirty="0">
                <a:solidFill>
                  <a:srgbClr val="231F20"/>
                </a:solidFill>
                <a:latin typeface="Arial"/>
                <a:cs typeface="Arial"/>
              </a:rPr>
              <a:t>Test </a:t>
            </a:r>
            <a:r>
              <a:rPr sz="1950" spc="245" dirty="0">
                <a:solidFill>
                  <a:srgbClr val="231F20"/>
                </a:solidFill>
                <a:latin typeface="Arial"/>
                <a:cs typeface="Arial"/>
              </a:rPr>
              <a:t>Generation</a:t>
            </a:r>
            <a:r>
              <a:rPr sz="1950" spc="375" dirty="0">
                <a:solidFill>
                  <a:srgbClr val="231F20"/>
                </a:solidFill>
                <a:latin typeface="Arial"/>
                <a:cs typeface="Arial"/>
              </a:rPr>
              <a:t> </a:t>
            </a:r>
            <a:r>
              <a:rPr sz="1950" spc="260" dirty="0">
                <a:solidFill>
                  <a:srgbClr val="231F20"/>
                </a:solidFill>
                <a:latin typeface="Arial"/>
                <a:cs typeface="Arial"/>
              </a:rPr>
              <a:t>Script</a:t>
            </a:r>
            <a:endParaRPr sz="1950">
              <a:latin typeface="Arial"/>
              <a:cs typeface="Arial"/>
            </a:endParaRPr>
          </a:p>
        </p:txBody>
      </p:sp>
      <p:sp>
        <p:nvSpPr>
          <p:cNvPr id="3" name="object 3"/>
          <p:cNvSpPr txBox="1"/>
          <p:nvPr/>
        </p:nvSpPr>
        <p:spPr>
          <a:xfrm>
            <a:off x="901700" y="1899399"/>
            <a:ext cx="7498080" cy="3510279"/>
          </a:xfrm>
          <a:prstGeom prst="rect">
            <a:avLst/>
          </a:prstGeom>
        </p:spPr>
        <p:txBody>
          <a:bodyPr vert="horz" wrap="square" lIns="0" tIns="0" rIns="0" bIns="0" rtlCol="0">
            <a:spAutoFit/>
          </a:bodyPr>
          <a:lstStyle/>
          <a:p>
            <a:pPr marL="12700">
              <a:lnSpc>
                <a:spcPct val="100000"/>
              </a:lnSpc>
            </a:pPr>
            <a:r>
              <a:rPr sz="1650" spc="155" dirty="0">
                <a:solidFill>
                  <a:srgbClr val="0000FF"/>
                </a:solidFill>
                <a:latin typeface="Arial"/>
                <a:cs typeface="Arial"/>
              </a:rPr>
              <a:t>(define </a:t>
            </a:r>
            <a:r>
              <a:rPr sz="1650" spc="180" dirty="0">
                <a:solidFill>
                  <a:srgbClr val="0000FF"/>
                </a:solidFill>
                <a:latin typeface="Arial"/>
                <a:cs typeface="Arial"/>
              </a:rPr>
              <a:t>(iterative-search </a:t>
            </a:r>
            <a:r>
              <a:rPr sz="1650" spc="-25" dirty="0">
                <a:solidFill>
                  <a:srgbClr val="0000FF"/>
                </a:solidFill>
                <a:latin typeface="Arial"/>
                <a:cs typeface="Arial"/>
              </a:rPr>
              <a:t>module  </a:t>
            </a:r>
            <a:r>
              <a:rPr sz="1650" spc="5" dirty="0">
                <a:solidFill>
                  <a:srgbClr val="0000FF"/>
                </a:solidFill>
                <a:latin typeface="Arial"/>
                <a:cs typeface="Arial"/>
              </a:rPr>
              <a:t> </a:t>
            </a:r>
            <a:r>
              <a:rPr sz="1650" spc="245" dirty="0">
                <a:solidFill>
                  <a:srgbClr val="0000FF"/>
                </a:solidFill>
                <a:latin typeface="Arial"/>
                <a:cs typeface="Arial"/>
              </a:rPr>
              <a:t>goal-list</a:t>
            </a:r>
            <a:endParaRPr sz="1650">
              <a:latin typeface="Arial"/>
              <a:cs typeface="Arial"/>
            </a:endParaRPr>
          </a:p>
          <a:p>
            <a:pPr marL="235585" marR="565150" indent="892175">
              <a:lnSpc>
                <a:spcPct val="117000"/>
              </a:lnSpc>
            </a:pPr>
            <a:r>
              <a:rPr sz="1650" spc="5" dirty="0">
                <a:solidFill>
                  <a:srgbClr val="0000FF"/>
                </a:solidFill>
                <a:latin typeface="Arial"/>
                <a:cs typeface="Arial"/>
              </a:rPr>
              <a:t>scan </a:t>
            </a:r>
            <a:r>
              <a:rPr sz="1650" spc="30" dirty="0">
                <a:solidFill>
                  <a:srgbClr val="0000FF"/>
                </a:solidFill>
                <a:latin typeface="Arial"/>
                <a:cs typeface="Arial"/>
              </a:rPr>
              <a:t>prune </a:t>
            </a:r>
            <a:r>
              <a:rPr sz="1650" spc="215" dirty="0">
                <a:solidFill>
                  <a:srgbClr val="0000FF"/>
                </a:solidFill>
                <a:latin typeface="Arial"/>
                <a:cs typeface="Arial"/>
              </a:rPr>
              <a:t>slice </a:t>
            </a:r>
            <a:r>
              <a:rPr sz="1650" spc="180" dirty="0">
                <a:solidFill>
                  <a:srgbClr val="0000FF"/>
                </a:solidFill>
                <a:latin typeface="Arial"/>
                <a:cs typeface="Arial"/>
              </a:rPr>
              <a:t>innerslice </a:t>
            </a:r>
            <a:r>
              <a:rPr sz="1650" spc="130" dirty="0">
                <a:solidFill>
                  <a:srgbClr val="0000FF"/>
                </a:solidFill>
                <a:latin typeface="Arial"/>
                <a:cs typeface="Arial"/>
              </a:rPr>
              <a:t>bmcinit </a:t>
            </a:r>
            <a:r>
              <a:rPr sz="1650" spc="235" dirty="0">
                <a:solidFill>
                  <a:srgbClr val="0000FF"/>
                </a:solidFill>
                <a:latin typeface="Arial"/>
                <a:cs typeface="Arial"/>
              </a:rPr>
              <a:t>start </a:t>
            </a:r>
            <a:r>
              <a:rPr sz="1650" spc="95" dirty="0">
                <a:solidFill>
                  <a:srgbClr val="0000FF"/>
                </a:solidFill>
                <a:latin typeface="Arial"/>
                <a:cs typeface="Arial"/>
              </a:rPr>
              <a:t>step </a:t>
            </a:r>
            <a:r>
              <a:rPr sz="1650" spc="140" dirty="0">
                <a:solidFill>
                  <a:srgbClr val="0000FF"/>
                </a:solidFill>
                <a:latin typeface="Arial"/>
                <a:cs typeface="Arial"/>
              </a:rPr>
              <a:t>stop)  </a:t>
            </a:r>
            <a:r>
              <a:rPr sz="1650" spc="290" dirty="0">
                <a:solidFill>
                  <a:srgbClr val="0000FF"/>
                </a:solidFill>
                <a:latin typeface="Arial"/>
                <a:cs typeface="Arial"/>
              </a:rPr>
              <a:t>(let* </a:t>
            </a:r>
            <a:r>
              <a:rPr sz="1650" spc="170" dirty="0">
                <a:solidFill>
                  <a:srgbClr val="0000FF"/>
                </a:solidFill>
                <a:latin typeface="Arial"/>
                <a:cs typeface="Arial"/>
              </a:rPr>
              <a:t>((goal </a:t>
            </a:r>
            <a:r>
              <a:rPr sz="1650" spc="220" dirty="0">
                <a:solidFill>
                  <a:srgbClr val="0000FF"/>
                </a:solidFill>
                <a:latin typeface="Arial"/>
                <a:cs typeface="Arial"/>
              </a:rPr>
              <a:t>(list-&gt;goal </a:t>
            </a:r>
            <a:r>
              <a:rPr sz="1650" spc="245" dirty="0">
                <a:solidFill>
                  <a:srgbClr val="0000FF"/>
                </a:solidFill>
                <a:latin typeface="Arial"/>
                <a:cs typeface="Arial"/>
              </a:rPr>
              <a:t>goal-list </a:t>
            </a:r>
            <a:r>
              <a:rPr sz="1650" spc="295" dirty="0">
                <a:solidFill>
                  <a:srgbClr val="0000FF"/>
                </a:solidFill>
                <a:latin typeface="Arial"/>
                <a:cs typeface="Arial"/>
              </a:rPr>
              <a:t> </a:t>
            </a:r>
            <a:r>
              <a:rPr sz="1650" spc="60" dirty="0">
                <a:solidFill>
                  <a:srgbClr val="0000FF"/>
                </a:solidFill>
                <a:latin typeface="Arial"/>
                <a:cs typeface="Arial"/>
              </a:rPr>
              <a:t>module))</a:t>
            </a:r>
            <a:endParaRPr sz="1650">
              <a:latin typeface="Arial"/>
              <a:cs typeface="Arial"/>
            </a:endParaRPr>
          </a:p>
          <a:p>
            <a:pPr marL="1016000" marR="5080">
              <a:lnSpc>
                <a:spcPct val="117000"/>
              </a:lnSpc>
            </a:pPr>
            <a:r>
              <a:rPr sz="1650" spc="-65" dirty="0">
                <a:solidFill>
                  <a:srgbClr val="0000FF"/>
                </a:solidFill>
                <a:latin typeface="Arial"/>
                <a:cs typeface="Arial"/>
              </a:rPr>
              <a:t>(mod </a:t>
            </a:r>
            <a:r>
              <a:rPr sz="1650" spc="415" dirty="0">
                <a:solidFill>
                  <a:srgbClr val="0000FF"/>
                </a:solidFill>
                <a:latin typeface="Arial"/>
                <a:cs typeface="Arial"/>
              </a:rPr>
              <a:t>(if </a:t>
            </a:r>
            <a:r>
              <a:rPr sz="1650" spc="215" dirty="0">
                <a:solidFill>
                  <a:srgbClr val="0000FF"/>
                </a:solidFill>
                <a:latin typeface="Arial"/>
                <a:cs typeface="Arial"/>
              </a:rPr>
              <a:t>slice </a:t>
            </a:r>
            <a:r>
              <a:rPr sz="1650" spc="170" dirty="0">
                <a:solidFill>
                  <a:srgbClr val="0000FF"/>
                </a:solidFill>
                <a:latin typeface="Arial"/>
                <a:cs typeface="Arial"/>
              </a:rPr>
              <a:t>(sal-module/slice-for </a:t>
            </a:r>
            <a:r>
              <a:rPr sz="1650" spc="-25" dirty="0">
                <a:solidFill>
                  <a:srgbClr val="0000FF"/>
                </a:solidFill>
                <a:latin typeface="Arial"/>
                <a:cs typeface="Arial"/>
              </a:rPr>
              <a:t>module </a:t>
            </a:r>
            <a:r>
              <a:rPr sz="1650" spc="140" dirty="0">
                <a:solidFill>
                  <a:srgbClr val="0000FF"/>
                </a:solidFill>
                <a:latin typeface="Arial"/>
                <a:cs typeface="Arial"/>
              </a:rPr>
              <a:t>goal) </a:t>
            </a:r>
            <a:r>
              <a:rPr sz="1650" spc="65" dirty="0">
                <a:solidFill>
                  <a:srgbClr val="0000FF"/>
                </a:solidFill>
                <a:latin typeface="Arial"/>
                <a:cs typeface="Arial"/>
              </a:rPr>
              <a:t>module))  </a:t>
            </a:r>
            <a:r>
              <a:rPr sz="1650" spc="125" dirty="0">
                <a:solidFill>
                  <a:srgbClr val="0000FF"/>
                </a:solidFill>
                <a:latin typeface="Arial"/>
                <a:cs typeface="Arial"/>
              </a:rPr>
              <a:t>(path </a:t>
            </a:r>
            <a:r>
              <a:rPr sz="1650" spc="415" dirty="0">
                <a:solidFill>
                  <a:srgbClr val="0000FF"/>
                </a:solidFill>
                <a:latin typeface="Arial"/>
                <a:cs typeface="Arial"/>
              </a:rPr>
              <a:t>(if</a:t>
            </a:r>
            <a:r>
              <a:rPr sz="1650" spc="635" dirty="0">
                <a:solidFill>
                  <a:srgbClr val="0000FF"/>
                </a:solidFill>
                <a:latin typeface="Arial"/>
                <a:cs typeface="Arial"/>
              </a:rPr>
              <a:t> </a:t>
            </a:r>
            <a:r>
              <a:rPr sz="1650" spc="130" dirty="0">
                <a:solidFill>
                  <a:srgbClr val="0000FF"/>
                </a:solidFill>
                <a:latin typeface="Arial"/>
                <a:cs typeface="Arial"/>
              </a:rPr>
              <a:t>bmcinit</a:t>
            </a:r>
            <a:endParaRPr sz="1650">
              <a:latin typeface="Arial"/>
              <a:cs typeface="Arial"/>
            </a:endParaRPr>
          </a:p>
          <a:p>
            <a:pPr marL="2577465" marR="1232535" indent="-446405">
              <a:lnSpc>
                <a:spcPct val="117000"/>
              </a:lnSpc>
            </a:pPr>
            <a:r>
              <a:rPr sz="1650" spc="185" dirty="0">
                <a:solidFill>
                  <a:srgbClr val="0000FF"/>
                </a:solidFill>
                <a:latin typeface="Arial"/>
                <a:cs typeface="Arial"/>
              </a:rPr>
              <a:t>(</a:t>
            </a:r>
            <a:r>
              <a:rPr sz="1650" spc="185" dirty="0">
                <a:solidFill>
                  <a:srgbClr val="FF0000"/>
                </a:solidFill>
                <a:latin typeface="Arial"/>
                <a:cs typeface="Arial"/>
              </a:rPr>
              <a:t>sal-bmc/find-path-from-initial-state  </a:t>
            </a:r>
            <a:r>
              <a:rPr sz="1650" spc="-195" dirty="0">
                <a:solidFill>
                  <a:srgbClr val="0000FF"/>
                </a:solidFill>
                <a:latin typeface="Arial"/>
                <a:cs typeface="Arial"/>
              </a:rPr>
              <a:t>mod   </a:t>
            </a:r>
            <a:r>
              <a:rPr sz="1650" spc="95" dirty="0">
                <a:solidFill>
                  <a:srgbClr val="0000FF"/>
                </a:solidFill>
                <a:latin typeface="Arial"/>
                <a:cs typeface="Arial"/>
              </a:rPr>
              <a:t>goal  </a:t>
            </a:r>
            <a:r>
              <a:rPr sz="1650" spc="130" dirty="0">
                <a:solidFill>
                  <a:srgbClr val="0000FF"/>
                </a:solidFill>
                <a:latin typeface="Arial"/>
                <a:cs typeface="Arial"/>
              </a:rPr>
              <a:t>bmcinit</a:t>
            </a:r>
            <a:r>
              <a:rPr sz="1650" spc="204" dirty="0">
                <a:solidFill>
                  <a:srgbClr val="0000FF"/>
                </a:solidFill>
                <a:latin typeface="Arial"/>
                <a:cs typeface="Arial"/>
              </a:rPr>
              <a:t> </a:t>
            </a:r>
            <a:r>
              <a:rPr sz="1650" spc="290" dirty="0">
                <a:solidFill>
                  <a:srgbClr val="0000FF"/>
                </a:solidFill>
                <a:latin typeface="Arial"/>
                <a:cs typeface="Arial"/>
              </a:rPr>
              <a:t>’ics)</a:t>
            </a:r>
            <a:endParaRPr sz="1650">
              <a:latin typeface="Arial"/>
              <a:cs typeface="Arial"/>
            </a:endParaRPr>
          </a:p>
          <a:p>
            <a:pPr marL="1908175">
              <a:lnSpc>
                <a:spcPct val="100000"/>
              </a:lnSpc>
              <a:spcBef>
                <a:spcPts val="335"/>
              </a:spcBef>
            </a:pPr>
            <a:r>
              <a:rPr sz="1650" spc="190" dirty="0">
                <a:solidFill>
                  <a:srgbClr val="0000FF"/>
                </a:solidFill>
                <a:latin typeface="Arial"/>
                <a:cs typeface="Arial"/>
              </a:rPr>
              <a:t>(</a:t>
            </a:r>
            <a:r>
              <a:rPr sz="1650" spc="190" dirty="0">
                <a:solidFill>
                  <a:srgbClr val="FF0000"/>
                </a:solidFill>
                <a:latin typeface="Arial"/>
                <a:cs typeface="Arial"/>
              </a:rPr>
              <a:t>sal-smc/find-path-from-initial-state </a:t>
            </a:r>
            <a:r>
              <a:rPr sz="1650" spc="-195" dirty="0">
                <a:solidFill>
                  <a:srgbClr val="0000FF"/>
                </a:solidFill>
                <a:latin typeface="Arial"/>
                <a:cs typeface="Arial"/>
              </a:rPr>
              <a:t>mod   </a:t>
            </a:r>
            <a:r>
              <a:rPr sz="1650" spc="-160" dirty="0">
                <a:solidFill>
                  <a:srgbClr val="0000FF"/>
                </a:solidFill>
                <a:latin typeface="Arial"/>
                <a:cs typeface="Arial"/>
              </a:rPr>
              <a:t> </a:t>
            </a:r>
            <a:r>
              <a:rPr sz="1650" spc="210" dirty="0">
                <a:solidFill>
                  <a:srgbClr val="0000FF"/>
                </a:solidFill>
                <a:latin typeface="Arial"/>
                <a:cs typeface="Arial"/>
              </a:rPr>
              <a:t>goal))))</a:t>
            </a:r>
            <a:endParaRPr sz="1650">
              <a:latin typeface="Arial"/>
              <a:cs typeface="Arial"/>
            </a:endParaRPr>
          </a:p>
          <a:p>
            <a:pPr marL="681355">
              <a:lnSpc>
                <a:spcPct val="100000"/>
              </a:lnSpc>
              <a:spcBef>
                <a:spcPts val="335"/>
              </a:spcBef>
            </a:pPr>
            <a:r>
              <a:rPr sz="1650" spc="415" dirty="0">
                <a:solidFill>
                  <a:srgbClr val="0000FF"/>
                </a:solidFill>
                <a:latin typeface="Arial"/>
                <a:cs typeface="Arial"/>
              </a:rPr>
              <a:t>(if</a:t>
            </a:r>
            <a:r>
              <a:rPr sz="1650" spc="350" dirty="0">
                <a:solidFill>
                  <a:srgbClr val="0000FF"/>
                </a:solidFill>
                <a:latin typeface="Arial"/>
                <a:cs typeface="Arial"/>
              </a:rPr>
              <a:t> </a:t>
            </a:r>
            <a:r>
              <a:rPr sz="1650" spc="70" dirty="0">
                <a:solidFill>
                  <a:srgbClr val="0000FF"/>
                </a:solidFill>
                <a:latin typeface="Arial"/>
                <a:cs typeface="Arial"/>
              </a:rPr>
              <a:t>path</a:t>
            </a:r>
            <a:endParaRPr sz="1650">
              <a:latin typeface="Arial"/>
              <a:cs typeface="Arial"/>
            </a:endParaRPr>
          </a:p>
          <a:p>
            <a:pPr marL="1573530" marR="1456055" indent="-446405">
              <a:lnSpc>
                <a:spcPct val="117000"/>
              </a:lnSpc>
            </a:pPr>
            <a:r>
              <a:rPr sz="1650" spc="90" dirty="0">
                <a:solidFill>
                  <a:srgbClr val="0000FF"/>
                </a:solidFill>
                <a:latin typeface="Arial"/>
                <a:cs typeface="Arial"/>
              </a:rPr>
              <a:t>(</a:t>
            </a:r>
            <a:r>
              <a:rPr sz="1650" spc="90" dirty="0">
                <a:solidFill>
                  <a:srgbClr val="00FF00"/>
                </a:solidFill>
                <a:latin typeface="Arial"/>
                <a:cs typeface="Arial"/>
              </a:rPr>
              <a:t>extend-search </a:t>
            </a:r>
            <a:r>
              <a:rPr sz="1650" spc="-195" dirty="0">
                <a:solidFill>
                  <a:srgbClr val="0000FF"/>
                </a:solidFill>
                <a:latin typeface="Arial"/>
                <a:cs typeface="Arial"/>
              </a:rPr>
              <a:t>mod </a:t>
            </a:r>
            <a:r>
              <a:rPr sz="1650" spc="245" dirty="0">
                <a:solidFill>
                  <a:srgbClr val="0000FF"/>
                </a:solidFill>
                <a:latin typeface="Arial"/>
                <a:cs typeface="Arial"/>
              </a:rPr>
              <a:t>goal-list </a:t>
            </a:r>
            <a:r>
              <a:rPr sz="1650" spc="70" dirty="0">
                <a:solidFill>
                  <a:srgbClr val="0000FF"/>
                </a:solidFill>
                <a:latin typeface="Arial"/>
                <a:cs typeface="Arial"/>
              </a:rPr>
              <a:t>path </a:t>
            </a:r>
            <a:r>
              <a:rPr sz="1650" spc="5" dirty="0">
                <a:solidFill>
                  <a:srgbClr val="0000FF"/>
                </a:solidFill>
                <a:latin typeface="Arial"/>
                <a:cs typeface="Arial"/>
              </a:rPr>
              <a:t>scan </a:t>
            </a:r>
            <a:r>
              <a:rPr sz="1650" spc="30" dirty="0">
                <a:solidFill>
                  <a:srgbClr val="0000FF"/>
                </a:solidFill>
                <a:latin typeface="Arial"/>
                <a:cs typeface="Arial"/>
              </a:rPr>
              <a:t>prune  </a:t>
            </a:r>
            <a:r>
              <a:rPr sz="1650" spc="180" dirty="0">
                <a:solidFill>
                  <a:srgbClr val="0000FF"/>
                </a:solidFill>
                <a:latin typeface="Arial"/>
                <a:cs typeface="Arial"/>
              </a:rPr>
              <a:t>innerslice </a:t>
            </a:r>
            <a:r>
              <a:rPr sz="1650" spc="235" dirty="0">
                <a:solidFill>
                  <a:srgbClr val="0000FF"/>
                </a:solidFill>
                <a:latin typeface="Arial"/>
                <a:cs typeface="Arial"/>
              </a:rPr>
              <a:t>start </a:t>
            </a:r>
            <a:r>
              <a:rPr sz="1650" spc="95" dirty="0">
                <a:solidFill>
                  <a:srgbClr val="0000FF"/>
                </a:solidFill>
                <a:latin typeface="Arial"/>
                <a:cs typeface="Arial"/>
              </a:rPr>
              <a:t>step </a:t>
            </a:r>
            <a:r>
              <a:rPr sz="1650" spc="229" dirty="0">
                <a:solidFill>
                  <a:srgbClr val="0000FF"/>
                </a:solidFill>
                <a:latin typeface="Arial"/>
                <a:cs typeface="Arial"/>
              </a:rPr>
              <a:t> </a:t>
            </a:r>
            <a:r>
              <a:rPr sz="1650" spc="140" dirty="0">
                <a:solidFill>
                  <a:srgbClr val="0000FF"/>
                </a:solidFill>
                <a:latin typeface="Arial"/>
                <a:cs typeface="Arial"/>
              </a:rPr>
              <a:t>stop)</a:t>
            </a:r>
            <a:endParaRPr sz="1650">
              <a:latin typeface="Arial"/>
              <a:cs typeface="Arial"/>
            </a:endParaRPr>
          </a:p>
          <a:p>
            <a:pPr marL="1127760">
              <a:lnSpc>
                <a:spcPct val="100000"/>
              </a:lnSpc>
              <a:spcBef>
                <a:spcPts val="335"/>
              </a:spcBef>
            </a:pPr>
            <a:r>
              <a:rPr sz="1650" spc="270" dirty="0">
                <a:solidFill>
                  <a:srgbClr val="0000FF"/>
                </a:solidFill>
                <a:latin typeface="Arial"/>
                <a:cs typeface="Arial"/>
              </a:rPr>
              <a:t>#f)))</a:t>
            </a:r>
            <a:endParaRPr sz="1650">
              <a:latin typeface="Arial"/>
              <a:cs typeface="Arial"/>
            </a:endParaRPr>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257069" y="475981"/>
            <a:ext cx="1324610" cy="314960"/>
          </a:xfrm>
          <a:prstGeom prst="rect">
            <a:avLst/>
          </a:prstGeom>
        </p:spPr>
        <p:txBody>
          <a:bodyPr vert="horz" wrap="square" lIns="0" tIns="0" rIns="0" bIns="0" rtlCol="0">
            <a:spAutoFit/>
          </a:bodyPr>
          <a:lstStyle/>
          <a:p>
            <a:pPr marL="12700">
              <a:lnSpc>
                <a:spcPct val="100000"/>
              </a:lnSpc>
            </a:pPr>
            <a:r>
              <a:rPr sz="1950" spc="390" dirty="0">
                <a:solidFill>
                  <a:srgbClr val="231F20"/>
                </a:solidFill>
                <a:latin typeface="Arial"/>
                <a:cs typeface="Arial"/>
              </a:rPr>
              <a:t>E</a:t>
            </a:r>
            <a:r>
              <a:rPr sz="1950" spc="220" dirty="0">
                <a:solidFill>
                  <a:srgbClr val="231F20"/>
                </a:solidFill>
                <a:latin typeface="Arial"/>
                <a:cs typeface="Arial"/>
              </a:rPr>
              <a:t>x</a:t>
            </a:r>
            <a:r>
              <a:rPr sz="1950" spc="190" dirty="0">
                <a:solidFill>
                  <a:srgbClr val="231F20"/>
                </a:solidFill>
                <a:latin typeface="Arial"/>
                <a:cs typeface="Arial"/>
              </a:rPr>
              <a:t>a</a:t>
            </a:r>
            <a:r>
              <a:rPr sz="1950" spc="480" dirty="0">
                <a:solidFill>
                  <a:srgbClr val="231F20"/>
                </a:solidFill>
                <a:latin typeface="Arial"/>
                <a:cs typeface="Arial"/>
              </a:rPr>
              <a:t>m</a:t>
            </a:r>
            <a:r>
              <a:rPr sz="1950" spc="300" dirty="0">
                <a:solidFill>
                  <a:srgbClr val="231F20"/>
                </a:solidFill>
                <a:latin typeface="Arial"/>
                <a:cs typeface="Arial"/>
              </a:rPr>
              <a:t>p</a:t>
            </a:r>
            <a:r>
              <a:rPr sz="1950" spc="114" dirty="0">
                <a:solidFill>
                  <a:srgbClr val="231F20"/>
                </a:solidFill>
                <a:latin typeface="Arial"/>
                <a:cs typeface="Arial"/>
              </a:rPr>
              <a:t>l</a:t>
            </a:r>
            <a:r>
              <a:rPr sz="1950" spc="150" dirty="0">
                <a:solidFill>
                  <a:srgbClr val="231F20"/>
                </a:solidFill>
                <a:latin typeface="Arial"/>
                <a:cs typeface="Arial"/>
              </a:rPr>
              <a:t>e</a:t>
            </a:r>
            <a:r>
              <a:rPr sz="1950" spc="215" dirty="0">
                <a:solidFill>
                  <a:srgbClr val="231F20"/>
                </a:solidFill>
                <a:latin typeface="Arial"/>
                <a:cs typeface="Arial"/>
              </a:rPr>
              <a:t>:</a:t>
            </a:r>
            <a:endParaRPr sz="1950">
              <a:latin typeface="Arial"/>
              <a:cs typeface="Arial"/>
            </a:endParaRPr>
          </a:p>
        </p:txBody>
      </p:sp>
      <p:sp>
        <p:nvSpPr>
          <p:cNvPr id="3" name="object 3"/>
          <p:cNvSpPr txBox="1"/>
          <p:nvPr/>
        </p:nvSpPr>
        <p:spPr>
          <a:xfrm>
            <a:off x="3709965" y="475981"/>
            <a:ext cx="4093210" cy="314960"/>
          </a:xfrm>
          <a:prstGeom prst="rect">
            <a:avLst/>
          </a:prstGeom>
        </p:spPr>
        <p:txBody>
          <a:bodyPr vert="horz" wrap="square" lIns="0" tIns="0" rIns="0" bIns="0" rtlCol="0">
            <a:spAutoFit/>
          </a:bodyPr>
          <a:lstStyle/>
          <a:p>
            <a:pPr marL="12700">
              <a:lnSpc>
                <a:spcPct val="100000"/>
              </a:lnSpc>
            </a:pPr>
            <a:r>
              <a:rPr sz="1950" spc="270" dirty="0">
                <a:solidFill>
                  <a:srgbClr val="231F20"/>
                </a:solidFill>
                <a:latin typeface="Arial"/>
                <a:cs typeface="Arial"/>
              </a:rPr>
              <a:t>Shift </a:t>
            </a:r>
            <a:r>
              <a:rPr sz="1950" spc="215" dirty="0">
                <a:solidFill>
                  <a:srgbClr val="231F20"/>
                </a:solidFill>
                <a:latin typeface="Arial"/>
                <a:cs typeface="Arial"/>
              </a:rPr>
              <a:t>Scheduler </a:t>
            </a:r>
            <a:r>
              <a:rPr sz="1950" spc="210" dirty="0">
                <a:solidFill>
                  <a:srgbClr val="231F20"/>
                </a:solidFill>
                <a:latin typeface="Arial"/>
                <a:cs typeface="Arial"/>
              </a:rPr>
              <a:t>in</a:t>
            </a:r>
            <a:r>
              <a:rPr sz="1950" spc="570" dirty="0">
                <a:solidFill>
                  <a:srgbClr val="231F20"/>
                </a:solidFill>
                <a:latin typeface="Arial"/>
                <a:cs typeface="Arial"/>
              </a:rPr>
              <a:t> </a:t>
            </a:r>
            <a:r>
              <a:rPr sz="1950" spc="290" dirty="0">
                <a:solidFill>
                  <a:srgbClr val="231F20"/>
                </a:solidFill>
                <a:latin typeface="Arial"/>
                <a:cs typeface="Arial"/>
              </a:rPr>
              <a:t>StateFlow</a:t>
            </a:r>
            <a:endParaRPr sz="1950">
              <a:latin typeface="Arial"/>
              <a:cs typeface="Arial"/>
            </a:endParaRPr>
          </a:p>
        </p:txBody>
      </p:sp>
      <p:sp>
        <p:nvSpPr>
          <p:cNvPr id="4" name="object 4"/>
          <p:cNvSpPr/>
          <p:nvPr/>
        </p:nvSpPr>
        <p:spPr>
          <a:xfrm>
            <a:off x="1826916" y="1179875"/>
            <a:ext cx="6361831" cy="4441757"/>
          </a:xfrm>
          <a:prstGeom prst="rect">
            <a:avLst/>
          </a:prstGeom>
          <a:blipFill>
            <a:blip r:embed="rId2" cstate="print"/>
            <a:stretch>
              <a:fillRect/>
            </a:stretch>
          </a:blipFill>
        </p:spPr>
        <p:txBody>
          <a:bodyPr wrap="square" lIns="0" tIns="0" rIns="0" bIns="0" rtlCol="0"/>
          <a:lstStyle/>
          <a:p>
            <a:endParaRPr/>
          </a:p>
        </p:txBody>
      </p:sp>
      <p:sp>
        <p:nvSpPr>
          <p:cNvPr id="5" name="object 5"/>
          <p:cNvSpPr txBox="1"/>
          <p:nvPr/>
        </p:nvSpPr>
        <p:spPr>
          <a:xfrm>
            <a:off x="5794349" y="1538135"/>
            <a:ext cx="316865" cy="88900"/>
          </a:xfrm>
          <a:prstGeom prst="rect">
            <a:avLst/>
          </a:prstGeom>
        </p:spPr>
        <p:txBody>
          <a:bodyPr vert="horz" wrap="square" lIns="0" tIns="0" rIns="0" bIns="0" rtlCol="0">
            <a:spAutoFit/>
          </a:bodyPr>
          <a:lstStyle/>
          <a:p>
            <a:pPr marL="12700">
              <a:lnSpc>
                <a:spcPct val="100000"/>
              </a:lnSpc>
            </a:pPr>
            <a:r>
              <a:rPr sz="500" dirty="0">
                <a:latin typeface="Arial"/>
                <a:cs typeface="Arial"/>
              </a:rPr>
              <a:t>[gear</a:t>
            </a:r>
            <a:r>
              <a:rPr sz="500" spc="-95" dirty="0">
                <a:latin typeface="Arial"/>
                <a:cs typeface="Arial"/>
              </a:rPr>
              <a:t> </a:t>
            </a:r>
            <a:r>
              <a:rPr sz="500" dirty="0">
                <a:latin typeface="Arial"/>
                <a:cs typeface="Arial"/>
              </a:rPr>
              <a:t>==3]</a:t>
            </a:r>
            <a:endParaRPr sz="500">
              <a:latin typeface="Arial"/>
              <a:cs typeface="Arial"/>
            </a:endParaRPr>
          </a:p>
        </p:txBody>
      </p:sp>
      <p:sp>
        <p:nvSpPr>
          <p:cNvPr id="6" name="object 6"/>
          <p:cNvSpPr txBox="1"/>
          <p:nvPr/>
        </p:nvSpPr>
        <p:spPr>
          <a:xfrm>
            <a:off x="7596568" y="5170055"/>
            <a:ext cx="334010" cy="88900"/>
          </a:xfrm>
          <a:prstGeom prst="rect">
            <a:avLst/>
          </a:prstGeom>
        </p:spPr>
        <p:txBody>
          <a:bodyPr vert="horz" wrap="square" lIns="0" tIns="0" rIns="0" bIns="0" rtlCol="0">
            <a:spAutoFit/>
          </a:bodyPr>
          <a:lstStyle/>
          <a:p>
            <a:pPr marL="12700">
              <a:lnSpc>
                <a:spcPct val="100000"/>
              </a:lnSpc>
            </a:pPr>
            <a:r>
              <a:rPr sz="500" dirty="0">
                <a:latin typeface="Arial"/>
                <a:cs typeface="Arial"/>
              </a:rPr>
              <a:t>[gear ==</a:t>
            </a:r>
            <a:r>
              <a:rPr sz="500" spc="-95" dirty="0">
                <a:latin typeface="Arial"/>
                <a:cs typeface="Arial"/>
              </a:rPr>
              <a:t> </a:t>
            </a:r>
            <a:r>
              <a:rPr sz="500" dirty="0">
                <a:latin typeface="Arial"/>
                <a:cs typeface="Arial"/>
              </a:rPr>
              <a:t>3]</a:t>
            </a:r>
            <a:endParaRPr sz="500">
              <a:latin typeface="Arial"/>
              <a:cs typeface="Arial"/>
            </a:endParaRPr>
          </a:p>
        </p:txBody>
      </p:sp>
      <p:sp>
        <p:nvSpPr>
          <p:cNvPr id="7" name="object 7"/>
          <p:cNvSpPr txBox="1"/>
          <p:nvPr/>
        </p:nvSpPr>
        <p:spPr>
          <a:xfrm>
            <a:off x="1855863" y="3496309"/>
            <a:ext cx="334010" cy="88900"/>
          </a:xfrm>
          <a:prstGeom prst="rect">
            <a:avLst/>
          </a:prstGeom>
        </p:spPr>
        <p:txBody>
          <a:bodyPr vert="horz" wrap="square" lIns="0" tIns="0" rIns="0" bIns="0" rtlCol="0">
            <a:spAutoFit/>
          </a:bodyPr>
          <a:lstStyle/>
          <a:p>
            <a:pPr marL="12700">
              <a:lnSpc>
                <a:spcPct val="100000"/>
              </a:lnSpc>
            </a:pPr>
            <a:r>
              <a:rPr sz="500" dirty="0">
                <a:latin typeface="Arial"/>
                <a:cs typeface="Arial"/>
              </a:rPr>
              <a:t>[gear ==</a:t>
            </a:r>
            <a:r>
              <a:rPr sz="500" spc="-95" dirty="0">
                <a:latin typeface="Arial"/>
                <a:cs typeface="Arial"/>
              </a:rPr>
              <a:t> </a:t>
            </a:r>
            <a:r>
              <a:rPr sz="500" dirty="0">
                <a:latin typeface="Arial"/>
                <a:cs typeface="Arial"/>
              </a:rPr>
              <a:t>1]</a:t>
            </a:r>
            <a:endParaRPr sz="500">
              <a:latin typeface="Arial"/>
              <a:cs typeface="Arial"/>
            </a:endParaRPr>
          </a:p>
        </p:txBody>
      </p:sp>
      <p:sp>
        <p:nvSpPr>
          <p:cNvPr id="8" name="object 8"/>
          <p:cNvSpPr txBox="1"/>
          <p:nvPr/>
        </p:nvSpPr>
        <p:spPr>
          <a:xfrm>
            <a:off x="5686247" y="4999938"/>
            <a:ext cx="608965" cy="88900"/>
          </a:xfrm>
          <a:prstGeom prst="rect">
            <a:avLst/>
          </a:prstGeom>
        </p:spPr>
        <p:txBody>
          <a:bodyPr vert="horz" wrap="square" lIns="0" tIns="0" rIns="0" bIns="0" rtlCol="0">
            <a:spAutoFit/>
          </a:bodyPr>
          <a:lstStyle/>
          <a:p>
            <a:pPr marL="12700">
              <a:lnSpc>
                <a:spcPct val="100000"/>
              </a:lnSpc>
            </a:pPr>
            <a:r>
              <a:rPr sz="500" dirty="0">
                <a:latin typeface="Arial"/>
                <a:cs typeface="Arial"/>
              </a:rPr>
              <a:t>[V &gt;</a:t>
            </a:r>
            <a:r>
              <a:rPr sz="500" spc="-85" dirty="0">
                <a:latin typeface="Arial"/>
                <a:cs typeface="Arial"/>
              </a:rPr>
              <a:t> </a:t>
            </a:r>
            <a:r>
              <a:rPr sz="500" dirty="0">
                <a:latin typeface="Arial"/>
                <a:cs typeface="Arial"/>
              </a:rPr>
              <a:t>shift_speed_23]</a:t>
            </a:r>
            <a:endParaRPr sz="500">
              <a:latin typeface="Arial"/>
              <a:cs typeface="Arial"/>
            </a:endParaRPr>
          </a:p>
        </p:txBody>
      </p:sp>
      <p:sp>
        <p:nvSpPr>
          <p:cNvPr id="9" name="object 9"/>
          <p:cNvSpPr txBox="1"/>
          <p:nvPr/>
        </p:nvSpPr>
        <p:spPr>
          <a:xfrm>
            <a:off x="7287336" y="2148636"/>
            <a:ext cx="608965" cy="88900"/>
          </a:xfrm>
          <a:prstGeom prst="rect">
            <a:avLst/>
          </a:prstGeom>
        </p:spPr>
        <p:txBody>
          <a:bodyPr vert="horz" wrap="square" lIns="0" tIns="0" rIns="0" bIns="0" rtlCol="0">
            <a:spAutoFit/>
          </a:bodyPr>
          <a:lstStyle/>
          <a:p>
            <a:pPr marL="12700">
              <a:lnSpc>
                <a:spcPct val="100000"/>
              </a:lnSpc>
            </a:pPr>
            <a:r>
              <a:rPr sz="500" dirty="0">
                <a:latin typeface="Arial"/>
                <a:cs typeface="Arial"/>
              </a:rPr>
              <a:t>[V &gt;</a:t>
            </a:r>
            <a:r>
              <a:rPr sz="500" spc="-85" dirty="0">
                <a:latin typeface="Arial"/>
                <a:cs typeface="Arial"/>
              </a:rPr>
              <a:t> </a:t>
            </a:r>
            <a:r>
              <a:rPr sz="500" dirty="0">
                <a:latin typeface="Arial"/>
                <a:cs typeface="Arial"/>
              </a:rPr>
              <a:t>shift_speed_34]</a:t>
            </a:r>
            <a:endParaRPr sz="500">
              <a:latin typeface="Arial"/>
              <a:cs typeface="Arial"/>
            </a:endParaRPr>
          </a:p>
        </p:txBody>
      </p:sp>
      <p:sp>
        <p:nvSpPr>
          <p:cNvPr id="10" name="object 10"/>
          <p:cNvSpPr txBox="1"/>
          <p:nvPr/>
        </p:nvSpPr>
        <p:spPr>
          <a:xfrm>
            <a:off x="2650642" y="1897888"/>
            <a:ext cx="646430" cy="88900"/>
          </a:xfrm>
          <a:prstGeom prst="rect">
            <a:avLst/>
          </a:prstGeom>
        </p:spPr>
        <p:txBody>
          <a:bodyPr vert="horz" wrap="square" lIns="0" tIns="0" rIns="0" bIns="0" rtlCol="0">
            <a:spAutoFit/>
          </a:bodyPr>
          <a:lstStyle/>
          <a:p>
            <a:pPr marL="12700">
              <a:lnSpc>
                <a:spcPct val="100000"/>
              </a:lnSpc>
            </a:pPr>
            <a:r>
              <a:rPr sz="500" dirty="0">
                <a:latin typeface="Arial"/>
                <a:cs typeface="Arial"/>
              </a:rPr>
              <a:t>[V &lt;=</a:t>
            </a:r>
            <a:r>
              <a:rPr sz="500" spc="-80" dirty="0">
                <a:latin typeface="Arial"/>
                <a:cs typeface="Arial"/>
              </a:rPr>
              <a:t> </a:t>
            </a:r>
            <a:r>
              <a:rPr sz="500" dirty="0">
                <a:latin typeface="Arial"/>
                <a:cs typeface="Arial"/>
              </a:rPr>
              <a:t>shift_speed_21]</a:t>
            </a:r>
            <a:endParaRPr sz="500">
              <a:latin typeface="Arial"/>
              <a:cs typeface="Arial"/>
            </a:endParaRPr>
          </a:p>
        </p:txBody>
      </p:sp>
      <p:sp>
        <p:nvSpPr>
          <p:cNvPr id="11" name="object 11"/>
          <p:cNvSpPr txBox="1"/>
          <p:nvPr/>
        </p:nvSpPr>
        <p:spPr>
          <a:xfrm>
            <a:off x="3746690" y="1907641"/>
            <a:ext cx="608965" cy="88900"/>
          </a:xfrm>
          <a:prstGeom prst="rect">
            <a:avLst/>
          </a:prstGeom>
        </p:spPr>
        <p:txBody>
          <a:bodyPr vert="horz" wrap="square" lIns="0" tIns="0" rIns="0" bIns="0" rtlCol="0">
            <a:spAutoFit/>
          </a:bodyPr>
          <a:lstStyle/>
          <a:p>
            <a:pPr marL="12700">
              <a:lnSpc>
                <a:spcPct val="100000"/>
              </a:lnSpc>
            </a:pPr>
            <a:r>
              <a:rPr sz="500" dirty="0">
                <a:latin typeface="Arial"/>
                <a:cs typeface="Arial"/>
              </a:rPr>
              <a:t>[V &gt;</a:t>
            </a:r>
            <a:r>
              <a:rPr sz="500" spc="-85" dirty="0">
                <a:latin typeface="Arial"/>
                <a:cs typeface="Arial"/>
              </a:rPr>
              <a:t> </a:t>
            </a:r>
            <a:r>
              <a:rPr sz="500" dirty="0">
                <a:latin typeface="Arial"/>
                <a:cs typeface="Arial"/>
              </a:rPr>
              <a:t>shift_speed_12]</a:t>
            </a:r>
            <a:endParaRPr sz="500">
              <a:latin typeface="Arial"/>
              <a:cs typeface="Arial"/>
            </a:endParaRPr>
          </a:p>
        </p:txBody>
      </p:sp>
      <p:sp>
        <p:nvSpPr>
          <p:cNvPr id="12" name="object 12"/>
          <p:cNvSpPr txBox="1"/>
          <p:nvPr/>
        </p:nvSpPr>
        <p:spPr>
          <a:xfrm>
            <a:off x="6246228" y="1924468"/>
            <a:ext cx="646430" cy="88900"/>
          </a:xfrm>
          <a:prstGeom prst="rect">
            <a:avLst/>
          </a:prstGeom>
        </p:spPr>
        <p:txBody>
          <a:bodyPr vert="horz" wrap="square" lIns="0" tIns="0" rIns="0" bIns="0" rtlCol="0">
            <a:spAutoFit/>
          </a:bodyPr>
          <a:lstStyle/>
          <a:p>
            <a:pPr marL="12700">
              <a:lnSpc>
                <a:spcPct val="100000"/>
              </a:lnSpc>
            </a:pPr>
            <a:r>
              <a:rPr sz="500" dirty="0">
                <a:latin typeface="Arial"/>
                <a:cs typeface="Arial"/>
              </a:rPr>
              <a:t>[V &lt;=</a:t>
            </a:r>
            <a:r>
              <a:rPr sz="500" spc="-80" dirty="0">
                <a:latin typeface="Arial"/>
                <a:cs typeface="Arial"/>
              </a:rPr>
              <a:t> </a:t>
            </a:r>
            <a:r>
              <a:rPr sz="500" dirty="0">
                <a:latin typeface="Arial"/>
                <a:cs typeface="Arial"/>
              </a:rPr>
              <a:t>shift_speed_43]</a:t>
            </a:r>
            <a:endParaRPr sz="500">
              <a:latin typeface="Arial"/>
              <a:cs typeface="Arial"/>
            </a:endParaRPr>
          </a:p>
        </p:txBody>
      </p:sp>
      <p:sp>
        <p:nvSpPr>
          <p:cNvPr id="13" name="object 13"/>
          <p:cNvSpPr txBox="1"/>
          <p:nvPr/>
        </p:nvSpPr>
        <p:spPr>
          <a:xfrm>
            <a:off x="4034650" y="2379014"/>
            <a:ext cx="608965" cy="88900"/>
          </a:xfrm>
          <a:prstGeom prst="rect">
            <a:avLst/>
          </a:prstGeom>
        </p:spPr>
        <p:txBody>
          <a:bodyPr vert="horz" wrap="square" lIns="0" tIns="0" rIns="0" bIns="0" rtlCol="0">
            <a:spAutoFit/>
          </a:bodyPr>
          <a:lstStyle/>
          <a:p>
            <a:pPr marL="12700">
              <a:lnSpc>
                <a:spcPct val="100000"/>
              </a:lnSpc>
            </a:pPr>
            <a:r>
              <a:rPr sz="500" dirty="0">
                <a:latin typeface="Arial"/>
                <a:cs typeface="Arial"/>
              </a:rPr>
              <a:t>[V &gt;</a:t>
            </a:r>
            <a:r>
              <a:rPr sz="500" spc="-85" dirty="0">
                <a:latin typeface="Arial"/>
                <a:cs typeface="Arial"/>
              </a:rPr>
              <a:t> </a:t>
            </a:r>
            <a:r>
              <a:rPr sz="500" dirty="0">
                <a:latin typeface="Arial"/>
                <a:cs typeface="Arial"/>
              </a:rPr>
              <a:t>shift_speed_23]</a:t>
            </a:r>
            <a:endParaRPr sz="500">
              <a:latin typeface="Arial"/>
              <a:cs typeface="Arial"/>
            </a:endParaRPr>
          </a:p>
        </p:txBody>
      </p:sp>
      <p:sp>
        <p:nvSpPr>
          <p:cNvPr id="14" name="object 14"/>
          <p:cNvSpPr txBox="1"/>
          <p:nvPr/>
        </p:nvSpPr>
        <p:spPr>
          <a:xfrm>
            <a:off x="4127677" y="3517582"/>
            <a:ext cx="646430" cy="88900"/>
          </a:xfrm>
          <a:prstGeom prst="rect">
            <a:avLst/>
          </a:prstGeom>
        </p:spPr>
        <p:txBody>
          <a:bodyPr vert="horz" wrap="square" lIns="0" tIns="0" rIns="0" bIns="0" rtlCol="0">
            <a:spAutoFit/>
          </a:bodyPr>
          <a:lstStyle/>
          <a:p>
            <a:pPr marL="12700">
              <a:lnSpc>
                <a:spcPct val="100000"/>
              </a:lnSpc>
            </a:pPr>
            <a:r>
              <a:rPr sz="500" dirty="0">
                <a:latin typeface="Arial"/>
                <a:cs typeface="Arial"/>
              </a:rPr>
              <a:t>[V &lt;=</a:t>
            </a:r>
            <a:r>
              <a:rPr sz="500" spc="-80" dirty="0">
                <a:latin typeface="Arial"/>
                <a:cs typeface="Arial"/>
              </a:rPr>
              <a:t> </a:t>
            </a:r>
            <a:r>
              <a:rPr sz="500" dirty="0">
                <a:latin typeface="Arial"/>
                <a:cs typeface="Arial"/>
              </a:rPr>
              <a:t>shift_speed_23]</a:t>
            </a:r>
            <a:endParaRPr sz="500">
              <a:latin typeface="Arial"/>
              <a:cs typeface="Arial"/>
            </a:endParaRPr>
          </a:p>
        </p:txBody>
      </p:sp>
      <p:sp>
        <p:nvSpPr>
          <p:cNvPr id="15" name="object 15"/>
          <p:cNvSpPr txBox="1"/>
          <p:nvPr/>
        </p:nvSpPr>
        <p:spPr>
          <a:xfrm>
            <a:off x="3748455" y="3265944"/>
            <a:ext cx="3919220" cy="205740"/>
          </a:xfrm>
          <a:prstGeom prst="rect">
            <a:avLst/>
          </a:prstGeom>
        </p:spPr>
        <p:txBody>
          <a:bodyPr vert="horz" wrap="square" lIns="0" tIns="0" rIns="0" bIns="0" rtlCol="0">
            <a:spAutoFit/>
          </a:bodyPr>
          <a:lstStyle/>
          <a:p>
            <a:pPr marL="12700">
              <a:lnSpc>
                <a:spcPct val="100000"/>
              </a:lnSpc>
            </a:pPr>
            <a:r>
              <a:rPr sz="500" dirty="0">
                <a:latin typeface="Arial"/>
                <a:cs typeface="Arial"/>
              </a:rPr>
              <a:t>[gear ==</a:t>
            </a:r>
            <a:r>
              <a:rPr sz="500" spc="-95" dirty="0">
                <a:latin typeface="Arial"/>
                <a:cs typeface="Arial"/>
              </a:rPr>
              <a:t> </a:t>
            </a:r>
            <a:r>
              <a:rPr sz="500" dirty="0">
                <a:latin typeface="Arial"/>
                <a:cs typeface="Arial"/>
              </a:rPr>
              <a:t>2]</a:t>
            </a:r>
            <a:endParaRPr sz="500">
              <a:latin typeface="Arial"/>
              <a:cs typeface="Arial"/>
            </a:endParaRPr>
          </a:p>
          <a:p>
            <a:pPr marR="5080" algn="r">
              <a:lnSpc>
                <a:spcPct val="100000"/>
              </a:lnSpc>
              <a:spcBef>
                <a:spcPts val="320"/>
              </a:spcBef>
            </a:pPr>
            <a:r>
              <a:rPr sz="500" dirty="0">
                <a:latin typeface="Arial"/>
                <a:cs typeface="Arial"/>
              </a:rPr>
              <a:t>[gear ==</a:t>
            </a:r>
            <a:r>
              <a:rPr sz="500" spc="-95" dirty="0">
                <a:latin typeface="Arial"/>
                <a:cs typeface="Arial"/>
              </a:rPr>
              <a:t> </a:t>
            </a:r>
            <a:r>
              <a:rPr sz="500" dirty="0">
                <a:latin typeface="Arial"/>
                <a:cs typeface="Arial"/>
              </a:rPr>
              <a:t>4]</a:t>
            </a:r>
            <a:endParaRPr sz="500">
              <a:latin typeface="Arial"/>
              <a:cs typeface="Arial"/>
            </a:endParaRPr>
          </a:p>
        </p:txBody>
      </p:sp>
      <p:sp>
        <p:nvSpPr>
          <p:cNvPr id="16" name="object 16"/>
          <p:cNvSpPr txBox="1"/>
          <p:nvPr/>
        </p:nvSpPr>
        <p:spPr>
          <a:xfrm>
            <a:off x="6258636" y="4124528"/>
            <a:ext cx="646430" cy="88900"/>
          </a:xfrm>
          <a:prstGeom prst="rect">
            <a:avLst/>
          </a:prstGeom>
        </p:spPr>
        <p:txBody>
          <a:bodyPr vert="horz" wrap="square" lIns="0" tIns="0" rIns="0" bIns="0" rtlCol="0">
            <a:spAutoFit/>
          </a:bodyPr>
          <a:lstStyle/>
          <a:p>
            <a:pPr marL="12700">
              <a:lnSpc>
                <a:spcPct val="100000"/>
              </a:lnSpc>
            </a:pPr>
            <a:r>
              <a:rPr sz="500" dirty="0">
                <a:latin typeface="Arial"/>
                <a:cs typeface="Arial"/>
              </a:rPr>
              <a:t>[V &lt;=</a:t>
            </a:r>
            <a:r>
              <a:rPr sz="500" spc="-80" dirty="0">
                <a:latin typeface="Arial"/>
                <a:cs typeface="Arial"/>
              </a:rPr>
              <a:t> </a:t>
            </a:r>
            <a:r>
              <a:rPr sz="500" dirty="0">
                <a:latin typeface="Arial"/>
                <a:cs typeface="Arial"/>
              </a:rPr>
              <a:t>shift_speed_43]</a:t>
            </a:r>
            <a:endParaRPr sz="500">
              <a:latin typeface="Arial"/>
              <a:cs typeface="Arial"/>
            </a:endParaRPr>
          </a:p>
        </p:txBody>
      </p:sp>
      <p:sp>
        <p:nvSpPr>
          <p:cNvPr id="17" name="object 17"/>
          <p:cNvSpPr txBox="1"/>
          <p:nvPr/>
        </p:nvSpPr>
        <p:spPr>
          <a:xfrm>
            <a:off x="5324741" y="3854272"/>
            <a:ext cx="2769870" cy="175260"/>
          </a:xfrm>
          <a:prstGeom prst="rect">
            <a:avLst/>
          </a:prstGeom>
        </p:spPr>
        <p:txBody>
          <a:bodyPr vert="horz" wrap="square" lIns="0" tIns="0" rIns="0" bIns="0" rtlCol="0">
            <a:spAutoFit/>
          </a:bodyPr>
          <a:lstStyle/>
          <a:p>
            <a:pPr marL="12700">
              <a:lnSpc>
                <a:spcPct val="100000"/>
              </a:lnSpc>
            </a:pPr>
            <a:r>
              <a:rPr sz="500" dirty="0">
                <a:latin typeface="Arial"/>
                <a:cs typeface="Arial"/>
              </a:rPr>
              <a:t>[V &lt;=</a:t>
            </a:r>
            <a:r>
              <a:rPr sz="500" spc="-80" dirty="0">
                <a:latin typeface="Arial"/>
                <a:cs typeface="Arial"/>
              </a:rPr>
              <a:t> </a:t>
            </a:r>
            <a:r>
              <a:rPr sz="500" dirty="0">
                <a:latin typeface="Arial"/>
                <a:cs typeface="Arial"/>
              </a:rPr>
              <a:t>shift_speed_32]</a:t>
            </a:r>
            <a:endParaRPr sz="500">
              <a:latin typeface="Arial"/>
              <a:cs typeface="Arial"/>
            </a:endParaRPr>
          </a:p>
          <a:p>
            <a:pPr marR="5080" algn="r">
              <a:lnSpc>
                <a:spcPct val="100000"/>
              </a:lnSpc>
              <a:spcBef>
                <a:spcPts val="80"/>
              </a:spcBef>
            </a:pPr>
            <a:r>
              <a:rPr sz="500" dirty="0">
                <a:latin typeface="Arial"/>
                <a:cs typeface="Arial"/>
              </a:rPr>
              <a:t>[V &gt;</a:t>
            </a:r>
            <a:r>
              <a:rPr sz="500" spc="-85" dirty="0">
                <a:latin typeface="Arial"/>
                <a:cs typeface="Arial"/>
              </a:rPr>
              <a:t> </a:t>
            </a:r>
            <a:r>
              <a:rPr sz="500" dirty="0">
                <a:latin typeface="Arial"/>
                <a:cs typeface="Arial"/>
              </a:rPr>
              <a:t>shift_speed_34]</a:t>
            </a:r>
            <a:endParaRPr sz="500">
              <a:latin typeface="Arial"/>
              <a:cs typeface="Arial"/>
            </a:endParaRPr>
          </a:p>
        </p:txBody>
      </p:sp>
      <p:sp>
        <p:nvSpPr>
          <p:cNvPr id="18" name="object 18"/>
          <p:cNvSpPr txBox="1"/>
          <p:nvPr/>
        </p:nvSpPr>
        <p:spPr>
          <a:xfrm>
            <a:off x="4078071" y="4054525"/>
            <a:ext cx="334010" cy="88900"/>
          </a:xfrm>
          <a:prstGeom prst="rect">
            <a:avLst/>
          </a:prstGeom>
        </p:spPr>
        <p:txBody>
          <a:bodyPr vert="horz" wrap="square" lIns="0" tIns="0" rIns="0" bIns="0" rtlCol="0">
            <a:spAutoFit/>
          </a:bodyPr>
          <a:lstStyle/>
          <a:p>
            <a:pPr marL="12700">
              <a:lnSpc>
                <a:spcPct val="100000"/>
              </a:lnSpc>
            </a:pPr>
            <a:r>
              <a:rPr sz="500" dirty="0">
                <a:latin typeface="Arial"/>
                <a:cs typeface="Arial"/>
              </a:rPr>
              <a:t>[gear ==</a:t>
            </a:r>
            <a:r>
              <a:rPr sz="500" spc="-95" dirty="0">
                <a:latin typeface="Arial"/>
                <a:cs typeface="Arial"/>
              </a:rPr>
              <a:t> </a:t>
            </a:r>
            <a:r>
              <a:rPr sz="500" dirty="0">
                <a:latin typeface="Arial"/>
                <a:cs typeface="Arial"/>
              </a:rPr>
              <a:t>2]</a:t>
            </a:r>
            <a:endParaRPr sz="500">
              <a:latin typeface="Arial"/>
              <a:cs typeface="Arial"/>
            </a:endParaRPr>
          </a:p>
        </p:txBody>
      </p:sp>
      <p:sp>
        <p:nvSpPr>
          <p:cNvPr id="19" name="object 19"/>
          <p:cNvSpPr txBox="1"/>
          <p:nvPr/>
        </p:nvSpPr>
        <p:spPr>
          <a:xfrm>
            <a:off x="2747225" y="4082884"/>
            <a:ext cx="646430" cy="88900"/>
          </a:xfrm>
          <a:prstGeom prst="rect">
            <a:avLst/>
          </a:prstGeom>
        </p:spPr>
        <p:txBody>
          <a:bodyPr vert="horz" wrap="square" lIns="0" tIns="0" rIns="0" bIns="0" rtlCol="0">
            <a:spAutoFit/>
          </a:bodyPr>
          <a:lstStyle/>
          <a:p>
            <a:pPr marL="12700">
              <a:lnSpc>
                <a:spcPct val="100000"/>
              </a:lnSpc>
            </a:pPr>
            <a:r>
              <a:rPr sz="500" dirty="0">
                <a:latin typeface="Arial"/>
                <a:cs typeface="Arial"/>
              </a:rPr>
              <a:t>[V &lt;=</a:t>
            </a:r>
            <a:r>
              <a:rPr sz="500" spc="-80" dirty="0">
                <a:latin typeface="Arial"/>
                <a:cs typeface="Arial"/>
              </a:rPr>
              <a:t> </a:t>
            </a:r>
            <a:r>
              <a:rPr sz="500" dirty="0">
                <a:latin typeface="Arial"/>
                <a:cs typeface="Arial"/>
              </a:rPr>
              <a:t>shift_speed_21]</a:t>
            </a:r>
            <a:endParaRPr sz="500">
              <a:latin typeface="Arial"/>
              <a:cs typeface="Arial"/>
            </a:endParaRPr>
          </a:p>
        </p:txBody>
      </p:sp>
      <p:sp>
        <p:nvSpPr>
          <p:cNvPr id="20" name="object 20"/>
          <p:cNvSpPr txBox="1"/>
          <p:nvPr/>
        </p:nvSpPr>
        <p:spPr>
          <a:xfrm>
            <a:off x="3819347" y="4689830"/>
            <a:ext cx="608965" cy="88900"/>
          </a:xfrm>
          <a:prstGeom prst="rect">
            <a:avLst/>
          </a:prstGeom>
        </p:spPr>
        <p:txBody>
          <a:bodyPr vert="horz" wrap="square" lIns="0" tIns="0" rIns="0" bIns="0" rtlCol="0">
            <a:spAutoFit/>
          </a:bodyPr>
          <a:lstStyle/>
          <a:p>
            <a:pPr marL="12700">
              <a:lnSpc>
                <a:spcPct val="100000"/>
              </a:lnSpc>
            </a:pPr>
            <a:r>
              <a:rPr sz="500" dirty="0">
                <a:latin typeface="Arial"/>
                <a:cs typeface="Arial"/>
              </a:rPr>
              <a:t>[V &gt;</a:t>
            </a:r>
            <a:r>
              <a:rPr sz="500" spc="-85" dirty="0">
                <a:latin typeface="Arial"/>
                <a:cs typeface="Arial"/>
              </a:rPr>
              <a:t> </a:t>
            </a:r>
            <a:r>
              <a:rPr sz="500" dirty="0">
                <a:latin typeface="Arial"/>
                <a:cs typeface="Arial"/>
              </a:rPr>
              <a:t>shift_speed_12]</a:t>
            </a:r>
            <a:endParaRPr sz="500">
              <a:latin typeface="Arial"/>
              <a:cs typeface="Arial"/>
            </a:endParaRPr>
          </a:p>
        </p:txBody>
      </p:sp>
      <p:sp>
        <p:nvSpPr>
          <p:cNvPr id="21" name="object 21"/>
          <p:cNvSpPr txBox="1"/>
          <p:nvPr/>
        </p:nvSpPr>
        <p:spPr>
          <a:xfrm>
            <a:off x="6509384" y="1260818"/>
            <a:ext cx="509905" cy="156845"/>
          </a:xfrm>
          <a:prstGeom prst="rect">
            <a:avLst/>
          </a:prstGeom>
        </p:spPr>
        <p:txBody>
          <a:bodyPr vert="horz" wrap="square" lIns="0" tIns="0" rIns="0" bIns="0" rtlCol="0">
            <a:spAutoFit/>
          </a:bodyPr>
          <a:lstStyle/>
          <a:p>
            <a:pPr marL="12700">
              <a:lnSpc>
                <a:spcPts val="570"/>
              </a:lnSpc>
            </a:pPr>
            <a:r>
              <a:rPr sz="500" dirty="0">
                <a:latin typeface="Arial"/>
                <a:cs typeface="Arial"/>
              </a:rPr>
              <a:t>third_gear</a:t>
            </a:r>
            <a:endParaRPr sz="500">
              <a:latin typeface="Arial"/>
              <a:cs typeface="Arial"/>
            </a:endParaRPr>
          </a:p>
          <a:p>
            <a:pPr marL="12700">
              <a:lnSpc>
                <a:spcPts val="570"/>
              </a:lnSpc>
            </a:pPr>
            <a:r>
              <a:rPr sz="500" dirty="0">
                <a:latin typeface="Arial"/>
                <a:cs typeface="Arial"/>
              </a:rPr>
              <a:t>entry:</a:t>
            </a:r>
            <a:r>
              <a:rPr sz="500" spc="-85" dirty="0">
                <a:latin typeface="Arial"/>
                <a:cs typeface="Arial"/>
              </a:rPr>
              <a:t> </a:t>
            </a:r>
            <a:r>
              <a:rPr sz="500" dirty="0">
                <a:latin typeface="Arial"/>
                <a:cs typeface="Arial"/>
              </a:rPr>
              <a:t>to_gear=3;</a:t>
            </a:r>
            <a:endParaRPr sz="500">
              <a:latin typeface="Arial"/>
              <a:cs typeface="Arial"/>
            </a:endParaRPr>
          </a:p>
        </p:txBody>
      </p:sp>
      <p:sp>
        <p:nvSpPr>
          <p:cNvPr id="22" name="object 22"/>
          <p:cNvSpPr txBox="1"/>
          <p:nvPr/>
        </p:nvSpPr>
        <p:spPr>
          <a:xfrm>
            <a:off x="3026333" y="1316634"/>
            <a:ext cx="545465" cy="156845"/>
          </a:xfrm>
          <a:prstGeom prst="rect">
            <a:avLst/>
          </a:prstGeom>
        </p:spPr>
        <p:txBody>
          <a:bodyPr vert="horz" wrap="square" lIns="0" tIns="0" rIns="0" bIns="0" rtlCol="0">
            <a:spAutoFit/>
          </a:bodyPr>
          <a:lstStyle/>
          <a:p>
            <a:pPr marL="12700">
              <a:lnSpc>
                <a:spcPts val="570"/>
              </a:lnSpc>
            </a:pPr>
            <a:r>
              <a:rPr sz="500" dirty="0">
                <a:latin typeface="Arial"/>
                <a:cs typeface="Arial"/>
              </a:rPr>
              <a:t>first_gear</a:t>
            </a:r>
            <a:endParaRPr sz="500">
              <a:latin typeface="Arial"/>
              <a:cs typeface="Arial"/>
            </a:endParaRPr>
          </a:p>
          <a:p>
            <a:pPr marL="12700">
              <a:lnSpc>
                <a:spcPts val="570"/>
              </a:lnSpc>
            </a:pPr>
            <a:r>
              <a:rPr sz="500" dirty="0">
                <a:latin typeface="Arial"/>
                <a:cs typeface="Arial"/>
              </a:rPr>
              <a:t>entry: to_gear =</a:t>
            </a:r>
            <a:r>
              <a:rPr sz="500" spc="-85" dirty="0">
                <a:latin typeface="Arial"/>
                <a:cs typeface="Arial"/>
              </a:rPr>
              <a:t> </a:t>
            </a:r>
            <a:r>
              <a:rPr sz="500" dirty="0">
                <a:latin typeface="Arial"/>
                <a:cs typeface="Arial"/>
              </a:rPr>
              <a:t>1;</a:t>
            </a:r>
            <a:endParaRPr sz="500">
              <a:latin typeface="Arial"/>
              <a:cs typeface="Arial"/>
            </a:endParaRPr>
          </a:p>
        </p:txBody>
      </p:sp>
      <p:sp>
        <p:nvSpPr>
          <p:cNvPr id="23" name="object 23"/>
          <p:cNvSpPr txBox="1"/>
          <p:nvPr/>
        </p:nvSpPr>
        <p:spPr>
          <a:xfrm>
            <a:off x="3619982" y="2487104"/>
            <a:ext cx="414020" cy="88900"/>
          </a:xfrm>
          <a:prstGeom prst="rect">
            <a:avLst/>
          </a:prstGeom>
        </p:spPr>
        <p:txBody>
          <a:bodyPr vert="horz" wrap="square" lIns="0" tIns="0" rIns="0" bIns="0" rtlCol="0">
            <a:spAutoFit/>
          </a:bodyPr>
          <a:lstStyle/>
          <a:p>
            <a:pPr marL="12700">
              <a:lnSpc>
                <a:spcPct val="100000"/>
              </a:lnSpc>
            </a:pPr>
            <a:r>
              <a:rPr sz="500" dirty="0">
                <a:latin typeface="Arial"/>
                <a:cs typeface="Arial"/>
              </a:rPr>
              <a:t>[ctr &gt;</a:t>
            </a:r>
            <a:r>
              <a:rPr sz="500" spc="-90" dirty="0">
                <a:latin typeface="Arial"/>
                <a:cs typeface="Arial"/>
              </a:rPr>
              <a:t> </a:t>
            </a:r>
            <a:r>
              <a:rPr sz="500" dirty="0">
                <a:latin typeface="Arial"/>
                <a:cs typeface="Arial"/>
              </a:rPr>
              <a:t>DELAY]</a:t>
            </a:r>
            <a:endParaRPr sz="500">
              <a:latin typeface="Arial"/>
              <a:cs typeface="Arial"/>
            </a:endParaRPr>
          </a:p>
        </p:txBody>
      </p:sp>
      <p:sp>
        <p:nvSpPr>
          <p:cNvPr id="24" name="object 24"/>
          <p:cNvSpPr txBox="1"/>
          <p:nvPr/>
        </p:nvSpPr>
        <p:spPr>
          <a:xfrm>
            <a:off x="2884563" y="2030793"/>
            <a:ext cx="667385" cy="403225"/>
          </a:xfrm>
          <a:prstGeom prst="rect">
            <a:avLst/>
          </a:prstGeom>
        </p:spPr>
        <p:txBody>
          <a:bodyPr vert="horz" wrap="square" lIns="0" tIns="0" rIns="0" bIns="0" rtlCol="0">
            <a:spAutoFit/>
          </a:bodyPr>
          <a:lstStyle/>
          <a:p>
            <a:pPr marL="12700">
              <a:lnSpc>
                <a:spcPct val="100000"/>
              </a:lnSpc>
            </a:pPr>
            <a:r>
              <a:rPr sz="500" dirty="0">
                <a:latin typeface="Arial"/>
                <a:cs typeface="Arial"/>
              </a:rPr>
              <a:t>transition12</a:t>
            </a:r>
            <a:endParaRPr sz="500">
              <a:latin typeface="Arial"/>
              <a:cs typeface="Arial"/>
            </a:endParaRPr>
          </a:p>
          <a:p>
            <a:pPr marL="172085" marR="36830">
              <a:lnSpc>
                <a:spcPts val="540"/>
              </a:lnSpc>
              <a:spcBef>
                <a:spcPts val="330"/>
              </a:spcBef>
            </a:pPr>
            <a:r>
              <a:rPr sz="500" dirty="0">
                <a:latin typeface="Arial"/>
                <a:cs typeface="Arial"/>
              </a:rPr>
              <a:t>shift_pending_a  entry:</a:t>
            </a:r>
            <a:r>
              <a:rPr sz="500" spc="-90" dirty="0">
                <a:latin typeface="Arial"/>
                <a:cs typeface="Arial"/>
              </a:rPr>
              <a:t> </a:t>
            </a:r>
            <a:r>
              <a:rPr sz="500" dirty="0">
                <a:latin typeface="Arial"/>
                <a:cs typeface="Arial"/>
              </a:rPr>
              <a:t>ctr=0;</a:t>
            </a:r>
            <a:endParaRPr sz="500">
              <a:latin typeface="Arial"/>
              <a:cs typeface="Arial"/>
            </a:endParaRPr>
          </a:p>
          <a:p>
            <a:pPr marL="313690">
              <a:lnSpc>
                <a:spcPts val="500"/>
              </a:lnSpc>
            </a:pPr>
            <a:r>
              <a:rPr sz="500" dirty="0">
                <a:latin typeface="Arial"/>
                <a:cs typeface="Arial"/>
              </a:rPr>
              <a:t>to_gear=1;</a:t>
            </a:r>
            <a:endParaRPr sz="500">
              <a:latin typeface="Arial"/>
              <a:cs typeface="Arial"/>
            </a:endParaRPr>
          </a:p>
          <a:p>
            <a:pPr marL="172085">
              <a:lnSpc>
                <a:spcPts val="570"/>
              </a:lnSpc>
            </a:pPr>
            <a:r>
              <a:rPr sz="500" dirty="0">
                <a:latin typeface="Arial"/>
                <a:cs typeface="Arial"/>
              </a:rPr>
              <a:t>during:</a:t>
            </a:r>
            <a:r>
              <a:rPr sz="500" spc="-85" dirty="0">
                <a:latin typeface="Arial"/>
                <a:cs typeface="Arial"/>
              </a:rPr>
              <a:t> </a:t>
            </a:r>
            <a:r>
              <a:rPr sz="500" dirty="0">
                <a:latin typeface="Arial"/>
                <a:cs typeface="Arial"/>
              </a:rPr>
              <a:t>ctr=ctr+1;</a:t>
            </a:r>
            <a:endParaRPr sz="500">
              <a:latin typeface="Arial"/>
              <a:cs typeface="Arial"/>
            </a:endParaRPr>
          </a:p>
        </p:txBody>
      </p:sp>
      <p:sp>
        <p:nvSpPr>
          <p:cNvPr id="25" name="object 25"/>
          <p:cNvSpPr txBox="1"/>
          <p:nvPr/>
        </p:nvSpPr>
        <p:spPr>
          <a:xfrm>
            <a:off x="3066199" y="2747606"/>
            <a:ext cx="509905" cy="156845"/>
          </a:xfrm>
          <a:prstGeom prst="rect">
            <a:avLst/>
          </a:prstGeom>
        </p:spPr>
        <p:txBody>
          <a:bodyPr vert="horz" wrap="square" lIns="0" tIns="0" rIns="0" bIns="0" rtlCol="0">
            <a:spAutoFit/>
          </a:bodyPr>
          <a:lstStyle/>
          <a:p>
            <a:pPr marL="12700">
              <a:lnSpc>
                <a:spcPts val="570"/>
              </a:lnSpc>
            </a:pPr>
            <a:r>
              <a:rPr sz="500" dirty="0">
                <a:latin typeface="Arial"/>
                <a:cs typeface="Arial"/>
              </a:rPr>
              <a:t>shifting_a</a:t>
            </a:r>
            <a:endParaRPr sz="500">
              <a:latin typeface="Arial"/>
              <a:cs typeface="Arial"/>
            </a:endParaRPr>
          </a:p>
          <a:p>
            <a:pPr marL="12700">
              <a:lnSpc>
                <a:spcPts val="570"/>
              </a:lnSpc>
            </a:pPr>
            <a:r>
              <a:rPr sz="500" dirty="0">
                <a:latin typeface="Arial"/>
                <a:cs typeface="Arial"/>
              </a:rPr>
              <a:t>entry:</a:t>
            </a:r>
            <a:r>
              <a:rPr sz="500" spc="-85" dirty="0">
                <a:latin typeface="Arial"/>
                <a:cs typeface="Arial"/>
              </a:rPr>
              <a:t> </a:t>
            </a:r>
            <a:r>
              <a:rPr sz="500" dirty="0">
                <a:latin typeface="Arial"/>
                <a:cs typeface="Arial"/>
              </a:rPr>
              <a:t>to_gear=2;</a:t>
            </a:r>
            <a:endParaRPr sz="500">
              <a:latin typeface="Arial"/>
              <a:cs typeface="Arial"/>
            </a:endParaRPr>
          </a:p>
        </p:txBody>
      </p:sp>
      <p:sp>
        <p:nvSpPr>
          <p:cNvPr id="26" name="object 26"/>
          <p:cNvSpPr txBox="1"/>
          <p:nvPr/>
        </p:nvSpPr>
        <p:spPr>
          <a:xfrm>
            <a:off x="5434609" y="2474709"/>
            <a:ext cx="414020" cy="88900"/>
          </a:xfrm>
          <a:prstGeom prst="rect">
            <a:avLst/>
          </a:prstGeom>
        </p:spPr>
        <p:txBody>
          <a:bodyPr vert="horz" wrap="square" lIns="0" tIns="0" rIns="0" bIns="0" rtlCol="0">
            <a:spAutoFit/>
          </a:bodyPr>
          <a:lstStyle/>
          <a:p>
            <a:pPr marL="12700">
              <a:lnSpc>
                <a:spcPct val="100000"/>
              </a:lnSpc>
            </a:pPr>
            <a:r>
              <a:rPr sz="500" dirty="0">
                <a:latin typeface="Arial"/>
                <a:cs typeface="Arial"/>
              </a:rPr>
              <a:t>[ctr &gt;</a:t>
            </a:r>
            <a:r>
              <a:rPr sz="500" spc="-90" dirty="0">
                <a:latin typeface="Arial"/>
                <a:cs typeface="Arial"/>
              </a:rPr>
              <a:t> </a:t>
            </a:r>
            <a:r>
              <a:rPr sz="500" dirty="0">
                <a:latin typeface="Arial"/>
                <a:cs typeface="Arial"/>
              </a:rPr>
              <a:t>DELAY]</a:t>
            </a:r>
            <a:endParaRPr sz="500">
              <a:latin typeface="Arial"/>
              <a:cs typeface="Arial"/>
            </a:endParaRPr>
          </a:p>
        </p:txBody>
      </p:sp>
      <p:sp>
        <p:nvSpPr>
          <p:cNvPr id="27" name="object 27"/>
          <p:cNvSpPr txBox="1"/>
          <p:nvPr/>
        </p:nvSpPr>
        <p:spPr>
          <a:xfrm>
            <a:off x="4734623" y="2048522"/>
            <a:ext cx="718185" cy="400685"/>
          </a:xfrm>
          <a:prstGeom prst="rect">
            <a:avLst/>
          </a:prstGeom>
        </p:spPr>
        <p:txBody>
          <a:bodyPr vert="horz" wrap="square" lIns="0" tIns="0" rIns="0" bIns="0" rtlCol="0">
            <a:spAutoFit/>
          </a:bodyPr>
          <a:lstStyle/>
          <a:p>
            <a:pPr marL="12700">
              <a:lnSpc>
                <a:spcPct val="100000"/>
              </a:lnSpc>
            </a:pPr>
            <a:r>
              <a:rPr sz="500" dirty="0">
                <a:latin typeface="Arial"/>
                <a:cs typeface="Arial"/>
              </a:rPr>
              <a:t>transition23</a:t>
            </a:r>
            <a:endParaRPr sz="500">
              <a:latin typeface="Arial"/>
              <a:cs typeface="Arial"/>
            </a:endParaRPr>
          </a:p>
          <a:p>
            <a:pPr marL="186690" marR="107314">
              <a:lnSpc>
                <a:spcPts val="540"/>
              </a:lnSpc>
              <a:spcBef>
                <a:spcPts val="310"/>
              </a:spcBef>
            </a:pPr>
            <a:r>
              <a:rPr sz="500" dirty="0">
                <a:latin typeface="Arial"/>
                <a:cs typeface="Arial"/>
              </a:rPr>
              <a:t>shift_pending2  entry:</a:t>
            </a:r>
            <a:r>
              <a:rPr sz="500" spc="-90" dirty="0">
                <a:latin typeface="Arial"/>
                <a:cs typeface="Arial"/>
              </a:rPr>
              <a:t> </a:t>
            </a:r>
            <a:r>
              <a:rPr sz="500" dirty="0">
                <a:latin typeface="Arial"/>
                <a:cs typeface="Arial"/>
              </a:rPr>
              <a:t>ctr=0;</a:t>
            </a:r>
            <a:endParaRPr sz="500">
              <a:latin typeface="Arial"/>
              <a:cs typeface="Arial"/>
            </a:endParaRPr>
          </a:p>
          <a:p>
            <a:pPr marL="346710">
              <a:lnSpc>
                <a:spcPts val="500"/>
              </a:lnSpc>
            </a:pPr>
            <a:r>
              <a:rPr sz="500" dirty="0">
                <a:latin typeface="Arial"/>
                <a:cs typeface="Arial"/>
              </a:rPr>
              <a:t>to_gear=2;</a:t>
            </a:r>
            <a:endParaRPr sz="500">
              <a:latin typeface="Arial"/>
              <a:cs typeface="Arial"/>
            </a:endParaRPr>
          </a:p>
          <a:p>
            <a:pPr marL="186690">
              <a:lnSpc>
                <a:spcPts val="570"/>
              </a:lnSpc>
            </a:pPr>
            <a:r>
              <a:rPr sz="500" dirty="0">
                <a:latin typeface="Arial"/>
                <a:cs typeface="Arial"/>
              </a:rPr>
              <a:t>during: ctr=ctr +</a:t>
            </a:r>
            <a:r>
              <a:rPr sz="500" spc="-85" dirty="0">
                <a:latin typeface="Arial"/>
                <a:cs typeface="Arial"/>
              </a:rPr>
              <a:t> </a:t>
            </a:r>
            <a:r>
              <a:rPr sz="500" dirty="0">
                <a:latin typeface="Arial"/>
                <a:cs typeface="Arial"/>
              </a:rPr>
              <a:t>1;</a:t>
            </a:r>
            <a:endParaRPr sz="500">
              <a:latin typeface="Arial"/>
              <a:cs typeface="Arial"/>
            </a:endParaRPr>
          </a:p>
        </p:txBody>
      </p:sp>
      <p:sp>
        <p:nvSpPr>
          <p:cNvPr id="28" name="object 28"/>
          <p:cNvSpPr txBox="1"/>
          <p:nvPr/>
        </p:nvSpPr>
        <p:spPr>
          <a:xfrm>
            <a:off x="4917147" y="2766224"/>
            <a:ext cx="509905" cy="156845"/>
          </a:xfrm>
          <a:prstGeom prst="rect">
            <a:avLst/>
          </a:prstGeom>
        </p:spPr>
        <p:txBody>
          <a:bodyPr vert="horz" wrap="square" lIns="0" tIns="0" rIns="0" bIns="0" rtlCol="0">
            <a:spAutoFit/>
          </a:bodyPr>
          <a:lstStyle/>
          <a:p>
            <a:pPr marL="12700">
              <a:lnSpc>
                <a:spcPts val="570"/>
              </a:lnSpc>
            </a:pPr>
            <a:r>
              <a:rPr sz="500" dirty="0">
                <a:latin typeface="Arial"/>
                <a:cs typeface="Arial"/>
              </a:rPr>
              <a:t>shifting2</a:t>
            </a:r>
            <a:endParaRPr sz="500">
              <a:latin typeface="Arial"/>
              <a:cs typeface="Arial"/>
            </a:endParaRPr>
          </a:p>
          <a:p>
            <a:pPr marL="12700">
              <a:lnSpc>
                <a:spcPts val="570"/>
              </a:lnSpc>
            </a:pPr>
            <a:r>
              <a:rPr sz="500" dirty="0">
                <a:latin typeface="Arial"/>
                <a:cs typeface="Arial"/>
              </a:rPr>
              <a:t>entry:</a:t>
            </a:r>
            <a:r>
              <a:rPr sz="500" spc="-85" dirty="0">
                <a:latin typeface="Arial"/>
                <a:cs typeface="Arial"/>
              </a:rPr>
              <a:t> </a:t>
            </a:r>
            <a:r>
              <a:rPr sz="500" dirty="0">
                <a:latin typeface="Arial"/>
                <a:cs typeface="Arial"/>
              </a:rPr>
              <a:t>to_gear=3;</a:t>
            </a:r>
            <a:endParaRPr sz="500">
              <a:latin typeface="Arial"/>
              <a:cs typeface="Arial"/>
            </a:endParaRPr>
          </a:p>
        </p:txBody>
      </p:sp>
      <p:sp>
        <p:nvSpPr>
          <p:cNvPr id="29" name="object 29"/>
          <p:cNvSpPr txBox="1"/>
          <p:nvPr/>
        </p:nvSpPr>
        <p:spPr>
          <a:xfrm>
            <a:off x="7124306" y="2522563"/>
            <a:ext cx="414020" cy="88900"/>
          </a:xfrm>
          <a:prstGeom prst="rect">
            <a:avLst/>
          </a:prstGeom>
        </p:spPr>
        <p:txBody>
          <a:bodyPr vert="horz" wrap="square" lIns="0" tIns="0" rIns="0" bIns="0" rtlCol="0">
            <a:spAutoFit/>
          </a:bodyPr>
          <a:lstStyle/>
          <a:p>
            <a:pPr marL="12700">
              <a:lnSpc>
                <a:spcPct val="100000"/>
              </a:lnSpc>
            </a:pPr>
            <a:r>
              <a:rPr sz="500" dirty="0">
                <a:latin typeface="Arial"/>
                <a:cs typeface="Arial"/>
              </a:rPr>
              <a:t>[ctr &gt;</a:t>
            </a:r>
            <a:r>
              <a:rPr sz="500" spc="-90" dirty="0">
                <a:latin typeface="Arial"/>
                <a:cs typeface="Arial"/>
              </a:rPr>
              <a:t> </a:t>
            </a:r>
            <a:r>
              <a:rPr sz="500" dirty="0">
                <a:latin typeface="Arial"/>
                <a:cs typeface="Arial"/>
              </a:rPr>
              <a:t>DELAY]</a:t>
            </a:r>
            <a:endParaRPr sz="500">
              <a:latin typeface="Arial"/>
              <a:cs typeface="Arial"/>
            </a:endParaRPr>
          </a:p>
        </p:txBody>
      </p:sp>
      <p:sp>
        <p:nvSpPr>
          <p:cNvPr id="30" name="object 30"/>
          <p:cNvSpPr txBox="1"/>
          <p:nvPr/>
        </p:nvSpPr>
        <p:spPr>
          <a:xfrm>
            <a:off x="6371158" y="2067128"/>
            <a:ext cx="718185" cy="399415"/>
          </a:xfrm>
          <a:prstGeom prst="rect">
            <a:avLst/>
          </a:prstGeom>
        </p:spPr>
        <p:txBody>
          <a:bodyPr vert="horz" wrap="square" lIns="0" tIns="0" rIns="0" bIns="0" rtlCol="0">
            <a:spAutoFit/>
          </a:bodyPr>
          <a:lstStyle/>
          <a:p>
            <a:pPr marL="12700">
              <a:lnSpc>
                <a:spcPct val="100000"/>
              </a:lnSpc>
            </a:pPr>
            <a:r>
              <a:rPr sz="500" dirty="0">
                <a:latin typeface="Arial"/>
                <a:cs typeface="Arial"/>
              </a:rPr>
              <a:t>transition34</a:t>
            </a:r>
            <a:endParaRPr sz="500">
              <a:latin typeface="Arial"/>
              <a:cs typeface="Arial"/>
            </a:endParaRPr>
          </a:p>
          <a:p>
            <a:pPr marL="186690" marR="107314">
              <a:lnSpc>
                <a:spcPts val="540"/>
              </a:lnSpc>
              <a:spcBef>
                <a:spcPts val="305"/>
              </a:spcBef>
            </a:pPr>
            <a:r>
              <a:rPr sz="500" dirty="0">
                <a:latin typeface="Arial"/>
                <a:cs typeface="Arial"/>
              </a:rPr>
              <a:t>shift_pending3  entry:</a:t>
            </a:r>
            <a:r>
              <a:rPr sz="500" spc="-90" dirty="0">
                <a:latin typeface="Arial"/>
                <a:cs typeface="Arial"/>
              </a:rPr>
              <a:t> </a:t>
            </a:r>
            <a:r>
              <a:rPr sz="500" dirty="0">
                <a:latin typeface="Arial"/>
                <a:cs typeface="Arial"/>
              </a:rPr>
              <a:t>ctr=0;</a:t>
            </a:r>
            <a:endParaRPr sz="500">
              <a:latin typeface="Arial"/>
              <a:cs typeface="Arial"/>
            </a:endParaRPr>
          </a:p>
          <a:p>
            <a:pPr marL="346710">
              <a:lnSpc>
                <a:spcPts val="500"/>
              </a:lnSpc>
            </a:pPr>
            <a:r>
              <a:rPr sz="500" dirty="0">
                <a:latin typeface="Arial"/>
                <a:cs typeface="Arial"/>
              </a:rPr>
              <a:t>to_gear=3;</a:t>
            </a:r>
            <a:endParaRPr sz="500">
              <a:latin typeface="Arial"/>
              <a:cs typeface="Arial"/>
            </a:endParaRPr>
          </a:p>
          <a:p>
            <a:pPr marL="186690">
              <a:lnSpc>
                <a:spcPts val="570"/>
              </a:lnSpc>
            </a:pPr>
            <a:r>
              <a:rPr sz="500" dirty="0">
                <a:latin typeface="Arial"/>
                <a:cs typeface="Arial"/>
              </a:rPr>
              <a:t>during: ctr =</a:t>
            </a:r>
            <a:r>
              <a:rPr sz="500" spc="-85" dirty="0">
                <a:latin typeface="Arial"/>
                <a:cs typeface="Arial"/>
              </a:rPr>
              <a:t> </a:t>
            </a:r>
            <a:r>
              <a:rPr sz="500" dirty="0">
                <a:latin typeface="Arial"/>
                <a:cs typeface="Arial"/>
              </a:rPr>
              <a:t>ctr+1;</a:t>
            </a:r>
            <a:endParaRPr sz="500">
              <a:latin typeface="Arial"/>
              <a:cs typeface="Arial"/>
            </a:endParaRPr>
          </a:p>
        </p:txBody>
      </p:sp>
      <p:sp>
        <p:nvSpPr>
          <p:cNvPr id="31" name="object 31"/>
          <p:cNvSpPr txBox="1"/>
          <p:nvPr/>
        </p:nvSpPr>
        <p:spPr>
          <a:xfrm>
            <a:off x="6553695" y="2783941"/>
            <a:ext cx="509905" cy="156845"/>
          </a:xfrm>
          <a:prstGeom prst="rect">
            <a:avLst/>
          </a:prstGeom>
        </p:spPr>
        <p:txBody>
          <a:bodyPr vert="horz" wrap="square" lIns="0" tIns="0" rIns="0" bIns="0" rtlCol="0">
            <a:spAutoFit/>
          </a:bodyPr>
          <a:lstStyle/>
          <a:p>
            <a:pPr marL="12700">
              <a:lnSpc>
                <a:spcPts val="570"/>
              </a:lnSpc>
            </a:pPr>
            <a:r>
              <a:rPr sz="500" dirty="0">
                <a:latin typeface="Arial"/>
                <a:cs typeface="Arial"/>
              </a:rPr>
              <a:t>shifting3</a:t>
            </a:r>
            <a:endParaRPr sz="500">
              <a:latin typeface="Arial"/>
              <a:cs typeface="Arial"/>
            </a:endParaRPr>
          </a:p>
          <a:p>
            <a:pPr marL="12700">
              <a:lnSpc>
                <a:spcPts val="570"/>
              </a:lnSpc>
            </a:pPr>
            <a:r>
              <a:rPr sz="500" dirty="0">
                <a:latin typeface="Arial"/>
                <a:cs typeface="Arial"/>
              </a:rPr>
              <a:t>entry:</a:t>
            </a:r>
            <a:r>
              <a:rPr sz="500" spc="-85" dirty="0">
                <a:latin typeface="Arial"/>
                <a:cs typeface="Arial"/>
              </a:rPr>
              <a:t> </a:t>
            </a:r>
            <a:r>
              <a:rPr sz="500" dirty="0">
                <a:latin typeface="Arial"/>
                <a:cs typeface="Arial"/>
              </a:rPr>
              <a:t>to_gear=4;</a:t>
            </a:r>
            <a:endParaRPr sz="500">
              <a:latin typeface="Arial"/>
              <a:cs typeface="Arial"/>
            </a:endParaRPr>
          </a:p>
        </p:txBody>
      </p:sp>
      <p:sp>
        <p:nvSpPr>
          <p:cNvPr id="32" name="object 32"/>
          <p:cNvSpPr txBox="1"/>
          <p:nvPr/>
        </p:nvSpPr>
        <p:spPr>
          <a:xfrm>
            <a:off x="6543052" y="3565219"/>
            <a:ext cx="527685" cy="147955"/>
          </a:xfrm>
          <a:prstGeom prst="rect">
            <a:avLst/>
          </a:prstGeom>
        </p:spPr>
        <p:txBody>
          <a:bodyPr vert="horz" wrap="square" lIns="0" tIns="0" rIns="0" bIns="0" rtlCol="0">
            <a:spAutoFit/>
          </a:bodyPr>
          <a:lstStyle/>
          <a:p>
            <a:pPr marL="12700" marR="5080">
              <a:lnSpc>
                <a:spcPts val="540"/>
              </a:lnSpc>
            </a:pPr>
            <a:r>
              <a:rPr sz="500" dirty="0">
                <a:latin typeface="Arial"/>
                <a:cs typeface="Arial"/>
              </a:rPr>
              <a:t>fourth_gear</a:t>
            </a:r>
            <a:r>
              <a:rPr sz="500" spc="-85" dirty="0">
                <a:latin typeface="Arial"/>
                <a:cs typeface="Arial"/>
              </a:rPr>
              <a:t> </a:t>
            </a:r>
            <a:r>
              <a:rPr sz="500" dirty="0">
                <a:latin typeface="Arial"/>
                <a:cs typeface="Arial"/>
              </a:rPr>
              <a:t>entry:  to_gear</a:t>
            </a:r>
            <a:r>
              <a:rPr sz="500" spc="-90" dirty="0">
                <a:latin typeface="Arial"/>
                <a:cs typeface="Arial"/>
              </a:rPr>
              <a:t> </a:t>
            </a:r>
            <a:r>
              <a:rPr sz="500" dirty="0">
                <a:latin typeface="Arial"/>
                <a:cs typeface="Arial"/>
              </a:rPr>
              <a:t>=4;</a:t>
            </a:r>
            <a:endParaRPr sz="500">
              <a:latin typeface="Arial"/>
              <a:cs typeface="Arial"/>
            </a:endParaRPr>
          </a:p>
        </p:txBody>
      </p:sp>
      <p:sp>
        <p:nvSpPr>
          <p:cNvPr id="33" name="object 33"/>
          <p:cNvSpPr txBox="1"/>
          <p:nvPr/>
        </p:nvSpPr>
        <p:spPr>
          <a:xfrm>
            <a:off x="3071507" y="3578504"/>
            <a:ext cx="509905" cy="147955"/>
          </a:xfrm>
          <a:prstGeom prst="rect">
            <a:avLst/>
          </a:prstGeom>
        </p:spPr>
        <p:txBody>
          <a:bodyPr vert="horz" wrap="square" lIns="0" tIns="0" rIns="0" bIns="0" rtlCol="0">
            <a:spAutoFit/>
          </a:bodyPr>
          <a:lstStyle/>
          <a:p>
            <a:pPr marL="12700" marR="5080">
              <a:lnSpc>
                <a:spcPts val="540"/>
              </a:lnSpc>
            </a:pPr>
            <a:r>
              <a:rPr sz="500" dirty="0">
                <a:latin typeface="Arial"/>
                <a:cs typeface="Arial"/>
              </a:rPr>
              <a:t>second_gear  entry:</a:t>
            </a:r>
            <a:r>
              <a:rPr sz="500" spc="-85" dirty="0">
                <a:latin typeface="Arial"/>
                <a:cs typeface="Arial"/>
              </a:rPr>
              <a:t> </a:t>
            </a:r>
            <a:r>
              <a:rPr sz="500" dirty="0">
                <a:latin typeface="Arial"/>
                <a:cs typeface="Arial"/>
              </a:rPr>
              <a:t>to_gear=2;</a:t>
            </a:r>
            <a:endParaRPr sz="500">
              <a:latin typeface="Arial"/>
              <a:cs typeface="Arial"/>
            </a:endParaRPr>
          </a:p>
        </p:txBody>
      </p:sp>
      <p:sp>
        <p:nvSpPr>
          <p:cNvPr id="34" name="object 34"/>
          <p:cNvSpPr txBox="1"/>
          <p:nvPr/>
        </p:nvSpPr>
        <p:spPr>
          <a:xfrm>
            <a:off x="7139368" y="4698695"/>
            <a:ext cx="414020" cy="88900"/>
          </a:xfrm>
          <a:prstGeom prst="rect">
            <a:avLst/>
          </a:prstGeom>
        </p:spPr>
        <p:txBody>
          <a:bodyPr vert="horz" wrap="square" lIns="0" tIns="0" rIns="0" bIns="0" rtlCol="0">
            <a:spAutoFit/>
          </a:bodyPr>
          <a:lstStyle/>
          <a:p>
            <a:pPr marL="12700">
              <a:lnSpc>
                <a:spcPct val="100000"/>
              </a:lnSpc>
            </a:pPr>
            <a:r>
              <a:rPr sz="500" dirty="0">
                <a:latin typeface="Arial"/>
                <a:cs typeface="Arial"/>
              </a:rPr>
              <a:t>[ctr &gt;</a:t>
            </a:r>
            <a:r>
              <a:rPr sz="500" spc="-90" dirty="0">
                <a:latin typeface="Arial"/>
                <a:cs typeface="Arial"/>
              </a:rPr>
              <a:t> </a:t>
            </a:r>
            <a:r>
              <a:rPr sz="500" dirty="0">
                <a:latin typeface="Arial"/>
                <a:cs typeface="Arial"/>
              </a:rPr>
              <a:t>DELAY]</a:t>
            </a:r>
            <a:endParaRPr sz="500">
              <a:latin typeface="Arial"/>
              <a:cs typeface="Arial"/>
            </a:endParaRPr>
          </a:p>
        </p:txBody>
      </p:sp>
      <p:sp>
        <p:nvSpPr>
          <p:cNvPr id="35" name="object 35"/>
          <p:cNvSpPr txBox="1"/>
          <p:nvPr/>
        </p:nvSpPr>
        <p:spPr>
          <a:xfrm>
            <a:off x="6387109" y="4242384"/>
            <a:ext cx="683260" cy="400685"/>
          </a:xfrm>
          <a:prstGeom prst="rect">
            <a:avLst/>
          </a:prstGeom>
        </p:spPr>
        <p:txBody>
          <a:bodyPr vert="horz" wrap="square" lIns="0" tIns="0" rIns="0" bIns="0" rtlCol="0">
            <a:spAutoFit/>
          </a:bodyPr>
          <a:lstStyle/>
          <a:p>
            <a:pPr marL="12700">
              <a:lnSpc>
                <a:spcPct val="100000"/>
              </a:lnSpc>
            </a:pPr>
            <a:r>
              <a:rPr sz="500" dirty="0">
                <a:latin typeface="Arial"/>
                <a:cs typeface="Arial"/>
              </a:rPr>
              <a:t>transition43</a:t>
            </a:r>
            <a:endParaRPr sz="500">
              <a:latin typeface="Arial"/>
              <a:cs typeface="Arial"/>
            </a:endParaRPr>
          </a:p>
          <a:p>
            <a:pPr marL="186055" marR="38735">
              <a:lnSpc>
                <a:spcPts val="540"/>
              </a:lnSpc>
              <a:spcBef>
                <a:spcPts val="310"/>
              </a:spcBef>
            </a:pPr>
            <a:r>
              <a:rPr sz="500" dirty="0">
                <a:latin typeface="Arial"/>
                <a:cs typeface="Arial"/>
              </a:rPr>
              <a:t>shift_pending_d  entry:</a:t>
            </a:r>
            <a:r>
              <a:rPr sz="500" spc="-90" dirty="0">
                <a:latin typeface="Arial"/>
                <a:cs typeface="Arial"/>
              </a:rPr>
              <a:t> </a:t>
            </a:r>
            <a:r>
              <a:rPr sz="500" dirty="0">
                <a:latin typeface="Arial"/>
                <a:cs typeface="Arial"/>
              </a:rPr>
              <a:t>ctr=0;</a:t>
            </a:r>
            <a:endParaRPr sz="500">
              <a:latin typeface="Arial"/>
              <a:cs typeface="Arial"/>
            </a:endParaRPr>
          </a:p>
          <a:p>
            <a:pPr marL="186055" indent="159385">
              <a:lnSpc>
                <a:spcPts val="500"/>
              </a:lnSpc>
            </a:pPr>
            <a:r>
              <a:rPr sz="500" dirty="0">
                <a:latin typeface="Arial"/>
                <a:cs typeface="Arial"/>
              </a:rPr>
              <a:t>to_gear</a:t>
            </a:r>
            <a:r>
              <a:rPr sz="500" spc="-90" dirty="0">
                <a:latin typeface="Arial"/>
                <a:cs typeface="Arial"/>
              </a:rPr>
              <a:t> </a:t>
            </a:r>
            <a:r>
              <a:rPr sz="500" dirty="0">
                <a:latin typeface="Arial"/>
                <a:cs typeface="Arial"/>
              </a:rPr>
              <a:t>=4;</a:t>
            </a:r>
            <a:endParaRPr sz="500">
              <a:latin typeface="Arial"/>
              <a:cs typeface="Arial"/>
            </a:endParaRPr>
          </a:p>
          <a:p>
            <a:pPr marL="186055">
              <a:lnSpc>
                <a:spcPts val="570"/>
              </a:lnSpc>
            </a:pPr>
            <a:r>
              <a:rPr sz="500" dirty="0">
                <a:latin typeface="Arial"/>
                <a:cs typeface="Arial"/>
              </a:rPr>
              <a:t>during:</a:t>
            </a:r>
            <a:r>
              <a:rPr sz="500" spc="-85" dirty="0">
                <a:latin typeface="Arial"/>
                <a:cs typeface="Arial"/>
              </a:rPr>
              <a:t> </a:t>
            </a:r>
            <a:r>
              <a:rPr sz="500" dirty="0">
                <a:latin typeface="Arial"/>
                <a:cs typeface="Arial"/>
              </a:rPr>
              <a:t>ctr=ctr+1;</a:t>
            </a:r>
            <a:endParaRPr sz="500">
              <a:latin typeface="Arial"/>
              <a:cs typeface="Arial"/>
            </a:endParaRPr>
          </a:p>
        </p:txBody>
      </p:sp>
      <p:sp>
        <p:nvSpPr>
          <p:cNvPr id="36" name="object 36"/>
          <p:cNvSpPr txBox="1"/>
          <p:nvPr/>
        </p:nvSpPr>
        <p:spPr>
          <a:xfrm>
            <a:off x="6568757" y="4959210"/>
            <a:ext cx="509905" cy="156845"/>
          </a:xfrm>
          <a:prstGeom prst="rect">
            <a:avLst/>
          </a:prstGeom>
        </p:spPr>
        <p:txBody>
          <a:bodyPr vert="horz" wrap="square" lIns="0" tIns="0" rIns="0" bIns="0" rtlCol="0">
            <a:spAutoFit/>
          </a:bodyPr>
          <a:lstStyle/>
          <a:p>
            <a:pPr marL="12700">
              <a:lnSpc>
                <a:spcPts val="570"/>
              </a:lnSpc>
            </a:pPr>
            <a:r>
              <a:rPr sz="500" dirty="0">
                <a:latin typeface="Arial"/>
                <a:cs typeface="Arial"/>
              </a:rPr>
              <a:t>shifting_d</a:t>
            </a:r>
            <a:endParaRPr sz="500">
              <a:latin typeface="Arial"/>
              <a:cs typeface="Arial"/>
            </a:endParaRPr>
          </a:p>
          <a:p>
            <a:pPr marL="12700">
              <a:lnSpc>
                <a:spcPts val="570"/>
              </a:lnSpc>
            </a:pPr>
            <a:r>
              <a:rPr sz="500" dirty="0">
                <a:latin typeface="Arial"/>
                <a:cs typeface="Arial"/>
              </a:rPr>
              <a:t>entry:</a:t>
            </a:r>
            <a:r>
              <a:rPr sz="500" spc="-85" dirty="0">
                <a:latin typeface="Arial"/>
                <a:cs typeface="Arial"/>
              </a:rPr>
              <a:t> </a:t>
            </a:r>
            <a:r>
              <a:rPr sz="500" dirty="0">
                <a:latin typeface="Arial"/>
                <a:cs typeface="Arial"/>
              </a:rPr>
              <a:t>to_gear=3;</a:t>
            </a:r>
            <a:endParaRPr sz="500">
              <a:latin typeface="Arial"/>
              <a:cs typeface="Arial"/>
            </a:endParaRPr>
          </a:p>
        </p:txBody>
      </p:sp>
      <p:sp>
        <p:nvSpPr>
          <p:cNvPr id="37" name="object 37"/>
          <p:cNvSpPr txBox="1"/>
          <p:nvPr/>
        </p:nvSpPr>
        <p:spPr>
          <a:xfrm>
            <a:off x="5511698" y="4722634"/>
            <a:ext cx="414020" cy="88900"/>
          </a:xfrm>
          <a:prstGeom prst="rect">
            <a:avLst/>
          </a:prstGeom>
        </p:spPr>
        <p:txBody>
          <a:bodyPr vert="horz" wrap="square" lIns="0" tIns="0" rIns="0" bIns="0" rtlCol="0">
            <a:spAutoFit/>
          </a:bodyPr>
          <a:lstStyle/>
          <a:p>
            <a:pPr marL="12700">
              <a:lnSpc>
                <a:spcPct val="100000"/>
              </a:lnSpc>
            </a:pPr>
            <a:r>
              <a:rPr sz="500" dirty="0">
                <a:latin typeface="Arial"/>
                <a:cs typeface="Arial"/>
              </a:rPr>
              <a:t>[ctr &gt;</a:t>
            </a:r>
            <a:r>
              <a:rPr sz="500" spc="-90" dirty="0">
                <a:latin typeface="Arial"/>
                <a:cs typeface="Arial"/>
              </a:rPr>
              <a:t> </a:t>
            </a:r>
            <a:r>
              <a:rPr sz="500" dirty="0">
                <a:latin typeface="Arial"/>
                <a:cs typeface="Arial"/>
              </a:rPr>
              <a:t>DELAY]</a:t>
            </a:r>
            <a:endParaRPr sz="500">
              <a:latin typeface="Arial"/>
              <a:cs typeface="Arial"/>
            </a:endParaRPr>
          </a:p>
        </p:txBody>
      </p:sp>
      <p:sp>
        <p:nvSpPr>
          <p:cNvPr id="38" name="object 38"/>
          <p:cNvSpPr txBox="1"/>
          <p:nvPr/>
        </p:nvSpPr>
        <p:spPr>
          <a:xfrm>
            <a:off x="4758563" y="4266323"/>
            <a:ext cx="682625" cy="400685"/>
          </a:xfrm>
          <a:prstGeom prst="rect">
            <a:avLst/>
          </a:prstGeom>
        </p:spPr>
        <p:txBody>
          <a:bodyPr vert="horz" wrap="square" lIns="0" tIns="0" rIns="0" bIns="0" rtlCol="0">
            <a:spAutoFit/>
          </a:bodyPr>
          <a:lstStyle/>
          <a:p>
            <a:pPr marL="12700">
              <a:lnSpc>
                <a:spcPct val="100000"/>
              </a:lnSpc>
            </a:pPr>
            <a:r>
              <a:rPr sz="500" dirty="0">
                <a:latin typeface="Arial"/>
                <a:cs typeface="Arial"/>
              </a:rPr>
              <a:t>transition32</a:t>
            </a:r>
            <a:endParaRPr sz="500">
              <a:latin typeface="Arial"/>
              <a:cs typeface="Arial"/>
            </a:endParaRPr>
          </a:p>
          <a:p>
            <a:pPr marL="186690" marR="40005">
              <a:lnSpc>
                <a:spcPts val="540"/>
              </a:lnSpc>
              <a:spcBef>
                <a:spcPts val="310"/>
              </a:spcBef>
            </a:pPr>
            <a:r>
              <a:rPr sz="500" dirty="0">
                <a:latin typeface="Arial"/>
                <a:cs typeface="Arial"/>
              </a:rPr>
              <a:t>shift_pending_c  entry:</a:t>
            </a:r>
            <a:r>
              <a:rPr sz="500" spc="-90" dirty="0">
                <a:latin typeface="Arial"/>
                <a:cs typeface="Arial"/>
              </a:rPr>
              <a:t> </a:t>
            </a:r>
            <a:r>
              <a:rPr sz="500" dirty="0">
                <a:latin typeface="Arial"/>
                <a:cs typeface="Arial"/>
              </a:rPr>
              <a:t>ctr=0;</a:t>
            </a:r>
            <a:endParaRPr sz="500">
              <a:latin typeface="Arial"/>
              <a:cs typeface="Arial"/>
            </a:endParaRPr>
          </a:p>
          <a:p>
            <a:pPr marL="186690" indent="159385">
              <a:lnSpc>
                <a:spcPts val="500"/>
              </a:lnSpc>
            </a:pPr>
            <a:r>
              <a:rPr sz="500" dirty="0">
                <a:latin typeface="Arial"/>
                <a:cs typeface="Arial"/>
              </a:rPr>
              <a:t>to_gear=3;</a:t>
            </a:r>
            <a:endParaRPr sz="500">
              <a:latin typeface="Arial"/>
              <a:cs typeface="Arial"/>
            </a:endParaRPr>
          </a:p>
          <a:p>
            <a:pPr marL="186690">
              <a:lnSpc>
                <a:spcPts val="570"/>
              </a:lnSpc>
            </a:pPr>
            <a:r>
              <a:rPr sz="500" dirty="0">
                <a:latin typeface="Arial"/>
                <a:cs typeface="Arial"/>
              </a:rPr>
              <a:t>during:</a:t>
            </a:r>
            <a:r>
              <a:rPr sz="500" spc="-85" dirty="0">
                <a:latin typeface="Arial"/>
                <a:cs typeface="Arial"/>
              </a:rPr>
              <a:t> </a:t>
            </a:r>
            <a:r>
              <a:rPr sz="500" dirty="0">
                <a:latin typeface="Arial"/>
                <a:cs typeface="Arial"/>
              </a:rPr>
              <a:t>ctr=ctr+1;</a:t>
            </a:r>
            <a:endParaRPr sz="500">
              <a:latin typeface="Arial"/>
              <a:cs typeface="Arial"/>
            </a:endParaRPr>
          </a:p>
        </p:txBody>
      </p:sp>
      <p:sp>
        <p:nvSpPr>
          <p:cNvPr id="39" name="object 39"/>
          <p:cNvSpPr txBox="1"/>
          <p:nvPr/>
        </p:nvSpPr>
        <p:spPr>
          <a:xfrm>
            <a:off x="4941074" y="4984026"/>
            <a:ext cx="509905" cy="156845"/>
          </a:xfrm>
          <a:prstGeom prst="rect">
            <a:avLst/>
          </a:prstGeom>
        </p:spPr>
        <p:txBody>
          <a:bodyPr vert="horz" wrap="square" lIns="0" tIns="0" rIns="0" bIns="0" rtlCol="0">
            <a:spAutoFit/>
          </a:bodyPr>
          <a:lstStyle/>
          <a:p>
            <a:pPr marL="12700">
              <a:lnSpc>
                <a:spcPts val="570"/>
              </a:lnSpc>
            </a:pPr>
            <a:r>
              <a:rPr sz="500" dirty="0">
                <a:latin typeface="Arial"/>
                <a:cs typeface="Arial"/>
              </a:rPr>
              <a:t>shifting_c</a:t>
            </a:r>
            <a:endParaRPr sz="500">
              <a:latin typeface="Arial"/>
              <a:cs typeface="Arial"/>
            </a:endParaRPr>
          </a:p>
          <a:p>
            <a:pPr marL="12700">
              <a:lnSpc>
                <a:spcPts val="570"/>
              </a:lnSpc>
            </a:pPr>
            <a:r>
              <a:rPr sz="500" dirty="0">
                <a:latin typeface="Arial"/>
                <a:cs typeface="Arial"/>
              </a:rPr>
              <a:t>entry:</a:t>
            </a:r>
            <a:r>
              <a:rPr sz="500" spc="-85" dirty="0">
                <a:latin typeface="Arial"/>
                <a:cs typeface="Arial"/>
              </a:rPr>
              <a:t> </a:t>
            </a:r>
            <a:r>
              <a:rPr sz="500" dirty="0">
                <a:latin typeface="Arial"/>
                <a:cs typeface="Arial"/>
              </a:rPr>
              <a:t>to_gear=2;</a:t>
            </a:r>
            <a:endParaRPr sz="500">
              <a:latin typeface="Arial"/>
              <a:cs typeface="Arial"/>
            </a:endParaRPr>
          </a:p>
        </p:txBody>
      </p:sp>
      <p:sp>
        <p:nvSpPr>
          <p:cNvPr id="40" name="object 40"/>
          <p:cNvSpPr txBox="1"/>
          <p:nvPr/>
        </p:nvSpPr>
        <p:spPr>
          <a:xfrm>
            <a:off x="3607574" y="5237441"/>
            <a:ext cx="414020" cy="88900"/>
          </a:xfrm>
          <a:prstGeom prst="rect">
            <a:avLst/>
          </a:prstGeom>
        </p:spPr>
        <p:txBody>
          <a:bodyPr vert="horz" wrap="square" lIns="0" tIns="0" rIns="0" bIns="0" rtlCol="0">
            <a:spAutoFit/>
          </a:bodyPr>
          <a:lstStyle/>
          <a:p>
            <a:pPr marL="12700">
              <a:lnSpc>
                <a:spcPct val="100000"/>
              </a:lnSpc>
            </a:pPr>
            <a:r>
              <a:rPr sz="500" dirty="0">
                <a:latin typeface="Arial"/>
                <a:cs typeface="Arial"/>
              </a:rPr>
              <a:t>[ctr &gt;</a:t>
            </a:r>
            <a:r>
              <a:rPr sz="500" spc="-90" dirty="0">
                <a:latin typeface="Arial"/>
                <a:cs typeface="Arial"/>
              </a:rPr>
              <a:t> </a:t>
            </a:r>
            <a:r>
              <a:rPr sz="500" dirty="0">
                <a:latin typeface="Arial"/>
                <a:cs typeface="Arial"/>
              </a:rPr>
              <a:t>DELAY]</a:t>
            </a:r>
            <a:endParaRPr sz="500">
              <a:latin typeface="Arial"/>
              <a:cs typeface="Arial"/>
            </a:endParaRPr>
          </a:p>
        </p:txBody>
      </p:sp>
      <p:sp>
        <p:nvSpPr>
          <p:cNvPr id="41" name="object 41"/>
          <p:cNvSpPr txBox="1"/>
          <p:nvPr/>
        </p:nvSpPr>
        <p:spPr>
          <a:xfrm>
            <a:off x="2875699" y="4278731"/>
            <a:ext cx="716915" cy="400685"/>
          </a:xfrm>
          <a:prstGeom prst="rect">
            <a:avLst/>
          </a:prstGeom>
        </p:spPr>
        <p:txBody>
          <a:bodyPr vert="horz" wrap="square" lIns="0" tIns="0" rIns="0" bIns="0" rtlCol="0">
            <a:spAutoFit/>
          </a:bodyPr>
          <a:lstStyle/>
          <a:p>
            <a:pPr marL="12700">
              <a:lnSpc>
                <a:spcPct val="100000"/>
              </a:lnSpc>
            </a:pPr>
            <a:r>
              <a:rPr sz="500" dirty="0">
                <a:latin typeface="Arial"/>
                <a:cs typeface="Arial"/>
              </a:rPr>
              <a:t>transition21</a:t>
            </a:r>
            <a:endParaRPr sz="500">
              <a:latin typeface="Arial"/>
              <a:cs typeface="Arial"/>
            </a:endParaRPr>
          </a:p>
          <a:p>
            <a:pPr marL="186055" marR="73025">
              <a:lnSpc>
                <a:spcPts val="540"/>
              </a:lnSpc>
              <a:spcBef>
                <a:spcPts val="310"/>
              </a:spcBef>
            </a:pPr>
            <a:r>
              <a:rPr sz="500" dirty="0">
                <a:latin typeface="Arial"/>
                <a:cs typeface="Arial"/>
              </a:rPr>
              <a:t>shift_pending_b  entry:</a:t>
            </a:r>
            <a:r>
              <a:rPr sz="500" spc="-90" dirty="0">
                <a:latin typeface="Arial"/>
                <a:cs typeface="Arial"/>
              </a:rPr>
              <a:t> </a:t>
            </a:r>
            <a:r>
              <a:rPr sz="500" dirty="0">
                <a:latin typeface="Arial"/>
                <a:cs typeface="Arial"/>
              </a:rPr>
              <a:t>ctr=0;</a:t>
            </a:r>
            <a:endParaRPr sz="500">
              <a:latin typeface="Arial"/>
              <a:cs typeface="Arial"/>
            </a:endParaRPr>
          </a:p>
          <a:p>
            <a:pPr marL="345440">
              <a:lnSpc>
                <a:spcPts val="500"/>
              </a:lnSpc>
            </a:pPr>
            <a:r>
              <a:rPr sz="500" dirty="0">
                <a:latin typeface="Arial"/>
                <a:cs typeface="Arial"/>
              </a:rPr>
              <a:t>to_gear=2;</a:t>
            </a:r>
            <a:endParaRPr sz="500">
              <a:latin typeface="Arial"/>
              <a:cs typeface="Arial"/>
            </a:endParaRPr>
          </a:p>
          <a:p>
            <a:pPr marL="186055">
              <a:lnSpc>
                <a:spcPts val="570"/>
              </a:lnSpc>
            </a:pPr>
            <a:r>
              <a:rPr sz="500" dirty="0">
                <a:latin typeface="Arial"/>
                <a:cs typeface="Arial"/>
              </a:rPr>
              <a:t>during: ctr =</a:t>
            </a:r>
            <a:r>
              <a:rPr sz="500" spc="-85" dirty="0">
                <a:latin typeface="Arial"/>
                <a:cs typeface="Arial"/>
              </a:rPr>
              <a:t> </a:t>
            </a:r>
            <a:r>
              <a:rPr sz="500" dirty="0">
                <a:latin typeface="Arial"/>
                <a:cs typeface="Arial"/>
              </a:rPr>
              <a:t>ctr+1;</a:t>
            </a:r>
            <a:endParaRPr sz="500">
              <a:latin typeface="Arial"/>
              <a:cs typeface="Arial"/>
            </a:endParaRPr>
          </a:p>
        </p:txBody>
      </p:sp>
      <p:sp>
        <p:nvSpPr>
          <p:cNvPr id="42" name="object 42"/>
          <p:cNvSpPr txBox="1"/>
          <p:nvPr/>
        </p:nvSpPr>
        <p:spPr>
          <a:xfrm>
            <a:off x="3057347" y="4996433"/>
            <a:ext cx="509905" cy="156845"/>
          </a:xfrm>
          <a:prstGeom prst="rect">
            <a:avLst/>
          </a:prstGeom>
        </p:spPr>
        <p:txBody>
          <a:bodyPr vert="horz" wrap="square" lIns="0" tIns="0" rIns="0" bIns="0" rtlCol="0">
            <a:spAutoFit/>
          </a:bodyPr>
          <a:lstStyle/>
          <a:p>
            <a:pPr marL="12700">
              <a:lnSpc>
                <a:spcPts val="570"/>
              </a:lnSpc>
            </a:pPr>
            <a:r>
              <a:rPr sz="500" dirty="0">
                <a:latin typeface="Arial"/>
                <a:cs typeface="Arial"/>
              </a:rPr>
              <a:t>shifting_b</a:t>
            </a:r>
            <a:endParaRPr sz="500">
              <a:latin typeface="Arial"/>
              <a:cs typeface="Arial"/>
            </a:endParaRPr>
          </a:p>
          <a:p>
            <a:pPr marL="12700">
              <a:lnSpc>
                <a:spcPts val="570"/>
              </a:lnSpc>
            </a:pPr>
            <a:r>
              <a:rPr sz="500" dirty="0">
                <a:latin typeface="Arial"/>
                <a:cs typeface="Arial"/>
              </a:rPr>
              <a:t>entry:</a:t>
            </a:r>
            <a:r>
              <a:rPr sz="500" spc="-85" dirty="0">
                <a:latin typeface="Arial"/>
                <a:cs typeface="Arial"/>
              </a:rPr>
              <a:t> </a:t>
            </a:r>
            <a:r>
              <a:rPr sz="500" dirty="0">
                <a:latin typeface="Arial"/>
                <a:cs typeface="Arial"/>
              </a:rPr>
              <a:t>to_gear=1;</a:t>
            </a:r>
            <a:endParaRPr sz="500">
              <a:latin typeface="Arial"/>
              <a:cs typeface="Arial"/>
            </a:endParaRPr>
          </a:p>
        </p:txBody>
      </p:sp>
      <p:sp>
        <p:nvSpPr>
          <p:cNvPr id="43" name="object 43"/>
          <p:cNvSpPr txBox="1"/>
          <p:nvPr/>
        </p:nvSpPr>
        <p:spPr>
          <a:xfrm>
            <a:off x="901700" y="5688520"/>
            <a:ext cx="6883400" cy="685800"/>
          </a:xfrm>
          <a:prstGeom prst="rect">
            <a:avLst/>
          </a:prstGeom>
        </p:spPr>
        <p:txBody>
          <a:bodyPr vert="horz" wrap="square" lIns="0" tIns="0" rIns="0" bIns="0" rtlCol="0">
            <a:spAutoFit/>
          </a:bodyPr>
          <a:lstStyle/>
          <a:p>
            <a:pPr marL="12700">
              <a:lnSpc>
                <a:spcPct val="100000"/>
              </a:lnSpc>
              <a:tabLst>
                <a:tab pos="1005840" algn="l"/>
              </a:tabLst>
            </a:pPr>
            <a:r>
              <a:rPr sz="1950" spc="190" dirty="0">
                <a:solidFill>
                  <a:srgbClr val="231F20"/>
                </a:solidFill>
                <a:latin typeface="Arial"/>
                <a:cs typeface="Arial"/>
              </a:rPr>
              <a:t>Demo:	</a:t>
            </a:r>
            <a:r>
              <a:rPr sz="1950" spc="130" dirty="0">
                <a:solidFill>
                  <a:srgbClr val="00FF00"/>
                </a:solidFill>
                <a:latin typeface="Arial"/>
                <a:cs typeface="Arial"/>
              </a:rPr>
              <a:t>sal-atg </a:t>
            </a:r>
            <a:r>
              <a:rPr sz="1950" spc="150" dirty="0">
                <a:solidFill>
                  <a:srgbClr val="00FF00"/>
                </a:solidFill>
                <a:latin typeface="Arial"/>
                <a:cs typeface="Arial"/>
              </a:rPr>
              <a:t>-v </a:t>
            </a:r>
            <a:r>
              <a:rPr sz="1950" spc="155" dirty="0">
                <a:solidFill>
                  <a:srgbClr val="00FF00"/>
                </a:solidFill>
                <a:latin typeface="Arial"/>
                <a:cs typeface="Arial"/>
              </a:rPr>
              <a:t>3 </a:t>
            </a:r>
            <a:r>
              <a:rPr sz="1950" spc="175" dirty="0">
                <a:solidFill>
                  <a:srgbClr val="00FF00"/>
                </a:solidFill>
                <a:latin typeface="Arial"/>
                <a:cs typeface="Arial"/>
              </a:rPr>
              <a:t>trans </a:t>
            </a:r>
            <a:r>
              <a:rPr sz="1950" spc="120" dirty="0">
                <a:solidFill>
                  <a:srgbClr val="00FF00"/>
                </a:solidFill>
                <a:latin typeface="Arial"/>
                <a:cs typeface="Arial"/>
              </a:rPr>
              <a:t>ga </a:t>
            </a:r>
            <a:r>
              <a:rPr sz="1950" spc="180" dirty="0">
                <a:solidFill>
                  <a:srgbClr val="00FF00"/>
                </a:solidFill>
                <a:latin typeface="Arial"/>
                <a:cs typeface="Arial"/>
              </a:rPr>
              <a:t>monitored</a:t>
            </a:r>
            <a:r>
              <a:rPr sz="1950" spc="800" dirty="0">
                <a:solidFill>
                  <a:srgbClr val="00FF00"/>
                </a:solidFill>
                <a:latin typeface="Arial"/>
                <a:cs typeface="Arial"/>
              </a:rPr>
              <a:t> </a:t>
            </a:r>
            <a:r>
              <a:rPr sz="1950" spc="120" dirty="0">
                <a:solidFill>
                  <a:srgbClr val="00FF00"/>
                </a:solidFill>
                <a:latin typeface="Arial"/>
                <a:cs typeface="Arial"/>
              </a:rPr>
              <a:t>system</a:t>
            </a:r>
            <a:endParaRPr sz="1950">
              <a:latin typeface="Arial"/>
              <a:cs typeface="Arial"/>
            </a:endParaRPr>
          </a:p>
          <a:p>
            <a:pPr marL="12700">
              <a:lnSpc>
                <a:spcPct val="100000"/>
              </a:lnSpc>
              <a:spcBef>
                <a:spcPts val="585"/>
              </a:spcBef>
            </a:pPr>
            <a:r>
              <a:rPr sz="1950" spc="175" dirty="0">
                <a:solidFill>
                  <a:srgbClr val="00FF00"/>
                </a:solidFill>
                <a:latin typeface="Arial"/>
                <a:cs typeface="Arial"/>
              </a:rPr>
              <a:t>trans </a:t>
            </a:r>
            <a:r>
              <a:rPr sz="1950" spc="190" dirty="0">
                <a:solidFill>
                  <a:srgbClr val="00FF00"/>
                </a:solidFill>
                <a:latin typeface="Arial"/>
                <a:cs typeface="Arial"/>
              </a:rPr>
              <a:t>ga </a:t>
            </a:r>
            <a:r>
              <a:rPr sz="1950" spc="110" dirty="0">
                <a:solidFill>
                  <a:srgbClr val="00FF00"/>
                </a:solidFill>
                <a:latin typeface="Arial"/>
                <a:cs typeface="Arial"/>
              </a:rPr>
              <a:t>goals.scm -ed </a:t>
            </a:r>
            <a:r>
              <a:rPr sz="1950" spc="155" dirty="0">
                <a:solidFill>
                  <a:srgbClr val="00FF00"/>
                </a:solidFill>
                <a:latin typeface="Arial"/>
                <a:cs typeface="Arial"/>
              </a:rPr>
              <a:t>15 </a:t>
            </a:r>
            <a:r>
              <a:rPr sz="1950" spc="145" dirty="0">
                <a:solidFill>
                  <a:srgbClr val="00FF00"/>
                </a:solidFill>
                <a:latin typeface="Arial"/>
                <a:cs typeface="Arial"/>
              </a:rPr>
              <a:t>–incremental</a:t>
            </a:r>
            <a:r>
              <a:rPr sz="1950" spc="800" dirty="0">
                <a:solidFill>
                  <a:srgbClr val="00FF00"/>
                </a:solidFill>
                <a:latin typeface="Arial"/>
                <a:cs typeface="Arial"/>
              </a:rPr>
              <a:t> </a:t>
            </a:r>
            <a:r>
              <a:rPr sz="1950" spc="140" dirty="0">
                <a:solidFill>
                  <a:srgbClr val="00FF00"/>
                </a:solidFill>
                <a:latin typeface="Arial"/>
                <a:cs typeface="Arial"/>
              </a:rPr>
              <a:t>–testpurpose</a:t>
            </a:r>
            <a:endParaRPr sz="1950">
              <a:latin typeface="Arial"/>
              <a:cs typeface="Arial"/>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3918305" y="3231527"/>
            <a:ext cx="2222500" cy="314960"/>
          </a:xfrm>
          <a:prstGeom prst="rect">
            <a:avLst/>
          </a:prstGeom>
        </p:spPr>
        <p:txBody>
          <a:bodyPr vert="horz" wrap="square" lIns="0" tIns="0" rIns="0" bIns="0" rtlCol="0">
            <a:spAutoFit/>
          </a:bodyPr>
          <a:lstStyle/>
          <a:p>
            <a:pPr marL="12700">
              <a:lnSpc>
                <a:spcPct val="100000"/>
              </a:lnSpc>
            </a:pPr>
            <a:r>
              <a:rPr sz="1950" spc="360" dirty="0">
                <a:solidFill>
                  <a:srgbClr val="231F20"/>
                </a:solidFill>
                <a:latin typeface="Arial"/>
                <a:cs typeface="Arial"/>
              </a:rPr>
              <a:t>Timed</a:t>
            </a:r>
            <a:r>
              <a:rPr sz="1950" spc="295" dirty="0">
                <a:solidFill>
                  <a:srgbClr val="231F20"/>
                </a:solidFill>
                <a:latin typeface="Arial"/>
                <a:cs typeface="Arial"/>
              </a:rPr>
              <a:t> </a:t>
            </a:r>
            <a:r>
              <a:rPr sz="1950" spc="235" dirty="0">
                <a:solidFill>
                  <a:srgbClr val="231F20"/>
                </a:solidFill>
                <a:latin typeface="Arial"/>
                <a:cs typeface="Arial"/>
              </a:rPr>
              <a:t>Systems</a:t>
            </a:r>
            <a:endParaRPr sz="1950">
              <a:latin typeface="Arial"/>
              <a:cs typeface="Arial"/>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475981"/>
            <a:ext cx="8260715" cy="6120130"/>
          </a:xfrm>
          <a:prstGeom prst="rect">
            <a:avLst/>
          </a:prstGeom>
        </p:spPr>
        <p:txBody>
          <a:bodyPr vert="horz" wrap="square" lIns="0" tIns="0" rIns="0" bIns="0" rtlCol="0">
            <a:spAutoFit/>
          </a:bodyPr>
          <a:lstStyle/>
          <a:p>
            <a:pPr marL="1596390">
              <a:lnSpc>
                <a:spcPct val="100000"/>
              </a:lnSpc>
            </a:pPr>
            <a:r>
              <a:rPr sz="1950" spc="245" dirty="0">
                <a:solidFill>
                  <a:srgbClr val="231F20"/>
                </a:solidFill>
                <a:latin typeface="Arial"/>
                <a:cs typeface="Arial"/>
              </a:rPr>
              <a:t>Verification </a:t>
            </a:r>
            <a:r>
              <a:rPr sz="1950" spc="280" dirty="0">
                <a:solidFill>
                  <a:srgbClr val="231F20"/>
                </a:solidFill>
                <a:latin typeface="Arial"/>
                <a:cs typeface="Arial"/>
              </a:rPr>
              <a:t>of </a:t>
            </a:r>
            <a:r>
              <a:rPr sz="1950" spc="215" dirty="0">
                <a:solidFill>
                  <a:srgbClr val="231F20"/>
                </a:solidFill>
                <a:latin typeface="Arial"/>
                <a:cs typeface="Arial"/>
              </a:rPr>
              <a:t>Real </a:t>
            </a:r>
            <a:r>
              <a:rPr sz="1950" spc="385" dirty="0">
                <a:solidFill>
                  <a:srgbClr val="231F20"/>
                </a:solidFill>
                <a:latin typeface="Arial"/>
                <a:cs typeface="Arial"/>
              </a:rPr>
              <a:t>Time</a:t>
            </a:r>
            <a:r>
              <a:rPr sz="1950" spc="700" dirty="0">
                <a:solidFill>
                  <a:srgbClr val="231F20"/>
                </a:solidFill>
                <a:latin typeface="Arial"/>
                <a:cs typeface="Arial"/>
              </a:rPr>
              <a:t> </a:t>
            </a:r>
            <a:r>
              <a:rPr sz="1950" spc="275" dirty="0">
                <a:solidFill>
                  <a:srgbClr val="231F20"/>
                </a:solidFill>
                <a:latin typeface="Arial"/>
                <a:cs typeface="Arial"/>
              </a:rPr>
              <a:t>Programs</a:t>
            </a:r>
            <a:endParaRPr sz="1950">
              <a:latin typeface="Arial"/>
              <a:cs typeface="Arial"/>
            </a:endParaRPr>
          </a:p>
          <a:p>
            <a:pPr marL="300990" indent="-288290">
              <a:lnSpc>
                <a:spcPct val="100000"/>
              </a:lnSpc>
              <a:spcBef>
                <a:spcPts val="1614"/>
              </a:spcBef>
              <a:buClr>
                <a:srgbClr val="231F20"/>
              </a:buClr>
              <a:buSzPct val="105128"/>
              <a:buFont typeface="Lucida Sans Unicode"/>
              <a:buChar char="•"/>
              <a:tabLst>
                <a:tab pos="301625" algn="l"/>
              </a:tabLst>
            </a:pPr>
            <a:r>
              <a:rPr sz="1950" spc="150" dirty="0">
                <a:solidFill>
                  <a:srgbClr val="FF0000"/>
                </a:solidFill>
                <a:latin typeface="Arial"/>
                <a:cs typeface="Arial"/>
              </a:rPr>
              <a:t>Continuous </a:t>
            </a:r>
            <a:r>
              <a:rPr sz="1950" spc="195" dirty="0">
                <a:solidFill>
                  <a:srgbClr val="FF0000"/>
                </a:solidFill>
                <a:latin typeface="Arial"/>
                <a:cs typeface="Arial"/>
              </a:rPr>
              <a:t>time </a:t>
            </a:r>
            <a:r>
              <a:rPr sz="1950" spc="80" dirty="0">
                <a:solidFill>
                  <a:srgbClr val="231F20"/>
                </a:solidFill>
                <a:latin typeface="Arial"/>
                <a:cs typeface="Arial"/>
              </a:rPr>
              <a:t>excludes </a:t>
            </a:r>
            <a:r>
              <a:rPr sz="1950" spc="190" dirty="0">
                <a:solidFill>
                  <a:srgbClr val="231F20"/>
                </a:solidFill>
                <a:latin typeface="Arial"/>
                <a:cs typeface="Arial"/>
              </a:rPr>
              <a:t>automation </a:t>
            </a:r>
            <a:r>
              <a:rPr sz="1950" spc="105" dirty="0">
                <a:solidFill>
                  <a:srgbClr val="231F20"/>
                </a:solidFill>
                <a:latin typeface="Arial"/>
                <a:cs typeface="Arial"/>
              </a:rPr>
              <a:t>by </a:t>
            </a:r>
            <a:r>
              <a:rPr sz="1950" spc="160" dirty="0">
                <a:solidFill>
                  <a:srgbClr val="231F20"/>
                </a:solidFill>
                <a:latin typeface="Arial"/>
                <a:cs typeface="Arial"/>
              </a:rPr>
              <a:t>finite </a:t>
            </a:r>
            <a:r>
              <a:rPr sz="1950" spc="155" dirty="0">
                <a:solidFill>
                  <a:srgbClr val="231F20"/>
                </a:solidFill>
                <a:latin typeface="Arial"/>
                <a:cs typeface="Arial"/>
              </a:rPr>
              <a:t>state </a:t>
            </a:r>
            <a:r>
              <a:rPr sz="1950" spc="320" dirty="0">
                <a:solidFill>
                  <a:srgbClr val="231F20"/>
                </a:solidFill>
                <a:latin typeface="Arial"/>
                <a:cs typeface="Arial"/>
              </a:rPr>
              <a:t> </a:t>
            </a:r>
            <a:r>
              <a:rPr sz="1950" spc="165" dirty="0">
                <a:solidFill>
                  <a:srgbClr val="231F20"/>
                </a:solidFill>
                <a:latin typeface="Arial"/>
                <a:cs typeface="Arial"/>
              </a:rPr>
              <a:t>methods</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229" dirty="0">
                <a:solidFill>
                  <a:srgbClr val="0000FF"/>
                </a:solidFill>
                <a:latin typeface="Arial"/>
                <a:cs typeface="Arial"/>
              </a:rPr>
              <a:t>Timed </a:t>
            </a:r>
            <a:r>
              <a:rPr sz="1950" spc="195" dirty="0">
                <a:solidFill>
                  <a:srgbClr val="0000FF"/>
                </a:solidFill>
                <a:latin typeface="Arial"/>
                <a:cs typeface="Arial"/>
              </a:rPr>
              <a:t>automata </a:t>
            </a:r>
            <a:r>
              <a:rPr sz="1950" spc="165" dirty="0">
                <a:solidFill>
                  <a:srgbClr val="231F20"/>
                </a:solidFill>
                <a:latin typeface="Arial"/>
                <a:cs typeface="Arial"/>
              </a:rPr>
              <a:t>methods </a:t>
            </a:r>
            <a:r>
              <a:rPr sz="1950" spc="150" dirty="0">
                <a:solidFill>
                  <a:srgbClr val="231F20"/>
                </a:solidFill>
                <a:latin typeface="Arial"/>
                <a:cs typeface="Arial"/>
              </a:rPr>
              <a:t>(e.g.,</a:t>
            </a:r>
            <a:r>
              <a:rPr sz="1950" spc="515" dirty="0">
                <a:solidFill>
                  <a:srgbClr val="231F20"/>
                </a:solidFill>
                <a:latin typeface="Arial"/>
                <a:cs typeface="Arial"/>
              </a:rPr>
              <a:t> </a:t>
            </a:r>
            <a:r>
              <a:rPr sz="1950" spc="155" dirty="0">
                <a:solidFill>
                  <a:srgbClr val="231F20"/>
                </a:solidFill>
                <a:latin typeface="Arial"/>
                <a:cs typeface="Arial"/>
              </a:rPr>
              <a:t>Uppaal)</a:t>
            </a:r>
            <a:endParaRPr sz="1950">
              <a:latin typeface="Arial"/>
              <a:cs typeface="Arial"/>
            </a:endParaRPr>
          </a:p>
          <a:p>
            <a:pPr marL="741680" lvl="1" indent="-288290">
              <a:lnSpc>
                <a:spcPct val="100000"/>
              </a:lnSpc>
              <a:spcBef>
                <a:spcPts val="994"/>
              </a:spcBef>
              <a:buSzPct val="105128"/>
              <a:buFont typeface="Lucida Sans Unicode"/>
              <a:buChar char="◦"/>
              <a:tabLst>
                <a:tab pos="742315" algn="l"/>
              </a:tabLst>
            </a:pPr>
            <a:r>
              <a:rPr sz="1950" spc="120" dirty="0">
                <a:solidFill>
                  <a:srgbClr val="231F20"/>
                </a:solidFill>
                <a:latin typeface="Arial"/>
                <a:cs typeface="Arial"/>
              </a:rPr>
              <a:t>Handle </a:t>
            </a:r>
            <a:r>
              <a:rPr sz="1950" spc="145" dirty="0">
                <a:solidFill>
                  <a:srgbClr val="231F20"/>
                </a:solidFill>
                <a:latin typeface="Arial"/>
                <a:cs typeface="Arial"/>
              </a:rPr>
              <a:t>continuous</a:t>
            </a:r>
            <a:r>
              <a:rPr sz="1950" spc="409" dirty="0">
                <a:solidFill>
                  <a:srgbClr val="231F20"/>
                </a:solidFill>
                <a:latin typeface="Arial"/>
                <a:cs typeface="Arial"/>
              </a:rPr>
              <a:t> </a:t>
            </a:r>
            <a:r>
              <a:rPr sz="1950" spc="195" dirty="0">
                <a:solidFill>
                  <a:srgbClr val="231F20"/>
                </a:solidFill>
                <a:latin typeface="Arial"/>
                <a:cs typeface="Arial"/>
              </a:rPr>
              <a:t>time</a:t>
            </a:r>
            <a:endParaRPr sz="1950">
              <a:latin typeface="Arial"/>
              <a:cs typeface="Arial"/>
            </a:endParaRPr>
          </a:p>
          <a:p>
            <a:pPr marL="741680" marR="398780" lvl="1" indent="-288290">
              <a:lnSpc>
                <a:spcPct val="125000"/>
              </a:lnSpc>
              <a:spcBef>
                <a:spcPts val="204"/>
              </a:spcBef>
              <a:buSzPct val="105128"/>
              <a:buFont typeface="Lucida Sans Unicode"/>
              <a:buChar char="◦"/>
              <a:tabLst>
                <a:tab pos="742315" algn="l"/>
              </a:tabLst>
            </a:pPr>
            <a:r>
              <a:rPr sz="1950" spc="275" dirty="0">
                <a:solidFill>
                  <a:srgbClr val="231F20"/>
                </a:solidFill>
                <a:latin typeface="Arial"/>
                <a:cs typeface="Arial"/>
              </a:rPr>
              <a:t>But </a:t>
            </a:r>
            <a:r>
              <a:rPr sz="1950" spc="65" dirty="0">
                <a:solidFill>
                  <a:srgbClr val="231F20"/>
                </a:solidFill>
                <a:latin typeface="Arial"/>
                <a:cs typeface="Arial"/>
              </a:rPr>
              <a:t>are </a:t>
            </a:r>
            <a:r>
              <a:rPr sz="1950" spc="125" dirty="0">
                <a:solidFill>
                  <a:srgbClr val="231F20"/>
                </a:solidFill>
                <a:latin typeface="Arial"/>
                <a:cs typeface="Arial"/>
              </a:rPr>
              <a:t>defeated </a:t>
            </a:r>
            <a:r>
              <a:rPr sz="1950" spc="105" dirty="0">
                <a:solidFill>
                  <a:srgbClr val="231F20"/>
                </a:solidFill>
                <a:latin typeface="Arial"/>
                <a:cs typeface="Arial"/>
              </a:rPr>
              <a:t>by </a:t>
            </a:r>
            <a:r>
              <a:rPr sz="1950" spc="175" dirty="0">
                <a:solidFill>
                  <a:srgbClr val="231F20"/>
                </a:solidFill>
                <a:latin typeface="Arial"/>
                <a:cs typeface="Arial"/>
              </a:rPr>
              <a:t>the </a:t>
            </a:r>
            <a:r>
              <a:rPr sz="1950" spc="50" dirty="0">
                <a:solidFill>
                  <a:srgbClr val="FF0000"/>
                </a:solidFill>
                <a:latin typeface="Arial"/>
                <a:cs typeface="Arial"/>
              </a:rPr>
              <a:t>case </a:t>
            </a:r>
            <a:r>
              <a:rPr sz="1950" spc="105" dirty="0">
                <a:solidFill>
                  <a:srgbClr val="FF0000"/>
                </a:solidFill>
                <a:latin typeface="Arial"/>
                <a:cs typeface="Arial"/>
              </a:rPr>
              <a:t>explosion </a:t>
            </a:r>
            <a:r>
              <a:rPr sz="1950" spc="140" dirty="0">
                <a:solidFill>
                  <a:srgbClr val="231F20"/>
                </a:solidFill>
                <a:latin typeface="Arial"/>
                <a:cs typeface="Arial"/>
              </a:rPr>
              <a:t>when </a:t>
            </a:r>
            <a:r>
              <a:rPr sz="1950" spc="150" dirty="0">
                <a:solidFill>
                  <a:srgbClr val="231F20"/>
                </a:solidFill>
                <a:latin typeface="Arial"/>
                <a:cs typeface="Arial"/>
              </a:rPr>
              <a:t>(discrete)  </a:t>
            </a:r>
            <a:r>
              <a:rPr sz="1950" spc="145" dirty="0">
                <a:solidFill>
                  <a:srgbClr val="231F20"/>
                </a:solidFill>
                <a:latin typeface="Arial"/>
                <a:cs typeface="Arial"/>
              </a:rPr>
              <a:t>faults </a:t>
            </a:r>
            <a:r>
              <a:rPr sz="1950" spc="65" dirty="0">
                <a:solidFill>
                  <a:srgbClr val="231F20"/>
                </a:solidFill>
                <a:latin typeface="Arial"/>
                <a:cs typeface="Arial"/>
              </a:rPr>
              <a:t>are </a:t>
            </a:r>
            <a:r>
              <a:rPr sz="1950" spc="100" dirty="0">
                <a:solidFill>
                  <a:srgbClr val="231F20"/>
                </a:solidFill>
                <a:latin typeface="Arial"/>
                <a:cs typeface="Arial"/>
              </a:rPr>
              <a:t>considered </a:t>
            </a:r>
            <a:r>
              <a:rPr sz="1950" spc="30" dirty="0">
                <a:solidFill>
                  <a:srgbClr val="231F20"/>
                </a:solidFill>
                <a:latin typeface="Arial"/>
                <a:cs typeface="Arial"/>
              </a:rPr>
              <a:t>as </a:t>
            </a:r>
            <a:r>
              <a:rPr sz="1950" spc="235" dirty="0">
                <a:solidFill>
                  <a:srgbClr val="231F20"/>
                </a:solidFill>
                <a:latin typeface="Arial"/>
                <a:cs typeface="Arial"/>
              </a:rPr>
              <a:t> </a:t>
            </a:r>
            <a:r>
              <a:rPr sz="1950" spc="100" dirty="0">
                <a:solidFill>
                  <a:srgbClr val="231F20"/>
                </a:solidFill>
                <a:latin typeface="Arial"/>
                <a:cs typeface="Arial"/>
              </a:rPr>
              <a:t>well</a:t>
            </a:r>
            <a:endParaRPr sz="1950">
              <a:latin typeface="Arial"/>
              <a:cs typeface="Arial"/>
            </a:endParaRPr>
          </a:p>
          <a:p>
            <a:pPr marL="300990" indent="-288290">
              <a:lnSpc>
                <a:spcPct val="100000"/>
              </a:lnSpc>
              <a:spcBef>
                <a:spcPts val="1614"/>
              </a:spcBef>
              <a:buClr>
                <a:srgbClr val="231F20"/>
              </a:buClr>
              <a:buSzPct val="105128"/>
              <a:buFont typeface="Lucida Sans Unicode"/>
              <a:buChar char="•"/>
              <a:tabLst>
                <a:tab pos="301625" algn="l"/>
              </a:tabLst>
            </a:pPr>
            <a:r>
              <a:rPr sz="1950" spc="350" dirty="0">
                <a:solidFill>
                  <a:srgbClr val="FF0000"/>
                </a:solidFill>
                <a:latin typeface="Arial"/>
                <a:cs typeface="Arial"/>
              </a:rPr>
              <a:t>SMT </a:t>
            </a:r>
            <a:r>
              <a:rPr sz="1950" spc="75" dirty="0">
                <a:solidFill>
                  <a:srgbClr val="FF0000"/>
                </a:solidFill>
                <a:latin typeface="Arial"/>
                <a:cs typeface="Arial"/>
              </a:rPr>
              <a:t>solvers </a:t>
            </a:r>
            <a:r>
              <a:rPr sz="1950" spc="120" dirty="0">
                <a:solidFill>
                  <a:srgbClr val="FF0000"/>
                </a:solidFill>
                <a:latin typeface="Arial"/>
                <a:cs typeface="Arial"/>
              </a:rPr>
              <a:t>can </a:t>
            </a:r>
            <a:r>
              <a:rPr sz="1950" spc="110" dirty="0">
                <a:solidFill>
                  <a:srgbClr val="FF0000"/>
                </a:solidFill>
                <a:latin typeface="Arial"/>
                <a:cs typeface="Arial"/>
              </a:rPr>
              <a:t>handle </a:t>
            </a:r>
            <a:r>
              <a:rPr sz="1950" spc="220" dirty="0">
                <a:solidFill>
                  <a:srgbClr val="FF0000"/>
                </a:solidFill>
                <a:latin typeface="Arial"/>
                <a:cs typeface="Arial"/>
              </a:rPr>
              <a:t>both</a:t>
            </a:r>
            <a:r>
              <a:rPr sz="1950" spc="715" dirty="0">
                <a:solidFill>
                  <a:srgbClr val="FF0000"/>
                </a:solidFill>
                <a:latin typeface="Arial"/>
                <a:cs typeface="Arial"/>
              </a:rPr>
              <a:t> </a:t>
            </a:r>
            <a:r>
              <a:rPr sz="1950" spc="110" dirty="0">
                <a:solidFill>
                  <a:srgbClr val="FF0000"/>
                </a:solidFill>
                <a:latin typeface="Arial"/>
                <a:cs typeface="Arial"/>
              </a:rPr>
              <a:t>dimensions</a:t>
            </a:r>
            <a:endParaRPr sz="1950">
              <a:latin typeface="Arial"/>
              <a:cs typeface="Arial"/>
            </a:endParaRPr>
          </a:p>
          <a:p>
            <a:pPr marL="741680" marR="1080135" lvl="1" indent="-288290">
              <a:lnSpc>
                <a:spcPct val="125000"/>
              </a:lnSpc>
              <a:spcBef>
                <a:spcPts val="414"/>
              </a:spcBef>
              <a:buSzPct val="105128"/>
              <a:buFont typeface="Lucida Sans Unicode"/>
              <a:buChar char="◦"/>
              <a:tabLst>
                <a:tab pos="742315" algn="l"/>
              </a:tabLst>
            </a:pPr>
            <a:r>
              <a:rPr sz="1950" spc="265" dirty="0">
                <a:solidFill>
                  <a:srgbClr val="231F20"/>
                </a:solidFill>
                <a:latin typeface="Arial"/>
                <a:cs typeface="Arial"/>
              </a:rPr>
              <a:t>With </a:t>
            </a:r>
            <a:r>
              <a:rPr sz="1950" spc="114" dirty="0">
                <a:solidFill>
                  <a:srgbClr val="231F20"/>
                </a:solidFill>
                <a:latin typeface="Arial"/>
                <a:cs typeface="Arial"/>
              </a:rPr>
              <a:t>discrete </a:t>
            </a:r>
            <a:r>
              <a:rPr sz="1950" spc="185" dirty="0">
                <a:solidFill>
                  <a:srgbClr val="231F20"/>
                </a:solidFill>
                <a:latin typeface="Arial"/>
                <a:cs typeface="Arial"/>
              </a:rPr>
              <a:t>time, </a:t>
            </a:r>
            <a:r>
              <a:rPr sz="1950" spc="120" dirty="0">
                <a:solidFill>
                  <a:srgbClr val="231F20"/>
                </a:solidFill>
                <a:latin typeface="Arial"/>
                <a:cs typeface="Arial"/>
              </a:rPr>
              <a:t>can </a:t>
            </a:r>
            <a:r>
              <a:rPr sz="1950" spc="95" dirty="0">
                <a:solidFill>
                  <a:srgbClr val="231F20"/>
                </a:solidFill>
                <a:latin typeface="Arial"/>
                <a:cs typeface="Arial"/>
              </a:rPr>
              <a:t>have </a:t>
            </a:r>
            <a:r>
              <a:rPr sz="1950" spc="85" dirty="0">
                <a:solidFill>
                  <a:srgbClr val="231F20"/>
                </a:solidFill>
                <a:latin typeface="Arial"/>
                <a:cs typeface="Arial"/>
              </a:rPr>
              <a:t>a </a:t>
            </a:r>
            <a:r>
              <a:rPr sz="1950" spc="155" dirty="0">
                <a:solidFill>
                  <a:srgbClr val="231F20"/>
                </a:solidFill>
                <a:latin typeface="Arial"/>
                <a:cs typeface="Arial"/>
              </a:rPr>
              <a:t>clock </a:t>
            </a:r>
            <a:r>
              <a:rPr sz="1950" spc="160" dirty="0">
                <a:solidFill>
                  <a:srgbClr val="231F20"/>
                </a:solidFill>
                <a:latin typeface="Arial"/>
                <a:cs typeface="Arial"/>
              </a:rPr>
              <a:t>module </a:t>
            </a:r>
            <a:r>
              <a:rPr sz="1950" spc="235" dirty="0">
                <a:solidFill>
                  <a:srgbClr val="231F20"/>
                </a:solidFill>
                <a:latin typeface="Arial"/>
                <a:cs typeface="Arial"/>
              </a:rPr>
              <a:t>that  </a:t>
            </a:r>
            <a:r>
              <a:rPr sz="1950" spc="85" dirty="0">
                <a:solidFill>
                  <a:srgbClr val="231F20"/>
                </a:solidFill>
                <a:latin typeface="Arial"/>
                <a:cs typeface="Arial"/>
              </a:rPr>
              <a:t>advances </a:t>
            </a:r>
            <a:r>
              <a:rPr sz="1950" spc="195" dirty="0">
                <a:solidFill>
                  <a:srgbClr val="231F20"/>
                </a:solidFill>
                <a:latin typeface="Arial"/>
                <a:cs typeface="Arial"/>
              </a:rPr>
              <a:t>time </a:t>
            </a:r>
            <a:r>
              <a:rPr sz="1950" spc="105" dirty="0">
                <a:solidFill>
                  <a:srgbClr val="231F20"/>
                </a:solidFill>
                <a:latin typeface="Arial"/>
                <a:cs typeface="Arial"/>
              </a:rPr>
              <a:t>one </a:t>
            </a:r>
            <a:r>
              <a:rPr sz="1950" spc="195" dirty="0">
                <a:solidFill>
                  <a:srgbClr val="231F20"/>
                </a:solidFill>
                <a:latin typeface="Arial"/>
                <a:cs typeface="Arial"/>
              </a:rPr>
              <a:t>tick </a:t>
            </a:r>
            <a:r>
              <a:rPr sz="1950" spc="215" dirty="0">
                <a:solidFill>
                  <a:srgbClr val="231F20"/>
                </a:solidFill>
                <a:latin typeface="Arial"/>
                <a:cs typeface="Arial"/>
              </a:rPr>
              <a:t>at </a:t>
            </a:r>
            <a:r>
              <a:rPr sz="1950" spc="85" dirty="0">
                <a:solidFill>
                  <a:srgbClr val="231F20"/>
                </a:solidFill>
                <a:latin typeface="Arial"/>
                <a:cs typeface="Arial"/>
              </a:rPr>
              <a:t>a </a:t>
            </a:r>
            <a:r>
              <a:rPr sz="1950" spc="245" dirty="0">
                <a:solidFill>
                  <a:srgbClr val="231F20"/>
                </a:solidFill>
                <a:latin typeface="Arial"/>
                <a:cs typeface="Arial"/>
              </a:rPr>
              <a:t> </a:t>
            </a:r>
            <a:r>
              <a:rPr sz="1950" spc="195" dirty="0">
                <a:solidFill>
                  <a:srgbClr val="231F20"/>
                </a:solidFill>
                <a:latin typeface="Arial"/>
                <a:cs typeface="Arial"/>
              </a:rPr>
              <a:t>time</a:t>
            </a:r>
            <a:endParaRPr sz="1950">
              <a:latin typeface="Arial"/>
              <a:cs typeface="Arial"/>
            </a:endParaRPr>
          </a:p>
          <a:p>
            <a:pPr marL="1056640" marR="593090" indent="-288925">
              <a:lnSpc>
                <a:spcPct val="123000"/>
              </a:lnSpc>
              <a:spcBef>
                <a:spcPts val="125"/>
              </a:spcBef>
              <a:tabLst>
                <a:tab pos="1056640" algn="l"/>
              </a:tabLst>
            </a:pPr>
            <a:r>
              <a:rPr sz="2050" i="1" spc="-620" dirty="0">
                <a:solidFill>
                  <a:srgbClr val="231F20"/>
                </a:solidFill>
                <a:latin typeface="Meiryo"/>
                <a:cs typeface="Meiryo"/>
              </a:rPr>
              <a:t>⋆	</a:t>
            </a:r>
            <a:r>
              <a:rPr sz="1950" spc="150" dirty="0">
                <a:solidFill>
                  <a:srgbClr val="231F20"/>
                </a:solidFill>
                <a:latin typeface="Arial"/>
                <a:cs typeface="Arial"/>
              </a:rPr>
              <a:t>Each </a:t>
            </a:r>
            <a:r>
              <a:rPr sz="1950" spc="160" dirty="0">
                <a:solidFill>
                  <a:srgbClr val="231F20"/>
                </a:solidFill>
                <a:latin typeface="Arial"/>
                <a:cs typeface="Arial"/>
              </a:rPr>
              <a:t>module </a:t>
            </a:r>
            <a:r>
              <a:rPr sz="1950" spc="75" dirty="0">
                <a:solidFill>
                  <a:srgbClr val="231F20"/>
                </a:solidFill>
                <a:latin typeface="Arial"/>
                <a:cs typeface="Arial"/>
              </a:rPr>
              <a:t>sets </a:t>
            </a:r>
            <a:r>
              <a:rPr sz="1950" spc="85" dirty="0">
                <a:solidFill>
                  <a:srgbClr val="231F20"/>
                </a:solidFill>
                <a:latin typeface="Arial"/>
                <a:cs typeface="Arial"/>
              </a:rPr>
              <a:t>a </a:t>
            </a:r>
            <a:r>
              <a:rPr sz="1950" spc="195" dirty="0">
                <a:solidFill>
                  <a:srgbClr val="231F20"/>
                </a:solidFill>
                <a:latin typeface="Arial"/>
                <a:cs typeface="Arial"/>
              </a:rPr>
              <a:t>timeout, </a:t>
            </a:r>
            <a:r>
              <a:rPr sz="1950" spc="140" dirty="0">
                <a:solidFill>
                  <a:srgbClr val="231F20"/>
                </a:solidFill>
                <a:latin typeface="Arial"/>
                <a:cs typeface="Arial"/>
              </a:rPr>
              <a:t>waits </a:t>
            </a:r>
            <a:r>
              <a:rPr sz="1950" spc="155" dirty="0">
                <a:solidFill>
                  <a:srgbClr val="231F20"/>
                </a:solidFill>
                <a:latin typeface="Arial"/>
                <a:cs typeface="Arial"/>
              </a:rPr>
              <a:t>for </a:t>
            </a:r>
            <a:r>
              <a:rPr sz="1950" spc="175" dirty="0">
                <a:solidFill>
                  <a:srgbClr val="231F20"/>
                </a:solidFill>
                <a:latin typeface="Arial"/>
                <a:cs typeface="Arial"/>
              </a:rPr>
              <a:t>the </a:t>
            </a:r>
            <a:r>
              <a:rPr sz="1950" spc="560" dirty="0">
                <a:solidFill>
                  <a:srgbClr val="231F20"/>
                </a:solidFill>
                <a:latin typeface="Arial"/>
                <a:cs typeface="Arial"/>
              </a:rPr>
              <a:t> </a:t>
            </a:r>
            <a:r>
              <a:rPr sz="1950" spc="155" dirty="0">
                <a:solidFill>
                  <a:srgbClr val="231F20"/>
                </a:solidFill>
                <a:latin typeface="Arial"/>
                <a:cs typeface="Arial"/>
              </a:rPr>
              <a:t>clock</a:t>
            </a:r>
            <a:r>
              <a:rPr sz="1950" spc="275" dirty="0">
                <a:solidFill>
                  <a:srgbClr val="231F20"/>
                </a:solidFill>
                <a:latin typeface="Arial"/>
                <a:cs typeface="Arial"/>
              </a:rPr>
              <a:t> </a:t>
            </a:r>
            <a:r>
              <a:rPr sz="1950" spc="250" dirty="0">
                <a:solidFill>
                  <a:srgbClr val="231F20"/>
                </a:solidFill>
                <a:latin typeface="Arial"/>
                <a:cs typeface="Arial"/>
              </a:rPr>
              <a:t>to </a:t>
            </a:r>
            <a:r>
              <a:rPr sz="1950" spc="75" dirty="0">
                <a:solidFill>
                  <a:srgbClr val="231F20"/>
                </a:solidFill>
                <a:latin typeface="Arial"/>
                <a:cs typeface="Arial"/>
              </a:rPr>
              <a:t> </a:t>
            </a:r>
            <a:r>
              <a:rPr sz="1950" spc="110" dirty="0">
                <a:solidFill>
                  <a:srgbClr val="231F20"/>
                </a:solidFill>
                <a:latin typeface="Arial"/>
                <a:cs typeface="Arial"/>
              </a:rPr>
              <a:t>reach </a:t>
            </a:r>
            <a:r>
              <a:rPr sz="1950" spc="235" dirty="0">
                <a:solidFill>
                  <a:srgbClr val="231F20"/>
                </a:solidFill>
                <a:latin typeface="Arial"/>
                <a:cs typeface="Arial"/>
              </a:rPr>
              <a:t>that </a:t>
            </a:r>
            <a:r>
              <a:rPr sz="1950" spc="105" dirty="0">
                <a:solidFill>
                  <a:srgbClr val="231F20"/>
                </a:solidFill>
                <a:latin typeface="Arial"/>
                <a:cs typeface="Arial"/>
              </a:rPr>
              <a:t>value, </a:t>
            </a:r>
            <a:r>
              <a:rPr sz="1950" spc="165" dirty="0">
                <a:solidFill>
                  <a:srgbClr val="231F20"/>
                </a:solidFill>
                <a:latin typeface="Arial"/>
                <a:cs typeface="Arial"/>
              </a:rPr>
              <a:t>then </a:t>
            </a:r>
            <a:r>
              <a:rPr sz="1950" spc="90" dirty="0">
                <a:solidFill>
                  <a:srgbClr val="231F20"/>
                </a:solidFill>
                <a:latin typeface="Arial"/>
                <a:cs typeface="Arial"/>
              </a:rPr>
              <a:t>does </a:t>
            </a:r>
            <a:r>
              <a:rPr sz="1950" spc="145" dirty="0">
                <a:solidFill>
                  <a:srgbClr val="231F20"/>
                </a:solidFill>
                <a:latin typeface="Arial"/>
                <a:cs typeface="Arial"/>
              </a:rPr>
              <a:t>its </a:t>
            </a:r>
            <a:r>
              <a:rPr sz="1950" spc="175" dirty="0">
                <a:solidFill>
                  <a:srgbClr val="231F20"/>
                </a:solidFill>
                <a:latin typeface="Arial"/>
                <a:cs typeface="Arial"/>
              </a:rPr>
              <a:t>thing, </a:t>
            </a:r>
            <a:r>
              <a:rPr sz="1950" spc="130" dirty="0">
                <a:solidFill>
                  <a:srgbClr val="231F20"/>
                </a:solidFill>
                <a:latin typeface="Arial"/>
                <a:cs typeface="Arial"/>
              </a:rPr>
              <a:t>and </a:t>
            </a:r>
            <a:r>
              <a:rPr sz="1950" spc="560" dirty="0">
                <a:solidFill>
                  <a:srgbClr val="231F20"/>
                </a:solidFill>
                <a:latin typeface="Arial"/>
                <a:cs typeface="Arial"/>
              </a:rPr>
              <a:t> </a:t>
            </a:r>
            <a:r>
              <a:rPr sz="1950" spc="114" dirty="0">
                <a:solidFill>
                  <a:srgbClr val="231F20"/>
                </a:solidFill>
                <a:latin typeface="Arial"/>
                <a:cs typeface="Arial"/>
              </a:rPr>
              <a:t>repeats</a:t>
            </a:r>
            <a:endParaRPr sz="1950">
              <a:latin typeface="Arial"/>
              <a:cs typeface="Arial"/>
            </a:endParaRPr>
          </a:p>
          <a:p>
            <a:pPr marL="741680" marR="174625" lvl="1" indent="-288290">
              <a:lnSpc>
                <a:spcPct val="125000"/>
              </a:lnSpc>
              <a:spcBef>
                <a:spcPts val="204"/>
              </a:spcBef>
              <a:buClr>
                <a:srgbClr val="231F20"/>
              </a:buClr>
              <a:buSzPct val="105128"/>
              <a:buFont typeface="Lucida Sans Unicode"/>
              <a:buChar char="◦"/>
              <a:tabLst>
                <a:tab pos="742315" algn="l"/>
                <a:tab pos="1788160" algn="l"/>
              </a:tabLst>
            </a:pPr>
            <a:r>
              <a:rPr sz="1950" spc="195" dirty="0">
                <a:solidFill>
                  <a:srgbClr val="FF0000"/>
                </a:solidFill>
                <a:latin typeface="Arial"/>
                <a:cs typeface="Arial"/>
              </a:rPr>
              <a:t>Better</a:t>
            </a:r>
            <a:r>
              <a:rPr sz="1950" spc="195" dirty="0">
                <a:solidFill>
                  <a:srgbClr val="231F20"/>
                </a:solidFill>
                <a:latin typeface="Arial"/>
                <a:cs typeface="Arial"/>
              </a:rPr>
              <a:t>:	</a:t>
            </a:r>
            <a:r>
              <a:rPr sz="1950" spc="150" dirty="0">
                <a:solidFill>
                  <a:srgbClr val="0000FF"/>
                </a:solidFill>
                <a:latin typeface="Arial"/>
                <a:cs typeface="Arial"/>
              </a:rPr>
              <a:t>move </a:t>
            </a:r>
            <a:r>
              <a:rPr sz="1950" spc="175" dirty="0">
                <a:solidFill>
                  <a:srgbClr val="0000FF"/>
                </a:solidFill>
                <a:latin typeface="Arial"/>
                <a:cs typeface="Arial"/>
              </a:rPr>
              <a:t>the </a:t>
            </a:r>
            <a:r>
              <a:rPr sz="1950" spc="204" dirty="0">
                <a:solidFill>
                  <a:srgbClr val="0000FF"/>
                </a:solidFill>
                <a:latin typeface="Arial"/>
                <a:cs typeface="Arial"/>
              </a:rPr>
              <a:t>timeout </a:t>
            </a:r>
            <a:r>
              <a:rPr sz="1950" spc="250" dirty="0">
                <a:solidFill>
                  <a:srgbClr val="0000FF"/>
                </a:solidFill>
                <a:latin typeface="Arial"/>
                <a:cs typeface="Arial"/>
              </a:rPr>
              <a:t>to </a:t>
            </a:r>
            <a:r>
              <a:rPr sz="1950" spc="175" dirty="0">
                <a:solidFill>
                  <a:srgbClr val="0000FF"/>
                </a:solidFill>
                <a:latin typeface="Arial"/>
                <a:cs typeface="Arial"/>
              </a:rPr>
              <a:t>the </a:t>
            </a:r>
            <a:r>
              <a:rPr sz="1950" spc="155" dirty="0">
                <a:solidFill>
                  <a:srgbClr val="0000FF"/>
                </a:solidFill>
                <a:latin typeface="Arial"/>
                <a:cs typeface="Arial"/>
              </a:rPr>
              <a:t>clock </a:t>
            </a:r>
            <a:r>
              <a:rPr sz="1950" spc="160" dirty="0">
                <a:solidFill>
                  <a:srgbClr val="0000FF"/>
                </a:solidFill>
                <a:latin typeface="Arial"/>
                <a:cs typeface="Arial"/>
              </a:rPr>
              <a:t>module </a:t>
            </a:r>
            <a:r>
              <a:rPr sz="1950" spc="130" dirty="0">
                <a:solidFill>
                  <a:srgbClr val="0000FF"/>
                </a:solidFill>
                <a:latin typeface="Arial"/>
                <a:cs typeface="Arial"/>
              </a:rPr>
              <a:t>and </a:t>
            </a:r>
            <a:r>
              <a:rPr sz="1950" spc="270" dirty="0">
                <a:solidFill>
                  <a:srgbClr val="0000FF"/>
                </a:solidFill>
                <a:latin typeface="Arial"/>
                <a:cs typeface="Arial"/>
              </a:rPr>
              <a:t> </a:t>
            </a:r>
            <a:r>
              <a:rPr sz="1950" spc="155" dirty="0">
                <a:solidFill>
                  <a:srgbClr val="0000FF"/>
                </a:solidFill>
                <a:latin typeface="Arial"/>
                <a:cs typeface="Arial"/>
              </a:rPr>
              <a:t>let</a:t>
            </a:r>
            <a:r>
              <a:rPr sz="1950" spc="275" dirty="0">
                <a:solidFill>
                  <a:srgbClr val="0000FF"/>
                </a:solidFill>
                <a:latin typeface="Arial"/>
                <a:cs typeface="Arial"/>
              </a:rPr>
              <a:t> </a:t>
            </a:r>
            <a:r>
              <a:rPr sz="1950" spc="229" dirty="0">
                <a:solidFill>
                  <a:srgbClr val="0000FF"/>
                </a:solidFill>
                <a:latin typeface="Arial"/>
                <a:cs typeface="Arial"/>
              </a:rPr>
              <a:t>it </a:t>
            </a:r>
            <a:r>
              <a:rPr sz="1950" spc="350" dirty="0">
                <a:solidFill>
                  <a:srgbClr val="0000FF"/>
                </a:solidFill>
                <a:latin typeface="Arial"/>
                <a:cs typeface="Arial"/>
              </a:rPr>
              <a:t> </a:t>
            </a:r>
            <a:r>
              <a:rPr sz="1950" spc="105" dirty="0">
                <a:solidFill>
                  <a:srgbClr val="0000FF"/>
                </a:solidFill>
                <a:latin typeface="Arial"/>
                <a:cs typeface="Arial"/>
              </a:rPr>
              <a:t>advance </a:t>
            </a:r>
            <a:r>
              <a:rPr sz="1950" spc="195" dirty="0">
                <a:solidFill>
                  <a:srgbClr val="0000FF"/>
                </a:solidFill>
                <a:latin typeface="Arial"/>
                <a:cs typeface="Arial"/>
              </a:rPr>
              <a:t>time </a:t>
            </a:r>
            <a:r>
              <a:rPr sz="1950" spc="105" dirty="0">
                <a:solidFill>
                  <a:srgbClr val="0000FF"/>
                </a:solidFill>
                <a:latin typeface="Arial"/>
                <a:cs typeface="Arial"/>
              </a:rPr>
              <a:t>all </a:t>
            </a:r>
            <a:r>
              <a:rPr sz="1950" spc="175" dirty="0">
                <a:solidFill>
                  <a:srgbClr val="0000FF"/>
                </a:solidFill>
                <a:latin typeface="Arial"/>
                <a:cs typeface="Arial"/>
              </a:rPr>
              <a:t>the </a:t>
            </a:r>
            <a:r>
              <a:rPr sz="1950" spc="105" dirty="0">
                <a:solidFill>
                  <a:srgbClr val="0000FF"/>
                </a:solidFill>
                <a:latin typeface="Arial"/>
                <a:cs typeface="Arial"/>
              </a:rPr>
              <a:t>way </a:t>
            </a:r>
            <a:r>
              <a:rPr sz="1950" spc="250" dirty="0">
                <a:solidFill>
                  <a:srgbClr val="0000FF"/>
                </a:solidFill>
                <a:latin typeface="Arial"/>
                <a:cs typeface="Arial"/>
              </a:rPr>
              <a:t>to </a:t>
            </a:r>
            <a:r>
              <a:rPr sz="1950" spc="175" dirty="0">
                <a:solidFill>
                  <a:srgbClr val="0000FF"/>
                </a:solidFill>
                <a:latin typeface="Arial"/>
                <a:cs typeface="Arial"/>
              </a:rPr>
              <a:t>the </a:t>
            </a:r>
            <a:r>
              <a:rPr sz="1950" spc="160" dirty="0">
                <a:solidFill>
                  <a:srgbClr val="0000FF"/>
                </a:solidFill>
                <a:latin typeface="Arial"/>
                <a:cs typeface="Arial"/>
              </a:rPr>
              <a:t>next </a:t>
            </a:r>
            <a:r>
              <a:rPr sz="1950" spc="390" dirty="0">
                <a:solidFill>
                  <a:srgbClr val="0000FF"/>
                </a:solidFill>
                <a:latin typeface="Arial"/>
                <a:cs typeface="Arial"/>
              </a:rPr>
              <a:t> </a:t>
            </a:r>
            <a:r>
              <a:rPr sz="1950" spc="204" dirty="0">
                <a:solidFill>
                  <a:srgbClr val="0000FF"/>
                </a:solidFill>
                <a:latin typeface="Arial"/>
                <a:cs typeface="Arial"/>
              </a:rPr>
              <a:t>timeout</a:t>
            </a:r>
            <a:endParaRPr sz="1950">
              <a:latin typeface="Arial"/>
              <a:cs typeface="Arial"/>
            </a:endParaRPr>
          </a:p>
          <a:p>
            <a:pPr marL="1056640" marR="388620" indent="-288925">
              <a:lnSpc>
                <a:spcPct val="123000"/>
              </a:lnSpc>
              <a:spcBef>
                <a:spcPts val="125"/>
              </a:spcBef>
              <a:tabLst>
                <a:tab pos="1056640" algn="l"/>
              </a:tabLst>
            </a:pPr>
            <a:r>
              <a:rPr sz="2050" i="1" spc="-620" dirty="0">
                <a:solidFill>
                  <a:srgbClr val="231F20"/>
                </a:solidFill>
                <a:latin typeface="Meiryo"/>
                <a:cs typeface="Meiryo"/>
              </a:rPr>
              <a:t>⋆	</a:t>
            </a:r>
            <a:r>
              <a:rPr sz="1950" spc="145" dirty="0">
                <a:solidFill>
                  <a:srgbClr val="231F20"/>
                </a:solidFill>
                <a:latin typeface="Arial"/>
                <a:cs typeface="Arial"/>
              </a:rPr>
              <a:t>These </a:t>
            </a:r>
            <a:r>
              <a:rPr sz="1950" spc="65" dirty="0">
                <a:solidFill>
                  <a:srgbClr val="231F20"/>
                </a:solidFill>
                <a:latin typeface="Arial"/>
                <a:cs typeface="Arial"/>
              </a:rPr>
              <a:t>are </a:t>
            </a:r>
            <a:r>
              <a:rPr sz="1950" spc="235" dirty="0">
                <a:solidFill>
                  <a:srgbClr val="0000FF"/>
                </a:solidFill>
                <a:latin typeface="Arial"/>
                <a:cs typeface="Arial"/>
              </a:rPr>
              <a:t>Timeout </a:t>
            </a:r>
            <a:r>
              <a:rPr sz="1950" spc="220" dirty="0">
                <a:solidFill>
                  <a:srgbClr val="0000FF"/>
                </a:solidFill>
                <a:latin typeface="Arial"/>
                <a:cs typeface="Arial"/>
              </a:rPr>
              <a:t>Automata </a:t>
            </a:r>
            <a:r>
              <a:rPr sz="1950" spc="210" dirty="0">
                <a:solidFill>
                  <a:srgbClr val="231F20"/>
                </a:solidFill>
                <a:latin typeface="Arial"/>
                <a:cs typeface="Arial"/>
              </a:rPr>
              <a:t>(</a:t>
            </a:r>
            <a:r>
              <a:rPr sz="1950" spc="210" dirty="0">
                <a:solidFill>
                  <a:srgbClr val="FF0000"/>
                </a:solidFill>
                <a:latin typeface="Arial"/>
                <a:cs typeface="Arial"/>
              </a:rPr>
              <a:t>Dutertre</a:t>
            </a:r>
            <a:r>
              <a:rPr sz="1950" spc="750" dirty="0">
                <a:solidFill>
                  <a:srgbClr val="FF0000"/>
                </a:solidFill>
                <a:latin typeface="Arial"/>
                <a:cs typeface="Arial"/>
              </a:rPr>
              <a:t> </a:t>
            </a:r>
            <a:r>
              <a:rPr sz="1950" spc="130" dirty="0">
                <a:solidFill>
                  <a:srgbClr val="FF0000"/>
                </a:solidFill>
                <a:latin typeface="Arial"/>
                <a:cs typeface="Arial"/>
              </a:rPr>
              <a:t>and</a:t>
            </a:r>
            <a:r>
              <a:rPr sz="1950" spc="280" dirty="0">
                <a:solidFill>
                  <a:srgbClr val="FF0000"/>
                </a:solidFill>
                <a:latin typeface="Arial"/>
                <a:cs typeface="Arial"/>
              </a:rPr>
              <a:t> </a:t>
            </a:r>
            <a:r>
              <a:rPr sz="1950" spc="125" dirty="0">
                <a:solidFill>
                  <a:srgbClr val="FF0000"/>
                </a:solidFill>
                <a:latin typeface="Arial"/>
                <a:cs typeface="Arial"/>
              </a:rPr>
              <a:t>Sorea</a:t>
            </a:r>
            <a:r>
              <a:rPr sz="1950" spc="125" dirty="0">
                <a:solidFill>
                  <a:srgbClr val="231F20"/>
                </a:solidFill>
                <a:latin typeface="Arial"/>
                <a:cs typeface="Arial"/>
              </a:rPr>
              <a:t>): </a:t>
            </a:r>
            <a:r>
              <a:rPr sz="1950" spc="145" dirty="0">
                <a:solidFill>
                  <a:srgbClr val="231F20"/>
                </a:solidFill>
                <a:latin typeface="Arial"/>
                <a:cs typeface="Arial"/>
              </a:rPr>
              <a:t> </a:t>
            </a:r>
            <a:r>
              <a:rPr sz="1950" spc="130" dirty="0">
                <a:solidFill>
                  <a:srgbClr val="231F20"/>
                </a:solidFill>
                <a:latin typeface="Arial"/>
                <a:cs typeface="Arial"/>
              </a:rPr>
              <a:t>and </a:t>
            </a:r>
            <a:r>
              <a:rPr sz="1950" spc="160" dirty="0">
                <a:solidFill>
                  <a:srgbClr val="FF0000"/>
                </a:solidFill>
                <a:latin typeface="Arial"/>
                <a:cs typeface="Arial"/>
              </a:rPr>
              <a:t>they </a:t>
            </a:r>
            <a:r>
              <a:rPr sz="1950" spc="155" dirty="0">
                <a:solidFill>
                  <a:srgbClr val="FF0000"/>
                </a:solidFill>
                <a:latin typeface="Arial"/>
                <a:cs typeface="Arial"/>
              </a:rPr>
              <a:t>work for </a:t>
            </a:r>
            <a:r>
              <a:rPr sz="1950" spc="145" dirty="0">
                <a:solidFill>
                  <a:srgbClr val="FF0000"/>
                </a:solidFill>
                <a:latin typeface="Arial"/>
                <a:cs typeface="Arial"/>
              </a:rPr>
              <a:t>continuous</a:t>
            </a:r>
            <a:r>
              <a:rPr sz="1950" spc="800" dirty="0">
                <a:solidFill>
                  <a:srgbClr val="FF0000"/>
                </a:solidFill>
                <a:latin typeface="Arial"/>
                <a:cs typeface="Arial"/>
              </a:rPr>
              <a:t> </a:t>
            </a:r>
            <a:r>
              <a:rPr sz="1950" spc="195" dirty="0">
                <a:solidFill>
                  <a:srgbClr val="FF0000"/>
                </a:solidFill>
                <a:latin typeface="Arial"/>
                <a:cs typeface="Arial"/>
              </a:rPr>
              <a:t>time</a:t>
            </a:r>
            <a:endParaRPr sz="1950">
              <a:latin typeface="Arial"/>
              <a:cs typeface="Arial"/>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901700" y="475981"/>
            <a:ext cx="7839075" cy="817244"/>
          </a:xfrm>
          <a:prstGeom prst="rect">
            <a:avLst/>
          </a:prstGeom>
        </p:spPr>
        <p:txBody>
          <a:bodyPr vert="horz" wrap="square" lIns="0" tIns="0" rIns="0" bIns="0" rtlCol="0">
            <a:spAutoFit/>
          </a:bodyPr>
          <a:lstStyle/>
          <a:p>
            <a:pPr marL="1771014">
              <a:lnSpc>
                <a:spcPct val="100000"/>
              </a:lnSpc>
              <a:tabLst>
                <a:tab pos="3223895" algn="l"/>
              </a:tabLst>
            </a:pPr>
            <a:r>
              <a:rPr sz="1950" spc="260" dirty="0">
                <a:solidFill>
                  <a:srgbClr val="231F20"/>
                </a:solidFill>
                <a:latin typeface="Arial"/>
                <a:cs typeface="Arial"/>
              </a:rPr>
              <a:t>Example:	</a:t>
            </a:r>
            <a:r>
              <a:rPr sz="1950" spc="225" dirty="0">
                <a:solidFill>
                  <a:srgbClr val="231F20"/>
                </a:solidFill>
                <a:latin typeface="Arial"/>
                <a:cs typeface="Arial"/>
              </a:rPr>
              <a:t>Biphase </a:t>
            </a:r>
            <a:r>
              <a:rPr sz="1950" spc="315" dirty="0">
                <a:solidFill>
                  <a:srgbClr val="231F20"/>
                </a:solidFill>
                <a:latin typeface="Arial"/>
                <a:cs typeface="Arial"/>
              </a:rPr>
              <a:t>Mark</a:t>
            </a:r>
            <a:r>
              <a:rPr sz="1950" spc="459" dirty="0">
                <a:solidFill>
                  <a:srgbClr val="231F20"/>
                </a:solidFill>
                <a:latin typeface="Arial"/>
                <a:cs typeface="Arial"/>
              </a:rPr>
              <a:t> </a:t>
            </a:r>
            <a:r>
              <a:rPr sz="1950" spc="300" dirty="0">
                <a:solidFill>
                  <a:srgbClr val="231F20"/>
                </a:solidFill>
                <a:latin typeface="Arial"/>
                <a:cs typeface="Arial"/>
              </a:rPr>
              <a:t>Protocol</a:t>
            </a:r>
            <a:endParaRPr sz="1950">
              <a:latin typeface="Arial"/>
              <a:cs typeface="Arial"/>
            </a:endParaRPr>
          </a:p>
          <a:p>
            <a:pPr marL="12700">
              <a:lnSpc>
                <a:spcPct val="100000"/>
              </a:lnSpc>
              <a:spcBef>
                <a:spcPts val="1614"/>
              </a:spcBef>
            </a:pPr>
            <a:r>
              <a:rPr sz="1950" spc="114" dirty="0">
                <a:solidFill>
                  <a:srgbClr val="0000FF"/>
                </a:solidFill>
                <a:latin typeface="Arial"/>
                <a:cs typeface="Arial"/>
              </a:rPr>
              <a:t>Biphase </a:t>
            </a:r>
            <a:r>
              <a:rPr sz="1950" spc="195" dirty="0">
                <a:solidFill>
                  <a:srgbClr val="0000FF"/>
                </a:solidFill>
                <a:latin typeface="Arial"/>
                <a:cs typeface="Arial"/>
              </a:rPr>
              <a:t>Mark </a:t>
            </a:r>
            <a:r>
              <a:rPr sz="1950" spc="40" dirty="0">
                <a:solidFill>
                  <a:srgbClr val="231F20"/>
                </a:solidFill>
                <a:latin typeface="Arial"/>
                <a:cs typeface="Arial"/>
              </a:rPr>
              <a:t>is </a:t>
            </a:r>
            <a:r>
              <a:rPr sz="1950" spc="85" dirty="0">
                <a:solidFill>
                  <a:srgbClr val="231F20"/>
                </a:solidFill>
                <a:latin typeface="Arial"/>
                <a:cs typeface="Arial"/>
              </a:rPr>
              <a:t>a </a:t>
            </a:r>
            <a:r>
              <a:rPr sz="1950" spc="170" dirty="0">
                <a:solidFill>
                  <a:srgbClr val="231F20"/>
                </a:solidFill>
                <a:latin typeface="Arial"/>
                <a:cs typeface="Arial"/>
              </a:rPr>
              <a:t>protocol </a:t>
            </a:r>
            <a:r>
              <a:rPr sz="1950" spc="155" dirty="0">
                <a:solidFill>
                  <a:srgbClr val="231F20"/>
                </a:solidFill>
                <a:latin typeface="Arial"/>
                <a:cs typeface="Arial"/>
              </a:rPr>
              <a:t>for </a:t>
            </a:r>
            <a:r>
              <a:rPr sz="1950" spc="114" dirty="0">
                <a:solidFill>
                  <a:srgbClr val="231F20"/>
                </a:solidFill>
                <a:latin typeface="Arial"/>
                <a:cs typeface="Arial"/>
              </a:rPr>
              <a:t>asynchronous </a:t>
            </a:r>
            <a:r>
              <a:rPr sz="1950" spc="555" dirty="0">
                <a:solidFill>
                  <a:srgbClr val="231F20"/>
                </a:solidFill>
                <a:latin typeface="Arial"/>
                <a:cs typeface="Arial"/>
              </a:rPr>
              <a:t> </a:t>
            </a:r>
            <a:r>
              <a:rPr sz="1950" spc="175" dirty="0">
                <a:solidFill>
                  <a:srgbClr val="231F20"/>
                </a:solidFill>
                <a:latin typeface="Arial"/>
                <a:cs typeface="Arial"/>
              </a:rPr>
              <a:t>communication</a:t>
            </a:r>
            <a:endParaRPr sz="1950">
              <a:latin typeface="Arial"/>
              <a:cs typeface="Arial"/>
            </a:endParaRPr>
          </a:p>
        </p:txBody>
      </p:sp>
      <p:sp>
        <p:nvSpPr>
          <p:cNvPr id="3" name="object 3"/>
          <p:cNvSpPr txBox="1"/>
          <p:nvPr/>
        </p:nvSpPr>
        <p:spPr>
          <a:xfrm>
            <a:off x="6882841" y="1701990"/>
            <a:ext cx="702945" cy="263525"/>
          </a:xfrm>
          <a:prstGeom prst="rect">
            <a:avLst/>
          </a:prstGeom>
        </p:spPr>
        <p:txBody>
          <a:bodyPr vert="horz" wrap="square" lIns="0" tIns="0" rIns="0" bIns="0" rtlCol="0">
            <a:spAutoFit/>
          </a:bodyPr>
          <a:lstStyle/>
          <a:p>
            <a:pPr marL="12700">
              <a:lnSpc>
                <a:spcPct val="100000"/>
              </a:lnSpc>
            </a:pPr>
            <a:r>
              <a:rPr sz="1650" dirty="0">
                <a:latin typeface="Times New Roman"/>
                <a:cs typeface="Times New Roman"/>
              </a:rPr>
              <a:t>receiver</a:t>
            </a:r>
            <a:endParaRPr sz="1650">
              <a:latin typeface="Times New Roman"/>
              <a:cs typeface="Times New Roman"/>
            </a:endParaRPr>
          </a:p>
        </p:txBody>
      </p:sp>
      <p:sp>
        <p:nvSpPr>
          <p:cNvPr id="4" name="object 4"/>
          <p:cNvSpPr/>
          <p:nvPr/>
        </p:nvSpPr>
        <p:spPr>
          <a:xfrm>
            <a:off x="1343367"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5" name="object 5"/>
          <p:cNvSpPr/>
          <p:nvPr/>
        </p:nvSpPr>
        <p:spPr>
          <a:xfrm>
            <a:off x="1764144"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6" name="object 6"/>
          <p:cNvSpPr/>
          <p:nvPr/>
        </p:nvSpPr>
        <p:spPr>
          <a:xfrm>
            <a:off x="2184920"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7" name="object 7"/>
          <p:cNvSpPr/>
          <p:nvPr/>
        </p:nvSpPr>
        <p:spPr>
          <a:xfrm>
            <a:off x="2605697"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8" name="object 8"/>
          <p:cNvSpPr/>
          <p:nvPr/>
        </p:nvSpPr>
        <p:spPr>
          <a:xfrm>
            <a:off x="3026473"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9" name="object 9"/>
          <p:cNvSpPr/>
          <p:nvPr/>
        </p:nvSpPr>
        <p:spPr>
          <a:xfrm>
            <a:off x="3447250"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10" name="object 10"/>
          <p:cNvSpPr/>
          <p:nvPr/>
        </p:nvSpPr>
        <p:spPr>
          <a:xfrm>
            <a:off x="3868026"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11" name="object 11"/>
          <p:cNvSpPr/>
          <p:nvPr/>
        </p:nvSpPr>
        <p:spPr>
          <a:xfrm>
            <a:off x="4288815"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12" name="object 12"/>
          <p:cNvSpPr/>
          <p:nvPr/>
        </p:nvSpPr>
        <p:spPr>
          <a:xfrm>
            <a:off x="5340756" y="2121928"/>
            <a:ext cx="3787140" cy="421005"/>
          </a:xfrm>
          <a:custGeom>
            <a:avLst/>
            <a:gdLst/>
            <a:ahLst/>
            <a:cxnLst/>
            <a:rect l="l" t="t" r="r" b="b"/>
            <a:pathLst>
              <a:path w="3787140" h="421005">
                <a:moveTo>
                  <a:pt x="0" y="420776"/>
                </a:moveTo>
                <a:lnTo>
                  <a:pt x="420776" y="420776"/>
                </a:lnTo>
                <a:lnTo>
                  <a:pt x="420776" y="0"/>
                </a:lnTo>
                <a:lnTo>
                  <a:pt x="3366223" y="0"/>
                </a:lnTo>
                <a:lnTo>
                  <a:pt x="3366223" y="420776"/>
                </a:lnTo>
                <a:lnTo>
                  <a:pt x="3787000" y="420776"/>
                </a:lnTo>
              </a:path>
            </a:pathLst>
          </a:custGeom>
          <a:ln w="5259">
            <a:solidFill>
              <a:srgbClr val="000000"/>
            </a:solidFill>
          </a:ln>
        </p:spPr>
        <p:txBody>
          <a:bodyPr wrap="square" lIns="0" tIns="0" rIns="0" bIns="0" rtlCol="0"/>
          <a:lstStyle/>
          <a:p>
            <a:endParaRPr/>
          </a:p>
        </p:txBody>
      </p:sp>
      <p:sp>
        <p:nvSpPr>
          <p:cNvPr id="13" name="object 13"/>
          <p:cNvSpPr/>
          <p:nvPr/>
        </p:nvSpPr>
        <p:spPr>
          <a:xfrm>
            <a:off x="6077115"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14" name="object 14"/>
          <p:cNvSpPr/>
          <p:nvPr/>
        </p:nvSpPr>
        <p:spPr>
          <a:xfrm>
            <a:off x="6445300"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15" name="object 15"/>
          <p:cNvSpPr/>
          <p:nvPr/>
        </p:nvSpPr>
        <p:spPr>
          <a:xfrm>
            <a:off x="6760883"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16" name="object 16"/>
          <p:cNvSpPr/>
          <p:nvPr/>
        </p:nvSpPr>
        <p:spPr>
          <a:xfrm>
            <a:off x="8812174"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17" name="object 17"/>
          <p:cNvSpPr/>
          <p:nvPr/>
        </p:nvSpPr>
        <p:spPr>
          <a:xfrm>
            <a:off x="8391397"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18" name="object 18"/>
          <p:cNvSpPr/>
          <p:nvPr/>
        </p:nvSpPr>
        <p:spPr>
          <a:xfrm>
            <a:off x="5708929"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19" name="object 19"/>
          <p:cNvSpPr/>
          <p:nvPr/>
        </p:nvSpPr>
        <p:spPr>
          <a:xfrm>
            <a:off x="8023212" y="2753093"/>
            <a:ext cx="0" cy="210820"/>
          </a:xfrm>
          <a:custGeom>
            <a:avLst/>
            <a:gdLst/>
            <a:ahLst/>
            <a:cxnLst/>
            <a:rect l="l" t="t" r="r" b="b"/>
            <a:pathLst>
              <a:path h="210819">
                <a:moveTo>
                  <a:pt x="0" y="0"/>
                </a:moveTo>
                <a:lnTo>
                  <a:pt x="0" y="210388"/>
                </a:lnTo>
              </a:path>
            </a:pathLst>
          </a:custGeom>
          <a:ln w="5259">
            <a:solidFill>
              <a:srgbClr val="000000"/>
            </a:solidFill>
          </a:ln>
        </p:spPr>
        <p:txBody>
          <a:bodyPr wrap="square" lIns="0" tIns="0" rIns="0" bIns="0" rtlCol="0"/>
          <a:lstStyle/>
          <a:p>
            <a:endParaRPr/>
          </a:p>
        </p:txBody>
      </p:sp>
      <p:sp>
        <p:nvSpPr>
          <p:cNvPr id="20" name="object 20"/>
          <p:cNvSpPr/>
          <p:nvPr/>
        </p:nvSpPr>
        <p:spPr>
          <a:xfrm>
            <a:off x="6708279" y="3205429"/>
            <a:ext cx="491490" cy="441959"/>
          </a:xfrm>
          <a:custGeom>
            <a:avLst/>
            <a:gdLst/>
            <a:ahLst/>
            <a:cxnLst/>
            <a:rect l="l" t="t" r="r" b="b"/>
            <a:pathLst>
              <a:path w="491490" h="441960">
                <a:moveTo>
                  <a:pt x="0" y="441820"/>
                </a:moveTo>
                <a:lnTo>
                  <a:pt x="490916" y="0"/>
                </a:lnTo>
              </a:path>
            </a:pathLst>
          </a:custGeom>
          <a:ln w="5259">
            <a:solidFill>
              <a:srgbClr val="000000"/>
            </a:solidFill>
          </a:ln>
        </p:spPr>
        <p:txBody>
          <a:bodyPr wrap="square" lIns="0" tIns="0" rIns="0" bIns="0" rtlCol="0"/>
          <a:lstStyle/>
          <a:p>
            <a:endParaRPr/>
          </a:p>
        </p:txBody>
      </p:sp>
      <p:sp>
        <p:nvSpPr>
          <p:cNvPr id="21" name="object 21"/>
          <p:cNvSpPr/>
          <p:nvPr/>
        </p:nvSpPr>
        <p:spPr>
          <a:xfrm>
            <a:off x="7199196" y="3179646"/>
            <a:ext cx="29209" cy="26034"/>
          </a:xfrm>
          <a:custGeom>
            <a:avLst/>
            <a:gdLst/>
            <a:ahLst/>
            <a:cxnLst/>
            <a:rect l="l" t="t" r="r" b="b"/>
            <a:pathLst>
              <a:path w="29209" h="26035">
                <a:moveTo>
                  <a:pt x="0" y="25782"/>
                </a:moveTo>
                <a:lnTo>
                  <a:pt x="28647" y="0"/>
                </a:lnTo>
              </a:path>
            </a:pathLst>
          </a:custGeom>
          <a:ln w="5259">
            <a:solidFill>
              <a:srgbClr val="000000"/>
            </a:solidFill>
          </a:ln>
        </p:spPr>
        <p:txBody>
          <a:bodyPr wrap="square" lIns="0" tIns="0" rIns="0" bIns="0" rtlCol="0"/>
          <a:lstStyle/>
          <a:p>
            <a:endParaRPr/>
          </a:p>
        </p:txBody>
      </p:sp>
      <p:sp>
        <p:nvSpPr>
          <p:cNvPr id="22" name="object 22"/>
          <p:cNvSpPr/>
          <p:nvPr/>
        </p:nvSpPr>
        <p:spPr>
          <a:xfrm>
            <a:off x="7164832" y="3179483"/>
            <a:ext cx="63500" cy="57785"/>
          </a:xfrm>
          <a:custGeom>
            <a:avLst/>
            <a:gdLst/>
            <a:ahLst/>
            <a:cxnLst/>
            <a:rect l="l" t="t" r="r" b="b"/>
            <a:pathLst>
              <a:path w="63500" h="57785">
                <a:moveTo>
                  <a:pt x="63106" y="0"/>
                </a:moveTo>
                <a:lnTo>
                  <a:pt x="2095" y="25946"/>
                </a:lnTo>
                <a:lnTo>
                  <a:pt x="0" y="56108"/>
                </a:lnTo>
                <a:lnTo>
                  <a:pt x="30149" y="57505"/>
                </a:lnTo>
                <a:lnTo>
                  <a:pt x="63106" y="0"/>
                </a:lnTo>
                <a:close/>
              </a:path>
            </a:pathLst>
          </a:custGeom>
          <a:solidFill>
            <a:srgbClr val="000000"/>
          </a:solidFill>
        </p:spPr>
        <p:txBody>
          <a:bodyPr wrap="square" lIns="0" tIns="0" rIns="0" bIns="0" rtlCol="0"/>
          <a:lstStyle/>
          <a:p>
            <a:endParaRPr/>
          </a:p>
        </p:txBody>
      </p:sp>
      <p:sp>
        <p:nvSpPr>
          <p:cNvPr id="23" name="object 23"/>
          <p:cNvSpPr/>
          <p:nvPr/>
        </p:nvSpPr>
        <p:spPr>
          <a:xfrm>
            <a:off x="7164832" y="3179483"/>
            <a:ext cx="63500" cy="57785"/>
          </a:xfrm>
          <a:custGeom>
            <a:avLst/>
            <a:gdLst/>
            <a:ahLst/>
            <a:cxnLst/>
            <a:rect l="l" t="t" r="r" b="b"/>
            <a:pathLst>
              <a:path w="63500" h="57785">
                <a:moveTo>
                  <a:pt x="30149" y="57505"/>
                </a:moveTo>
                <a:lnTo>
                  <a:pt x="63106" y="0"/>
                </a:lnTo>
                <a:lnTo>
                  <a:pt x="2095" y="25946"/>
                </a:lnTo>
                <a:lnTo>
                  <a:pt x="0" y="56108"/>
                </a:lnTo>
                <a:lnTo>
                  <a:pt x="30149" y="57505"/>
                </a:lnTo>
                <a:close/>
              </a:path>
            </a:pathLst>
          </a:custGeom>
          <a:ln w="5259">
            <a:solidFill>
              <a:srgbClr val="000000"/>
            </a:solidFill>
          </a:ln>
        </p:spPr>
        <p:txBody>
          <a:bodyPr wrap="square" lIns="0" tIns="0" rIns="0" bIns="0" rtlCol="0"/>
          <a:lstStyle/>
          <a:p>
            <a:endParaRPr/>
          </a:p>
        </p:txBody>
      </p:sp>
      <p:sp>
        <p:nvSpPr>
          <p:cNvPr id="24" name="object 24"/>
          <p:cNvSpPr/>
          <p:nvPr/>
        </p:nvSpPr>
        <p:spPr>
          <a:xfrm>
            <a:off x="2927071" y="3233230"/>
            <a:ext cx="52069" cy="60960"/>
          </a:xfrm>
          <a:custGeom>
            <a:avLst/>
            <a:gdLst/>
            <a:ahLst/>
            <a:cxnLst/>
            <a:rect l="l" t="t" r="r" b="b"/>
            <a:pathLst>
              <a:path w="52069" h="60960">
                <a:moveTo>
                  <a:pt x="51913" y="60564"/>
                </a:moveTo>
                <a:lnTo>
                  <a:pt x="0" y="0"/>
                </a:lnTo>
              </a:path>
            </a:pathLst>
          </a:custGeom>
          <a:ln w="5259">
            <a:solidFill>
              <a:srgbClr val="000000"/>
            </a:solidFill>
          </a:ln>
        </p:spPr>
        <p:txBody>
          <a:bodyPr wrap="square" lIns="0" tIns="0" rIns="0" bIns="0" rtlCol="0"/>
          <a:lstStyle/>
          <a:p>
            <a:endParaRPr/>
          </a:p>
        </p:txBody>
      </p:sp>
      <p:sp>
        <p:nvSpPr>
          <p:cNvPr id="25" name="object 25"/>
          <p:cNvSpPr/>
          <p:nvPr/>
        </p:nvSpPr>
        <p:spPr>
          <a:xfrm>
            <a:off x="2926892" y="3232785"/>
            <a:ext cx="57150" cy="64135"/>
          </a:xfrm>
          <a:custGeom>
            <a:avLst/>
            <a:gdLst/>
            <a:ahLst/>
            <a:cxnLst/>
            <a:rect l="l" t="t" r="r" b="b"/>
            <a:pathLst>
              <a:path w="57150" h="64135">
                <a:moveTo>
                  <a:pt x="56807" y="33655"/>
                </a:moveTo>
                <a:lnTo>
                  <a:pt x="0" y="0"/>
                </a:lnTo>
                <a:lnTo>
                  <a:pt x="24536" y="61010"/>
                </a:lnTo>
                <a:lnTo>
                  <a:pt x="54698" y="63817"/>
                </a:lnTo>
                <a:lnTo>
                  <a:pt x="56807" y="33655"/>
                </a:lnTo>
                <a:close/>
              </a:path>
            </a:pathLst>
          </a:custGeom>
          <a:solidFill>
            <a:srgbClr val="000000"/>
          </a:solidFill>
        </p:spPr>
        <p:txBody>
          <a:bodyPr wrap="square" lIns="0" tIns="0" rIns="0" bIns="0" rtlCol="0"/>
          <a:lstStyle/>
          <a:p>
            <a:endParaRPr/>
          </a:p>
        </p:txBody>
      </p:sp>
      <p:sp>
        <p:nvSpPr>
          <p:cNvPr id="26" name="object 26"/>
          <p:cNvSpPr/>
          <p:nvPr/>
        </p:nvSpPr>
        <p:spPr>
          <a:xfrm>
            <a:off x="2926892" y="3232785"/>
            <a:ext cx="57150" cy="64135"/>
          </a:xfrm>
          <a:custGeom>
            <a:avLst/>
            <a:gdLst/>
            <a:ahLst/>
            <a:cxnLst/>
            <a:rect l="l" t="t" r="r" b="b"/>
            <a:pathLst>
              <a:path w="57150" h="64135">
                <a:moveTo>
                  <a:pt x="56807" y="33655"/>
                </a:moveTo>
                <a:lnTo>
                  <a:pt x="0" y="0"/>
                </a:lnTo>
                <a:lnTo>
                  <a:pt x="24536" y="61010"/>
                </a:lnTo>
                <a:lnTo>
                  <a:pt x="54698" y="63817"/>
                </a:lnTo>
                <a:lnTo>
                  <a:pt x="56807" y="33655"/>
                </a:lnTo>
                <a:close/>
              </a:path>
            </a:pathLst>
          </a:custGeom>
          <a:ln w="5259">
            <a:solidFill>
              <a:srgbClr val="000000"/>
            </a:solidFill>
          </a:ln>
        </p:spPr>
        <p:txBody>
          <a:bodyPr wrap="square" lIns="0" tIns="0" rIns="0" bIns="0" rtlCol="0"/>
          <a:lstStyle/>
          <a:p>
            <a:endParaRPr/>
          </a:p>
        </p:txBody>
      </p:sp>
      <p:sp>
        <p:nvSpPr>
          <p:cNvPr id="27" name="object 27"/>
          <p:cNvSpPr/>
          <p:nvPr/>
        </p:nvSpPr>
        <p:spPr>
          <a:xfrm>
            <a:off x="4499203" y="2227122"/>
            <a:ext cx="1029335" cy="0"/>
          </a:xfrm>
          <a:custGeom>
            <a:avLst/>
            <a:gdLst/>
            <a:ahLst/>
            <a:cxnLst/>
            <a:rect l="l" t="t" r="r" b="b"/>
            <a:pathLst>
              <a:path w="1029335">
                <a:moveTo>
                  <a:pt x="0" y="0"/>
                </a:moveTo>
                <a:lnTo>
                  <a:pt x="1028788" y="0"/>
                </a:lnTo>
              </a:path>
            </a:pathLst>
          </a:custGeom>
          <a:ln w="10519">
            <a:solidFill>
              <a:srgbClr val="000000"/>
            </a:solidFill>
            <a:prstDash val="lgDash"/>
          </a:ln>
        </p:spPr>
        <p:txBody>
          <a:bodyPr wrap="square" lIns="0" tIns="0" rIns="0" bIns="0" rtlCol="0"/>
          <a:lstStyle/>
          <a:p>
            <a:endParaRPr/>
          </a:p>
        </p:txBody>
      </p:sp>
      <p:sp>
        <p:nvSpPr>
          <p:cNvPr id="28" name="object 28"/>
          <p:cNvSpPr/>
          <p:nvPr/>
        </p:nvSpPr>
        <p:spPr>
          <a:xfrm>
            <a:off x="5359692" y="2185047"/>
            <a:ext cx="168910" cy="84455"/>
          </a:xfrm>
          <a:custGeom>
            <a:avLst/>
            <a:gdLst/>
            <a:ahLst/>
            <a:cxnLst/>
            <a:rect l="l" t="t" r="r" b="b"/>
            <a:pathLst>
              <a:path w="168910" h="84455">
                <a:moveTo>
                  <a:pt x="0" y="84150"/>
                </a:moveTo>
                <a:lnTo>
                  <a:pt x="168300" y="42075"/>
                </a:lnTo>
                <a:lnTo>
                  <a:pt x="0" y="0"/>
                </a:lnTo>
              </a:path>
            </a:pathLst>
          </a:custGeom>
          <a:ln w="10519">
            <a:solidFill>
              <a:srgbClr val="000000"/>
            </a:solidFill>
          </a:ln>
        </p:spPr>
        <p:txBody>
          <a:bodyPr wrap="square" lIns="0" tIns="0" rIns="0" bIns="0" rtlCol="0"/>
          <a:lstStyle/>
          <a:p>
            <a:endParaRPr/>
          </a:p>
        </p:txBody>
      </p:sp>
      <p:sp>
        <p:nvSpPr>
          <p:cNvPr id="29" name="object 29"/>
          <p:cNvSpPr txBox="1"/>
          <p:nvPr/>
        </p:nvSpPr>
        <p:spPr>
          <a:xfrm>
            <a:off x="2347595" y="1701990"/>
            <a:ext cx="937260" cy="263525"/>
          </a:xfrm>
          <a:prstGeom prst="rect">
            <a:avLst/>
          </a:prstGeom>
        </p:spPr>
        <p:txBody>
          <a:bodyPr vert="horz" wrap="square" lIns="0" tIns="0" rIns="0" bIns="0" rtlCol="0">
            <a:spAutoFit/>
          </a:bodyPr>
          <a:lstStyle/>
          <a:p>
            <a:pPr marL="12700">
              <a:lnSpc>
                <a:spcPct val="100000"/>
              </a:lnSpc>
            </a:pPr>
            <a:r>
              <a:rPr sz="1650" dirty="0">
                <a:latin typeface="Times New Roman"/>
                <a:cs typeface="Times New Roman"/>
              </a:rPr>
              <a:t>transmitter</a:t>
            </a:r>
            <a:endParaRPr sz="1650">
              <a:latin typeface="Times New Roman"/>
              <a:cs typeface="Times New Roman"/>
            </a:endParaRPr>
          </a:p>
        </p:txBody>
      </p:sp>
      <p:sp>
        <p:nvSpPr>
          <p:cNvPr id="30" name="object 30"/>
          <p:cNvSpPr/>
          <p:nvPr/>
        </p:nvSpPr>
        <p:spPr>
          <a:xfrm>
            <a:off x="922580" y="2121928"/>
            <a:ext cx="3787140" cy="421005"/>
          </a:xfrm>
          <a:custGeom>
            <a:avLst/>
            <a:gdLst/>
            <a:ahLst/>
            <a:cxnLst/>
            <a:rect l="l" t="t" r="r" b="b"/>
            <a:pathLst>
              <a:path w="3787140" h="421005">
                <a:moveTo>
                  <a:pt x="0" y="420776"/>
                </a:moveTo>
                <a:lnTo>
                  <a:pt x="420787" y="420776"/>
                </a:lnTo>
                <a:lnTo>
                  <a:pt x="420787" y="0"/>
                </a:lnTo>
                <a:lnTo>
                  <a:pt x="3366235" y="0"/>
                </a:lnTo>
                <a:lnTo>
                  <a:pt x="3366235" y="420776"/>
                </a:lnTo>
                <a:lnTo>
                  <a:pt x="3787011" y="420776"/>
                </a:lnTo>
              </a:path>
            </a:pathLst>
          </a:custGeom>
          <a:ln w="5259">
            <a:solidFill>
              <a:srgbClr val="000000"/>
            </a:solidFill>
          </a:ln>
        </p:spPr>
        <p:txBody>
          <a:bodyPr wrap="square" lIns="0" tIns="0" rIns="0" bIns="0" rtlCol="0"/>
          <a:lstStyle/>
          <a:p>
            <a:endParaRPr/>
          </a:p>
        </p:txBody>
      </p:sp>
      <p:sp>
        <p:nvSpPr>
          <p:cNvPr id="31" name="object 31"/>
          <p:cNvSpPr txBox="1"/>
          <p:nvPr/>
        </p:nvSpPr>
        <p:spPr>
          <a:xfrm>
            <a:off x="896440" y="2175370"/>
            <a:ext cx="8216265" cy="4399280"/>
          </a:xfrm>
          <a:prstGeom prst="rect">
            <a:avLst/>
          </a:prstGeom>
        </p:spPr>
        <p:txBody>
          <a:bodyPr vert="horz" wrap="square" lIns="0" tIns="0" rIns="0" bIns="0" rtlCol="0">
            <a:spAutoFit/>
          </a:bodyPr>
          <a:lstStyle/>
          <a:p>
            <a:pPr marR="1227455" algn="r">
              <a:lnSpc>
                <a:spcPct val="100000"/>
              </a:lnSpc>
            </a:pPr>
            <a:r>
              <a:rPr sz="1650" dirty="0">
                <a:latin typeface="Times New Roman"/>
                <a:cs typeface="Times New Roman"/>
              </a:rPr>
              <a:t>how many</a:t>
            </a:r>
            <a:r>
              <a:rPr sz="1650" spc="-65" dirty="0">
                <a:latin typeface="Times New Roman"/>
                <a:cs typeface="Times New Roman"/>
              </a:rPr>
              <a:t> </a:t>
            </a:r>
            <a:r>
              <a:rPr sz="1650" dirty="0">
                <a:latin typeface="Times New Roman"/>
                <a:cs typeface="Times New Roman"/>
              </a:rPr>
              <a:t>1’s?</a:t>
            </a:r>
            <a:endParaRPr sz="1650">
              <a:latin typeface="Times New Roman"/>
              <a:cs typeface="Times New Roman"/>
            </a:endParaRPr>
          </a:p>
          <a:p>
            <a:pPr>
              <a:lnSpc>
                <a:spcPct val="100000"/>
              </a:lnSpc>
              <a:spcBef>
                <a:spcPts val="34"/>
              </a:spcBef>
            </a:pPr>
            <a:endParaRPr sz="1850">
              <a:latin typeface="Times New Roman"/>
              <a:cs typeface="Times New Roman"/>
            </a:endParaRPr>
          </a:p>
          <a:p>
            <a:pPr marR="1554480" algn="r">
              <a:lnSpc>
                <a:spcPct val="100000"/>
              </a:lnSpc>
            </a:pPr>
            <a:r>
              <a:rPr sz="1650" dirty="0">
                <a:latin typeface="Times New Roman"/>
                <a:cs typeface="Times New Roman"/>
              </a:rPr>
              <a:t>........</a:t>
            </a:r>
            <a:endParaRPr sz="1650">
              <a:latin typeface="Times New Roman"/>
              <a:cs typeface="Times New Roman"/>
            </a:endParaRPr>
          </a:p>
          <a:p>
            <a:pPr>
              <a:lnSpc>
                <a:spcPct val="100000"/>
              </a:lnSpc>
            </a:pPr>
            <a:endParaRPr sz="1600">
              <a:latin typeface="Times New Roman"/>
              <a:cs typeface="Times New Roman"/>
            </a:endParaRPr>
          </a:p>
          <a:p>
            <a:pPr>
              <a:lnSpc>
                <a:spcPct val="100000"/>
              </a:lnSpc>
              <a:spcBef>
                <a:spcPts val="35"/>
              </a:spcBef>
            </a:pPr>
            <a:endParaRPr sz="2050">
              <a:latin typeface="Times New Roman"/>
              <a:cs typeface="Times New Roman"/>
            </a:endParaRPr>
          </a:p>
          <a:p>
            <a:pPr marL="2600325">
              <a:lnSpc>
                <a:spcPct val="100000"/>
              </a:lnSpc>
            </a:pPr>
            <a:r>
              <a:rPr sz="1650" dirty="0">
                <a:latin typeface="Times New Roman"/>
                <a:cs typeface="Times New Roman"/>
              </a:rPr>
              <a:t>unsynchronized, independent</a:t>
            </a:r>
            <a:r>
              <a:rPr sz="1650" spc="-5" dirty="0">
                <a:latin typeface="Times New Roman"/>
                <a:cs typeface="Times New Roman"/>
              </a:rPr>
              <a:t> </a:t>
            </a:r>
            <a:r>
              <a:rPr sz="1650" dirty="0">
                <a:latin typeface="Times New Roman"/>
                <a:cs typeface="Times New Roman"/>
              </a:rPr>
              <a:t>clocks</a:t>
            </a:r>
            <a:endParaRPr sz="1650">
              <a:latin typeface="Times New Roman"/>
              <a:cs typeface="Times New Roman"/>
            </a:endParaRPr>
          </a:p>
          <a:p>
            <a:pPr>
              <a:lnSpc>
                <a:spcPct val="100000"/>
              </a:lnSpc>
              <a:spcBef>
                <a:spcPts val="22"/>
              </a:spcBef>
            </a:pPr>
            <a:endParaRPr sz="1300">
              <a:latin typeface="Times New Roman"/>
              <a:cs typeface="Times New Roman"/>
            </a:endParaRPr>
          </a:p>
          <a:p>
            <a:pPr marL="300990" marR="5080" indent="-288290">
              <a:lnSpc>
                <a:spcPct val="125000"/>
              </a:lnSpc>
              <a:buSzPct val="105128"/>
              <a:buFont typeface="Lucida Sans Unicode"/>
              <a:buChar char="•"/>
              <a:tabLst>
                <a:tab pos="301625" algn="l"/>
              </a:tabLst>
            </a:pPr>
            <a:r>
              <a:rPr sz="1950" spc="130" dirty="0">
                <a:solidFill>
                  <a:srgbClr val="231F20"/>
                </a:solidFill>
                <a:latin typeface="Arial"/>
                <a:cs typeface="Arial"/>
              </a:rPr>
              <a:t>Clocks </a:t>
            </a:r>
            <a:r>
              <a:rPr sz="1950" spc="215" dirty="0">
                <a:solidFill>
                  <a:srgbClr val="231F20"/>
                </a:solidFill>
                <a:latin typeface="Arial"/>
                <a:cs typeface="Arial"/>
              </a:rPr>
              <a:t>at </a:t>
            </a:r>
            <a:r>
              <a:rPr sz="1950" spc="135" dirty="0">
                <a:solidFill>
                  <a:srgbClr val="231F20"/>
                </a:solidFill>
                <a:latin typeface="Arial"/>
                <a:cs typeface="Arial"/>
              </a:rPr>
              <a:t>either </a:t>
            </a:r>
            <a:r>
              <a:rPr sz="1950" spc="105" dirty="0">
                <a:solidFill>
                  <a:srgbClr val="231F20"/>
                </a:solidFill>
                <a:latin typeface="Arial"/>
                <a:cs typeface="Arial"/>
              </a:rPr>
              <a:t>end </a:t>
            </a:r>
            <a:r>
              <a:rPr sz="1950" spc="145" dirty="0">
                <a:solidFill>
                  <a:srgbClr val="231F20"/>
                </a:solidFill>
                <a:latin typeface="Arial"/>
                <a:cs typeface="Arial"/>
              </a:rPr>
              <a:t>may </a:t>
            </a:r>
            <a:r>
              <a:rPr sz="1950" spc="114" dirty="0">
                <a:solidFill>
                  <a:srgbClr val="231F20"/>
                </a:solidFill>
                <a:latin typeface="Arial"/>
                <a:cs typeface="Arial"/>
              </a:rPr>
              <a:t>be </a:t>
            </a:r>
            <a:r>
              <a:rPr sz="1950" spc="75" dirty="0">
                <a:solidFill>
                  <a:srgbClr val="FF0000"/>
                </a:solidFill>
                <a:latin typeface="Arial"/>
                <a:cs typeface="Arial"/>
              </a:rPr>
              <a:t>skewed </a:t>
            </a:r>
            <a:r>
              <a:rPr sz="1950" spc="130" dirty="0">
                <a:solidFill>
                  <a:srgbClr val="231F20"/>
                </a:solidFill>
                <a:latin typeface="Arial"/>
                <a:cs typeface="Arial"/>
              </a:rPr>
              <a:t>and </a:t>
            </a:r>
            <a:r>
              <a:rPr sz="1950" spc="95" dirty="0">
                <a:solidFill>
                  <a:srgbClr val="231F20"/>
                </a:solidFill>
                <a:latin typeface="Arial"/>
                <a:cs typeface="Arial"/>
              </a:rPr>
              <a:t>have </a:t>
            </a:r>
            <a:r>
              <a:rPr sz="1950" spc="145" dirty="0">
                <a:solidFill>
                  <a:srgbClr val="FF0000"/>
                </a:solidFill>
                <a:latin typeface="Arial"/>
                <a:cs typeface="Arial"/>
              </a:rPr>
              <a:t>different </a:t>
            </a:r>
            <a:r>
              <a:rPr sz="1950" spc="120" dirty="0">
                <a:solidFill>
                  <a:srgbClr val="FF0000"/>
                </a:solidFill>
                <a:latin typeface="Arial"/>
                <a:cs typeface="Arial"/>
              </a:rPr>
              <a:t>rates</a:t>
            </a:r>
            <a:r>
              <a:rPr sz="1950" spc="120" dirty="0">
                <a:solidFill>
                  <a:srgbClr val="231F20"/>
                </a:solidFill>
                <a:latin typeface="Arial"/>
                <a:cs typeface="Arial"/>
              </a:rPr>
              <a:t>,  </a:t>
            </a:r>
            <a:r>
              <a:rPr sz="1950" spc="130" dirty="0">
                <a:solidFill>
                  <a:srgbClr val="231F20"/>
                </a:solidFill>
                <a:latin typeface="Arial"/>
                <a:cs typeface="Arial"/>
              </a:rPr>
              <a:t>and</a:t>
            </a:r>
            <a:r>
              <a:rPr sz="1950" spc="215" dirty="0">
                <a:solidFill>
                  <a:srgbClr val="231F20"/>
                </a:solidFill>
                <a:latin typeface="Arial"/>
                <a:cs typeface="Arial"/>
              </a:rPr>
              <a:t> </a:t>
            </a:r>
            <a:r>
              <a:rPr sz="1950" spc="195" dirty="0">
                <a:solidFill>
                  <a:srgbClr val="FF0000"/>
                </a:solidFill>
                <a:latin typeface="Arial"/>
                <a:cs typeface="Arial"/>
              </a:rPr>
              <a:t>jitter</a:t>
            </a:r>
            <a:endParaRPr sz="1950">
              <a:latin typeface="Arial"/>
              <a:cs typeface="Arial"/>
            </a:endParaRPr>
          </a:p>
          <a:p>
            <a:pPr marL="300990" indent="-288290">
              <a:lnSpc>
                <a:spcPct val="100000"/>
              </a:lnSpc>
              <a:spcBef>
                <a:spcPts val="1614"/>
              </a:spcBef>
              <a:buClr>
                <a:srgbClr val="231F20"/>
              </a:buClr>
              <a:buSzPct val="105128"/>
              <a:buFont typeface="Lucida Sans Unicode"/>
              <a:buChar char="•"/>
              <a:tabLst>
                <a:tab pos="301625" algn="l"/>
              </a:tabLst>
            </a:pPr>
            <a:r>
              <a:rPr sz="1950" spc="114" dirty="0">
                <a:solidFill>
                  <a:srgbClr val="0000FF"/>
                </a:solidFill>
                <a:latin typeface="Arial"/>
                <a:cs typeface="Arial"/>
              </a:rPr>
              <a:t>So </a:t>
            </a:r>
            <a:r>
              <a:rPr sz="1950" spc="95" dirty="0">
                <a:solidFill>
                  <a:srgbClr val="0000FF"/>
                </a:solidFill>
                <a:latin typeface="Arial"/>
                <a:cs typeface="Arial"/>
              </a:rPr>
              <a:t>have </a:t>
            </a:r>
            <a:r>
              <a:rPr sz="1950" spc="250" dirty="0">
                <a:solidFill>
                  <a:srgbClr val="0000FF"/>
                </a:solidFill>
                <a:latin typeface="Arial"/>
                <a:cs typeface="Arial"/>
              </a:rPr>
              <a:t>to </a:t>
            </a:r>
            <a:r>
              <a:rPr sz="1950" spc="110" dirty="0">
                <a:solidFill>
                  <a:srgbClr val="0000FF"/>
                </a:solidFill>
                <a:latin typeface="Arial"/>
                <a:cs typeface="Arial"/>
              </a:rPr>
              <a:t>encode </a:t>
            </a:r>
            <a:r>
              <a:rPr sz="1950" spc="85" dirty="0">
                <a:solidFill>
                  <a:srgbClr val="0000FF"/>
                </a:solidFill>
                <a:latin typeface="Arial"/>
                <a:cs typeface="Arial"/>
              </a:rPr>
              <a:t>a </a:t>
            </a:r>
            <a:r>
              <a:rPr sz="1950" spc="155" dirty="0">
                <a:solidFill>
                  <a:srgbClr val="0000FF"/>
                </a:solidFill>
                <a:latin typeface="Arial"/>
                <a:cs typeface="Arial"/>
              </a:rPr>
              <a:t>clock </a:t>
            </a:r>
            <a:r>
              <a:rPr sz="1950" spc="130" dirty="0">
                <a:solidFill>
                  <a:srgbClr val="0000FF"/>
                </a:solidFill>
                <a:latin typeface="Arial"/>
                <a:cs typeface="Arial"/>
              </a:rPr>
              <a:t>in </a:t>
            </a:r>
            <a:r>
              <a:rPr sz="1950" spc="175" dirty="0">
                <a:solidFill>
                  <a:srgbClr val="0000FF"/>
                </a:solidFill>
                <a:latin typeface="Arial"/>
                <a:cs typeface="Arial"/>
              </a:rPr>
              <a:t>the </a:t>
            </a:r>
            <a:r>
              <a:rPr sz="1950" spc="170" dirty="0">
                <a:solidFill>
                  <a:srgbClr val="0000FF"/>
                </a:solidFill>
                <a:latin typeface="Arial"/>
                <a:cs typeface="Arial"/>
              </a:rPr>
              <a:t>data </a:t>
            </a:r>
            <a:r>
              <a:rPr sz="1950" spc="660" dirty="0">
                <a:solidFill>
                  <a:srgbClr val="0000FF"/>
                </a:solidFill>
                <a:latin typeface="Arial"/>
                <a:cs typeface="Arial"/>
              </a:rPr>
              <a:t> </a:t>
            </a:r>
            <a:r>
              <a:rPr sz="1950" spc="150" dirty="0">
                <a:solidFill>
                  <a:srgbClr val="0000FF"/>
                </a:solidFill>
                <a:latin typeface="Arial"/>
                <a:cs typeface="Arial"/>
              </a:rPr>
              <a:t>stream</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80" dirty="0">
                <a:solidFill>
                  <a:srgbClr val="231F20"/>
                </a:solidFill>
                <a:latin typeface="Arial"/>
                <a:cs typeface="Arial"/>
              </a:rPr>
              <a:t>Used </a:t>
            </a:r>
            <a:r>
              <a:rPr sz="1950" spc="130" dirty="0">
                <a:solidFill>
                  <a:srgbClr val="231F20"/>
                </a:solidFill>
                <a:latin typeface="Arial"/>
                <a:cs typeface="Arial"/>
              </a:rPr>
              <a:t>in </a:t>
            </a:r>
            <a:r>
              <a:rPr sz="1950" spc="160" dirty="0">
                <a:solidFill>
                  <a:srgbClr val="231F20"/>
                </a:solidFill>
                <a:latin typeface="Arial"/>
                <a:cs typeface="Arial"/>
              </a:rPr>
              <a:t>CDs,</a:t>
            </a:r>
            <a:r>
              <a:rPr sz="1950" spc="575" dirty="0">
                <a:solidFill>
                  <a:srgbClr val="231F20"/>
                </a:solidFill>
                <a:latin typeface="Arial"/>
                <a:cs typeface="Arial"/>
              </a:rPr>
              <a:t> </a:t>
            </a:r>
            <a:r>
              <a:rPr sz="1950" spc="180" dirty="0">
                <a:solidFill>
                  <a:srgbClr val="231F20"/>
                </a:solidFill>
                <a:latin typeface="Arial"/>
                <a:cs typeface="Arial"/>
              </a:rPr>
              <a:t>Ethernet</a:t>
            </a:r>
            <a:endParaRPr sz="1950">
              <a:latin typeface="Arial"/>
              <a:cs typeface="Arial"/>
            </a:endParaRPr>
          </a:p>
          <a:p>
            <a:pPr marL="300990" marR="657860" indent="-288290">
              <a:lnSpc>
                <a:spcPct val="125000"/>
              </a:lnSpc>
              <a:spcBef>
                <a:spcPts val="1035"/>
              </a:spcBef>
              <a:buClr>
                <a:srgbClr val="231F20"/>
              </a:buClr>
              <a:buSzPct val="105128"/>
              <a:buFont typeface="Lucida Sans Unicode"/>
              <a:buChar char="•"/>
              <a:tabLst>
                <a:tab pos="301625" algn="l"/>
              </a:tabLst>
            </a:pPr>
            <a:r>
              <a:rPr sz="1950" spc="150" dirty="0">
                <a:solidFill>
                  <a:srgbClr val="0000FF"/>
                </a:solidFill>
                <a:latin typeface="Arial"/>
                <a:cs typeface="Arial"/>
              </a:rPr>
              <a:t>Verification </a:t>
            </a:r>
            <a:r>
              <a:rPr sz="1950" spc="120" dirty="0">
                <a:solidFill>
                  <a:srgbClr val="0000FF"/>
                </a:solidFill>
                <a:latin typeface="Arial"/>
                <a:cs typeface="Arial"/>
              </a:rPr>
              <a:t>identifies </a:t>
            </a:r>
            <a:r>
              <a:rPr sz="1950" spc="140" dirty="0">
                <a:solidFill>
                  <a:srgbClr val="0000FF"/>
                </a:solidFill>
                <a:latin typeface="Arial"/>
                <a:cs typeface="Arial"/>
              </a:rPr>
              <a:t>parameter </a:t>
            </a:r>
            <a:r>
              <a:rPr sz="1950" spc="75" dirty="0">
                <a:solidFill>
                  <a:srgbClr val="0000FF"/>
                </a:solidFill>
                <a:latin typeface="Arial"/>
                <a:cs typeface="Arial"/>
              </a:rPr>
              <a:t>values </a:t>
            </a:r>
            <a:r>
              <a:rPr sz="1950" spc="155" dirty="0">
                <a:solidFill>
                  <a:srgbClr val="0000FF"/>
                </a:solidFill>
                <a:latin typeface="Arial"/>
                <a:cs typeface="Arial"/>
              </a:rPr>
              <a:t>for which </a:t>
            </a:r>
            <a:r>
              <a:rPr sz="1950" spc="170" dirty="0">
                <a:solidFill>
                  <a:srgbClr val="0000FF"/>
                </a:solidFill>
                <a:latin typeface="Arial"/>
                <a:cs typeface="Arial"/>
              </a:rPr>
              <a:t>data </a:t>
            </a:r>
            <a:r>
              <a:rPr sz="1950" spc="40" dirty="0">
                <a:solidFill>
                  <a:srgbClr val="0000FF"/>
                </a:solidFill>
                <a:latin typeface="Arial"/>
                <a:cs typeface="Arial"/>
              </a:rPr>
              <a:t>is  </a:t>
            </a:r>
            <a:r>
              <a:rPr sz="1950" spc="110" dirty="0">
                <a:solidFill>
                  <a:srgbClr val="0000FF"/>
                </a:solidFill>
                <a:latin typeface="Arial"/>
                <a:cs typeface="Arial"/>
              </a:rPr>
              <a:t>reliably</a:t>
            </a:r>
            <a:r>
              <a:rPr sz="1950" spc="250" dirty="0">
                <a:solidFill>
                  <a:srgbClr val="0000FF"/>
                </a:solidFill>
                <a:latin typeface="Arial"/>
                <a:cs typeface="Arial"/>
              </a:rPr>
              <a:t> </a:t>
            </a:r>
            <a:r>
              <a:rPr sz="1950" spc="180" dirty="0">
                <a:solidFill>
                  <a:srgbClr val="0000FF"/>
                </a:solidFill>
                <a:latin typeface="Arial"/>
                <a:cs typeface="Arial"/>
              </a:rPr>
              <a:t>transmitted</a:t>
            </a:r>
            <a:endParaRPr sz="1950">
              <a:latin typeface="Arial"/>
              <a:cs typeface="Arial"/>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93469"/>
            <a:ext cx="6920865" cy="1834514"/>
          </a:xfrm>
          <a:prstGeom prst="rect">
            <a:avLst/>
          </a:prstGeom>
        </p:spPr>
        <p:txBody>
          <a:bodyPr vert="horz" wrap="square" lIns="0" tIns="0" rIns="0" bIns="0" rtlCol="0">
            <a:spAutoFit/>
          </a:bodyPr>
          <a:lstStyle/>
          <a:p>
            <a:pPr marL="1358900">
              <a:lnSpc>
                <a:spcPct val="100000"/>
              </a:lnSpc>
              <a:tabLst>
                <a:tab pos="2811145" algn="l"/>
              </a:tabLst>
            </a:pPr>
            <a:r>
              <a:rPr sz="1950" spc="260" dirty="0">
                <a:solidFill>
                  <a:srgbClr val="231F20"/>
                </a:solidFill>
                <a:latin typeface="Arial"/>
                <a:cs typeface="Arial"/>
              </a:rPr>
              <a:t>Example:	</a:t>
            </a:r>
            <a:r>
              <a:rPr sz="1950" spc="225" dirty="0">
                <a:solidFill>
                  <a:srgbClr val="231F20"/>
                </a:solidFill>
                <a:latin typeface="Arial"/>
                <a:cs typeface="Arial"/>
              </a:rPr>
              <a:t>Biphase </a:t>
            </a:r>
            <a:r>
              <a:rPr sz="1950" spc="315" dirty="0">
                <a:solidFill>
                  <a:srgbClr val="231F20"/>
                </a:solidFill>
                <a:latin typeface="Arial"/>
                <a:cs typeface="Arial"/>
              </a:rPr>
              <a:t>Mark </a:t>
            </a:r>
            <a:r>
              <a:rPr sz="1950" spc="300" dirty="0">
                <a:solidFill>
                  <a:srgbClr val="231F20"/>
                </a:solidFill>
                <a:latin typeface="Arial"/>
                <a:cs typeface="Arial"/>
              </a:rPr>
              <a:t>Protocol</a:t>
            </a:r>
            <a:r>
              <a:rPr sz="1950" spc="525" dirty="0">
                <a:solidFill>
                  <a:srgbClr val="231F20"/>
                </a:solidFill>
                <a:latin typeface="Arial"/>
                <a:cs typeface="Arial"/>
              </a:rPr>
              <a:t> </a:t>
            </a:r>
            <a:r>
              <a:rPr sz="1950" spc="350" dirty="0">
                <a:solidFill>
                  <a:srgbClr val="231F20"/>
                </a:solidFill>
                <a:latin typeface="Arial"/>
                <a:cs typeface="Arial"/>
              </a:rPr>
              <a:t>(ctd)</a:t>
            </a:r>
            <a:endParaRPr sz="1950">
              <a:latin typeface="Arial"/>
              <a:cs typeface="Arial"/>
            </a:endParaRPr>
          </a:p>
          <a:p>
            <a:pPr marL="300990" indent="-288290">
              <a:lnSpc>
                <a:spcPct val="100000"/>
              </a:lnSpc>
              <a:spcBef>
                <a:spcPts val="1620"/>
              </a:spcBef>
              <a:buClr>
                <a:srgbClr val="231F20"/>
              </a:buClr>
              <a:buSzPct val="105128"/>
              <a:buFont typeface="Lucida Sans Unicode"/>
              <a:buChar char="•"/>
              <a:tabLst>
                <a:tab pos="301625" algn="l"/>
              </a:tabLst>
            </a:pPr>
            <a:r>
              <a:rPr sz="1950" spc="165" dirty="0">
                <a:solidFill>
                  <a:srgbClr val="0000FF"/>
                </a:solidFill>
                <a:latin typeface="Arial"/>
                <a:cs typeface="Arial"/>
              </a:rPr>
              <a:t>Flip </a:t>
            </a:r>
            <a:r>
              <a:rPr sz="1950" spc="175" dirty="0">
                <a:solidFill>
                  <a:srgbClr val="0000FF"/>
                </a:solidFill>
                <a:latin typeface="Arial"/>
                <a:cs typeface="Arial"/>
              </a:rPr>
              <a:t>the </a:t>
            </a:r>
            <a:r>
              <a:rPr sz="1950" spc="100" dirty="0">
                <a:solidFill>
                  <a:srgbClr val="0000FF"/>
                </a:solidFill>
                <a:latin typeface="Arial"/>
                <a:cs typeface="Arial"/>
              </a:rPr>
              <a:t>signal </a:t>
            </a:r>
            <a:r>
              <a:rPr sz="1950" spc="215" dirty="0">
                <a:solidFill>
                  <a:srgbClr val="0000FF"/>
                </a:solidFill>
                <a:latin typeface="Arial"/>
                <a:cs typeface="Arial"/>
              </a:rPr>
              <a:t>at </a:t>
            </a:r>
            <a:r>
              <a:rPr sz="1950" spc="175" dirty="0">
                <a:solidFill>
                  <a:srgbClr val="0000FF"/>
                </a:solidFill>
                <a:latin typeface="Arial"/>
                <a:cs typeface="Arial"/>
              </a:rPr>
              <a:t>the </a:t>
            </a:r>
            <a:r>
              <a:rPr sz="1950" spc="135" dirty="0">
                <a:solidFill>
                  <a:srgbClr val="0000FF"/>
                </a:solidFill>
                <a:latin typeface="Arial"/>
                <a:cs typeface="Arial"/>
              </a:rPr>
              <a:t>begining </a:t>
            </a:r>
            <a:r>
              <a:rPr sz="1950" spc="185" dirty="0">
                <a:solidFill>
                  <a:srgbClr val="0000FF"/>
                </a:solidFill>
                <a:latin typeface="Arial"/>
                <a:cs typeface="Arial"/>
              </a:rPr>
              <a:t>of </a:t>
            </a:r>
            <a:r>
              <a:rPr sz="1950" spc="90" dirty="0">
                <a:solidFill>
                  <a:srgbClr val="0000FF"/>
                </a:solidFill>
                <a:latin typeface="Arial"/>
                <a:cs typeface="Arial"/>
              </a:rPr>
              <a:t>every </a:t>
            </a:r>
            <a:r>
              <a:rPr sz="1950" spc="204" dirty="0">
                <a:solidFill>
                  <a:srgbClr val="0000FF"/>
                </a:solidFill>
                <a:latin typeface="Arial"/>
                <a:cs typeface="Arial"/>
              </a:rPr>
              <a:t>bit </a:t>
            </a:r>
            <a:r>
              <a:rPr sz="1950" spc="490" dirty="0">
                <a:solidFill>
                  <a:srgbClr val="0000FF"/>
                </a:solidFill>
                <a:latin typeface="Arial"/>
                <a:cs typeface="Arial"/>
              </a:rPr>
              <a:t> </a:t>
            </a:r>
            <a:r>
              <a:rPr sz="1950" spc="90" dirty="0">
                <a:solidFill>
                  <a:srgbClr val="0000FF"/>
                </a:solidFill>
                <a:latin typeface="Arial"/>
                <a:cs typeface="Arial"/>
              </a:rPr>
              <a:t>cell</a:t>
            </a:r>
            <a:endParaRPr sz="1950">
              <a:latin typeface="Arial"/>
              <a:cs typeface="Arial"/>
            </a:endParaRPr>
          </a:p>
          <a:p>
            <a:pPr marL="300990" indent="-288290">
              <a:lnSpc>
                <a:spcPct val="100000"/>
              </a:lnSpc>
              <a:spcBef>
                <a:spcPts val="1614"/>
              </a:spcBef>
              <a:buSzPct val="105128"/>
              <a:buFont typeface="Lucida Sans Unicode"/>
              <a:buChar char="•"/>
              <a:tabLst>
                <a:tab pos="301625" algn="l"/>
              </a:tabLst>
            </a:pPr>
            <a:r>
              <a:rPr sz="1950" spc="155" dirty="0">
                <a:solidFill>
                  <a:srgbClr val="231F20"/>
                </a:solidFill>
                <a:latin typeface="Arial"/>
                <a:cs typeface="Arial"/>
              </a:rPr>
              <a:t>For </a:t>
            </a:r>
            <a:r>
              <a:rPr sz="1950" spc="85" dirty="0">
                <a:solidFill>
                  <a:srgbClr val="231F20"/>
                </a:solidFill>
                <a:latin typeface="Arial"/>
                <a:cs typeface="Arial"/>
              </a:rPr>
              <a:t>a </a:t>
            </a:r>
            <a:r>
              <a:rPr sz="1950" spc="155" dirty="0">
                <a:solidFill>
                  <a:srgbClr val="FF0000"/>
                </a:solidFill>
                <a:latin typeface="Arial"/>
                <a:cs typeface="Arial"/>
              </a:rPr>
              <a:t>1 </a:t>
            </a:r>
            <a:r>
              <a:rPr sz="1950" spc="190" dirty="0">
                <a:solidFill>
                  <a:srgbClr val="FF0000"/>
                </a:solidFill>
                <a:latin typeface="Arial"/>
                <a:cs typeface="Arial"/>
              </a:rPr>
              <a:t>bit</a:t>
            </a:r>
            <a:r>
              <a:rPr sz="1950" spc="190" dirty="0">
                <a:solidFill>
                  <a:srgbClr val="231F20"/>
                </a:solidFill>
                <a:latin typeface="Arial"/>
                <a:cs typeface="Arial"/>
              </a:rPr>
              <a:t>, </a:t>
            </a:r>
            <a:r>
              <a:rPr sz="1950" spc="150" dirty="0">
                <a:solidFill>
                  <a:srgbClr val="0000FF"/>
                </a:solidFill>
                <a:latin typeface="Arial"/>
                <a:cs typeface="Arial"/>
              </a:rPr>
              <a:t>flip </a:t>
            </a:r>
            <a:r>
              <a:rPr sz="1950" spc="229" dirty="0">
                <a:solidFill>
                  <a:srgbClr val="0000FF"/>
                </a:solidFill>
                <a:latin typeface="Arial"/>
                <a:cs typeface="Arial"/>
              </a:rPr>
              <a:t>it </a:t>
            </a:r>
            <a:r>
              <a:rPr sz="1950" spc="130" dirty="0">
                <a:solidFill>
                  <a:srgbClr val="0000FF"/>
                </a:solidFill>
                <a:latin typeface="Arial"/>
                <a:cs typeface="Arial"/>
              </a:rPr>
              <a:t>in </a:t>
            </a:r>
            <a:r>
              <a:rPr sz="1950" spc="175" dirty="0">
                <a:solidFill>
                  <a:srgbClr val="0000FF"/>
                </a:solidFill>
                <a:latin typeface="Arial"/>
                <a:cs typeface="Arial"/>
              </a:rPr>
              <a:t>the </a:t>
            </a:r>
            <a:r>
              <a:rPr sz="1950" spc="140" dirty="0">
                <a:solidFill>
                  <a:srgbClr val="0000FF"/>
                </a:solidFill>
                <a:latin typeface="Arial"/>
                <a:cs typeface="Arial"/>
              </a:rPr>
              <a:t>middle</a:t>
            </a:r>
            <a:r>
              <a:rPr sz="1950" spc="140" dirty="0">
                <a:solidFill>
                  <a:srgbClr val="231F20"/>
                </a:solidFill>
                <a:latin typeface="Arial"/>
                <a:cs typeface="Arial"/>
              </a:rPr>
              <a:t>, </a:t>
            </a:r>
            <a:r>
              <a:rPr sz="1950" spc="550" dirty="0">
                <a:solidFill>
                  <a:srgbClr val="231F20"/>
                </a:solidFill>
                <a:latin typeface="Arial"/>
                <a:cs typeface="Arial"/>
              </a:rPr>
              <a:t> </a:t>
            </a:r>
            <a:r>
              <a:rPr sz="1950" spc="240" dirty="0">
                <a:solidFill>
                  <a:srgbClr val="231F20"/>
                </a:solidFill>
                <a:latin typeface="Arial"/>
                <a:cs typeface="Arial"/>
              </a:rPr>
              <a:t>too</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55" dirty="0">
                <a:solidFill>
                  <a:srgbClr val="231F20"/>
                </a:solidFill>
                <a:latin typeface="Arial"/>
                <a:cs typeface="Arial"/>
              </a:rPr>
              <a:t>For </a:t>
            </a:r>
            <a:r>
              <a:rPr sz="1950" spc="85" dirty="0">
                <a:solidFill>
                  <a:srgbClr val="231F20"/>
                </a:solidFill>
                <a:latin typeface="Arial"/>
                <a:cs typeface="Arial"/>
              </a:rPr>
              <a:t>a </a:t>
            </a:r>
            <a:r>
              <a:rPr sz="1950" spc="155" dirty="0">
                <a:solidFill>
                  <a:srgbClr val="FF0000"/>
                </a:solidFill>
                <a:latin typeface="Arial"/>
                <a:cs typeface="Arial"/>
              </a:rPr>
              <a:t>0 </a:t>
            </a:r>
            <a:r>
              <a:rPr sz="1950" spc="190" dirty="0">
                <a:solidFill>
                  <a:srgbClr val="FF0000"/>
                </a:solidFill>
                <a:latin typeface="Arial"/>
                <a:cs typeface="Arial"/>
              </a:rPr>
              <a:t>bit</a:t>
            </a:r>
            <a:r>
              <a:rPr sz="1950" spc="190" dirty="0">
                <a:solidFill>
                  <a:srgbClr val="231F20"/>
                </a:solidFill>
                <a:latin typeface="Arial"/>
                <a:cs typeface="Arial"/>
              </a:rPr>
              <a:t>, </a:t>
            </a:r>
            <a:r>
              <a:rPr sz="1950" spc="70" dirty="0">
                <a:solidFill>
                  <a:srgbClr val="0000FF"/>
                </a:solidFill>
                <a:latin typeface="Arial"/>
                <a:cs typeface="Arial"/>
              </a:rPr>
              <a:t>leave </a:t>
            </a:r>
            <a:r>
              <a:rPr sz="1950" spc="229" dirty="0">
                <a:solidFill>
                  <a:srgbClr val="0000FF"/>
                </a:solidFill>
                <a:latin typeface="Arial"/>
                <a:cs typeface="Arial"/>
              </a:rPr>
              <a:t>it</a:t>
            </a:r>
            <a:r>
              <a:rPr sz="1950" spc="1000" dirty="0">
                <a:solidFill>
                  <a:srgbClr val="0000FF"/>
                </a:solidFill>
                <a:latin typeface="Arial"/>
                <a:cs typeface="Arial"/>
              </a:rPr>
              <a:t> </a:t>
            </a:r>
            <a:r>
              <a:rPr sz="1950" spc="165" dirty="0">
                <a:solidFill>
                  <a:srgbClr val="0000FF"/>
                </a:solidFill>
                <a:latin typeface="Arial"/>
                <a:cs typeface="Arial"/>
              </a:rPr>
              <a:t>constant</a:t>
            </a:r>
            <a:endParaRPr sz="1950">
              <a:latin typeface="Arial"/>
              <a:cs typeface="Arial"/>
            </a:endParaRPr>
          </a:p>
        </p:txBody>
      </p:sp>
      <p:sp>
        <p:nvSpPr>
          <p:cNvPr id="3" name="object 3"/>
          <p:cNvSpPr txBox="1"/>
          <p:nvPr/>
        </p:nvSpPr>
        <p:spPr>
          <a:xfrm>
            <a:off x="901700" y="5149456"/>
            <a:ext cx="1050290" cy="211454"/>
          </a:xfrm>
          <a:prstGeom prst="rect">
            <a:avLst/>
          </a:prstGeom>
        </p:spPr>
        <p:txBody>
          <a:bodyPr vert="horz" wrap="square" lIns="0" tIns="0" rIns="0" bIns="0" rtlCol="0">
            <a:spAutoFit/>
          </a:bodyPr>
          <a:lstStyle/>
          <a:p>
            <a:pPr marL="12700">
              <a:lnSpc>
                <a:spcPct val="100000"/>
              </a:lnSpc>
            </a:pPr>
            <a:r>
              <a:rPr sz="1300" spc="25" dirty="0">
                <a:latin typeface="Times New Roman"/>
                <a:cs typeface="Times New Roman"/>
              </a:rPr>
              <a:t>BMP</a:t>
            </a:r>
            <a:r>
              <a:rPr sz="1300" spc="-75" dirty="0">
                <a:latin typeface="Times New Roman"/>
                <a:cs typeface="Times New Roman"/>
              </a:rPr>
              <a:t> </a:t>
            </a:r>
            <a:r>
              <a:rPr sz="1300" spc="15" dirty="0">
                <a:latin typeface="Times New Roman"/>
                <a:cs typeface="Times New Roman"/>
              </a:rPr>
              <a:t>encoding</a:t>
            </a:r>
            <a:endParaRPr sz="1300">
              <a:latin typeface="Times New Roman"/>
              <a:cs typeface="Times New Roman"/>
            </a:endParaRPr>
          </a:p>
        </p:txBody>
      </p:sp>
      <p:sp>
        <p:nvSpPr>
          <p:cNvPr id="4" name="object 4"/>
          <p:cNvSpPr/>
          <p:nvPr/>
        </p:nvSpPr>
        <p:spPr>
          <a:xfrm>
            <a:off x="2330399" y="5102149"/>
            <a:ext cx="6797040" cy="566420"/>
          </a:xfrm>
          <a:custGeom>
            <a:avLst/>
            <a:gdLst/>
            <a:ahLst/>
            <a:cxnLst/>
            <a:rect l="l" t="t" r="r" b="b"/>
            <a:pathLst>
              <a:path w="6797040" h="566420">
                <a:moveTo>
                  <a:pt x="0" y="0"/>
                </a:moveTo>
                <a:lnTo>
                  <a:pt x="283210" y="0"/>
                </a:lnTo>
                <a:lnTo>
                  <a:pt x="283210" y="566407"/>
                </a:lnTo>
                <a:lnTo>
                  <a:pt x="566407" y="566407"/>
                </a:lnTo>
                <a:lnTo>
                  <a:pt x="566407" y="0"/>
                </a:lnTo>
                <a:lnTo>
                  <a:pt x="849604" y="0"/>
                </a:lnTo>
                <a:lnTo>
                  <a:pt x="849604" y="566407"/>
                </a:lnTo>
                <a:lnTo>
                  <a:pt x="1132801" y="566407"/>
                </a:lnTo>
                <a:lnTo>
                  <a:pt x="1132801" y="0"/>
                </a:lnTo>
                <a:lnTo>
                  <a:pt x="1699209" y="0"/>
                </a:lnTo>
                <a:lnTo>
                  <a:pt x="1699209" y="566407"/>
                </a:lnTo>
                <a:lnTo>
                  <a:pt x="1982406" y="566407"/>
                </a:lnTo>
                <a:lnTo>
                  <a:pt x="1982406" y="0"/>
                </a:lnTo>
                <a:lnTo>
                  <a:pt x="2265616" y="0"/>
                </a:lnTo>
                <a:lnTo>
                  <a:pt x="2265616" y="566407"/>
                </a:lnTo>
                <a:lnTo>
                  <a:pt x="2832011" y="566407"/>
                </a:lnTo>
                <a:lnTo>
                  <a:pt x="2832011" y="0"/>
                </a:lnTo>
                <a:lnTo>
                  <a:pt x="3398418" y="0"/>
                </a:lnTo>
                <a:lnTo>
                  <a:pt x="3398418" y="566407"/>
                </a:lnTo>
                <a:lnTo>
                  <a:pt x="3681615" y="566407"/>
                </a:lnTo>
                <a:lnTo>
                  <a:pt x="3681615" y="0"/>
                </a:lnTo>
                <a:lnTo>
                  <a:pt x="3964813" y="0"/>
                </a:lnTo>
                <a:lnTo>
                  <a:pt x="3964813" y="566407"/>
                </a:lnTo>
                <a:lnTo>
                  <a:pt x="4248010" y="566407"/>
                </a:lnTo>
                <a:lnTo>
                  <a:pt x="4248010" y="0"/>
                </a:lnTo>
                <a:lnTo>
                  <a:pt x="4531207" y="0"/>
                </a:lnTo>
                <a:lnTo>
                  <a:pt x="4531207" y="566407"/>
                </a:lnTo>
                <a:lnTo>
                  <a:pt x="4814417" y="566407"/>
                </a:lnTo>
                <a:lnTo>
                  <a:pt x="4814417" y="0"/>
                </a:lnTo>
                <a:lnTo>
                  <a:pt x="5097614" y="0"/>
                </a:lnTo>
                <a:lnTo>
                  <a:pt x="5097614" y="566407"/>
                </a:lnTo>
                <a:lnTo>
                  <a:pt x="5664022" y="566407"/>
                </a:lnTo>
                <a:lnTo>
                  <a:pt x="5664022" y="0"/>
                </a:lnTo>
                <a:lnTo>
                  <a:pt x="5947219" y="0"/>
                </a:lnTo>
                <a:lnTo>
                  <a:pt x="5947219" y="566407"/>
                </a:lnTo>
                <a:lnTo>
                  <a:pt x="6230416" y="566407"/>
                </a:lnTo>
                <a:lnTo>
                  <a:pt x="6230416" y="0"/>
                </a:lnTo>
                <a:lnTo>
                  <a:pt x="6513614" y="0"/>
                </a:lnTo>
                <a:lnTo>
                  <a:pt x="6513614" y="566407"/>
                </a:lnTo>
                <a:lnTo>
                  <a:pt x="6796824" y="566407"/>
                </a:lnTo>
              </a:path>
            </a:pathLst>
          </a:custGeom>
          <a:ln w="7080">
            <a:solidFill>
              <a:srgbClr val="000000"/>
            </a:solidFill>
          </a:ln>
        </p:spPr>
        <p:txBody>
          <a:bodyPr wrap="square" lIns="0" tIns="0" rIns="0" bIns="0" rtlCol="0"/>
          <a:lstStyle/>
          <a:p>
            <a:endParaRPr/>
          </a:p>
        </p:txBody>
      </p:sp>
      <p:sp>
        <p:nvSpPr>
          <p:cNvPr id="5" name="object 5"/>
          <p:cNvSpPr txBox="1"/>
          <p:nvPr/>
        </p:nvSpPr>
        <p:spPr>
          <a:xfrm>
            <a:off x="2558427"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1</a:t>
            </a:r>
            <a:endParaRPr sz="1300">
              <a:latin typeface="Times New Roman"/>
              <a:cs typeface="Times New Roman"/>
            </a:endParaRPr>
          </a:p>
        </p:txBody>
      </p:sp>
      <p:sp>
        <p:nvSpPr>
          <p:cNvPr id="6" name="object 6"/>
          <p:cNvSpPr txBox="1"/>
          <p:nvPr/>
        </p:nvSpPr>
        <p:spPr>
          <a:xfrm>
            <a:off x="3124830"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1</a:t>
            </a:r>
            <a:endParaRPr sz="1300">
              <a:latin typeface="Times New Roman"/>
              <a:cs typeface="Times New Roman"/>
            </a:endParaRPr>
          </a:p>
        </p:txBody>
      </p:sp>
      <p:sp>
        <p:nvSpPr>
          <p:cNvPr id="7" name="object 7"/>
          <p:cNvSpPr txBox="1"/>
          <p:nvPr/>
        </p:nvSpPr>
        <p:spPr>
          <a:xfrm>
            <a:off x="3691237"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0</a:t>
            </a:r>
            <a:endParaRPr sz="1300">
              <a:latin typeface="Times New Roman"/>
              <a:cs typeface="Times New Roman"/>
            </a:endParaRPr>
          </a:p>
        </p:txBody>
      </p:sp>
      <p:sp>
        <p:nvSpPr>
          <p:cNvPr id="8" name="object 8"/>
          <p:cNvSpPr txBox="1"/>
          <p:nvPr/>
        </p:nvSpPr>
        <p:spPr>
          <a:xfrm>
            <a:off x="4257640"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1</a:t>
            </a:r>
            <a:endParaRPr sz="1300">
              <a:latin typeface="Times New Roman"/>
              <a:cs typeface="Times New Roman"/>
            </a:endParaRPr>
          </a:p>
        </p:txBody>
      </p:sp>
      <p:sp>
        <p:nvSpPr>
          <p:cNvPr id="9" name="object 9"/>
          <p:cNvSpPr txBox="1"/>
          <p:nvPr/>
        </p:nvSpPr>
        <p:spPr>
          <a:xfrm>
            <a:off x="4824042"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0</a:t>
            </a:r>
            <a:endParaRPr sz="1300">
              <a:latin typeface="Times New Roman"/>
              <a:cs typeface="Times New Roman"/>
            </a:endParaRPr>
          </a:p>
        </p:txBody>
      </p:sp>
      <p:sp>
        <p:nvSpPr>
          <p:cNvPr id="10" name="object 10"/>
          <p:cNvSpPr txBox="1"/>
          <p:nvPr/>
        </p:nvSpPr>
        <p:spPr>
          <a:xfrm>
            <a:off x="5390445"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0</a:t>
            </a:r>
            <a:endParaRPr sz="1300">
              <a:latin typeface="Times New Roman"/>
              <a:cs typeface="Times New Roman"/>
            </a:endParaRPr>
          </a:p>
        </p:txBody>
      </p:sp>
      <p:sp>
        <p:nvSpPr>
          <p:cNvPr id="11" name="object 11"/>
          <p:cNvSpPr txBox="1"/>
          <p:nvPr/>
        </p:nvSpPr>
        <p:spPr>
          <a:xfrm>
            <a:off x="5956851"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1</a:t>
            </a:r>
            <a:endParaRPr sz="1300">
              <a:latin typeface="Times New Roman"/>
              <a:cs typeface="Times New Roman"/>
            </a:endParaRPr>
          </a:p>
        </p:txBody>
      </p:sp>
      <p:sp>
        <p:nvSpPr>
          <p:cNvPr id="12" name="object 12"/>
          <p:cNvSpPr txBox="1"/>
          <p:nvPr/>
        </p:nvSpPr>
        <p:spPr>
          <a:xfrm>
            <a:off x="6523253"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1</a:t>
            </a:r>
            <a:endParaRPr sz="1300">
              <a:latin typeface="Times New Roman"/>
              <a:cs typeface="Times New Roman"/>
            </a:endParaRPr>
          </a:p>
        </p:txBody>
      </p:sp>
      <p:sp>
        <p:nvSpPr>
          <p:cNvPr id="13" name="object 13"/>
          <p:cNvSpPr txBox="1"/>
          <p:nvPr/>
        </p:nvSpPr>
        <p:spPr>
          <a:xfrm>
            <a:off x="7089656"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1</a:t>
            </a:r>
            <a:endParaRPr sz="1300">
              <a:latin typeface="Times New Roman"/>
              <a:cs typeface="Times New Roman"/>
            </a:endParaRPr>
          </a:p>
        </p:txBody>
      </p:sp>
      <p:sp>
        <p:nvSpPr>
          <p:cNvPr id="14" name="object 14"/>
          <p:cNvSpPr txBox="1"/>
          <p:nvPr/>
        </p:nvSpPr>
        <p:spPr>
          <a:xfrm>
            <a:off x="7656059"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0</a:t>
            </a:r>
            <a:endParaRPr sz="1300">
              <a:latin typeface="Times New Roman"/>
              <a:cs typeface="Times New Roman"/>
            </a:endParaRPr>
          </a:p>
        </p:txBody>
      </p:sp>
      <p:sp>
        <p:nvSpPr>
          <p:cNvPr id="15" name="object 15"/>
          <p:cNvSpPr txBox="1"/>
          <p:nvPr/>
        </p:nvSpPr>
        <p:spPr>
          <a:xfrm>
            <a:off x="8222464"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1</a:t>
            </a:r>
            <a:endParaRPr sz="1300">
              <a:latin typeface="Times New Roman"/>
              <a:cs typeface="Times New Roman"/>
            </a:endParaRPr>
          </a:p>
        </p:txBody>
      </p:sp>
      <p:sp>
        <p:nvSpPr>
          <p:cNvPr id="16" name="object 16"/>
          <p:cNvSpPr txBox="1"/>
          <p:nvPr/>
        </p:nvSpPr>
        <p:spPr>
          <a:xfrm>
            <a:off x="8788867" y="4016654"/>
            <a:ext cx="110489"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1</a:t>
            </a:r>
            <a:endParaRPr sz="1300">
              <a:latin typeface="Times New Roman"/>
              <a:cs typeface="Times New Roman"/>
            </a:endParaRPr>
          </a:p>
        </p:txBody>
      </p:sp>
      <p:sp>
        <p:nvSpPr>
          <p:cNvPr id="17" name="object 17"/>
          <p:cNvSpPr txBox="1"/>
          <p:nvPr/>
        </p:nvSpPr>
        <p:spPr>
          <a:xfrm>
            <a:off x="901700" y="2883852"/>
            <a:ext cx="1219835" cy="211454"/>
          </a:xfrm>
          <a:prstGeom prst="rect">
            <a:avLst/>
          </a:prstGeom>
        </p:spPr>
        <p:txBody>
          <a:bodyPr vert="horz" wrap="square" lIns="0" tIns="0" rIns="0" bIns="0" rtlCol="0">
            <a:spAutoFit/>
          </a:bodyPr>
          <a:lstStyle/>
          <a:p>
            <a:pPr marL="12700">
              <a:lnSpc>
                <a:spcPct val="100000"/>
              </a:lnSpc>
            </a:pPr>
            <a:r>
              <a:rPr sz="1300" spc="15" dirty="0">
                <a:latin typeface="Times New Roman"/>
                <a:cs typeface="Times New Roman"/>
              </a:rPr>
              <a:t>Original</a:t>
            </a:r>
            <a:r>
              <a:rPr sz="1300" spc="-80" dirty="0">
                <a:latin typeface="Times New Roman"/>
                <a:cs typeface="Times New Roman"/>
              </a:rPr>
              <a:t> </a:t>
            </a:r>
            <a:r>
              <a:rPr sz="1300" spc="15" dirty="0">
                <a:latin typeface="Times New Roman"/>
                <a:cs typeface="Times New Roman"/>
              </a:rPr>
              <a:t>bitsream</a:t>
            </a:r>
            <a:endParaRPr sz="1300">
              <a:latin typeface="Times New Roman"/>
              <a:cs typeface="Times New Roman"/>
            </a:endParaRPr>
          </a:p>
        </p:txBody>
      </p:sp>
      <p:sp>
        <p:nvSpPr>
          <p:cNvPr id="18" name="object 18"/>
          <p:cNvSpPr/>
          <p:nvPr/>
        </p:nvSpPr>
        <p:spPr>
          <a:xfrm>
            <a:off x="2330399" y="2836545"/>
            <a:ext cx="6797040" cy="566420"/>
          </a:xfrm>
          <a:custGeom>
            <a:avLst/>
            <a:gdLst/>
            <a:ahLst/>
            <a:cxnLst/>
            <a:rect l="l" t="t" r="r" b="b"/>
            <a:pathLst>
              <a:path w="6797040" h="566420">
                <a:moveTo>
                  <a:pt x="0" y="0"/>
                </a:moveTo>
                <a:lnTo>
                  <a:pt x="1132801" y="0"/>
                </a:lnTo>
                <a:lnTo>
                  <a:pt x="1132801" y="566407"/>
                </a:lnTo>
                <a:lnTo>
                  <a:pt x="1699209" y="566407"/>
                </a:lnTo>
                <a:lnTo>
                  <a:pt x="1699209" y="0"/>
                </a:lnTo>
                <a:lnTo>
                  <a:pt x="2265616" y="0"/>
                </a:lnTo>
                <a:lnTo>
                  <a:pt x="2265616" y="566407"/>
                </a:lnTo>
                <a:lnTo>
                  <a:pt x="3398418" y="566407"/>
                </a:lnTo>
                <a:lnTo>
                  <a:pt x="3398418" y="0"/>
                </a:lnTo>
                <a:lnTo>
                  <a:pt x="5097614" y="0"/>
                </a:lnTo>
                <a:lnTo>
                  <a:pt x="5097614" y="566407"/>
                </a:lnTo>
                <a:lnTo>
                  <a:pt x="5664022" y="566407"/>
                </a:lnTo>
                <a:lnTo>
                  <a:pt x="5664022" y="0"/>
                </a:lnTo>
                <a:lnTo>
                  <a:pt x="6796824" y="0"/>
                </a:lnTo>
              </a:path>
            </a:pathLst>
          </a:custGeom>
          <a:ln w="7080">
            <a:solidFill>
              <a:srgbClr val="000000"/>
            </a:solidFill>
          </a:ln>
        </p:spPr>
        <p:txBody>
          <a:bodyPr wrap="square" lIns="0" tIns="0" rIns="0" bIns="0" rtlCol="0"/>
          <a:lstStyle/>
          <a:p>
            <a:endParaRPr/>
          </a:p>
        </p:txBody>
      </p:sp>
      <p:sp>
        <p:nvSpPr>
          <p:cNvPr id="19" name="object 19"/>
          <p:cNvSpPr txBox="1"/>
          <p:nvPr/>
        </p:nvSpPr>
        <p:spPr>
          <a:xfrm>
            <a:off x="901700" y="5860427"/>
            <a:ext cx="8221980" cy="760730"/>
          </a:xfrm>
          <a:prstGeom prst="rect">
            <a:avLst/>
          </a:prstGeom>
        </p:spPr>
        <p:txBody>
          <a:bodyPr vert="horz" wrap="square" lIns="0" tIns="0" rIns="0" bIns="0" rtlCol="0">
            <a:spAutoFit/>
          </a:bodyPr>
          <a:lstStyle/>
          <a:p>
            <a:pPr marL="12700" marR="5080">
              <a:lnSpc>
                <a:spcPct val="125000"/>
              </a:lnSpc>
            </a:pPr>
            <a:r>
              <a:rPr sz="1950" spc="145" dirty="0">
                <a:solidFill>
                  <a:srgbClr val="0000FF"/>
                </a:solidFill>
                <a:latin typeface="Arial"/>
                <a:cs typeface="Arial"/>
              </a:rPr>
              <a:t>Prove this </a:t>
            </a:r>
            <a:r>
              <a:rPr sz="1950" spc="120" dirty="0">
                <a:solidFill>
                  <a:srgbClr val="0000FF"/>
                </a:solidFill>
                <a:latin typeface="Arial"/>
                <a:cs typeface="Arial"/>
              </a:rPr>
              <a:t>works provided </a:t>
            </a:r>
            <a:r>
              <a:rPr sz="1950" spc="175" dirty="0">
                <a:solidFill>
                  <a:srgbClr val="0000FF"/>
                </a:solidFill>
                <a:latin typeface="Arial"/>
                <a:cs typeface="Arial"/>
              </a:rPr>
              <a:t>the </a:t>
            </a:r>
            <a:r>
              <a:rPr sz="1950" spc="80" dirty="0">
                <a:solidFill>
                  <a:srgbClr val="0000FF"/>
                </a:solidFill>
                <a:latin typeface="Arial"/>
                <a:cs typeface="Arial"/>
              </a:rPr>
              <a:t>sender </a:t>
            </a:r>
            <a:r>
              <a:rPr sz="1950" spc="130" dirty="0">
                <a:solidFill>
                  <a:srgbClr val="0000FF"/>
                </a:solidFill>
                <a:latin typeface="Arial"/>
                <a:cs typeface="Arial"/>
              </a:rPr>
              <a:t>and </a:t>
            </a:r>
            <a:r>
              <a:rPr sz="1950" spc="90" dirty="0">
                <a:solidFill>
                  <a:srgbClr val="0000FF"/>
                </a:solidFill>
                <a:latin typeface="Arial"/>
                <a:cs typeface="Arial"/>
              </a:rPr>
              <a:t>reciever </a:t>
            </a:r>
            <a:r>
              <a:rPr sz="1950" spc="125" dirty="0">
                <a:solidFill>
                  <a:srgbClr val="0000FF"/>
                </a:solidFill>
                <a:latin typeface="Arial"/>
                <a:cs typeface="Arial"/>
              </a:rPr>
              <a:t>clocks </a:t>
            </a:r>
            <a:r>
              <a:rPr sz="1950" spc="160" dirty="0">
                <a:solidFill>
                  <a:srgbClr val="0000FF"/>
                </a:solidFill>
                <a:latin typeface="Arial"/>
                <a:cs typeface="Arial"/>
              </a:rPr>
              <a:t>run </a:t>
            </a:r>
            <a:r>
              <a:rPr sz="1950" spc="215" dirty="0">
                <a:solidFill>
                  <a:srgbClr val="0000FF"/>
                </a:solidFill>
                <a:latin typeface="Arial"/>
                <a:cs typeface="Arial"/>
              </a:rPr>
              <a:t>at  </a:t>
            </a:r>
            <a:r>
              <a:rPr sz="1950" spc="114" dirty="0">
                <a:solidFill>
                  <a:srgbClr val="0000FF"/>
                </a:solidFill>
                <a:latin typeface="Arial"/>
                <a:cs typeface="Arial"/>
              </a:rPr>
              <a:t>similar</a:t>
            </a:r>
            <a:r>
              <a:rPr sz="1950" spc="185" dirty="0">
                <a:solidFill>
                  <a:srgbClr val="0000FF"/>
                </a:solidFill>
                <a:latin typeface="Arial"/>
                <a:cs typeface="Arial"/>
              </a:rPr>
              <a:t> </a:t>
            </a:r>
            <a:r>
              <a:rPr sz="1950" spc="120" dirty="0">
                <a:solidFill>
                  <a:srgbClr val="0000FF"/>
                </a:solidFill>
                <a:latin typeface="Arial"/>
                <a:cs typeface="Arial"/>
              </a:rPr>
              <a:t>rates</a:t>
            </a:r>
            <a:endParaRPr sz="1950">
              <a:latin typeface="Arial"/>
              <a:cs typeface="Arial"/>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1897075"/>
            <a:ext cx="8131175" cy="2995295"/>
          </a:xfrm>
          <a:prstGeom prst="rect">
            <a:avLst/>
          </a:prstGeom>
        </p:spPr>
        <p:txBody>
          <a:bodyPr vert="horz" wrap="square" lIns="0" tIns="0" rIns="0" bIns="0" rtlCol="0">
            <a:spAutoFit/>
          </a:bodyPr>
          <a:lstStyle/>
          <a:p>
            <a:pPr marL="1642110">
              <a:lnSpc>
                <a:spcPct val="100000"/>
              </a:lnSpc>
            </a:pPr>
            <a:r>
              <a:rPr sz="1950" spc="225" dirty="0">
                <a:solidFill>
                  <a:srgbClr val="231F20"/>
                </a:solidFill>
                <a:latin typeface="Arial"/>
                <a:cs typeface="Arial"/>
              </a:rPr>
              <a:t>Biphase </a:t>
            </a:r>
            <a:r>
              <a:rPr sz="1950" spc="315" dirty="0">
                <a:solidFill>
                  <a:srgbClr val="231F20"/>
                </a:solidFill>
                <a:latin typeface="Arial"/>
                <a:cs typeface="Arial"/>
              </a:rPr>
              <a:t>Mark </a:t>
            </a:r>
            <a:r>
              <a:rPr sz="1950" spc="300" dirty="0">
                <a:solidFill>
                  <a:srgbClr val="231F20"/>
                </a:solidFill>
                <a:latin typeface="Arial"/>
                <a:cs typeface="Arial"/>
              </a:rPr>
              <a:t>Protocol</a:t>
            </a:r>
            <a:r>
              <a:rPr sz="1950" spc="530" dirty="0">
                <a:solidFill>
                  <a:srgbClr val="231F20"/>
                </a:solidFill>
                <a:latin typeface="Arial"/>
                <a:cs typeface="Arial"/>
              </a:rPr>
              <a:t> </a:t>
            </a:r>
            <a:r>
              <a:rPr sz="1950" spc="245" dirty="0">
                <a:solidFill>
                  <a:srgbClr val="231F20"/>
                </a:solidFill>
                <a:latin typeface="Arial"/>
                <a:cs typeface="Arial"/>
              </a:rPr>
              <a:t>Verification</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25" dirty="0">
                <a:solidFill>
                  <a:srgbClr val="FF0000"/>
                </a:solidFill>
                <a:latin typeface="Arial"/>
                <a:cs typeface="Arial"/>
              </a:rPr>
              <a:t>Verified </a:t>
            </a:r>
            <a:r>
              <a:rPr sz="1950" spc="105" dirty="0">
                <a:solidFill>
                  <a:srgbClr val="231F20"/>
                </a:solidFill>
                <a:latin typeface="Arial"/>
                <a:cs typeface="Arial"/>
              </a:rPr>
              <a:t>by </a:t>
            </a:r>
            <a:r>
              <a:rPr sz="1950" spc="145" dirty="0">
                <a:solidFill>
                  <a:srgbClr val="231F20"/>
                </a:solidFill>
                <a:latin typeface="Arial"/>
                <a:cs typeface="Arial"/>
              </a:rPr>
              <a:t>human-guided </a:t>
            </a:r>
            <a:r>
              <a:rPr sz="1950" spc="170" dirty="0">
                <a:solidFill>
                  <a:srgbClr val="231F20"/>
                </a:solidFill>
                <a:latin typeface="Arial"/>
                <a:cs typeface="Arial"/>
              </a:rPr>
              <a:t>proof </a:t>
            </a:r>
            <a:r>
              <a:rPr sz="1950" spc="130" dirty="0">
                <a:solidFill>
                  <a:srgbClr val="231F20"/>
                </a:solidFill>
                <a:latin typeface="Arial"/>
                <a:cs typeface="Arial"/>
              </a:rPr>
              <a:t>in </a:t>
            </a:r>
            <a:r>
              <a:rPr sz="1950" spc="215" dirty="0">
                <a:solidFill>
                  <a:srgbClr val="0000FF"/>
                </a:solidFill>
                <a:latin typeface="Arial"/>
                <a:cs typeface="Arial"/>
              </a:rPr>
              <a:t>ACL2 </a:t>
            </a:r>
            <a:r>
              <a:rPr sz="1950" spc="105" dirty="0">
                <a:solidFill>
                  <a:srgbClr val="231F20"/>
                </a:solidFill>
                <a:latin typeface="Arial"/>
                <a:cs typeface="Arial"/>
              </a:rPr>
              <a:t>by </a:t>
            </a:r>
            <a:r>
              <a:rPr sz="1950" spc="165" dirty="0">
                <a:solidFill>
                  <a:srgbClr val="231F20"/>
                </a:solidFill>
                <a:latin typeface="Arial"/>
                <a:cs typeface="Arial"/>
              </a:rPr>
              <a:t>J </a:t>
            </a:r>
            <a:r>
              <a:rPr sz="1950" spc="175" dirty="0">
                <a:solidFill>
                  <a:srgbClr val="231F20"/>
                </a:solidFill>
                <a:latin typeface="Arial"/>
                <a:cs typeface="Arial"/>
              </a:rPr>
              <a:t>Moore </a:t>
            </a:r>
            <a:r>
              <a:rPr sz="1950" spc="690" dirty="0">
                <a:solidFill>
                  <a:srgbClr val="231F20"/>
                </a:solidFill>
                <a:latin typeface="Arial"/>
                <a:cs typeface="Arial"/>
              </a:rPr>
              <a:t> </a:t>
            </a:r>
            <a:r>
              <a:rPr sz="1950" spc="204" dirty="0">
                <a:solidFill>
                  <a:srgbClr val="231F20"/>
                </a:solidFill>
                <a:latin typeface="Arial"/>
                <a:cs typeface="Arial"/>
              </a:rPr>
              <a:t>(1994)</a:t>
            </a:r>
            <a:endParaRPr sz="1950">
              <a:latin typeface="Arial"/>
              <a:cs typeface="Arial"/>
            </a:endParaRPr>
          </a:p>
          <a:p>
            <a:pPr>
              <a:lnSpc>
                <a:spcPct val="100000"/>
              </a:lnSpc>
              <a:spcBef>
                <a:spcPts val="31"/>
              </a:spcBef>
              <a:buClr>
                <a:srgbClr val="231F20"/>
              </a:buClr>
              <a:buFont typeface="Lucida Sans Unicode"/>
              <a:buChar char="•"/>
            </a:pPr>
            <a:endParaRPr sz="1650">
              <a:latin typeface="Times New Roman"/>
              <a:cs typeface="Times New Roman"/>
            </a:endParaRPr>
          </a:p>
          <a:p>
            <a:pPr marL="300990" indent="-288290">
              <a:lnSpc>
                <a:spcPct val="100000"/>
              </a:lnSpc>
              <a:buClr>
                <a:srgbClr val="231F20"/>
              </a:buClr>
              <a:buSzPct val="105128"/>
              <a:buFont typeface="Lucida Sans Unicode"/>
              <a:buChar char="•"/>
              <a:tabLst>
                <a:tab pos="301625" algn="l"/>
              </a:tabLst>
            </a:pPr>
            <a:r>
              <a:rPr sz="1950" spc="185" dirty="0">
                <a:solidFill>
                  <a:srgbClr val="FF0000"/>
                </a:solidFill>
                <a:latin typeface="Arial"/>
                <a:cs typeface="Arial"/>
              </a:rPr>
              <a:t>Three </a:t>
            </a:r>
            <a:r>
              <a:rPr sz="1950" spc="145" dirty="0">
                <a:solidFill>
                  <a:srgbClr val="FF0000"/>
                </a:solidFill>
                <a:latin typeface="Arial"/>
                <a:cs typeface="Arial"/>
              </a:rPr>
              <a:t>different </a:t>
            </a:r>
            <a:r>
              <a:rPr sz="1950" spc="130" dirty="0">
                <a:solidFill>
                  <a:srgbClr val="FF0000"/>
                </a:solidFill>
                <a:latin typeface="Arial"/>
                <a:cs typeface="Arial"/>
              </a:rPr>
              <a:t>verifications </a:t>
            </a:r>
            <a:r>
              <a:rPr sz="1950" spc="70" dirty="0">
                <a:solidFill>
                  <a:srgbClr val="231F20"/>
                </a:solidFill>
                <a:latin typeface="Arial"/>
                <a:cs typeface="Arial"/>
              </a:rPr>
              <a:t>used</a:t>
            </a:r>
            <a:r>
              <a:rPr sz="1950" spc="665" dirty="0">
                <a:solidFill>
                  <a:srgbClr val="231F20"/>
                </a:solidFill>
                <a:latin typeface="Arial"/>
                <a:cs typeface="Arial"/>
              </a:rPr>
              <a:t> </a:t>
            </a:r>
            <a:r>
              <a:rPr sz="1950" spc="204" dirty="0">
                <a:solidFill>
                  <a:srgbClr val="0000FF"/>
                </a:solidFill>
                <a:latin typeface="Arial"/>
                <a:cs typeface="Arial"/>
              </a:rPr>
              <a:t>PVS</a:t>
            </a:r>
            <a:endParaRPr sz="1950">
              <a:latin typeface="Arial"/>
              <a:cs typeface="Arial"/>
            </a:endParaRPr>
          </a:p>
          <a:p>
            <a:pPr marL="741680" marR="5080" lvl="1" indent="-288290">
              <a:lnSpc>
                <a:spcPct val="124000"/>
              </a:lnSpc>
              <a:spcBef>
                <a:spcPts val="409"/>
              </a:spcBef>
              <a:buSzPct val="105128"/>
              <a:buFont typeface="Lucida Sans Unicode"/>
              <a:buChar char="◦"/>
              <a:tabLst>
                <a:tab pos="742315" algn="l"/>
              </a:tabLst>
            </a:pPr>
            <a:r>
              <a:rPr sz="1950" spc="185" dirty="0">
                <a:solidFill>
                  <a:srgbClr val="231F20"/>
                </a:solidFill>
                <a:latin typeface="Arial"/>
                <a:cs typeface="Arial"/>
              </a:rPr>
              <a:t>One </a:t>
            </a:r>
            <a:r>
              <a:rPr sz="1950" spc="105" dirty="0">
                <a:solidFill>
                  <a:srgbClr val="231F20"/>
                </a:solidFill>
                <a:latin typeface="Arial"/>
                <a:cs typeface="Arial"/>
              </a:rPr>
              <a:t>by </a:t>
            </a:r>
            <a:r>
              <a:rPr sz="1950" spc="175" dirty="0">
                <a:solidFill>
                  <a:srgbClr val="231F20"/>
                </a:solidFill>
                <a:latin typeface="Arial"/>
                <a:cs typeface="Arial"/>
              </a:rPr>
              <a:t>Groote </a:t>
            </a:r>
            <a:r>
              <a:rPr sz="1950" spc="130" dirty="0">
                <a:solidFill>
                  <a:srgbClr val="231F20"/>
                </a:solidFill>
                <a:latin typeface="Arial"/>
                <a:cs typeface="Arial"/>
              </a:rPr>
              <a:t>and Vaandrager </a:t>
            </a:r>
            <a:r>
              <a:rPr sz="1950" spc="70" dirty="0">
                <a:solidFill>
                  <a:srgbClr val="231F20"/>
                </a:solidFill>
                <a:latin typeface="Arial"/>
                <a:cs typeface="Arial"/>
              </a:rPr>
              <a:t>used </a:t>
            </a:r>
            <a:r>
              <a:rPr sz="1950" spc="204" dirty="0">
                <a:solidFill>
                  <a:srgbClr val="0000FF"/>
                </a:solidFill>
                <a:latin typeface="Arial"/>
                <a:cs typeface="Arial"/>
              </a:rPr>
              <a:t>PVS </a:t>
            </a:r>
            <a:r>
              <a:rPr sz="2050" spc="114" dirty="0">
                <a:solidFill>
                  <a:srgbClr val="0000FF"/>
                </a:solidFill>
                <a:latin typeface="Tahoma"/>
                <a:cs typeface="Tahoma"/>
              </a:rPr>
              <a:t>+ </a:t>
            </a:r>
            <a:r>
              <a:rPr sz="1950" spc="229" dirty="0">
                <a:solidFill>
                  <a:srgbClr val="0000FF"/>
                </a:solidFill>
                <a:latin typeface="Arial"/>
                <a:cs typeface="Arial"/>
              </a:rPr>
              <a:t>UPPAAL  </a:t>
            </a:r>
            <a:r>
              <a:rPr sz="1950" spc="114" dirty="0">
                <a:solidFill>
                  <a:srgbClr val="231F20"/>
                </a:solidFill>
                <a:latin typeface="Arial"/>
                <a:cs typeface="Arial"/>
              </a:rPr>
              <a:t>required </a:t>
            </a:r>
            <a:r>
              <a:rPr sz="1950" spc="155" dirty="0">
                <a:solidFill>
                  <a:srgbClr val="FF0000"/>
                </a:solidFill>
                <a:latin typeface="Arial"/>
                <a:cs typeface="Arial"/>
              </a:rPr>
              <a:t>37 </a:t>
            </a:r>
            <a:r>
              <a:rPr sz="1950" spc="125" dirty="0">
                <a:solidFill>
                  <a:srgbClr val="231F20"/>
                </a:solidFill>
                <a:latin typeface="Arial"/>
                <a:cs typeface="Arial"/>
              </a:rPr>
              <a:t>invariants, </a:t>
            </a:r>
            <a:r>
              <a:rPr sz="1950" spc="150" dirty="0">
                <a:solidFill>
                  <a:srgbClr val="FF0000"/>
                </a:solidFill>
                <a:latin typeface="Arial"/>
                <a:cs typeface="Arial"/>
              </a:rPr>
              <a:t>4,000 </a:t>
            </a:r>
            <a:r>
              <a:rPr sz="1950" spc="170" dirty="0">
                <a:solidFill>
                  <a:srgbClr val="231F20"/>
                </a:solidFill>
                <a:latin typeface="Arial"/>
                <a:cs typeface="Arial"/>
              </a:rPr>
              <a:t>proof </a:t>
            </a:r>
            <a:r>
              <a:rPr sz="1950" spc="100" dirty="0">
                <a:solidFill>
                  <a:srgbClr val="231F20"/>
                </a:solidFill>
                <a:latin typeface="Arial"/>
                <a:cs typeface="Arial"/>
              </a:rPr>
              <a:t>steps, </a:t>
            </a:r>
            <a:r>
              <a:rPr sz="1950" spc="120" dirty="0">
                <a:solidFill>
                  <a:srgbClr val="FF0000"/>
                </a:solidFill>
                <a:latin typeface="Arial"/>
                <a:cs typeface="Arial"/>
              </a:rPr>
              <a:t>hours </a:t>
            </a:r>
            <a:r>
              <a:rPr sz="1950" spc="185" dirty="0">
                <a:solidFill>
                  <a:srgbClr val="231F20"/>
                </a:solidFill>
                <a:latin typeface="Arial"/>
                <a:cs typeface="Arial"/>
              </a:rPr>
              <a:t>of </a:t>
            </a:r>
            <a:r>
              <a:rPr sz="1950" spc="120" dirty="0">
                <a:solidFill>
                  <a:srgbClr val="231F20"/>
                </a:solidFill>
                <a:latin typeface="Arial"/>
                <a:cs typeface="Arial"/>
              </a:rPr>
              <a:t>prover  </a:t>
            </a:r>
            <a:r>
              <a:rPr sz="1950" spc="195" dirty="0">
                <a:solidFill>
                  <a:srgbClr val="231F20"/>
                </a:solidFill>
                <a:latin typeface="Arial"/>
                <a:cs typeface="Arial"/>
              </a:rPr>
              <a:t>time </a:t>
            </a:r>
            <a:r>
              <a:rPr sz="1950" spc="250" dirty="0">
                <a:solidFill>
                  <a:srgbClr val="231F20"/>
                </a:solidFill>
                <a:latin typeface="Arial"/>
                <a:cs typeface="Arial"/>
              </a:rPr>
              <a:t>to</a:t>
            </a:r>
            <a:r>
              <a:rPr sz="1950" spc="290" dirty="0">
                <a:solidFill>
                  <a:srgbClr val="231F20"/>
                </a:solidFill>
                <a:latin typeface="Arial"/>
                <a:cs typeface="Arial"/>
              </a:rPr>
              <a:t> </a:t>
            </a:r>
            <a:r>
              <a:rPr sz="1950" spc="120" dirty="0">
                <a:solidFill>
                  <a:srgbClr val="231F20"/>
                </a:solidFill>
                <a:latin typeface="Arial"/>
                <a:cs typeface="Arial"/>
              </a:rPr>
              <a:t>check</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130" dirty="0">
                <a:solidFill>
                  <a:srgbClr val="231F20"/>
                </a:solidFill>
                <a:latin typeface="Arial"/>
                <a:cs typeface="Arial"/>
              </a:rPr>
              <a:t>Also </a:t>
            </a:r>
            <a:r>
              <a:rPr sz="1950" spc="120" dirty="0">
                <a:solidFill>
                  <a:srgbClr val="231F20"/>
                </a:solidFill>
                <a:latin typeface="Arial"/>
                <a:cs typeface="Arial"/>
              </a:rPr>
              <a:t>done </a:t>
            </a:r>
            <a:r>
              <a:rPr sz="1950" spc="105" dirty="0">
                <a:solidFill>
                  <a:srgbClr val="231F20"/>
                </a:solidFill>
                <a:latin typeface="Arial"/>
                <a:cs typeface="Arial"/>
              </a:rPr>
              <a:t>by </a:t>
            </a:r>
            <a:r>
              <a:rPr sz="1950" spc="185" dirty="0">
                <a:solidFill>
                  <a:srgbClr val="FF0000"/>
                </a:solidFill>
                <a:latin typeface="Arial"/>
                <a:cs typeface="Arial"/>
              </a:rPr>
              <a:t>Dand </a:t>
            </a:r>
            <a:r>
              <a:rPr sz="1950" spc="155" dirty="0">
                <a:solidFill>
                  <a:srgbClr val="FF0000"/>
                </a:solidFill>
                <a:latin typeface="Arial"/>
                <a:cs typeface="Arial"/>
              </a:rPr>
              <a:t>Van</a:t>
            </a:r>
            <a:r>
              <a:rPr sz="1950" spc="805" dirty="0">
                <a:solidFill>
                  <a:srgbClr val="FF0000"/>
                </a:solidFill>
                <a:latin typeface="Arial"/>
                <a:cs typeface="Arial"/>
              </a:rPr>
              <a:t> </a:t>
            </a:r>
            <a:r>
              <a:rPr sz="1950" spc="165" dirty="0">
                <a:solidFill>
                  <a:srgbClr val="FF0000"/>
                </a:solidFill>
                <a:latin typeface="Arial"/>
                <a:cs typeface="Arial"/>
              </a:rPr>
              <a:t>Hung</a:t>
            </a:r>
            <a:endParaRPr sz="1950">
              <a:latin typeface="Arial"/>
              <a:cs typeface="Aria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221854" y="851232"/>
            <a:ext cx="3404870" cy="314960"/>
          </a:xfrm>
          <a:prstGeom prst="rect">
            <a:avLst/>
          </a:prstGeom>
        </p:spPr>
        <p:txBody>
          <a:bodyPr vert="horz" wrap="square" lIns="0" tIns="0" rIns="0" bIns="0" rtlCol="0">
            <a:spAutoFit/>
          </a:bodyPr>
          <a:lstStyle/>
          <a:p>
            <a:pPr marL="12700">
              <a:lnSpc>
                <a:spcPct val="100000"/>
              </a:lnSpc>
            </a:pPr>
            <a:r>
              <a:rPr sz="1950" spc="245" dirty="0">
                <a:solidFill>
                  <a:srgbClr val="231F20"/>
                </a:solidFill>
                <a:latin typeface="Arial"/>
                <a:cs typeface="Arial"/>
              </a:rPr>
              <a:t>Verification </a:t>
            </a:r>
            <a:r>
              <a:rPr sz="1950" spc="235" dirty="0">
                <a:solidFill>
                  <a:srgbClr val="231F20"/>
                </a:solidFill>
                <a:latin typeface="Arial"/>
                <a:cs typeface="Arial"/>
              </a:rPr>
              <a:t>Systems</a:t>
            </a:r>
            <a:r>
              <a:rPr sz="1950" spc="434" dirty="0">
                <a:solidFill>
                  <a:srgbClr val="231F20"/>
                </a:solidFill>
                <a:latin typeface="Arial"/>
                <a:cs typeface="Arial"/>
              </a:rPr>
              <a:t> </a:t>
            </a:r>
            <a:r>
              <a:rPr sz="1950" spc="165" dirty="0">
                <a:solidFill>
                  <a:srgbClr val="231F20"/>
                </a:solidFill>
                <a:latin typeface="Arial"/>
                <a:cs typeface="Arial"/>
              </a:rPr>
              <a:t>vs.</a:t>
            </a:r>
            <a:endParaRPr sz="1950">
              <a:latin typeface="Arial"/>
              <a:cs typeface="Arial"/>
            </a:endParaRPr>
          </a:p>
        </p:txBody>
      </p:sp>
      <p:sp>
        <p:nvSpPr>
          <p:cNvPr id="3" name="object 3"/>
          <p:cNvSpPr txBox="1"/>
          <p:nvPr/>
        </p:nvSpPr>
        <p:spPr>
          <a:xfrm>
            <a:off x="4755146" y="851232"/>
            <a:ext cx="4083050" cy="314960"/>
          </a:xfrm>
          <a:prstGeom prst="rect">
            <a:avLst/>
          </a:prstGeom>
        </p:spPr>
        <p:txBody>
          <a:bodyPr vert="horz" wrap="square" lIns="0" tIns="0" rIns="0" bIns="0" rtlCol="0">
            <a:spAutoFit/>
          </a:bodyPr>
          <a:lstStyle/>
          <a:p>
            <a:pPr marL="12700">
              <a:lnSpc>
                <a:spcPct val="100000"/>
              </a:lnSpc>
            </a:pPr>
            <a:r>
              <a:rPr sz="1950" spc="330" dirty="0">
                <a:solidFill>
                  <a:srgbClr val="231F20"/>
                </a:solidFill>
                <a:latin typeface="Arial"/>
                <a:cs typeface="Arial"/>
              </a:rPr>
              <a:t>SMT-Based </a:t>
            </a:r>
            <a:r>
              <a:rPr sz="1950" spc="305" dirty="0">
                <a:solidFill>
                  <a:srgbClr val="231F20"/>
                </a:solidFill>
                <a:latin typeface="Arial"/>
                <a:cs typeface="Arial"/>
              </a:rPr>
              <a:t>Model</a:t>
            </a:r>
            <a:r>
              <a:rPr sz="1950" spc="360" dirty="0">
                <a:solidFill>
                  <a:srgbClr val="231F20"/>
                </a:solidFill>
                <a:latin typeface="Arial"/>
                <a:cs typeface="Arial"/>
              </a:rPr>
              <a:t> </a:t>
            </a:r>
            <a:r>
              <a:rPr sz="1950" spc="210" dirty="0">
                <a:solidFill>
                  <a:srgbClr val="231F20"/>
                </a:solidFill>
                <a:latin typeface="Arial"/>
                <a:cs typeface="Arial"/>
              </a:rPr>
              <a:t>Checkers</a:t>
            </a:r>
            <a:endParaRPr sz="1950">
              <a:latin typeface="Arial"/>
              <a:cs typeface="Arial"/>
            </a:endParaRPr>
          </a:p>
        </p:txBody>
      </p:sp>
      <p:sp>
        <p:nvSpPr>
          <p:cNvPr id="4" name="object 4"/>
          <p:cNvSpPr txBox="1"/>
          <p:nvPr/>
        </p:nvSpPr>
        <p:spPr>
          <a:xfrm>
            <a:off x="901700" y="2341588"/>
            <a:ext cx="601345" cy="314325"/>
          </a:xfrm>
          <a:prstGeom prst="rect">
            <a:avLst/>
          </a:prstGeom>
        </p:spPr>
        <p:txBody>
          <a:bodyPr vert="horz" wrap="square" lIns="0" tIns="0" rIns="0" bIns="0" rtlCol="0">
            <a:spAutoFit/>
          </a:bodyPr>
          <a:lstStyle/>
          <a:p>
            <a:pPr marL="12700">
              <a:lnSpc>
                <a:spcPct val="100000"/>
              </a:lnSpc>
            </a:pPr>
            <a:r>
              <a:rPr sz="1950" spc="254" dirty="0">
                <a:solidFill>
                  <a:srgbClr val="231F20"/>
                </a:solidFill>
                <a:latin typeface="Arial"/>
                <a:cs typeface="Arial"/>
              </a:rPr>
              <a:t>P</a:t>
            </a:r>
            <a:r>
              <a:rPr sz="1950" spc="290" dirty="0">
                <a:solidFill>
                  <a:srgbClr val="231F20"/>
                </a:solidFill>
                <a:latin typeface="Arial"/>
                <a:cs typeface="Arial"/>
              </a:rPr>
              <a:t>V</a:t>
            </a:r>
            <a:r>
              <a:rPr sz="1950" spc="75" dirty="0">
                <a:solidFill>
                  <a:srgbClr val="231F20"/>
                </a:solidFill>
                <a:latin typeface="Arial"/>
                <a:cs typeface="Arial"/>
              </a:rPr>
              <a:t>S</a:t>
            </a:r>
            <a:endParaRPr sz="1950">
              <a:latin typeface="Arial"/>
              <a:cs typeface="Arial"/>
            </a:endParaRPr>
          </a:p>
        </p:txBody>
      </p:sp>
      <p:sp>
        <p:nvSpPr>
          <p:cNvPr id="5" name="object 5"/>
          <p:cNvSpPr txBox="1"/>
          <p:nvPr/>
        </p:nvSpPr>
        <p:spPr>
          <a:xfrm>
            <a:off x="5859462" y="2341588"/>
            <a:ext cx="581660" cy="314325"/>
          </a:xfrm>
          <a:prstGeom prst="rect">
            <a:avLst/>
          </a:prstGeom>
        </p:spPr>
        <p:txBody>
          <a:bodyPr vert="horz" wrap="square" lIns="0" tIns="0" rIns="0" bIns="0" rtlCol="0">
            <a:spAutoFit/>
          </a:bodyPr>
          <a:lstStyle/>
          <a:p>
            <a:pPr marL="12700">
              <a:lnSpc>
                <a:spcPct val="100000"/>
              </a:lnSpc>
            </a:pPr>
            <a:r>
              <a:rPr sz="1950" spc="75" dirty="0">
                <a:solidFill>
                  <a:srgbClr val="231F20"/>
                </a:solidFill>
                <a:latin typeface="Arial"/>
                <a:cs typeface="Arial"/>
              </a:rPr>
              <a:t>S</a:t>
            </a:r>
            <a:r>
              <a:rPr sz="1950" spc="290" dirty="0">
                <a:solidFill>
                  <a:srgbClr val="231F20"/>
                </a:solidFill>
                <a:latin typeface="Arial"/>
                <a:cs typeface="Arial"/>
              </a:rPr>
              <a:t>A</a:t>
            </a:r>
            <a:r>
              <a:rPr sz="1950" spc="320" dirty="0">
                <a:solidFill>
                  <a:srgbClr val="231F20"/>
                </a:solidFill>
                <a:latin typeface="Arial"/>
                <a:cs typeface="Arial"/>
              </a:rPr>
              <a:t>L</a:t>
            </a:r>
            <a:endParaRPr sz="1950">
              <a:latin typeface="Arial"/>
              <a:cs typeface="Arial"/>
            </a:endParaRPr>
          </a:p>
        </p:txBody>
      </p:sp>
      <p:sp>
        <p:nvSpPr>
          <p:cNvPr id="6" name="object 6"/>
          <p:cNvSpPr/>
          <p:nvPr/>
        </p:nvSpPr>
        <p:spPr>
          <a:xfrm>
            <a:off x="921270" y="3005086"/>
            <a:ext cx="1236980" cy="1060450"/>
          </a:xfrm>
          <a:custGeom>
            <a:avLst/>
            <a:gdLst/>
            <a:ahLst/>
            <a:cxnLst/>
            <a:rect l="l" t="t" r="r" b="b"/>
            <a:pathLst>
              <a:path w="1236980" h="1060450">
                <a:moveTo>
                  <a:pt x="0" y="0"/>
                </a:moveTo>
                <a:lnTo>
                  <a:pt x="0" y="1060216"/>
                </a:lnTo>
                <a:lnTo>
                  <a:pt x="1236920" y="1060216"/>
                </a:lnTo>
                <a:lnTo>
                  <a:pt x="1236920" y="0"/>
                </a:lnTo>
                <a:lnTo>
                  <a:pt x="0" y="0"/>
                </a:lnTo>
                <a:close/>
              </a:path>
            </a:pathLst>
          </a:custGeom>
          <a:solidFill>
            <a:srgbClr val="DFAF7F"/>
          </a:solidFill>
        </p:spPr>
        <p:txBody>
          <a:bodyPr wrap="square" lIns="0" tIns="0" rIns="0" bIns="0" rtlCol="0"/>
          <a:lstStyle/>
          <a:p>
            <a:endParaRPr/>
          </a:p>
        </p:txBody>
      </p:sp>
      <p:sp>
        <p:nvSpPr>
          <p:cNvPr id="7" name="object 7"/>
          <p:cNvSpPr/>
          <p:nvPr/>
        </p:nvSpPr>
        <p:spPr>
          <a:xfrm>
            <a:off x="921270" y="3005086"/>
            <a:ext cx="1236980" cy="1060450"/>
          </a:xfrm>
          <a:custGeom>
            <a:avLst/>
            <a:gdLst/>
            <a:ahLst/>
            <a:cxnLst/>
            <a:rect l="l" t="t" r="r" b="b"/>
            <a:pathLst>
              <a:path w="1236980" h="1060450">
                <a:moveTo>
                  <a:pt x="0" y="0"/>
                </a:moveTo>
                <a:lnTo>
                  <a:pt x="0" y="1060216"/>
                </a:lnTo>
                <a:lnTo>
                  <a:pt x="1236920" y="1060216"/>
                </a:lnTo>
                <a:lnTo>
                  <a:pt x="1236920" y="0"/>
                </a:lnTo>
                <a:lnTo>
                  <a:pt x="0" y="0"/>
                </a:lnTo>
                <a:close/>
              </a:path>
            </a:pathLst>
          </a:custGeom>
          <a:ln w="4417">
            <a:solidFill>
              <a:srgbClr val="000000"/>
            </a:solidFill>
          </a:ln>
        </p:spPr>
        <p:txBody>
          <a:bodyPr wrap="square" lIns="0" tIns="0" rIns="0" bIns="0" rtlCol="0"/>
          <a:lstStyle/>
          <a:p>
            <a:endParaRPr/>
          </a:p>
        </p:txBody>
      </p:sp>
      <p:sp>
        <p:nvSpPr>
          <p:cNvPr id="8" name="object 8"/>
          <p:cNvSpPr/>
          <p:nvPr/>
        </p:nvSpPr>
        <p:spPr>
          <a:xfrm>
            <a:off x="3218408" y="3358489"/>
            <a:ext cx="883919" cy="353695"/>
          </a:xfrm>
          <a:custGeom>
            <a:avLst/>
            <a:gdLst/>
            <a:ahLst/>
            <a:cxnLst/>
            <a:rect l="l" t="t" r="r" b="b"/>
            <a:pathLst>
              <a:path w="883920" h="353695">
                <a:moveTo>
                  <a:pt x="0" y="0"/>
                </a:moveTo>
                <a:lnTo>
                  <a:pt x="0" y="353406"/>
                </a:lnTo>
                <a:lnTo>
                  <a:pt x="883513" y="353406"/>
                </a:lnTo>
                <a:lnTo>
                  <a:pt x="883513" y="0"/>
                </a:lnTo>
                <a:lnTo>
                  <a:pt x="0" y="0"/>
                </a:lnTo>
                <a:close/>
              </a:path>
            </a:pathLst>
          </a:custGeom>
          <a:solidFill>
            <a:srgbClr val="C3E6FF"/>
          </a:solidFill>
        </p:spPr>
        <p:txBody>
          <a:bodyPr wrap="square" lIns="0" tIns="0" rIns="0" bIns="0" rtlCol="0"/>
          <a:lstStyle/>
          <a:p>
            <a:endParaRPr/>
          </a:p>
        </p:txBody>
      </p:sp>
      <p:sp>
        <p:nvSpPr>
          <p:cNvPr id="9" name="object 9"/>
          <p:cNvSpPr/>
          <p:nvPr/>
        </p:nvSpPr>
        <p:spPr>
          <a:xfrm>
            <a:off x="3218408" y="3358489"/>
            <a:ext cx="883919" cy="353695"/>
          </a:xfrm>
          <a:custGeom>
            <a:avLst/>
            <a:gdLst/>
            <a:ahLst/>
            <a:cxnLst/>
            <a:rect l="l" t="t" r="r" b="b"/>
            <a:pathLst>
              <a:path w="883920" h="353695">
                <a:moveTo>
                  <a:pt x="0" y="0"/>
                </a:moveTo>
                <a:lnTo>
                  <a:pt x="0" y="353406"/>
                </a:lnTo>
                <a:lnTo>
                  <a:pt x="883513" y="353406"/>
                </a:lnTo>
                <a:lnTo>
                  <a:pt x="883513" y="0"/>
                </a:lnTo>
                <a:lnTo>
                  <a:pt x="0" y="0"/>
                </a:lnTo>
                <a:close/>
              </a:path>
            </a:pathLst>
          </a:custGeom>
          <a:ln w="4417">
            <a:solidFill>
              <a:srgbClr val="000000"/>
            </a:solidFill>
          </a:ln>
        </p:spPr>
        <p:txBody>
          <a:bodyPr wrap="square" lIns="0" tIns="0" rIns="0" bIns="0" rtlCol="0"/>
          <a:lstStyle/>
          <a:p>
            <a:endParaRPr/>
          </a:p>
        </p:txBody>
      </p:sp>
      <p:sp>
        <p:nvSpPr>
          <p:cNvPr id="10" name="object 10"/>
          <p:cNvSpPr/>
          <p:nvPr/>
        </p:nvSpPr>
        <p:spPr>
          <a:xfrm>
            <a:off x="3218408" y="4065308"/>
            <a:ext cx="883919" cy="353695"/>
          </a:xfrm>
          <a:custGeom>
            <a:avLst/>
            <a:gdLst/>
            <a:ahLst/>
            <a:cxnLst/>
            <a:rect l="l" t="t" r="r" b="b"/>
            <a:pathLst>
              <a:path w="883920" h="353695">
                <a:moveTo>
                  <a:pt x="0" y="0"/>
                </a:moveTo>
                <a:lnTo>
                  <a:pt x="0" y="353406"/>
                </a:lnTo>
                <a:lnTo>
                  <a:pt x="883513" y="353406"/>
                </a:lnTo>
                <a:lnTo>
                  <a:pt x="883513" y="0"/>
                </a:lnTo>
                <a:lnTo>
                  <a:pt x="0" y="0"/>
                </a:lnTo>
                <a:close/>
              </a:path>
            </a:pathLst>
          </a:custGeom>
          <a:solidFill>
            <a:srgbClr val="C3E6FF"/>
          </a:solidFill>
        </p:spPr>
        <p:txBody>
          <a:bodyPr wrap="square" lIns="0" tIns="0" rIns="0" bIns="0" rtlCol="0"/>
          <a:lstStyle/>
          <a:p>
            <a:endParaRPr/>
          </a:p>
        </p:txBody>
      </p:sp>
      <p:sp>
        <p:nvSpPr>
          <p:cNvPr id="11" name="object 11"/>
          <p:cNvSpPr/>
          <p:nvPr/>
        </p:nvSpPr>
        <p:spPr>
          <a:xfrm>
            <a:off x="3218408" y="4065308"/>
            <a:ext cx="883919" cy="353695"/>
          </a:xfrm>
          <a:custGeom>
            <a:avLst/>
            <a:gdLst/>
            <a:ahLst/>
            <a:cxnLst/>
            <a:rect l="l" t="t" r="r" b="b"/>
            <a:pathLst>
              <a:path w="883920" h="353695">
                <a:moveTo>
                  <a:pt x="0" y="0"/>
                </a:moveTo>
                <a:lnTo>
                  <a:pt x="0" y="353406"/>
                </a:lnTo>
                <a:lnTo>
                  <a:pt x="883513" y="353406"/>
                </a:lnTo>
                <a:lnTo>
                  <a:pt x="883513" y="0"/>
                </a:lnTo>
                <a:lnTo>
                  <a:pt x="0" y="0"/>
                </a:lnTo>
                <a:close/>
              </a:path>
            </a:pathLst>
          </a:custGeom>
          <a:ln w="4417">
            <a:solidFill>
              <a:srgbClr val="000000"/>
            </a:solidFill>
          </a:ln>
        </p:spPr>
        <p:txBody>
          <a:bodyPr wrap="square" lIns="0" tIns="0" rIns="0" bIns="0" rtlCol="0"/>
          <a:lstStyle/>
          <a:p>
            <a:endParaRPr/>
          </a:p>
        </p:txBody>
      </p:sp>
      <p:sp>
        <p:nvSpPr>
          <p:cNvPr id="12" name="object 12"/>
          <p:cNvSpPr/>
          <p:nvPr/>
        </p:nvSpPr>
        <p:spPr>
          <a:xfrm>
            <a:off x="3218408" y="2651683"/>
            <a:ext cx="883919" cy="353695"/>
          </a:xfrm>
          <a:custGeom>
            <a:avLst/>
            <a:gdLst/>
            <a:ahLst/>
            <a:cxnLst/>
            <a:rect l="l" t="t" r="r" b="b"/>
            <a:pathLst>
              <a:path w="883920" h="353694">
                <a:moveTo>
                  <a:pt x="0" y="0"/>
                </a:moveTo>
                <a:lnTo>
                  <a:pt x="0" y="353406"/>
                </a:lnTo>
                <a:lnTo>
                  <a:pt x="883513" y="353406"/>
                </a:lnTo>
                <a:lnTo>
                  <a:pt x="883513" y="0"/>
                </a:lnTo>
                <a:lnTo>
                  <a:pt x="0" y="0"/>
                </a:lnTo>
                <a:close/>
              </a:path>
            </a:pathLst>
          </a:custGeom>
          <a:solidFill>
            <a:srgbClr val="C3E6FF"/>
          </a:solidFill>
        </p:spPr>
        <p:txBody>
          <a:bodyPr wrap="square" lIns="0" tIns="0" rIns="0" bIns="0" rtlCol="0"/>
          <a:lstStyle/>
          <a:p>
            <a:endParaRPr/>
          </a:p>
        </p:txBody>
      </p:sp>
      <p:sp>
        <p:nvSpPr>
          <p:cNvPr id="13" name="object 13"/>
          <p:cNvSpPr/>
          <p:nvPr/>
        </p:nvSpPr>
        <p:spPr>
          <a:xfrm>
            <a:off x="3218408" y="2651683"/>
            <a:ext cx="883919" cy="353695"/>
          </a:xfrm>
          <a:custGeom>
            <a:avLst/>
            <a:gdLst/>
            <a:ahLst/>
            <a:cxnLst/>
            <a:rect l="l" t="t" r="r" b="b"/>
            <a:pathLst>
              <a:path w="883920" h="353694">
                <a:moveTo>
                  <a:pt x="0" y="0"/>
                </a:moveTo>
                <a:lnTo>
                  <a:pt x="0" y="353406"/>
                </a:lnTo>
                <a:lnTo>
                  <a:pt x="883513" y="353406"/>
                </a:lnTo>
                <a:lnTo>
                  <a:pt x="883513" y="0"/>
                </a:lnTo>
                <a:lnTo>
                  <a:pt x="0" y="0"/>
                </a:lnTo>
                <a:close/>
              </a:path>
            </a:pathLst>
          </a:custGeom>
          <a:ln w="4417">
            <a:solidFill>
              <a:srgbClr val="000000"/>
            </a:solidFill>
          </a:ln>
        </p:spPr>
        <p:txBody>
          <a:bodyPr wrap="square" lIns="0" tIns="0" rIns="0" bIns="0" rtlCol="0"/>
          <a:lstStyle/>
          <a:p>
            <a:endParaRPr/>
          </a:p>
        </p:txBody>
      </p:sp>
      <p:sp>
        <p:nvSpPr>
          <p:cNvPr id="14" name="object 14"/>
          <p:cNvSpPr/>
          <p:nvPr/>
        </p:nvSpPr>
        <p:spPr>
          <a:xfrm>
            <a:off x="2158187" y="3535197"/>
            <a:ext cx="1060450" cy="0"/>
          </a:xfrm>
          <a:custGeom>
            <a:avLst/>
            <a:gdLst/>
            <a:ahLst/>
            <a:cxnLst/>
            <a:rect l="l" t="t" r="r" b="b"/>
            <a:pathLst>
              <a:path w="1060450">
                <a:moveTo>
                  <a:pt x="0" y="0"/>
                </a:moveTo>
                <a:lnTo>
                  <a:pt x="1060221" y="0"/>
                </a:lnTo>
              </a:path>
            </a:pathLst>
          </a:custGeom>
          <a:ln w="3175">
            <a:solidFill>
              <a:srgbClr val="C3E6FF"/>
            </a:solidFill>
          </a:ln>
        </p:spPr>
        <p:txBody>
          <a:bodyPr wrap="square" lIns="0" tIns="0" rIns="0" bIns="0" rtlCol="0"/>
          <a:lstStyle/>
          <a:p>
            <a:endParaRPr/>
          </a:p>
        </p:txBody>
      </p:sp>
      <p:sp>
        <p:nvSpPr>
          <p:cNvPr id="15" name="object 15"/>
          <p:cNvSpPr/>
          <p:nvPr/>
        </p:nvSpPr>
        <p:spPr>
          <a:xfrm>
            <a:off x="2158187" y="3535197"/>
            <a:ext cx="1060450" cy="0"/>
          </a:xfrm>
          <a:custGeom>
            <a:avLst/>
            <a:gdLst/>
            <a:ahLst/>
            <a:cxnLst/>
            <a:rect l="l" t="t" r="r" b="b"/>
            <a:pathLst>
              <a:path w="1060450">
                <a:moveTo>
                  <a:pt x="0" y="0"/>
                </a:moveTo>
                <a:lnTo>
                  <a:pt x="1060221" y="0"/>
                </a:lnTo>
              </a:path>
            </a:pathLst>
          </a:custGeom>
          <a:ln w="17670">
            <a:solidFill>
              <a:srgbClr val="000000"/>
            </a:solidFill>
          </a:ln>
        </p:spPr>
        <p:txBody>
          <a:bodyPr wrap="square" lIns="0" tIns="0" rIns="0" bIns="0" rtlCol="0"/>
          <a:lstStyle/>
          <a:p>
            <a:endParaRPr/>
          </a:p>
        </p:txBody>
      </p:sp>
      <p:sp>
        <p:nvSpPr>
          <p:cNvPr id="16" name="object 16"/>
          <p:cNvSpPr/>
          <p:nvPr/>
        </p:nvSpPr>
        <p:spPr>
          <a:xfrm>
            <a:off x="2158187" y="2828378"/>
            <a:ext cx="1060450" cy="530225"/>
          </a:xfrm>
          <a:custGeom>
            <a:avLst/>
            <a:gdLst/>
            <a:ahLst/>
            <a:cxnLst/>
            <a:rect l="l" t="t" r="r" b="b"/>
            <a:pathLst>
              <a:path w="1060450" h="530225">
                <a:moveTo>
                  <a:pt x="0" y="530110"/>
                </a:moveTo>
                <a:lnTo>
                  <a:pt x="1060221" y="0"/>
                </a:lnTo>
              </a:path>
            </a:pathLst>
          </a:custGeom>
          <a:ln w="17670">
            <a:solidFill>
              <a:srgbClr val="000000"/>
            </a:solidFill>
          </a:ln>
        </p:spPr>
        <p:txBody>
          <a:bodyPr wrap="square" lIns="0" tIns="0" rIns="0" bIns="0" rtlCol="0"/>
          <a:lstStyle/>
          <a:p>
            <a:endParaRPr/>
          </a:p>
        </p:txBody>
      </p:sp>
      <p:sp>
        <p:nvSpPr>
          <p:cNvPr id="17" name="object 17"/>
          <p:cNvSpPr/>
          <p:nvPr/>
        </p:nvSpPr>
        <p:spPr>
          <a:xfrm>
            <a:off x="2158187" y="3711892"/>
            <a:ext cx="1060450" cy="530225"/>
          </a:xfrm>
          <a:custGeom>
            <a:avLst/>
            <a:gdLst/>
            <a:ahLst/>
            <a:cxnLst/>
            <a:rect l="l" t="t" r="r" b="b"/>
            <a:pathLst>
              <a:path w="1060450" h="530225">
                <a:moveTo>
                  <a:pt x="0" y="0"/>
                </a:moveTo>
                <a:lnTo>
                  <a:pt x="1060221" y="530110"/>
                </a:lnTo>
              </a:path>
            </a:pathLst>
          </a:custGeom>
          <a:ln w="17670">
            <a:solidFill>
              <a:srgbClr val="000000"/>
            </a:solidFill>
          </a:ln>
        </p:spPr>
        <p:txBody>
          <a:bodyPr wrap="square" lIns="0" tIns="0" rIns="0" bIns="0" rtlCol="0"/>
          <a:lstStyle/>
          <a:p>
            <a:endParaRPr/>
          </a:p>
        </p:txBody>
      </p:sp>
      <p:sp>
        <p:nvSpPr>
          <p:cNvPr id="18" name="object 18"/>
          <p:cNvSpPr/>
          <p:nvPr/>
        </p:nvSpPr>
        <p:spPr>
          <a:xfrm>
            <a:off x="7738833" y="3027387"/>
            <a:ext cx="1390650" cy="1390650"/>
          </a:xfrm>
          <a:custGeom>
            <a:avLst/>
            <a:gdLst/>
            <a:ahLst/>
            <a:cxnLst/>
            <a:rect l="l" t="t" r="r" b="b"/>
            <a:pathLst>
              <a:path w="1390650" h="1390650">
                <a:moveTo>
                  <a:pt x="0" y="0"/>
                </a:moveTo>
                <a:lnTo>
                  <a:pt x="0" y="1390472"/>
                </a:lnTo>
                <a:lnTo>
                  <a:pt x="1390472" y="1390472"/>
                </a:lnTo>
                <a:lnTo>
                  <a:pt x="1390472" y="0"/>
                </a:lnTo>
                <a:lnTo>
                  <a:pt x="0" y="0"/>
                </a:lnTo>
                <a:close/>
              </a:path>
            </a:pathLst>
          </a:custGeom>
          <a:solidFill>
            <a:srgbClr val="C3E6FF"/>
          </a:solidFill>
        </p:spPr>
        <p:txBody>
          <a:bodyPr wrap="square" lIns="0" tIns="0" rIns="0" bIns="0" rtlCol="0"/>
          <a:lstStyle/>
          <a:p>
            <a:endParaRPr/>
          </a:p>
        </p:txBody>
      </p:sp>
      <p:sp>
        <p:nvSpPr>
          <p:cNvPr id="19" name="object 19"/>
          <p:cNvSpPr/>
          <p:nvPr/>
        </p:nvSpPr>
        <p:spPr>
          <a:xfrm>
            <a:off x="7738833" y="3027387"/>
            <a:ext cx="1390650" cy="1390650"/>
          </a:xfrm>
          <a:custGeom>
            <a:avLst/>
            <a:gdLst/>
            <a:ahLst/>
            <a:cxnLst/>
            <a:rect l="l" t="t" r="r" b="b"/>
            <a:pathLst>
              <a:path w="1390650" h="1390650">
                <a:moveTo>
                  <a:pt x="0" y="0"/>
                </a:moveTo>
                <a:lnTo>
                  <a:pt x="0" y="1390472"/>
                </a:lnTo>
                <a:lnTo>
                  <a:pt x="1390472" y="1390472"/>
                </a:lnTo>
                <a:lnTo>
                  <a:pt x="1390472" y="0"/>
                </a:lnTo>
                <a:lnTo>
                  <a:pt x="0" y="0"/>
                </a:lnTo>
                <a:close/>
              </a:path>
            </a:pathLst>
          </a:custGeom>
          <a:ln w="4965">
            <a:solidFill>
              <a:srgbClr val="000000"/>
            </a:solidFill>
          </a:ln>
        </p:spPr>
        <p:txBody>
          <a:bodyPr wrap="square" lIns="0" tIns="0" rIns="0" bIns="0" rtlCol="0"/>
          <a:lstStyle/>
          <a:p>
            <a:endParaRPr/>
          </a:p>
        </p:txBody>
      </p:sp>
      <p:sp>
        <p:nvSpPr>
          <p:cNvPr id="20" name="object 20"/>
          <p:cNvSpPr/>
          <p:nvPr/>
        </p:nvSpPr>
        <p:spPr>
          <a:xfrm>
            <a:off x="5951092" y="3374999"/>
            <a:ext cx="596265" cy="695325"/>
          </a:xfrm>
          <a:custGeom>
            <a:avLst/>
            <a:gdLst/>
            <a:ahLst/>
            <a:cxnLst/>
            <a:rect l="l" t="t" r="r" b="b"/>
            <a:pathLst>
              <a:path w="596265" h="695325">
                <a:moveTo>
                  <a:pt x="0" y="0"/>
                </a:moveTo>
                <a:lnTo>
                  <a:pt x="0" y="695236"/>
                </a:lnTo>
                <a:lnTo>
                  <a:pt x="595913" y="695236"/>
                </a:lnTo>
                <a:lnTo>
                  <a:pt x="595913" y="0"/>
                </a:lnTo>
                <a:lnTo>
                  <a:pt x="0" y="0"/>
                </a:lnTo>
                <a:close/>
              </a:path>
            </a:pathLst>
          </a:custGeom>
          <a:solidFill>
            <a:srgbClr val="DFAF7F"/>
          </a:solidFill>
        </p:spPr>
        <p:txBody>
          <a:bodyPr wrap="square" lIns="0" tIns="0" rIns="0" bIns="0" rtlCol="0"/>
          <a:lstStyle/>
          <a:p>
            <a:endParaRPr/>
          </a:p>
        </p:txBody>
      </p:sp>
      <p:sp>
        <p:nvSpPr>
          <p:cNvPr id="21" name="object 21"/>
          <p:cNvSpPr/>
          <p:nvPr/>
        </p:nvSpPr>
        <p:spPr>
          <a:xfrm>
            <a:off x="5951092" y="3374999"/>
            <a:ext cx="596265" cy="695325"/>
          </a:xfrm>
          <a:custGeom>
            <a:avLst/>
            <a:gdLst/>
            <a:ahLst/>
            <a:cxnLst/>
            <a:rect l="l" t="t" r="r" b="b"/>
            <a:pathLst>
              <a:path w="596265" h="695325">
                <a:moveTo>
                  <a:pt x="0" y="0"/>
                </a:moveTo>
                <a:lnTo>
                  <a:pt x="0" y="695236"/>
                </a:lnTo>
                <a:lnTo>
                  <a:pt x="595913" y="695236"/>
                </a:lnTo>
                <a:lnTo>
                  <a:pt x="595913" y="0"/>
                </a:lnTo>
                <a:lnTo>
                  <a:pt x="0" y="0"/>
                </a:lnTo>
                <a:close/>
              </a:path>
            </a:pathLst>
          </a:custGeom>
          <a:ln w="4965">
            <a:solidFill>
              <a:srgbClr val="000000"/>
            </a:solidFill>
          </a:ln>
        </p:spPr>
        <p:txBody>
          <a:bodyPr wrap="square" lIns="0" tIns="0" rIns="0" bIns="0" rtlCol="0"/>
          <a:lstStyle/>
          <a:p>
            <a:endParaRPr/>
          </a:p>
        </p:txBody>
      </p:sp>
      <p:sp>
        <p:nvSpPr>
          <p:cNvPr id="22" name="object 22"/>
          <p:cNvSpPr/>
          <p:nvPr/>
        </p:nvSpPr>
        <p:spPr>
          <a:xfrm>
            <a:off x="6547002" y="3722623"/>
            <a:ext cx="1158875" cy="0"/>
          </a:xfrm>
          <a:custGeom>
            <a:avLst/>
            <a:gdLst/>
            <a:ahLst/>
            <a:cxnLst/>
            <a:rect l="l" t="t" r="r" b="b"/>
            <a:pathLst>
              <a:path w="1158875">
                <a:moveTo>
                  <a:pt x="0" y="0"/>
                </a:moveTo>
                <a:lnTo>
                  <a:pt x="1158734" y="0"/>
                </a:lnTo>
              </a:path>
            </a:pathLst>
          </a:custGeom>
          <a:ln w="19863">
            <a:solidFill>
              <a:srgbClr val="000000"/>
            </a:solidFill>
          </a:ln>
        </p:spPr>
        <p:txBody>
          <a:bodyPr wrap="square" lIns="0" tIns="0" rIns="0" bIns="0" rtlCol="0"/>
          <a:lstStyle/>
          <a:p>
            <a:endParaRPr/>
          </a:p>
        </p:txBody>
      </p:sp>
      <p:sp>
        <p:nvSpPr>
          <p:cNvPr id="23" name="object 23"/>
          <p:cNvSpPr/>
          <p:nvPr/>
        </p:nvSpPr>
        <p:spPr>
          <a:xfrm>
            <a:off x="7616342" y="3692830"/>
            <a:ext cx="89535" cy="59690"/>
          </a:xfrm>
          <a:custGeom>
            <a:avLst/>
            <a:gdLst/>
            <a:ahLst/>
            <a:cxnLst/>
            <a:rect l="l" t="t" r="r" b="b"/>
            <a:pathLst>
              <a:path w="89534" h="59689">
                <a:moveTo>
                  <a:pt x="89395" y="29794"/>
                </a:moveTo>
                <a:lnTo>
                  <a:pt x="0" y="0"/>
                </a:lnTo>
                <a:lnTo>
                  <a:pt x="0" y="59588"/>
                </a:lnTo>
                <a:lnTo>
                  <a:pt x="89395" y="29794"/>
                </a:lnTo>
                <a:close/>
              </a:path>
            </a:pathLst>
          </a:custGeom>
          <a:solidFill>
            <a:srgbClr val="000000"/>
          </a:solidFill>
        </p:spPr>
        <p:txBody>
          <a:bodyPr wrap="square" lIns="0" tIns="0" rIns="0" bIns="0" rtlCol="0"/>
          <a:lstStyle/>
          <a:p>
            <a:endParaRPr/>
          </a:p>
        </p:txBody>
      </p:sp>
      <p:sp>
        <p:nvSpPr>
          <p:cNvPr id="24" name="object 24"/>
          <p:cNvSpPr/>
          <p:nvPr/>
        </p:nvSpPr>
        <p:spPr>
          <a:xfrm>
            <a:off x="7616342" y="3692830"/>
            <a:ext cx="89535" cy="59690"/>
          </a:xfrm>
          <a:custGeom>
            <a:avLst/>
            <a:gdLst/>
            <a:ahLst/>
            <a:cxnLst/>
            <a:rect l="l" t="t" r="r" b="b"/>
            <a:pathLst>
              <a:path w="89534" h="59689">
                <a:moveTo>
                  <a:pt x="0" y="59588"/>
                </a:moveTo>
                <a:lnTo>
                  <a:pt x="89395" y="29794"/>
                </a:lnTo>
                <a:lnTo>
                  <a:pt x="0" y="0"/>
                </a:lnTo>
                <a:lnTo>
                  <a:pt x="0" y="59588"/>
                </a:lnTo>
                <a:close/>
              </a:path>
            </a:pathLst>
          </a:custGeom>
          <a:ln w="19863">
            <a:solidFill>
              <a:srgbClr val="000000"/>
            </a:solidFill>
          </a:ln>
        </p:spPr>
        <p:txBody>
          <a:bodyPr wrap="square" lIns="0" tIns="0" rIns="0" bIns="0" rtlCol="0"/>
          <a:lstStyle/>
          <a:p>
            <a:endParaRPr/>
          </a:p>
        </p:txBody>
      </p:sp>
      <p:sp>
        <p:nvSpPr>
          <p:cNvPr id="25" name="object 25"/>
          <p:cNvSpPr txBox="1"/>
          <p:nvPr/>
        </p:nvSpPr>
        <p:spPr>
          <a:xfrm>
            <a:off x="2903092" y="4549520"/>
            <a:ext cx="1236345" cy="314325"/>
          </a:xfrm>
          <a:prstGeom prst="rect">
            <a:avLst/>
          </a:prstGeom>
        </p:spPr>
        <p:txBody>
          <a:bodyPr vert="horz" wrap="square" lIns="0" tIns="0" rIns="0" bIns="0" rtlCol="0">
            <a:spAutoFit/>
          </a:bodyPr>
          <a:lstStyle/>
          <a:p>
            <a:pPr marL="12700">
              <a:lnSpc>
                <a:spcPct val="100000"/>
              </a:lnSpc>
            </a:pPr>
            <a:r>
              <a:rPr sz="1950" spc="114" dirty="0">
                <a:solidFill>
                  <a:srgbClr val="231F20"/>
                </a:solidFill>
                <a:latin typeface="Arial"/>
                <a:cs typeface="Arial"/>
              </a:rPr>
              <a:t>Backends</a:t>
            </a:r>
            <a:endParaRPr sz="1950">
              <a:latin typeface="Arial"/>
              <a:cs typeface="Arial"/>
            </a:endParaRPr>
          </a:p>
        </p:txBody>
      </p:sp>
      <p:sp>
        <p:nvSpPr>
          <p:cNvPr id="26" name="object 26"/>
          <p:cNvSpPr txBox="1"/>
          <p:nvPr/>
        </p:nvSpPr>
        <p:spPr>
          <a:xfrm>
            <a:off x="7547601" y="4549520"/>
            <a:ext cx="1576070" cy="314325"/>
          </a:xfrm>
          <a:prstGeom prst="rect">
            <a:avLst/>
          </a:prstGeom>
        </p:spPr>
        <p:txBody>
          <a:bodyPr vert="horz" wrap="square" lIns="0" tIns="0" rIns="0" bIns="0" rtlCol="0">
            <a:spAutoFit/>
          </a:bodyPr>
          <a:lstStyle/>
          <a:p>
            <a:pPr marL="12700">
              <a:lnSpc>
                <a:spcPct val="100000"/>
              </a:lnSpc>
            </a:pPr>
            <a:r>
              <a:rPr sz="1950" spc="350" dirty="0">
                <a:solidFill>
                  <a:srgbClr val="231F20"/>
                </a:solidFill>
                <a:latin typeface="Arial"/>
                <a:cs typeface="Arial"/>
              </a:rPr>
              <a:t>SMT</a:t>
            </a:r>
            <a:r>
              <a:rPr sz="1950" spc="220" dirty="0">
                <a:solidFill>
                  <a:srgbClr val="231F20"/>
                </a:solidFill>
                <a:latin typeface="Arial"/>
                <a:cs typeface="Arial"/>
              </a:rPr>
              <a:t> </a:t>
            </a:r>
            <a:r>
              <a:rPr sz="1950" spc="105" dirty="0">
                <a:solidFill>
                  <a:srgbClr val="231F20"/>
                </a:solidFill>
                <a:latin typeface="Arial"/>
                <a:cs typeface="Arial"/>
              </a:rPr>
              <a:t>Solver</a:t>
            </a:r>
            <a:endParaRPr sz="1950">
              <a:latin typeface="Arial"/>
              <a:cs typeface="Arial"/>
            </a:endParaRPr>
          </a:p>
        </p:txBody>
      </p:sp>
      <p:sp>
        <p:nvSpPr>
          <p:cNvPr id="27" name="object 27"/>
          <p:cNvSpPr txBox="1"/>
          <p:nvPr/>
        </p:nvSpPr>
        <p:spPr>
          <a:xfrm>
            <a:off x="901700" y="5240350"/>
            <a:ext cx="7903845" cy="760730"/>
          </a:xfrm>
          <a:prstGeom prst="rect">
            <a:avLst/>
          </a:prstGeom>
        </p:spPr>
        <p:txBody>
          <a:bodyPr vert="horz" wrap="square" lIns="0" tIns="0" rIns="0" bIns="0" rtlCol="0">
            <a:spAutoFit/>
          </a:bodyPr>
          <a:lstStyle/>
          <a:p>
            <a:pPr marL="12700" marR="5080">
              <a:lnSpc>
                <a:spcPct val="125000"/>
              </a:lnSpc>
            </a:pPr>
            <a:r>
              <a:rPr sz="1950" spc="140" dirty="0">
                <a:solidFill>
                  <a:srgbClr val="231F20"/>
                </a:solidFill>
                <a:latin typeface="Arial"/>
                <a:cs typeface="Arial"/>
              </a:rPr>
              <a:t>Actually, </a:t>
            </a:r>
            <a:r>
              <a:rPr sz="1950" spc="220" dirty="0">
                <a:solidFill>
                  <a:srgbClr val="231F20"/>
                </a:solidFill>
                <a:latin typeface="Arial"/>
                <a:cs typeface="Arial"/>
              </a:rPr>
              <a:t>both </a:t>
            </a:r>
            <a:r>
              <a:rPr sz="1950" spc="114" dirty="0">
                <a:solidFill>
                  <a:srgbClr val="231F20"/>
                </a:solidFill>
                <a:latin typeface="Arial"/>
                <a:cs typeface="Arial"/>
              </a:rPr>
              <a:t>kinds </a:t>
            </a:r>
            <a:r>
              <a:rPr sz="1950" spc="145" dirty="0">
                <a:solidFill>
                  <a:srgbClr val="231F20"/>
                </a:solidFill>
                <a:latin typeface="Arial"/>
                <a:cs typeface="Arial"/>
              </a:rPr>
              <a:t>will </a:t>
            </a:r>
            <a:r>
              <a:rPr sz="1950" spc="130" dirty="0">
                <a:solidFill>
                  <a:srgbClr val="231F20"/>
                </a:solidFill>
                <a:latin typeface="Arial"/>
                <a:cs typeface="Arial"/>
              </a:rPr>
              <a:t>coexist </a:t>
            </a:r>
            <a:r>
              <a:rPr sz="1950" spc="30" dirty="0">
                <a:solidFill>
                  <a:srgbClr val="231F20"/>
                </a:solidFill>
                <a:latin typeface="Arial"/>
                <a:cs typeface="Arial"/>
              </a:rPr>
              <a:t>as </a:t>
            </a:r>
            <a:r>
              <a:rPr sz="1950" spc="170" dirty="0">
                <a:solidFill>
                  <a:srgbClr val="231F20"/>
                </a:solidFill>
                <a:latin typeface="Arial"/>
                <a:cs typeface="Arial"/>
              </a:rPr>
              <a:t>part </a:t>
            </a:r>
            <a:r>
              <a:rPr sz="1950" spc="185" dirty="0">
                <a:solidFill>
                  <a:srgbClr val="231F20"/>
                </a:solidFill>
                <a:latin typeface="Arial"/>
                <a:cs typeface="Arial"/>
              </a:rPr>
              <a:t>of </a:t>
            </a:r>
            <a:r>
              <a:rPr sz="1950" spc="175" dirty="0">
                <a:solidFill>
                  <a:srgbClr val="231F20"/>
                </a:solidFill>
                <a:latin typeface="Arial"/>
                <a:cs typeface="Arial"/>
              </a:rPr>
              <a:t>the </a:t>
            </a:r>
            <a:r>
              <a:rPr sz="1950" spc="120" dirty="0">
                <a:solidFill>
                  <a:srgbClr val="0000FF"/>
                </a:solidFill>
                <a:latin typeface="Arial"/>
                <a:cs typeface="Arial"/>
              </a:rPr>
              <a:t>evidential </a:t>
            </a:r>
            <a:r>
              <a:rPr sz="1950" spc="210" dirty="0">
                <a:solidFill>
                  <a:srgbClr val="0000FF"/>
                </a:solidFill>
                <a:latin typeface="Arial"/>
                <a:cs typeface="Arial"/>
              </a:rPr>
              <a:t>tool  </a:t>
            </a:r>
            <a:r>
              <a:rPr sz="1950" spc="170" dirty="0">
                <a:solidFill>
                  <a:srgbClr val="0000FF"/>
                </a:solidFill>
                <a:latin typeface="Arial"/>
                <a:cs typeface="Arial"/>
              </a:rPr>
              <a:t>bus</a:t>
            </a:r>
            <a:r>
              <a:rPr sz="1950" spc="170" dirty="0">
                <a:solidFill>
                  <a:srgbClr val="231F20"/>
                </a:solidFill>
                <a:latin typeface="Arial"/>
                <a:cs typeface="Arial"/>
              </a:rPr>
              <a:t>—another</a:t>
            </a:r>
            <a:r>
              <a:rPr sz="1950" spc="229" dirty="0">
                <a:solidFill>
                  <a:srgbClr val="231F20"/>
                </a:solidFill>
                <a:latin typeface="Arial"/>
                <a:cs typeface="Arial"/>
              </a:rPr>
              <a:t> </a:t>
            </a:r>
            <a:r>
              <a:rPr sz="1950" spc="185" dirty="0">
                <a:solidFill>
                  <a:srgbClr val="231F20"/>
                </a:solidFill>
                <a:latin typeface="Arial"/>
                <a:cs typeface="Arial"/>
              </a:rPr>
              <a:t>talk</a:t>
            </a:r>
            <a:endParaRPr sz="1950">
              <a:latin typeface="Arial"/>
              <a:cs typeface="Aria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2" y="712355"/>
            <a:ext cx="8008620" cy="5382260"/>
          </a:xfrm>
          <a:prstGeom prst="rect">
            <a:avLst/>
          </a:prstGeom>
        </p:spPr>
        <p:txBody>
          <a:bodyPr vert="horz" wrap="square" lIns="0" tIns="0" rIns="0" bIns="0" rtlCol="0">
            <a:spAutoFit/>
          </a:bodyPr>
          <a:lstStyle/>
          <a:p>
            <a:pPr marL="1224280">
              <a:lnSpc>
                <a:spcPct val="100000"/>
              </a:lnSpc>
            </a:pPr>
            <a:r>
              <a:rPr sz="1950" spc="225" dirty="0">
                <a:solidFill>
                  <a:srgbClr val="231F20"/>
                </a:solidFill>
                <a:latin typeface="Arial"/>
                <a:cs typeface="Arial"/>
              </a:rPr>
              <a:t>Biphase </a:t>
            </a:r>
            <a:r>
              <a:rPr sz="1950" spc="315" dirty="0">
                <a:solidFill>
                  <a:srgbClr val="231F20"/>
                </a:solidFill>
                <a:latin typeface="Arial"/>
                <a:cs typeface="Arial"/>
              </a:rPr>
              <a:t>Mark </a:t>
            </a:r>
            <a:r>
              <a:rPr sz="1950" spc="300" dirty="0">
                <a:solidFill>
                  <a:srgbClr val="231F20"/>
                </a:solidFill>
                <a:latin typeface="Arial"/>
                <a:cs typeface="Arial"/>
              </a:rPr>
              <a:t>Protocol </a:t>
            </a:r>
            <a:r>
              <a:rPr sz="1950" spc="245" dirty="0">
                <a:solidFill>
                  <a:srgbClr val="231F20"/>
                </a:solidFill>
                <a:latin typeface="Arial"/>
                <a:cs typeface="Arial"/>
              </a:rPr>
              <a:t>Verification</a:t>
            </a:r>
            <a:r>
              <a:rPr sz="1950" spc="620" dirty="0">
                <a:solidFill>
                  <a:srgbClr val="231F20"/>
                </a:solidFill>
                <a:latin typeface="Arial"/>
                <a:cs typeface="Arial"/>
              </a:rPr>
              <a:t> </a:t>
            </a:r>
            <a:r>
              <a:rPr sz="1950" spc="350" dirty="0">
                <a:solidFill>
                  <a:srgbClr val="231F20"/>
                </a:solidFill>
                <a:latin typeface="Arial"/>
                <a:cs typeface="Arial"/>
              </a:rPr>
              <a:t>(ctd)</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95" dirty="0">
                <a:solidFill>
                  <a:srgbClr val="231F20"/>
                </a:solidFill>
                <a:latin typeface="Arial"/>
                <a:cs typeface="Arial"/>
              </a:rPr>
              <a:t>Brown </a:t>
            </a:r>
            <a:r>
              <a:rPr sz="1950" spc="130" dirty="0">
                <a:solidFill>
                  <a:srgbClr val="231F20"/>
                </a:solidFill>
                <a:latin typeface="Arial"/>
                <a:cs typeface="Arial"/>
              </a:rPr>
              <a:t>and </a:t>
            </a:r>
            <a:r>
              <a:rPr sz="1950" spc="125" dirty="0">
                <a:solidFill>
                  <a:srgbClr val="231F20"/>
                </a:solidFill>
                <a:latin typeface="Arial"/>
                <a:cs typeface="Arial"/>
              </a:rPr>
              <a:t>Pike </a:t>
            </a:r>
            <a:r>
              <a:rPr sz="1950" spc="130" dirty="0">
                <a:solidFill>
                  <a:srgbClr val="231F20"/>
                </a:solidFill>
                <a:latin typeface="Arial"/>
                <a:cs typeface="Arial"/>
              </a:rPr>
              <a:t>recently </a:t>
            </a:r>
            <a:r>
              <a:rPr sz="1950" spc="140" dirty="0">
                <a:solidFill>
                  <a:srgbClr val="231F20"/>
                </a:solidFill>
                <a:latin typeface="Arial"/>
                <a:cs typeface="Arial"/>
              </a:rPr>
              <a:t>did </a:t>
            </a:r>
            <a:r>
              <a:rPr sz="1950" spc="229" dirty="0">
                <a:solidFill>
                  <a:srgbClr val="231F20"/>
                </a:solidFill>
                <a:latin typeface="Arial"/>
                <a:cs typeface="Arial"/>
              </a:rPr>
              <a:t>it </a:t>
            </a:r>
            <a:r>
              <a:rPr sz="1950" spc="215" dirty="0">
                <a:solidFill>
                  <a:srgbClr val="231F20"/>
                </a:solidFill>
                <a:latin typeface="Arial"/>
                <a:cs typeface="Arial"/>
              </a:rPr>
              <a:t>with </a:t>
            </a:r>
            <a:r>
              <a:rPr sz="1950" spc="290" dirty="0">
                <a:solidFill>
                  <a:srgbClr val="231F20"/>
                </a:solidFill>
                <a:latin typeface="Arial"/>
                <a:cs typeface="Arial"/>
              </a:rPr>
              <a:t> </a:t>
            </a:r>
            <a:r>
              <a:rPr sz="1950" spc="140" dirty="0">
                <a:solidFill>
                  <a:srgbClr val="00FF00"/>
                </a:solidFill>
                <a:latin typeface="Arial"/>
                <a:cs typeface="Arial"/>
              </a:rPr>
              <a:t>sal-inf-bmc</a:t>
            </a:r>
            <a:endParaRPr sz="1950">
              <a:latin typeface="Arial"/>
              <a:cs typeface="Arial"/>
            </a:endParaRPr>
          </a:p>
          <a:p>
            <a:pPr marL="741680" lvl="1" indent="-288290">
              <a:lnSpc>
                <a:spcPct val="100000"/>
              </a:lnSpc>
              <a:spcBef>
                <a:spcPts val="1100"/>
              </a:spcBef>
              <a:buSzPct val="105128"/>
              <a:buFont typeface="Lucida Sans Unicode"/>
              <a:buChar char="◦"/>
              <a:tabLst>
                <a:tab pos="742315" algn="l"/>
              </a:tabLst>
            </a:pPr>
            <a:r>
              <a:rPr sz="1950" spc="80" dirty="0">
                <a:solidFill>
                  <a:srgbClr val="231F20"/>
                </a:solidFill>
                <a:latin typeface="Arial"/>
                <a:cs typeface="Arial"/>
              </a:rPr>
              <a:t>Used </a:t>
            </a:r>
            <a:r>
              <a:rPr sz="1950" spc="204" dirty="0">
                <a:solidFill>
                  <a:srgbClr val="FF0000"/>
                </a:solidFill>
                <a:latin typeface="Arial"/>
                <a:cs typeface="Arial"/>
              </a:rPr>
              <a:t>timeout </a:t>
            </a:r>
            <a:r>
              <a:rPr sz="1950" spc="195" dirty="0">
                <a:solidFill>
                  <a:srgbClr val="FF0000"/>
                </a:solidFill>
                <a:latin typeface="Arial"/>
                <a:cs typeface="Arial"/>
              </a:rPr>
              <a:t>automata </a:t>
            </a:r>
            <a:r>
              <a:rPr sz="1950" spc="250" dirty="0">
                <a:solidFill>
                  <a:srgbClr val="231F20"/>
                </a:solidFill>
                <a:latin typeface="Arial"/>
                <a:cs typeface="Arial"/>
              </a:rPr>
              <a:t>to </a:t>
            </a:r>
            <a:r>
              <a:rPr sz="1950" spc="160" dirty="0">
                <a:solidFill>
                  <a:srgbClr val="231F20"/>
                </a:solidFill>
                <a:latin typeface="Arial"/>
                <a:cs typeface="Arial"/>
              </a:rPr>
              <a:t>model </a:t>
            </a:r>
            <a:r>
              <a:rPr sz="1950" spc="185" dirty="0">
                <a:solidFill>
                  <a:srgbClr val="231F20"/>
                </a:solidFill>
                <a:latin typeface="Arial"/>
                <a:cs typeface="Arial"/>
              </a:rPr>
              <a:t>timed</a:t>
            </a:r>
            <a:r>
              <a:rPr sz="1950" spc="790" dirty="0">
                <a:solidFill>
                  <a:srgbClr val="231F20"/>
                </a:solidFill>
                <a:latin typeface="Arial"/>
                <a:cs typeface="Arial"/>
              </a:rPr>
              <a:t> </a:t>
            </a:r>
            <a:r>
              <a:rPr sz="1950" spc="105" dirty="0">
                <a:solidFill>
                  <a:srgbClr val="231F20"/>
                </a:solidFill>
                <a:latin typeface="Arial"/>
                <a:cs typeface="Arial"/>
              </a:rPr>
              <a:t>aspects</a:t>
            </a:r>
            <a:endParaRPr sz="1950">
              <a:latin typeface="Arial"/>
              <a:cs typeface="Arial"/>
            </a:endParaRPr>
          </a:p>
          <a:p>
            <a:pPr marL="741680" marR="311150" lvl="1" indent="-288290">
              <a:lnSpc>
                <a:spcPct val="125000"/>
              </a:lnSpc>
              <a:spcBef>
                <a:spcPts val="259"/>
              </a:spcBef>
              <a:buSzPct val="105128"/>
              <a:buFont typeface="Lucida Sans Unicode"/>
              <a:buChar char="◦"/>
              <a:tabLst>
                <a:tab pos="742315" algn="l"/>
              </a:tabLst>
            </a:pPr>
            <a:r>
              <a:rPr sz="1950" spc="185" dirty="0">
                <a:solidFill>
                  <a:srgbClr val="231F20"/>
                </a:solidFill>
                <a:latin typeface="Arial"/>
                <a:cs typeface="Arial"/>
              </a:rPr>
              <a:t>Statement of </a:t>
            </a:r>
            <a:r>
              <a:rPr sz="1950" spc="155" dirty="0">
                <a:solidFill>
                  <a:srgbClr val="231F20"/>
                </a:solidFill>
                <a:latin typeface="Arial"/>
                <a:cs typeface="Arial"/>
              </a:rPr>
              <a:t>theorem </a:t>
            </a:r>
            <a:r>
              <a:rPr sz="1950" spc="100" dirty="0">
                <a:solidFill>
                  <a:srgbClr val="231F20"/>
                </a:solidFill>
                <a:latin typeface="Arial"/>
                <a:cs typeface="Arial"/>
              </a:rPr>
              <a:t>discovered </a:t>
            </a:r>
            <a:r>
              <a:rPr sz="1950" spc="130" dirty="0">
                <a:solidFill>
                  <a:srgbClr val="0000FF"/>
                </a:solidFill>
                <a:latin typeface="Arial"/>
                <a:cs typeface="Arial"/>
              </a:rPr>
              <a:t>systematically </a:t>
            </a:r>
            <a:r>
              <a:rPr sz="1950" spc="110" dirty="0">
                <a:solidFill>
                  <a:srgbClr val="231F20"/>
                </a:solidFill>
                <a:latin typeface="Arial"/>
                <a:cs typeface="Arial"/>
              </a:rPr>
              <a:t>using  </a:t>
            </a:r>
            <a:r>
              <a:rPr sz="1950" spc="130" dirty="0">
                <a:solidFill>
                  <a:srgbClr val="FF0000"/>
                </a:solidFill>
                <a:latin typeface="Arial"/>
                <a:cs typeface="Arial"/>
              </a:rPr>
              <a:t>disjunctive </a:t>
            </a:r>
            <a:r>
              <a:rPr sz="1950" spc="125" dirty="0">
                <a:solidFill>
                  <a:srgbClr val="FF0000"/>
                </a:solidFill>
                <a:latin typeface="Arial"/>
                <a:cs typeface="Arial"/>
              </a:rPr>
              <a:t>invariants </a:t>
            </a:r>
            <a:r>
              <a:rPr sz="1950" spc="229" dirty="0">
                <a:solidFill>
                  <a:srgbClr val="231F20"/>
                </a:solidFill>
                <a:latin typeface="Arial"/>
                <a:cs typeface="Arial"/>
              </a:rPr>
              <a:t>(</a:t>
            </a:r>
            <a:r>
              <a:rPr sz="1950" spc="229" dirty="0">
                <a:solidFill>
                  <a:srgbClr val="0000FF"/>
                </a:solidFill>
                <a:latin typeface="Arial"/>
                <a:cs typeface="Arial"/>
              </a:rPr>
              <a:t>7</a:t>
            </a:r>
            <a:r>
              <a:rPr sz="1950" spc="550" dirty="0">
                <a:solidFill>
                  <a:srgbClr val="0000FF"/>
                </a:solidFill>
                <a:latin typeface="Arial"/>
                <a:cs typeface="Arial"/>
              </a:rPr>
              <a:t> </a:t>
            </a:r>
            <a:r>
              <a:rPr sz="1950" spc="150" dirty="0">
                <a:solidFill>
                  <a:srgbClr val="231F20"/>
                </a:solidFill>
                <a:latin typeface="Arial"/>
                <a:cs typeface="Arial"/>
              </a:rPr>
              <a:t>disjuncts)</a:t>
            </a:r>
            <a:endParaRPr sz="1950">
              <a:latin typeface="Arial"/>
              <a:cs typeface="Arial"/>
            </a:endParaRPr>
          </a:p>
          <a:p>
            <a:pPr marL="741680" lvl="1" indent="-288290">
              <a:lnSpc>
                <a:spcPct val="100000"/>
              </a:lnSpc>
              <a:spcBef>
                <a:spcPts val="845"/>
              </a:spcBef>
              <a:buClr>
                <a:srgbClr val="231F20"/>
              </a:buClr>
              <a:buSzPct val="105128"/>
              <a:buFont typeface="Lucida Sans Unicode"/>
              <a:buChar char="◦"/>
              <a:tabLst>
                <a:tab pos="742315" algn="l"/>
              </a:tabLst>
            </a:pPr>
            <a:r>
              <a:rPr sz="1950" spc="185" dirty="0">
                <a:solidFill>
                  <a:srgbClr val="0000FF"/>
                </a:solidFill>
                <a:latin typeface="Arial"/>
                <a:cs typeface="Arial"/>
              </a:rPr>
              <a:t>Three </a:t>
            </a:r>
            <a:r>
              <a:rPr sz="1950" spc="130" dirty="0">
                <a:solidFill>
                  <a:srgbClr val="231F20"/>
                </a:solidFill>
                <a:latin typeface="Arial"/>
                <a:cs typeface="Arial"/>
              </a:rPr>
              <a:t>lemmas </a:t>
            </a:r>
            <a:r>
              <a:rPr sz="1950" spc="114" dirty="0">
                <a:solidFill>
                  <a:srgbClr val="231F20"/>
                </a:solidFill>
                <a:latin typeface="Arial"/>
                <a:cs typeface="Arial"/>
              </a:rPr>
              <a:t>proved </a:t>
            </a:r>
            <a:r>
              <a:rPr sz="1950" spc="165" dirty="0">
                <a:solidFill>
                  <a:srgbClr val="231F20"/>
                </a:solidFill>
                <a:latin typeface="Arial"/>
                <a:cs typeface="Arial"/>
              </a:rPr>
              <a:t>automatically </a:t>
            </a:r>
            <a:r>
              <a:rPr sz="1950" spc="215" dirty="0">
                <a:solidFill>
                  <a:srgbClr val="231F20"/>
                </a:solidFill>
                <a:latin typeface="Arial"/>
                <a:cs typeface="Arial"/>
              </a:rPr>
              <a:t>with</a:t>
            </a:r>
            <a:r>
              <a:rPr sz="1950" spc="815" dirty="0">
                <a:solidFill>
                  <a:srgbClr val="231F20"/>
                </a:solidFill>
                <a:latin typeface="Arial"/>
                <a:cs typeface="Arial"/>
              </a:rPr>
              <a:t> </a:t>
            </a:r>
            <a:r>
              <a:rPr sz="1950" spc="160" dirty="0">
                <a:solidFill>
                  <a:srgbClr val="0000FF"/>
                </a:solidFill>
                <a:latin typeface="Arial"/>
                <a:cs typeface="Arial"/>
              </a:rPr>
              <a:t>1-induction</a:t>
            </a:r>
            <a:r>
              <a:rPr sz="1950" spc="160" dirty="0">
                <a:solidFill>
                  <a:srgbClr val="231F20"/>
                </a:solidFill>
                <a:latin typeface="Arial"/>
                <a:cs typeface="Arial"/>
              </a:rPr>
              <a:t>,</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185" dirty="0">
                <a:solidFill>
                  <a:srgbClr val="231F20"/>
                </a:solidFill>
                <a:latin typeface="Arial"/>
                <a:cs typeface="Arial"/>
              </a:rPr>
              <a:t>Theorem </a:t>
            </a:r>
            <a:r>
              <a:rPr sz="1950" spc="114" dirty="0">
                <a:solidFill>
                  <a:srgbClr val="231F20"/>
                </a:solidFill>
                <a:latin typeface="Arial"/>
                <a:cs typeface="Arial"/>
              </a:rPr>
              <a:t>proved </a:t>
            </a:r>
            <a:r>
              <a:rPr sz="1950" spc="165" dirty="0">
                <a:solidFill>
                  <a:srgbClr val="231F20"/>
                </a:solidFill>
                <a:latin typeface="Arial"/>
                <a:cs typeface="Arial"/>
              </a:rPr>
              <a:t>automatically </a:t>
            </a:r>
            <a:r>
              <a:rPr sz="1950" spc="110" dirty="0">
                <a:solidFill>
                  <a:srgbClr val="231F20"/>
                </a:solidFill>
                <a:latin typeface="Arial"/>
                <a:cs typeface="Arial"/>
              </a:rPr>
              <a:t>using</a:t>
            </a:r>
            <a:r>
              <a:rPr sz="1950" spc="675" dirty="0">
                <a:solidFill>
                  <a:srgbClr val="231F20"/>
                </a:solidFill>
                <a:latin typeface="Arial"/>
                <a:cs typeface="Arial"/>
              </a:rPr>
              <a:t> </a:t>
            </a:r>
            <a:r>
              <a:rPr sz="1950" spc="160" dirty="0">
                <a:solidFill>
                  <a:srgbClr val="0000FF"/>
                </a:solidFill>
                <a:latin typeface="Arial"/>
                <a:cs typeface="Arial"/>
              </a:rPr>
              <a:t>5-induction</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150" dirty="0">
                <a:solidFill>
                  <a:srgbClr val="231F20"/>
                </a:solidFill>
                <a:latin typeface="Arial"/>
                <a:cs typeface="Arial"/>
              </a:rPr>
              <a:t>Verification </a:t>
            </a:r>
            <a:r>
              <a:rPr sz="1950" spc="110" dirty="0">
                <a:solidFill>
                  <a:srgbClr val="231F20"/>
                </a:solidFill>
                <a:latin typeface="Arial"/>
                <a:cs typeface="Arial"/>
              </a:rPr>
              <a:t>takes </a:t>
            </a:r>
            <a:r>
              <a:rPr sz="1950" spc="75" dirty="0">
                <a:solidFill>
                  <a:srgbClr val="0000FF"/>
                </a:solidFill>
                <a:latin typeface="Arial"/>
                <a:cs typeface="Arial"/>
              </a:rPr>
              <a:t>seconds </a:t>
            </a:r>
            <a:r>
              <a:rPr sz="1950" spc="250" dirty="0">
                <a:solidFill>
                  <a:srgbClr val="231F20"/>
                </a:solidFill>
                <a:latin typeface="Arial"/>
                <a:cs typeface="Arial"/>
              </a:rPr>
              <a:t>to</a:t>
            </a:r>
            <a:r>
              <a:rPr sz="1950" spc="785" dirty="0">
                <a:solidFill>
                  <a:srgbClr val="231F20"/>
                </a:solidFill>
                <a:latin typeface="Arial"/>
                <a:cs typeface="Arial"/>
              </a:rPr>
              <a:t> </a:t>
            </a:r>
            <a:r>
              <a:rPr sz="1950" spc="120" dirty="0">
                <a:solidFill>
                  <a:srgbClr val="231F20"/>
                </a:solidFill>
                <a:latin typeface="Arial"/>
                <a:cs typeface="Arial"/>
              </a:rPr>
              <a:t>check</a:t>
            </a:r>
            <a:endParaRPr sz="1950">
              <a:latin typeface="Arial"/>
              <a:cs typeface="Arial"/>
            </a:endParaRPr>
          </a:p>
          <a:p>
            <a:pPr marL="300990" indent="-288290">
              <a:lnSpc>
                <a:spcPct val="100000"/>
              </a:lnSpc>
              <a:spcBef>
                <a:spcPts val="1100"/>
              </a:spcBef>
              <a:buClr>
                <a:srgbClr val="231F20"/>
              </a:buClr>
              <a:buSzPct val="105128"/>
              <a:buFont typeface="Lucida Sans Unicode"/>
              <a:buChar char="•"/>
              <a:tabLst>
                <a:tab pos="301625" algn="l"/>
              </a:tabLst>
            </a:pPr>
            <a:r>
              <a:rPr sz="1950" spc="170" dirty="0">
                <a:solidFill>
                  <a:srgbClr val="0000FF"/>
                </a:solidFill>
                <a:latin typeface="Arial"/>
                <a:cs typeface="Arial"/>
              </a:rPr>
              <a:t>Adapted </a:t>
            </a:r>
            <a:r>
              <a:rPr sz="1950" spc="145" dirty="0">
                <a:solidFill>
                  <a:srgbClr val="231F20"/>
                </a:solidFill>
                <a:latin typeface="Arial"/>
                <a:cs typeface="Arial"/>
              </a:rPr>
              <a:t>verification </a:t>
            </a:r>
            <a:r>
              <a:rPr sz="1950" spc="250" dirty="0">
                <a:solidFill>
                  <a:srgbClr val="231F20"/>
                </a:solidFill>
                <a:latin typeface="Arial"/>
                <a:cs typeface="Arial"/>
              </a:rPr>
              <a:t>to </a:t>
            </a:r>
            <a:r>
              <a:rPr sz="1950" spc="170" dirty="0">
                <a:solidFill>
                  <a:srgbClr val="231F20"/>
                </a:solidFill>
                <a:latin typeface="Arial"/>
                <a:cs typeface="Arial"/>
              </a:rPr>
              <a:t>8-N-1 protocol </a:t>
            </a:r>
            <a:r>
              <a:rPr sz="1950" spc="120" dirty="0">
                <a:solidFill>
                  <a:srgbClr val="231F20"/>
                </a:solidFill>
                <a:latin typeface="Arial"/>
                <a:cs typeface="Arial"/>
              </a:rPr>
              <a:t>(used </a:t>
            </a:r>
            <a:r>
              <a:rPr sz="1950" spc="130" dirty="0">
                <a:solidFill>
                  <a:srgbClr val="231F20"/>
                </a:solidFill>
                <a:latin typeface="Arial"/>
                <a:cs typeface="Arial"/>
              </a:rPr>
              <a:t>in </a:t>
            </a:r>
            <a:r>
              <a:rPr sz="1950" spc="260" dirty="0">
                <a:solidFill>
                  <a:srgbClr val="231F20"/>
                </a:solidFill>
                <a:latin typeface="Arial"/>
                <a:cs typeface="Arial"/>
              </a:rPr>
              <a:t> UARTs)</a:t>
            </a:r>
            <a:endParaRPr sz="1950">
              <a:latin typeface="Arial"/>
              <a:cs typeface="Arial"/>
            </a:endParaRPr>
          </a:p>
          <a:p>
            <a:pPr marL="741680" lvl="1" indent="-288290">
              <a:lnSpc>
                <a:spcPct val="100000"/>
              </a:lnSpc>
              <a:spcBef>
                <a:spcPts val="1100"/>
              </a:spcBef>
              <a:buClr>
                <a:srgbClr val="231F20"/>
              </a:buClr>
              <a:buSzPct val="105128"/>
              <a:buFont typeface="Lucida Sans Unicode"/>
              <a:buChar char="◦"/>
              <a:tabLst>
                <a:tab pos="742315" algn="l"/>
              </a:tabLst>
            </a:pPr>
            <a:r>
              <a:rPr sz="1950" spc="204" dirty="0">
                <a:solidFill>
                  <a:srgbClr val="FF0000"/>
                </a:solidFill>
                <a:latin typeface="Arial"/>
                <a:cs typeface="Arial"/>
              </a:rPr>
              <a:t>Automated </a:t>
            </a:r>
            <a:r>
              <a:rPr sz="1950" spc="135" dirty="0">
                <a:solidFill>
                  <a:srgbClr val="FF0000"/>
                </a:solidFill>
                <a:latin typeface="Arial"/>
                <a:cs typeface="Arial"/>
              </a:rPr>
              <a:t>proofs </a:t>
            </a:r>
            <a:r>
              <a:rPr sz="1950" spc="145" dirty="0">
                <a:solidFill>
                  <a:srgbClr val="FF0000"/>
                </a:solidFill>
                <a:latin typeface="Arial"/>
                <a:cs typeface="Arial"/>
              </a:rPr>
              <a:t>more </a:t>
            </a:r>
            <a:r>
              <a:rPr sz="1950" spc="85" dirty="0">
                <a:solidFill>
                  <a:srgbClr val="FF0000"/>
                </a:solidFill>
                <a:latin typeface="Arial"/>
                <a:cs typeface="Arial"/>
              </a:rPr>
              <a:t>reusable </a:t>
            </a:r>
            <a:r>
              <a:rPr sz="1950" spc="185" dirty="0">
                <a:solidFill>
                  <a:srgbClr val="FF0000"/>
                </a:solidFill>
                <a:latin typeface="Arial"/>
                <a:cs typeface="Arial"/>
              </a:rPr>
              <a:t>than </a:t>
            </a:r>
            <a:r>
              <a:rPr sz="1950" spc="125" dirty="0">
                <a:solidFill>
                  <a:srgbClr val="FF0000"/>
                </a:solidFill>
                <a:latin typeface="Arial"/>
                <a:cs typeface="Arial"/>
              </a:rPr>
              <a:t>step-by-step </a:t>
            </a:r>
            <a:r>
              <a:rPr sz="1950" spc="290" dirty="0">
                <a:solidFill>
                  <a:srgbClr val="FF0000"/>
                </a:solidFill>
                <a:latin typeface="Arial"/>
                <a:cs typeface="Arial"/>
              </a:rPr>
              <a:t> </a:t>
            </a:r>
            <a:r>
              <a:rPr sz="1950" spc="70" dirty="0">
                <a:solidFill>
                  <a:srgbClr val="FF0000"/>
                </a:solidFill>
                <a:latin typeface="Arial"/>
                <a:cs typeface="Arial"/>
              </a:rPr>
              <a:t>ones</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165" dirty="0">
                <a:solidFill>
                  <a:srgbClr val="231F20"/>
                </a:solidFill>
                <a:latin typeface="Arial"/>
                <a:cs typeface="Arial"/>
              </a:rPr>
              <a:t>Additional </a:t>
            </a:r>
            <a:r>
              <a:rPr sz="1950" spc="160" dirty="0">
                <a:solidFill>
                  <a:srgbClr val="231F20"/>
                </a:solidFill>
                <a:latin typeface="Arial"/>
                <a:cs typeface="Arial"/>
              </a:rPr>
              <a:t>lemma </a:t>
            </a:r>
            <a:r>
              <a:rPr sz="1950" spc="114" dirty="0">
                <a:solidFill>
                  <a:srgbClr val="231F20"/>
                </a:solidFill>
                <a:latin typeface="Arial"/>
                <a:cs typeface="Arial"/>
              </a:rPr>
              <a:t>proved </a:t>
            </a:r>
            <a:r>
              <a:rPr sz="1950" spc="215" dirty="0">
                <a:solidFill>
                  <a:srgbClr val="231F20"/>
                </a:solidFill>
                <a:latin typeface="Arial"/>
                <a:cs typeface="Arial"/>
              </a:rPr>
              <a:t>with</a:t>
            </a:r>
            <a:r>
              <a:rPr sz="1950" spc="715" dirty="0">
                <a:solidFill>
                  <a:srgbClr val="231F20"/>
                </a:solidFill>
                <a:latin typeface="Arial"/>
                <a:cs typeface="Arial"/>
              </a:rPr>
              <a:t> </a:t>
            </a:r>
            <a:r>
              <a:rPr sz="1950" spc="160" dirty="0">
                <a:solidFill>
                  <a:srgbClr val="0000FF"/>
                </a:solidFill>
                <a:latin typeface="Arial"/>
                <a:cs typeface="Arial"/>
              </a:rPr>
              <a:t>13-induction</a:t>
            </a:r>
            <a:endParaRPr sz="1950">
              <a:latin typeface="Arial"/>
              <a:cs typeface="Arial"/>
            </a:endParaRPr>
          </a:p>
          <a:p>
            <a:pPr marL="741680" lvl="1" indent="-288290">
              <a:lnSpc>
                <a:spcPct val="100000"/>
              </a:lnSpc>
              <a:spcBef>
                <a:spcPts val="845"/>
              </a:spcBef>
              <a:buSzPct val="105128"/>
              <a:buFont typeface="Lucida Sans Unicode"/>
              <a:buChar char="◦"/>
              <a:tabLst>
                <a:tab pos="742315" algn="l"/>
              </a:tabLst>
            </a:pPr>
            <a:r>
              <a:rPr sz="1950" spc="185" dirty="0">
                <a:solidFill>
                  <a:srgbClr val="231F20"/>
                </a:solidFill>
                <a:latin typeface="Arial"/>
                <a:cs typeface="Arial"/>
              </a:rPr>
              <a:t>Theorem </a:t>
            </a:r>
            <a:r>
              <a:rPr sz="1950" spc="114" dirty="0">
                <a:solidFill>
                  <a:srgbClr val="231F20"/>
                </a:solidFill>
                <a:latin typeface="Arial"/>
                <a:cs typeface="Arial"/>
              </a:rPr>
              <a:t>proved </a:t>
            </a:r>
            <a:r>
              <a:rPr sz="1950" spc="215" dirty="0">
                <a:solidFill>
                  <a:srgbClr val="231F20"/>
                </a:solidFill>
                <a:latin typeface="Arial"/>
                <a:cs typeface="Arial"/>
              </a:rPr>
              <a:t>with </a:t>
            </a:r>
            <a:r>
              <a:rPr sz="1950" spc="160" dirty="0">
                <a:solidFill>
                  <a:srgbClr val="0000FF"/>
                </a:solidFill>
                <a:latin typeface="Arial"/>
                <a:cs typeface="Arial"/>
              </a:rPr>
              <a:t>3-induction </a:t>
            </a:r>
            <a:r>
              <a:rPr sz="1950" spc="229" dirty="0">
                <a:solidFill>
                  <a:srgbClr val="231F20"/>
                </a:solidFill>
                <a:latin typeface="Arial"/>
                <a:cs typeface="Arial"/>
              </a:rPr>
              <a:t>(</a:t>
            </a:r>
            <a:r>
              <a:rPr sz="1950" spc="229" dirty="0">
                <a:solidFill>
                  <a:srgbClr val="0000FF"/>
                </a:solidFill>
                <a:latin typeface="Arial"/>
                <a:cs typeface="Arial"/>
              </a:rPr>
              <a:t>7</a:t>
            </a:r>
            <a:r>
              <a:rPr sz="1950" spc="735" dirty="0">
                <a:solidFill>
                  <a:srgbClr val="0000FF"/>
                </a:solidFill>
                <a:latin typeface="Arial"/>
                <a:cs typeface="Arial"/>
              </a:rPr>
              <a:t> </a:t>
            </a:r>
            <a:r>
              <a:rPr sz="1950" spc="150" dirty="0">
                <a:solidFill>
                  <a:srgbClr val="231F20"/>
                </a:solidFill>
                <a:latin typeface="Arial"/>
                <a:cs typeface="Arial"/>
              </a:rPr>
              <a:t>disjuncts)</a:t>
            </a:r>
            <a:endParaRPr sz="1950">
              <a:latin typeface="Arial"/>
              <a:cs typeface="Arial"/>
            </a:endParaRPr>
          </a:p>
          <a:p>
            <a:pPr marL="741680" lvl="1" indent="-288290">
              <a:lnSpc>
                <a:spcPct val="100000"/>
              </a:lnSpc>
              <a:spcBef>
                <a:spcPts val="845"/>
              </a:spcBef>
              <a:buClr>
                <a:srgbClr val="231F20"/>
              </a:buClr>
              <a:buSzPct val="105128"/>
              <a:buFont typeface="Lucida Sans Unicode"/>
              <a:buChar char="◦"/>
              <a:tabLst>
                <a:tab pos="742315" algn="l"/>
              </a:tabLst>
            </a:pPr>
            <a:r>
              <a:rPr sz="1950" spc="90" dirty="0">
                <a:solidFill>
                  <a:srgbClr val="0000FF"/>
                </a:solidFill>
                <a:latin typeface="Arial"/>
                <a:cs typeface="Arial"/>
              </a:rPr>
              <a:t>Revealed </a:t>
            </a:r>
            <a:r>
              <a:rPr sz="1950" spc="85" dirty="0">
                <a:solidFill>
                  <a:srgbClr val="0000FF"/>
                </a:solidFill>
                <a:latin typeface="Arial"/>
                <a:cs typeface="Arial"/>
              </a:rPr>
              <a:t>a </a:t>
            </a:r>
            <a:r>
              <a:rPr sz="1950" spc="155" dirty="0">
                <a:solidFill>
                  <a:srgbClr val="0000FF"/>
                </a:solidFill>
                <a:latin typeface="Arial"/>
                <a:cs typeface="Arial"/>
              </a:rPr>
              <a:t>bug </a:t>
            </a:r>
            <a:r>
              <a:rPr sz="1950" spc="130" dirty="0">
                <a:solidFill>
                  <a:srgbClr val="231F20"/>
                </a:solidFill>
                <a:latin typeface="Arial"/>
                <a:cs typeface="Arial"/>
              </a:rPr>
              <a:t>in </a:t>
            </a:r>
            <a:r>
              <a:rPr sz="1950" spc="110" dirty="0">
                <a:solidFill>
                  <a:srgbClr val="231F20"/>
                </a:solidFill>
                <a:latin typeface="Arial"/>
                <a:cs typeface="Arial"/>
              </a:rPr>
              <a:t>published </a:t>
            </a:r>
            <a:r>
              <a:rPr sz="1950" spc="145" dirty="0">
                <a:solidFill>
                  <a:srgbClr val="231F20"/>
                </a:solidFill>
                <a:latin typeface="Arial"/>
                <a:cs typeface="Arial"/>
              </a:rPr>
              <a:t>application </a:t>
            </a:r>
            <a:r>
              <a:rPr sz="1950" spc="355" dirty="0">
                <a:solidFill>
                  <a:srgbClr val="231F20"/>
                </a:solidFill>
                <a:latin typeface="Arial"/>
                <a:cs typeface="Arial"/>
              </a:rPr>
              <a:t> </a:t>
            </a:r>
            <a:r>
              <a:rPr sz="1950" spc="170" dirty="0">
                <a:solidFill>
                  <a:srgbClr val="231F20"/>
                </a:solidFill>
                <a:latin typeface="Arial"/>
                <a:cs typeface="Arial"/>
              </a:rPr>
              <a:t>note</a:t>
            </a:r>
            <a:endParaRPr sz="1950">
              <a:latin typeface="Arial"/>
              <a:cs typeface="Arial"/>
            </a:endParaRPr>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741409" y="5144681"/>
            <a:ext cx="947419" cy="217804"/>
          </a:xfrm>
          <a:prstGeom prst="rect">
            <a:avLst/>
          </a:prstGeom>
        </p:spPr>
        <p:txBody>
          <a:bodyPr vert="horz" wrap="square" lIns="0" tIns="0" rIns="0" bIns="0" rtlCol="0">
            <a:spAutoFit/>
          </a:bodyPr>
          <a:lstStyle/>
          <a:p>
            <a:pPr marL="12700">
              <a:lnSpc>
                <a:spcPct val="100000"/>
              </a:lnSpc>
            </a:pPr>
            <a:r>
              <a:rPr sz="1350" spc="-5" dirty="0">
                <a:latin typeface="Times New Roman"/>
                <a:cs typeface="Times New Roman"/>
              </a:rPr>
              <a:t>This</a:t>
            </a:r>
            <a:r>
              <a:rPr sz="1350" spc="-100" dirty="0">
                <a:latin typeface="Times New Roman"/>
                <a:cs typeface="Times New Roman"/>
              </a:rPr>
              <a:t> </a:t>
            </a:r>
            <a:r>
              <a:rPr sz="1350" spc="-5" dirty="0">
                <a:latin typeface="Times New Roman"/>
                <a:cs typeface="Times New Roman"/>
              </a:rPr>
              <a:t>example</a:t>
            </a:r>
            <a:endParaRPr sz="1350">
              <a:latin typeface="Times New Roman"/>
              <a:cs typeface="Times New Roman"/>
            </a:endParaRPr>
          </a:p>
        </p:txBody>
      </p:sp>
      <p:sp>
        <p:nvSpPr>
          <p:cNvPr id="3" name="object 3"/>
          <p:cNvSpPr/>
          <p:nvPr/>
        </p:nvSpPr>
        <p:spPr>
          <a:xfrm>
            <a:off x="3888727" y="4394263"/>
            <a:ext cx="3404235" cy="567690"/>
          </a:xfrm>
          <a:custGeom>
            <a:avLst/>
            <a:gdLst/>
            <a:ahLst/>
            <a:cxnLst/>
            <a:rect l="l" t="t" r="r" b="b"/>
            <a:pathLst>
              <a:path w="3404234" h="567689">
                <a:moveTo>
                  <a:pt x="99275" y="0"/>
                </a:moveTo>
                <a:lnTo>
                  <a:pt x="94466" y="114"/>
                </a:lnTo>
                <a:lnTo>
                  <a:pt x="89715" y="454"/>
                </a:lnTo>
                <a:lnTo>
                  <a:pt x="50474" y="12804"/>
                </a:lnTo>
                <a:lnTo>
                  <a:pt x="20230" y="39206"/>
                </a:lnTo>
                <a:lnTo>
                  <a:pt x="2775" y="75869"/>
                </a:lnTo>
                <a:lnTo>
                  <a:pt x="0" y="99275"/>
                </a:lnTo>
                <a:lnTo>
                  <a:pt x="0" y="468020"/>
                </a:lnTo>
                <a:lnTo>
                  <a:pt x="8711" y="508745"/>
                </a:lnTo>
                <a:lnTo>
                  <a:pt x="32318" y="541316"/>
                </a:lnTo>
                <a:lnTo>
                  <a:pt x="67029" y="561941"/>
                </a:lnTo>
                <a:lnTo>
                  <a:pt x="99275" y="567296"/>
                </a:lnTo>
                <a:lnTo>
                  <a:pt x="3304552" y="567296"/>
                </a:lnTo>
                <a:lnTo>
                  <a:pt x="3345277" y="558584"/>
                </a:lnTo>
                <a:lnTo>
                  <a:pt x="3377848" y="534977"/>
                </a:lnTo>
                <a:lnTo>
                  <a:pt x="3398473" y="500266"/>
                </a:lnTo>
                <a:lnTo>
                  <a:pt x="3403828" y="468020"/>
                </a:lnTo>
                <a:lnTo>
                  <a:pt x="3403828" y="99275"/>
                </a:lnTo>
                <a:lnTo>
                  <a:pt x="3395116" y="58550"/>
                </a:lnTo>
                <a:lnTo>
                  <a:pt x="3371509" y="25979"/>
                </a:lnTo>
                <a:lnTo>
                  <a:pt x="3336799" y="5355"/>
                </a:lnTo>
                <a:lnTo>
                  <a:pt x="3304552" y="0"/>
                </a:lnTo>
                <a:lnTo>
                  <a:pt x="99275" y="0"/>
                </a:lnTo>
                <a:close/>
              </a:path>
            </a:pathLst>
          </a:custGeom>
          <a:ln w="7091">
            <a:solidFill>
              <a:srgbClr val="000000"/>
            </a:solidFill>
          </a:ln>
        </p:spPr>
        <p:txBody>
          <a:bodyPr wrap="square" lIns="0" tIns="0" rIns="0" bIns="0" rtlCol="0"/>
          <a:lstStyle/>
          <a:p>
            <a:endParaRPr/>
          </a:p>
        </p:txBody>
      </p:sp>
      <p:sp>
        <p:nvSpPr>
          <p:cNvPr id="4" name="object 4"/>
          <p:cNvSpPr/>
          <p:nvPr/>
        </p:nvSpPr>
        <p:spPr>
          <a:xfrm>
            <a:off x="3888727" y="5812523"/>
            <a:ext cx="567690" cy="567690"/>
          </a:xfrm>
          <a:custGeom>
            <a:avLst/>
            <a:gdLst/>
            <a:ahLst/>
            <a:cxnLst/>
            <a:rect l="l" t="t" r="r" b="b"/>
            <a:pathLst>
              <a:path w="567689" h="567689">
                <a:moveTo>
                  <a:pt x="99275" y="0"/>
                </a:moveTo>
                <a:lnTo>
                  <a:pt x="94466" y="114"/>
                </a:lnTo>
                <a:lnTo>
                  <a:pt x="89715" y="454"/>
                </a:lnTo>
                <a:lnTo>
                  <a:pt x="50474" y="12804"/>
                </a:lnTo>
                <a:lnTo>
                  <a:pt x="20230" y="39206"/>
                </a:lnTo>
                <a:lnTo>
                  <a:pt x="2775" y="75869"/>
                </a:lnTo>
                <a:lnTo>
                  <a:pt x="0" y="99275"/>
                </a:lnTo>
                <a:lnTo>
                  <a:pt x="0" y="468020"/>
                </a:lnTo>
                <a:lnTo>
                  <a:pt x="8711" y="508745"/>
                </a:lnTo>
                <a:lnTo>
                  <a:pt x="32318" y="541316"/>
                </a:lnTo>
                <a:lnTo>
                  <a:pt x="67029" y="561941"/>
                </a:lnTo>
                <a:lnTo>
                  <a:pt x="99275" y="567296"/>
                </a:lnTo>
                <a:lnTo>
                  <a:pt x="468033" y="567296"/>
                </a:lnTo>
                <a:lnTo>
                  <a:pt x="508750" y="558584"/>
                </a:lnTo>
                <a:lnTo>
                  <a:pt x="541317" y="534977"/>
                </a:lnTo>
                <a:lnTo>
                  <a:pt x="561941" y="500266"/>
                </a:lnTo>
                <a:lnTo>
                  <a:pt x="567296" y="468020"/>
                </a:lnTo>
                <a:lnTo>
                  <a:pt x="567296" y="99275"/>
                </a:lnTo>
                <a:lnTo>
                  <a:pt x="558584" y="58550"/>
                </a:lnTo>
                <a:lnTo>
                  <a:pt x="534977" y="25979"/>
                </a:lnTo>
                <a:lnTo>
                  <a:pt x="500266" y="5355"/>
                </a:lnTo>
                <a:lnTo>
                  <a:pt x="468020" y="0"/>
                </a:lnTo>
                <a:lnTo>
                  <a:pt x="99275" y="0"/>
                </a:lnTo>
                <a:close/>
              </a:path>
            </a:pathLst>
          </a:custGeom>
          <a:ln w="7091">
            <a:solidFill>
              <a:srgbClr val="000000"/>
            </a:solidFill>
          </a:ln>
        </p:spPr>
        <p:txBody>
          <a:bodyPr wrap="square" lIns="0" tIns="0" rIns="0" bIns="0" rtlCol="0"/>
          <a:lstStyle/>
          <a:p>
            <a:endParaRPr/>
          </a:p>
        </p:txBody>
      </p:sp>
      <p:sp>
        <p:nvSpPr>
          <p:cNvPr id="5" name="object 5"/>
          <p:cNvSpPr/>
          <p:nvPr/>
        </p:nvSpPr>
        <p:spPr>
          <a:xfrm>
            <a:off x="5023332" y="5812523"/>
            <a:ext cx="567690" cy="567690"/>
          </a:xfrm>
          <a:custGeom>
            <a:avLst/>
            <a:gdLst/>
            <a:ahLst/>
            <a:cxnLst/>
            <a:rect l="l" t="t" r="r" b="b"/>
            <a:pathLst>
              <a:path w="567689" h="567689">
                <a:moveTo>
                  <a:pt x="99275" y="0"/>
                </a:moveTo>
                <a:lnTo>
                  <a:pt x="94466" y="114"/>
                </a:lnTo>
                <a:lnTo>
                  <a:pt x="89715" y="454"/>
                </a:lnTo>
                <a:lnTo>
                  <a:pt x="50474" y="12804"/>
                </a:lnTo>
                <a:lnTo>
                  <a:pt x="20230" y="39206"/>
                </a:lnTo>
                <a:lnTo>
                  <a:pt x="2775" y="75869"/>
                </a:lnTo>
                <a:lnTo>
                  <a:pt x="0" y="99275"/>
                </a:lnTo>
                <a:lnTo>
                  <a:pt x="0" y="468020"/>
                </a:lnTo>
                <a:lnTo>
                  <a:pt x="8711" y="508745"/>
                </a:lnTo>
                <a:lnTo>
                  <a:pt x="32318" y="541316"/>
                </a:lnTo>
                <a:lnTo>
                  <a:pt x="67029" y="561941"/>
                </a:lnTo>
                <a:lnTo>
                  <a:pt x="99275" y="567296"/>
                </a:lnTo>
                <a:lnTo>
                  <a:pt x="468033" y="567296"/>
                </a:lnTo>
                <a:lnTo>
                  <a:pt x="508758" y="558584"/>
                </a:lnTo>
                <a:lnTo>
                  <a:pt x="541329" y="534977"/>
                </a:lnTo>
                <a:lnTo>
                  <a:pt x="561953" y="500266"/>
                </a:lnTo>
                <a:lnTo>
                  <a:pt x="567309" y="468020"/>
                </a:lnTo>
                <a:lnTo>
                  <a:pt x="567309" y="99275"/>
                </a:lnTo>
                <a:lnTo>
                  <a:pt x="558597" y="58550"/>
                </a:lnTo>
                <a:lnTo>
                  <a:pt x="534990" y="25979"/>
                </a:lnTo>
                <a:lnTo>
                  <a:pt x="500279" y="5355"/>
                </a:lnTo>
                <a:lnTo>
                  <a:pt x="468033" y="0"/>
                </a:lnTo>
                <a:lnTo>
                  <a:pt x="99275" y="0"/>
                </a:lnTo>
                <a:close/>
              </a:path>
            </a:pathLst>
          </a:custGeom>
          <a:ln w="7091">
            <a:solidFill>
              <a:srgbClr val="000000"/>
            </a:solidFill>
          </a:ln>
        </p:spPr>
        <p:txBody>
          <a:bodyPr wrap="square" lIns="0" tIns="0" rIns="0" bIns="0" rtlCol="0"/>
          <a:lstStyle/>
          <a:p>
            <a:endParaRPr/>
          </a:p>
        </p:txBody>
      </p:sp>
      <p:sp>
        <p:nvSpPr>
          <p:cNvPr id="6" name="object 6"/>
          <p:cNvSpPr/>
          <p:nvPr/>
        </p:nvSpPr>
        <p:spPr>
          <a:xfrm>
            <a:off x="6157938" y="5812523"/>
            <a:ext cx="283845" cy="567690"/>
          </a:xfrm>
          <a:custGeom>
            <a:avLst/>
            <a:gdLst/>
            <a:ahLst/>
            <a:cxnLst/>
            <a:rect l="l" t="t" r="r" b="b"/>
            <a:pathLst>
              <a:path w="283845" h="567689">
                <a:moveTo>
                  <a:pt x="99288" y="0"/>
                </a:moveTo>
                <a:lnTo>
                  <a:pt x="94478" y="114"/>
                </a:lnTo>
                <a:lnTo>
                  <a:pt x="89727" y="454"/>
                </a:lnTo>
                <a:lnTo>
                  <a:pt x="50484" y="12804"/>
                </a:lnTo>
                <a:lnTo>
                  <a:pt x="20235" y="39206"/>
                </a:lnTo>
                <a:lnTo>
                  <a:pt x="2776" y="75869"/>
                </a:lnTo>
                <a:lnTo>
                  <a:pt x="0" y="99275"/>
                </a:lnTo>
                <a:lnTo>
                  <a:pt x="0" y="468020"/>
                </a:lnTo>
                <a:lnTo>
                  <a:pt x="8711" y="508745"/>
                </a:lnTo>
                <a:lnTo>
                  <a:pt x="32320" y="541316"/>
                </a:lnTo>
                <a:lnTo>
                  <a:pt x="67035" y="561941"/>
                </a:lnTo>
                <a:lnTo>
                  <a:pt x="99288" y="567296"/>
                </a:lnTo>
                <a:lnTo>
                  <a:pt x="184378" y="567296"/>
                </a:lnTo>
                <a:lnTo>
                  <a:pt x="225103" y="558584"/>
                </a:lnTo>
                <a:lnTo>
                  <a:pt x="257674" y="534977"/>
                </a:lnTo>
                <a:lnTo>
                  <a:pt x="278299" y="500266"/>
                </a:lnTo>
                <a:lnTo>
                  <a:pt x="283654" y="468020"/>
                </a:lnTo>
                <a:lnTo>
                  <a:pt x="283654" y="99275"/>
                </a:lnTo>
                <a:lnTo>
                  <a:pt x="274942" y="58550"/>
                </a:lnTo>
                <a:lnTo>
                  <a:pt x="251335" y="25979"/>
                </a:lnTo>
                <a:lnTo>
                  <a:pt x="216624" y="5355"/>
                </a:lnTo>
                <a:lnTo>
                  <a:pt x="184378" y="0"/>
                </a:lnTo>
                <a:lnTo>
                  <a:pt x="99288" y="0"/>
                </a:lnTo>
                <a:close/>
              </a:path>
            </a:pathLst>
          </a:custGeom>
          <a:ln w="7091">
            <a:solidFill>
              <a:srgbClr val="000000"/>
            </a:solidFill>
          </a:ln>
        </p:spPr>
        <p:txBody>
          <a:bodyPr wrap="square" lIns="0" tIns="0" rIns="0" bIns="0" rtlCol="0"/>
          <a:lstStyle/>
          <a:p>
            <a:endParaRPr/>
          </a:p>
        </p:txBody>
      </p:sp>
      <p:sp>
        <p:nvSpPr>
          <p:cNvPr id="7" name="object 7"/>
          <p:cNvSpPr/>
          <p:nvPr/>
        </p:nvSpPr>
        <p:spPr>
          <a:xfrm>
            <a:off x="6725246" y="5812523"/>
            <a:ext cx="567690" cy="567690"/>
          </a:xfrm>
          <a:custGeom>
            <a:avLst/>
            <a:gdLst/>
            <a:ahLst/>
            <a:cxnLst/>
            <a:rect l="l" t="t" r="r" b="b"/>
            <a:pathLst>
              <a:path w="567690" h="567689">
                <a:moveTo>
                  <a:pt x="99275" y="0"/>
                </a:moveTo>
                <a:lnTo>
                  <a:pt x="94466" y="114"/>
                </a:lnTo>
                <a:lnTo>
                  <a:pt x="89715" y="454"/>
                </a:lnTo>
                <a:lnTo>
                  <a:pt x="50474" y="12804"/>
                </a:lnTo>
                <a:lnTo>
                  <a:pt x="20230" y="39206"/>
                </a:lnTo>
                <a:lnTo>
                  <a:pt x="2775" y="75869"/>
                </a:lnTo>
                <a:lnTo>
                  <a:pt x="0" y="99275"/>
                </a:lnTo>
                <a:lnTo>
                  <a:pt x="0" y="468020"/>
                </a:lnTo>
                <a:lnTo>
                  <a:pt x="8711" y="508745"/>
                </a:lnTo>
                <a:lnTo>
                  <a:pt x="32318" y="541316"/>
                </a:lnTo>
                <a:lnTo>
                  <a:pt x="67029" y="561941"/>
                </a:lnTo>
                <a:lnTo>
                  <a:pt x="99275" y="567296"/>
                </a:lnTo>
                <a:lnTo>
                  <a:pt x="468033" y="567296"/>
                </a:lnTo>
                <a:lnTo>
                  <a:pt x="508758" y="558584"/>
                </a:lnTo>
                <a:lnTo>
                  <a:pt x="541329" y="534977"/>
                </a:lnTo>
                <a:lnTo>
                  <a:pt x="561953" y="500266"/>
                </a:lnTo>
                <a:lnTo>
                  <a:pt x="567309" y="468020"/>
                </a:lnTo>
                <a:lnTo>
                  <a:pt x="567309" y="99275"/>
                </a:lnTo>
                <a:lnTo>
                  <a:pt x="558597" y="58550"/>
                </a:lnTo>
                <a:lnTo>
                  <a:pt x="534990" y="25979"/>
                </a:lnTo>
                <a:lnTo>
                  <a:pt x="500279" y="5355"/>
                </a:lnTo>
                <a:lnTo>
                  <a:pt x="468033" y="0"/>
                </a:lnTo>
                <a:lnTo>
                  <a:pt x="99275" y="0"/>
                </a:lnTo>
                <a:close/>
              </a:path>
            </a:pathLst>
          </a:custGeom>
          <a:ln w="7091">
            <a:solidFill>
              <a:srgbClr val="000000"/>
            </a:solidFill>
          </a:ln>
        </p:spPr>
        <p:txBody>
          <a:bodyPr wrap="square" lIns="0" tIns="0" rIns="0" bIns="0" rtlCol="0"/>
          <a:lstStyle/>
          <a:p>
            <a:endParaRPr/>
          </a:p>
        </p:txBody>
      </p:sp>
      <p:sp>
        <p:nvSpPr>
          <p:cNvPr id="8" name="object 8"/>
          <p:cNvSpPr/>
          <p:nvPr/>
        </p:nvSpPr>
        <p:spPr>
          <a:xfrm>
            <a:off x="5590641" y="3826954"/>
            <a:ext cx="0" cy="567690"/>
          </a:xfrm>
          <a:custGeom>
            <a:avLst/>
            <a:gdLst/>
            <a:ahLst/>
            <a:cxnLst/>
            <a:rect l="l" t="t" r="r" b="b"/>
            <a:pathLst>
              <a:path h="567689">
                <a:moveTo>
                  <a:pt x="0" y="0"/>
                </a:moveTo>
                <a:lnTo>
                  <a:pt x="0" y="567309"/>
                </a:lnTo>
              </a:path>
            </a:pathLst>
          </a:custGeom>
          <a:ln w="7091">
            <a:solidFill>
              <a:srgbClr val="000000"/>
            </a:solidFill>
          </a:ln>
        </p:spPr>
        <p:txBody>
          <a:bodyPr wrap="square" lIns="0" tIns="0" rIns="0" bIns="0" rtlCol="0"/>
          <a:lstStyle/>
          <a:p>
            <a:endParaRPr/>
          </a:p>
        </p:txBody>
      </p:sp>
      <p:sp>
        <p:nvSpPr>
          <p:cNvPr id="9" name="object 9"/>
          <p:cNvSpPr/>
          <p:nvPr/>
        </p:nvSpPr>
        <p:spPr>
          <a:xfrm>
            <a:off x="4172381" y="4961559"/>
            <a:ext cx="0" cy="851535"/>
          </a:xfrm>
          <a:custGeom>
            <a:avLst/>
            <a:gdLst/>
            <a:ahLst/>
            <a:cxnLst/>
            <a:rect l="l" t="t" r="r" b="b"/>
            <a:pathLst>
              <a:path h="851535">
                <a:moveTo>
                  <a:pt x="0" y="0"/>
                </a:moveTo>
                <a:lnTo>
                  <a:pt x="0" y="850963"/>
                </a:lnTo>
              </a:path>
            </a:pathLst>
          </a:custGeom>
          <a:ln w="7091">
            <a:solidFill>
              <a:srgbClr val="000000"/>
            </a:solidFill>
          </a:ln>
        </p:spPr>
        <p:txBody>
          <a:bodyPr wrap="square" lIns="0" tIns="0" rIns="0" bIns="0" rtlCol="0"/>
          <a:lstStyle/>
          <a:p>
            <a:endParaRPr/>
          </a:p>
        </p:txBody>
      </p:sp>
      <p:sp>
        <p:nvSpPr>
          <p:cNvPr id="10" name="object 10"/>
          <p:cNvSpPr/>
          <p:nvPr/>
        </p:nvSpPr>
        <p:spPr>
          <a:xfrm>
            <a:off x="5306987" y="4961559"/>
            <a:ext cx="0" cy="851535"/>
          </a:xfrm>
          <a:custGeom>
            <a:avLst/>
            <a:gdLst/>
            <a:ahLst/>
            <a:cxnLst/>
            <a:rect l="l" t="t" r="r" b="b"/>
            <a:pathLst>
              <a:path h="851535">
                <a:moveTo>
                  <a:pt x="0" y="0"/>
                </a:moveTo>
                <a:lnTo>
                  <a:pt x="0" y="850963"/>
                </a:lnTo>
              </a:path>
            </a:pathLst>
          </a:custGeom>
          <a:ln w="7091">
            <a:solidFill>
              <a:srgbClr val="000000"/>
            </a:solidFill>
          </a:ln>
        </p:spPr>
        <p:txBody>
          <a:bodyPr wrap="square" lIns="0" tIns="0" rIns="0" bIns="0" rtlCol="0"/>
          <a:lstStyle/>
          <a:p>
            <a:endParaRPr/>
          </a:p>
        </p:txBody>
      </p:sp>
      <p:sp>
        <p:nvSpPr>
          <p:cNvPr id="11" name="object 11"/>
          <p:cNvSpPr/>
          <p:nvPr/>
        </p:nvSpPr>
        <p:spPr>
          <a:xfrm>
            <a:off x="6299771" y="4961559"/>
            <a:ext cx="0" cy="851535"/>
          </a:xfrm>
          <a:custGeom>
            <a:avLst/>
            <a:gdLst/>
            <a:ahLst/>
            <a:cxnLst/>
            <a:rect l="l" t="t" r="r" b="b"/>
            <a:pathLst>
              <a:path h="851535">
                <a:moveTo>
                  <a:pt x="0" y="0"/>
                </a:moveTo>
                <a:lnTo>
                  <a:pt x="0" y="850963"/>
                </a:lnTo>
              </a:path>
            </a:pathLst>
          </a:custGeom>
          <a:ln w="7091">
            <a:solidFill>
              <a:srgbClr val="000000"/>
            </a:solidFill>
          </a:ln>
        </p:spPr>
        <p:txBody>
          <a:bodyPr wrap="square" lIns="0" tIns="0" rIns="0" bIns="0" rtlCol="0"/>
          <a:lstStyle/>
          <a:p>
            <a:endParaRPr/>
          </a:p>
        </p:txBody>
      </p:sp>
      <p:sp>
        <p:nvSpPr>
          <p:cNvPr id="12" name="object 12"/>
          <p:cNvSpPr/>
          <p:nvPr/>
        </p:nvSpPr>
        <p:spPr>
          <a:xfrm>
            <a:off x="7008901" y="4961559"/>
            <a:ext cx="0" cy="851535"/>
          </a:xfrm>
          <a:custGeom>
            <a:avLst/>
            <a:gdLst/>
            <a:ahLst/>
            <a:cxnLst/>
            <a:rect l="l" t="t" r="r" b="b"/>
            <a:pathLst>
              <a:path h="851535">
                <a:moveTo>
                  <a:pt x="0" y="0"/>
                </a:moveTo>
                <a:lnTo>
                  <a:pt x="0" y="850963"/>
                </a:lnTo>
              </a:path>
            </a:pathLst>
          </a:custGeom>
          <a:ln w="7091">
            <a:solidFill>
              <a:srgbClr val="000000"/>
            </a:solidFill>
          </a:ln>
        </p:spPr>
        <p:txBody>
          <a:bodyPr wrap="square" lIns="0" tIns="0" rIns="0" bIns="0" rtlCol="0"/>
          <a:lstStyle/>
          <a:p>
            <a:endParaRPr/>
          </a:p>
        </p:txBody>
      </p:sp>
      <p:sp>
        <p:nvSpPr>
          <p:cNvPr id="13" name="object 13"/>
          <p:cNvSpPr/>
          <p:nvPr/>
        </p:nvSpPr>
        <p:spPr>
          <a:xfrm>
            <a:off x="5590641" y="6025260"/>
            <a:ext cx="567690" cy="0"/>
          </a:xfrm>
          <a:custGeom>
            <a:avLst/>
            <a:gdLst/>
            <a:ahLst/>
            <a:cxnLst/>
            <a:rect l="l" t="t" r="r" b="b"/>
            <a:pathLst>
              <a:path w="567689">
                <a:moveTo>
                  <a:pt x="0" y="0"/>
                </a:moveTo>
                <a:lnTo>
                  <a:pt x="567296" y="0"/>
                </a:lnTo>
              </a:path>
            </a:pathLst>
          </a:custGeom>
          <a:ln w="7091">
            <a:solidFill>
              <a:srgbClr val="000000"/>
            </a:solidFill>
            <a:prstDash val="lgDash"/>
          </a:ln>
        </p:spPr>
        <p:txBody>
          <a:bodyPr wrap="square" lIns="0" tIns="0" rIns="0" bIns="0" rtlCol="0"/>
          <a:lstStyle/>
          <a:p>
            <a:endParaRPr/>
          </a:p>
        </p:txBody>
      </p:sp>
      <p:sp>
        <p:nvSpPr>
          <p:cNvPr id="14" name="object 14"/>
          <p:cNvSpPr/>
          <p:nvPr/>
        </p:nvSpPr>
        <p:spPr>
          <a:xfrm>
            <a:off x="6441592" y="6025260"/>
            <a:ext cx="283845" cy="0"/>
          </a:xfrm>
          <a:custGeom>
            <a:avLst/>
            <a:gdLst/>
            <a:ahLst/>
            <a:cxnLst/>
            <a:rect l="l" t="t" r="r" b="b"/>
            <a:pathLst>
              <a:path w="283845">
                <a:moveTo>
                  <a:pt x="0" y="0"/>
                </a:moveTo>
                <a:lnTo>
                  <a:pt x="283654" y="0"/>
                </a:lnTo>
              </a:path>
            </a:pathLst>
          </a:custGeom>
          <a:ln w="7091">
            <a:solidFill>
              <a:srgbClr val="000000"/>
            </a:solidFill>
            <a:prstDash val="lgDash"/>
          </a:ln>
        </p:spPr>
        <p:txBody>
          <a:bodyPr wrap="square" lIns="0" tIns="0" rIns="0" bIns="0" rtlCol="0"/>
          <a:lstStyle/>
          <a:p>
            <a:endParaRPr/>
          </a:p>
        </p:txBody>
      </p:sp>
      <p:sp>
        <p:nvSpPr>
          <p:cNvPr id="15" name="object 15"/>
          <p:cNvSpPr/>
          <p:nvPr/>
        </p:nvSpPr>
        <p:spPr>
          <a:xfrm>
            <a:off x="4456023" y="6025260"/>
            <a:ext cx="567690" cy="0"/>
          </a:xfrm>
          <a:custGeom>
            <a:avLst/>
            <a:gdLst/>
            <a:ahLst/>
            <a:cxnLst/>
            <a:rect l="l" t="t" r="r" b="b"/>
            <a:pathLst>
              <a:path w="567689">
                <a:moveTo>
                  <a:pt x="0" y="0"/>
                </a:moveTo>
                <a:lnTo>
                  <a:pt x="567309" y="0"/>
                </a:lnTo>
              </a:path>
            </a:pathLst>
          </a:custGeom>
          <a:ln w="7091">
            <a:solidFill>
              <a:srgbClr val="000000"/>
            </a:solidFill>
            <a:prstDash val="lgDash"/>
          </a:ln>
        </p:spPr>
        <p:txBody>
          <a:bodyPr wrap="square" lIns="0" tIns="0" rIns="0" bIns="0" rtlCol="0"/>
          <a:lstStyle/>
          <a:p>
            <a:endParaRPr/>
          </a:p>
        </p:txBody>
      </p:sp>
      <p:sp>
        <p:nvSpPr>
          <p:cNvPr id="16" name="object 16"/>
          <p:cNvSpPr/>
          <p:nvPr/>
        </p:nvSpPr>
        <p:spPr>
          <a:xfrm>
            <a:off x="2754109" y="2692349"/>
            <a:ext cx="1118870" cy="0"/>
          </a:xfrm>
          <a:custGeom>
            <a:avLst/>
            <a:gdLst/>
            <a:ahLst/>
            <a:cxnLst/>
            <a:rect l="l" t="t" r="r" b="b"/>
            <a:pathLst>
              <a:path w="1118870">
                <a:moveTo>
                  <a:pt x="0" y="0"/>
                </a:moveTo>
                <a:lnTo>
                  <a:pt x="1118539" y="0"/>
                </a:lnTo>
              </a:path>
            </a:pathLst>
          </a:custGeom>
          <a:ln w="7091">
            <a:solidFill>
              <a:srgbClr val="000000"/>
            </a:solidFill>
          </a:ln>
        </p:spPr>
        <p:txBody>
          <a:bodyPr wrap="square" lIns="0" tIns="0" rIns="0" bIns="0" rtlCol="0"/>
          <a:lstStyle/>
          <a:p>
            <a:endParaRPr/>
          </a:p>
        </p:txBody>
      </p:sp>
      <p:sp>
        <p:nvSpPr>
          <p:cNvPr id="17" name="object 17"/>
          <p:cNvSpPr/>
          <p:nvPr/>
        </p:nvSpPr>
        <p:spPr>
          <a:xfrm>
            <a:off x="3759187" y="2663977"/>
            <a:ext cx="113664" cy="57150"/>
          </a:xfrm>
          <a:custGeom>
            <a:avLst/>
            <a:gdLst/>
            <a:ahLst/>
            <a:cxnLst/>
            <a:rect l="l" t="t" r="r" b="b"/>
            <a:pathLst>
              <a:path w="113664" h="57150">
                <a:moveTo>
                  <a:pt x="0" y="56730"/>
                </a:moveTo>
                <a:lnTo>
                  <a:pt x="113461" y="28371"/>
                </a:lnTo>
                <a:lnTo>
                  <a:pt x="0" y="0"/>
                </a:lnTo>
              </a:path>
            </a:pathLst>
          </a:custGeom>
          <a:ln w="7091">
            <a:solidFill>
              <a:srgbClr val="000000"/>
            </a:solidFill>
          </a:ln>
        </p:spPr>
        <p:txBody>
          <a:bodyPr wrap="square" lIns="0" tIns="0" rIns="0" bIns="0" rtlCol="0"/>
          <a:lstStyle/>
          <a:p>
            <a:endParaRPr/>
          </a:p>
        </p:txBody>
      </p:sp>
      <p:sp>
        <p:nvSpPr>
          <p:cNvPr id="18" name="object 18"/>
          <p:cNvSpPr/>
          <p:nvPr/>
        </p:nvSpPr>
        <p:spPr>
          <a:xfrm>
            <a:off x="2754109" y="5528868"/>
            <a:ext cx="1402715" cy="0"/>
          </a:xfrm>
          <a:custGeom>
            <a:avLst/>
            <a:gdLst/>
            <a:ahLst/>
            <a:cxnLst/>
            <a:rect l="l" t="t" r="r" b="b"/>
            <a:pathLst>
              <a:path w="1402714">
                <a:moveTo>
                  <a:pt x="0" y="0"/>
                </a:moveTo>
                <a:lnTo>
                  <a:pt x="1402193" y="0"/>
                </a:lnTo>
              </a:path>
            </a:pathLst>
          </a:custGeom>
          <a:ln w="7091">
            <a:solidFill>
              <a:srgbClr val="000000"/>
            </a:solidFill>
          </a:ln>
        </p:spPr>
        <p:txBody>
          <a:bodyPr wrap="square" lIns="0" tIns="0" rIns="0" bIns="0" rtlCol="0"/>
          <a:lstStyle/>
          <a:p>
            <a:endParaRPr/>
          </a:p>
        </p:txBody>
      </p:sp>
      <p:sp>
        <p:nvSpPr>
          <p:cNvPr id="19" name="object 19"/>
          <p:cNvSpPr/>
          <p:nvPr/>
        </p:nvSpPr>
        <p:spPr>
          <a:xfrm>
            <a:off x="4042841" y="5500509"/>
            <a:ext cx="113664" cy="57150"/>
          </a:xfrm>
          <a:custGeom>
            <a:avLst/>
            <a:gdLst/>
            <a:ahLst/>
            <a:cxnLst/>
            <a:rect l="l" t="t" r="r" b="b"/>
            <a:pathLst>
              <a:path w="113664" h="57150">
                <a:moveTo>
                  <a:pt x="0" y="56718"/>
                </a:moveTo>
                <a:lnTo>
                  <a:pt x="113461" y="28359"/>
                </a:lnTo>
                <a:lnTo>
                  <a:pt x="0" y="0"/>
                </a:lnTo>
              </a:path>
            </a:pathLst>
          </a:custGeom>
          <a:ln w="7091">
            <a:solidFill>
              <a:srgbClr val="000000"/>
            </a:solidFill>
          </a:ln>
        </p:spPr>
        <p:txBody>
          <a:bodyPr wrap="square" lIns="0" tIns="0" rIns="0" bIns="0" rtlCol="0"/>
          <a:lstStyle/>
          <a:p>
            <a:endParaRPr/>
          </a:p>
        </p:txBody>
      </p:sp>
      <p:sp>
        <p:nvSpPr>
          <p:cNvPr id="20" name="object 20"/>
          <p:cNvSpPr txBox="1"/>
          <p:nvPr/>
        </p:nvSpPr>
        <p:spPr>
          <a:xfrm>
            <a:off x="4120743" y="4423905"/>
            <a:ext cx="2798445" cy="316865"/>
          </a:xfrm>
          <a:prstGeom prst="rect">
            <a:avLst/>
          </a:prstGeom>
        </p:spPr>
        <p:txBody>
          <a:bodyPr vert="horz" wrap="square" lIns="0" tIns="0" rIns="0" bIns="0" rtlCol="0">
            <a:spAutoFit/>
          </a:bodyPr>
          <a:lstStyle/>
          <a:p>
            <a:pPr marL="12700">
              <a:lnSpc>
                <a:spcPct val="100000"/>
              </a:lnSpc>
            </a:pPr>
            <a:r>
              <a:rPr sz="2000" dirty="0">
                <a:latin typeface="Times New Roman"/>
                <a:cs typeface="Times New Roman"/>
              </a:rPr>
              <a:t>Evidential </a:t>
            </a:r>
            <a:r>
              <a:rPr sz="2000" spc="5" dirty="0">
                <a:latin typeface="Times New Roman"/>
                <a:cs typeface="Times New Roman"/>
              </a:rPr>
              <a:t>Tool Bus</a:t>
            </a:r>
            <a:r>
              <a:rPr sz="2000" spc="-60" dirty="0">
                <a:latin typeface="Times New Roman"/>
                <a:cs typeface="Times New Roman"/>
              </a:rPr>
              <a:t> </a:t>
            </a:r>
            <a:r>
              <a:rPr sz="2000" spc="5" dirty="0">
                <a:latin typeface="Times New Roman"/>
                <a:cs typeface="Times New Roman"/>
              </a:rPr>
              <a:t>(ETB)</a:t>
            </a:r>
            <a:endParaRPr sz="2000">
              <a:latin typeface="Times New Roman"/>
              <a:cs typeface="Times New Roman"/>
            </a:endParaRPr>
          </a:p>
        </p:txBody>
      </p:sp>
      <p:sp>
        <p:nvSpPr>
          <p:cNvPr id="21" name="object 21"/>
          <p:cNvSpPr txBox="1"/>
          <p:nvPr/>
        </p:nvSpPr>
        <p:spPr>
          <a:xfrm>
            <a:off x="3998938" y="5924715"/>
            <a:ext cx="2211070" cy="217804"/>
          </a:xfrm>
          <a:prstGeom prst="rect">
            <a:avLst/>
          </a:prstGeom>
        </p:spPr>
        <p:txBody>
          <a:bodyPr vert="horz" wrap="square" lIns="0" tIns="0" rIns="0" bIns="0" rtlCol="0">
            <a:spAutoFit/>
          </a:bodyPr>
          <a:lstStyle/>
          <a:p>
            <a:pPr marL="12700">
              <a:lnSpc>
                <a:spcPct val="100000"/>
              </a:lnSpc>
              <a:tabLst>
                <a:tab pos="1151890" algn="l"/>
                <a:tab pos="1591310" algn="l"/>
                <a:tab pos="2197735" algn="l"/>
              </a:tabLst>
            </a:pPr>
            <a:r>
              <a:rPr sz="1350" spc="-10" dirty="0">
                <a:latin typeface="Times New Roman"/>
                <a:cs typeface="Times New Roman"/>
              </a:rPr>
              <a:t>SAL	PVS	</a:t>
            </a:r>
            <a:r>
              <a:rPr sz="1350" spc="-15" dirty="0">
                <a:latin typeface="Times New Roman"/>
                <a:cs typeface="Times New Roman"/>
              </a:rPr>
              <a:t> </a:t>
            </a:r>
            <a:r>
              <a:rPr sz="1350" spc="-10" dirty="0">
                <a:latin typeface="Times New Roman"/>
                <a:cs typeface="Times New Roman"/>
              </a:rPr>
              <a:t>	</a:t>
            </a:r>
            <a:endParaRPr sz="1350">
              <a:latin typeface="Times New Roman"/>
              <a:cs typeface="Times New Roman"/>
            </a:endParaRPr>
          </a:p>
        </p:txBody>
      </p:sp>
      <p:sp>
        <p:nvSpPr>
          <p:cNvPr id="22" name="object 22"/>
          <p:cNvSpPr txBox="1"/>
          <p:nvPr/>
        </p:nvSpPr>
        <p:spPr>
          <a:xfrm>
            <a:off x="6428892" y="5924715"/>
            <a:ext cx="786765" cy="217804"/>
          </a:xfrm>
          <a:prstGeom prst="rect">
            <a:avLst/>
          </a:prstGeom>
        </p:spPr>
        <p:txBody>
          <a:bodyPr vert="horz" wrap="square" lIns="0" tIns="0" rIns="0" bIns="0" rtlCol="0">
            <a:spAutoFit/>
          </a:bodyPr>
          <a:lstStyle/>
          <a:p>
            <a:pPr marL="12700">
              <a:lnSpc>
                <a:spcPct val="100000"/>
              </a:lnSpc>
              <a:tabLst>
                <a:tab pos="386080" algn="l"/>
              </a:tabLst>
            </a:pPr>
            <a:r>
              <a:rPr sz="1350" spc="-5" dirty="0">
                <a:latin typeface="Times New Roman"/>
                <a:cs typeface="Times New Roman"/>
              </a:rPr>
              <a:t> 	Yices</a:t>
            </a:r>
            <a:endParaRPr sz="1350">
              <a:latin typeface="Times New Roman"/>
              <a:cs typeface="Times New Roman"/>
            </a:endParaRPr>
          </a:p>
        </p:txBody>
      </p:sp>
      <p:sp>
        <p:nvSpPr>
          <p:cNvPr id="23" name="object 23"/>
          <p:cNvSpPr txBox="1"/>
          <p:nvPr/>
        </p:nvSpPr>
        <p:spPr>
          <a:xfrm>
            <a:off x="901700" y="493469"/>
            <a:ext cx="7285990" cy="2670810"/>
          </a:xfrm>
          <a:prstGeom prst="rect">
            <a:avLst/>
          </a:prstGeom>
        </p:spPr>
        <p:txBody>
          <a:bodyPr vert="horz" wrap="square" lIns="0" tIns="0" rIns="0" bIns="0" rtlCol="0">
            <a:spAutoFit/>
          </a:bodyPr>
          <a:lstStyle/>
          <a:p>
            <a:pPr marL="1059180">
              <a:lnSpc>
                <a:spcPct val="100000"/>
              </a:lnSpc>
            </a:pPr>
            <a:r>
              <a:rPr sz="1950" spc="225" dirty="0">
                <a:solidFill>
                  <a:srgbClr val="231F20"/>
                </a:solidFill>
                <a:latin typeface="Arial"/>
                <a:cs typeface="Arial"/>
              </a:rPr>
              <a:t>Biphase </a:t>
            </a:r>
            <a:r>
              <a:rPr sz="1950" spc="315" dirty="0">
                <a:solidFill>
                  <a:srgbClr val="231F20"/>
                </a:solidFill>
                <a:latin typeface="Arial"/>
                <a:cs typeface="Arial"/>
              </a:rPr>
              <a:t>Mark </a:t>
            </a:r>
            <a:r>
              <a:rPr sz="1950" spc="300" dirty="0">
                <a:solidFill>
                  <a:srgbClr val="231F20"/>
                </a:solidFill>
                <a:latin typeface="Arial"/>
                <a:cs typeface="Arial"/>
              </a:rPr>
              <a:t>Protocol </a:t>
            </a:r>
            <a:r>
              <a:rPr sz="1950" spc="245" dirty="0">
                <a:solidFill>
                  <a:srgbClr val="231F20"/>
                </a:solidFill>
                <a:latin typeface="Arial"/>
                <a:cs typeface="Arial"/>
              </a:rPr>
              <a:t>Verification</a:t>
            </a:r>
            <a:r>
              <a:rPr sz="1950" spc="625" dirty="0">
                <a:solidFill>
                  <a:srgbClr val="231F20"/>
                </a:solidFill>
                <a:latin typeface="Arial"/>
                <a:cs typeface="Arial"/>
              </a:rPr>
              <a:t> </a:t>
            </a:r>
            <a:r>
              <a:rPr sz="1950" spc="330" dirty="0">
                <a:solidFill>
                  <a:srgbClr val="231F20"/>
                </a:solidFill>
                <a:latin typeface="Arial"/>
                <a:cs typeface="Arial"/>
              </a:rPr>
              <a:t>(demo)</a:t>
            </a:r>
            <a:endParaRPr sz="1950">
              <a:latin typeface="Arial"/>
              <a:cs typeface="Arial"/>
            </a:endParaRPr>
          </a:p>
          <a:p>
            <a:pPr marL="12700" marR="5080">
              <a:lnSpc>
                <a:spcPct val="125000"/>
              </a:lnSpc>
              <a:spcBef>
                <a:spcPts val="1035"/>
              </a:spcBef>
            </a:pPr>
            <a:r>
              <a:rPr sz="1950" spc="75" dirty="0">
                <a:solidFill>
                  <a:srgbClr val="0000FF"/>
                </a:solidFill>
                <a:latin typeface="Arial"/>
                <a:cs typeface="Arial"/>
              </a:rPr>
              <a:t>Ideally, </a:t>
            </a:r>
            <a:r>
              <a:rPr sz="1950" spc="45" dirty="0">
                <a:solidFill>
                  <a:srgbClr val="0000FF"/>
                </a:solidFill>
                <a:latin typeface="Arial"/>
                <a:cs typeface="Arial"/>
              </a:rPr>
              <a:t>use </a:t>
            </a:r>
            <a:r>
              <a:rPr sz="1950" spc="120" dirty="0">
                <a:solidFill>
                  <a:srgbClr val="0000FF"/>
                </a:solidFill>
                <a:latin typeface="Arial"/>
                <a:cs typeface="Arial"/>
              </a:rPr>
              <a:t>an </a:t>
            </a:r>
            <a:r>
              <a:rPr sz="1950" spc="155" dirty="0">
                <a:solidFill>
                  <a:srgbClr val="0000FF"/>
                </a:solidFill>
                <a:latin typeface="Arial"/>
                <a:cs typeface="Arial"/>
              </a:rPr>
              <a:t>integrated </a:t>
            </a:r>
            <a:r>
              <a:rPr sz="1950" spc="210" dirty="0">
                <a:solidFill>
                  <a:srgbClr val="0000FF"/>
                </a:solidFill>
                <a:latin typeface="Arial"/>
                <a:cs typeface="Arial"/>
              </a:rPr>
              <a:t>front </a:t>
            </a:r>
            <a:r>
              <a:rPr sz="1950" spc="114" dirty="0">
                <a:solidFill>
                  <a:srgbClr val="0000FF"/>
                </a:solidFill>
                <a:latin typeface="Arial"/>
                <a:cs typeface="Arial"/>
              </a:rPr>
              <a:t>end; </a:t>
            </a:r>
            <a:r>
              <a:rPr sz="1950" spc="90" dirty="0">
                <a:solidFill>
                  <a:srgbClr val="0000FF"/>
                </a:solidFill>
                <a:latin typeface="Arial"/>
                <a:cs typeface="Arial"/>
              </a:rPr>
              <a:t>here </a:t>
            </a:r>
            <a:r>
              <a:rPr sz="1950" spc="95" dirty="0">
                <a:solidFill>
                  <a:srgbClr val="0000FF"/>
                </a:solidFill>
                <a:latin typeface="Arial"/>
                <a:cs typeface="Arial"/>
              </a:rPr>
              <a:t>we </a:t>
            </a:r>
            <a:r>
              <a:rPr sz="1950" spc="170" dirty="0">
                <a:solidFill>
                  <a:srgbClr val="0000FF"/>
                </a:solidFill>
                <a:latin typeface="Arial"/>
                <a:cs typeface="Arial"/>
              </a:rPr>
              <a:t>look </a:t>
            </a:r>
            <a:r>
              <a:rPr sz="1950" spc="215" dirty="0">
                <a:solidFill>
                  <a:srgbClr val="0000FF"/>
                </a:solidFill>
                <a:latin typeface="Arial"/>
                <a:cs typeface="Arial"/>
              </a:rPr>
              <a:t>at </a:t>
            </a:r>
            <a:r>
              <a:rPr sz="1950" spc="140" dirty="0">
                <a:solidFill>
                  <a:srgbClr val="0000FF"/>
                </a:solidFill>
                <a:latin typeface="Arial"/>
                <a:cs typeface="Arial"/>
              </a:rPr>
              <a:t>raw  </a:t>
            </a:r>
            <a:r>
              <a:rPr sz="1950" spc="130" dirty="0">
                <a:solidFill>
                  <a:srgbClr val="0000FF"/>
                </a:solidFill>
                <a:latin typeface="Arial"/>
                <a:cs typeface="Arial"/>
              </a:rPr>
              <a:t>model-checker</a:t>
            </a:r>
            <a:r>
              <a:rPr sz="1950" spc="204" dirty="0">
                <a:solidFill>
                  <a:srgbClr val="0000FF"/>
                </a:solidFill>
                <a:latin typeface="Arial"/>
                <a:cs typeface="Arial"/>
              </a:rPr>
              <a:t> </a:t>
            </a:r>
            <a:r>
              <a:rPr sz="1950" spc="185" dirty="0">
                <a:solidFill>
                  <a:srgbClr val="0000FF"/>
                </a:solidFill>
                <a:latin typeface="Arial"/>
                <a:cs typeface="Arial"/>
              </a:rPr>
              <a:t>input</a:t>
            </a:r>
            <a:endParaRPr sz="1950">
              <a:latin typeface="Arial"/>
              <a:cs typeface="Arial"/>
            </a:endParaRPr>
          </a:p>
          <a:p>
            <a:pPr>
              <a:lnSpc>
                <a:spcPct val="100000"/>
              </a:lnSpc>
              <a:spcBef>
                <a:spcPts val="30"/>
              </a:spcBef>
            </a:pPr>
            <a:endParaRPr sz="1950">
              <a:latin typeface="Times New Roman"/>
              <a:cs typeface="Times New Roman"/>
            </a:endParaRPr>
          </a:p>
          <a:p>
            <a:pPr marL="3074035">
              <a:lnSpc>
                <a:spcPct val="100000"/>
              </a:lnSpc>
            </a:pPr>
            <a:r>
              <a:rPr sz="1350" spc="-5" dirty="0">
                <a:latin typeface="Times New Roman"/>
                <a:cs typeface="Times New Roman"/>
              </a:rPr>
              <a:t>Integrated front−end development</a:t>
            </a:r>
            <a:r>
              <a:rPr sz="1350" spc="-80" dirty="0">
                <a:latin typeface="Times New Roman"/>
                <a:cs typeface="Times New Roman"/>
              </a:rPr>
              <a:t> </a:t>
            </a:r>
            <a:r>
              <a:rPr sz="1350" spc="-5" dirty="0">
                <a:latin typeface="Times New Roman"/>
                <a:cs typeface="Times New Roman"/>
              </a:rPr>
              <a:t>environment</a:t>
            </a:r>
            <a:endParaRPr sz="1350">
              <a:latin typeface="Times New Roman"/>
              <a:cs typeface="Times New Roman"/>
            </a:endParaRPr>
          </a:p>
          <a:p>
            <a:pPr marL="1852295">
              <a:lnSpc>
                <a:spcPct val="100000"/>
              </a:lnSpc>
              <a:spcBef>
                <a:spcPts val="610"/>
              </a:spcBef>
            </a:pPr>
            <a:r>
              <a:rPr sz="1350" spc="-5" dirty="0">
                <a:latin typeface="Times New Roman"/>
                <a:cs typeface="Times New Roman"/>
              </a:rPr>
              <a:t>Ideally</a:t>
            </a:r>
            <a:endParaRPr sz="1350">
              <a:latin typeface="Times New Roman"/>
              <a:cs typeface="Times New Roman"/>
            </a:endParaRPr>
          </a:p>
          <a:p>
            <a:pPr marL="3270250">
              <a:lnSpc>
                <a:spcPct val="100000"/>
              </a:lnSpc>
              <a:spcBef>
                <a:spcPts val="55"/>
              </a:spcBef>
            </a:pPr>
            <a:r>
              <a:rPr sz="1350" spc="-10" dirty="0">
                <a:latin typeface="Times New Roman"/>
                <a:cs typeface="Times New Roman"/>
              </a:rPr>
              <a:t>AADL, UML2,</a:t>
            </a:r>
            <a:r>
              <a:rPr sz="1350" spc="-60" dirty="0">
                <a:latin typeface="Times New Roman"/>
                <a:cs typeface="Times New Roman"/>
              </a:rPr>
              <a:t> </a:t>
            </a:r>
            <a:r>
              <a:rPr sz="1350" spc="-5" dirty="0">
                <a:latin typeface="Times New Roman"/>
                <a:cs typeface="Times New Roman"/>
              </a:rPr>
              <a:t>Matlab</a:t>
            </a:r>
            <a:endParaRPr sz="1350">
              <a:latin typeface="Times New Roman"/>
              <a:cs typeface="Times New Roman"/>
            </a:endParaRPr>
          </a:p>
          <a:p>
            <a:pPr>
              <a:lnSpc>
                <a:spcPct val="100000"/>
              </a:lnSpc>
            </a:pPr>
            <a:endParaRPr sz="1300">
              <a:latin typeface="Times New Roman"/>
              <a:cs typeface="Times New Roman"/>
            </a:endParaRPr>
          </a:p>
          <a:p>
            <a:pPr marL="3270250">
              <a:lnSpc>
                <a:spcPct val="100000"/>
              </a:lnSpc>
              <a:spcBef>
                <a:spcPts val="790"/>
              </a:spcBef>
            </a:pPr>
            <a:r>
              <a:rPr sz="1350" spc="-10" dirty="0">
                <a:latin typeface="Times New Roman"/>
                <a:cs typeface="Times New Roman"/>
              </a:rPr>
              <a:t>TOPCASED, SSIV</a:t>
            </a:r>
            <a:r>
              <a:rPr sz="1350" spc="-40" dirty="0">
                <a:latin typeface="Times New Roman"/>
                <a:cs typeface="Times New Roman"/>
              </a:rPr>
              <a:t> </a:t>
            </a:r>
            <a:r>
              <a:rPr sz="1350" spc="-5" dirty="0">
                <a:latin typeface="Times New Roman"/>
                <a:cs typeface="Times New Roman"/>
              </a:rPr>
              <a:t>etc.</a:t>
            </a:r>
            <a:endParaRPr sz="1350">
              <a:latin typeface="Times New Roman"/>
              <a:cs typeface="Times New Roman"/>
            </a:endParaRPr>
          </a:p>
        </p:txBody>
      </p:sp>
      <p:sp>
        <p:nvSpPr>
          <p:cNvPr id="24" name="object 24"/>
          <p:cNvSpPr/>
          <p:nvPr/>
        </p:nvSpPr>
        <p:spPr>
          <a:xfrm>
            <a:off x="3888727" y="1841385"/>
            <a:ext cx="3404235" cy="1985645"/>
          </a:xfrm>
          <a:custGeom>
            <a:avLst/>
            <a:gdLst/>
            <a:ahLst/>
            <a:cxnLst/>
            <a:rect l="l" t="t" r="r" b="b"/>
            <a:pathLst>
              <a:path w="3404234" h="1985645">
                <a:moveTo>
                  <a:pt x="99275" y="0"/>
                </a:moveTo>
                <a:lnTo>
                  <a:pt x="94466" y="114"/>
                </a:lnTo>
                <a:lnTo>
                  <a:pt x="89715" y="454"/>
                </a:lnTo>
                <a:lnTo>
                  <a:pt x="50474" y="12804"/>
                </a:lnTo>
                <a:lnTo>
                  <a:pt x="20230" y="39206"/>
                </a:lnTo>
                <a:lnTo>
                  <a:pt x="2775" y="75869"/>
                </a:lnTo>
                <a:lnTo>
                  <a:pt x="0" y="99275"/>
                </a:lnTo>
                <a:lnTo>
                  <a:pt x="0" y="1886292"/>
                </a:lnTo>
                <a:lnTo>
                  <a:pt x="8711" y="1927018"/>
                </a:lnTo>
                <a:lnTo>
                  <a:pt x="32318" y="1959589"/>
                </a:lnTo>
                <a:lnTo>
                  <a:pt x="67029" y="1980213"/>
                </a:lnTo>
                <a:lnTo>
                  <a:pt x="99275" y="1985568"/>
                </a:lnTo>
                <a:lnTo>
                  <a:pt x="3304552" y="1985568"/>
                </a:lnTo>
                <a:lnTo>
                  <a:pt x="3345277" y="1976857"/>
                </a:lnTo>
                <a:lnTo>
                  <a:pt x="3377848" y="1953249"/>
                </a:lnTo>
                <a:lnTo>
                  <a:pt x="3398473" y="1918539"/>
                </a:lnTo>
                <a:lnTo>
                  <a:pt x="3403828" y="1886292"/>
                </a:lnTo>
                <a:lnTo>
                  <a:pt x="3403828" y="99275"/>
                </a:lnTo>
                <a:lnTo>
                  <a:pt x="3395116" y="58550"/>
                </a:lnTo>
                <a:lnTo>
                  <a:pt x="3371509" y="25979"/>
                </a:lnTo>
                <a:lnTo>
                  <a:pt x="3336799" y="5355"/>
                </a:lnTo>
                <a:lnTo>
                  <a:pt x="3304552" y="0"/>
                </a:lnTo>
                <a:lnTo>
                  <a:pt x="99275" y="0"/>
                </a:lnTo>
                <a:close/>
              </a:path>
            </a:pathLst>
          </a:custGeom>
          <a:ln w="7091">
            <a:solidFill>
              <a:srgbClr val="000000"/>
            </a:solidFill>
          </a:ln>
        </p:spPr>
        <p:txBody>
          <a:bodyPr wrap="square" lIns="0" tIns="0" rIns="0" bIns="0" rtlCol="0"/>
          <a:lstStyle/>
          <a:p>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3353"/>
            <a:ext cx="8228965" cy="5932170"/>
          </a:xfrm>
          <a:prstGeom prst="rect">
            <a:avLst/>
          </a:prstGeom>
        </p:spPr>
        <p:txBody>
          <a:bodyPr vert="horz" wrap="square" lIns="0" tIns="0" rIns="0" bIns="0" rtlCol="0">
            <a:spAutoFit/>
          </a:bodyPr>
          <a:lstStyle/>
          <a:p>
            <a:pPr marL="36830" algn="ctr">
              <a:lnSpc>
                <a:spcPct val="100000"/>
              </a:lnSpc>
            </a:pPr>
            <a:r>
              <a:rPr sz="1950" spc="290" dirty="0">
                <a:solidFill>
                  <a:srgbClr val="231F20"/>
                </a:solidFill>
                <a:latin typeface="Arial"/>
                <a:cs typeface="Arial"/>
              </a:rPr>
              <a:t>Summary</a:t>
            </a:r>
            <a:endParaRPr sz="1950">
              <a:latin typeface="Arial"/>
              <a:cs typeface="Arial"/>
            </a:endParaRPr>
          </a:p>
          <a:p>
            <a:pPr marL="300990" marR="74295" indent="-288290">
              <a:lnSpc>
                <a:spcPct val="125000"/>
              </a:lnSpc>
              <a:spcBef>
                <a:spcPts val="1035"/>
              </a:spcBef>
              <a:buClr>
                <a:srgbClr val="231F20"/>
              </a:buClr>
              <a:buSzPct val="105128"/>
              <a:buFont typeface="Lucida Sans Unicode"/>
              <a:buChar char="•"/>
              <a:tabLst>
                <a:tab pos="301625" algn="l"/>
              </a:tabLst>
            </a:pPr>
            <a:r>
              <a:rPr sz="1950" spc="250" dirty="0">
                <a:solidFill>
                  <a:srgbClr val="FF0000"/>
                </a:solidFill>
                <a:latin typeface="Arial"/>
                <a:cs typeface="Arial"/>
              </a:rPr>
              <a:t>The </a:t>
            </a:r>
            <a:r>
              <a:rPr sz="1950" spc="100" dirty="0">
                <a:solidFill>
                  <a:srgbClr val="FF0000"/>
                </a:solidFill>
                <a:latin typeface="Arial"/>
                <a:cs typeface="Arial"/>
              </a:rPr>
              <a:t>challenge </a:t>
            </a:r>
            <a:r>
              <a:rPr sz="1950" spc="114" dirty="0">
                <a:solidFill>
                  <a:srgbClr val="FF0000"/>
                </a:solidFill>
                <a:latin typeface="Arial"/>
                <a:cs typeface="Arial"/>
              </a:rPr>
              <a:t>faced </a:t>
            </a:r>
            <a:r>
              <a:rPr sz="1950" spc="105" dirty="0">
                <a:solidFill>
                  <a:srgbClr val="FF0000"/>
                </a:solidFill>
                <a:latin typeface="Arial"/>
                <a:cs typeface="Arial"/>
              </a:rPr>
              <a:t>by </a:t>
            </a:r>
            <a:r>
              <a:rPr sz="1950" spc="160" dirty="0">
                <a:solidFill>
                  <a:srgbClr val="FF0000"/>
                </a:solidFill>
                <a:latin typeface="Arial"/>
                <a:cs typeface="Arial"/>
              </a:rPr>
              <a:t>formal </a:t>
            </a:r>
            <a:r>
              <a:rPr sz="1950" spc="165" dirty="0">
                <a:solidFill>
                  <a:srgbClr val="FF0000"/>
                </a:solidFill>
                <a:latin typeface="Arial"/>
                <a:cs typeface="Arial"/>
              </a:rPr>
              <a:t>methods </a:t>
            </a:r>
            <a:r>
              <a:rPr sz="1950" spc="75" dirty="0">
                <a:solidFill>
                  <a:srgbClr val="FF0000"/>
                </a:solidFill>
                <a:latin typeface="Arial"/>
                <a:cs typeface="Arial"/>
              </a:rPr>
              <a:t>analysis </a:t>
            </a:r>
            <a:r>
              <a:rPr sz="1950" spc="160" dirty="0">
                <a:solidFill>
                  <a:srgbClr val="FF0000"/>
                </a:solidFill>
                <a:latin typeface="Arial"/>
                <a:cs typeface="Arial"/>
              </a:rPr>
              <a:t>tools </a:t>
            </a:r>
            <a:r>
              <a:rPr sz="1950" spc="40" dirty="0">
                <a:solidFill>
                  <a:srgbClr val="FF0000"/>
                </a:solidFill>
                <a:latin typeface="Arial"/>
                <a:cs typeface="Arial"/>
              </a:rPr>
              <a:t>is </a:t>
            </a:r>
            <a:r>
              <a:rPr sz="1950" spc="160" dirty="0">
                <a:solidFill>
                  <a:srgbClr val="FF0000"/>
                </a:solidFill>
                <a:latin typeface="Arial"/>
                <a:cs typeface="Arial"/>
              </a:rPr>
              <a:t>how </a:t>
            </a:r>
            <a:r>
              <a:rPr sz="1950" spc="860" dirty="0">
                <a:solidFill>
                  <a:srgbClr val="FF0000"/>
                </a:solidFill>
                <a:latin typeface="Arial"/>
                <a:cs typeface="Arial"/>
              </a:rPr>
              <a:t> </a:t>
            </a:r>
            <a:r>
              <a:rPr sz="1950" spc="250" dirty="0">
                <a:solidFill>
                  <a:srgbClr val="FF0000"/>
                </a:solidFill>
                <a:latin typeface="Arial"/>
                <a:cs typeface="Arial"/>
              </a:rPr>
              <a:t>to </a:t>
            </a:r>
            <a:r>
              <a:rPr sz="1950" spc="75" dirty="0">
                <a:solidFill>
                  <a:srgbClr val="FF0000"/>
                </a:solidFill>
                <a:latin typeface="Arial"/>
                <a:cs typeface="Arial"/>
              </a:rPr>
              <a:t>search </a:t>
            </a:r>
            <a:r>
              <a:rPr sz="1950" spc="85" dirty="0">
                <a:solidFill>
                  <a:srgbClr val="FF0000"/>
                </a:solidFill>
                <a:latin typeface="Arial"/>
                <a:cs typeface="Arial"/>
              </a:rPr>
              <a:t>a </a:t>
            </a:r>
            <a:r>
              <a:rPr sz="1950" spc="120" dirty="0">
                <a:solidFill>
                  <a:srgbClr val="FF0000"/>
                </a:solidFill>
                <a:latin typeface="Arial"/>
                <a:cs typeface="Arial"/>
              </a:rPr>
              <a:t>huge </a:t>
            </a:r>
            <a:r>
              <a:rPr sz="1950" spc="70" dirty="0">
                <a:solidFill>
                  <a:srgbClr val="FF0000"/>
                </a:solidFill>
                <a:latin typeface="Arial"/>
                <a:cs typeface="Arial"/>
              </a:rPr>
              <a:t>space </a:t>
            </a:r>
            <a:r>
              <a:rPr sz="1950" spc="200" dirty="0">
                <a:solidFill>
                  <a:srgbClr val="FF0000"/>
                </a:solidFill>
                <a:latin typeface="Arial"/>
                <a:cs typeface="Arial"/>
              </a:rPr>
              <a:t> </a:t>
            </a:r>
            <a:r>
              <a:rPr sz="1950" spc="135" dirty="0">
                <a:solidFill>
                  <a:srgbClr val="FF0000"/>
                </a:solidFill>
                <a:latin typeface="Arial"/>
                <a:cs typeface="Arial"/>
              </a:rPr>
              <a:t>efficiently</a:t>
            </a:r>
            <a:endParaRPr sz="1950">
              <a:latin typeface="Arial"/>
              <a:cs typeface="Arial"/>
            </a:endParaRPr>
          </a:p>
          <a:p>
            <a:pPr marL="300990" marR="429259" indent="-288290">
              <a:lnSpc>
                <a:spcPct val="125000"/>
              </a:lnSpc>
              <a:spcBef>
                <a:spcPts val="1035"/>
              </a:spcBef>
              <a:buSzPct val="105128"/>
              <a:buFont typeface="Lucida Sans Unicode"/>
              <a:buChar char="•"/>
              <a:tabLst>
                <a:tab pos="301625" algn="l"/>
              </a:tabLst>
            </a:pPr>
            <a:r>
              <a:rPr sz="1950" spc="185" dirty="0">
                <a:solidFill>
                  <a:srgbClr val="231F20"/>
                </a:solidFill>
                <a:latin typeface="Arial"/>
                <a:cs typeface="Arial"/>
              </a:rPr>
              <a:t>Theorem </a:t>
            </a:r>
            <a:r>
              <a:rPr sz="1950" spc="135" dirty="0">
                <a:solidFill>
                  <a:srgbClr val="231F20"/>
                </a:solidFill>
                <a:latin typeface="Arial"/>
                <a:cs typeface="Arial"/>
              </a:rPr>
              <a:t>proving </a:t>
            </a:r>
            <a:r>
              <a:rPr sz="1950" spc="70" dirty="0">
                <a:solidFill>
                  <a:srgbClr val="231F20"/>
                </a:solidFill>
                <a:latin typeface="Arial"/>
                <a:cs typeface="Arial"/>
              </a:rPr>
              <a:t>has </a:t>
            </a:r>
            <a:r>
              <a:rPr sz="1950" spc="105" dirty="0">
                <a:solidFill>
                  <a:srgbClr val="231F20"/>
                </a:solidFill>
                <a:latin typeface="Arial"/>
                <a:cs typeface="Arial"/>
              </a:rPr>
              <a:t>developed </a:t>
            </a:r>
            <a:r>
              <a:rPr sz="1950" spc="135" dirty="0">
                <a:solidFill>
                  <a:srgbClr val="231F20"/>
                </a:solidFill>
                <a:latin typeface="Arial"/>
                <a:cs typeface="Arial"/>
              </a:rPr>
              <a:t>efficient </a:t>
            </a:r>
            <a:r>
              <a:rPr sz="1950" spc="165" dirty="0">
                <a:solidFill>
                  <a:srgbClr val="231F20"/>
                </a:solidFill>
                <a:latin typeface="Arial"/>
                <a:cs typeface="Arial"/>
              </a:rPr>
              <a:t>methods </a:t>
            </a:r>
            <a:r>
              <a:rPr sz="1950" spc="185" dirty="0">
                <a:solidFill>
                  <a:srgbClr val="231F20"/>
                </a:solidFill>
                <a:latin typeface="Arial"/>
                <a:cs typeface="Arial"/>
              </a:rPr>
              <a:t>of </a:t>
            </a:r>
            <a:r>
              <a:rPr sz="1950" spc="130" dirty="0">
                <a:solidFill>
                  <a:srgbClr val="0000FF"/>
                </a:solidFill>
                <a:latin typeface="Arial"/>
                <a:cs typeface="Arial"/>
              </a:rPr>
              <a:t>local  </a:t>
            </a:r>
            <a:r>
              <a:rPr sz="1950" spc="75" dirty="0">
                <a:solidFill>
                  <a:srgbClr val="231F20"/>
                </a:solidFill>
                <a:latin typeface="Arial"/>
                <a:cs typeface="Arial"/>
              </a:rPr>
              <a:t>search </a:t>
            </a:r>
            <a:r>
              <a:rPr sz="1950" spc="120" dirty="0">
                <a:solidFill>
                  <a:srgbClr val="231F20"/>
                </a:solidFill>
                <a:latin typeface="Arial"/>
                <a:cs typeface="Arial"/>
              </a:rPr>
              <a:t>(decision </a:t>
            </a:r>
            <a:r>
              <a:rPr sz="1950" spc="105" dirty="0">
                <a:solidFill>
                  <a:srgbClr val="231F20"/>
                </a:solidFill>
                <a:latin typeface="Arial"/>
                <a:cs typeface="Arial"/>
              </a:rPr>
              <a:t>procedures</a:t>
            </a:r>
            <a:r>
              <a:rPr sz="1950" spc="645" dirty="0">
                <a:solidFill>
                  <a:srgbClr val="231F20"/>
                </a:solidFill>
                <a:latin typeface="Arial"/>
                <a:cs typeface="Arial"/>
              </a:rPr>
              <a:t> </a:t>
            </a:r>
            <a:r>
              <a:rPr sz="1950" spc="185" dirty="0">
                <a:solidFill>
                  <a:srgbClr val="231F20"/>
                </a:solidFill>
                <a:latin typeface="Arial"/>
                <a:cs typeface="Arial"/>
              </a:rPr>
              <a:t>etc.)</a:t>
            </a:r>
            <a:endParaRPr sz="1950">
              <a:latin typeface="Arial"/>
              <a:cs typeface="Arial"/>
            </a:endParaRPr>
          </a:p>
          <a:p>
            <a:pPr marL="300990" marR="774700" indent="-288290">
              <a:lnSpc>
                <a:spcPct val="125000"/>
              </a:lnSpc>
              <a:spcBef>
                <a:spcPts val="1035"/>
              </a:spcBef>
              <a:buSzPct val="105128"/>
              <a:buFont typeface="Lucida Sans Unicode"/>
              <a:buChar char="•"/>
              <a:tabLst>
                <a:tab pos="301625" algn="l"/>
              </a:tabLst>
            </a:pPr>
            <a:r>
              <a:rPr sz="1950" spc="180" dirty="0">
                <a:solidFill>
                  <a:srgbClr val="231F20"/>
                </a:solidFill>
                <a:latin typeface="Arial"/>
                <a:cs typeface="Arial"/>
              </a:rPr>
              <a:t>Model </a:t>
            </a:r>
            <a:r>
              <a:rPr sz="1950" spc="125" dirty="0">
                <a:solidFill>
                  <a:srgbClr val="231F20"/>
                </a:solidFill>
                <a:latin typeface="Arial"/>
                <a:cs typeface="Arial"/>
              </a:rPr>
              <a:t>checking </a:t>
            </a:r>
            <a:r>
              <a:rPr sz="1950" spc="90" dirty="0">
                <a:solidFill>
                  <a:srgbClr val="231F20"/>
                </a:solidFill>
                <a:latin typeface="Arial"/>
                <a:cs typeface="Arial"/>
              </a:rPr>
              <a:t>showed </a:t>
            </a:r>
            <a:r>
              <a:rPr sz="1950" spc="235" dirty="0">
                <a:solidFill>
                  <a:srgbClr val="231F20"/>
                </a:solidFill>
                <a:latin typeface="Arial"/>
                <a:cs typeface="Arial"/>
              </a:rPr>
              <a:t>that </a:t>
            </a:r>
            <a:r>
              <a:rPr sz="1950" spc="135" dirty="0">
                <a:solidFill>
                  <a:srgbClr val="231F20"/>
                </a:solidFill>
                <a:latin typeface="Arial"/>
                <a:cs typeface="Arial"/>
              </a:rPr>
              <a:t>efficient </a:t>
            </a:r>
            <a:r>
              <a:rPr sz="1950" spc="130" dirty="0">
                <a:solidFill>
                  <a:srgbClr val="0000FF"/>
                </a:solidFill>
                <a:latin typeface="Arial"/>
                <a:cs typeface="Arial"/>
              </a:rPr>
              <a:t>global </a:t>
            </a:r>
            <a:r>
              <a:rPr sz="1950" spc="75" dirty="0">
                <a:solidFill>
                  <a:srgbClr val="231F20"/>
                </a:solidFill>
                <a:latin typeface="Arial"/>
                <a:cs typeface="Arial"/>
              </a:rPr>
              <a:t>search was  </a:t>
            </a:r>
            <a:r>
              <a:rPr sz="1950" spc="90" dirty="0">
                <a:solidFill>
                  <a:srgbClr val="231F20"/>
                </a:solidFill>
                <a:latin typeface="Arial"/>
                <a:cs typeface="Arial"/>
              </a:rPr>
              <a:t>possible</a:t>
            </a:r>
            <a:endParaRPr sz="1950">
              <a:latin typeface="Arial"/>
              <a:cs typeface="Arial"/>
            </a:endParaRPr>
          </a:p>
          <a:p>
            <a:pPr marL="300990" marR="5080" indent="-288290">
              <a:lnSpc>
                <a:spcPct val="125000"/>
              </a:lnSpc>
              <a:spcBef>
                <a:spcPts val="1035"/>
              </a:spcBef>
              <a:buClr>
                <a:srgbClr val="231F20"/>
              </a:buClr>
              <a:buSzPct val="105128"/>
              <a:buFont typeface="Lucida Sans Unicode"/>
              <a:buChar char="•"/>
              <a:tabLst>
                <a:tab pos="301625" algn="l"/>
              </a:tabLst>
            </a:pPr>
            <a:r>
              <a:rPr sz="1950" spc="170" dirty="0">
                <a:solidFill>
                  <a:srgbClr val="0000FF"/>
                </a:solidFill>
                <a:latin typeface="Arial"/>
                <a:cs typeface="Arial"/>
              </a:rPr>
              <a:t>Now, </a:t>
            </a:r>
            <a:r>
              <a:rPr sz="1950" spc="165" dirty="0">
                <a:solidFill>
                  <a:srgbClr val="0000FF"/>
                </a:solidFill>
                <a:latin typeface="Arial"/>
                <a:cs typeface="Arial"/>
              </a:rPr>
              <a:t>methods </a:t>
            </a:r>
            <a:r>
              <a:rPr sz="1950" spc="65" dirty="0">
                <a:solidFill>
                  <a:srgbClr val="0000FF"/>
                </a:solidFill>
                <a:latin typeface="Arial"/>
                <a:cs typeface="Arial"/>
              </a:rPr>
              <a:t>are </a:t>
            </a:r>
            <a:r>
              <a:rPr sz="1950" spc="135" dirty="0">
                <a:solidFill>
                  <a:srgbClr val="0000FF"/>
                </a:solidFill>
                <a:latin typeface="Arial"/>
                <a:cs typeface="Arial"/>
              </a:rPr>
              <a:t>emerging </a:t>
            </a:r>
            <a:r>
              <a:rPr sz="1950" spc="235" dirty="0">
                <a:solidFill>
                  <a:srgbClr val="0000FF"/>
                </a:solidFill>
                <a:latin typeface="Arial"/>
                <a:cs typeface="Arial"/>
              </a:rPr>
              <a:t>that </a:t>
            </a:r>
            <a:r>
              <a:rPr sz="1950" spc="145" dirty="0">
                <a:solidFill>
                  <a:srgbClr val="0000FF"/>
                </a:solidFill>
                <a:latin typeface="Arial"/>
                <a:cs typeface="Arial"/>
              </a:rPr>
              <a:t>combine </a:t>
            </a:r>
            <a:r>
              <a:rPr sz="1950" spc="120" dirty="0">
                <a:solidFill>
                  <a:srgbClr val="0000FF"/>
                </a:solidFill>
                <a:latin typeface="Arial"/>
                <a:cs typeface="Arial"/>
              </a:rPr>
              <a:t>insights </a:t>
            </a:r>
            <a:r>
              <a:rPr sz="1950" spc="210" dirty="0">
                <a:solidFill>
                  <a:srgbClr val="0000FF"/>
                </a:solidFill>
                <a:latin typeface="Arial"/>
                <a:cs typeface="Arial"/>
              </a:rPr>
              <a:t>from </a:t>
            </a:r>
            <a:r>
              <a:rPr sz="1950" spc="220" dirty="0">
                <a:solidFill>
                  <a:srgbClr val="0000FF"/>
                </a:solidFill>
                <a:latin typeface="Arial"/>
                <a:cs typeface="Arial"/>
              </a:rPr>
              <a:t>both  </a:t>
            </a:r>
            <a:r>
              <a:rPr sz="1950" spc="100" dirty="0">
                <a:solidFill>
                  <a:srgbClr val="0000FF"/>
                </a:solidFill>
                <a:latin typeface="Arial"/>
                <a:cs typeface="Arial"/>
              </a:rPr>
              <a:t>approaches </a:t>
            </a:r>
            <a:r>
              <a:rPr sz="1950" spc="130" dirty="0">
                <a:solidFill>
                  <a:srgbClr val="0000FF"/>
                </a:solidFill>
                <a:latin typeface="Arial"/>
                <a:cs typeface="Arial"/>
              </a:rPr>
              <a:t>in </a:t>
            </a:r>
            <a:r>
              <a:rPr sz="1950" spc="85" dirty="0">
                <a:solidFill>
                  <a:srgbClr val="0000FF"/>
                </a:solidFill>
                <a:latin typeface="Arial"/>
                <a:cs typeface="Arial"/>
              </a:rPr>
              <a:t>a </a:t>
            </a:r>
            <a:r>
              <a:rPr sz="1950" spc="135" dirty="0">
                <a:solidFill>
                  <a:srgbClr val="0000FF"/>
                </a:solidFill>
                <a:latin typeface="Arial"/>
                <a:cs typeface="Arial"/>
              </a:rPr>
              <a:t>promising</a:t>
            </a:r>
            <a:r>
              <a:rPr sz="1950" spc="745" dirty="0">
                <a:solidFill>
                  <a:srgbClr val="0000FF"/>
                </a:solidFill>
                <a:latin typeface="Arial"/>
                <a:cs typeface="Arial"/>
              </a:rPr>
              <a:t> </a:t>
            </a:r>
            <a:r>
              <a:rPr sz="1950" spc="105" dirty="0">
                <a:solidFill>
                  <a:srgbClr val="0000FF"/>
                </a:solidFill>
                <a:latin typeface="Arial"/>
                <a:cs typeface="Arial"/>
              </a:rPr>
              <a:t>way</a:t>
            </a:r>
            <a:endParaRPr sz="1950">
              <a:latin typeface="Arial"/>
              <a:cs typeface="Arial"/>
            </a:endParaRPr>
          </a:p>
          <a:p>
            <a:pPr marL="300990" marR="400050" indent="-288290">
              <a:lnSpc>
                <a:spcPct val="125000"/>
              </a:lnSpc>
              <a:spcBef>
                <a:spcPts val="1035"/>
              </a:spcBef>
              <a:buSzPct val="105128"/>
              <a:buFont typeface="Lucida Sans Unicode"/>
              <a:buChar char="•"/>
              <a:tabLst>
                <a:tab pos="301625" algn="l"/>
              </a:tabLst>
            </a:pPr>
            <a:r>
              <a:rPr sz="1950" spc="200" dirty="0">
                <a:solidFill>
                  <a:srgbClr val="231F20"/>
                </a:solidFill>
                <a:latin typeface="Arial"/>
                <a:cs typeface="Arial"/>
              </a:rPr>
              <a:t>And </a:t>
            </a:r>
            <a:r>
              <a:rPr sz="1950" spc="140" dirty="0">
                <a:solidFill>
                  <a:srgbClr val="231F20"/>
                </a:solidFill>
                <a:latin typeface="Arial"/>
                <a:cs typeface="Arial"/>
              </a:rPr>
              <a:t>there </a:t>
            </a:r>
            <a:r>
              <a:rPr sz="1950" spc="85" dirty="0">
                <a:solidFill>
                  <a:srgbClr val="231F20"/>
                </a:solidFill>
                <a:latin typeface="Arial"/>
                <a:cs typeface="Arial"/>
              </a:rPr>
              <a:t>a </a:t>
            </a:r>
            <a:r>
              <a:rPr sz="1950" spc="160" dirty="0">
                <a:solidFill>
                  <a:srgbClr val="231F20"/>
                </a:solidFill>
                <a:latin typeface="Arial"/>
                <a:cs typeface="Arial"/>
              </a:rPr>
              <a:t>pragmatic </a:t>
            </a:r>
            <a:r>
              <a:rPr sz="1950" spc="135" dirty="0">
                <a:solidFill>
                  <a:srgbClr val="231F20"/>
                </a:solidFill>
                <a:latin typeface="Arial"/>
                <a:cs typeface="Arial"/>
              </a:rPr>
              <a:t>focus </a:t>
            </a:r>
            <a:r>
              <a:rPr sz="1950" spc="155" dirty="0">
                <a:solidFill>
                  <a:srgbClr val="231F20"/>
                </a:solidFill>
                <a:latin typeface="Arial"/>
                <a:cs typeface="Arial"/>
              </a:rPr>
              <a:t>on </a:t>
            </a:r>
            <a:r>
              <a:rPr sz="1950" spc="150" dirty="0">
                <a:solidFill>
                  <a:srgbClr val="231F20"/>
                </a:solidFill>
                <a:latin typeface="Arial"/>
                <a:cs typeface="Arial"/>
              </a:rPr>
              <a:t>finding </a:t>
            </a:r>
            <a:r>
              <a:rPr sz="1950" spc="165" dirty="0">
                <a:solidFill>
                  <a:srgbClr val="231F20"/>
                </a:solidFill>
                <a:latin typeface="Arial"/>
                <a:cs typeface="Arial"/>
              </a:rPr>
              <a:t>methods </a:t>
            </a:r>
            <a:r>
              <a:rPr sz="1950" spc="155" dirty="0">
                <a:solidFill>
                  <a:srgbClr val="231F20"/>
                </a:solidFill>
                <a:latin typeface="Arial"/>
                <a:cs typeface="Arial"/>
              </a:rPr>
              <a:t>for </a:t>
            </a:r>
            <a:r>
              <a:rPr sz="1950" spc="110" dirty="0">
                <a:solidFill>
                  <a:srgbClr val="231F20"/>
                </a:solidFill>
                <a:latin typeface="Arial"/>
                <a:cs typeface="Arial"/>
              </a:rPr>
              <a:t>using  </a:t>
            </a:r>
            <a:r>
              <a:rPr sz="1950" spc="175" dirty="0">
                <a:solidFill>
                  <a:srgbClr val="231F20"/>
                </a:solidFill>
                <a:latin typeface="Arial"/>
                <a:cs typeface="Arial"/>
              </a:rPr>
              <a:t>the </a:t>
            </a:r>
            <a:r>
              <a:rPr sz="1950" spc="160" dirty="0">
                <a:solidFill>
                  <a:srgbClr val="231F20"/>
                </a:solidFill>
                <a:latin typeface="Arial"/>
                <a:cs typeface="Arial"/>
              </a:rPr>
              <a:t>(still </a:t>
            </a:r>
            <a:r>
              <a:rPr sz="1950" spc="185" dirty="0">
                <a:solidFill>
                  <a:srgbClr val="231F20"/>
                </a:solidFill>
                <a:latin typeface="Arial"/>
                <a:cs typeface="Arial"/>
              </a:rPr>
              <a:t>limited) </a:t>
            </a:r>
            <a:r>
              <a:rPr sz="1950" spc="114" dirty="0">
                <a:solidFill>
                  <a:srgbClr val="231F20"/>
                </a:solidFill>
                <a:latin typeface="Arial"/>
                <a:cs typeface="Arial"/>
              </a:rPr>
              <a:t>capabilities </a:t>
            </a:r>
            <a:r>
              <a:rPr sz="1950" spc="185" dirty="0">
                <a:solidFill>
                  <a:srgbClr val="231F20"/>
                </a:solidFill>
                <a:latin typeface="Arial"/>
                <a:cs typeface="Arial"/>
              </a:rPr>
              <a:t>of </a:t>
            </a:r>
            <a:r>
              <a:rPr sz="1950" spc="160" dirty="0">
                <a:solidFill>
                  <a:srgbClr val="231F20"/>
                </a:solidFill>
                <a:latin typeface="Arial"/>
                <a:cs typeface="Arial"/>
              </a:rPr>
              <a:t>formal </a:t>
            </a:r>
            <a:r>
              <a:rPr sz="1950" spc="75" dirty="0">
                <a:solidFill>
                  <a:srgbClr val="231F20"/>
                </a:solidFill>
                <a:latin typeface="Arial"/>
                <a:cs typeface="Arial"/>
              </a:rPr>
              <a:t>analysis </a:t>
            </a:r>
            <a:r>
              <a:rPr sz="1950" spc="160" dirty="0">
                <a:solidFill>
                  <a:srgbClr val="231F20"/>
                </a:solidFill>
                <a:latin typeface="Arial"/>
                <a:cs typeface="Arial"/>
              </a:rPr>
              <a:t>tools </a:t>
            </a:r>
            <a:r>
              <a:rPr sz="1950" spc="250" dirty="0">
                <a:solidFill>
                  <a:srgbClr val="231F20"/>
                </a:solidFill>
                <a:latin typeface="Arial"/>
                <a:cs typeface="Arial"/>
              </a:rPr>
              <a:t>to  </a:t>
            </a:r>
            <a:r>
              <a:rPr sz="1950" spc="75" dirty="0">
                <a:solidFill>
                  <a:srgbClr val="231F20"/>
                </a:solidFill>
                <a:latin typeface="Arial"/>
                <a:cs typeface="Arial"/>
              </a:rPr>
              <a:t>address </a:t>
            </a:r>
            <a:r>
              <a:rPr sz="1950" spc="110" dirty="0">
                <a:solidFill>
                  <a:srgbClr val="231F20"/>
                </a:solidFill>
                <a:latin typeface="Arial"/>
                <a:cs typeface="Arial"/>
              </a:rPr>
              <a:t>useful, </a:t>
            </a:r>
            <a:r>
              <a:rPr sz="1950" spc="220" dirty="0">
                <a:solidFill>
                  <a:srgbClr val="231F20"/>
                </a:solidFill>
                <a:latin typeface="Arial"/>
                <a:cs typeface="Arial"/>
              </a:rPr>
              <a:t>but </a:t>
            </a:r>
            <a:r>
              <a:rPr sz="1950" spc="140" dirty="0">
                <a:solidFill>
                  <a:srgbClr val="231F20"/>
                </a:solidFill>
                <a:latin typeface="Arial"/>
                <a:cs typeface="Arial"/>
              </a:rPr>
              <a:t>partial </a:t>
            </a:r>
            <a:r>
              <a:rPr sz="1950" spc="30" dirty="0">
                <a:solidFill>
                  <a:srgbClr val="231F20"/>
                </a:solidFill>
                <a:latin typeface="Arial"/>
                <a:cs typeface="Arial"/>
              </a:rPr>
              <a:t>issues </a:t>
            </a:r>
            <a:r>
              <a:rPr sz="1950" spc="130" dirty="0">
                <a:solidFill>
                  <a:srgbClr val="231F20"/>
                </a:solidFill>
                <a:latin typeface="Arial"/>
                <a:cs typeface="Arial"/>
              </a:rPr>
              <a:t>in </a:t>
            </a:r>
            <a:r>
              <a:rPr sz="1950" spc="140" dirty="0">
                <a:solidFill>
                  <a:srgbClr val="231F20"/>
                </a:solidFill>
                <a:latin typeface="Arial"/>
                <a:cs typeface="Arial"/>
              </a:rPr>
              <a:t>big, </a:t>
            </a:r>
            <a:r>
              <a:rPr sz="1950" spc="95" dirty="0">
                <a:solidFill>
                  <a:srgbClr val="231F20"/>
                </a:solidFill>
                <a:latin typeface="Arial"/>
                <a:cs typeface="Arial"/>
              </a:rPr>
              <a:t>real  </a:t>
            </a:r>
            <a:r>
              <a:rPr sz="1950" spc="160" dirty="0">
                <a:solidFill>
                  <a:srgbClr val="231F20"/>
                </a:solidFill>
                <a:latin typeface="Arial"/>
                <a:cs typeface="Arial"/>
              </a:rPr>
              <a:t> </a:t>
            </a:r>
            <a:r>
              <a:rPr sz="1950" spc="100" dirty="0">
                <a:solidFill>
                  <a:srgbClr val="231F20"/>
                </a:solidFill>
                <a:latin typeface="Arial"/>
                <a:cs typeface="Arial"/>
              </a:rPr>
              <a:t>systems</a:t>
            </a:r>
            <a:endParaRPr sz="1950">
              <a:latin typeface="Arial"/>
              <a:cs typeface="Arial"/>
            </a:endParaRPr>
          </a:p>
          <a:p>
            <a:pPr marL="300990" marR="592455" indent="-288290">
              <a:lnSpc>
                <a:spcPct val="125000"/>
              </a:lnSpc>
              <a:spcBef>
                <a:spcPts val="1035"/>
              </a:spcBef>
              <a:buClr>
                <a:srgbClr val="231F20"/>
              </a:buClr>
              <a:buSzPct val="105128"/>
              <a:buFont typeface="Lucida Sans Unicode"/>
              <a:buChar char="•"/>
              <a:tabLst>
                <a:tab pos="301625" algn="l"/>
              </a:tabLst>
            </a:pPr>
            <a:r>
              <a:rPr sz="1950" spc="90" dirty="0">
                <a:solidFill>
                  <a:srgbClr val="FF0000"/>
                </a:solidFill>
                <a:latin typeface="Arial"/>
                <a:cs typeface="Arial"/>
              </a:rPr>
              <a:t>I </a:t>
            </a:r>
            <a:r>
              <a:rPr sz="1950" spc="95" dirty="0">
                <a:solidFill>
                  <a:srgbClr val="FF0000"/>
                </a:solidFill>
                <a:latin typeface="Arial"/>
                <a:cs typeface="Arial"/>
              </a:rPr>
              <a:t>have never </a:t>
            </a:r>
            <a:r>
              <a:rPr sz="1950" spc="170" dirty="0">
                <a:solidFill>
                  <a:srgbClr val="FF0000"/>
                </a:solidFill>
                <a:latin typeface="Arial"/>
                <a:cs typeface="Arial"/>
              </a:rPr>
              <a:t>felt </a:t>
            </a:r>
            <a:r>
              <a:rPr sz="1950" spc="145" dirty="0">
                <a:solidFill>
                  <a:srgbClr val="FF0000"/>
                </a:solidFill>
                <a:latin typeface="Arial"/>
                <a:cs typeface="Arial"/>
              </a:rPr>
              <a:t>more </a:t>
            </a:r>
            <a:r>
              <a:rPr sz="1950" spc="175" dirty="0">
                <a:solidFill>
                  <a:srgbClr val="FF0000"/>
                </a:solidFill>
                <a:latin typeface="Arial"/>
                <a:cs typeface="Arial"/>
              </a:rPr>
              <a:t>optimistic </a:t>
            </a:r>
            <a:r>
              <a:rPr sz="1950" spc="190" dirty="0">
                <a:solidFill>
                  <a:srgbClr val="FF0000"/>
                </a:solidFill>
                <a:latin typeface="Arial"/>
                <a:cs typeface="Arial"/>
              </a:rPr>
              <a:t>about </a:t>
            </a:r>
            <a:r>
              <a:rPr sz="1950" spc="175" dirty="0">
                <a:solidFill>
                  <a:srgbClr val="FF0000"/>
                </a:solidFill>
                <a:latin typeface="Arial"/>
                <a:cs typeface="Arial"/>
              </a:rPr>
              <a:t>the </a:t>
            </a:r>
            <a:r>
              <a:rPr sz="1950" spc="114" dirty="0">
                <a:solidFill>
                  <a:srgbClr val="FF0000"/>
                </a:solidFill>
                <a:latin typeface="Arial"/>
                <a:cs typeface="Arial"/>
              </a:rPr>
              <a:t>prospects </a:t>
            </a:r>
            <a:r>
              <a:rPr sz="1950" spc="155" dirty="0">
                <a:solidFill>
                  <a:srgbClr val="FF0000"/>
                </a:solidFill>
                <a:latin typeface="Arial"/>
                <a:cs typeface="Arial"/>
              </a:rPr>
              <a:t>for  </a:t>
            </a:r>
            <a:r>
              <a:rPr sz="1950" spc="160" dirty="0">
                <a:solidFill>
                  <a:srgbClr val="FF0000"/>
                </a:solidFill>
                <a:latin typeface="Arial"/>
                <a:cs typeface="Arial"/>
              </a:rPr>
              <a:t>formal </a:t>
            </a:r>
            <a:r>
              <a:rPr sz="1950" spc="75" dirty="0">
                <a:solidFill>
                  <a:srgbClr val="FF0000"/>
                </a:solidFill>
                <a:latin typeface="Arial"/>
                <a:cs typeface="Arial"/>
              </a:rPr>
              <a:t>analysis</a:t>
            </a:r>
            <a:r>
              <a:rPr sz="1950" spc="365" dirty="0">
                <a:solidFill>
                  <a:srgbClr val="FF0000"/>
                </a:solidFill>
                <a:latin typeface="Arial"/>
                <a:cs typeface="Arial"/>
              </a:rPr>
              <a:t> </a:t>
            </a:r>
            <a:r>
              <a:rPr sz="1950" spc="160" dirty="0">
                <a:solidFill>
                  <a:srgbClr val="FF0000"/>
                </a:solidFill>
                <a:latin typeface="Arial"/>
                <a:cs typeface="Arial"/>
              </a:rPr>
              <a:t>tools</a:t>
            </a:r>
            <a:endParaRPr sz="1950">
              <a:latin typeface="Arial"/>
              <a:cs typeface="Arial"/>
            </a:endParaRPr>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1303629"/>
            <a:ext cx="8212455" cy="4170679"/>
          </a:xfrm>
          <a:prstGeom prst="rect">
            <a:avLst/>
          </a:prstGeom>
        </p:spPr>
        <p:txBody>
          <a:bodyPr vert="horz" wrap="square" lIns="0" tIns="0" rIns="0" bIns="0" rtlCol="0">
            <a:spAutoFit/>
          </a:bodyPr>
          <a:lstStyle/>
          <a:p>
            <a:pPr marL="53975" algn="ctr">
              <a:lnSpc>
                <a:spcPct val="100000"/>
              </a:lnSpc>
            </a:pPr>
            <a:r>
              <a:rPr sz="1950" spc="270" dirty="0">
                <a:solidFill>
                  <a:srgbClr val="231F20"/>
                </a:solidFill>
                <a:latin typeface="Arial"/>
                <a:cs typeface="Arial"/>
              </a:rPr>
              <a:t>Acknowledgments</a:t>
            </a:r>
            <a:endParaRPr sz="1950">
              <a:latin typeface="Arial"/>
              <a:cs typeface="Arial"/>
            </a:endParaRPr>
          </a:p>
          <a:p>
            <a:pPr>
              <a:lnSpc>
                <a:spcPct val="100000"/>
              </a:lnSpc>
              <a:spcBef>
                <a:spcPts val="31"/>
              </a:spcBef>
            </a:pPr>
            <a:endParaRPr sz="1650">
              <a:latin typeface="Times New Roman"/>
              <a:cs typeface="Times New Roman"/>
            </a:endParaRPr>
          </a:p>
          <a:p>
            <a:pPr marL="300990" indent="-288290">
              <a:lnSpc>
                <a:spcPct val="100000"/>
              </a:lnSpc>
              <a:buSzPct val="105128"/>
              <a:buFont typeface="Lucida Sans Unicode"/>
              <a:buChar char="•"/>
              <a:tabLst>
                <a:tab pos="301625" algn="l"/>
              </a:tabLst>
            </a:pPr>
            <a:r>
              <a:rPr sz="1950" spc="135" dirty="0">
                <a:solidFill>
                  <a:srgbClr val="231F20"/>
                </a:solidFill>
                <a:latin typeface="Arial"/>
                <a:cs typeface="Arial"/>
              </a:rPr>
              <a:t>Very </a:t>
            </a:r>
            <a:r>
              <a:rPr sz="1950" spc="175" dirty="0">
                <a:solidFill>
                  <a:srgbClr val="231F20"/>
                </a:solidFill>
                <a:latin typeface="Arial"/>
                <a:cs typeface="Arial"/>
              </a:rPr>
              <a:t>little </a:t>
            </a:r>
            <a:r>
              <a:rPr sz="1950" spc="185" dirty="0">
                <a:solidFill>
                  <a:srgbClr val="231F20"/>
                </a:solidFill>
                <a:latin typeface="Arial"/>
                <a:cs typeface="Arial"/>
              </a:rPr>
              <a:t>of </a:t>
            </a:r>
            <a:r>
              <a:rPr sz="1950" spc="145" dirty="0">
                <a:solidFill>
                  <a:srgbClr val="231F20"/>
                </a:solidFill>
                <a:latin typeface="Arial"/>
                <a:cs typeface="Arial"/>
              </a:rPr>
              <a:t>this </a:t>
            </a:r>
            <a:r>
              <a:rPr sz="1950" spc="40" dirty="0">
                <a:solidFill>
                  <a:srgbClr val="231F20"/>
                </a:solidFill>
                <a:latin typeface="Arial"/>
                <a:cs typeface="Arial"/>
              </a:rPr>
              <a:t>is </a:t>
            </a:r>
            <a:r>
              <a:rPr sz="1950" spc="215" dirty="0">
                <a:solidFill>
                  <a:srgbClr val="231F20"/>
                </a:solidFill>
                <a:latin typeface="Arial"/>
                <a:cs typeface="Arial"/>
              </a:rPr>
              <a:t>my</a:t>
            </a:r>
            <a:r>
              <a:rPr sz="1950" spc="960" dirty="0">
                <a:solidFill>
                  <a:srgbClr val="231F20"/>
                </a:solidFill>
                <a:latin typeface="Arial"/>
                <a:cs typeface="Arial"/>
              </a:rPr>
              <a:t> </a:t>
            </a:r>
            <a:r>
              <a:rPr sz="1950" spc="155" dirty="0">
                <a:solidFill>
                  <a:srgbClr val="231F20"/>
                </a:solidFill>
                <a:latin typeface="Arial"/>
                <a:cs typeface="Arial"/>
              </a:rPr>
              <a:t>work</a:t>
            </a:r>
            <a:endParaRPr sz="1950">
              <a:latin typeface="Arial"/>
              <a:cs typeface="Arial"/>
            </a:endParaRPr>
          </a:p>
          <a:p>
            <a:pPr marL="300990" marR="658495" indent="-288290">
              <a:lnSpc>
                <a:spcPct val="125000"/>
              </a:lnSpc>
              <a:spcBef>
                <a:spcPts val="1340"/>
              </a:spcBef>
              <a:buSzPct val="105128"/>
              <a:buFont typeface="Lucida Sans Unicode"/>
              <a:buChar char="•"/>
              <a:tabLst>
                <a:tab pos="301625" algn="l"/>
                <a:tab pos="5304155" algn="l"/>
              </a:tabLst>
            </a:pPr>
            <a:r>
              <a:rPr sz="1950" spc="220" dirty="0">
                <a:solidFill>
                  <a:srgbClr val="231F20"/>
                </a:solidFill>
                <a:latin typeface="Arial"/>
                <a:cs typeface="Arial"/>
              </a:rPr>
              <a:t>Most </a:t>
            </a:r>
            <a:r>
              <a:rPr sz="1950" spc="185" dirty="0">
                <a:solidFill>
                  <a:srgbClr val="231F20"/>
                </a:solidFill>
                <a:latin typeface="Arial"/>
                <a:cs typeface="Arial"/>
              </a:rPr>
              <a:t>of </a:t>
            </a:r>
            <a:r>
              <a:rPr sz="1950" spc="229" dirty="0">
                <a:solidFill>
                  <a:srgbClr val="231F20"/>
                </a:solidFill>
                <a:latin typeface="Arial"/>
                <a:cs typeface="Arial"/>
              </a:rPr>
              <a:t>it </a:t>
            </a:r>
            <a:r>
              <a:rPr sz="1950" spc="175" dirty="0">
                <a:solidFill>
                  <a:srgbClr val="231F20"/>
                </a:solidFill>
                <a:latin typeface="Arial"/>
                <a:cs typeface="Arial"/>
              </a:rPr>
              <a:t>the </a:t>
            </a:r>
            <a:r>
              <a:rPr sz="1950" spc="155" dirty="0">
                <a:solidFill>
                  <a:srgbClr val="231F20"/>
                </a:solidFill>
                <a:latin typeface="Arial"/>
                <a:cs typeface="Arial"/>
              </a:rPr>
              <a:t>work </a:t>
            </a:r>
            <a:r>
              <a:rPr sz="1950" spc="185" dirty="0">
                <a:solidFill>
                  <a:srgbClr val="231F20"/>
                </a:solidFill>
                <a:latin typeface="Arial"/>
                <a:cs typeface="Arial"/>
              </a:rPr>
              <a:t>of  </a:t>
            </a:r>
            <a:r>
              <a:rPr sz="1950" spc="254" dirty="0">
                <a:solidFill>
                  <a:srgbClr val="231F20"/>
                </a:solidFill>
                <a:latin typeface="Arial"/>
                <a:cs typeface="Arial"/>
              </a:rPr>
              <a:t> </a:t>
            </a:r>
            <a:r>
              <a:rPr sz="1950" spc="215" dirty="0">
                <a:solidFill>
                  <a:srgbClr val="231F20"/>
                </a:solidFill>
                <a:latin typeface="Arial"/>
                <a:cs typeface="Arial"/>
              </a:rPr>
              <a:t>my</a:t>
            </a:r>
            <a:r>
              <a:rPr sz="1950" spc="445" dirty="0">
                <a:solidFill>
                  <a:srgbClr val="231F20"/>
                </a:solidFill>
                <a:latin typeface="Arial"/>
                <a:cs typeface="Arial"/>
              </a:rPr>
              <a:t> </a:t>
            </a:r>
            <a:r>
              <a:rPr sz="1950" spc="95" dirty="0">
                <a:solidFill>
                  <a:srgbClr val="231F20"/>
                </a:solidFill>
                <a:latin typeface="Arial"/>
                <a:cs typeface="Arial"/>
              </a:rPr>
              <a:t>colleagues:	</a:t>
            </a:r>
            <a:r>
              <a:rPr sz="1950" spc="190" dirty="0">
                <a:solidFill>
                  <a:srgbClr val="0000FF"/>
                </a:solidFill>
                <a:latin typeface="Arial"/>
                <a:cs typeface="Arial"/>
              </a:rPr>
              <a:t>Bruno</a:t>
            </a:r>
            <a:r>
              <a:rPr sz="1950" spc="210" dirty="0">
                <a:solidFill>
                  <a:srgbClr val="0000FF"/>
                </a:solidFill>
                <a:latin typeface="Arial"/>
                <a:cs typeface="Arial"/>
              </a:rPr>
              <a:t> </a:t>
            </a:r>
            <a:r>
              <a:rPr sz="1950" spc="190" dirty="0">
                <a:solidFill>
                  <a:srgbClr val="0000FF"/>
                </a:solidFill>
                <a:latin typeface="Arial"/>
                <a:cs typeface="Arial"/>
              </a:rPr>
              <a:t>Dutertre, </a:t>
            </a:r>
            <a:r>
              <a:rPr sz="1950" spc="145" dirty="0">
                <a:solidFill>
                  <a:srgbClr val="0000FF"/>
                </a:solidFill>
                <a:latin typeface="Arial"/>
                <a:cs typeface="Arial"/>
              </a:rPr>
              <a:t> </a:t>
            </a:r>
            <a:r>
              <a:rPr sz="1950" spc="140" dirty="0">
                <a:solidFill>
                  <a:srgbClr val="0000FF"/>
                </a:solidFill>
                <a:latin typeface="Arial"/>
                <a:cs typeface="Arial"/>
              </a:rPr>
              <a:t>Leonardo </a:t>
            </a:r>
            <a:r>
              <a:rPr sz="1950" spc="85" dirty="0">
                <a:solidFill>
                  <a:srgbClr val="0000FF"/>
                </a:solidFill>
                <a:latin typeface="Arial"/>
                <a:cs typeface="Arial"/>
              </a:rPr>
              <a:t>de </a:t>
            </a:r>
            <a:r>
              <a:rPr sz="1950" spc="185" dirty="0">
                <a:solidFill>
                  <a:srgbClr val="0000FF"/>
                </a:solidFill>
                <a:latin typeface="Arial"/>
                <a:cs typeface="Arial"/>
              </a:rPr>
              <a:t>Moura, </a:t>
            </a:r>
            <a:r>
              <a:rPr sz="1950" spc="155" dirty="0">
                <a:solidFill>
                  <a:srgbClr val="0000FF"/>
                </a:solidFill>
                <a:latin typeface="Arial"/>
                <a:cs typeface="Arial"/>
              </a:rPr>
              <a:t>Sam </a:t>
            </a:r>
            <a:r>
              <a:rPr sz="1950" spc="190" dirty="0">
                <a:solidFill>
                  <a:srgbClr val="0000FF"/>
                </a:solidFill>
                <a:latin typeface="Arial"/>
                <a:cs typeface="Arial"/>
              </a:rPr>
              <a:t>Owre, </a:t>
            </a:r>
            <a:r>
              <a:rPr sz="1950" spc="114" dirty="0">
                <a:solidFill>
                  <a:srgbClr val="0000FF"/>
                </a:solidFill>
                <a:latin typeface="Arial"/>
                <a:cs typeface="Arial"/>
              </a:rPr>
              <a:t>Shankar, </a:t>
            </a:r>
            <a:r>
              <a:rPr sz="1950" spc="110" dirty="0">
                <a:solidFill>
                  <a:srgbClr val="0000FF"/>
                </a:solidFill>
                <a:latin typeface="Arial"/>
                <a:cs typeface="Arial"/>
              </a:rPr>
              <a:t>Ashish </a:t>
            </a:r>
            <a:r>
              <a:rPr sz="1950" spc="425" dirty="0">
                <a:solidFill>
                  <a:srgbClr val="0000FF"/>
                </a:solidFill>
                <a:latin typeface="Arial"/>
                <a:cs typeface="Arial"/>
              </a:rPr>
              <a:t> </a:t>
            </a:r>
            <a:r>
              <a:rPr sz="1950" spc="195" dirty="0">
                <a:solidFill>
                  <a:srgbClr val="0000FF"/>
                </a:solidFill>
                <a:latin typeface="Arial"/>
                <a:cs typeface="Arial"/>
              </a:rPr>
              <a:t>Tiwari</a:t>
            </a:r>
            <a:endParaRPr sz="1950">
              <a:latin typeface="Arial"/>
              <a:cs typeface="Arial"/>
            </a:endParaRPr>
          </a:p>
          <a:p>
            <a:pPr marL="300990" marR="5080" indent="-288290">
              <a:lnSpc>
                <a:spcPct val="125000"/>
              </a:lnSpc>
              <a:spcBef>
                <a:spcPts val="1340"/>
              </a:spcBef>
              <a:buSzPct val="105128"/>
              <a:buFont typeface="Lucida Sans Unicode"/>
              <a:buChar char="•"/>
              <a:tabLst>
                <a:tab pos="301625" algn="l"/>
              </a:tabLst>
            </a:pPr>
            <a:r>
              <a:rPr sz="1950" spc="265" dirty="0">
                <a:solidFill>
                  <a:srgbClr val="231F20"/>
                </a:solidFill>
                <a:latin typeface="Arial"/>
                <a:cs typeface="Arial"/>
              </a:rPr>
              <a:t>With </a:t>
            </a:r>
            <a:r>
              <a:rPr sz="1950" spc="105" dirty="0">
                <a:solidFill>
                  <a:srgbClr val="231F20"/>
                </a:solidFill>
                <a:latin typeface="Arial"/>
                <a:cs typeface="Arial"/>
              </a:rPr>
              <a:t>valuable </a:t>
            </a:r>
            <a:r>
              <a:rPr sz="1950" spc="160" dirty="0">
                <a:solidFill>
                  <a:srgbClr val="231F20"/>
                </a:solidFill>
                <a:latin typeface="Arial"/>
                <a:cs typeface="Arial"/>
              </a:rPr>
              <a:t>contributions </a:t>
            </a:r>
            <a:r>
              <a:rPr sz="1950" spc="210" dirty="0">
                <a:solidFill>
                  <a:srgbClr val="231F20"/>
                </a:solidFill>
                <a:latin typeface="Arial"/>
                <a:cs typeface="Arial"/>
              </a:rPr>
              <a:t>from </a:t>
            </a:r>
            <a:r>
              <a:rPr sz="1950" spc="110" dirty="0">
                <a:solidFill>
                  <a:srgbClr val="231F20"/>
                </a:solidFill>
                <a:latin typeface="Arial"/>
                <a:cs typeface="Arial"/>
              </a:rPr>
              <a:t>Saddek </a:t>
            </a:r>
            <a:r>
              <a:rPr sz="1950" spc="125" dirty="0">
                <a:solidFill>
                  <a:srgbClr val="231F20"/>
                </a:solidFill>
                <a:latin typeface="Arial"/>
                <a:cs typeface="Arial"/>
              </a:rPr>
              <a:t>Bensalem, </a:t>
            </a:r>
            <a:r>
              <a:rPr sz="1950" spc="130" dirty="0">
                <a:solidFill>
                  <a:srgbClr val="231F20"/>
                </a:solidFill>
                <a:latin typeface="Arial"/>
                <a:cs typeface="Arial"/>
              </a:rPr>
              <a:t>Pavol  </a:t>
            </a:r>
            <a:r>
              <a:rPr sz="1950" spc="95" dirty="0">
                <a:solidFill>
                  <a:srgbClr val="231F20"/>
                </a:solidFill>
                <a:latin typeface="Arial"/>
                <a:cs typeface="Arial"/>
              </a:rPr>
              <a:t>Cerny, </a:t>
            </a:r>
            <a:r>
              <a:rPr sz="1950" spc="150" dirty="0">
                <a:solidFill>
                  <a:srgbClr val="231F20"/>
                </a:solidFill>
                <a:latin typeface="Arial"/>
                <a:cs typeface="Arial"/>
              </a:rPr>
              <a:t>Judy </a:t>
            </a:r>
            <a:r>
              <a:rPr sz="1950" spc="160" dirty="0">
                <a:solidFill>
                  <a:srgbClr val="231F20"/>
                </a:solidFill>
                <a:latin typeface="Arial"/>
                <a:cs typeface="Arial"/>
              </a:rPr>
              <a:t>Crow, </a:t>
            </a:r>
            <a:r>
              <a:rPr sz="1950" spc="130" dirty="0">
                <a:solidFill>
                  <a:srgbClr val="231F20"/>
                </a:solidFill>
                <a:latin typeface="Arial"/>
                <a:cs typeface="Arial"/>
              </a:rPr>
              <a:t>Jean-Christophe </a:t>
            </a:r>
            <a:r>
              <a:rPr sz="1950" spc="75" dirty="0">
                <a:solidFill>
                  <a:srgbClr val="231F20"/>
                </a:solidFill>
                <a:latin typeface="Arial"/>
                <a:cs typeface="Arial"/>
              </a:rPr>
              <a:t>Filliˆatre, </a:t>
            </a:r>
            <a:r>
              <a:rPr sz="1950" spc="135" dirty="0">
                <a:solidFill>
                  <a:srgbClr val="231F20"/>
                </a:solidFill>
                <a:latin typeface="Arial"/>
                <a:cs typeface="Arial"/>
              </a:rPr>
              <a:t>Klaus </a:t>
            </a:r>
            <a:r>
              <a:rPr sz="1950" spc="125" dirty="0">
                <a:solidFill>
                  <a:srgbClr val="231F20"/>
                </a:solidFill>
                <a:latin typeface="Arial"/>
                <a:cs typeface="Arial"/>
              </a:rPr>
              <a:t>Havelund,  </a:t>
            </a:r>
            <a:r>
              <a:rPr sz="1950" spc="135" dirty="0">
                <a:solidFill>
                  <a:srgbClr val="231F20"/>
                </a:solidFill>
                <a:latin typeface="Arial"/>
                <a:cs typeface="Arial"/>
              </a:rPr>
              <a:t>Friedrich </a:t>
            </a:r>
            <a:r>
              <a:rPr sz="1950" spc="140" dirty="0">
                <a:solidFill>
                  <a:srgbClr val="231F20"/>
                </a:solidFill>
                <a:latin typeface="Arial"/>
                <a:cs typeface="Arial"/>
              </a:rPr>
              <a:t>von </a:t>
            </a:r>
            <a:r>
              <a:rPr sz="1950" spc="105" dirty="0">
                <a:solidFill>
                  <a:srgbClr val="231F20"/>
                </a:solidFill>
                <a:latin typeface="Arial"/>
                <a:cs typeface="Arial"/>
              </a:rPr>
              <a:t>Henke, </a:t>
            </a:r>
            <a:r>
              <a:rPr sz="1950" spc="55" dirty="0">
                <a:solidFill>
                  <a:srgbClr val="231F20"/>
                </a:solidFill>
                <a:latin typeface="Arial"/>
                <a:cs typeface="Arial"/>
              </a:rPr>
              <a:t>Yassine </a:t>
            </a:r>
            <a:r>
              <a:rPr sz="1950" spc="145" dirty="0">
                <a:solidFill>
                  <a:srgbClr val="231F20"/>
                </a:solidFill>
                <a:latin typeface="Arial"/>
                <a:cs typeface="Arial"/>
              </a:rPr>
              <a:t>Lakhnech, </a:t>
            </a:r>
            <a:r>
              <a:rPr sz="1950" spc="204" dirty="0">
                <a:solidFill>
                  <a:srgbClr val="231F20"/>
                </a:solidFill>
                <a:latin typeface="Arial"/>
                <a:cs typeface="Arial"/>
              </a:rPr>
              <a:t>Pat </a:t>
            </a:r>
            <a:r>
              <a:rPr sz="1950" spc="155" dirty="0">
                <a:solidFill>
                  <a:srgbClr val="231F20"/>
                </a:solidFill>
                <a:latin typeface="Arial"/>
                <a:cs typeface="Arial"/>
              </a:rPr>
              <a:t>Lincoln, </a:t>
            </a:r>
            <a:r>
              <a:rPr sz="1950" spc="-50" dirty="0">
                <a:solidFill>
                  <a:srgbClr val="231F20"/>
                </a:solidFill>
                <a:latin typeface="Arial"/>
                <a:cs typeface="Arial"/>
              </a:rPr>
              <a:t>C´esar  </a:t>
            </a:r>
            <a:r>
              <a:rPr sz="1950" spc="60" dirty="0">
                <a:solidFill>
                  <a:srgbClr val="231F20"/>
                </a:solidFill>
                <a:latin typeface="Arial"/>
                <a:cs typeface="Arial"/>
              </a:rPr>
              <a:t>Mun˜oz, </a:t>
            </a:r>
            <a:r>
              <a:rPr sz="1950" spc="135" dirty="0">
                <a:solidFill>
                  <a:srgbClr val="231F20"/>
                </a:solidFill>
                <a:latin typeface="Arial"/>
                <a:cs typeface="Arial"/>
              </a:rPr>
              <a:t>Holger </a:t>
            </a:r>
            <a:r>
              <a:rPr sz="1950" spc="140" dirty="0">
                <a:solidFill>
                  <a:srgbClr val="231F20"/>
                </a:solidFill>
                <a:latin typeface="Arial"/>
                <a:cs typeface="Arial"/>
              </a:rPr>
              <a:t>Pfeifer, </a:t>
            </a:r>
            <a:r>
              <a:rPr sz="1950" spc="114" dirty="0">
                <a:solidFill>
                  <a:srgbClr val="231F20"/>
                </a:solidFill>
                <a:latin typeface="Arial"/>
                <a:cs typeface="Arial"/>
              </a:rPr>
              <a:t>Lee </a:t>
            </a:r>
            <a:r>
              <a:rPr sz="1950" spc="130" dirty="0">
                <a:solidFill>
                  <a:srgbClr val="231F20"/>
                </a:solidFill>
                <a:latin typeface="Arial"/>
                <a:cs typeface="Arial"/>
              </a:rPr>
              <a:t>Pike, </a:t>
            </a:r>
            <a:r>
              <a:rPr sz="1950" spc="120" dirty="0">
                <a:solidFill>
                  <a:srgbClr val="231F20"/>
                </a:solidFill>
                <a:latin typeface="Arial"/>
                <a:cs typeface="Arial"/>
              </a:rPr>
              <a:t>Harald </a:t>
            </a:r>
            <a:r>
              <a:rPr sz="1950" spc="100" dirty="0">
                <a:solidFill>
                  <a:srgbClr val="231F20"/>
                </a:solidFill>
                <a:latin typeface="Arial"/>
                <a:cs typeface="Arial"/>
              </a:rPr>
              <a:t>Rueß, </a:t>
            </a:r>
            <a:r>
              <a:rPr sz="1950" spc="160" dirty="0">
                <a:solidFill>
                  <a:srgbClr val="231F20"/>
                </a:solidFill>
                <a:latin typeface="Arial"/>
                <a:cs typeface="Arial"/>
              </a:rPr>
              <a:t>Vlad </a:t>
            </a:r>
            <a:r>
              <a:rPr sz="1950" spc="125" dirty="0">
                <a:solidFill>
                  <a:srgbClr val="231F20"/>
                </a:solidFill>
                <a:latin typeface="Arial"/>
                <a:cs typeface="Arial"/>
              </a:rPr>
              <a:t>Rusu,  </a:t>
            </a:r>
            <a:r>
              <a:rPr sz="1950" spc="65" dirty="0">
                <a:solidFill>
                  <a:srgbClr val="231F20"/>
                </a:solidFill>
                <a:latin typeface="Arial"/>
                <a:cs typeface="Arial"/>
              </a:rPr>
              <a:t>Hassen </a:t>
            </a:r>
            <a:r>
              <a:rPr sz="1950" spc="-10" dirty="0">
                <a:solidFill>
                  <a:srgbClr val="231F20"/>
                </a:solidFill>
                <a:latin typeface="Arial"/>
                <a:cs typeface="Arial"/>
              </a:rPr>
              <a:t>Sa¨ıdi,  </a:t>
            </a:r>
            <a:r>
              <a:rPr sz="1950" spc="155" dirty="0">
                <a:solidFill>
                  <a:srgbClr val="231F20"/>
                </a:solidFill>
                <a:latin typeface="Arial"/>
                <a:cs typeface="Arial"/>
              </a:rPr>
              <a:t>Eli </a:t>
            </a:r>
            <a:r>
              <a:rPr sz="1950" spc="135" dirty="0">
                <a:solidFill>
                  <a:srgbClr val="231F20"/>
                </a:solidFill>
                <a:latin typeface="Arial"/>
                <a:cs typeface="Arial"/>
              </a:rPr>
              <a:t>Singerman, </a:t>
            </a:r>
            <a:r>
              <a:rPr sz="1950" spc="155" dirty="0">
                <a:solidFill>
                  <a:srgbClr val="231F20"/>
                </a:solidFill>
                <a:latin typeface="Arial"/>
                <a:cs typeface="Arial"/>
              </a:rPr>
              <a:t>Maria </a:t>
            </a:r>
            <a:r>
              <a:rPr sz="1950" spc="95" dirty="0">
                <a:solidFill>
                  <a:srgbClr val="231F20"/>
                </a:solidFill>
                <a:latin typeface="Arial"/>
                <a:cs typeface="Arial"/>
              </a:rPr>
              <a:t>Sorea,</a:t>
            </a:r>
            <a:r>
              <a:rPr sz="1950" spc="650" dirty="0">
                <a:solidFill>
                  <a:srgbClr val="231F20"/>
                </a:solidFill>
                <a:latin typeface="Arial"/>
                <a:cs typeface="Arial"/>
              </a:rPr>
              <a:t> </a:t>
            </a:r>
            <a:r>
              <a:rPr sz="1950" spc="140" dirty="0">
                <a:solidFill>
                  <a:srgbClr val="231F20"/>
                </a:solidFill>
                <a:latin typeface="Arial"/>
                <a:cs typeface="Arial"/>
              </a:rPr>
              <a:t>Dave</a:t>
            </a:r>
            <a:endParaRPr sz="1950">
              <a:latin typeface="Arial"/>
              <a:cs typeface="Arial"/>
            </a:endParaRPr>
          </a:p>
          <a:p>
            <a:pPr marL="300990">
              <a:lnSpc>
                <a:spcPct val="100000"/>
              </a:lnSpc>
              <a:spcBef>
                <a:spcPts val="585"/>
              </a:spcBef>
            </a:pPr>
            <a:r>
              <a:rPr sz="1950" spc="150" dirty="0">
                <a:solidFill>
                  <a:srgbClr val="231F20"/>
                </a:solidFill>
                <a:latin typeface="Arial"/>
                <a:cs typeface="Arial"/>
              </a:rPr>
              <a:t>Stringer-Calvert, </a:t>
            </a:r>
            <a:r>
              <a:rPr sz="1950" spc="160" dirty="0">
                <a:solidFill>
                  <a:srgbClr val="231F20"/>
                </a:solidFill>
                <a:latin typeface="Arial"/>
                <a:cs typeface="Arial"/>
              </a:rPr>
              <a:t>Mike </a:t>
            </a:r>
            <a:r>
              <a:rPr sz="1950" spc="155" dirty="0">
                <a:solidFill>
                  <a:srgbClr val="231F20"/>
                </a:solidFill>
                <a:latin typeface="Arial"/>
                <a:cs typeface="Arial"/>
              </a:rPr>
              <a:t>Whalen, </a:t>
            </a:r>
            <a:r>
              <a:rPr sz="1950" spc="130" dirty="0">
                <a:solidFill>
                  <a:srgbClr val="231F20"/>
                </a:solidFill>
                <a:latin typeface="Arial"/>
                <a:cs typeface="Arial"/>
              </a:rPr>
              <a:t>and </a:t>
            </a:r>
            <a:r>
              <a:rPr sz="1950" spc="165" dirty="0">
                <a:solidFill>
                  <a:srgbClr val="231F20"/>
                </a:solidFill>
                <a:latin typeface="Arial"/>
                <a:cs typeface="Arial"/>
              </a:rPr>
              <a:t>many</a:t>
            </a:r>
            <a:r>
              <a:rPr sz="1950" spc="810" dirty="0">
                <a:solidFill>
                  <a:srgbClr val="231F20"/>
                </a:solidFill>
                <a:latin typeface="Arial"/>
                <a:cs typeface="Arial"/>
              </a:rPr>
              <a:t> </a:t>
            </a:r>
            <a:r>
              <a:rPr sz="1950" spc="135" dirty="0">
                <a:solidFill>
                  <a:srgbClr val="231F20"/>
                </a:solidFill>
                <a:latin typeface="Arial"/>
                <a:cs typeface="Arial"/>
              </a:rPr>
              <a:t>others</a:t>
            </a:r>
            <a:endParaRPr sz="1950">
              <a:latin typeface="Arial"/>
              <a:cs typeface="Arial"/>
            </a:endParaRPr>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896440" y="473353"/>
            <a:ext cx="7777480" cy="5944235"/>
          </a:xfrm>
          <a:prstGeom prst="rect">
            <a:avLst/>
          </a:prstGeom>
        </p:spPr>
        <p:txBody>
          <a:bodyPr vert="horz" wrap="square" lIns="0" tIns="0" rIns="0" bIns="0" rtlCol="0">
            <a:spAutoFit/>
          </a:bodyPr>
          <a:lstStyle/>
          <a:p>
            <a:pPr marL="3064510">
              <a:lnSpc>
                <a:spcPct val="100000"/>
              </a:lnSpc>
            </a:pPr>
            <a:r>
              <a:rPr sz="1950" spc="400" dirty="0">
                <a:solidFill>
                  <a:srgbClr val="231F20"/>
                </a:solidFill>
                <a:latin typeface="Arial"/>
                <a:cs typeface="Arial"/>
              </a:rPr>
              <a:t>To </a:t>
            </a:r>
            <a:r>
              <a:rPr sz="1950" spc="245" dirty="0">
                <a:solidFill>
                  <a:srgbClr val="231F20"/>
                </a:solidFill>
                <a:latin typeface="Arial"/>
                <a:cs typeface="Arial"/>
              </a:rPr>
              <a:t>Learn</a:t>
            </a:r>
            <a:r>
              <a:rPr sz="1950" spc="260" dirty="0">
                <a:solidFill>
                  <a:srgbClr val="231F20"/>
                </a:solidFill>
                <a:latin typeface="Arial"/>
                <a:cs typeface="Arial"/>
              </a:rPr>
              <a:t> </a:t>
            </a:r>
            <a:r>
              <a:rPr sz="1950" spc="305" dirty="0">
                <a:solidFill>
                  <a:srgbClr val="231F20"/>
                </a:solidFill>
                <a:latin typeface="Arial"/>
                <a:cs typeface="Arial"/>
              </a:rPr>
              <a:t>More</a:t>
            </a:r>
            <a:endParaRPr sz="1950">
              <a:latin typeface="Arial"/>
              <a:cs typeface="Arial"/>
            </a:endParaRPr>
          </a:p>
          <a:p>
            <a:pPr marL="300990" indent="-288290">
              <a:lnSpc>
                <a:spcPct val="100000"/>
              </a:lnSpc>
              <a:spcBef>
                <a:spcPts val="1620"/>
              </a:spcBef>
              <a:buSzPct val="105128"/>
              <a:buFont typeface="Lucida Sans Unicode"/>
              <a:buChar char="•"/>
              <a:tabLst>
                <a:tab pos="301625" algn="l"/>
              </a:tabLst>
            </a:pPr>
            <a:r>
              <a:rPr sz="1950" spc="130" dirty="0">
                <a:solidFill>
                  <a:srgbClr val="231F20"/>
                </a:solidFill>
                <a:latin typeface="Arial"/>
                <a:cs typeface="Arial"/>
              </a:rPr>
              <a:t>Check </a:t>
            </a:r>
            <a:r>
              <a:rPr sz="1950" spc="220" dirty="0">
                <a:solidFill>
                  <a:srgbClr val="231F20"/>
                </a:solidFill>
                <a:latin typeface="Arial"/>
                <a:cs typeface="Arial"/>
              </a:rPr>
              <a:t>out </a:t>
            </a:r>
            <a:r>
              <a:rPr sz="1950" spc="100" dirty="0">
                <a:solidFill>
                  <a:srgbClr val="231F20"/>
                </a:solidFill>
                <a:latin typeface="Arial"/>
                <a:cs typeface="Arial"/>
              </a:rPr>
              <a:t>papers </a:t>
            </a:r>
            <a:r>
              <a:rPr sz="1950" spc="130" dirty="0">
                <a:solidFill>
                  <a:srgbClr val="231F20"/>
                </a:solidFill>
                <a:latin typeface="Arial"/>
                <a:cs typeface="Arial"/>
              </a:rPr>
              <a:t>and </a:t>
            </a:r>
            <a:r>
              <a:rPr sz="1950" spc="135" dirty="0">
                <a:solidFill>
                  <a:srgbClr val="231F20"/>
                </a:solidFill>
                <a:latin typeface="Arial"/>
                <a:cs typeface="Arial"/>
              </a:rPr>
              <a:t>technical </a:t>
            </a:r>
            <a:r>
              <a:rPr sz="1950" spc="140" dirty="0">
                <a:solidFill>
                  <a:srgbClr val="231F20"/>
                </a:solidFill>
                <a:latin typeface="Arial"/>
                <a:cs typeface="Arial"/>
              </a:rPr>
              <a:t>reports </a:t>
            </a:r>
            <a:r>
              <a:rPr sz="1950" spc="280" dirty="0">
                <a:solidFill>
                  <a:srgbClr val="231F20"/>
                </a:solidFill>
                <a:latin typeface="Arial"/>
                <a:cs typeface="Arial"/>
              </a:rPr>
              <a:t> </a:t>
            </a:r>
            <a:r>
              <a:rPr sz="1950" spc="215" dirty="0">
                <a:solidFill>
                  <a:srgbClr val="231F20"/>
                </a:solidFill>
                <a:latin typeface="Arial"/>
                <a:cs typeface="Arial"/>
              </a:rPr>
              <a:t>at</a:t>
            </a:r>
            <a:endParaRPr sz="1950">
              <a:latin typeface="Arial"/>
              <a:cs typeface="Arial"/>
            </a:endParaRPr>
          </a:p>
          <a:p>
            <a:pPr marL="300990">
              <a:lnSpc>
                <a:spcPct val="100000"/>
              </a:lnSpc>
              <a:spcBef>
                <a:spcPts val="484"/>
              </a:spcBef>
            </a:pPr>
            <a:r>
              <a:rPr sz="2050" spc="55" dirty="0">
                <a:solidFill>
                  <a:srgbClr val="0000FF"/>
                </a:solidFill>
                <a:latin typeface="SimSun"/>
                <a:cs typeface="SimSun"/>
                <a:hlinkClick r:id="rId2"/>
              </a:rPr>
              <a:t>http://fm.csl.sri.com</a:t>
            </a:r>
            <a:endParaRPr sz="2050">
              <a:latin typeface="SimSun"/>
              <a:cs typeface="SimSun"/>
            </a:endParaRPr>
          </a:p>
          <a:p>
            <a:pPr marL="300990" marR="5080" indent="-288290">
              <a:lnSpc>
                <a:spcPct val="120800"/>
              </a:lnSpc>
              <a:spcBef>
                <a:spcPts val="1110"/>
              </a:spcBef>
              <a:buSzPct val="105128"/>
              <a:buFont typeface="Lucida Sans Unicode"/>
              <a:buChar char="•"/>
              <a:tabLst>
                <a:tab pos="301625" algn="l"/>
              </a:tabLst>
            </a:pPr>
            <a:r>
              <a:rPr sz="1950" spc="170" dirty="0">
                <a:solidFill>
                  <a:srgbClr val="231F20"/>
                </a:solidFill>
                <a:latin typeface="Arial"/>
                <a:cs typeface="Arial"/>
              </a:rPr>
              <a:t>Information </a:t>
            </a:r>
            <a:r>
              <a:rPr sz="1950" spc="190" dirty="0">
                <a:solidFill>
                  <a:srgbClr val="231F20"/>
                </a:solidFill>
                <a:latin typeface="Arial"/>
                <a:cs typeface="Arial"/>
              </a:rPr>
              <a:t>about PVS, </a:t>
            </a:r>
            <a:r>
              <a:rPr sz="1950" spc="130" dirty="0">
                <a:solidFill>
                  <a:srgbClr val="231F20"/>
                </a:solidFill>
                <a:latin typeface="Arial"/>
                <a:cs typeface="Arial"/>
              </a:rPr>
              <a:t>and </a:t>
            </a:r>
            <a:r>
              <a:rPr sz="1950" spc="175" dirty="0">
                <a:solidFill>
                  <a:srgbClr val="231F20"/>
                </a:solidFill>
                <a:latin typeface="Arial"/>
                <a:cs typeface="Arial"/>
              </a:rPr>
              <a:t>the </a:t>
            </a:r>
            <a:r>
              <a:rPr sz="1950" spc="120" dirty="0">
                <a:solidFill>
                  <a:srgbClr val="231F20"/>
                </a:solidFill>
                <a:latin typeface="Arial"/>
                <a:cs typeface="Arial"/>
              </a:rPr>
              <a:t>system </a:t>
            </a:r>
            <a:r>
              <a:rPr sz="1950" spc="130" dirty="0">
                <a:solidFill>
                  <a:srgbClr val="231F20"/>
                </a:solidFill>
                <a:latin typeface="Arial"/>
                <a:cs typeface="Arial"/>
              </a:rPr>
              <a:t>itself, </a:t>
            </a:r>
            <a:r>
              <a:rPr sz="1950" spc="40" dirty="0">
                <a:solidFill>
                  <a:srgbClr val="231F20"/>
                </a:solidFill>
                <a:latin typeface="Arial"/>
                <a:cs typeface="Arial"/>
              </a:rPr>
              <a:t>is </a:t>
            </a:r>
            <a:r>
              <a:rPr sz="1950" spc="95" dirty="0">
                <a:solidFill>
                  <a:srgbClr val="231F20"/>
                </a:solidFill>
                <a:latin typeface="Arial"/>
                <a:cs typeface="Arial"/>
              </a:rPr>
              <a:t>available  </a:t>
            </a:r>
            <a:r>
              <a:rPr sz="1950" spc="210" dirty="0">
                <a:solidFill>
                  <a:srgbClr val="231F20"/>
                </a:solidFill>
                <a:latin typeface="Arial"/>
                <a:cs typeface="Arial"/>
              </a:rPr>
              <a:t>from</a:t>
            </a:r>
            <a:r>
              <a:rPr sz="1950" spc="190" dirty="0">
                <a:solidFill>
                  <a:srgbClr val="231F20"/>
                </a:solidFill>
                <a:latin typeface="Arial"/>
                <a:cs typeface="Arial"/>
              </a:rPr>
              <a:t> </a:t>
            </a:r>
            <a:r>
              <a:rPr sz="2050" spc="55" dirty="0">
                <a:solidFill>
                  <a:srgbClr val="0000FF"/>
                </a:solidFill>
                <a:latin typeface="SimSun"/>
                <a:cs typeface="SimSun"/>
                <a:hlinkClick r:id="rId3"/>
              </a:rPr>
              <a:t>http://pvs.csl.sri.com</a:t>
            </a:r>
            <a:endParaRPr sz="2050">
              <a:latin typeface="SimSun"/>
              <a:cs typeface="SimSun"/>
            </a:endParaRPr>
          </a:p>
          <a:p>
            <a:pPr marL="741680" lvl="1" indent="-288290">
              <a:lnSpc>
                <a:spcPct val="100000"/>
              </a:lnSpc>
              <a:spcBef>
                <a:spcPts val="975"/>
              </a:spcBef>
              <a:buSzPct val="105128"/>
              <a:buFont typeface="Lucida Sans Unicode"/>
              <a:buChar char="◦"/>
              <a:tabLst>
                <a:tab pos="742315" algn="l"/>
              </a:tabLst>
            </a:pPr>
            <a:r>
              <a:rPr sz="1950" spc="114" dirty="0">
                <a:solidFill>
                  <a:srgbClr val="231F20"/>
                </a:solidFill>
                <a:latin typeface="Arial"/>
                <a:cs typeface="Arial"/>
              </a:rPr>
              <a:t>Version </a:t>
            </a:r>
            <a:r>
              <a:rPr sz="1950" spc="150" dirty="0">
                <a:solidFill>
                  <a:srgbClr val="231F20"/>
                </a:solidFill>
                <a:latin typeface="Arial"/>
                <a:cs typeface="Arial"/>
              </a:rPr>
              <a:t>4.0 </a:t>
            </a:r>
            <a:r>
              <a:rPr sz="1950" spc="40" dirty="0">
                <a:solidFill>
                  <a:srgbClr val="231F20"/>
                </a:solidFill>
                <a:latin typeface="Arial"/>
                <a:cs typeface="Arial"/>
              </a:rPr>
              <a:t>is </a:t>
            </a:r>
            <a:r>
              <a:rPr sz="1950" spc="135" dirty="0">
                <a:solidFill>
                  <a:srgbClr val="231F20"/>
                </a:solidFill>
                <a:latin typeface="Arial"/>
                <a:cs typeface="Arial"/>
              </a:rPr>
              <a:t>open</a:t>
            </a:r>
            <a:r>
              <a:rPr sz="1950" spc="745" dirty="0">
                <a:solidFill>
                  <a:srgbClr val="231F20"/>
                </a:solidFill>
                <a:latin typeface="Arial"/>
                <a:cs typeface="Arial"/>
              </a:rPr>
              <a:t> </a:t>
            </a:r>
            <a:r>
              <a:rPr sz="1950" spc="100" dirty="0">
                <a:solidFill>
                  <a:srgbClr val="231F20"/>
                </a:solidFill>
                <a:latin typeface="Arial"/>
                <a:cs typeface="Arial"/>
              </a:rPr>
              <a:t>source</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210" dirty="0">
                <a:solidFill>
                  <a:srgbClr val="231F20"/>
                </a:solidFill>
                <a:latin typeface="Arial"/>
                <a:cs typeface="Arial"/>
              </a:rPr>
              <a:t>Built </a:t>
            </a:r>
            <a:r>
              <a:rPr sz="1950" spc="130" dirty="0">
                <a:solidFill>
                  <a:srgbClr val="231F20"/>
                </a:solidFill>
                <a:latin typeface="Arial"/>
                <a:cs typeface="Arial"/>
              </a:rPr>
              <a:t>in </a:t>
            </a:r>
            <a:r>
              <a:rPr sz="1950" spc="145" dirty="0">
                <a:solidFill>
                  <a:srgbClr val="231F20"/>
                </a:solidFill>
                <a:latin typeface="Arial"/>
                <a:cs typeface="Arial"/>
              </a:rPr>
              <a:t>Allegro </a:t>
            </a:r>
            <a:r>
              <a:rPr sz="1950" spc="130" dirty="0">
                <a:solidFill>
                  <a:srgbClr val="231F20"/>
                </a:solidFill>
                <a:latin typeface="Arial"/>
                <a:cs typeface="Arial"/>
              </a:rPr>
              <a:t>and </a:t>
            </a:r>
            <a:r>
              <a:rPr sz="1950" spc="254" dirty="0">
                <a:solidFill>
                  <a:srgbClr val="231F20"/>
                </a:solidFill>
                <a:latin typeface="Arial"/>
                <a:cs typeface="Arial"/>
              </a:rPr>
              <a:t>CMU </a:t>
            </a:r>
            <a:r>
              <a:rPr sz="1950" spc="135" dirty="0">
                <a:solidFill>
                  <a:srgbClr val="231F20"/>
                </a:solidFill>
                <a:latin typeface="Arial"/>
                <a:cs typeface="Arial"/>
              </a:rPr>
              <a:t>Lisp </a:t>
            </a:r>
            <a:r>
              <a:rPr sz="1950" spc="155" dirty="0">
                <a:solidFill>
                  <a:srgbClr val="231F20"/>
                </a:solidFill>
                <a:latin typeface="Arial"/>
                <a:cs typeface="Arial"/>
              </a:rPr>
              <a:t>for </a:t>
            </a:r>
            <a:r>
              <a:rPr sz="1950" spc="165" dirty="0">
                <a:solidFill>
                  <a:srgbClr val="231F20"/>
                </a:solidFill>
                <a:latin typeface="Arial"/>
                <a:cs typeface="Arial"/>
              </a:rPr>
              <a:t>Linux, </a:t>
            </a:r>
            <a:r>
              <a:rPr sz="1950" spc="380" dirty="0">
                <a:solidFill>
                  <a:srgbClr val="231F20"/>
                </a:solidFill>
                <a:latin typeface="Arial"/>
                <a:cs typeface="Arial"/>
              </a:rPr>
              <a:t> </a:t>
            </a:r>
            <a:r>
              <a:rPr sz="1950" spc="200" dirty="0">
                <a:solidFill>
                  <a:srgbClr val="231F20"/>
                </a:solidFill>
                <a:latin typeface="Arial"/>
                <a:cs typeface="Arial"/>
              </a:rPr>
              <a:t>Mac</a:t>
            </a:r>
            <a:endParaRPr sz="1950">
              <a:latin typeface="Arial"/>
              <a:cs typeface="Arial"/>
            </a:endParaRPr>
          </a:p>
          <a:p>
            <a:pPr marL="300990" indent="-288290">
              <a:lnSpc>
                <a:spcPct val="100000"/>
              </a:lnSpc>
              <a:spcBef>
                <a:spcPts val="1515"/>
              </a:spcBef>
              <a:buSzPct val="105128"/>
              <a:buFont typeface="Lucida Sans Unicode"/>
              <a:buChar char="•"/>
              <a:tabLst>
                <a:tab pos="301625" algn="l"/>
                <a:tab pos="1202055" algn="l"/>
              </a:tabLst>
            </a:pPr>
            <a:r>
              <a:rPr sz="1950" spc="110" dirty="0">
                <a:solidFill>
                  <a:srgbClr val="231F20"/>
                </a:solidFill>
                <a:latin typeface="Arial"/>
                <a:cs typeface="Arial"/>
              </a:rPr>
              <a:t>Yices:	</a:t>
            </a:r>
            <a:r>
              <a:rPr sz="2050" spc="55" dirty="0">
                <a:solidFill>
                  <a:srgbClr val="0000FF"/>
                </a:solidFill>
                <a:latin typeface="SimSun"/>
                <a:cs typeface="SimSun"/>
                <a:hlinkClick r:id="rId4"/>
              </a:rPr>
              <a:t>http://yices.csl.sri.com</a:t>
            </a:r>
            <a:endParaRPr sz="2050">
              <a:latin typeface="SimSun"/>
              <a:cs typeface="SimSun"/>
            </a:endParaRPr>
          </a:p>
          <a:p>
            <a:pPr marL="741680" lvl="1" indent="-288290">
              <a:lnSpc>
                <a:spcPct val="100000"/>
              </a:lnSpc>
              <a:spcBef>
                <a:spcPts val="975"/>
              </a:spcBef>
              <a:buSzPct val="105128"/>
              <a:buFont typeface="Lucida Sans Unicode"/>
              <a:buChar char="◦"/>
              <a:tabLst>
                <a:tab pos="742315" algn="l"/>
              </a:tabLst>
            </a:pPr>
            <a:r>
              <a:rPr sz="1950" spc="114" dirty="0">
                <a:solidFill>
                  <a:srgbClr val="231F20"/>
                </a:solidFill>
                <a:latin typeface="Arial"/>
                <a:cs typeface="Arial"/>
              </a:rPr>
              <a:t>Version </a:t>
            </a:r>
            <a:r>
              <a:rPr sz="1950" spc="140" dirty="0">
                <a:solidFill>
                  <a:srgbClr val="231F20"/>
                </a:solidFill>
                <a:latin typeface="Arial"/>
                <a:cs typeface="Arial"/>
              </a:rPr>
              <a:t>2.x </a:t>
            </a:r>
            <a:r>
              <a:rPr sz="1950" spc="40" dirty="0">
                <a:solidFill>
                  <a:srgbClr val="231F20"/>
                </a:solidFill>
                <a:latin typeface="Arial"/>
                <a:cs typeface="Arial"/>
              </a:rPr>
              <a:t>is </a:t>
            </a:r>
            <a:r>
              <a:rPr sz="1950" spc="105" dirty="0">
                <a:solidFill>
                  <a:srgbClr val="231F20"/>
                </a:solidFill>
                <a:latin typeface="Arial"/>
                <a:cs typeface="Arial"/>
              </a:rPr>
              <a:t>free </a:t>
            </a:r>
            <a:r>
              <a:rPr sz="1950" spc="125" dirty="0">
                <a:solidFill>
                  <a:srgbClr val="231F20"/>
                </a:solidFill>
                <a:latin typeface="Arial"/>
                <a:cs typeface="Arial"/>
              </a:rPr>
              <a:t> </a:t>
            </a:r>
            <a:r>
              <a:rPr sz="1950" spc="120" dirty="0">
                <a:solidFill>
                  <a:srgbClr val="231F20"/>
                </a:solidFill>
                <a:latin typeface="Arial"/>
                <a:cs typeface="Arial"/>
              </a:rPr>
              <a:t>binary</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215" dirty="0">
                <a:solidFill>
                  <a:srgbClr val="231F20"/>
                </a:solidFill>
                <a:latin typeface="Arial"/>
                <a:cs typeface="Arial"/>
              </a:rPr>
              <a:t>Written </a:t>
            </a:r>
            <a:r>
              <a:rPr sz="1950" spc="130" dirty="0">
                <a:solidFill>
                  <a:srgbClr val="231F20"/>
                </a:solidFill>
                <a:latin typeface="Arial"/>
                <a:cs typeface="Arial"/>
              </a:rPr>
              <a:t>in</a:t>
            </a:r>
            <a:r>
              <a:rPr sz="1950" spc="290" dirty="0">
                <a:solidFill>
                  <a:srgbClr val="231F20"/>
                </a:solidFill>
                <a:latin typeface="Arial"/>
                <a:cs typeface="Arial"/>
              </a:rPr>
              <a:t> </a:t>
            </a:r>
            <a:r>
              <a:rPr sz="1950" spc="175" dirty="0">
                <a:solidFill>
                  <a:srgbClr val="231F20"/>
                </a:solidFill>
                <a:latin typeface="Arial"/>
                <a:cs typeface="Arial"/>
              </a:rPr>
              <a:t>C</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120" dirty="0">
                <a:solidFill>
                  <a:srgbClr val="231F20"/>
                </a:solidFill>
                <a:latin typeface="Arial"/>
                <a:cs typeface="Arial"/>
              </a:rPr>
              <a:t>Available </a:t>
            </a:r>
            <a:r>
              <a:rPr sz="1950" spc="30" dirty="0">
                <a:solidFill>
                  <a:srgbClr val="231F20"/>
                </a:solidFill>
                <a:latin typeface="Arial"/>
                <a:cs typeface="Arial"/>
              </a:rPr>
              <a:t>as </a:t>
            </a:r>
            <a:r>
              <a:rPr sz="1950" spc="85" dirty="0">
                <a:solidFill>
                  <a:srgbClr val="231F20"/>
                </a:solidFill>
                <a:latin typeface="Arial"/>
                <a:cs typeface="Arial"/>
              </a:rPr>
              <a:t>a </a:t>
            </a:r>
            <a:r>
              <a:rPr sz="1950" spc="110" dirty="0">
                <a:solidFill>
                  <a:srgbClr val="231F20"/>
                </a:solidFill>
                <a:latin typeface="Arial"/>
                <a:cs typeface="Arial"/>
              </a:rPr>
              <a:t>library </a:t>
            </a:r>
            <a:r>
              <a:rPr sz="1950" spc="155" dirty="0">
                <a:solidFill>
                  <a:srgbClr val="231F20"/>
                </a:solidFill>
                <a:latin typeface="Arial"/>
                <a:cs typeface="Arial"/>
              </a:rPr>
              <a:t>for </a:t>
            </a:r>
            <a:r>
              <a:rPr sz="1950" spc="340" dirty="0">
                <a:solidFill>
                  <a:srgbClr val="231F20"/>
                </a:solidFill>
                <a:latin typeface="Arial"/>
                <a:cs typeface="Arial"/>
              </a:rPr>
              <a:t> </a:t>
            </a:r>
            <a:r>
              <a:rPr sz="1950" spc="175" dirty="0">
                <a:solidFill>
                  <a:srgbClr val="231F20"/>
                </a:solidFill>
                <a:latin typeface="Arial"/>
                <a:cs typeface="Arial"/>
              </a:rPr>
              <a:t>C</a:t>
            </a:r>
            <a:endParaRPr sz="1950">
              <a:latin typeface="Arial"/>
              <a:cs typeface="Arial"/>
            </a:endParaRPr>
          </a:p>
          <a:p>
            <a:pPr marL="300990" indent="-288290">
              <a:lnSpc>
                <a:spcPct val="100000"/>
              </a:lnSpc>
              <a:spcBef>
                <a:spcPts val="1520"/>
              </a:spcBef>
              <a:buSzPct val="105128"/>
              <a:buFont typeface="Lucida Sans Unicode"/>
              <a:buChar char="•"/>
              <a:tabLst>
                <a:tab pos="301625" algn="l"/>
              </a:tabLst>
            </a:pPr>
            <a:r>
              <a:rPr sz="1950" spc="204" dirty="0">
                <a:solidFill>
                  <a:srgbClr val="231F20"/>
                </a:solidFill>
                <a:latin typeface="Arial"/>
                <a:cs typeface="Arial"/>
              </a:rPr>
              <a:t>SAL:</a:t>
            </a:r>
            <a:r>
              <a:rPr sz="1950" spc="190" dirty="0">
                <a:solidFill>
                  <a:srgbClr val="231F20"/>
                </a:solidFill>
                <a:latin typeface="Arial"/>
                <a:cs typeface="Arial"/>
              </a:rPr>
              <a:t> </a:t>
            </a:r>
            <a:r>
              <a:rPr sz="2050" spc="55" dirty="0">
                <a:solidFill>
                  <a:srgbClr val="0000FF"/>
                </a:solidFill>
                <a:latin typeface="SimSun"/>
                <a:cs typeface="SimSun"/>
                <a:hlinkClick r:id="rId5"/>
              </a:rPr>
              <a:t>http://sal.csl.sri.com</a:t>
            </a:r>
            <a:endParaRPr sz="2050">
              <a:latin typeface="SimSun"/>
              <a:cs typeface="SimSun"/>
            </a:endParaRPr>
          </a:p>
          <a:p>
            <a:pPr marL="741680" lvl="1" indent="-288290">
              <a:lnSpc>
                <a:spcPct val="100000"/>
              </a:lnSpc>
              <a:spcBef>
                <a:spcPts val="975"/>
              </a:spcBef>
              <a:buSzPct val="105128"/>
              <a:buFont typeface="Lucida Sans Unicode"/>
              <a:buChar char="◦"/>
              <a:tabLst>
                <a:tab pos="742315" algn="l"/>
              </a:tabLst>
            </a:pPr>
            <a:r>
              <a:rPr sz="1950" spc="114" dirty="0">
                <a:solidFill>
                  <a:srgbClr val="231F20"/>
                </a:solidFill>
                <a:latin typeface="Arial"/>
                <a:cs typeface="Arial"/>
              </a:rPr>
              <a:t>Version </a:t>
            </a:r>
            <a:r>
              <a:rPr sz="1950" spc="150" dirty="0">
                <a:solidFill>
                  <a:srgbClr val="231F20"/>
                </a:solidFill>
                <a:latin typeface="Arial"/>
                <a:cs typeface="Arial"/>
              </a:rPr>
              <a:t>2.4 </a:t>
            </a:r>
            <a:r>
              <a:rPr sz="1950" spc="40" dirty="0">
                <a:solidFill>
                  <a:srgbClr val="231F20"/>
                </a:solidFill>
                <a:latin typeface="Arial"/>
                <a:cs typeface="Arial"/>
              </a:rPr>
              <a:t>is </a:t>
            </a:r>
            <a:r>
              <a:rPr sz="1950" spc="135" dirty="0">
                <a:solidFill>
                  <a:srgbClr val="231F20"/>
                </a:solidFill>
                <a:latin typeface="Arial"/>
                <a:cs typeface="Arial"/>
              </a:rPr>
              <a:t>open</a:t>
            </a:r>
            <a:r>
              <a:rPr sz="1950" spc="745" dirty="0">
                <a:solidFill>
                  <a:srgbClr val="231F20"/>
                </a:solidFill>
                <a:latin typeface="Arial"/>
                <a:cs typeface="Arial"/>
              </a:rPr>
              <a:t> </a:t>
            </a:r>
            <a:r>
              <a:rPr sz="1950" spc="100" dirty="0">
                <a:solidFill>
                  <a:srgbClr val="231F20"/>
                </a:solidFill>
                <a:latin typeface="Arial"/>
                <a:cs typeface="Arial"/>
              </a:rPr>
              <a:t>source</a:t>
            </a:r>
            <a:endParaRPr sz="1950">
              <a:latin typeface="Arial"/>
              <a:cs typeface="Arial"/>
            </a:endParaRPr>
          </a:p>
          <a:p>
            <a:pPr marL="741680" lvl="1" indent="-288290">
              <a:lnSpc>
                <a:spcPct val="100000"/>
              </a:lnSpc>
              <a:spcBef>
                <a:spcPts val="790"/>
              </a:spcBef>
              <a:buSzPct val="105128"/>
              <a:buFont typeface="Lucida Sans Unicode"/>
              <a:buChar char="◦"/>
              <a:tabLst>
                <a:tab pos="742315" algn="l"/>
              </a:tabLst>
            </a:pPr>
            <a:r>
              <a:rPr sz="1950" spc="215" dirty="0">
                <a:solidFill>
                  <a:srgbClr val="231F20"/>
                </a:solidFill>
                <a:latin typeface="Arial"/>
                <a:cs typeface="Arial"/>
              </a:rPr>
              <a:t>Written </a:t>
            </a:r>
            <a:r>
              <a:rPr sz="1950" spc="130" dirty="0">
                <a:solidFill>
                  <a:srgbClr val="231F20"/>
                </a:solidFill>
                <a:latin typeface="Arial"/>
                <a:cs typeface="Arial"/>
              </a:rPr>
              <a:t>in </a:t>
            </a:r>
            <a:r>
              <a:rPr sz="1950" spc="114" dirty="0">
                <a:solidFill>
                  <a:srgbClr val="231F20"/>
                </a:solidFill>
                <a:latin typeface="Arial"/>
                <a:cs typeface="Arial"/>
              </a:rPr>
              <a:t>Scheme,</a:t>
            </a:r>
            <a:r>
              <a:rPr sz="1950" spc="475" dirty="0">
                <a:solidFill>
                  <a:srgbClr val="231F20"/>
                </a:solidFill>
                <a:latin typeface="Arial"/>
                <a:cs typeface="Arial"/>
              </a:rPr>
              <a:t> </a:t>
            </a:r>
            <a:r>
              <a:rPr sz="1950" spc="580" dirty="0">
                <a:solidFill>
                  <a:srgbClr val="231F20"/>
                </a:solidFill>
                <a:latin typeface="Arial"/>
                <a:cs typeface="Arial"/>
              </a:rPr>
              <a:t>C++</a:t>
            </a:r>
            <a:endParaRPr sz="1950">
              <a:latin typeface="Arial"/>
              <a:cs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6</TotalTime>
  <Words>11663</Words>
  <Application>Microsoft Macintosh PowerPoint</Application>
  <PresentationFormat>Custom</PresentationFormat>
  <Paragraphs>1856</Paragraphs>
  <Slides>161</Slides>
  <Notes>0</Notes>
  <HiddenSlides>0</HiddenSlides>
  <MMClips>0</MMClips>
  <ScaleCrop>false</ScaleCrop>
  <HeadingPairs>
    <vt:vector size="4" baseType="variant">
      <vt:variant>
        <vt:lpstr>Theme</vt:lpstr>
      </vt:variant>
      <vt:variant>
        <vt:i4>1</vt:i4>
      </vt:variant>
      <vt:variant>
        <vt:lpstr>Slide Titles</vt:lpstr>
      </vt:variant>
      <vt:variant>
        <vt:i4>161</vt:i4>
      </vt:variant>
    </vt:vector>
  </HeadingPairs>
  <TitlesOfParts>
    <vt:vector size="16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Works for n ≥ 1 processes</vt:lpstr>
      <vt:lpstr>PowerPoint Presentation</vt:lpstr>
      <vt:lpstr>PowerPoint Presentation</vt:lpstr>
      <vt:lpstr>Also, although the protocol is suitable for n processes, we  may prefer to focus on the important special case n =  2</vt:lpstr>
      <vt:lpstr>PowerPoint Presentation</vt:lpstr>
      <vt:lpstr>bakery : CONTEXT =  BEGIN phase : TYPE = {idle, trying, critical};  ticket: TYPE = NATURAL;</vt:lpstr>
      <vt:lpstr>TRANSITION  [ try: pc = idle --&gt;</vt:lpstr>
      <vt:lpstr>P1 : MODULE = RENAME pc TO pc1 IN process;</vt:lpstr>
      <vt:lpstr>PowerPoint Presentation</vt:lpstr>
      <vt:lpstr>PowerPoint Presentation</vt:lpstr>
      <vt:lpstr>We’ll use sal-esmc</vt:lpstr>
      <vt:lpstr>PowerPoint Presentation</vt:lpstr>
      <vt:lpstr>PowerPoint Presentation</vt:lpstr>
      <vt:lpstr>bakery : CONTEXT =  BEGIN</vt:lpstr>
      <vt:lpstr>TRANSITION  [ try: pc = idle AND other_t &lt; max --&gt;  my_t’ = other_t + 1;</vt:lpstr>
      <vt:lpstr>P1 : MODULE = RENAME pc TO pc1 IN process;</vt:lpstr>
      <vt:lpstr>For max = 800, sal-esmc reports</vt:lpstr>
      <vt:lpstr>PowerPoint Presentation</vt:lpstr>
      <vt:lpstr>PowerPoint Presentation</vt:lpstr>
      <vt:lpstr>PowerPoint Presentation</vt:lpstr>
      <vt:lpstr>PowerPoint Presentation</vt:lpstr>
      <vt:lpstr>We’ll use sal-smc, uses CUDD for its BDD  operations</vt:lpstr>
      <vt:lpstr>PowerPoint Presentation</vt:lpstr>
      <vt:lpstr>PowerPoint Presentation</vt:lpstr>
      <vt:lpstr>PowerPoint Presentation</vt:lpstr>
      <vt:lpstr>PowerPoint Presentation</vt:lpstr>
      <vt:lpstr>G(F(expr)): expr is true infinitely often</vt:lpstr>
      <vt:lpstr>PowerPoint Presentation</vt:lpstr>
      <vt:lpstr>Using a different example, sal-smc -v 3 om1 validity</vt:lpstr>
      <vt:lpstr>Given system specified by initiality predicate I and transition  relation  T on states S</vt:lpstr>
      <vt:lpstr>We’ll use sal-bmc, Yices as its SAT solver (can use many  others); the depth k defaults to 10</vt:lpstr>
      <vt:lpstr>We should require that s0, . . . , sk a are distinct</vt:lpstr>
      <vt:lpstr>Ordinary inductive invariance (for P ):</vt:lpstr>
      <vt:lpstr>k-Induction is Powerful</vt:lpstr>
      <vt:lpstr>Verification by k-Induction</vt:lpstr>
      <vt:lpstr>PowerPoint Presentation</vt:lpstr>
      <vt:lpstr>PowerPoint Presentation</vt:lpstr>
      <vt:lpstr>PowerPoint Presentation</vt:lpstr>
      <vt:lpstr>We’ll use sal-inf-bmc</vt:lpstr>
      <vt:lpstr>PowerPoint Presentation</vt:lpstr>
      <vt:lpstr>P1_transition(pre, post): bool =  IF pre‘pc1 = idle THEN post = pre WITH [(t1) := pre‘t2 + 1, (pc1) := trying]  ELSIF pre‘pc1 = trying AND (pre‘t2 = 0 OR pre‘t1 &lt; pre‘t2)</vt:lpstr>
      <vt:lpstr>init(s): bool = s‘pc1 = idle AND s‘pc2 = idle AND s‘t1 = 0 AND s‘t2 = 0</vt:lpstr>
      <vt:lpstr>PowerPoint Presentation</vt:lpstr>
      <vt:lpstr>This completes the proof of first_try.1.  first_try.2 : |-------</vt:lpstr>
      <vt:lpstr>The first one is discharged by (GRIND), but the second is not  and we are presented with the  sequent first_try.2.1.2 :</vt:lpstr>
      <vt:lpstr>This is a contradiction because Process 2 must have  incremented its ticket (making it nonzero) when it entered  its trying phase</vt:lpstr>
      <vt:lpstr>PowerPoint Presentation</vt:lpstr>
      <vt:lpstr>PowerPoint Presentation</vt:lpstr>
      <vt:lpstr>PowerPoint Presentation</vt:lpstr>
      <vt:lpstr>To establish an invariant or safety property S (one true of all  reachable states) by theorem proving, we invent another  property  P that implies S and that is inductive  (on transition  relation T , with initial states 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Want an abstracted state type abstract state</vt:lpstr>
      <vt:lpstr>PowerPoint Presentation</vt:lpstr>
      <vt:lpstr>PowerPoint Presentation</vt:lpstr>
      <vt:lpstr>a_P1_transition(a_pre, a_post): bool =  IF a_pre‘pc1 = idle THEN a_post = a_pre WITH [(t1_is_0) := false,</vt:lpstr>
      <vt:lpstr>a_P2_transition(a_pre, a_post): bool =  IF a_pre‘pc2 = idle THEN a_post = a_pre WITH [(t2_is_0) := false,</vt:lpstr>
      <vt:lpstr>The conditions init simulation and safety preserved are  proved by (GRIND)</vt:lpstr>
      <vt:lpstr>The problem here is that when the two tickets are equal but  nonzero, the concrete protocol drops through to the ELSE  case and requires the pre and post states to be the   same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auto_abstract: THEOREM init(s) IMPLIES AG(transitions, safe)(s)</vt:lpstr>
      <vt:lpstr>PowerPoint Presentation</vt:lpstr>
      <vt:lpstr>Replace concrete variable x over datatype C by an abstract  variable x′  over datatype A through a mapping h :  [C→A]</vt:lpstr>
      <vt:lpstr>Replace natural numbers by {0, 1, many}  Calculate behavior of subtraction on {0, 1,  many}</vt:lpstr>
      <vt:lpstr>Simulink model</vt:lpstr>
      <vt:lpstr>Simulink model</vt:lpstr>
      <vt:lpstr>Nondeterministic environment</vt:lpstr>
      <vt:lpstr>Simulink model</vt:lpstr>
      <vt:lpstr>discrete  approximation</vt:lpstr>
      <vt:lpstr>PowerPoint Presentation</vt:lpstr>
      <vt:lpstr>Larger choices of j give successively finer  abstractions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Reward (assurance)</vt:lpstr>
      <vt:lpstr>PowerPoint Presentation</vt:lpstr>
      <vt:lpstr>PowerPoint Presentation</vt:lpstr>
      <vt:lpstr>PowerPoint Presentation</vt:lpstr>
      <vt:lpstr>Real time clock sets days to number of days since 1 Jan  1980</vt:lpstr>
      <vt:lpstr>while (days &gt; 365) { if (IsLeapYear(year)) {</vt:lpstr>
      <vt:lpstr>PowerPoint Presentation</vt:lpstr>
      <vt:lpstr>[days &gt; 0] while (days &gt; 365) {</vt:lpstr>
      <vt:lpstr>PowerPoint Presentation</vt:lpstr>
      <vt:lpstr>PowerPoint Presentation</vt:lpstr>
      <vt:lpstr>[days = small | big] while (days =  big) { [days = big]  if (*)) {</vt:lpstr>
      <vt:lpstr>Suppose we abstracted to {negative, zero,  positive}</vt:lpstr>
      <vt:lpstr>PowerPoint Presentation</vt:lpstr>
      <vt:lpstr>approximation</vt:lpstr>
      <vt:lpstr>approximation</vt:lpstr>
      <vt:lpstr>underapproximation</vt:lpstr>
      <vt:lpstr>PowerPoint Presentation</vt:lpstr>
      <vt:lpstr>start with r unlocked  do { lock(r)  old = new  if (*) {</vt:lpstr>
      <vt:lpstr>The significant relationship seems to be old == new</vt:lpstr>
      <vt:lpstr>z := n; x := 0; y := 0; while (z &gt; 0)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Untitled</dc:title>
  <cp:lastModifiedBy>Yinzhi Cao</cp:lastModifiedBy>
  <cp:revision>2</cp:revision>
  <dcterms:created xsi:type="dcterms:W3CDTF">2015-12-01T18:22:52Z</dcterms:created>
  <dcterms:modified xsi:type="dcterms:W3CDTF">2015-12-01T17:29:57Z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2009-11-22T00:00:00Z</vt:filetime>
  </property>
  <property fmtid="{D5CDD505-2E9C-101B-9397-08002B2CF9AE}" pid="3" name="Creator">
    <vt:lpwstr>UnknownApplication</vt:lpwstr>
  </property>
  <property fmtid="{D5CDD505-2E9C-101B-9397-08002B2CF9AE}" pid="4" name="LastSaved">
    <vt:filetime>2015-12-01T00:00:00Z</vt:filetime>
  </property>
</Properties>
</file>