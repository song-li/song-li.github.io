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</p:sldMasterIdLst>
  <p:notesMasterIdLst>
    <p:notesMasterId r:id="rId62"/>
  </p:notesMasterIdLst>
  <p:handoutMasterIdLst>
    <p:handoutMasterId r:id="rId63"/>
  </p:handoutMasterIdLst>
  <p:sldIdLst>
    <p:sldId id="560" r:id="rId2"/>
    <p:sldId id="561" r:id="rId3"/>
    <p:sldId id="562" r:id="rId4"/>
    <p:sldId id="563" r:id="rId5"/>
    <p:sldId id="564" r:id="rId6"/>
    <p:sldId id="565" r:id="rId7"/>
    <p:sldId id="566" r:id="rId8"/>
    <p:sldId id="567" r:id="rId9"/>
    <p:sldId id="568" r:id="rId10"/>
    <p:sldId id="569" r:id="rId11"/>
    <p:sldId id="570" r:id="rId12"/>
    <p:sldId id="571" r:id="rId13"/>
    <p:sldId id="572" r:id="rId14"/>
    <p:sldId id="573" r:id="rId15"/>
    <p:sldId id="574" r:id="rId16"/>
    <p:sldId id="575" r:id="rId17"/>
    <p:sldId id="576" r:id="rId18"/>
    <p:sldId id="577" r:id="rId19"/>
    <p:sldId id="578" r:id="rId20"/>
    <p:sldId id="579" r:id="rId21"/>
    <p:sldId id="580" r:id="rId22"/>
    <p:sldId id="581" r:id="rId23"/>
    <p:sldId id="582" r:id="rId24"/>
    <p:sldId id="583" r:id="rId25"/>
    <p:sldId id="584" r:id="rId26"/>
    <p:sldId id="585" r:id="rId27"/>
    <p:sldId id="586" r:id="rId28"/>
    <p:sldId id="587" r:id="rId29"/>
    <p:sldId id="588" r:id="rId30"/>
    <p:sldId id="589" r:id="rId31"/>
    <p:sldId id="590" r:id="rId32"/>
    <p:sldId id="591" r:id="rId33"/>
    <p:sldId id="592" r:id="rId34"/>
    <p:sldId id="593" r:id="rId35"/>
    <p:sldId id="594" r:id="rId36"/>
    <p:sldId id="595" r:id="rId37"/>
    <p:sldId id="596" r:id="rId38"/>
    <p:sldId id="597" r:id="rId39"/>
    <p:sldId id="598" r:id="rId40"/>
    <p:sldId id="599" r:id="rId41"/>
    <p:sldId id="600" r:id="rId42"/>
    <p:sldId id="601" r:id="rId43"/>
    <p:sldId id="602" r:id="rId44"/>
    <p:sldId id="603" r:id="rId45"/>
    <p:sldId id="604" r:id="rId46"/>
    <p:sldId id="605" r:id="rId47"/>
    <p:sldId id="606" r:id="rId48"/>
    <p:sldId id="607" r:id="rId49"/>
    <p:sldId id="608" r:id="rId50"/>
    <p:sldId id="609" r:id="rId51"/>
    <p:sldId id="610" r:id="rId52"/>
    <p:sldId id="611" r:id="rId53"/>
    <p:sldId id="612" r:id="rId54"/>
    <p:sldId id="613" r:id="rId55"/>
    <p:sldId id="614" r:id="rId56"/>
    <p:sldId id="615" r:id="rId57"/>
    <p:sldId id="616" r:id="rId58"/>
    <p:sldId id="617" r:id="rId59"/>
    <p:sldId id="618" r:id="rId60"/>
    <p:sldId id="619" r:id="rId61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9900"/>
    <a:srgbClr val="CC3300"/>
    <a:srgbClr val="9999FF"/>
    <a:srgbClr val="808080"/>
    <a:srgbClr val="869406"/>
    <a:srgbClr val="666699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647" autoAdjust="0"/>
    <p:restoredTop sz="94592" autoAdjust="0"/>
  </p:normalViewPr>
  <p:slideViewPr>
    <p:cSldViewPr snapToObjects="1">
      <p:cViewPr>
        <p:scale>
          <a:sx n="140" d="100"/>
          <a:sy n="140" d="100"/>
        </p:scale>
        <p:origin x="-2328" y="-872"/>
      </p:cViewPr>
      <p:guideLst>
        <p:guide orient="horz" pos="216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1186"/>
    </p:cViewPr>
  </p:sorterViewPr>
  <p:notesViewPr>
    <p:cSldViewPr snapToObjects="1">
      <p:cViewPr varScale="1">
        <p:scale>
          <a:sx n="87" d="100"/>
          <a:sy n="87" d="100"/>
        </p:scale>
        <p:origin x="-1914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handoutMaster" Target="handoutMasters/handoutMaster1.xml"/><Relationship Id="rId64" Type="http://schemas.openxmlformats.org/officeDocument/2006/relationships/printerSettings" Target="printerSettings/printerSettings1.bin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>
            <a:lvl1pPr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655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>
            <a:lvl1pPr algn="r"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b" anchorCtr="0" compatLnSpc="1">
            <a:prstTxWarp prst="textNoShape">
              <a:avLst/>
            </a:prstTxWarp>
          </a:bodyPr>
          <a:lstStyle>
            <a:lvl1pPr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655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b" anchorCtr="0" compatLnSpc="1">
            <a:prstTxWarp prst="textNoShape">
              <a:avLst/>
            </a:prstTxWarp>
          </a:bodyPr>
          <a:lstStyle>
            <a:lvl1pPr algn="r"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C8D74864-EB05-49AA-BA59-F6F5B3173B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9883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>
            <a:lvl1pPr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6550" y="0"/>
            <a:ext cx="316865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>
            <a:lvl1pPr algn="r"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60475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59300"/>
            <a:ext cx="5362575" cy="432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b" anchorCtr="0" compatLnSpc="1">
            <a:prstTxWarp prst="textNoShape">
              <a:avLst/>
            </a:prstTxWarp>
          </a:bodyPr>
          <a:lstStyle>
            <a:lvl1pPr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6550" y="9120188"/>
            <a:ext cx="316865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31" tIns="48316" rIns="96631" bIns="48316" numCol="1" anchor="b" anchorCtr="0" compatLnSpc="1">
            <a:prstTxWarp prst="textNoShape">
              <a:avLst/>
            </a:prstTxWarp>
          </a:bodyPr>
          <a:lstStyle>
            <a:lvl1pPr algn="r" defTabSz="966621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B35E1360-550A-4529-B4D2-5DC013EF65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5366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D6BDF5A9-3807-2440-ACE7-E01848CE6179}" type="slidenum">
              <a:rPr lang="en-US">
                <a:latin typeface="Helvetica" charset="0"/>
              </a:rPr>
              <a:pPr/>
              <a:t>2</a:t>
            </a:fld>
            <a:endParaRPr lang="en-US">
              <a:latin typeface="Helvetica" charset="0"/>
            </a:endParaRPr>
          </a:p>
        </p:txBody>
      </p:sp>
      <p:sp>
        <p:nvSpPr>
          <p:cNvPr id="7168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6B152FDD-9782-A443-8C2C-1791B86069C8}" type="slidenum">
              <a:rPr lang="en-US">
                <a:latin typeface="Helvetica" charset="0"/>
              </a:rPr>
              <a:pPr/>
              <a:t>3</a:t>
            </a:fld>
            <a:endParaRPr lang="en-US">
              <a:latin typeface="Helvetica" charset="0"/>
            </a:endParaRPr>
          </a:p>
        </p:txBody>
      </p:sp>
      <p:sp>
        <p:nvSpPr>
          <p:cNvPr id="7270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36423153-D2BB-DF4B-84FE-01084D4E67CB}" type="slidenum">
              <a:rPr lang="en-US">
                <a:latin typeface="Helvetica" charset="0"/>
              </a:rPr>
              <a:pPr/>
              <a:t>4</a:t>
            </a:fld>
            <a:endParaRPr lang="en-US">
              <a:latin typeface="Helvetica" charset="0"/>
            </a:endParaRPr>
          </a:p>
        </p:txBody>
      </p:sp>
      <p:sp>
        <p:nvSpPr>
          <p:cNvPr id="7373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FCB1B721-C844-9B4F-81F2-709476A2C19B}" type="slidenum">
              <a:rPr lang="en-US">
                <a:latin typeface="Helvetica" charset="0"/>
              </a:rPr>
              <a:pPr/>
              <a:t>5</a:t>
            </a:fld>
            <a:endParaRPr lang="en-US">
              <a:latin typeface="Helvetica" charset="0"/>
            </a:endParaRPr>
          </a:p>
        </p:txBody>
      </p:sp>
      <p:sp>
        <p:nvSpPr>
          <p:cNvPr id="7475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803C3953-79A7-0B44-A820-CDEEF473EAFE}" type="slidenum">
              <a:rPr lang="en-US">
                <a:latin typeface="Helvetica" charset="0"/>
              </a:rPr>
              <a:pPr/>
              <a:t>6</a:t>
            </a:fld>
            <a:endParaRPr lang="en-US">
              <a:latin typeface="Helvetica" charset="0"/>
            </a:endParaRPr>
          </a:p>
        </p:txBody>
      </p:sp>
      <p:sp>
        <p:nvSpPr>
          <p:cNvPr id="7577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FA7324E7-C565-E44B-B70C-F64AAB13BF72}" type="slidenum">
              <a:rPr lang="en-US">
                <a:latin typeface="Helvetica" charset="0"/>
              </a:rPr>
              <a:pPr/>
              <a:t>7</a:t>
            </a:fld>
            <a:endParaRPr lang="en-US">
              <a:latin typeface="Helvetica" charset="0"/>
            </a:endParaRPr>
          </a:p>
        </p:txBody>
      </p:sp>
      <p:sp>
        <p:nvSpPr>
          <p:cNvPr id="7680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1B10F73A-7618-0247-86C1-552E7D425667}" type="slidenum">
              <a:rPr lang="en-US">
                <a:latin typeface="Helvetica" charset="0"/>
              </a:rPr>
              <a:pPr/>
              <a:t>8</a:t>
            </a:fld>
            <a:endParaRPr lang="en-US">
              <a:latin typeface="Helvetica" charset="0"/>
            </a:endParaRPr>
          </a:p>
        </p:txBody>
      </p:sp>
      <p:sp>
        <p:nvSpPr>
          <p:cNvPr id="7782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BABAD27C-2EA8-024D-A9AC-88F6DD44814E}" type="slidenum">
              <a:rPr lang="en-US">
                <a:latin typeface="Helvetica" charset="0"/>
              </a:rPr>
              <a:pPr/>
              <a:t>9</a:t>
            </a:fld>
            <a:endParaRPr lang="en-US">
              <a:latin typeface="Helvetica" charset="0"/>
            </a:endParaRPr>
          </a:p>
        </p:txBody>
      </p:sp>
      <p:sp>
        <p:nvSpPr>
          <p:cNvPr id="7885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61559DF6-6D2F-CB44-B599-8F4301DAD6B5}" type="slidenum">
              <a:rPr lang="en-US">
                <a:latin typeface="Helvetica" charset="0"/>
              </a:rPr>
              <a:pPr/>
              <a:t>10</a:t>
            </a:fld>
            <a:endParaRPr lang="en-US">
              <a:latin typeface="Helvetica" charset="0"/>
            </a:endParaRPr>
          </a:p>
        </p:txBody>
      </p:sp>
      <p:sp>
        <p:nvSpPr>
          <p:cNvPr id="7987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C725ACFD-AC30-E145-B333-FB62975C1184}" type="slidenum">
              <a:rPr lang="en-US">
                <a:latin typeface="Helvetica" charset="0"/>
              </a:rPr>
              <a:pPr/>
              <a:t>11</a:t>
            </a:fld>
            <a:endParaRPr lang="en-US">
              <a:latin typeface="Helvetica" charset="0"/>
            </a:endParaRPr>
          </a:p>
        </p:txBody>
      </p:sp>
      <p:sp>
        <p:nvSpPr>
          <p:cNvPr id="8089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2E45EEFC-CAF8-0943-9204-39B85C6BD654}" type="slidenum">
              <a:rPr lang="en-US">
                <a:latin typeface="Helvetica" charset="0"/>
              </a:rPr>
              <a:pPr/>
              <a:t>12</a:t>
            </a:fld>
            <a:endParaRPr lang="en-US">
              <a:latin typeface="Helvetica" charset="0"/>
            </a:endParaRPr>
          </a:p>
        </p:txBody>
      </p:sp>
      <p:sp>
        <p:nvSpPr>
          <p:cNvPr id="8192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5117FE22-B6D8-0E4E-8AC0-8A6989E5BDF3}" type="slidenum">
              <a:rPr lang="en-US">
                <a:latin typeface="Helvetica" charset="0"/>
              </a:rPr>
              <a:pPr/>
              <a:t>13</a:t>
            </a:fld>
            <a:endParaRPr lang="en-US">
              <a:latin typeface="Helvetica" charset="0"/>
            </a:endParaRPr>
          </a:p>
        </p:txBody>
      </p:sp>
      <p:sp>
        <p:nvSpPr>
          <p:cNvPr id="8294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890FAF3D-5E11-DF4E-B1DA-14650802687B}" type="slidenum">
              <a:rPr lang="en-US">
                <a:latin typeface="Helvetica" charset="0"/>
              </a:rPr>
              <a:pPr/>
              <a:t>14</a:t>
            </a:fld>
            <a:endParaRPr lang="en-US">
              <a:latin typeface="Helvetica" charset="0"/>
            </a:endParaRPr>
          </a:p>
        </p:txBody>
      </p:sp>
      <p:sp>
        <p:nvSpPr>
          <p:cNvPr id="8397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E637C2BC-AD76-3D46-A88A-44744156020E}" type="slidenum">
              <a:rPr lang="en-US">
                <a:latin typeface="Helvetica" charset="0"/>
              </a:rPr>
              <a:pPr/>
              <a:t>15</a:t>
            </a:fld>
            <a:endParaRPr lang="en-US">
              <a:latin typeface="Helvetica" charset="0"/>
            </a:endParaRPr>
          </a:p>
        </p:txBody>
      </p:sp>
      <p:sp>
        <p:nvSpPr>
          <p:cNvPr id="8499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0F8F9494-4DCA-2D42-81E4-7B6DC33848D2}" type="slidenum">
              <a:rPr lang="en-US">
                <a:latin typeface="Helvetica" charset="0"/>
              </a:rPr>
              <a:pPr/>
              <a:t>16</a:t>
            </a:fld>
            <a:endParaRPr lang="en-US">
              <a:latin typeface="Helvetica" charset="0"/>
            </a:endParaRPr>
          </a:p>
        </p:txBody>
      </p:sp>
      <p:sp>
        <p:nvSpPr>
          <p:cNvPr id="8601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6A8BED37-5134-8C48-A095-EDFD9FD6A5B0}" type="slidenum">
              <a:rPr lang="en-US">
                <a:latin typeface="Helvetica" charset="0"/>
              </a:rPr>
              <a:pPr/>
              <a:t>17</a:t>
            </a:fld>
            <a:endParaRPr lang="en-US">
              <a:latin typeface="Helvetica" charset="0"/>
            </a:endParaRPr>
          </a:p>
        </p:txBody>
      </p:sp>
      <p:sp>
        <p:nvSpPr>
          <p:cNvPr id="8704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6FE697B4-3355-2D4B-82A9-E4899FBB9B3E}" type="slidenum">
              <a:rPr lang="en-US">
                <a:latin typeface="Helvetica" charset="0"/>
              </a:rPr>
              <a:pPr/>
              <a:t>18</a:t>
            </a:fld>
            <a:endParaRPr lang="en-US">
              <a:latin typeface="Helvetica" charset="0"/>
            </a:endParaRPr>
          </a:p>
        </p:txBody>
      </p:sp>
      <p:sp>
        <p:nvSpPr>
          <p:cNvPr id="8806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F8E87A35-545C-2445-87DB-C4249D52E3E7}" type="slidenum">
              <a:rPr lang="en-US">
                <a:latin typeface="Helvetica" charset="0"/>
              </a:rPr>
              <a:pPr/>
              <a:t>19</a:t>
            </a:fld>
            <a:endParaRPr lang="en-US">
              <a:latin typeface="Helvetica" charset="0"/>
            </a:endParaRPr>
          </a:p>
        </p:txBody>
      </p:sp>
      <p:sp>
        <p:nvSpPr>
          <p:cNvPr id="8909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2599BAB0-C586-A247-8A51-0271F7131DE6}" type="slidenum">
              <a:rPr lang="en-US">
                <a:latin typeface="Helvetica" charset="0"/>
              </a:rPr>
              <a:pPr/>
              <a:t>20</a:t>
            </a:fld>
            <a:endParaRPr lang="en-US">
              <a:latin typeface="Helvetica" charset="0"/>
            </a:endParaRPr>
          </a:p>
        </p:txBody>
      </p:sp>
      <p:sp>
        <p:nvSpPr>
          <p:cNvPr id="9011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0C8524EA-4935-1146-8B76-8239276B13DB}" type="slidenum">
              <a:rPr lang="en-US">
                <a:latin typeface="Helvetica" charset="0"/>
              </a:rPr>
              <a:pPr/>
              <a:t>21</a:t>
            </a:fld>
            <a:endParaRPr lang="en-US">
              <a:latin typeface="Helvetica" charset="0"/>
            </a:endParaRPr>
          </a:p>
        </p:txBody>
      </p:sp>
      <p:sp>
        <p:nvSpPr>
          <p:cNvPr id="9113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3114AFD4-E346-0347-BAE5-E641705FF1DD}" type="slidenum">
              <a:rPr lang="en-US">
                <a:latin typeface="Helvetica" charset="0"/>
              </a:rPr>
              <a:pPr/>
              <a:t>22</a:t>
            </a:fld>
            <a:endParaRPr lang="en-US">
              <a:latin typeface="Helvetica" charset="0"/>
            </a:endParaRPr>
          </a:p>
        </p:txBody>
      </p:sp>
      <p:sp>
        <p:nvSpPr>
          <p:cNvPr id="9216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F544D463-3E98-2041-8477-22181FC242AC}" type="slidenum">
              <a:rPr lang="en-US">
                <a:latin typeface="Helvetica" charset="0"/>
              </a:rPr>
              <a:pPr/>
              <a:t>23</a:t>
            </a:fld>
            <a:endParaRPr lang="en-US">
              <a:latin typeface="Helvetica" charset="0"/>
            </a:endParaRPr>
          </a:p>
        </p:txBody>
      </p:sp>
      <p:sp>
        <p:nvSpPr>
          <p:cNvPr id="9318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70A48C03-2B2B-AF4B-8141-4DE820019931}" type="slidenum">
              <a:rPr lang="en-US">
                <a:latin typeface="Helvetica" charset="0"/>
              </a:rPr>
              <a:pPr/>
              <a:t>24</a:t>
            </a:fld>
            <a:endParaRPr lang="en-US">
              <a:latin typeface="Helvetica" charset="0"/>
            </a:endParaRPr>
          </a:p>
        </p:txBody>
      </p:sp>
      <p:sp>
        <p:nvSpPr>
          <p:cNvPr id="9421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73B91DF0-6718-194F-9E9A-32534056863C}" type="slidenum">
              <a:rPr lang="en-US">
                <a:latin typeface="Helvetica" charset="0"/>
              </a:rPr>
              <a:pPr/>
              <a:t>25</a:t>
            </a:fld>
            <a:endParaRPr lang="en-US">
              <a:latin typeface="Helvetica" charset="0"/>
            </a:endParaRPr>
          </a:p>
        </p:txBody>
      </p:sp>
      <p:sp>
        <p:nvSpPr>
          <p:cNvPr id="9523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862F781B-9454-A94E-AA30-762CED97ED5A}" type="slidenum">
              <a:rPr lang="en-US">
                <a:latin typeface="Helvetica" charset="0"/>
              </a:rPr>
              <a:pPr/>
              <a:t>26</a:t>
            </a:fld>
            <a:endParaRPr lang="en-US">
              <a:latin typeface="Helvetica" charset="0"/>
            </a:endParaRPr>
          </a:p>
        </p:txBody>
      </p:sp>
      <p:sp>
        <p:nvSpPr>
          <p:cNvPr id="9625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AD325C24-29A4-2C44-84DE-660C67516F2E}" type="slidenum">
              <a:rPr lang="en-US">
                <a:latin typeface="Helvetica" charset="0"/>
              </a:rPr>
              <a:pPr/>
              <a:t>27</a:t>
            </a:fld>
            <a:endParaRPr lang="en-US">
              <a:latin typeface="Helvetica" charset="0"/>
            </a:endParaRPr>
          </a:p>
        </p:txBody>
      </p:sp>
      <p:sp>
        <p:nvSpPr>
          <p:cNvPr id="9728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AE38481C-6BE3-B34F-AFE3-0890E3C5ABBA}" type="slidenum">
              <a:rPr lang="en-US">
                <a:latin typeface="Helvetica" charset="0"/>
              </a:rPr>
              <a:pPr/>
              <a:t>28</a:t>
            </a:fld>
            <a:endParaRPr lang="en-US">
              <a:latin typeface="Helvetica" charset="0"/>
            </a:endParaRPr>
          </a:p>
        </p:txBody>
      </p:sp>
      <p:sp>
        <p:nvSpPr>
          <p:cNvPr id="9830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E4C3D7D9-7CFA-7B45-9272-758F88797A4C}" type="slidenum">
              <a:rPr lang="en-US">
                <a:latin typeface="Helvetica" charset="0"/>
              </a:rPr>
              <a:pPr/>
              <a:t>29</a:t>
            </a:fld>
            <a:endParaRPr lang="en-US">
              <a:latin typeface="Helvetica" charset="0"/>
            </a:endParaRPr>
          </a:p>
        </p:txBody>
      </p:sp>
      <p:sp>
        <p:nvSpPr>
          <p:cNvPr id="9933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0CA46E72-548B-FF4A-88E9-AD629A23FAFB}" type="slidenum">
              <a:rPr lang="en-US">
                <a:latin typeface="Helvetica" charset="0"/>
              </a:rPr>
              <a:pPr/>
              <a:t>30</a:t>
            </a:fld>
            <a:endParaRPr lang="en-US">
              <a:latin typeface="Helvetica" charset="0"/>
            </a:endParaRPr>
          </a:p>
        </p:txBody>
      </p:sp>
      <p:sp>
        <p:nvSpPr>
          <p:cNvPr id="10035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7A339A18-BE36-8C49-8A62-6D41442CD603}" type="slidenum">
              <a:rPr lang="en-US">
                <a:latin typeface="Helvetica" charset="0"/>
              </a:rPr>
              <a:pPr/>
              <a:t>31</a:t>
            </a:fld>
            <a:endParaRPr lang="en-US">
              <a:latin typeface="Helvetica" charset="0"/>
            </a:endParaRPr>
          </a:p>
        </p:txBody>
      </p:sp>
      <p:sp>
        <p:nvSpPr>
          <p:cNvPr id="10137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7C9D8516-7DAC-3643-BB97-2835CD16F013}" type="slidenum">
              <a:rPr lang="en-US">
                <a:latin typeface="Helvetica" charset="0"/>
              </a:rPr>
              <a:pPr/>
              <a:t>32</a:t>
            </a:fld>
            <a:endParaRPr lang="en-US">
              <a:latin typeface="Helvetica" charset="0"/>
            </a:endParaRPr>
          </a:p>
        </p:txBody>
      </p:sp>
      <p:sp>
        <p:nvSpPr>
          <p:cNvPr id="10240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6883FF44-AB46-AF45-901C-8C4F429BA6A9}" type="slidenum">
              <a:rPr lang="en-US">
                <a:latin typeface="Helvetica" charset="0"/>
              </a:rPr>
              <a:pPr/>
              <a:t>33</a:t>
            </a:fld>
            <a:endParaRPr lang="en-US">
              <a:latin typeface="Helvetica" charset="0"/>
            </a:endParaRPr>
          </a:p>
        </p:txBody>
      </p:sp>
      <p:sp>
        <p:nvSpPr>
          <p:cNvPr id="10342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BD42149B-48EC-6E4D-930F-3AA55598B4B3}" type="slidenum">
              <a:rPr lang="en-US">
                <a:latin typeface="Helvetica" charset="0"/>
              </a:rPr>
              <a:pPr/>
              <a:t>34</a:t>
            </a:fld>
            <a:endParaRPr lang="en-US">
              <a:latin typeface="Helvetica" charset="0"/>
            </a:endParaRPr>
          </a:p>
        </p:txBody>
      </p:sp>
      <p:sp>
        <p:nvSpPr>
          <p:cNvPr id="10445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31361419-399C-8E4E-A1AD-6E886E81BE4A}" type="slidenum">
              <a:rPr lang="en-US">
                <a:latin typeface="Helvetica" charset="0"/>
              </a:rPr>
              <a:pPr/>
              <a:t>35</a:t>
            </a:fld>
            <a:endParaRPr lang="en-US">
              <a:latin typeface="Helvetica" charset="0"/>
            </a:endParaRPr>
          </a:p>
        </p:txBody>
      </p:sp>
      <p:sp>
        <p:nvSpPr>
          <p:cNvPr id="10547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599D29D8-A371-7448-8A51-50D5F7029C14}" type="slidenum">
              <a:rPr lang="en-US">
                <a:latin typeface="Helvetica" charset="0"/>
              </a:rPr>
              <a:pPr/>
              <a:t>36</a:t>
            </a:fld>
            <a:endParaRPr lang="en-US">
              <a:latin typeface="Helvetica" charset="0"/>
            </a:endParaRPr>
          </a:p>
        </p:txBody>
      </p:sp>
      <p:sp>
        <p:nvSpPr>
          <p:cNvPr id="10649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B5CFA44F-E4D6-F446-B834-744C4B117604}" type="slidenum">
              <a:rPr lang="en-US">
                <a:latin typeface="Helvetica" charset="0"/>
              </a:rPr>
              <a:pPr/>
              <a:t>37</a:t>
            </a:fld>
            <a:endParaRPr lang="en-US">
              <a:latin typeface="Helvetica" charset="0"/>
            </a:endParaRPr>
          </a:p>
        </p:txBody>
      </p:sp>
      <p:sp>
        <p:nvSpPr>
          <p:cNvPr id="10752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95860F1F-5651-8F4A-BEFB-0A19DD5921BE}" type="slidenum">
              <a:rPr lang="en-US">
                <a:latin typeface="Helvetica" charset="0"/>
              </a:rPr>
              <a:pPr/>
              <a:t>38</a:t>
            </a:fld>
            <a:endParaRPr lang="en-US">
              <a:latin typeface="Helvetica" charset="0"/>
            </a:endParaRPr>
          </a:p>
        </p:txBody>
      </p:sp>
      <p:sp>
        <p:nvSpPr>
          <p:cNvPr id="10854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7E6EEB97-0960-6349-8C8F-25166C63FD95}" type="slidenum">
              <a:rPr lang="en-US">
                <a:latin typeface="Helvetica" charset="0"/>
              </a:rPr>
              <a:pPr/>
              <a:t>39</a:t>
            </a:fld>
            <a:endParaRPr lang="en-US">
              <a:latin typeface="Helvetica" charset="0"/>
            </a:endParaRPr>
          </a:p>
        </p:txBody>
      </p:sp>
      <p:sp>
        <p:nvSpPr>
          <p:cNvPr id="10957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44CB3FB6-75D1-5D42-9E92-607640FD27B5}" type="slidenum">
              <a:rPr lang="en-US">
                <a:latin typeface="Helvetica" charset="0"/>
              </a:rPr>
              <a:pPr/>
              <a:t>40</a:t>
            </a:fld>
            <a:endParaRPr lang="en-US">
              <a:latin typeface="Helvetica" charset="0"/>
            </a:endParaRPr>
          </a:p>
        </p:txBody>
      </p:sp>
      <p:sp>
        <p:nvSpPr>
          <p:cNvPr id="11059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C6225701-5A67-A94E-B7E1-39E7A13F6070}" type="slidenum">
              <a:rPr lang="en-US">
                <a:latin typeface="Helvetica" charset="0"/>
              </a:rPr>
              <a:pPr/>
              <a:t>41</a:t>
            </a:fld>
            <a:endParaRPr lang="en-US">
              <a:latin typeface="Helvetica" charset="0"/>
            </a:endParaRPr>
          </a:p>
        </p:txBody>
      </p:sp>
      <p:sp>
        <p:nvSpPr>
          <p:cNvPr id="11161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23EB0B9F-A206-E241-94E1-248D88364394}" type="slidenum">
              <a:rPr lang="en-US">
                <a:latin typeface="Helvetica" charset="0"/>
              </a:rPr>
              <a:pPr/>
              <a:t>42</a:t>
            </a:fld>
            <a:endParaRPr lang="en-US">
              <a:latin typeface="Helvetica" charset="0"/>
            </a:endParaRPr>
          </a:p>
        </p:txBody>
      </p:sp>
      <p:sp>
        <p:nvSpPr>
          <p:cNvPr id="11264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CD65B894-0818-AF41-BC7F-76C7A4BA9BE5}" type="slidenum">
              <a:rPr lang="en-US">
                <a:latin typeface="Helvetica" charset="0"/>
              </a:rPr>
              <a:pPr/>
              <a:t>43</a:t>
            </a:fld>
            <a:endParaRPr lang="en-US">
              <a:latin typeface="Helvetica" charset="0"/>
            </a:endParaRPr>
          </a:p>
        </p:txBody>
      </p:sp>
      <p:sp>
        <p:nvSpPr>
          <p:cNvPr id="11366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A71D51B6-2102-FB4A-BFA9-0F865D242FE2}" type="slidenum">
              <a:rPr lang="en-US">
                <a:latin typeface="Helvetica" charset="0"/>
              </a:rPr>
              <a:pPr/>
              <a:t>44</a:t>
            </a:fld>
            <a:endParaRPr lang="en-US">
              <a:latin typeface="Helvetica" charset="0"/>
            </a:endParaRPr>
          </a:p>
        </p:txBody>
      </p:sp>
      <p:sp>
        <p:nvSpPr>
          <p:cNvPr id="11469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DAAA7CB4-7A9D-2546-A908-42328C21F48C}" type="slidenum">
              <a:rPr lang="en-US">
                <a:latin typeface="Helvetica" charset="0"/>
              </a:rPr>
              <a:pPr/>
              <a:t>45</a:t>
            </a:fld>
            <a:endParaRPr lang="en-US">
              <a:latin typeface="Helvetica" charset="0"/>
            </a:endParaRPr>
          </a:p>
        </p:txBody>
      </p:sp>
      <p:sp>
        <p:nvSpPr>
          <p:cNvPr id="11571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4967FEF9-3D20-8B4F-909F-1468AF4B7B0F}" type="slidenum">
              <a:rPr lang="en-US">
                <a:latin typeface="Helvetica" charset="0"/>
              </a:rPr>
              <a:pPr/>
              <a:t>46</a:t>
            </a:fld>
            <a:endParaRPr lang="en-US">
              <a:latin typeface="Helvetica" charset="0"/>
            </a:endParaRPr>
          </a:p>
        </p:txBody>
      </p:sp>
      <p:sp>
        <p:nvSpPr>
          <p:cNvPr id="11673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66719ECB-1E96-8044-B6B3-D3E65419B0A9}" type="slidenum">
              <a:rPr lang="en-US">
                <a:latin typeface="Helvetica" charset="0"/>
              </a:rPr>
              <a:pPr/>
              <a:t>47</a:t>
            </a:fld>
            <a:endParaRPr lang="en-US">
              <a:latin typeface="Helvetica" charset="0"/>
            </a:endParaRPr>
          </a:p>
        </p:txBody>
      </p:sp>
      <p:sp>
        <p:nvSpPr>
          <p:cNvPr id="11776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4CD6368F-10CD-3E41-A0DD-8CC3967404AE}" type="slidenum">
              <a:rPr lang="en-US">
                <a:latin typeface="Helvetica" charset="0"/>
              </a:rPr>
              <a:pPr/>
              <a:t>48</a:t>
            </a:fld>
            <a:endParaRPr lang="en-US">
              <a:latin typeface="Helvetica" charset="0"/>
            </a:endParaRPr>
          </a:p>
        </p:txBody>
      </p:sp>
      <p:sp>
        <p:nvSpPr>
          <p:cNvPr id="11878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BDC22DB1-BD57-5D4C-AC3E-9A9876F5550E}" type="slidenum">
              <a:rPr lang="en-US">
                <a:latin typeface="Helvetica" charset="0"/>
              </a:rPr>
              <a:pPr/>
              <a:t>49</a:t>
            </a:fld>
            <a:endParaRPr lang="en-US">
              <a:latin typeface="Helvetica" charset="0"/>
            </a:endParaRPr>
          </a:p>
        </p:txBody>
      </p:sp>
      <p:sp>
        <p:nvSpPr>
          <p:cNvPr id="11981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8B5FBB79-2EC8-CA4E-82BA-F4EE1C41C28B}" type="slidenum">
              <a:rPr lang="en-US">
                <a:latin typeface="Helvetica" charset="0"/>
              </a:rPr>
              <a:pPr/>
              <a:t>50</a:t>
            </a:fld>
            <a:endParaRPr lang="en-US">
              <a:latin typeface="Helvetica" charset="0"/>
            </a:endParaRPr>
          </a:p>
        </p:txBody>
      </p:sp>
      <p:sp>
        <p:nvSpPr>
          <p:cNvPr id="12083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37BB6AF1-8E51-2542-9D7A-C1CBE0023477}" type="slidenum">
              <a:rPr lang="en-US">
                <a:latin typeface="Helvetica" charset="0"/>
              </a:rPr>
              <a:pPr/>
              <a:t>51</a:t>
            </a:fld>
            <a:endParaRPr lang="en-US">
              <a:latin typeface="Helvetica" charset="0"/>
            </a:endParaRPr>
          </a:p>
        </p:txBody>
      </p:sp>
      <p:sp>
        <p:nvSpPr>
          <p:cNvPr id="12185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05E6E277-9A4F-FA49-8877-3FB4EF8B5BA7}" type="slidenum">
              <a:rPr lang="en-US">
                <a:latin typeface="Helvetica" charset="0"/>
              </a:rPr>
              <a:pPr/>
              <a:t>52</a:t>
            </a:fld>
            <a:endParaRPr lang="en-US">
              <a:latin typeface="Helvetica" charset="0"/>
            </a:endParaRPr>
          </a:p>
        </p:txBody>
      </p:sp>
      <p:sp>
        <p:nvSpPr>
          <p:cNvPr id="12288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0DB17AB5-8710-2F4D-9D45-68D416CFDD53}" type="slidenum">
              <a:rPr lang="en-US">
                <a:latin typeface="Helvetica" charset="0"/>
              </a:rPr>
              <a:pPr/>
              <a:t>53</a:t>
            </a:fld>
            <a:endParaRPr lang="en-US">
              <a:latin typeface="Helvetica" charset="0"/>
            </a:endParaRPr>
          </a:p>
        </p:txBody>
      </p:sp>
      <p:sp>
        <p:nvSpPr>
          <p:cNvPr id="12390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33BD60C3-5B57-4B48-8067-1F2ECFCFBF6B}" type="slidenum">
              <a:rPr lang="en-US">
                <a:latin typeface="Helvetica" charset="0"/>
              </a:rPr>
              <a:pPr/>
              <a:t>54</a:t>
            </a:fld>
            <a:endParaRPr lang="en-US">
              <a:latin typeface="Helvetica" charset="0"/>
            </a:endParaRPr>
          </a:p>
        </p:txBody>
      </p:sp>
      <p:sp>
        <p:nvSpPr>
          <p:cNvPr id="12493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A768F2A3-8329-EF40-A9CD-154367C93692}" type="slidenum">
              <a:rPr lang="en-US">
                <a:latin typeface="Helvetica" charset="0"/>
              </a:rPr>
              <a:pPr/>
              <a:t>55</a:t>
            </a:fld>
            <a:endParaRPr lang="en-US">
              <a:latin typeface="Helvetica" charset="0"/>
            </a:endParaRPr>
          </a:p>
        </p:txBody>
      </p:sp>
      <p:sp>
        <p:nvSpPr>
          <p:cNvPr id="12595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B5181129-8C6D-7641-AFC3-53AA40E74044}" type="slidenum">
              <a:rPr lang="en-US">
                <a:latin typeface="Helvetica" charset="0"/>
              </a:rPr>
              <a:pPr/>
              <a:t>56</a:t>
            </a:fld>
            <a:endParaRPr lang="en-US">
              <a:latin typeface="Helvetica" charset="0"/>
            </a:endParaRPr>
          </a:p>
        </p:txBody>
      </p:sp>
      <p:sp>
        <p:nvSpPr>
          <p:cNvPr id="12697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55DD34F9-CD2B-284B-B740-05BC18E8B36B}" type="slidenum">
              <a:rPr lang="en-US">
                <a:latin typeface="Helvetica" charset="0"/>
              </a:rPr>
              <a:pPr/>
              <a:t>57</a:t>
            </a:fld>
            <a:endParaRPr lang="en-US">
              <a:latin typeface="Helvetica" charset="0"/>
            </a:endParaRPr>
          </a:p>
        </p:txBody>
      </p:sp>
      <p:sp>
        <p:nvSpPr>
          <p:cNvPr id="12800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6E76D5B2-51EB-8F40-9252-96BC571A618D}" type="slidenum">
              <a:rPr lang="en-US">
                <a:latin typeface="Helvetica" charset="0"/>
              </a:rPr>
              <a:pPr/>
              <a:t>58</a:t>
            </a:fld>
            <a:endParaRPr lang="en-US">
              <a:latin typeface="Helvetica" charset="0"/>
            </a:endParaRPr>
          </a:p>
        </p:txBody>
      </p:sp>
      <p:sp>
        <p:nvSpPr>
          <p:cNvPr id="12902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0F3576D6-C39C-2540-9923-EBA21BE694FC}" type="slidenum">
              <a:rPr lang="en-US">
                <a:latin typeface="Helvetica" charset="0"/>
              </a:rPr>
              <a:pPr/>
              <a:t>59</a:t>
            </a:fld>
            <a:endParaRPr lang="en-US">
              <a:latin typeface="Helvetica" charset="0"/>
            </a:endParaRPr>
          </a:p>
        </p:txBody>
      </p:sp>
      <p:sp>
        <p:nvSpPr>
          <p:cNvPr id="13005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1pPr>
            <a:lvl2pPr marL="763530" indent="-293665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2pPr>
            <a:lvl3pPr marL="1174661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3pPr>
            <a:lvl4pPr marL="1644526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4pPr>
            <a:lvl5pPr marL="2114390" indent="-234932" defTabSz="965832"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5pPr>
            <a:lvl6pPr marL="2584254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6pPr>
            <a:lvl7pPr marL="3054119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7pPr>
            <a:lvl8pPr marL="3523983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8pPr>
            <a:lvl9pPr marL="3993848" indent="-234932" defTabSz="96583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charset="0"/>
                <a:ea typeface="MS PGothic" charset="0"/>
                <a:cs typeface="MS PGothic" charset="0"/>
              </a:defRPr>
            </a:lvl9pPr>
          </a:lstStyle>
          <a:p>
            <a:fld id="{8461983E-589E-F24C-964D-5B8DAD5AF7BC}" type="slidenum">
              <a:rPr lang="en-US">
                <a:latin typeface="Helvetica" charset="0"/>
              </a:rPr>
              <a:pPr/>
              <a:t>60</a:t>
            </a:fld>
            <a:endParaRPr lang="en-US">
              <a:latin typeface="Helvetica" charset="0"/>
            </a:endParaRPr>
          </a:p>
        </p:txBody>
      </p:sp>
      <p:sp>
        <p:nvSpPr>
          <p:cNvPr id="13107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>
              <a:ea typeface="MS PGothic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1027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1028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grpSp>
            <p:nvGrpSpPr>
              <p:cNvPr id="16" name="Group 1029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1030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9" name="Line 1031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0" name="Line 1032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1" name="Line 1033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2" name="Line 1034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3" name="Line 1035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4" name="Line 1036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5" name="Line 1037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6" name="Line 1038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7" name="Line 1039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8" name="Line 1040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29" name="Line 1041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0" name="Line 1042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1" name="Line 1043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2" name="Line 1044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3" name="Line 1045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4" name="Line 1046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5" name="Line 1047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6" name="Line 1048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7" name="Line 1049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8" name="Line 1050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39" name="Line 1051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0" name="Line 1052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1" name="Line 1053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2" name="Line 1054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3" name="Line 1055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4" name="Line 1056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5" name="Line 1057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6" name="Line 1058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7" name="Line 1059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8" name="Line 1060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49" name="Line 1061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0" name="Line 1062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1" name="Line 1063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2" name="Line 1064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3" name="Line 1065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4" name="Line 1066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5" name="Line 1067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6" name="Line 1068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7" name="Line 1069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8" name="Line 1070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59" name="Line 1071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0" name="Line 1072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1" name="Line 1073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2" name="Line 1074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3" name="Line 1075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4" name="Line 1076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5" name="Line 1077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6" name="Line 1078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7" name="Line 1079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68" name="Line 1080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17" name="Line 1081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" name="Group 1082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1083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2" name="Line 1084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Line 1085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4" name="Arc 1086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7" name="Group 1087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1088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" name="Line 1089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" name="Arc 1090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069123" name="Rectangle 1091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069124" name="Rectangle 1092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1093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1094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" name="Rectangle 1095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020C872-3BC4-4E8F-8435-60B84CF2BB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990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772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>
            <a:grpSpLocks/>
          </p:cNvGrpSpPr>
          <p:nvPr userDrawn="1"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2053" name="Group 3"/>
            <p:cNvGrpSpPr>
              <a:grpSpLocks/>
            </p:cNvGrpSpPr>
            <p:nvPr userDrawn="1"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2060" name="Group 4"/>
              <p:cNvGrpSpPr>
                <a:grpSpLocks/>
              </p:cNvGrpSpPr>
              <p:nvPr userDrawn="1"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68037" name="Line 5"/>
                <p:cNvSpPr>
                  <a:spLocks noChangeShapeType="1"/>
                </p:cNvSpPr>
                <p:nvPr userDrawn="1"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38" name="Line 6"/>
                <p:cNvSpPr>
                  <a:spLocks noChangeShapeType="1"/>
                </p:cNvSpPr>
                <p:nvPr userDrawn="1"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39" name="Line 7"/>
                <p:cNvSpPr>
                  <a:spLocks noChangeShapeType="1"/>
                </p:cNvSpPr>
                <p:nvPr userDrawn="1"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0" name="Line 8"/>
                <p:cNvSpPr>
                  <a:spLocks noChangeShapeType="1"/>
                </p:cNvSpPr>
                <p:nvPr userDrawn="1"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1" name="Line 9"/>
                <p:cNvSpPr>
                  <a:spLocks noChangeShapeType="1"/>
                </p:cNvSpPr>
                <p:nvPr userDrawn="1"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2" name="Line 10"/>
                <p:cNvSpPr>
                  <a:spLocks noChangeShapeType="1"/>
                </p:cNvSpPr>
                <p:nvPr userDrawn="1"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3" name="Line 11"/>
                <p:cNvSpPr>
                  <a:spLocks noChangeShapeType="1"/>
                </p:cNvSpPr>
                <p:nvPr userDrawn="1"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4" name="Line 12"/>
                <p:cNvSpPr>
                  <a:spLocks noChangeShapeType="1"/>
                </p:cNvSpPr>
                <p:nvPr userDrawn="1"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5" name="Line 13"/>
                <p:cNvSpPr>
                  <a:spLocks noChangeShapeType="1"/>
                </p:cNvSpPr>
                <p:nvPr userDrawn="1"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6" name="Line 14"/>
                <p:cNvSpPr>
                  <a:spLocks noChangeShapeType="1"/>
                </p:cNvSpPr>
                <p:nvPr userDrawn="1"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7" name="Line 15"/>
                <p:cNvSpPr>
                  <a:spLocks noChangeShapeType="1"/>
                </p:cNvSpPr>
                <p:nvPr userDrawn="1"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8" name="Line 16"/>
                <p:cNvSpPr>
                  <a:spLocks noChangeShapeType="1"/>
                </p:cNvSpPr>
                <p:nvPr userDrawn="1"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49" name="Line 17"/>
                <p:cNvSpPr>
                  <a:spLocks noChangeShapeType="1"/>
                </p:cNvSpPr>
                <p:nvPr userDrawn="1"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0" name="Line 18"/>
                <p:cNvSpPr>
                  <a:spLocks noChangeShapeType="1"/>
                </p:cNvSpPr>
                <p:nvPr userDrawn="1"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1" name="Line 19"/>
                <p:cNvSpPr>
                  <a:spLocks noChangeShapeType="1"/>
                </p:cNvSpPr>
                <p:nvPr userDrawn="1"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2" name="Line 20"/>
                <p:cNvSpPr>
                  <a:spLocks noChangeShapeType="1"/>
                </p:cNvSpPr>
                <p:nvPr userDrawn="1"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3" name="Line 21"/>
                <p:cNvSpPr>
                  <a:spLocks noChangeShapeType="1"/>
                </p:cNvSpPr>
                <p:nvPr userDrawn="1"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4" name="Line 22"/>
                <p:cNvSpPr>
                  <a:spLocks noChangeShapeType="1"/>
                </p:cNvSpPr>
                <p:nvPr userDrawn="1"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5" name="Line 23"/>
                <p:cNvSpPr>
                  <a:spLocks noChangeShapeType="1"/>
                </p:cNvSpPr>
                <p:nvPr userDrawn="1"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6" name="Line 24"/>
                <p:cNvSpPr>
                  <a:spLocks noChangeShapeType="1"/>
                </p:cNvSpPr>
                <p:nvPr userDrawn="1"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7" name="Line 25"/>
                <p:cNvSpPr>
                  <a:spLocks noChangeShapeType="1"/>
                </p:cNvSpPr>
                <p:nvPr userDrawn="1"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58" name="Line 26"/>
                <p:cNvSpPr>
                  <a:spLocks noChangeShapeType="1"/>
                </p:cNvSpPr>
                <p:nvPr userDrawn="1"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grpSp>
            <p:nvGrpSpPr>
              <p:cNvPr id="2061" name="Group 27"/>
              <p:cNvGrpSpPr>
                <a:grpSpLocks/>
              </p:cNvGrpSpPr>
              <p:nvPr userDrawn="1"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68060" name="Line 28"/>
                <p:cNvSpPr>
                  <a:spLocks noChangeShapeType="1"/>
                </p:cNvSpPr>
                <p:nvPr userDrawn="1"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1" name="Line 29"/>
                <p:cNvSpPr>
                  <a:spLocks noChangeShapeType="1"/>
                </p:cNvSpPr>
                <p:nvPr userDrawn="1"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2" name="Line 30"/>
                <p:cNvSpPr>
                  <a:spLocks noChangeShapeType="1"/>
                </p:cNvSpPr>
                <p:nvPr userDrawn="1"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3" name="Line 31"/>
                <p:cNvSpPr>
                  <a:spLocks noChangeShapeType="1"/>
                </p:cNvSpPr>
                <p:nvPr userDrawn="1"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4" name="Line 32"/>
                <p:cNvSpPr>
                  <a:spLocks noChangeShapeType="1"/>
                </p:cNvSpPr>
                <p:nvPr userDrawn="1"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5" name="Line 33"/>
                <p:cNvSpPr>
                  <a:spLocks noChangeShapeType="1"/>
                </p:cNvSpPr>
                <p:nvPr userDrawn="1"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6" name="Line 34"/>
                <p:cNvSpPr>
                  <a:spLocks noChangeShapeType="1"/>
                </p:cNvSpPr>
                <p:nvPr userDrawn="1"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7" name="Line 35"/>
                <p:cNvSpPr>
                  <a:spLocks noChangeShapeType="1"/>
                </p:cNvSpPr>
                <p:nvPr userDrawn="1"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8" name="Line 36"/>
                <p:cNvSpPr>
                  <a:spLocks noChangeShapeType="1"/>
                </p:cNvSpPr>
                <p:nvPr userDrawn="1"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69" name="Line 37"/>
                <p:cNvSpPr>
                  <a:spLocks noChangeShapeType="1"/>
                </p:cNvSpPr>
                <p:nvPr userDrawn="1"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0" name="Line 38"/>
                <p:cNvSpPr>
                  <a:spLocks noChangeShapeType="1"/>
                </p:cNvSpPr>
                <p:nvPr userDrawn="1"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1" name="Line 39"/>
                <p:cNvSpPr>
                  <a:spLocks noChangeShapeType="1"/>
                </p:cNvSpPr>
                <p:nvPr userDrawn="1"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2" name="Line 40"/>
                <p:cNvSpPr>
                  <a:spLocks noChangeShapeType="1"/>
                </p:cNvSpPr>
                <p:nvPr userDrawn="1"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3" name="Line 41"/>
                <p:cNvSpPr>
                  <a:spLocks noChangeShapeType="1"/>
                </p:cNvSpPr>
                <p:nvPr userDrawn="1"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4" name="Line 42"/>
                <p:cNvSpPr>
                  <a:spLocks noChangeShapeType="1"/>
                </p:cNvSpPr>
                <p:nvPr userDrawn="1"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5" name="Line 43"/>
                <p:cNvSpPr>
                  <a:spLocks noChangeShapeType="1"/>
                </p:cNvSpPr>
                <p:nvPr userDrawn="1"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6" name="Line 44"/>
                <p:cNvSpPr>
                  <a:spLocks noChangeShapeType="1"/>
                </p:cNvSpPr>
                <p:nvPr userDrawn="1"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7" name="Line 45"/>
                <p:cNvSpPr>
                  <a:spLocks noChangeShapeType="1"/>
                </p:cNvSpPr>
                <p:nvPr userDrawn="1"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8" name="Line 46"/>
                <p:cNvSpPr>
                  <a:spLocks noChangeShapeType="1"/>
                </p:cNvSpPr>
                <p:nvPr userDrawn="1"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79" name="Line 47"/>
                <p:cNvSpPr>
                  <a:spLocks noChangeShapeType="1"/>
                </p:cNvSpPr>
                <p:nvPr userDrawn="1"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0" name="Line 48"/>
                <p:cNvSpPr>
                  <a:spLocks noChangeShapeType="1"/>
                </p:cNvSpPr>
                <p:nvPr userDrawn="1"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1" name="Line 49"/>
                <p:cNvSpPr>
                  <a:spLocks noChangeShapeType="1"/>
                </p:cNvSpPr>
                <p:nvPr userDrawn="1"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2" name="Line 50"/>
                <p:cNvSpPr>
                  <a:spLocks noChangeShapeType="1"/>
                </p:cNvSpPr>
                <p:nvPr userDrawn="1"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3" name="Line 51"/>
                <p:cNvSpPr>
                  <a:spLocks noChangeShapeType="1"/>
                </p:cNvSpPr>
                <p:nvPr userDrawn="1"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4" name="Line 52"/>
                <p:cNvSpPr>
                  <a:spLocks noChangeShapeType="1"/>
                </p:cNvSpPr>
                <p:nvPr userDrawn="1"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5" name="Line 53"/>
                <p:cNvSpPr>
                  <a:spLocks noChangeShapeType="1"/>
                </p:cNvSpPr>
                <p:nvPr userDrawn="1"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6" name="Line 54"/>
                <p:cNvSpPr>
                  <a:spLocks noChangeShapeType="1"/>
                </p:cNvSpPr>
                <p:nvPr userDrawn="1"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7" name="Line 55"/>
                <p:cNvSpPr>
                  <a:spLocks noChangeShapeType="1"/>
                </p:cNvSpPr>
                <p:nvPr userDrawn="1"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1068088" name="Line 56"/>
                <p:cNvSpPr>
                  <a:spLocks noChangeShapeType="1"/>
                </p:cNvSpPr>
                <p:nvPr userDrawn="1"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</p:grpSp>
        <p:sp>
          <p:nvSpPr>
            <p:cNvPr id="1068089" name="Rectangle 57" descr="60%"/>
            <p:cNvSpPr>
              <a:spLocks noChangeArrowheads="1"/>
            </p:cNvSpPr>
            <p:nvPr userDrawn="1"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68090" name="Line 58"/>
            <p:cNvSpPr>
              <a:spLocks noChangeShapeType="1"/>
            </p:cNvSpPr>
            <p:nvPr userDrawn="1"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2056" name="Group 59"/>
            <p:cNvGrpSpPr>
              <a:grpSpLocks/>
            </p:cNvGrpSpPr>
            <p:nvPr userDrawn="1"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68092" name="Line 60"/>
              <p:cNvSpPr>
                <a:spLocks noChangeShapeType="1"/>
              </p:cNvSpPr>
              <p:nvPr userDrawn="1"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8093" name="Line 61"/>
              <p:cNvSpPr>
                <a:spLocks noChangeShapeType="1"/>
              </p:cNvSpPr>
              <p:nvPr userDrawn="1"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68094" name="Arc 62"/>
              <p:cNvSpPr>
                <a:spLocks/>
              </p:cNvSpPr>
              <p:nvPr userDrawn="1"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2051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2052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e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0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.e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CN" dirty="0" smtClean="0"/>
              <a:t>The Linux System</a:t>
            </a:r>
            <a:endParaRPr lang="en-US" dirty="0" smtClean="0"/>
          </a:p>
        </p:txBody>
      </p:sp>
      <p:sp>
        <p:nvSpPr>
          <p:cNvPr id="40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309938"/>
            <a:ext cx="5410200" cy="1752600"/>
          </a:xfrm>
        </p:spPr>
        <p:txBody>
          <a:bodyPr/>
          <a:lstStyle/>
          <a:p>
            <a:pPr algn="ctr"/>
            <a:r>
              <a:rPr lang="en-US" dirty="0" smtClean="0"/>
              <a:t>Presenter: Yinzhi Cao</a:t>
            </a:r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228600" y="147638"/>
            <a:ext cx="4572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 smtClean="0">
                <a:latin typeface="Arial" charset="0"/>
              </a:rPr>
              <a:t>CSE403 Lehigh University</a:t>
            </a:r>
            <a:endParaRPr lang="en-US" dirty="0">
              <a:latin typeface="Times New Roman" pitchFamily="18" charset="0"/>
            </a:endParaRPr>
          </a:p>
        </p:txBody>
      </p:sp>
      <p:sp>
        <p:nvSpPr>
          <p:cNvPr id="4101" name="Text Box 8"/>
          <p:cNvSpPr txBox="1">
            <a:spLocks noChangeArrowheads="1"/>
          </p:cNvSpPr>
          <p:nvPr/>
        </p:nvSpPr>
        <p:spPr bwMode="auto">
          <a:xfrm>
            <a:off x="6477000" y="147638"/>
            <a:ext cx="2286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dirty="0">
                <a:latin typeface="Arial" charset="0"/>
              </a:rPr>
              <a:t> </a:t>
            </a:r>
            <a:r>
              <a:rPr lang="en-US" dirty="0" smtClean="0">
                <a:latin typeface="Arial" charset="0"/>
              </a:rPr>
              <a:t>Spring 2015</a:t>
            </a:r>
            <a:endParaRPr lang="en-US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4788"/>
            <a:ext cx="8229600" cy="5762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History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8839199" cy="52403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Linux is a modern, free operating system based on UNIX standards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First developed as a small but self-contained kernel in 1991 by Linus Torvalds, with the major design goal of UNIX compatibility, released as open source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Its history has been one of collaboration by many users from all around the world, corresponding almost exclusively over the Internet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It has been designed to run efficiently and reliably on common PC hardware, but also runs on a variety of other platforms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The core Linux operating system </a:t>
            </a:r>
            <a:r>
              <a:rPr lang="en-US" sz="2400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kernel</a:t>
            </a:r>
            <a:r>
              <a:rPr lang="en-US" sz="2400" dirty="0">
                <a:latin typeface="Helvetica" charset="0"/>
                <a:ea typeface="MS PGothic" charset="0"/>
              </a:rPr>
              <a:t> is entirely original, but it can run much existing free UNIX software, resulting in an entire UNIX-compatible operating system free from proprietary code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Linux system </a:t>
            </a:r>
            <a:r>
              <a:rPr lang="en-US" sz="2400" dirty="0">
                <a:latin typeface="Helvetica" charset="0"/>
                <a:ea typeface="MS PGothic" charset="0"/>
              </a:rPr>
              <a:t>has many, varying </a:t>
            </a:r>
            <a:r>
              <a:rPr lang="en-US" sz="2400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Linux distributions</a:t>
            </a:r>
            <a:r>
              <a:rPr lang="en-US" sz="2400" dirty="0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 sz="2400" dirty="0">
                <a:latin typeface="Helvetica" charset="0"/>
                <a:ea typeface="MS PGothic" charset="0"/>
              </a:rPr>
              <a:t>including the kernel, applications, and management tools</a:t>
            </a:r>
          </a:p>
        </p:txBody>
      </p:sp>
    </p:spTree>
    <p:extLst>
      <p:ext uri="{BB962C8B-B14F-4D97-AF65-F5344CB8AC3E}">
        <p14:creationId xmlns:p14="http://schemas.microsoft.com/office/powerpoint/2010/main" val="11350767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190500"/>
            <a:ext cx="82296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The Linux Kernel</a:t>
            </a:r>
          </a:p>
        </p:txBody>
      </p:sp>
      <p:sp>
        <p:nvSpPr>
          <p:cNvPr id="7171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76200" y="685800"/>
            <a:ext cx="8991600" cy="472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Version 0.01 (May 1991) had no networking, ran only on 80386-compatible Intel processors and on PC hardware, had extremely limited device-drive support, and supported only the </a:t>
            </a:r>
            <a:r>
              <a:rPr lang="en-US" sz="2400" dirty="0" err="1">
                <a:latin typeface="Helvetica" charset="0"/>
                <a:ea typeface="MS PGothic" charset="0"/>
              </a:rPr>
              <a:t>Minix</a:t>
            </a:r>
            <a:r>
              <a:rPr lang="en-US" sz="2400" dirty="0">
                <a:latin typeface="Helvetica" charset="0"/>
                <a:ea typeface="MS PGothic" charset="0"/>
              </a:rPr>
              <a:t> file system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Linux 1.0 (March 1994) included these new features: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Support for UNIX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standard TCP/IP networking protocols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BSD-compatible socket interface for networking programming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Device-driver support for running IP over an Ethernet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Enhanced file system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Support for a range of SCSI controllers for </a:t>
            </a:r>
            <a:br>
              <a:rPr lang="en-US" dirty="0">
                <a:latin typeface="Helvetica" charset="0"/>
                <a:ea typeface="MS PGothic" charset="0"/>
              </a:rPr>
            </a:br>
            <a:r>
              <a:rPr lang="en-US" dirty="0">
                <a:latin typeface="Helvetica" charset="0"/>
                <a:ea typeface="MS PGothic" charset="0"/>
              </a:rPr>
              <a:t>high-performance disk access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Extra hardware support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Version 1.2 (March 1995) was the final PC-only Linux kernel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 Kernels with odd version numbers are </a:t>
            </a:r>
            <a:r>
              <a:rPr lang="en-US" sz="2400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development kernels</a:t>
            </a:r>
            <a:r>
              <a:rPr lang="en-US" sz="2400" dirty="0">
                <a:latin typeface="Helvetica" charset="0"/>
                <a:ea typeface="MS PGothic" charset="0"/>
              </a:rPr>
              <a:t>, those with even numbers are </a:t>
            </a:r>
            <a:r>
              <a:rPr lang="en-US" sz="2400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production kernels</a:t>
            </a:r>
          </a:p>
        </p:txBody>
      </p:sp>
    </p:spTree>
    <p:extLst>
      <p:ext uri="{BB962C8B-B14F-4D97-AF65-F5344CB8AC3E}">
        <p14:creationId xmlns:p14="http://schemas.microsoft.com/office/powerpoint/2010/main" val="645682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0500"/>
            <a:ext cx="82296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Linux 2.0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116013"/>
            <a:ext cx="8839200" cy="50514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Released in June 1996,  2.0 added two major new capabilities: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Helvetica" charset="0"/>
                <a:ea typeface="MS PGothic" charset="0"/>
              </a:rPr>
              <a:t>Support for multiple architectures, including a fully 64-bit native Alpha port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Helvetica" charset="0"/>
                <a:ea typeface="MS PGothic" charset="0"/>
              </a:rPr>
              <a:t>Support for multiprocessor architectures</a:t>
            </a:r>
            <a:endParaRPr lang="en-US" sz="800" dirty="0">
              <a:latin typeface="Helvetica" charset="0"/>
              <a:ea typeface="MS PGothic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Other new features included: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Helvetica" charset="0"/>
                <a:ea typeface="MS PGothic" charset="0"/>
              </a:rPr>
              <a:t>Improved memory-management code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Helvetica" charset="0"/>
                <a:ea typeface="MS PGothic" charset="0"/>
              </a:rPr>
              <a:t>Improved TCP/IP performance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Helvetica" charset="0"/>
                <a:ea typeface="MS PGothic" charset="0"/>
              </a:rPr>
              <a:t>Support for internal kernel threads, for handling dependencies between loadable modules, and for automatic loading of modules on demand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latin typeface="Helvetica" charset="0"/>
                <a:ea typeface="MS PGothic" charset="0"/>
              </a:rPr>
              <a:t>Standardized configuration interface</a:t>
            </a:r>
            <a:endParaRPr lang="en-US" sz="800" dirty="0">
              <a:latin typeface="Helvetica" charset="0"/>
              <a:ea typeface="MS PGothic" charset="0"/>
            </a:endParaRPr>
          </a:p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Available for Motorola 68000-series processors, Sun </a:t>
            </a:r>
            <a:r>
              <a:rPr lang="en-US" sz="2400" dirty="0" err="1">
                <a:latin typeface="Helvetica" charset="0"/>
                <a:ea typeface="MS PGothic" charset="0"/>
              </a:rPr>
              <a:t>Sparc</a:t>
            </a:r>
            <a:r>
              <a:rPr lang="en-US" sz="2400" dirty="0">
                <a:latin typeface="Helvetica" charset="0"/>
                <a:ea typeface="MS PGothic" charset="0"/>
              </a:rPr>
              <a:t> systems, and for PC and PowerMac systems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2.4 and 2.6 increased SMP support, added journaling file system, preemptive kernel, 64-bit memory support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Helvetica" charset="0"/>
                <a:ea typeface="MS PGothic" charset="0"/>
              </a:rPr>
              <a:t>3.0 released in 2011, 20</a:t>
            </a:r>
            <a:r>
              <a:rPr lang="en-US" sz="2400" baseline="30000" dirty="0">
                <a:latin typeface="Helvetica" charset="0"/>
                <a:ea typeface="MS PGothic" charset="0"/>
              </a:rPr>
              <a:t>th</a:t>
            </a:r>
            <a:r>
              <a:rPr lang="en-US" sz="2400" dirty="0">
                <a:latin typeface="Helvetica" charset="0"/>
                <a:ea typeface="MS PGothic" charset="0"/>
              </a:rPr>
              <a:t> anniversary of Linux, improved virtualization support, new page write-back facility, improved memory management, new Completely Fair Scheduler</a:t>
            </a:r>
          </a:p>
        </p:txBody>
      </p:sp>
    </p:spTree>
    <p:extLst>
      <p:ext uri="{BB962C8B-B14F-4D97-AF65-F5344CB8AC3E}">
        <p14:creationId xmlns:p14="http://schemas.microsoft.com/office/powerpoint/2010/main" val="2457879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576263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MS PGothic" charset="0"/>
              </a:rPr>
              <a:t>The Linux System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81000"/>
            <a:ext cx="9067800" cy="5127625"/>
          </a:xfrm>
        </p:spPr>
        <p:txBody>
          <a:bodyPr/>
          <a:lstStyle/>
          <a:p>
            <a:r>
              <a:rPr lang="en-US" sz="2400" dirty="0">
                <a:latin typeface="Helvetica" charset="0"/>
                <a:ea typeface="MS PGothic" charset="0"/>
              </a:rPr>
              <a:t>Linux uses many tools developed as part of Berkeley</a:t>
            </a:r>
            <a:r>
              <a:rPr lang="ja-JP" altLang="en-US" sz="2400" dirty="0">
                <a:latin typeface="Helvetica" charset="0"/>
                <a:ea typeface="MS PGothic" charset="0"/>
              </a:rPr>
              <a:t>’</a:t>
            </a:r>
            <a:r>
              <a:rPr lang="en-US" altLang="ja-JP" sz="2400" dirty="0">
                <a:latin typeface="Helvetica" charset="0"/>
                <a:ea typeface="MS PGothic" charset="0"/>
              </a:rPr>
              <a:t>s BSD operating system, MIT</a:t>
            </a:r>
            <a:r>
              <a:rPr lang="ja-JP" altLang="en-US" sz="2400" dirty="0">
                <a:latin typeface="Helvetica" charset="0"/>
                <a:ea typeface="MS PGothic" charset="0"/>
              </a:rPr>
              <a:t>’</a:t>
            </a:r>
            <a:r>
              <a:rPr lang="en-US" altLang="ja-JP" sz="2400" dirty="0">
                <a:latin typeface="Helvetica" charset="0"/>
                <a:ea typeface="MS PGothic" charset="0"/>
              </a:rPr>
              <a:t>s X  Window System, and the Free Software Foundation's GNU project</a:t>
            </a:r>
            <a:endParaRPr lang="en-US" sz="2400" dirty="0">
              <a:latin typeface="Helvetica" charset="0"/>
              <a:ea typeface="MS PGothic" charset="0"/>
            </a:endParaRPr>
          </a:p>
          <a:p>
            <a:r>
              <a:rPr lang="en-US" sz="2400" dirty="0">
                <a:latin typeface="Helvetica" charset="0"/>
                <a:ea typeface="MS PGothic" charset="0"/>
              </a:rPr>
              <a:t>The main system libraries were started by the GNU project, with improvements provided by the Linux community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Linux networking-administration tools were derived from 4.3BSD code; recent BSD derivatives such as Free BSD have borrowed code from Linux in return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The Linux system is maintained by a loose network of developers collaborating over the Internet, with a small number of public ftp sites acting as de facto standard repositories</a:t>
            </a:r>
          </a:p>
          <a:p>
            <a:r>
              <a:rPr lang="en-US" sz="2400" b="1" dirty="0">
                <a:latin typeface="Helvetica" charset="0"/>
                <a:ea typeface="MS PGothic" charset="0"/>
              </a:rPr>
              <a:t>File System Hierarchy Standard </a:t>
            </a:r>
            <a:r>
              <a:rPr lang="en-US" sz="2400" dirty="0">
                <a:latin typeface="Helvetica" charset="0"/>
                <a:ea typeface="MS PGothic" charset="0"/>
              </a:rPr>
              <a:t>document maintained by the Linux community to ensure compatibility across the various system components</a:t>
            </a:r>
          </a:p>
          <a:p>
            <a:pPr lvl="1"/>
            <a:r>
              <a:rPr lang="en-US" sz="2000" dirty="0">
                <a:latin typeface="Helvetica" charset="0"/>
                <a:ea typeface="MS PGothic" charset="0"/>
              </a:rPr>
              <a:t>Specifies overall layout of a standard Linux file system, determines under which directory names configuration files, libraries, system binaries, and run-time data files should be stored </a:t>
            </a:r>
          </a:p>
          <a:p>
            <a:endParaRPr lang="en-US" sz="2400" dirty="0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864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9075"/>
            <a:ext cx="82296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Linux Distributions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09600"/>
            <a:ext cx="9144000" cy="49022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Standard, precompiled sets of packages, or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distributions</a:t>
            </a:r>
            <a:r>
              <a:rPr lang="en-US" dirty="0">
                <a:latin typeface="Helvetica" charset="0"/>
                <a:ea typeface="MS PGothic" charset="0"/>
              </a:rPr>
              <a:t>, include the basic Linux system, system installation and management utilities, and ready-to-install packages of common UNIX tools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first distributions managed these packages by simply providing a means of unpacking all the files into the appropriate places; modern distributions include advanced package management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Early distributions included SLS and </a:t>
            </a:r>
            <a:r>
              <a:rPr lang="en-US" dirty="0" err="1">
                <a:latin typeface="Helvetica" charset="0"/>
                <a:ea typeface="MS PGothic" charset="0"/>
              </a:rPr>
              <a:t>Slackware</a:t>
            </a:r>
            <a:r>
              <a:rPr lang="en-US" dirty="0">
                <a:latin typeface="Helvetica" charset="0"/>
                <a:ea typeface="MS PGothic" charset="0"/>
              </a:rPr>
              <a:t> </a:t>
            </a:r>
          </a:p>
          <a:p>
            <a:pPr lvl="1"/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Red Hat</a:t>
            </a:r>
            <a:r>
              <a:rPr lang="en-US" dirty="0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 dirty="0">
                <a:latin typeface="Helvetica" charset="0"/>
                <a:ea typeface="MS PGothic" charset="0"/>
              </a:rPr>
              <a:t>and</a:t>
            </a:r>
            <a:r>
              <a:rPr lang="en-US" b="1" dirty="0">
                <a:latin typeface="Helvetica" charset="0"/>
                <a:ea typeface="MS PGothic" charset="0"/>
              </a:rPr>
              <a:t> </a:t>
            </a:r>
            <a:r>
              <a:rPr lang="en-US" b="1" dirty="0" err="1">
                <a:solidFill>
                  <a:srgbClr val="3366FF"/>
                </a:solidFill>
                <a:latin typeface="Helvetica" charset="0"/>
                <a:ea typeface="MS PGothic" charset="0"/>
              </a:rPr>
              <a:t>Debian</a:t>
            </a:r>
            <a:r>
              <a:rPr lang="en-US" dirty="0">
                <a:latin typeface="Helvetica" charset="0"/>
                <a:ea typeface="MS PGothic" charset="0"/>
              </a:rPr>
              <a:t> are popular distributions from commercial and noncommercial sources, respectively, others include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Canonical</a:t>
            </a:r>
            <a:r>
              <a:rPr lang="en-US" dirty="0">
                <a:latin typeface="Helvetica" charset="0"/>
                <a:ea typeface="MS PGothic" charset="0"/>
              </a:rPr>
              <a:t> and </a:t>
            </a:r>
            <a:r>
              <a:rPr lang="en-US" b="1" dirty="0" err="1">
                <a:solidFill>
                  <a:srgbClr val="3366FF"/>
                </a:solidFill>
                <a:latin typeface="Helvetica" charset="0"/>
                <a:ea typeface="MS PGothic" charset="0"/>
              </a:rPr>
              <a:t>SuSE</a:t>
            </a:r>
            <a:endParaRPr lang="en-US" b="1" dirty="0">
              <a:solidFill>
                <a:srgbClr val="3366FF"/>
              </a:solidFill>
              <a:latin typeface="Helvetica" charset="0"/>
              <a:ea typeface="MS PGothic" charset="0"/>
            </a:endParaRPr>
          </a:p>
          <a:p>
            <a:r>
              <a:rPr lang="en-US" dirty="0">
                <a:latin typeface="Helvetica" charset="0"/>
                <a:ea typeface="MS PGothic" charset="0"/>
              </a:rPr>
              <a:t>The RPM Package file format permits compatibility among the various Linux distributions</a:t>
            </a:r>
          </a:p>
        </p:txBody>
      </p:sp>
    </p:spTree>
    <p:extLst>
      <p:ext uri="{BB962C8B-B14F-4D97-AF65-F5344CB8AC3E}">
        <p14:creationId xmlns:p14="http://schemas.microsoft.com/office/powerpoint/2010/main" val="3644535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4338"/>
            <a:ext cx="8229600" cy="576262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MS PGothic" charset="0"/>
              </a:rPr>
              <a:t>Linux Licensing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60500"/>
            <a:ext cx="8077200" cy="44831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The Linux kernel is distributed under the GNU General Public License (GPL), the terms of which are set out by the Free Software Foundation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Not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public domain</a:t>
            </a:r>
            <a:r>
              <a:rPr lang="en-US" dirty="0">
                <a:latin typeface="Helvetica" charset="0"/>
                <a:ea typeface="MS PGothic" charset="0"/>
              </a:rPr>
              <a:t>, in that not all rights are waived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Anyone using Linux, or creating their own derivative of Linux, may not make the derived product proprietary; software released under the GPL may not be redistributed as a binary-only product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Can sell distributions, but must offer the source code too</a:t>
            </a:r>
          </a:p>
        </p:txBody>
      </p:sp>
    </p:spTree>
    <p:extLst>
      <p:ext uri="{BB962C8B-B14F-4D97-AF65-F5344CB8AC3E}">
        <p14:creationId xmlns:p14="http://schemas.microsoft.com/office/powerpoint/2010/main" val="1008779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1937"/>
            <a:ext cx="8229600" cy="576263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MS PGothic" charset="0"/>
              </a:rPr>
              <a:t>Design Principles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12850"/>
            <a:ext cx="8686800" cy="5018088"/>
          </a:xfrm>
        </p:spPr>
        <p:txBody>
          <a:bodyPr/>
          <a:lstStyle/>
          <a:p>
            <a:r>
              <a:rPr lang="en-US" sz="2400" dirty="0">
                <a:latin typeface="Helvetica" charset="0"/>
                <a:ea typeface="MS PGothic" charset="0"/>
              </a:rPr>
              <a:t>Linux is a multiuser, multitasking system with a full set of UNIX-compatible tools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Its file system adheres to traditional UNIX semantics, and it fully implements the standard UNIX networking model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Main design goals are speed, efficiency, and standardization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Linux is designed to be compliant with the relevant POSIX documents; at least two Linux distributions have achieved official POSIX certification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Supports </a:t>
            </a:r>
            <a:r>
              <a:rPr lang="en-US" dirty="0" err="1">
                <a:latin typeface="Helvetica" charset="0"/>
                <a:ea typeface="MS PGothic" charset="0"/>
              </a:rPr>
              <a:t>Pthreads</a:t>
            </a:r>
            <a:r>
              <a:rPr lang="en-US" dirty="0">
                <a:latin typeface="Helvetica" charset="0"/>
                <a:ea typeface="MS PGothic" charset="0"/>
              </a:rPr>
              <a:t> and a subset of POSIX real-time process control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The Linux programming interface adheres to the SVR4 UNIX semantics, rather than to BSD behavior</a:t>
            </a:r>
          </a:p>
          <a:p>
            <a:endParaRPr lang="en-US" sz="2400" dirty="0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359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57238" y="161925"/>
            <a:ext cx="7929562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Components of a Linux System</a:t>
            </a:r>
          </a:p>
        </p:txBody>
      </p:sp>
      <p:pic>
        <p:nvPicPr>
          <p:cNvPr id="13315" name="Picture 1" descr="18_0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825" y="1381125"/>
            <a:ext cx="6778625" cy="267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4325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35063" y="58738"/>
            <a:ext cx="7732712" cy="650875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MS PGothic" charset="0"/>
              </a:rPr>
              <a:t>Components of a Linux System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6138" y="1049338"/>
            <a:ext cx="6977062" cy="4660900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Like most UNIX implementations, Linux is composed of three main bodies of code; the most important distinction between the kernel and all other components.</a:t>
            </a:r>
            <a:endParaRPr lang="en-US" sz="800" dirty="0" smtClean="0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The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kernel</a:t>
            </a:r>
            <a:r>
              <a:rPr lang="en-US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>
              <a:rPr lang="en-US" dirty="0">
                <a:ea typeface="ＭＳ Ｐゴシック" charset="0"/>
                <a:cs typeface="ＭＳ Ｐゴシック" charset="0"/>
              </a:rPr>
              <a:t>is responsible for maintaining the important abstractions of the operating system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Kernel code executes in </a:t>
            </a:r>
            <a:r>
              <a:rPr lang="en-US" i="1" dirty="0">
                <a:ea typeface="ＭＳ Ｐゴシック" charset="0"/>
              </a:rPr>
              <a:t>kernel mode</a:t>
            </a:r>
            <a:r>
              <a:rPr lang="en-US" dirty="0">
                <a:ea typeface="ＭＳ Ｐゴシック" charset="0"/>
              </a:rPr>
              <a:t> with full access to all the physical resources of the computer</a:t>
            </a:r>
          </a:p>
          <a:p>
            <a:pPr lvl="1">
              <a:defRPr/>
            </a:pPr>
            <a:r>
              <a:rPr lang="en-US" dirty="0">
                <a:ea typeface="ＭＳ Ｐゴシック" charset="0"/>
              </a:rPr>
              <a:t>All kernel code and data structures are kept in the same single address </a:t>
            </a:r>
            <a:r>
              <a:rPr lang="en-US" dirty="0" smtClean="0">
                <a:ea typeface="ＭＳ Ｐゴシック" charset="0"/>
              </a:rPr>
              <a:t>space</a:t>
            </a:r>
          </a:p>
          <a:p>
            <a:pPr marL="456723" lvl="1" indent="0">
              <a:buFont typeface="Monotype Sorts" pitchFamily="-84" charset="2"/>
              <a:buNone/>
              <a:defRPr/>
            </a:pPr>
            <a:endParaRPr lang="en-US" dirty="0"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587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35063" y="58738"/>
            <a:ext cx="7732712" cy="650875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MS PGothic" charset="0"/>
              </a:rPr>
              <a:t>Components of a Linux System (Cont.)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6138" y="1049338"/>
            <a:ext cx="6745287" cy="4660900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charset="0"/>
              </a:rPr>
              <a:t>The </a:t>
            </a:r>
            <a:r>
              <a:rPr lang="en-US" b="1">
                <a:solidFill>
                  <a:srgbClr val="3366FF"/>
                </a:solidFill>
                <a:latin typeface="Helvetica" charset="0"/>
                <a:ea typeface="MS PGothic" charset="0"/>
              </a:rPr>
              <a:t>system libraries</a:t>
            </a:r>
            <a:r>
              <a:rPr lang="en-US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>
                <a:latin typeface="Helvetica" charset="0"/>
                <a:ea typeface="MS PGothic" charset="0"/>
              </a:rPr>
              <a:t>define a standard set of functions through which applications interact with the kernel, and which implement much of the operating-system functionality that does not need the full privileges of kernel code</a:t>
            </a:r>
            <a:endParaRPr lang="en-US" sz="800">
              <a:latin typeface="Helvetica" charset="0"/>
              <a:ea typeface="MS PGothic" charset="0"/>
            </a:endParaRPr>
          </a:p>
          <a:p>
            <a:r>
              <a:rPr lang="en-US">
                <a:latin typeface="Helvetica" charset="0"/>
                <a:ea typeface="MS PGothic" charset="0"/>
              </a:rPr>
              <a:t>The </a:t>
            </a:r>
            <a:r>
              <a:rPr lang="en-US" b="1">
                <a:solidFill>
                  <a:srgbClr val="3366FF"/>
                </a:solidFill>
                <a:latin typeface="Helvetica" charset="0"/>
                <a:ea typeface="MS PGothic" charset="0"/>
              </a:rPr>
              <a:t>system utilities </a:t>
            </a:r>
            <a:r>
              <a:rPr lang="en-US">
                <a:latin typeface="Helvetica" charset="0"/>
                <a:ea typeface="MS PGothic" charset="0"/>
              </a:rPr>
              <a:t>perform individual specialized management tasks</a:t>
            </a:r>
            <a:endParaRPr lang="en-US" sz="800">
              <a:latin typeface="Helvetica" charset="0"/>
              <a:ea typeface="MS PGothic" charset="0"/>
            </a:endParaRPr>
          </a:p>
          <a:p>
            <a:r>
              <a:rPr lang="en-US">
                <a:latin typeface="Helvetica" charset="0"/>
                <a:ea typeface="MS PGothic" charset="0"/>
              </a:rPr>
              <a:t>User-mode programs rich and varied, including multiple </a:t>
            </a:r>
            <a:r>
              <a:rPr lang="en-US" b="1">
                <a:solidFill>
                  <a:srgbClr val="3366FF"/>
                </a:solidFill>
                <a:latin typeface="Helvetica" charset="0"/>
                <a:ea typeface="MS PGothic" charset="0"/>
              </a:rPr>
              <a:t>shells</a:t>
            </a:r>
            <a:r>
              <a:rPr lang="en-US">
                <a:latin typeface="Helvetica" charset="0"/>
                <a:ea typeface="MS PGothic" charset="0"/>
              </a:rPr>
              <a:t> like the </a:t>
            </a:r>
            <a:r>
              <a:rPr lang="en-US" b="1">
                <a:solidFill>
                  <a:srgbClr val="3366FF"/>
                </a:solidFill>
                <a:latin typeface="Helvetica" charset="0"/>
                <a:ea typeface="MS PGothic" charset="0"/>
              </a:rPr>
              <a:t>bourne-again </a:t>
            </a:r>
            <a:r>
              <a:rPr lang="en-US">
                <a:latin typeface="Helvetica" charset="0"/>
                <a:ea typeface="MS PGothic" charset="0"/>
              </a:rPr>
              <a:t>(</a:t>
            </a:r>
            <a:r>
              <a:rPr lang="en-US" b="1">
                <a:solidFill>
                  <a:srgbClr val="3366FF"/>
                </a:solidFill>
                <a:latin typeface="Helvetica" charset="0"/>
                <a:ea typeface="MS PGothic" charset="0"/>
              </a:rPr>
              <a:t>bash</a:t>
            </a:r>
            <a:r>
              <a:rPr lang="en-US">
                <a:latin typeface="Helvetica" charset="0"/>
                <a:ea typeface="MS PGothic" charset="0"/>
              </a:rPr>
              <a:t>)</a:t>
            </a:r>
          </a:p>
          <a:p>
            <a:pPr marL="455613" lvl="1" indent="0">
              <a:buFont typeface="Monotype Sorts" charset="0"/>
              <a:buNone/>
            </a:pPr>
            <a:endParaRPr lang="en-US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4287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7638"/>
            <a:ext cx="8229600" cy="5762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Kernel Modules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85800"/>
            <a:ext cx="8839200" cy="5284787"/>
          </a:xfrm>
        </p:spPr>
        <p:txBody>
          <a:bodyPr/>
          <a:lstStyle/>
          <a:p>
            <a:r>
              <a:rPr lang="en-US" sz="2400" dirty="0">
                <a:latin typeface="Helvetica" charset="0"/>
                <a:ea typeface="MS PGothic" charset="0"/>
              </a:rPr>
              <a:t>Sections of kernel code that can be compiled, loaded, and unloaded independent of the rest of the kernel.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A kernel module may typically implement a device driver, a file system, or a networking protocol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The module interface allows third parties to write and distribute, on their own terms, device drivers or file systems that could not be distributed under the GPL.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Kernel modules allow a Linux system to be set up with a standard, minimal kernel, without any extra device drivers built in.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Four components to Linux module support:</a:t>
            </a:r>
          </a:p>
          <a:p>
            <a:pPr lvl="1"/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module-management system</a:t>
            </a:r>
          </a:p>
          <a:p>
            <a:pPr lvl="1"/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module loader and </a:t>
            </a:r>
            <a:r>
              <a:rPr lang="en-US" b="1" dirty="0" err="1">
                <a:solidFill>
                  <a:srgbClr val="3366FF"/>
                </a:solidFill>
                <a:latin typeface="Helvetica" charset="0"/>
                <a:ea typeface="MS PGothic" charset="0"/>
              </a:rPr>
              <a:t>unloader</a:t>
            </a:r>
            <a:endParaRPr lang="en-US" b="1" dirty="0">
              <a:solidFill>
                <a:srgbClr val="3366FF"/>
              </a:solidFill>
              <a:latin typeface="Helvetica" charset="0"/>
              <a:ea typeface="MS PGothic" charset="0"/>
            </a:endParaRPr>
          </a:p>
          <a:p>
            <a:pPr lvl="1"/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driver-registration system</a:t>
            </a:r>
          </a:p>
          <a:p>
            <a:pPr lvl="1"/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conflict-resolution mechanism</a:t>
            </a:r>
          </a:p>
        </p:txBody>
      </p:sp>
    </p:spTree>
    <p:extLst>
      <p:ext uri="{BB962C8B-B14F-4D97-AF65-F5344CB8AC3E}">
        <p14:creationId xmlns:p14="http://schemas.microsoft.com/office/powerpoint/2010/main" val="2665333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720725" y="566738"/>
            <a:ext cx="7966075" cy="576262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MS PGothic" charset="0"/>
              </a:rPr>
              <a:t>Module Management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60500"/>
            <a:ext cx="8763000" cy="44831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Supports loading modules into memory and letting them talk to the rest of the kernel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Module loading is split into two separate sections: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Managing sections of module code in kernel memory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Handling symbols that modules are allowed to reference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module requestor manages loading requested, but currently unloaded, modules; it also regularly queries the kernel to see whether a dynamically loaded module is still in use, and will unload it when it is no longer actively needed</a:t>
            </a:r>
          </a:p>
        </p:txBody>
      </p:sp>
    </p:spTree>
    <p:extLst>
      <p:ext uri="{BB962C8B-B14F-4D97-AF65-F5344CB8AC3E}">
        <p14:creationId xmlns:p14="http://schemas.microsoft.com/office/powerpoint/2010/main" val="1105095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0500"/>
            <a:ext cx="82296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Driver Registration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1" y="1141413"/>
            <a:ext cx="7297738" cy="44831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Allows modules to tell the rest of the kernel that a new driver has become available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kernel maintains dynamic tables of all known drivers, and provides a set of routines to allow drivers to be added to or removed from these tables at any time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Registration tables include the following items:  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Device drivers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File systems 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Network protocols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Binary format</a:t>
            </a:r>
          </a:p>
        </p:txBody>
      </p:sp>
    </p:spTree>
    <p:extLst>
      <p:ext uri="{BB962C8B-B14F-4D97-AF65-F5344CB8AC3E}">
        <p14:creationId xmlns:p14="http://schemas.microsoft.com/office/powerpoint/2010/main" val="913192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Conflict Resolution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762000"/>
            <a:ext cx="8229600" cy="44831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A mechanism that allows different device drivers to reserve hardware resources and to protect those resources from accidental use by another driver.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conflict resolution module aims to: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Prevent modules from clashing over access to hardware resources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Prevent </a:t>
            </a:r>
            <a:r>
              <a:rPr lang="en-US" b="1" dirty="0" err="1">
                <a:solidFill>
                  <a:srgbClr val="3366FF"/>
                </a:solidFill>
                <a:latin typeface="Helvetica" charset="0"/>
                <a:ea typeface="MS PGothic" charset="0"/>
              </a:rPr>
              <a:t>autoprobes</a:t>
            </a:r>
            <a:r>
              <a:rPr lang="en-US" i="1" dirty="0">
                <a:latin typeface="Helvetica" charset="0"/>
                <a:ea typeface="MS PGothic" charset="0"/>
              </a:rPr>
              <a:t> </a:t>
            </a:r>
            <a:r>
              <a:rPr lang="en-US" dirty="0">
                <a:latin typeface="Helvetica" charset="0"/>
                <a:ea typeface="MS PGothic" charset="0"/>
              </a:rPr>
              <a:t>from interfering with existing device drivers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Resolve conflicts with multiple drivers trying to access the same hardware:</a:t>
            </a:r>
          </a:p>
          <a:p>
            <a:pPr lvl="2">
              <a:buFont typeface="Arial" charset="0"/>
              <a:buAutoNum type="arabicPeriod"/>
            </a:pPr>
            <a:r>
              <a:rPr lang="en-US" dirty="0">
                <a:latin typeface="Helvetica" charset="0"/>
                <a:ea typeface="MS PGothic" charset="0"/>
              </a:rPr>
              <a:t>Kernel maintains list of allocated HW resources</a:t>
            </a:r>
            <a:br>
              <a:rPr lang="en-US" dirty="0">
                <a:latin typeface="Helvetica" charset="0"/>
                <a:ea typeface="MS PGothic" charset="0"/>
              </a:rPr>
            </a:br>
            <a:endParaRPr lang="en-US" sz="800" dirty="0">
              <a:latin typeface="Helvetica" charset="0"/>
              <a:ea typeface="MS PGothic" charset="0"/>
            </a:endParaRPr>
          </a:p>
          <a:p>
            <a:pPr lvl="2">
              <a:buFont typeface="Arial" charset="0"/>
              <a:buAutoNum type="arabicPeriod"/>
            </a:pPr>
            <a:r>
              <a:rPr lang="en-US" dirty="0">
                <a:latin typeface="Helvetica" charset="0"/>
                <a:ea typeface="MS PGothic" charset="0"/>
              </a:rPr>
              <a:t>Driver reserves resources with kernel database first</a:t>
            </a:r>
            <a:br>
              <a:rPr lang="en-US" dirty="0">
                <a:latin typeface="Helvetica" charset="0"/>
                <a:ea typeface="MS PGothic" charset="0"/>
              </a:rPr>
            </a:br>
            <a:endParaRPr lang="en-US" sz="800" dirty="0">
              <a:latin typeface="Helvetica" charset="0"/>
              <a:ea typeface="MS PGothic" charset="0"/>
            </a:endParaRPr>
          </a:p>
          <a:p>
            <a:pPr lvl="2">
              <a:buFont typeface="Arial" charset="0"/>
              <a:buAutoNum type="arabicPeriod"/>
            </a:pPr>
            <a:r>
              <a:rPr lang="en-US" dirty="0">
                <a:latin typeface="Helvetica" charset="0"/>
                <a:ea typeface="MS PGothic" charset="0"/>
              </a:rPr>
              <a:t>Reservation request rejected if resource not available</a:t>
            </a:r>
          </a:p>
        </p:txBody>
      </p:sp>
    </p:spTree>
    <p:extLst>
      <p:ext uri="{BB962C8B-B14F-4D97-AF65-F5344CB8AC3E}">
        <p14:creationId xmlns:p14="http://schemas.microsoft.com/office/powerpoint/2010/main" val="3556931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46138" y="414337"/>
            <a:ext cx="7840662" cy="576263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MS PGothic" charset="0"/>
              </a:rPr>
              <a:t>Process Management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60500"/>
            <a:ext cx="7620000" cy="448310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UNIX process management separates the creation of processes and the running of a new program into two distinct operations.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</a:t>
            </a:r>
            <a:r>
              <a:rPr lang="en-US" dirty="0">
                <a:latin typeface="Courier New" charset="0"/>
                <a:ea typeface="ＭＳ Ｐゴシック" charset="0"/>
                <a:cs typeface="Courier New" charset="0"/>
              </a:rPr>
              <a:t>fork() </a:t>
            </a:r>
            <a:r>
              <a:rPr lang="en-US" dirty="0">
                <a:latin typeface="Helvetica" charset="0"/>
                <a:ea typeface="MS PGothic" charset="0"/>
              </a:rPr>
              <a:t>system call creates a new process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A new program is run after a call to </a:t>
            </a:r>
            <a:r>
              <a:rPr lang="en-US" dirty="0">
                <a:latin typeface="Courier New" charset="0"/>
                <a:ea typeface="ＭＳ Ｐゴシック" charset="0"/>
                <a:cs typeface="Courier New" charset="0"/>
              </a:rPr>
              <a:t>exec()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Under UNIX, a process encompasses all the information that the operating system must maintain to track the context of a single execution of a single program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Under Linux, process properties fall into three groups:  the process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identity, environment, and context</a:t>
            </a:r>
            <a:endParaRPr lang="en-US" dirty="0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512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42863"/>
            <a:ext cx="8229600" cy="576263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MS PGothic" charset="0"/>
              </a:rPr>
              <a:t>Process Identity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457200"/>
            <a:ext cx="9067800" cy="4873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dirty="0">
                <a:latin typeface="Helvetica" charset="0"/>
                <a:ea typeface="MS PGothic" charset="0"/>
              </a:rPr>
              <a:t>Process ID (PID) </a:t>
            </a:r>
            <a:r>
              <a:rPr lang="en-US" sz="2400" dirty="0">
                <a:latin typeface="Helvetica" charset="0"/>
                <a:ea typeface="MS PGothic" charset="0"/>
              </a:rPr>
              <a:t>- The unique identifier for the process; used to specify processes to the operating system when an application makes a system call to signal, modify, or wait for another process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latin typeface="Helvetica" charset="0"/>
                <a:ea typeface="MS PGothic" charset="0"/>
              </a:rPr>
              <a:t>Credentials</a:t>
            </a:r>
            <a:r>
              <a:rPr lang="en-US" sz="2400" dirty="0">
                <a:latin typeface="Helvetica" charset="0"/>
                <a:ea typeface="MS PGothic" charset="0"/>
              </a:rPr>
              <a:t> -  Each process must have an associated user ID and one or more group IDs that determine the process</a:t>
            </a:r>
            <a:r>
              <a:rPr lang="ja-JP" altLang="en-US" sz="2400" dirty="0">
                <a:latin typeface="Helvetica" charset="0"/>
                <a:ea typeface="MS PGothic" charset="0"/>
              </a:rPr>
              <a:t>’</a:t>
            </a:r>
            <a:r>
              <a:rPr lang="en-US" altLang="ja-JP" sz="2400" dirty="0">
                <a:latin typeface="Helvetica" charset="0"/>
                <a:ea typeface="MS PGothic" charset="0"/>
              </a:rPr>
              <a:t>s rights to access system resources and files</a:t>
            </a:r>
            <a:endParaRPr lang="en-US" sz="2400" dirty="0">
              <a:latin typeface="Helvetica" charset="0"/>
              <a:ea typeface="MS PGothic" charset="0"/>
            </a:endParaRPr>
          </a:p>
          <a:p>
            <a:pPr>
              <a:lnSpc>
                <a:spcPct val="90000"/>
              </a:lnSpc>
            </a:pPr>
            <a:r>
              <a:rPr lang="en-US" sz="2400" b="1" dirty="0">
                <a:latin typeface="Helvetica" charset="0"/>
                <a:ea typeface="MS PGothic" charset="0"/>
              </a:rPr>
              <a:t>Personality</a:t>
            </a:r>
            <a:r>
              <a:rPr lang="en-US" sz="2400" dirty="0">
                <a:latin typeface="Helvetica" charset="0"/>
                <a:ea typeface="MS PGothic" charset="0"/>
              </a:rPr>
              <a:t> -  Not traditionally found on UNIX systems, but under Linux each process has an associated personality identifier that can slightly modify the semantics of certain system calls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Used primarily by emulation libraries to request that system calls be compatible with certain specific flavors of UNIX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latin typeface="Helvetica" charset="0"/>
                <a:ea typeface="MS PGothic" charset="0"/>
              </a:rPr>
              <a:t>Namespace</a:t>
            </a:r>
            <a:r>
              <a:rPr lang="en-US" sz="2400" dirty="0">
                <a:latin typeface="Helvetica" charset="0"/>
                <a:ea typeface="MS PGothic" charset="0"/>
              </a:rPr>
              <a:t> – Specific view of file system hierarchy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Most processes share common namespace and operate on a shared file-system hierarchy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But each can have unique file-system hierarchy with its own root directory and set of mounted file systems</a:t>
            </a:r>
          </a:p>
          <a:p>
            <a:pPr>
              <a:lnSpc>
                <a:spcPct val="90000"/>
              </a:lnSpc>
            </a:pPr>
            <a:endParaRPr lang="en-US" sz="2400" dirty="0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915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Process Environment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609600"/>
            <a:ext cx="8915400" cy="5232400"/>
          </a:xfrm>
          <a:noFill/>
        </p:spPr>
        <p:txBody>
          <a:bodyPr/>
          <a:lstStyle/>
          <a:p>
            <a:r>
              <a:rPr lang="en-US" sz="2400" dirty="0">
                <a:latin typeface="Helvetica" charset="0"/>
                <a:ea typeface="MS PGothic" charset="0"/>
              </a:rPr>
              <a:t>The process</a:t>
            </a:r>
            <a:r>
              <a:rPr lang="ja-JP" altLang="en-US" sz="2400" dirty="0">
                <a:latin typeface="Helvetica" charset="0"/>
                <a:ea typeface="MS PGothic" charset="0"/>
              </a:rPr>
              <a:t>’</a:t>
            </a:r>
            <a:r>
              <a:rPr lang="en-US" altLang="ja-JP" sz="2400" dirty="0">
                <a:latin typeface="Helvetica" charset="0"/>
                <a:ea typeface="MS PGothic" charset="0"/>
              </a:rPr>
              <a:t>s environment is inherited from its parent, and is composed of two null-terminated vectors: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argument vector </a:t>
            </a:r>
            <a:r>
              <a:rPr lang="en-US" dirty="0">
                <a:latin typeface="Helvetica" charset="0"/>
                <a:ea typeface="MS PGothic" charset="0"/>
              </a:rPr>
              <a:t>lists the command-line arguments used to invoke the running program; conventionally starts with the name of the program itself.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environment vector </a:t>
            </a:r>
            <a:r>
              <a:rPr lang="en-US" dirty="0">
                <a:latin typeface="Helvetica" charset="0"/>
                <a:ea typeface="MS PGothic" charset="0"/>
              </a:rPr>
              <a:t>is a list of </a:t>
            </a:r>
            <a:r>
              <a:rPr lang="ja-JP" altLang="en-US" dirty="0">
                <a:latin typeface="Helvetica" charset="0"/>
                <a:ea typeface="MS PGothic" charset="0"/>
              </a:rPr>
              <a:t>“</a:t>
            </a:r>
            <a:r>
              <a:rPr lang="en-US" altLang="ja-JP" dirty="0">
                <a:latin typeface="Helvetica" charset="0"/>
                <a:ea typeface="MS PGothic" charset="0"/>
              </a:rPr>
              <a:t>NAME=VALUE</a:t>
            </a:r>
            <a:r>
              <a:rPr lang="ja-JP" altLang="en-US" dirty="0">
                <a:latin typeface="Helvetica" charset="0"/>
                <a:ea typeface="MS PGothic" charset="0"/>
              </a:rPr>
              <a:t>”</a:t>
            </a:r>
            <a:r>
              <a:rPr lang="en-US" altLang="ja-JP" dirty="0">
                <a:latin typeface="Helvetica" charset="0"/>
                <a:ea typeface="MS PGothic" charset="0"/>
              </a:rPr>
              <a:t> pairs that associates named environment variables with arbitrary textual values.</a:t>
            </a:r>
            <a:endParaRPr lang="en-US" dirty="0">
              <a:latin typeface="Helvetica" charset="0"/>
              <a:ea typeface="MS PGothic" charset="0"/>
            </a:endParaRPr>
          </a:p>
          <a:p>
            <a:r>
              <a:rPr lang="en-US" sz="2400" dirty="0">
                <a:latin typeface="Helvetica" charset="0"/>
                <a:ea typeface="MS PGothic" charset="0"/>
              </a:rPr>
              <a:t>Passing environment variables among processes and inheriting variables by a process</a:t>
            </a:r>
            <a:r>
              <a:rPr lang="ja-JP" altLang="en-US" sz="2400" dirty="0">
                <a:latin typeface="Helvetica" charset="0"/>
                <a:ea typeface="MS PGothic" charset="0"/>
              </a:rPr>
              <a:t>’</a:t>
            </a:r>
            <a:r>
              <a:rPr lang="en-US" altLang="ja-JP" sz="2400" dirty="0">
                <a:latin typeface="Helvetica" charset="0"/>
                <a:ea typeface="MS PGothic" charset="0"/>
              </a:rPr>
              <a:t>s children are flexible means of passing information to components of the user-mode system software.</a:t>
            </a:r>
            <a:endParaRPr lang="en-US" sz="2400" dirty="0">
              <a:latin typeface="Helvetica" charset="0"/>
              <a:ea typeface="MS PGothic" charset="0"/>
            </a:endParaRPr>
          </a:p>
          <a:p>
            <a:r>
              <a:rPr lang="en-US" sz="2400" dirty="0">
                <a:latin typeface="Helvetica" charset="0"/>
                <a:ea typeface="MS PGothic" charset="0"/>
              </a:rPr>
              <a:t>The environment-variable mechanism provides a customization of the operating system that can be set on a per-process basis, rather than being configured for the system as a whole.</a:t>
            </a:r>
          </a:p>
        </p:txBody>
      </p:sp>
    </p:spTree>
    <p:extLst>
      <p:ext uri="{BB962C8B-B14F-4D97-AF65-F5344CB8AC3E}">
        <p14:creationId xmlns:p14="http://schemas.microsoft.com/office/powerpoint/2010/main" val="1852688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Process Context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19163"/>
            <a:ext cx="8839200" cy="4872037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The (constantly changing) state of a running program at any point in time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scheduling context</a:t>
            </a:r>
            <a:r>
              <a:rPr lang="en-US" dirty="0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 dirty="0">
                <a:latin typeface="Helvetica" charset="0"/>
                <a:ea typeface="MS PGothic" charset="0"/>
              </a:rPr>
              <a:t>is the most important part of the process context; it is the information that the scheduler needs to suspend and restart the process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kernel maintains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accounting</a:t>
            </a:r>
            <a:r>
              <a:rPr lang="en-US" dirty="0">
                <a:latin typeface="Helvetica" charset="0"/>
                <a:ea typeface="MS PGothic" charset="0"/>
              </a:rPr>
              <a:t> information about the resources currently being consumed by each process, and the total resources consumed by the process in its lifetime so far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file table</a:t>
            </a:r>
            <a:r>
              <a:rPr lang="en-US" dirty="0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 dirty="0">
                <a:latin typeface="Helvetica" charset="0"/>
                <a:ea typeface="MS PGothic" charset="0"/>
              </a:rPr>
              <a:t>is an array of pointers to kernel file structures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When making file I/O system calls, processes refer to files by their index into this table, the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file descriptor</a:t>
            </a:r>
            <a:r>
              <a:rPr lang="en-US" dirty="0">
                <a:latin typeface="Helvetica" charset="0"/>
                <a:ea typeface="MS PGothic" charset="0"/>
              </a:rPr>
              <a:t> (</a:t>
            </a:r>
            <a:r>
              <a:rPr lang="en-US" b="1" dirty="0" err="1">
                <a:solidFill>
                  <a:srgbClr val="3366FF"/>
                </a:solidFill>
                <a:latin typeface="Helvetica" charset="0"/>
                <a:ea typeface="MS PGothic" charset="0"/>
              </a:rPr>
              <a:t>fd</a:t>
            </a:r>
            <a:r>
              <a:rPr lang="en-US" dirty="0">
                <a:latin typeface="Helvetica" charset="0"/>
                <a:ea typeface="MS PGothic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16881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739775" y="490538"/>
            <a:ext cx="7947025" cy="576262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MS PGothic" charset="0"/>
              </a:rPr>
              <a:t>Process Context (Cont.)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37" y="1412875"/>
            <a:ext cx="7510463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Whereas the file table lists the existing open files, the </a:t>
            </a:r>
            <a:br>
              <a:rPr lang="en-US" dirty="0">
                <a:latin typeface="Helvetica" charset="0"/>
                <a:ea typeface="MS PGothic" charset="0"/>
              </a:rPr>
            </a:b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file-system context</a:t>
            </a:r>
            <a:r>
              <a:rPr lang="en-US" dirty="0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 dirty="0">
                <a:latin typeface="Helvetica" charset="0"/>
                <a:ea typeface="MS PGothic" charset="0"/>
              </a:rPr>
              <a:t>applies to requests to open new files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current root and default directories to be used for new file searches are stored here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</a:t>
            </a:r>
            <a:r>
              <a:rPr lang="en-US" b="1" dirty="0">
                <a:latin typeface="Helvetica" charset="0"/>
                <a:ea typeface="MS PGothic" charset="0"/>
              </a:rPr>
              <a:t>signal-handler table</a:t>
            </a:r>
            <a:r>
              <a:rPr lang="en-US" dirty="0">
                <a:latin typeface="Helvetica" charset="0"/>
                <a:ea typeface="MS PGothic" charset="0"/>
              </a:rPr>
              <a:t> defines the routine in the process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address space to be called when specific signals arrive</a:t>
            </a:r>
            <a:endParaRPr lang="en-US" dirty="0">
              <a:latin typeface="Helvetica" charset="0"/>
              <a:ea typeface="MS PGothic" charset="0"/>
            </a:endParaRPr>
          </a:p>
          <a:p>
            <a:r>
              <a:rPr lang="en-US" dirty="0">
                <a:latin typeface="Helvetica" charset="0"/>
                <a:ea typeface="MS PGothic" charset="0"/>
              </a:rPr>
              <a:t>The </a:t>
            </a:r>
            <a:r>
              <a:rPr lang="en-US" b="1" dirty="0">
                <a:latin typeface="Helvetica" charset="0"/>
                <a:ea typeface="MS PGothic" charset="0"/>
              </a:rPr>
              <a:t>virtual-memory context</a:t>
            </a:r>
            <a:r>
              <a:rPr lang="en-US" dirty="0">
                <a:latin typeface="Helvetica" charset="0"/>
                <a:ea typeface="MS PGothic" charset="0"/>
              </a:rPr>
              <a:t> of a process describes the full contents of the its private address space</a:t>
            </a:r>
          </a:p>
        </p:txBody>
      </p:sp>
    </p:spTree>
    <p:extLst>
      <p:ext uri="{BB962C8B-B14F-4D97-AF65-F5344CB8AC3E}">
        <p14:creationId xmlns:p14="http://schemas.microsoft.com/office/powerpoint/2010/main" val="1884180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1400" y="133350"/>
            <a:ext cx="76454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Processes and Threads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9475" y="1073150"/>
            <a:ext cx="7277100" cy="3281363"/>
          </a:xfrm>
        </p:spPr>
        <p:txBody>
          <a:bodyPr/>
          <a:lstStyle/>
          <a:p>
            <a:r>
              <a:rPr lang="en-US" sz="1600">
                <a:latin typeface="Helvetica" charset="0"/>
                <a:ea typeface="MS PGothic" charset="0"/>
              </a:rPr>
              <a:t>Linux uses the same internal representation for processes and threads; a thread is simply a new process that happens to share the same address space as its parent</a:t>
            </a:r>
          </a:p>
          <a:p>
            <a:pPr lvl="1"/>
            <a:r>
              <a:rPr lang="en-US" sz="1600">
                <a:latin typeface="Helvetica" charset="0"/>
                <a:ea typeface="MS PGothic" charset="0"/>
              </a:rPr>
              <a:t>Both are called </a:t>
            </a:r>
            <a:r>
              <a:rPr lang="en-US" sz="1600" b="1" i="1">
                <a:latin typeface="Helvetica" charset="0"/>
                <a:ea typeface="MS PGothic" charset="0"/>
              </a:rPr>
              <a:t>tasks</a:t>
            </a:r>
            <a:r>
              <a:rPr lang="en-US" sz="1600">
                <a:latin typeface="Helvetica" charset="0"/>
                <a:ea typeface="MS PGothic" charset="0"/>
              </a:rPr>
              <a:t> by Linux</a:t>
            </a:r>
          </a:p>
          <a:p>
            <a:r>
              <a:rPr lang="en-US" sz="1600">
                <a:latin typeface="Helvetica" charset="0"/>
                <a:ea typeface="MS PGothic" charset="0"/>
              </a:rPr>
              <a:t>A distinction is only made when a new thread is created by the </a:t>
            </a:r>
            <a:r>
              <a:rPr lang="en-US" sz="1600">
                <a:latin typeface="Courier New" charset="0"/>
                <a:ea typeface="MS PGothic" charset="0"/>
                <a:cs typeface="Courier New" charset="0"/>
              </a:rPr>
              <a:t>clone()</a:t>
            </a:r>
            <a:r>
              <a:rPr lang="en-US" sz="1600">
                <a:latin typeface="Helvetica" charset="0"/>
                <a:ea typeface="MS PGothic" charset="0"/>
              </a:rPr>
              <a:t> system call</a:t>
            </a:r>
          </a:p>
          <a:p>
            <a:pPr lvl="1"/>
            <a:r>
              <a:rPr lang="en-US" sz="1600">
                <a:latin typeface="Courier New" charset="0"/>
                <a:ea typeface="ＭＳ Ｐゴシック" charset="0"/>
                <a:cs typeface="Courier New" charset="0"/>
              </a:rPr>
              <a:t>fork()</a:t>
            </a:r>
            <a:r>
              <a:rPr lang="en-US" sz="1600">
                <a:latin typeface="Helvetica" charset="0"/>
                <a:ea typeface="MS PGothic" charset="0"/>
              </a:rPr>
              <a:t> creates a new task with its own entirely new task context</a:t>
            </a:r>
          </a:p>
          <a:p>
            <a:pPr lvl="1"/>
            <a:r>
              <a:rPr lang="en-US" sz="1600">
                <a:latin typeface="Courier New" charset="0"/>
                <a:ea typeface="ＭＳ Ｐゴシック" charset="0"/>
                <a:cs typeface="Courier New" charset="0"/>
              </a:rPr>
              <a:t>clone()</a:t>
            </a:r>
            <a:r>
              <a:rPr lang="en-US" sz="1600">
                <a:latin typeface="Helvetica" charset="0"/>
                <a:ea typeface="MS PGothic" charset="0"/>
              </a:rPr>
              <a:t> creates a new task with its own identity, but that is allowed to share the data structures of its parent</a:t>
            </a:r>
          </a:p>
          <a:p>
            <a:r>
              <a:rPr lang="en-US" sz="1600">
                <a:latin typeface="Helvetica" charset="0"/>
                <a:ea typeface="MS PGothic" charset="0"/>
              </a:rPr>
              <a:t>Using </a:t>
            </a:r>
            <a:r>
              <a:rPr lang="en-US" sz="1600">
                <a:latin typeface="Courier New" charset="0"/>
                <a:ea typeface="MS PGothic" charset="0"/>
                <a:cs typeface="Courier New" charset="0"/>
              </a:rPr>
              <a:t>clone()</a:t>
            </a:r>
            <a:r>
              <a:rPr lang="en-US" sz="1600">
                <a:latin typeface="Helvetica" charset="0"/>
                <a:ea typeface="MS PGothic" charset="0"/>
              </a:rPr>
              <a:t> gives an application fine-grained control over exactly what is shared between two threads</a:t>
            </a:r>
          </a:p>
        </p:txBody>
      </p:sp>
      <p:pic>
        <p:nvPicPr>
          <p:cNvPr id="25604" name="Picture 1" descr="in-18_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4470400"/>
            <a:ext cx="4051300" cy="165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5285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1925"/>
            <a:ext cx="82296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Scheduling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03313"/>
            <a:ext cx="8686800" cy="4530725"/>
          </a:xfrm>
        </p:spPr>
        <p:txBody>
          <a:bodyPr/>
          <a:lstStyle/>
          <a:p>
            <a:r>
              <a:rPr lang="en-US" sz="2400" dirty="0">
                <a:latin typeface="Helvetica" charset="0"/>
                <a:ea typeface="MS PGothic" charset="0"/>
              </a:rPr>
              <a:t>The job of allocating CPU time to different tasks within an operating system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While scheduling is normally thought of as the running and interrupting of processes, in Linux, scheduling also includes the running of the various kernel tasks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Running kernel tasks encompasses both tasks that are requested by a running process and tasks that execute internally on behalf of a device driver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As of 2.5, new scheduling algorithm – preemptive, priority-based, known as </a:t>
            </a:r>
            <a:r>
              <a:rPr lang="en-US" sz="2400" i="1" dirty="0">
                <a:latin typeface="Helvetica" charset="0"/>
                <a:ea typeface="MS PGothic" charset="0"/>
              </a:rPr>
              <a:t>O</a:t>
            </a:r>
            <a:r>
              <a:rPr lang="en-US" sz="2400" dirty="0">
                <a:latin typeface="Helvetica" charset="0"/>
                <a:ea typeface="MS PGothic" charset="0"/>
              </a:rPr>
              <a:t>(1)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Real-time range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nice value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Had challenges with interactive performance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2.6 introduced </a:t>
            </a:r>
            <a:r>
              <a:rPr lang="en-US" sz="2400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Completely Fair Scheduler </a:t>
            </a:r>
            <a:r>
              <a:rPr lang="en-US" sz="2400" dirty="0">
                <a:latin typeface="Helvetica" charset="0"/>
                <a:ea typeface="MS PGothic" charset="0"/>
              </a:rPr>
              <a:t>(</a:t>
            </a:r>
            <a:r>
              <a:rPr lang="en-US" sz="2400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CFS</a:t>
            </a:r>
            <a:r>
              <a:rPr lang="en-US" sz="2400" dirty="0">
                <a:latin typeface="Helvetica" charset="0"/>
                <a:ea typeface="MS PGothic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42338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1925"/>
            <a:ext cx="8229600" cy="576263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MS PGothic" charset="0"/>
              </a:rPr>
              <a:t>CFS</a:t>
            </a:r>
          </a:p>
        </p:txBody>
      </p:sp>
      <p:sp>
        <p:nvSpPr>
          <p:cNvPr id="27651" name="Content Placeholder 1"/>
          <p:cNvSpPr>
            <a:spLocks noGrp="1"/>
          </p:cNvSpPr>
          <p:nvPr>
            <p:ph idx="1"/>
          </p:nvPr>
        </p:nvSpPr>
        <p:spPr>
          <a:xfrm>
            <a:off x="806450" y="762000"/>
            <a:ext cx="6740525" cy="46831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Eliminates traditional, common idea of time slice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Instead all tasks allocated portion of processor’s time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CFS calculates how long a process should run as a function of total number of tasks</a:t>
            </a:r>
          </a:p>
          <a:p>
            <a:r>
              <a:rPr lang="en-US" i="1" dirty="0">
                <a:latin typeface="Helvetica" charset="0"/>
                <a:ea typeface="MS PGothic" charset="0"/>
              </a:rPr>
              <a:t>N</a:t>
            </a:r>
            <a:r>
              <a:rPr lang="en-US" dirty="0">
                <a:latin typeface="Helvetica" charset="0"/>
                <a:ea typeface="MS PGothic" charset="0"/>
              </a:rPr>
              <a:t> runnable tasks means each gets 1/</a:t>
            </a:r>
            <a:r>
              <a:rPr lang="en-US" i="1" dirty="0">
                <a:latin typeface="Helvetica" charset="0"/>
                <a:ea typeface="MS PGothic" charset="0"/>
              </a:rPr>
              <a:t>N </a:t>
            </a:r>
            <a:r>
              <a:rPr lang="en-US" dirty="0">
                <a:latin typeface="Helvetica" charset="0"/>
                <a:ea typeface="MS PGothic" charset="0"/>
              </a:rPr>
              <a:t>of processor’s time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Then weights each task with its nice value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Smaller nice value -&gt; higher weight (higher priority)</a:t>
            </a:r>
          </a:p>
        </p:txBody>
      </p:sp>
    </p:spTree>
    <p:extLst>
      <p:ext uri="{BB962C8B-B14F-4D97-AF65-F5344CB8AC3E}">
        <p14:creationId xmlns:p14="http://schemas.microsoft.com/office/powerpoint/2010/main" val="2163632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1925"/>
            <a:ext cx="8229600" cy="576263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MS PGothic" charset="0"/>
              </a:rPr>
              <a:t>CFS (Cont.)</a:t>
            </a:r>
          </a:p>
        </p:txBody>
      </p:sp>
      <p:sp>
        <p:nvSpPr>
          <p:cNvPr id="28675" name="Content Placeholder 1"/>
          <p:cNvSpPr>
            <a:spLocks noGrp="1"/>
          </p:cNvSpPr>
          <p:nvPr>
            <p:ph idx="1"/>
          </p:nvPr>
        </p:nvSpPr>
        <p:spPr>
          <a:xfrm>
            <a:off x="806450" y="1081088"/>
            <a:ext cx="7104063" cy="4683125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charset="0"/>
              </a:rPr>
              <a:t>Then each task run with for time proportional to task’s weight divided by total weight  of all runnable tasks</a:t>
            </a:r>
          </a:p>
          <a:p>
            <a:r>
              <a:rPr lang="en-US">
                <a:latin typeface="Helvetica" charset="0"/>
                <a:ea typeface="MS PGothic" charset="0"/>
              </a:rPr>
              <a:t>Configurable variable </a:t>
            </a:r>
            <a:r>
              <a:rPr lang="en-US" b="1">
                <a:solidFill>
                  <a:srgbClr val="3366FF"/>
                </a:solidFill>
                <a:latin typeface="Helvetica" charset="0"/>
                <a:ea typeface="MS PGothic" charset="0"/>
              </a:rPr>
              <a:t>target latency </a:t>
            </a:r>
            <a:r>
              <a:rPr lang="en-US">
                <a:latin typeface="Helvetica" charset="0"/>
                <a:ea typeface="MS PGothic" charset="0"/>
              </a:rPr>
              <a:t>is desired interval during which each task should run at least once</a:t>
            </a:r>
          </a:p>
          <a:p>
            <a:pPr lvl="1"/>
            <a:r>
              <a:rPr lang="en-US">
                <a:latin typeface="Helvetica" charset="0"/>
                <a:ea typeface="MS PGothic" charset="0"/>
              </a:rPr>
              <a:t>Consider simple case of 2 runnable tasks with equal weight and target latency of 10ms – each then runs for 5ms</a:t>
            </a:r>
          </a:p>
          <a:p>
            <a:pPr lvl="2"/>
            <a:r>
              <a:rPr lang="en-US">
                <a:latin typeface="Helvetica" charset="0"/>
                <a:ea typeface="MS PGothic" charset="0"/>
              </a:rPr>
              <a:t>If 10 runnable tasks, each runs for 1ms</a:t>
            </a:r>
          </a:p>
          <a:p>
            <a:pPr lvl="2"/>
            <a:r>
              <a:rPr lang="en-US" b="1">
                <a:solidFill>
                  <a:srgbClr val="3366FF"/>
                </a:solidFill>
                <a:latin typeface="Helvetica" charset="0"/>
                <a:ea typeface="MS PGothic" charset="0"/>
              </a:rPr>
              <a:t>Minimum granularity </a:t>
            </a:r>
            <a:r>
              <a:rPr lang="en-US">
                <a:latin typeface="Helvetica" charset="0"/>
                <a:ea typeface="MS PGothic" charset="0"/>
              </a:rPr>
              <a:t>ensures each run has reasonable amount of time (which actually violates fairness idea)</a:t>
            </a:r>
          </a:p>
          <a:p>
            <a:pPr lvl="2"/>
            <a:endParaRPr lang="en-US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099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79463" y="161925"/>
            <a:ext cx="7907337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Kernel Synchronization</a:t>
            </a:r>
          </a:p>
        </p:txBody>
      </p:sp>
      <p:sp>
        <p:nvSpPr>
          <p:cNvPr id="2969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5188" y="914400"/>
            <a:ext cx="6754812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A request for kernel-mode execution can occur in two ways: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A running program may request an operating system service, either explicitly via a system call, or implicitly, for example, when a page fault occurs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A device driver may deliver a hardware interrupt that causes the CPU to start executing a kernel-defined handler for that interrupt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Kernel synchronization requires a framework that will allow the kernel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critical sections to run without interruption by another critical section</a:t>
            </a:r>
            <a:endParaRPr lang="en-US" dirty="0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4764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027113" y="161925"/>
            <a:ext cx="7820025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Kernel Synchronization (Cont.)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3763" y="1073150"/>
            <a:ext cx="7423150" cy="4530725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charset="0"/>
              </a:rPr>
              <a:t>Linux uses two techniques to protect critical sections:</a:t>
            </a:r>
          </a:p>
          <a:p>
            <a:pPr marL="733425" lvl="1" indent="-276225">
              <a:buFont typeface="Monotype Sorts" charset="0"/>
              <a:buNone/>
            </a:pPr>
            <a:r>
              <a:rPr lang="en-US" sz="1600">
                <a:latin typeface="Helvetica" charset="0"/>
                <a:ea typeface="MS PGothic" charset="0"/>
              </a:rPr>
              <a:t>1.	Normal kernel code is nonpreemptible (until 2.6)</a:t>
            </a:r>
            <a:br>
              <a:rPr lang="en-US" sz="1600">
                <a:latin typeface="Helvetica" charset="0"/>
                <a:ea typeface="MS PGothic" charset="0"/>
              </a:rPr>
            </a:br>
            <a:r>
              <a:rPr lang="en-US" sz="1600">
                <a:latin typeface="Helvetica" charset="0"/>
                <a:ea typeface="MS PGothic" charset="0"/>
              </a:rPr>
              <a:t>–  when a time interrupt is received while a process is</a:t>
            </a:r>
            <a:br>
              <a:rPr lang="en-US" sz="1600">
                <a:latin typeface="Helvetica" charset="0"/>
                <a:ea typeface="MS PGothic" charset="0"/>
              </a:rPr>
            </a:br>
            <a:r>
              <a:rPr lang="en-US" sz="1600">
                <a:latin typeface="Helvetica" charset="0"/>
                <a:ea typeface="MS PGothic" charset="0"/>
              </a:rPr>
              <a:t>    executing a kernel system service routine, the kernel</a:t>
            </a:r>
            <a:r>
              <a:rPr lang="ja-JP" altLang="en-US" sz="1600">
                <a:latin typeface="Helvetica" charset="0"/>
                <a:ea typeface="MS PGothic" charset="0"/>
              </a:rPr>
              <a:t>’</a:t>
            </a:r>
            <a:r>
              <a:rPr lang="en-US" altLang="ja-JP" sz="1600">
                <a:latin typeface="Helvetica" charset="0"/>
                <a:ea typeface="MS PGothic" charset="0"/>
              </a:rPr>
              <a:t>s </a:t>
            </a:r>
            <a:br>
              <a:rPr lang="en-US" altLang="ja-JP" sz="1600">
                <a:latin typeface="Helvetica" charset="0"/>
                <a:ea typeface="MS PGothic" charset="0"/>
              </a:rPr>
            </a:br>
            <a:r>
              <a:rPr lang="en-US" altLang="ja-JP" sz="1600">
                <a:latin typeface="Helvetica" charset="0"/>
                <a:ea typeface="MS PGothic" charset="0"/>
              </a:rPr>
              <a:t>    </a:t>
            </a:r>
            <a:r>
              <a:rPr lang="en-US" altLang="ja-JP" sz="1600" b="1">
                <a:latin typeface="Helvetica" charset="0"/>
                <a:ea typeface="MS PGothic" charset="0"/>
              </a:rPr>
              <a:t>need_resched</a:t>
            </a:r>
            <a:r>
              <a:rPr lang="en-US" altLang="ja-JP" sz="1600">
                <a:latin typeface="Helvetica" charset="0"/>
                <a:ea typeface="MS PGothic" charset="0"/>
              </a:rPr>
              <a:t> flag is set so that the scheduler will run </a:t>
            </a:r>
            <a:br>
              <a:rPr lang="en-US" altLang="ja-JP" sz="1600">
                <a:latin typeface="Helvetica" charset="0"/>
                <a:ea typeface="MS PGothic" charset="0"/>
              </a:rPr>
            </a:br>
            <a:r>
              <a:rPr lang="en-US" altLang="ja-JP" sz="1600">
                <a:latin typeface="Helvetica" charset="0"/>
                <a:ea typeface="MS PGothic" charset="0"/>
              </a:rPr>
              <a:t>    once the system call has completed and control is</a:t>
            </a:r>
            <a:br>
              <a:rPr lang="en-US" altLang="ja-JP" sz="1600">
                <a:latin typeface="Helvetica" charset="0"/>
                <a:ea typeface="MS PGothic" charset="0"/>
              </a:rPr>
            </a:br>
            <a:r>
              <a:rPr lang="en-US" altLang="ja-JP" sz="1600">
                <a:latin typeface="Helvetica" charset="0"/>
                <a:ea typeface="MS PGothic" charset="0"/>
              </a:rPr>
              <a:t>    about to be returned to user mode</a:t>
            </a:r>
          </a:p>
          <a:p>
            <a:pPr marL="733425" lvl="1" indent="-276225">
              <a:buFont typeface="Monotype Sorts" charset="0"/>
              <a:buNone/>
            </a:pPr>
            <a:r>
              <a:rPr lang="en-US" sz="1600">
                <a:latin typeface="Helvetica" charset="0"/>
                <a:ea typeface="MS PGothic" charset="0"/>
              </a:rPr>
              <a:t>2.	The second technique applies to critical sections that occur in an interrupt service routines</a:t>
            </a:r>
          </a:p>
          <a:p>
            <a:pPr marL="733425" lvl="1" indent="-276225">
              <a:buFont typeface="Monotype Sorts" charset="0"/>
              <a:buNone/>
            </a:pPr>
            <a:r>
              <a:rPr lang="en-US" sz="1600">
                <a:latin typeface="Helvetica" charset="0"/>
                <a:ea typeface="MS PGothic" charset="0"/>
              </a:rPr>
              <a:t>	–  By using the processor</a:t>
            </a:r>
            <a:r>
              <a:rPr lang="ja-JP" altLang="en-US" sz="1600">
                <a:latin typeface="Helvetica" charset="0"/>
                <a:ea typeface="MS PGothic" charset="0"/>
              </a:rPr>
              <a:t>’</a:t>
            </a:r>
            <a:r>
              <a:rPr lang="en-US" altLang="ja-JP" sz="1600">
                <a:latin typeface="Helvetica" charset="0"/>
                <a:ea typeface="MS PGothic" charset="0"/>
              </a:rPr>
              <a:t>s interrupt control hardware to disable interrupts during a critical section, the kernel guarantees that it can proceed without the risk of concurrent access of shared data structures</a:t>
            </a:r>
          </a:p>
          <a:p>
            <a:pPr marL="733425" lvl="1" indent="-276225"/>
            <a:r>
              <a:rPr lang="en-US" sz="1600">
                <a:latin typeface="Helvetica" charset="0"/>
                <a:ea typeface="MS PGothic" charset="0"/>
              </a:rPr>
              <a:t>Provides spin locks, semaphores, and reader-writer versions of both</a:t>
            </a:r>
          </a:p>
          <a:p>
            <a:pPr marL="1077913" lvl="2" indent="-276225"/>
            <a:r>
              <a:rPr lang="en-US" sz="1600">
                <a:latin typeface="Helvetica" charset="0"/>
                <a:ea typeface="MS PGothic" charset="0"/>
              </a:rPr>
              <a:t>Behavior modified if on single processor or multi:</a:t>
            </a:r>
          </a:p>
          <a:p>
            <a:pPr marL="733425" lvl="1" indent="-276225">
              <a:buFont typeface="Monotype Sorts" charset="0"/>
              <a:buNone/>
            </a:pPr>
            <a:r>
              <a:rPr lang="en-US">
                <a:latin typeface="Helvetica" charset="0"/>
                <a:ea typeface="MS PGothic" charset="0"/>
              </a:rPr>
              <a:t>		</a:t>
            </a:r>
          </a:p>
        </p:txBody>
      </p:sp>
      <p:pic>
        <p:nvPicPr>
          <p:cNvPr id="30724" name="Picture 1" descr="in-18_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6338" y="5532437"/>
            <a:ext cx="4040187" cy="102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71025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300" y="161925"/>
            <a:ext cx="76835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Kernel Synchronization (Cont.)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86799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To avoid performance penalties, Linux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kernel uses a synchronization architecture that allows long critical sections to run without having interrupts disabled for the critical section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entire duration</a:t>
            </a:r>
            <a:endParaRPr lang="en-US" dirty="0">
              <a:latin typeface="Helvetica" charset="0"/>
              <a:ea typeface="MS PGothic" charset="0"/>
            </a:endParaRPr>
          </a:p>
          <a:p>
            <a:r>
              <a:rPr lang="en-US" dirty="0">
                <a:latin typeface="Helvetica" charset="0"/>
                <a:ea typeface="MS PGothic" charset="0"/>
              </a:rPr>
              <a:t>Interrupt service routines are separated into a </a:t>
            </a:r>
            <a:r>
              <a:rPr lang="en-US" i="1" dirty="0">
                <a:latin typeface="Helvetica" charset="0"/>
                <a:ea typeface="MS PGothic" charset="0"/>
              </a:rPr>
              <a:t>top half</a:t>
            </a:r>
            <a:r>
              <a:rPr lang="en-US" dirty="0">
                <a:latin typeface="Helvetica" charset="0"/>
                <a:ea typeface="MS PGothic" charset="0"/>
              </a:rPr>
              <a:t> and a </a:t>
            </a:r>
            <a:r>
              <a:rPr lang="en-US" i="1" dirty="0">
                <a:latin typeface="Helvetica" charset="0"/>
                <a:ea typeface="MS PGothic" charset="0"/>
              </a:rPr>
              <a:t>bottom half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top half is a normal interrupt service routine, and runs with recursive interrupts disabled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bottom half is run, with all interrupts enabled, by a miniature scheduler that ensures that bottom halves never interrupt themselves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This architecture is completed by a mechanism for disabling selected bottom halves while executing normal, foreground kernel code</a:t>
            </a:r>
          </a:p>
        </p:txBody>
      </p:sp>
    </p:spTree>
    <p:extLst>
      <p:ext uri="{BB962C8B-B14F-4D97-AF65-F5344CB8AC3E}">
        <p14:creationId xmlns:p14="http://schemas.microsoft.com/office/powerpoint/2010/main" val="2455234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88988" y="190500"/>
            <a:ext cx="7897812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Interrupt Protection Levels</a:t>
            </a:r>
          </a:p>
        </p:txBody>
      </p:sp>
      <p:sp>
        <p:nvSpPr>
          <p:cNvPr id="32771" name="AutoShape 3"/>
          <p:cNvSpPr>
            <a:spLocks noChangeAspect="1" noChangeArrowheads="1"/>
          </p:cNvSpPr>
          <p:nvPr>
            <p:ph type="body" idx="1"/>
          </p:nvPr>
        </p:nvSpPr>
        <p:spPr>
          <a:xfrm>
            <a:off x="1012825" y="3694113"/>
            <a:ext cx="6767513" cy="19748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>
                <a:latin typeface="Helvetica" charset="0"/>
                <a:ea typeface="MS PGothic" charset="0"/>
              </a:rPr>
              <a:t>Each level may be interrupted by code running at a higher level, but will never be interrupted by code running at the same or a lower level</a:t>
            </a:r>
          </a:p>
          <a:p>
            <a:pPr>
              <a:lnSpc>
                <a:spcPct val="90000"/>
              </a:lnSpc>
            </a:pPr>
            <a:r>
              <a:rPr lang="en-US">
                <a:latin typeface="Helvetica" charset="0"/>
                <a:ea typeface="MS PGothic" charset="0"/>
              </a:rPr>
              <a:t>User processes can always be preempted by another process when a time-sharing scheduling interrupt occurs</a:t>
            </a:r>
          </a:p>
        </p:txBody>
      </p:sp>
      <p:pic>
        <p:nvPicPr>
          <p:cNvPr id="32772" name="Picture 1" descr="18_0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975" y="1262063"/>
            <a:ext cx="5243513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563206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936625" y="117475"/>
            <a:ext cx="7793038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Symmetric Multiprocessing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685800"/>
            <a:ext cx="8915399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Linux 2.0 was the first Linux kernel to support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SMP</a:t>
            </a:r>
            <a:r>
              <a:rPr lang="en-US" dirty="0">
                <a:latin typeface="Helvetica" charset="0"/>
                <a:ea typeface="MS PGothic" charset="0"/>
              </a:rPr>
              <a:t> hardware; separate processes or threads can execute in parallel on separate processors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Until version 2.2, to preserve the kernel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</a:t>
            </a:r>
            <a:r>
              <a:rPr lang="en-US" altLang="ja-JP" dirty="0" err="1">
                <a:latin typeface="Helvetica" charset="0"/>
                <a:ea typeface="MS PGothic" charset="0"/>
              </a:rPr>
              <a:t>nonpreemptible</a:t>
            </a:r>
            <a:r>
              <a:rPr lang="en-US" altLang="ja-JP" dirty="0">
                <a:latin typeface="Helvetica" charset="0"/>
                <a:ea typeface="MS PGothic" charset="0"/>
              </a:rPr>
              <a:t> synchronization requirements, SMP imposes the restriction, via a single kernel spinlock, that only one processor at a time may execute kernel-mode code</a:t>
            </a:r>
            <a:endParaRPr lang="en-US" dirty="0">
              <a:latin typeface="Helvetica" charset="0"/>
              <a:ea typeface="MS PGothic" charset="0"/>
            </a:endParaRPr>
          </a:p>
          <a:p>
            <a:r>
              <a:rPr lang="en-US" dirty="0">
                <a:latin typeface="Helvetica" charset="0"/>
                <a:ea typeface="MS PGothic" charset="0"/>
              </a:rPr>
              <a:t>Later releases implement more scalability by splitting single spinlock into multiple locks, each protecting a small subset of kernel data structures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Version 3.0 adds even more fine-grained locking, processor affinity, and load-balancing</a:t>
            </a:r>
          </a:p>
        </p:txBody>
      </p:sp>
    </p:spTree>
    <p:extLst>
      <p:ext uri="{BB962C8B-B14F-4D97-AF65-F5344CB8AC3E}">
        <p14:creationId xmlns:p14="http://schemas.microsoft.com/office/powerpoint/2010/main" val="4262692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806450" y="161925"/>
            <a:ext cx="788035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Memory Management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03275"/>
            <a:ext cx="8610600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Linux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physical memory-management system deals with allocating and freeing pages, groups of pages, and small blocks of memory</a:t>
            </a:r>
            <a:endParaRPr lang="en-US" dirty="0">
              <a:latin typeface="Helvetica" charset="0"/>
              <a:ea typeface="MS PGothic" charset="0"/>
            </a:endParaRPr>
          </a:p>
          <a:p>
            <a:r>
              <a:rPr lang="en-US" dirty="0">
                <a:latin typeface="Helvetica" charset="0"/>
                <a:ea typeface="MS PGothic" charset="0"/>
              </a:rPr>
              <a:t>It has additional mechanisms for handling virtual memory, memory mapped into the address space of running processes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Splits memory into four different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zones</a:t>
            </a:r>
            <a:r>
              <a:rPr lang="en-US" dirty="0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 dirty="0">
                <a:latin typeface="Helvetica" charset="0"/>
                <a:ea typeface="MS PGothic" charset="0"/>
              </a:rPr>
              <a:t>due to hardware characteristics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Architecture specific, for example on x86:</a:t>
            </a:r>
          </a:p>
        </p:txBody>
      </p:sp>
      <p:pic>
        <p:nvPicPr>
          <p:cNvPr id="34820" name="Picture 1" descr="18_03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5029200"/>
            <a:ext cx="4059238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1578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876300" y="117475"/>
            <a:ext cx="7839075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Managing Physical Memory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1" y="1100138"/>
            <a:ext cx="8486774" cy="53784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The page allocator allocates and frees all physical pages; it can allocate ranges of physically-contiguous pages on request</a:t>
            </a:r>
            <a:endParaRPr lang="en-US" sz="800" dirty="0">
              <a:latin typeface="Helvetica" charset="0"/>
              <a:ea typeface="MS PGothic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The allocator uses a buddy-heap algorithm to keep track of available physical pages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Each </a:t>
            </a:r>
            <a:r>
              <a:rPr lang="en-US" dirty="0" err="1">
                <a:latin typeface="Helvetica" charset="0"/>
                <a:ea typeface="MS PGothic" charset="0"/>
              </a:rPr>
              <a:t>allocatable</a:t>
            </a:r>
            <a:r>
              <a:rPr lang="en-US" dirty="0">
                <a:latin typeface="Helvetica" charset="0"/>
                <a:ea typeface="MS PGothic" charset="0"/>
              </a:rPr>
              <a:t> memory region is paired with an adjacent partner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Whenever two allocated partner regions are both freed up they are combined to form a larger region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If a small memory request cannot be satisfied by allocating an existing small free region, then a larger free region will be subdivided into two partners to satisfy the request</a:t>
            </a:r>
          </a:p>
        </p:txBody>
      </p:sp>
    </p:spTree>
    <p:extLst>
      <p:ext uri="{BB962C8B-B14F-4D97-AF65-F5344CB8AC3E}">
        <p14:creationId xmlns:p14="http://schemas.microsoft.com/office/powerpoint/2010/main" val="27972974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876300" y="117475"/>
            <a:ext cx="7839075" cy="576263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MS PGothic" charset="0"/>
              </a:rPr>
              <a:t>Managing Physical Memory (Cont.)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14425"/>
            <a:ext cx="7340600" cy="53784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Memory allocations in the Linux kernel occur either statically (drivers reserve a contiguous area of memory during system boot time) or dynamically (via the page allocator)</a:t>
            </a:r>
            <a:endParaRPr lang="en-US" sz="800" dirty="0">
              <a:latin typeface="Helvetica" charset="0"/>
              <a:ea typeface="MS PGothic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Also uses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slab allocator</a:t>
            </a:r>
            <a:r>
              <a:rPr lang="en-US" dirty="0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 dirty="0">
                <a:latin typeface="Helvetica" charset="0"/>
                <a:ea typeface="MS PGothic" charset="0"/>
              </a:rPr>
              <a:t>for kernel memory</a:t>
            </a:r>
          </a:p>
          <a:p>
            <a:pPr>
              <a:lnSpc>
                <a:spcPct val="90000"/>
              </a:lnSpc>
            </a:pP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Page cache</a:t>
            </a:r>
            <a:r>
              <a:rPr lang="en-US" dirty="0">
                <a:latin typeface="Helvetica" charset="0"/>
                <a:ea typeface="MS PGothic" charset="0"/>
              </a:rPr>
              <a:t> and virtual memory system also manage physical memory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Page cache is kernel’s main cache for files and main mechanism for I/O to block devices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Helvetica" charset="0"/>
                <a:ea typeface="MS PGothic" charset="0"/>
              </a:rPr>
              <a:t>Page cache stores entire pages of file contents for local and network file I/O</a:t>
            </a:r>
          </a:p>
        </p:txBody>
      </p:sp>
    </p:spTree>
    <p:extLst>
      <p:ext uri="{BB962C8B-B14F-4D97-AF65-F5344CB8AC3E}">
        <p14:creationId xmlns:p14="http://schemas.microsoft.com/office/powerpoint/2010/main" val="36607237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306513" y="147638"/>
            <a:ext cx="7772400" cy="576262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MS PGothic" charset="0"/>
              </a:rPr>
              <a:t>Splitting of Memory in a Buddy Heap</a:t>
            </a:r>
          </a:p>
        </p:txBody>
      </p:sp>
      <p:pic>
        <p:nvPicPr>
          <p:cNvPr id="37891" name="Picture 1" descr="18_04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5788" y="1473200"/>
            <a:ext cx="5546725" cy="330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3166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0500"/>
            <a:ext cx="82296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Slab Allocator in Linux</a:t>
            </a:r>
          </a:p>
        </p:txBody>
      </p:sp>
      <p:pic>
        <p:nvPicPr>
          <p:cNvPr id="38915" name="Picture 1" descr="18_05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1195388"/>
            <a:ext cx="5438775" cy="431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316521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836613" y="190500"/>
            <a:ext cx="7850187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Virtual Memory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33450"/>
            <a:ext cx="8458200" cy="5162550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The VM system maintains the address space visible to each process:  It creates pages of virtual memory on demand, and manages the loading of those pages from disk or their swapping back out to disk as required.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VM manager maintains two separate views of a process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address space: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A logical view describing instructions concerning the layout of the address space</a:t>
            </a:r>
          </a:p>
          <a:p>
            <a:pPr lvl="2"/>
            <a:r>
              <a:rPr lang="en-US" dirty="0">
                <a:latin typeface="Helvetica" charset="0"/>
                <a:ea typeface="MS PGothic" charset="0"/>
              </a:rPr>
              <a:t>The address space consists of a set of non-overlapping regions, each representing a continuous, page-aligned subset of the address space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A physical view of each address space which is stored in the hardware page tables for the process</a:t>
            </a:r>
          </a:p>
        </p:txBody>
      </p:sp>
    </p:spTree>
    <p:extLst>
      <p:ext uri="{BB962C8B-B14F-4D97-AF65-F5344CB8AC3E}">
        <p14:creationId xmlns:p14="http://schemas.microsoft.com/office/powerpoint/2010/main" val="11303164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7638"/>
            <a:ext cx="8229600" cy="5762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Virtual Memory (Cont.)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90600"/>
            <a:ext cx="7620000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Virtual memory regions are characterized by: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backing store, which describes from where the pages for a region come; regions are usually backed by a file or by nothing (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demand-zero memory</a:t>
            </a:r>
            <a:r>
              <a:rPr lang="en-US" dirty="0">
                <a:latin typeface="Helvetica" charset="0"/>
                <a:ea typeface="MS PGothic" charset="0"/>
              </a:rPr>
              <a:t>)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region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reaction to writes (page sharing or copy-on-write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kernel creates a new virtual address space</a:t>
            </a:r>
          </a:p>
          <a:p>
            <a:pPr lvl="1">
              <a:buFont typeface="Monotype Sorts" charset="0"/>
              <a:buNone/>
            </a:pPr>
            <a:r>
              <a:rPr lang="en-US" dirty="0">
                <a:latin typeface="Helvetica" charset="0"/>
                <a:ea typeface="MS PGothic" charset="0"/>
              </a:rPr>
              <a:t>1.	When a process runs a new program with the </a:t>
            </a:r>
            <a:r>
              <a:rPr lang="en-US" dirty="0">
                <a:latin typeface="Courier New" charset="0"/>
                <a:ea typeface="ＭＳ Ｐゴシック" charset="0"/>
                <a:cs typeface="Courier New" charset="0"/>
              </a:rPr>
              <a:t>exec() </a:t>
            </a:r>
            <a:r>
              <a:rPr lang="en-US" dirty="0">
                <a:latin typeface="Helvetica" charset="0"/>
                <a:ea typeface="MS PGothic" charset="0"/>
              </a:rPr>
              <a:t>system call</a:t>
            </a:r>
          </a:p>
          <a:p>
            <a:pPr lvl="1">
              <a:buFont typeface="Monotype Sorts" charset="0"/>
              <a:buNone/>
            </a:pPr>
            <a:r>
              <a:rPr lang="en-US" dirty="0">
                <a:latin typeface="Helvetica" charset="0"/>
                <a:ea typeface="MS PGothic" charset="0"/>
              </a:rPr>
              <a:t>2. 	Upon creation of a new process by the </a:t>
            </a:r>
            <a:r>
              <a:rPr lang="en-US" dirty="0">
                <a:latin typeface="Courier New" charset="0"/>
                <a:ea typeface="ＭＳ Ｐゴシック" charset="0"/>
                <a:cs typeface="Courier New" charset="0"/>
              </a:rPr>
              <a:t>fork()</a:t>
            </a:r>
            <a:r>
              <a:rPr lang="en-US" dirty="0">
                <a:latin typeface="Helvetica" charset="0"/>
                <a:ea typeface="MS PGothic" charset="0"/>
              </a:rPr>
              <a:t> system call</a:t>
            </a:r>
          </a:p>
        </p:txBody>
      </p:sp>
    </p:spTree>
    <p:extLst>
      <p:ext uri="{BB962C8B-B14F-4D97-AF65-F5344CB8AC3E}">
        <p14:creationId xmlns:p14="http://schemas.microsoft.com/office/powerpoint/2010/main" val="20854701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14363" y="147638"/>
            <a:ext cx="8072437" cy="5762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Virtual Memory (Cont.)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533400"/>
            <a:ext cx="8534400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On executing a new program, the process is given a new, completely empty virtual-address space; the program-loading routines populate the address space with virtual-memory regions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Creating a new process with </a:t>
            </a:r>
            <a:r>
              <a:rPr lang="en-US" dirty="0">
                <a:latin typeface="Courier New" charset="0"/>
                <a:ea typeface="MS PGothic" charset="0"/>
                <a:cs typeface="Courier New" charset="0"/>
              </a:rPr>
              <a:t>fork() </a:t>
            </a:r>
            <a:r>
              <a:rPr lang="en-US" dirty="0">
                <a:latin typeface="Helvetica" charset="0"/>
                <a:ea typeface="MS PGothic" charset="0"/>
              </a:rPr>
              <a:t>involves creating a complete copy of the existing process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virtual address space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kernel copies the parent process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VMA descriptors, then creates a new set of page tables for the child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parent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page tables are copied directly into the child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s, with the reference count of each page covered being incremented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After the fork, the parent and child share the same physical pages of memory in their address spaces</a:t>
            </a:r>
          </a:p>
        </p:txBody>
      </p:sp>
    </p:spTree>
    <p:extLst>
      <p:ext uri="{BB962C8B-B14F-4D97-AF65-F5344CB8AC3E}">
        <p14:creationId xmlns:p14="http://schemas.microsoft.com/office/powerpoint/2010/main" val="36534963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92188" y="117475"/>
            <a:ext cx="7694612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Swapping and Paging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8915400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The VM paging system relocates pages of memory from physical memory out to disk when the memory is needed for something else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VM paging system can be divided into two sections: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</a:t>
            </a:r>
            <a:r>
              <a:rPr lang="en-US" b="1" dirty="0" err="1">
                <a:solidFill>
                  <a:srgbClr val="3366FF"/>
                </a:solidFill>
                <a:latin typeface="Helvetica" charset="0"/>
                <a:ea typeface="MS PGothic" charset="0"/>
              </a:rPr>
              <a:t>pageout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-policy </a:t>
            </a:r>
            <a:r>
              <a:rPr lang="en-US" dirty="0">
                <a:latin typeface="Helvetica" charset="0"/>
                <a:ea typeface="MS PGothic" charset="0"/>
              </a:rPr>
              <a:t>algorithm decides which pages to write out to disk, and when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paging mechanism </a:t>
            </a:r>
            <a:r>
              <a:rPr lang="en-US" dirty="0">
                <a:latin typeface="Helvetica" charset="0"/>
                <a:ea typeface="MS PGothic" charset="0"/>
              </a:rPr>
              <a:t>actually carries out the transfer, and pages data back into physical memory as needed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Can page out to either swap device or normal files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Bitmap used to track used blocks in swap space kept in physical memory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Allocator uses next-fit algorithm to try to write contiguous runs</a:t>
            </a:r>
          </a:p>
        </p:txBody>
      </p:sp>
    </p:spTree>
    <p:extLst>
      <p:ext uri="{BB962C8B-B14F-4D97-AF65-F5344CB8AC3E}">
        <p14:creationId xmlns:p14="http://schemas.microsoft.com/office/powerpoint/2010/main" val="481554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Kernel Virtual Memory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89025"/>
            <a:ext cx="8458200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The Linux kernel reserves a constant, architecture-dependent region of the virtual address space of every process for its own internal use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This kernel virtual-memory area contains two regions: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A static area that contains page table references to every available physical page of memory in the system, so that there is a simple translation from physical to virtual addresses when running kernel code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reminder of the reserved section is not reserved for any specific purpose; its page-table entries can be modified to point to any other areas of memory</a:t>
            </a:r>
          </a:p>
        </p:txBody>
      </p:sp>
    </p:spTree>
    <p:extLst>
      <p:ext uri="{BB962C8B-B14F-4D97-AF65-F5344CB8AC3E}">
        <p14:creationId xmlns:p14="http://schemas.microsoft.com/office/powerpoint/2010/main" val="19462900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1138238" y="-150813"/>
            <a:ext cx="7772400" cy="844551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MS PGothic" charset="0"/>
              </a:rPr>
              <a:t>Executing and Loading User Programs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758238" cy="4530725"/>
          </a:xfrm>
        </p:spPr>
        <p:txBody>
          <a:bodyPr/>
          <a:lstStyle/>
          <a:p>
            <a:r>
              <a:rPr lang="en-US" sz="2400" dirty="0">
                <a:latin typeface="Helvetica" charset="0"/>
                <a:ea typeface="MS PGothic" charset="0"/>
              </a:rPr>
              <a:t>Linux maintains a table of functions for loading programs; it gives each function the opportunity to try loading the given file when an exec system call is made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The registration of multiple loader routines allows Linux to support both the </a:t>
            </a:r>
            <a:r>
              <a:rPr lang="en-US" sz="2400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ELF</a:t>
            </a:r>
            <a:r>
              <a:rPr lang="en-US" sz="2400" dirty="0">
                <a:latin typeface="Helvetica" charset="0"/>
                <a:ea typeface="MS PGothic" charset="0"/>
              </a:rPr>
              <a:t> and </a:t>
            </a:r>
            <a:r>
              <a:rPr lang="en-US" sz="2400" b="1" dirty="0" err="1">
                <a:solidFill>
                  <a:srgbClr val="3366FF"/>
                </a:solidFill>
                <a:latin typeface="Helvetica" charset="0"/>
                <a:ea typeface="MS PGothic" charset="0"/>
              </a:rPr>
              <a:t>a.out</a:t>
            </a:r>
            <a:r>
              <a:rPr lang="en-US" sz="2400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 sz="2400" dirty="0">
                <a:latin typeface="Helvetica" charset="0"/>
                <a:ea typeface="MS PGothic" charset="0"/>
              </a:rPr>
              <a:t>binary formats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Initially, binary-file pages are mapped into virtual memory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Only when a program tries to access a given page will a page fault result in that page being loaded into physical memory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An ELF-format binary file consists of a header followed by several page-aligned sections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ELF loader works by reading the header and mapping the sections of the file into separate regions of virtual memory</a:t>
            </a:r>
          </a:p>
        </p:txBody>
      </p:sp>
    </p:spTree>
    <p:extLst>
      <p:ext uri="{BB962C8B-B14F-4D97-AF65-F5344CB8AC3E}">
        <p14:creationId xmlns:p14="http://schemas.microsoft.com/office/powerpoint/2010/main" val="33144060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1" y="338138"/>
            <a:ext cx="8788400" cy="576262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MS PGothic" charset="0"/>
              </a:rPr>
              <a:t>Memory Layout for </a:t>
            </a:r>
            <a:r>
              <a:rPr lang="en-US" b="0" dirty="0">
                <a:latin typeface="Arial" charset="0"/>
                <a:ea typeface="MS PGothic" charset="0"/>
              </a:rPr>
              <a:t>ELF</a:t>
            </a:r>
            <a:r>
              <a:rPr lang="en-US" dirty="0">
                <a:latin typeface="Arial" charset="0"/>
                <a:ea typeface="MS PGothic" charset="0"/>
              </a:rPr>
              <a:t> Programs</a:t>
            </a:r>
          </a:p>
        </p:txBody>
      </p:sp>
      <p:pic>
        <p:nvPicPr>
          <p:cNvPr id="46083" name="Picture 1" descr="18_06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3263" y="1249363"/>
            <a:ext cx="5492750" cy="442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74992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38" y="147638"/>
            <a:ext cx="7878762" cy="5762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Static and Dynamic Linking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117600"/>
            <a:ext cx="7146925" cy="4530725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charset="0"/>
              </a:rPr>
              <a:t>A program whose necessary library functions are embedded directly in the program</a:t>
            </a:r>
            <a:r>
              <a:rPr lang="ja-JP" altLang="en-US">
                <a:latin typeface="Helvetica" charset="0"/>
                <a:ea typeface="MS PGothic" charset="0"/>
              </a:rPr>
              <a:t>’</a:t>
            </a:r>
            <a:r>
              <a:rPr lang="en-US" altLang="ja-JP">
                <a:latin typeface="Helvetica" charset="0"/>
                <a:ea typeface="MS PGothic" charset="0"/>
              </a:rPr>
              <a:t>s executable binary file is </a:t>
            </a:r>
            <a:r>
              <a:rPr lang="en-US" altLang="ja-JP" b="1" i="1">
                <a:latin typeface="Helvetica" charset="0"/>
                <a:ea typeface="MS PGothic" charset="0"/>
              </a:rPr>
              <a:t>statically</a:t>
            </a:r>
            <a:r>
              <a:rPr lang="en-US" altLang="ja-JP">
                <a:latin typeface="Helvetica" charset="0"/>
                <a:ea typeface="MS PGothic" charset="0"/>
              </a:rPr>
              <a:t> linked to its libraries</a:t>
            </a:r>
            <a:endParaRPr lang="en-US">
              <a:latin typeface="Helvetica" charset="0"/>
              <a:ea typeface="MS PGothic" charset="0"/>
            </a:endParaRPr>
          </a:p>
          <a:p>
            <a:r>
              <a:rPr lang="en-US">
                <a:latin typeface="Helvetica" charset="0"/>
                <a:ea typeface="MS PGothic" charset="0"/>
              </a:rPr>
              <a:t>The main disadvantage of static linkage is that every program generated must contain copies of exactly the same common system library functions</a:t>
            </a:r>
          </a:p>
          <a:p>
            <a:r>
              <a:rPr lang="en-US" i="1">
                <a:latin typeface="Helvetica" charset="0"/>
                <a:ea typeface="MS PGothic" charset="0"/>
              </a:rPr>
              <a:t>Dynamic</a:t>
            </a:r>
            <a:r>
              <a:rPr lang="en-US">
                <a:latin typeface="Helvetica" charset="0"/>
                <a:ea typeface="MS PGothic" charset="0"/>
              </a:rPr>
              <a:t> linking is more efficient in terms of both physical memory and disk-space usage because it loads the system libraries into memory only once</a:t>
            </a:r>
          </a:p>
        </p:txBody>
      </p:sp>
    </p:spTree>
    <p:extLst>
      <p:ext uri="{BB962C8B-B14F-4D97-AF65-F5344CB8AC3E}">
        <p14:creationId xmlns:p14="http://schemas.microsoft.com/office/powerpoint/2010/main" val="35445828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808038" y="147638"/>
            <a:ext cx="7878762" cy="576262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MS PGothic" charset="0"/>
              </a:rPr>
              <a:t>Static and Dynamic Linking (Cont.)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17600"/>
            <a:ext cx="8382000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Linux implements dynamic linking in user mode through special linker library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Every dynamically linked program contains small statically linked function called when process starts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Maps the link library into memory 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Link library determines dynamic libraries required by process and names of variables and functions needed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Maps libraries into middle of virtual memory and resolves references to symbols contained in the libraries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Shared libraries compiled to be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position-independent code </a:t>
            </a:r>
            <a:r>
              <a:rPr lang="en-US" dirty="0">
                <a:latin typeface="Helvetica" charset="0"/>
                <a:ea typeface="MS PGothic" charset="0"/>
              </a:rPr>
              <a:t>(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PIC</a:t>
            </a:r>
            <a:r>
              <a:rPr lang="en-US" dirty="0">
                <a:latin typeface="Helvetica" charset="0"/>
                <a:ea typeface="MS PGothic" charset="0"/>
              </a:rPr>
              <a:t>) so can be loaded anywhere</a:t>
            </a:r>
          </a:p>
        </p:txBody>
      </p:sp>
    </p:spTree>
    <p:extLst>
      <p:ext uri="{BB962C8B-B14F-4D97-AF65-F5344CB8AC3E}">
        <p14:creationId xmlns:p14="http://schemas.microsoft.com/office/powerpoint/2010/main" val="1875118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1925"/>
            <a:ext cx="82296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File Systems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046163"/>
            <a:ext cx="7234238" cy="5311775"/>
          </a:xfrm>
        </p:spPr>
        <p:txBody>
          <a:bodyPr/>
          <a:lstStyle/>
          <a:p>
            <a:r>
              <a:rPr lang="en-US" sz="1600">
                <a:latin typeface="Helvetica" charset="0"/>
                <a:ea typeface="MS PGothic" charset="0"/>
              </a:rPr>
              <a:t>To the user, Linux</a:t>
            </a:r>
            <a:r>
              <a:rPr lang="ja-JP" altLang="en-US" sz="1600">
                <a:latin typeface="Helvetica" charset="0"/>
                <a:ea typeface="MS PGothic" charset="0"/>
              </a:rPr>
              <a:t>’</a:t>
            </a:r>
            <a:r>
              <a:rPr lang="en-US" altLang="ja-JP" sz="1600">
                <a:latin typeface="Helvetica" charset="0"/>
                <a:ea typeface="MS PGothic" charset="0"/>
              </a:rPr>
              <a:t>s file system appears as a hierarchical directory tree obeying UNIX semantics</a:t>
            </a:r>
            <a:endParaRPr lang="en-US" sz="1600">
              <a:latin typeface="Helvetica" charset="0"/>
              <a:ea typeface="MS PGothic" charset="0"/>
            </a:endParaRPr>
          </a:p>
          <a:p>
            <a:r>
              <a:rPr lang="en-US" sz="1600">
                <a:latin typeface="Helvetica" charset="0"/>
                <a:ea typeface="MS PGothic" charset="0"/>
              </a:rPr>
              <a:t>Internally, the kernel hides implementation details and manages the multiple different file systems via an abstraction layer, that is, the virtual file system (VFS)</a:t>
            </a:r>
          </a:p>
          <a:p>
            <a:r>
              <a:rPr lang="en-US" sz="1600">
                <a:latin typeface="Helvetica" charset="0"/>
                <a:ea typeface="MS PGothic" charset="0"/>
              </a:rPr>
              <a:t>The Linux VFS is designed around object-oriented principles and is composed of four components:</a:t>
            </a:r>
          </a:p>
          <a:p>
            <a:pPr lvl="1"/>
            <a:r>
              <a:rPr lang="en-US" sz="1600">
                <a:latin typeface="Helvetica" charset="0"/>
                <a:ea typeface="MS PGothic" charset="0"/>
              </a:rPr>
              <a:t>A set of definitions that define what a file object is allowed to look like</a:t>
            </a:r>
          </a:p>
          <a:p>
            <a:pPr lvl="2"/>
            <a:r>
              <a:rPr lang="en-US" sz="1600">
                <a:latin typeface="Helvetica" charset="0"/>
                <a:ea typeface="MS PGothic" charset="0"/>
              </a:rPr>
              <a:t>The </a:t>
            </a:r>
            <a:r>
              <a:rPr lang="en-US" sz="1600" b="1">
                <a:solidFill>
                  <a:srgbClr val="3366FF"/>
                </a:solidFill>
                <a:latin typeface="Helvetica" charset="0"/>
                <a:ea typeface="MS PGothic" charset="0"/>
              </a:rPr>
              <a:t>inode object </a:t>
            </a:r>
            <a:r>
              <a:rPr lang="en-US" sz="1600">
                <a:latin typeface="Helvetica" charset="0"/>
                <a:ea typeface="MS PGothic" charset="0"/>
              </a:rPr>
              <a:t>structure represent an individual file</a:t>
            </a:r>
          </a:p>
          <a:p>
            <a:pPr lvl="2"/>
            <a:r>
              <a:rPr lang="en-US" sz="1600">
                <a:latin typeface="Helvetica" charset="0"/>
                <a:ea typeface="MS PGothic" charset="0"/>
              </a:rPr>
              <a:t>The </a:t>
            </a:r>
            <a:r>
              <a:rPr lang="en-US" sz="1600" b="1">
                <a:solidFill>
                  <a:srgbClr val="3366FF"/>
                </a:solidFill>
                <a:latin typeface="Helvetica" charset="0"/>
                <a:ea typeface="MS PGothic" charset="0"/>
              </a:rPr>
              <a:t>file object </a:t>
            </a:r>
            <a:r>
              <a:rPr lang="en-US" sz="1600">
                <a:latin typeface="Helvetica" charset="0"/>
                <a:ea typeface="MS PGothic" charset="0"/>
              </a:rPr>
              <a:t>represents an open file</a:t>
            </a:r>
          </a:p>
          <a:p>
            <a:pPr lvl="2"/>
            <a:r>
              <a:rPr lang="en-US" sz="1600">
                <a:latin typeface="Helvetica" charset="0"/>
                <a:ea typeface="MS PGothic" charset="0"/>
              </a:rPr>
              <a:t>The </a:t>
            </a:r>
            <a:r>
              <a:rPr lang="en-US" sz="1600" b="1">
                <a:solidFill>
                  <a:srgbClr val="3366FF"/>
                </a:solidFill>
                <a:latin typeface="Helvetica" charset="0"/>
                <a:ea typeface="MS PGothic" charset="0"/>
              </a:rPr>
              <a:t>superblock object </a:t>
            </a:r>
            <a:r>
              <a:rPr lang="en-US" sz="1600">
                <a:latin typeface="Helvetica" charset="0"/>
                <a:ea typeface="MS PGothic" charset="0"/>
              </a:rPr>
              <a:t>represents an entire file system</a:t>
            </a:r>
          </a:p>
          <a:p>
            <a:pPr lvl="2"/>
            <a:r>
              <a:rPr lang="en-US" sz="1600">
                <a:latin typeface="Helvetica" charset="0"/>
                <a:ea typeface="MS PGothic" charset="0"/>
              </a:rPr>
              <a:t>A </a:t>
            </a:r>
            <a:r>
              <a:rPr lang="en-US" sz="1600" b="1">
                <a:solidFill>
                  <a:srgbClr val="3366FF"/>
                </a:solidFill>
                <a:latin typeface="Helvetica" charset="0"/>
                <a:ea typeface="MS PGothic" charset="0"/>
              </a:rPr>
              <a:t>dentry object </a:t>
            </a:r>
            <a:r>
              <a:rPr lang="en-US" sz="1600">
                <a:latin typeface="Helvetica" charset="0"/>
                <a:ea typeface="MS PGothic" charset="0"/>
              </a:rPr>
              <a:t>represents an individual directory entry</a:t>
            </a:r>
          </a:p>
          <a:p>
            <a:pPr lvl="2">
              <a:buFont typeface="Webdings" charset="0"/>
              <a:buNone/>
            </a:pPr>
            <a:endParaRPr lang="en-US" sz="1600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5238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1925"/>
            <a:ext cx="82296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File Systems (Cont.)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609600"/>
            <a:ext cx="8839200" cy="531177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To the user, Linux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file system appears as a hierarchical directory tree obeying UNIX semantics</a:t>
            </a:r>
            <a:endParaRPr lang="en-US" dirty="0">
              <a:latin typeface="Helvetica" charset="0"/>
              <a:ea typeface="MS PGothic" charset="0"/>
            </a:endParaRPr>
          </a:p>
          <a:p>
            <a:r>
              <a:rPr lang="en-US" dirty="0">
                <a:latin typeface="Helvetica" charset="0"/>
                <a:ea typeface="MS PGothic" charset="0"/>
              </a:rPr>
              <a:t>Internally, the kernel hides implementation details and manages the multiple different file systems via an abstraction layer, that is, the virtual file system (VFS)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Linux VFS is designed around object-oriented principles and  layer of software to manipulate those objects with a set of operations on the objects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For example for the file object operations include (from </a:t>
            </a:r>
            <a:r>
              <a:rPr lang="en-US" dirty="0" err="1">
                <a:latin typeface="Helvetica" charset="0"/>
                <a:ea typeface="MS PGothic" charset="0"/>
              </a:rPr>
              <a:t>struct</a:t>
            </a:r>
            <a:r>
              <a:rPr lang="en-US" dirty="0">
                <a:latin typeface="Helvetica" charset="0"/>
                <a:ea typeface="MS PGothic" charset="0"/>
              </a:rPr>
              <a:t> </a:t>
            </a:r>
            <a:r>
              <a:rPr lang="en-US" dirty="0" err="1">
                <a:latin typeface="Helvetica" charset="0"/>
                <a:ea typeface="MS PGothic" charset="0"/>
              </a:rPr>
              <a:t>file_operations</a:t>
            </a:r>
            <a:r>
              <a:rPr lang="en-US" dirty="0">
                <a:latin typeface="Helvetica" charset="0"/>
                <a:ea typeface="MS PGothic" charset="0"/>
              </a:rPr>
              <a:t> in /</a:t>
            </a:r>
            <a:r>
              <a:rPr lang="en-US" dirty="0" err="1">
                <a:latin typeface="Helvetica" charset="0"/>
                <a:ea typeface="MS PGothic" charset="0"/>
              </a:rPr>
              <a:t>usr</a:t>
            </a:r>
            <a:r>
              <a:rPr lang="en-US" dirty="0">
                <a:latin typeface="Helvetica" charset="0"/>
                <a:ea typeface="MS PGothic" charset="0"/>
              </a:rPr>
              <a:t>/include/</a:t>
            </a:r>
            <a:r>
              <a:rPr lang="en-US" dirty="0" err="1">
                <a:latin typeface="Helvetica" charset="0"/>
                <a:ea typeface="MS PGothic" charset="0"/>
              </a:rPr>
              <a:t>linux</a:t>
            </a:r>
            <a:r>
              <a:rPr lang="en-US" dirty="0">
                <a:latin typeface="Helvetica" charset="0"/>
                <a:ea typeface="MS PGothic" charset="0"/>
              </a:rPr>
              <a:t>/</a:t>
            </a:r>
            <a:r>
              <a:rPr lang="en-US" dirty="0" err="1">
                <a:latin typeface="Helvetica" charset="0"/>
                <a:ea typeface="MS PGothic" charset="0"/>
              </a:rPr>
              <a:t>fs.h</a:t>
            </a:r>
            <a:r>
              <a:rPr lang="en-US" dirty="0">
                <a:latin typeface="Helvetica" charset="0"/>
                <a:ea typeface="MS PGothic" charset="0"/>
              </a:rPr>
              <a:t> </a:t>
            </a:r>
          </a:p>
          <a:p>
            <a:pPr lvl="2">
              <a:buFont typeface="Webdings" charset="0"/>
              <a:buNone/>
            </a:pPr>
            <a:r>
              <a:rPr lang="en-US" sz="1600" dirty="0">
                <a:latin typeface="Helvetica" charset="0"/>
                <a:ea typeface="MS PGothic" charset="0"/>
              </a:rPr>
              <a:t>        </a:t>
            </a:r>
            <a:r>
              <a:rPr lang="en-US" sz="1600" dirty="0" err="1">
                <a:latin typeface="Helvetica" charset="0"/>
                <a:ea typeface="MS PGothic" charset="0"/>
              </a:rPr>
              <a:t>int</a:t>
            </a:r>
            <a:r>
              <a:rPr lang="en-US" sz="1600" dirty="0">
                <a:latin typeface="Helvetica" charset="0"/>
                <a:ea typeface="MS PGothic" charset="0"/>
              </a:rPr>
              <a:t> open(. . .) — Open a file</a:t>
            </a:r>
          </a:p>
          <a:p>
            <a:pPr lvl="2">
              <a:buFont typeface="Webdings" charset="0"/>
              <a:buNone/>
            </a:pPr>
            <a:r>
              <a:rPr lang="en-US" sz="1600" dirty="0">
                <a:latin typeface="Helvetica" charset="0"/>
                <a:ea typeface="MS PGothic" charset="0"/>
              </a:rPr>
              <a:t>        </a:t>
            </a:r>
            <a:r>
              <a:rPr lang="en-US" sz="1600" dirty="0" err="1">
                <a:latin typeface="Helvetica" charset="0"/>
                <a:ea typeface="MS PGothic" charset="0"/>
              </a:rPr>
              <a:t>ssize</a:t>
            </a:r>
            <a:r>
              <a:rPr lang="en-US" sz="1600" dirty="0">
                <a:latin typeface="Helvetica" charset="0"/>
                <a:ea typeface="MS PGothic" charset="0"/>
              </a:rPr>
              <a:t> t read(. . .) — Read from a file</a:t>
            </a:r>
          </a:p>
          <a:p>
            <a:pPr lvl="2">
              <a:buFont typeface="Webdings" charset="0"/>
              <a:buNone/>
            </a:pPr>
            <a:r>
              <a:rPr lang="en-US" sz="1600" dirty="0">
                <a:latin typeface="Helvetica" charset="0"/>
                <a:ea typeface="MS PGothic" charset="0"/>
              </a:rPr>
              <a:t>        </a:t>
            </a:r>
            <a:r>
              <a:rPr lang="en-US" sz="1600" dirty="0" err="1">
                <a:latin typeface="Helvetica" charset="0"/>
                <a:ea typeface="MS PGothic" charset="0"/>
              </a:rPr>
              <a:t>ssize</a:t>
            </a:r>
            <a:r>
              <a:rPr lang="en-US" sz="1600" dirty="0">
                <a:latin typeface="Helvetica" charset="0"/>
                <a:ea typeface="MS PGothic" charset="0"/>
              </a:rPr>
              <a:t> t write(. . .) — Write to a file</a:t>
            </a:r>
          </a:p>
          <a:p>
            <a:pPr lvl="2">
              <a:buFont typeface="Webdings" charset="0"/>
              <a:buNone/>
            </a:pPr>
            <a:r>
              <a:rPr lang="en-US" sz="1600" dirty="0">
                <a:latin typeface="Helvetica" charset="0"/>
                <a:ea typeface="MS PGothic" charset="0"/>
              </a:rPr>
              <a:t>        </a:t>
            </a:r>
            <a:r>
              <a:rPr lang="en-US" sz="1600" dirty="0" err="1">
                <a:latin typeface="Helvetica" charset="0"/>
                <a:ea typeface="MS PGothic" charset="0"/>
              </a:rPr>
              <a:t>int</a:t>
            </a:r>
            <a:r>
              <a:rPr lang="en-US" sz="1600" dirty="0">
                <a:latin typeface="Helvetica" charset="0"/>
                <a:ea typeface="MS PGothic" charset="0"/>
              </a:rPr>
              <a:t> </a:t>
            </a:r>
            <a:r>
              <a:rPr lang="en-US" sz="1600" dirty="0" err="1">
                <a:latin typeface="Helvetica" charset="0"/>
                <a:ea typeface="MS PGothic" charset="0"/>
              </a:rPr>
              <a:t>mmap</a:t>
            </a:r>
            <a:r>
              <a:rPr lang="en-US" sz="1600" dirty="0">
                <a:latin typeface="Helvetica" charset="0"/>
                <a:ea typeface="MS PGothic" charset="0"/>
              </a:rPr>
              <a:t>(. . .) — Memory-map a file</a:t>
            </a:r>
          </a:p>
          <a:p>
            <a:pPr lvl="2">
              <a:buFont typeface="Webdings" charset="0"/>
              <a:buNone/>
            </a:pPr>
            <a:endParaRPr lang="en-US" sz="1600" dirty="0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23065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1925"/>
            <a:ext cx="8229600" cy="576263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MS PGothic" charset="0"/>
              </a:rPr>
              <a:t>The Linux ext3 File System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6138" y="1090613"/>
            <a:ext cx="6643687" cy="5284787"/>
          </a:xfrm>
          <a:noFill/>
        </p:spPr>
        <p:txBody>
          <a:bodyPr/>
          <a:lstStyle/>
          <a:p>
            <a:r>
              <a:rPr lang="en-US" b="1">
                <a:solidFill>
                  <a:srgbClr val="3366FF"/>
                </a:solidFill>
                <a:latin typeface="Helvetica" charset="0"/>
                <a:ea typeface="MS PGothic" charset="0"/>
              </a:rPr>
              <a:t>ext3</a:t>
            </a:r>
            <a:r>
              <a:rPr lang="en-US">
                <a:latin typeface="Helvetica" charset="0"/>
                <a:ea typeface="MS PGothic" charset="0"/>
              </a:rPr>
              <a:t> is standard on disk file system for Linux</a:t>
            </a:r>
          </a:p>
          <a:p>
            <a:pPr lvl="1"/>
            <a:r>
              <a:rPr lang="en-US">
                <a:latin typeface="Helvetica" charset="0"/>
                <a:ea typeface="MS PGothic" charset="0"/>
              </a:rPr>
              <a:t>Uses a mechanism similar to that of BSD Fast File System (FFS) for locating data blocks belonging to a specific file</a:t>
            </a:r>
          </a:p>
          <a:p>
            <a:pPr lvl="1"/>
            <a:r>
              <a:rPr lang="en-US">
                <a:latin typeface="Helvetica" charset="0"/>
                <a:ea typeface="MS PGothic" charset="0"/>
              </a:rPr>
              <a:t>Supersedes older </a:t>
            </a:r>
            <a:r>
              <a:rPr lang="en-US" b="1">
                <a:solidFill>
                  <a:srgbClr val="3366FF"/>
                </a:solidFill>
                <a:latin typeface="Helvetica" charset="0"/>
                <a:ea typeface="MS PGothic" charset="0"/>
              </a:rPr>
              <a:t>extfs</a:t>
            </a:r>
            <a:r>
              <a:rPr lang="en-US">
                <a:latin typeface="Helvetica" charset="0"/>
                <a:ea typeface="MS PGothic" charset="0"/>
              </a:rPr>
              <a:t>, </a:t>
            </a:r>
            <a:r>
              <a:rPr lang="en-US" b="1">
                <a:solidFill>
                  <a:srgbClr val="3366FF"/>
                </a:solidFill>
                <a:latin typeface="Helvetica" charset="0"/>
                <a:ea typeface="MS PGothic" charset="0"/>
              </a:rPr>
              <a:t>ext2</a:t>
            </a:r>
            <a:r>
              <a:rPr lang="en-US">
                <a:latin typeface="Helvetica" charset="0"/>
                <a:ea typeface="MS PGothic" charset="0"/>
              </a:rPr>
              <a:t> file systems</a:t>
            </a:r>
          </a:p>
          <a:p>
            <a:pPr lvl="1"/>
            <a:r>
              <a:rPr lang="en-US">
                <a:latin typeface="Helvetica" charset="0"/>
                <a:ea typeface="MS PGothic" charset="0"/>
              </a:rPr>
              <a:t>Work underway on ext4 adding features like extents</a:t>
            </a:r>
          </a:p>
          <a:p>
            <a:pPr lvl="1"/>
            <a:r>
              <a:rPr lang="en-US">
                <a:latin typeface="Helvetica" charset="0"/>
                <a:ea typeface="MS PGothic" charset="0"/>
              </a:rPr>
              <a:t>Of course, many other file system choices with Linux distros</a:t>
            </a:r>
          </a:p>
          <a:p>
            <a:pPr lvl="1"/>
            <a:endParaRPr lang="en-US" sz="1600">
              <a:latin typeface="Helvetica" charset="0"/>
              <a:ea typeface="MS PGothic" charset="0"/>
            </a:endParaRPr>
          </a:p>
          <a:p>
            <a:pPr lvl="1"/>
            <a:endParaRPr lang="en-US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5945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1925"/>
            <a:ext cx="8229600" cy="576263"/>
          </a:xfrm>
        </p:spPr>
        <p:txBody>
          <a:bodyPr/>
          <a:lstStyle/>
          <a:p>
            <a:pPr eaLnBrk="1" hangingPunct="1"/>
            <a:r>
              <a:rPr lang="en-US" sz="2800">
                <a:latin typeface="Arial" charset="0"/>
                <a:ea typeface="MS PGothic" charset="0"/>
              </a:rPr>
              <a:t>The Linux ext3 File System (Cont.)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6138" y="1090613"/>
            <a:ext cx="7208837" cy="5284787"/>
          </a:xfrm>
          <a:noFill/>
        </p:spPr>
        <p:txBody>
          <a:bodyPr/>
          <a:lstStyle/>
          <a:p>
            <a:r>
              <a:rPr lang="en-US" sz="1600">
                <a:latin typeface="Helvetica" charset="0"/>
                <a:ea typeface="MS PGothic" charset="0"/>
              </a:rPr>
              <a:t>The main differences between ext2fs and FFS concern their disk allocation policies</a:t>
            </a:r>
          </a:p>
          <a:p>
            <a:pPr lvl="1"/>
            <a:r>
              <a:rPr lang="en-US" sz="1600">
                <a:latin typeface="Helvetica" charset="0"/>
                <a:ea typeface="MS PGothic" charset="0"/>
              </a:rPr>
              <a:t>In ffs, the disk is allocated to files in blocks of 8Kb, with blocks being subdivided into fragments of 1Kb to store small files or partially filled blocks at the end of a file</a:t>
            </a:r>
          </a:p>
          <a:p>
            <a:pPr lvl="1"/>
            <a:r>
              <a:rPr lang="en-US" sz="1600">
                <a:latin typeface="Helvetica" charset="0"/>
                <a:ea typeface="MS PGothic" charset="0"/>
              </a:rPr>
              <a:t>ext3 does not use fragments; it performs its allocations in smaller units  </a:t>
            </a:r>
          </a:p>
          <a:p>
            <a:pPr lvl="2"/>
            <a:r>
              <a:rPr lang="en-US" sz="1600">
                <a:latin typeface="Helvetica" charset="0"/>
                <a:ea typeface="MS PGothic" charset="0"/>
              </a:rPr>
              <a:t>The default block size on ext3 varies as a function of total size of file system with support for 1, 2, 4 and 8 KB blocks </a:t>
            </a:r>
          </a:p>
          <a:p>
            <a:pPr lvl="1"/>
            <a:r>
              <a:rPr lang="en-US" sz="1600">
                <a:latin typeface="Helvetica" charset="0"/>
                <a:ea typeface="MS PGothic" charset="0"/>
              </a:rPr>
              <a:t>ext3 uses cluster allocation policies designed to place logically adjacent blocks of a file into physically adjacent blocks on disk, so that it can submit an I/O request for several disk blocks as a single operation on a </a:t>
            </a:r>
            <a:r>
              <a:rPr lang="en-US" sz="1600" b="1">
                <a:solidFill>
                  <a:srgbClr val="3366FF"/>
                </a:solidFill>
                <a:latin typeface="Helvetica" charset="0"/>
                <a:ea typeface="MS PGothic" charset="0"/>
              </a:rPr>
              <a:t>block group</a:t>
            </a:r>
          </a:p>
          <a:p>
            <a:pPr lvl="1"/>
            <a:r>
              <a:rPr lang="en-US" sz="1600">
                <a:latin typeface="Helvetica" charset="0"/>
                <a:ea typeface="MS PGothic" charset="0"/>
              </a:rPr>
              <a:t>Maintains bit map of free blocks in a block group, searches for free byte to allocate at least 8 blocks at a time</a:t>
            </a:r>
          </a:p>
          <a:p>
            <a:pPr lvl="1"/>
            <a:endParaRPr lang="en-US" sz="1600">
              <a:latin typeface="Helvetica" charset="0"/>
              <a:ea typeface="MS PGothic" charset="0"/>
            </a:endParaRPr>
          </a:p>
          <a:p>
            <a:pPr lvl="1"/>
            <a:endParaRPr lang="en-US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713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76213"/>
            <a:ext cx="8915400" cy="576262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MS PGothic" charset="0"/>
              </a:rPr>
              <a:t>Ext2fs Block-Allocation Policies</a:t>
            </a:r>
          </a:p>
        </p:txBody>
      </p:sp>
      <p:pic>
        <p:nvPicPr>
          <p:cNvPr id="53251" name="Picture 1" descr="18_0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225" y="1247775"/>
            <a:ext cx="5275263" cy="432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811884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273175" y="117475"/>
            <a:ext cx="7413625" cy="576263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MS PGothic" charset="0"/>
              </a:rPr>
              <a:t>Journaling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990600"/>
            <a:ext cx="8382000" cy="4530725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ext3 implements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journaling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, with file system updates first written to a log file in the form of </a:t>
            </a:r>
            <a:r>
              <a:rPr lang="en-US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transactions</a:t>
            </a:r>
          </a:p>
          <a:p>
            <a:pPr lvl="1"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Once in log file, considered committed</a:t>
            </a:r>
          </a:p>
          <a:p>
            <a:pPr lvl="1"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Over time, log file transactions replayed over file system to put changes in place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On system crash, some transactions might be in journal but not yet placed into file system</a:t>
            </a:r>
          </a:p>
          <a:p>
            <a:pPr lvl="1"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Must be completed once system recovers</a:t>
            </a:r>
          </a:p>
          <a:p>
            <a:pPr lvl="1"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No other consistency checking is needed after a crash (much faster than older methods)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en-US" dirty="0" smtClean="0">
                <a:ea typeface="ＭＳ Ｐゴシック" charset="0"/>
                <a:cs typeface="ＭＳ Ｐゴシック" charset="0"/>
              </a:rPr>
              <a:t>Improves write performance on hard disks by turning random I/O into sequential I/O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17614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273175" y="190500"/>
            <a:ext cx="7413625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The Linux Proc File System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534400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The </a:t>
            </a:r>
            <a:r>
              <a:rPr lang="en-US" b="1" dirty="0" err="1">
                <a:solidFill>
                  <a:srgbClr val="3366FF"/>
                </a:solidFill>
                <a:latin typeface="Helvetica" charset="0"/>
                <a:ea typeface="MS PGothic" charset="0"/>
              </a:rPr>
              <a:t>proc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 file system</a:t>
            </a:r>
            <a:r>
              <a:rPr lang="en-US" dirty="0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 dirty="0">
                <a:latin typeface="Helvetica" charset="0"/>
                <a:ea typeface="MS PGothic" charset="0"/>
              </a:rPr>
              <a:t>does not store data, rather, its contents are computed on demand according to user file I/O requests</a:t>
            </a:r>
          </a:p>
          <a:p>
            <a:r>
              <a:rPr lang="en-US" b="1" dirty="0" err="1">
                <a:latin typeface="Helvetica" charset="0"/>
                <a:ea typeface="MS PGothic" charset="0"/>
              </a:rPr>
              <a:t>proc</a:t>
            </a:r>
            <a:r>
              <a:rPr lang="en-US" dirty="0">
                <a:latin typeface="Helvetica" charset="0"/>
                <a:ea typeface="MS PGothic" charset="0"/>
              </a:rPr>
              <a:t> must implement a directory structure, and the file contents within; it must then define a unique and persistent </a:t>
            </a:r>
            <a:r>
              <a:rPr lang="en-US" dirty="0" err="1">
                <a:latin typeface="Helvetica" charset="0"/>
                <a:ea typeface="MS PGothic" charset="0"/>
              </a:rPr>
              <a:t>inode</a:t>
            </a:r>
            <a:r>
              <a:rPr lang="en-US" dirty="0">
                <a:latin typeface="Helvetica" charset="0"/>
                <a:ea typeface="MS PGothic" charset="0"/>
              </a:rPr>
              <a:t> number for each directory and files it contains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It uses this </a:t>
            </a:r>
            <a:r>
              <a:rPr lang="en-US" dirty="0" err="1">
                <a:latin typeface="Helvetica" charset="0"/>
                <a:ea typeface="MS PGothic" charset="0"/>
              </a:rPr>
              <a:t>inode</a:t>
            </a:r>
            <a:r>
              <a:rPr lang="en-US" dirty="0">
                <a:latin typeface="Helvetica" charset="0"/>
                <a:ea typeface="MS PGothic" charset="0"/>
              </a:rPr>
              <a:t> number to identify just what operation is required when a user tries to read from a particular file </a:t>
            </a:r>
            <a:r>
              <a:rPr lang="en-US" dirty="0" err="1">
                <a:latin typeface="Helvetica" charset="0"/>
                <a:ea typeface="MS PGothic" charset="0"/>
              </a:rPr>
              <a:t>inode</a:t>
            </a:r>
            <a:r>
              <a:rPr lang="en-US" dirty="0">
                <a:latin typeface="Helvetica" charset="0"/>
                <a:ea typeface="MS PGothic" charset="0"/>
              </a:rPr>
              <a:t> or perform a lookup in a particular directory </a:t>
            </a:r>
            <a:r>
              <a:rPr lang="en-US" dirty="0" err="1">
                <a:latin typeface="Helvetica" charset="0"/>
                <a:ea typeface="MS PGothic" charset="0"/>
              </a:rPr>
              <a:t>inode</a:t>
            </a:r>
            <a:endParaRPr lang="en-US" dirty="0">
              <a:latin typeface="Helvetica" charset="0"/>
              <a:ea typeface="MS PGothic" charset="0"/>
            </a:endParaRP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When data is read from one of these files, </a:t>
            </a:r>
            <a:r>
              <a:rPr lang="en-US" b="1" dirty="0" err="1">
                <a:latin typeface="Helvetica" charset="0"/>
                <a:ea typeface="MS PGothic" charset="0"/>
              </a:rPr>
              <a:t>proc</a:t>
            </a:r>
            <a:r>
              <a:rPr lang="en-US" dirty="0">
                <a:latin typeface="Helvetica" charset="0"/>
                <a:ea typeface="MS PGothic" charset="0"/>
              </a:rPr>
              <a:t> collects the appropriate information, formats it into text form and places it into the requesting process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read buffer</a:t>
            </a:r>
            <a:endParaRPr lang="en-US" dirty="0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7465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1925"/>
            <a:ext cx="82296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Input and Output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33488"/>
            <a:ext cx="8534400" cy="4900612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The Linux device-oriented file system accesses disk storage through two caches: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Data is cached in the page cache, which is unified with the virtual memory system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Metadata is cached in the buffer cache, a separate cache indexed by the physical disk block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Linux splits all devices into three classes:</a:t>
            </a:r>
          </a:p>
          <a:p>
            <a:pPr lvl="1"/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block devices </a:t>
            </a:r>
            <a:r>
              <a:rPr lang="en-US" dirty="0">
                <a:latin typeface="Helvetica" charset="0"/>
                <a:ea typeface="MS PGothic" charset="0"/>
              </a:rPr>
              <a:t>allow random access to completely independent, fixed size blocks of data</a:t>
            </a:r>
          </a:p>
          <a:p>
            <a:pPr lvl="1"/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character devices </a:t>
            </a:r>
            <a:r>
              <a:rPr lang="en-US" dirty="0">
                <a:latin typeface="Helvetica" charset="0"/>
                <a:ea typeface="MS PGothic" charset="0"/>
              </a:rPr>
              <a:t>include most other devices; they don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t need to support the functionality of regular files</a:t>
            </a:r>
          </a:p>
          <a:p>
            <a:pPr lvl="1"/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network devices </a:t>
            </a:r>
            <a:r>
              <a:rPr lang="en-US" dirty="0">
                <a:latin typeface="Helvetica" charset="0"/>
                <a:ea typeface="MS PGothic" charset="0"/>
              </a:rPr>
              <a:t>are interfaced via the kernel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networking subsystem</a:t>
            </a:r>
            <a:endParaRPr lang="en-US" dirty="0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7472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0500"/>
            <a:ext cx="82296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Block Devices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031875"/>
            <a:ext cx="9144000" cy="4530725"/>
          </a:xfrm>
        </p:spPr>
        <p:txBody>
          <a:bodyPr/>
          <a:lstStyle/>
          <a:p>
            <a:r>
              <a:rPr lang="en-US" sz="2400" dirty="0">
                <a:latin typeface="Helvetica" charset="0"/>
                <a:ea typeface="MS PGothic" charset="0"/>
              </a:rPr>
              <a:t>Provide the main interface to all disk devices in a system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The block buffer cache serves two main purposes: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it acts as a pool of buffers for active I/O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it serves as a cache for completed I/O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The </a:t>
            </a:r>
            <a:r>
              <a:rPr lang="en-US" sz="2400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request manager </a:t>
            </a:r>
            <a:r>
              <a:rPr lang="en-US" sz="2400" dirty="0">
                <a:latin typeface="Helvetica" charset="0"/>
                <a:ea typeface="MS PGothic" charset="0"/>
              </a:rPr>
              <a:t>manages the reading and writing of buffer contents to and from a block device driver</a:t>
            </a:r>
          </a:p>
          <a:p>
            <a:r>
              <a:rPr lang="en-US" sz="2400" dirty="0">
                <a:latin typeface="Helvetica" charset="0"/>
                <a:ea typeface="MS PGothic" charset="0"/>
              </a:rPr>
              <a:t>Kernel 2.6 introduced </a:t>
            </a:r>
            <a:r>
              <a:rPr lang="en-US" sz="2400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Completely Fair </a:t>
            </a:r>
            <a:r>
              <a:rPr lang="en-US" sz="2400" b="1" dirty="0" err="1">
                <a:solidFill>
                  <a:srgbClr val="3366FF"/>
                </a:solidFill>
                <a:latin typeface="Helvetica" charset="0"/>
                <a:ea typeface="MS PGothic" charset="0"/>
              </a:rPr>
              <a:t>Queueing</a:t>
            </a:r>
            <a:r>
              <a:rPr lang="en-US" sz="2400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 sz="2400" dirty="0">
                <a:latin typeface="Helvetica" charset="0"/>
                <a:ea typeface="MS PGothic" charset="0"/>
              </a:rPr>
              <a:t>(</a:t>
            </a:r>
            <a:r>
              <a:rPr lang="en-US" sz="2400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CFQ</a:t>
            </a:r>
            <a:r>
              <a:rPr lang="en-US" sz="2400" dirty="0">
                <a:latin typeface="Helvetica" charset="0"/>
                <a:ea typeface="MS PGothic" charset="0"/>
              </a:rPr>
              <a:t>)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Now the default scheduler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Fundamentally different from elevator algorithms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Maintains set of lists, one for each process by default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Uses C-SCAN algorithm, with round robin between all outstanding I/O from all processes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Four blocks from each process put on at once</a:t>
            </a:r>
          </a:p>
        </p:txBody>
      </p:sp>
    </p:spTree>
    <p:extLst>
      <p:ext uri="{BB962C8B-B14F-4D97-AF65-F5344CB8AC3E}">
        <p14:creationId xmlns:p14="http://schemas.microsoft.com/office/powerpoint/2010/main" val="28157424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62013" y="176213"/>
            <a:ext cx="7839075" cy="5762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Device-Driver Block Structure</a:t>
            </a:r>
          </a:p>
        </p:txBody>
      </p:sp>
      <p:pic>
        <p:nvPicPr>
          <p:cNvPr id="58371" name="Picture 1" descr="18_08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888" y="1333500"/>
            <a:ext cx="6100762" cy="265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03039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7475"/>
            <a:ext cx="82296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Character Devices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914400"/>
            <a:ext cx="7837487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A device driver which does not offer random access to fixed blocks of data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A character device driver must register a set of functions which implement the driver</a:t>
            </a:r>
            <a:r>
              <a:rPr lang="ja-JP" altLang="en-US" dirty="0">
                <a:latin typeface="Helvetica" charset="0"/>
                <a:ea typeface="MS PGothic" charset="0"/>
              </a:rPr>
              <a:t>’</a:t>
            </a:r>
            <a:r>
              <a:rPr lang="en-US" altLang="ja-JP" dirty="0">
                <a:latin typeface="Helvetica" charset="0"/>
                <a:ea typeface="MS PGothic" charset="0"/>
              </a:rPr>
              <a:t>s various file I/O operations</a:t>
            </a:r>
            <a:endParaRPr lang="en-US" dirty="0">
              <a:latin typeface="Helvetica" charset="0"/>
              <a:ea typeface="MS PGothic" charset="0"/>
            </a:endParaRPr>
          </a:p>
          <a:p>
            <a:r>
              <a:rPr lang="en-US" dirty="0">
                <a:latin typeface="Helvetica" charset="0"/>
                <a:ea typeface="MS PGothic" charset="0"/>
              </a:rPr>
              <a:t>The kernel performs almost no preprocessing of a file read or write request to a character device, but simply passes on the request to the device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main exception to this rule is the special subset of character device drivers which implement terminal devices, for which the kernel maintains a standard interface</a:t>
            </a:r>
          </a:p>
          <a:p>
            <a:endParaRPr lang="en-US" dirty="0">
              <a:latin typeface="Helvetica" charset="0"/>
              <a:ea typeface="MS PGothic" charset="0"/>
            </a:endParaRPr>
          </a:p>
          <a:p>
            <a:endParaRPr lang="en-US" dirty="0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4778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61925"/>
            <a:ext cx="8229600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Character Devices (Cont.)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990600"/>
            <a:ext cx="8915400" cy="4530725"/>
          </a:xfrm>
        </p:spPr>
        <p:txBody>
          <a:bodyPr/>
          <a:lstStyle/>
          <a:p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Line discipline </a:t>
            </a:r>
            <a:r>
              <a:rPr lang="en-US" dirty="0">
                <a:latin typeface="Helvetica" charset="0"/>
                <a:ea typeface="MS PGothic" charset="0"/>
              </a:rPr>
              <a:t>is an interpreter for the information from the terminal device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The most common line discipline is </a:t>
            </a:r>
            <a:r>
              <a:rPr lang="en-US" dirty="0" err="1">
                <a:latin typeface="Helvetica" charset="0"/>
                <a:ea typeface="MS PGothic" charset="0"/>
              </a:rPr>
              <a:t>tty</a:t>
            </a:r>
            <a:r>
              <a:rPr lang="en-US" dirty="0">
                <a:latin typeface="Helvetica" charset="0"/>
                <a:ea typeface="MS PGothic" charset="0"/>
              </a:rPr>
              <a:t> discipline, which glues the terminal’s data stream onto standard input and output streams of user’s running processes, allowing processes to communicate directly with the user’s terminal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Several processes may be running simultaneously, </a:t>
            </a:r>
            <a:r>
              <a:rPr lang="en-US" dirty="0" err="1">
                <a:latin typeface="Helvetica" charset="0"/>
                <a:ea typeface="MS PGothic" charset="0"/>
              </a:rPr>
              <a:t>tty</a:t>
            </a:r>
            <a:r>
              <a:rPr lang="en-US" dirty="0">
                <a:latin typeface="Helvetica" charset="0"/>
                <a:ea typeface="MS PGothic" charset="0"/>
              </a:rPr>
              <a:t> line discipline responsible for attaching and detaching terminal’s input and output from various processes connected to it as processes are suspended or awakened by user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Other line disciplines also are implemented have nothing to do with I/O to user process – i.e. PPP and SLIP networking protocols</a:t>
            </a:r>
          </a:p>
          <a:p>
            <a:endParaRPr lang="en-US" dirty="0">
              <a:latin typeface="Helvetica" charset="0"/>
              <a:ea typeface="MS PGothic" charset="0"/>
            </a:endParaRPr>
          </a:p>
          <a:p>
            <a:endParaRPr lang="en-US" dirty="0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7649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992188" y="117475"/>
            <a:ext cx="7694612" cy="576263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Interprocess Communication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533400"/>
            <a:ext cx="8991599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Like UNIX, Linux informs processes that an event has occurred via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signals</a:t>
            </a:r>
            <a:endParaRPr lang="en-US" dirty="0">
              <a:latin typeface="Helvetica" charset="0"/>
              <a:ea typeface="MS PGothic" charset="0"/>
            </a:endParaRPr>
          </a:p>
          <a:p>
            <a:r>
              <a:rPr lang="en-US" dirty="0">
                <a:latin typeface="Helvetica" charset="0"/>
                <a:ea typeface="MS PGothic" charset="0"/>
              </a:rPr>
              <a:t>There is a limited number of signals, and they cannot carry information:  Only the fact that a signal occurred is available to a process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The Linux kernel does not use signals to communicate with processes with are running in kernel mode, rather, communication within the kernel is accomplished via scheduling states and </a:t>
            </a:r>
            <a:r>
              <a:rPr lang="en-US" b="1" dirty="0" err="1">
                <a:latin typeface="Courier New" charset="0"/>
                <a:ea typeface="MS PGothic" charset="0"/>
                <a:cs typeface="Courier New" charset="0"/>
              </a:rPr>
              <a:t>wait_queue</a:t>
            </a:r>
            <a:r>
              <a:rPr lang="en-US" dirty="0">
                <a:latin typeface="Helvetica" charset="0"/>
                <a:ea typeface="MS PGothic" charset="0"/>
              </a:rPr>
              <a:t> structures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Also implements System V Unix semaphores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Process can wait for a signal or a semaphore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Semaphores scale better</a:t>
            </a:r>
          </a:p>
          <a:p>
            <a:pPr lvl="1"/>
            <a:r>
              <a:rPr lang="en-US" dirty="0">
                <a:latin typeface="Helvetica" charset="0"/>
                <a:ea typeface="MS PGothic" charset="0"/>
              </a:rPr>
              <a:t>Operations on multiple semaphores can be atomic</a:t>
            </a:r>
          </a:p>
        </p:txBody>
      </p:sp>
    </p:spTree>
    <p:extLst>
      <p:ext uri="{BB962C8B-B14F-4D97-AF65-F5344CB8AC3E}">
        <p14:creationId xmlns:p14="http://schemas.microsoft.com/office/powerpoint/2010/main" val="11666959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147638"/>
            <a:ext cx="8886825" cy="576262"/>
          </a:xfrm>
        </p:spPr>
        <p:txBody>
          <a:bodyPr/>
          <a:lstStyle/>
          <a:p>
            <a:pPr eaLnBrk="1" hangingPunct="1"/>
            <a:r>
              <a:rPr lang="en-US" dirty="0">
                <a:latin typeface="Arial" charset="0"/>
                <a:ea typeface="MS PGothic" charset="0"/>
              </a:rPr>
              <a:t>Passing Data Between Processes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233488"/>
            <a:ext cx="8810625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The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pipe</a:t>
            </a:r>
            <a:r>
              <a:rPr lang="en-US" dirty="0">
                <a:latin typeface="Helvetica" charset="0"/>
                <a:ea typeface="MS PGothic" charset="0"/>
              </a:rPr>
              <a:t> mechanism allows a child process to inherit a communication channel to its parent, data written to one end of the pipe can be read a the other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Shared memory offers an extremely fast way of communicating; any data written by one process to a shared memory region can be read immediately by any other process that has mapped that region into its address space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To obtain synchronization, however, shared memory must be used in conjunction with another </a:t>
            </a:r>
            <a:r>
              <a:rPr lang="en-US" dirty="0" err="1">
                <a:latin typeface="Helvetica" charset="0"/>
                <a:ea typeface="MS PGothic" charset="0"/>
              </a:rPr>
              <a:t>Interprocess</a:t>
            </a:r>
            <a:r>
              <a:rPr lang="en-US" dirty="0">
                <a:latin typeface="Helvetica" charset="0"/>
                <a:ea typeface="MS PGothic" charset="0"/>
              </a:rPr>
              <a:t>-communication mechanism</a:t>
            </a:r>
          </a:p>
        </p:txBody>
      </p:sp>
    </p:spTree>
    <p:extLst>
      <p:ext uri="{BB962C8B-B14F-4D97-AF65-F5344CB8AC3E}">
        <p14:creationId xmlns:p14="http://schemas.microsoft.com/office/powerpoint/2010/main" val="27613893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779463" y="147638"/>
            <a:ext cx="7907337" cy="5762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Network Structure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011238"/>
            <a:ext cx="8307388" cy="475297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Networking is a key area of functionality for Linux</a:t>
            </a:r>
          </a:p>
          <a:p>
            <a:pPr lvl="1"/>
            <a:r>
              <a:rPr lang="en-US" sz="1600" dirty="0">
                <a:latin typeface="Helvetica" charset="0"/>
                <a:ea typeface="MS PGothic" charset="0"/>
              </a:rPr>
              <a:t>It supports the standard Internet protocols for UNIX to UNIX communications</a:t>
            </a:r>
          </a:p>
          <a:p>
            <a:pPr lvl="1"/>
            <a:r>
              <a:rPr lang="en-US" sz="1600" dirty="0">
                <a:latin typeface="Helvetica" charset="0"/>
                <a:ea typeface="MS PGothic" charset="0"/>
              </a:rPr>
              <a:t>It also implements protocols native to non-UNIX operating systems, in particular, protocols used on PC networks, such as </a:t>
            </a:r>
            <a:r>
              <a:rPr lang="en-US" sz="1600" dirty="0" err="1">
                <a:latin typeface="Helvetica" charset="0"/>
                <a:ea typeface="MS PGothic" charset="0"/>
              </a:rPr>
              <a:t>Appletalk</a:t>
            </a:r>
            <a:r>
              <a:rPr lang="en-US" sz="1600" dirty="0">
                <a:latin typeface="Helvetica" charset="0"/>
                <a:ea typeface="MS PGothic" charset="0"/>
              </a:rPr>
              <a:t> and IPX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Internally, networking in the Linux kernel is implemented by three layers of software:</a:t>
            </a:r>
          </a:p>
          <a:p>
            <a:pPr lvl="1"/>
            <a:r>
              <a:rPr lang="en-US" sz="1600" dirty="0">
                <a:latin typeface="Helvetica" charset="0"/>
                <a:ea typeface="MS PGothic" charset="0"/>
              </a:rPr>
              <a:t>The socket interface</a:t>
            </a:r>
          </a:p>
          <a:p>
            <a:pPr lvl="1"/>
            <a:r>
              <a:rPr lang="en-US" sz="1600" dirty="0">
                <a:latin typeface="Helvetica" charset="0"/>
                <a:ea typeface="MS PGothic" charset="0"/>
              </a:rPr>
              <a:t>Protocol drivers</a:t>
            </a:r>
          </a:p>
          <a:p>
            <a:pPr lvl="1"/>
            <a:r>
              <a:rPr lang="en-US" sz="1600" dirty="0">
                <a:latin typeface="Helvetica" charset="0"/>
                <a:ea typeface="MS PGothic" charset="0"/>
              </a:rPr>
              <a:t>Network device drivers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Most important set of protocols in the Linux networking system is the internet protocol suite</a:t>
            </a:r>
          </a:p>
          <a:p>
            <a:pPr lvl="1"/>
            <a:r>
              <a:rPr lang="en-US" sz="1600" dirty="0">
                <a:latin typeface="Helvetica" charset="0"/>
                <a:ea typeface="MS PGothic" charset="0"/>
              </a:rPr>
              <a:t>It implements routing between different hosts anywhere on the network</a:t>
            </a:r>
          </a:p>
          <a:p>
            <a:pPr lvl="1"/>
            <a:r>
              <a:rPr lang="en-US" sz="1600" dirty="0">
                <a:latin typeface="Helvetica" charset="0"/>
                <a:ea typeface="MS PGothic" charset="0"/>
              </a:rPr>
              <a:t>On top of the routing protocol are built the UDP, TCP and ICMP protocols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Packets also pass to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firewall management </a:t>
            </a:r>
            <a:r>
              <a:rPr lang="en-US" dirty="0">
                <a:latin typeface="Helvetica" charset="0"/>
                <a:ea typeface="MS PGothic" charset="0"/>
              </a:rPr>
              <a:t>for filtering based on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firewall chains </a:t>
            </a:r>
            <a:r>
              <a:rPr lang="en-US" dirty="0">
                <a:latin typeface="Helvetica" charset="0"/>
                <a:ea typeface="MS PGothic" charset="0"/>
              </a:rPr>
              <a:t>of rules</a:t>
            </a:r>
          </a:p>
          <a:p>
            <a:pPr lvl="1"/>
            <a:endParaRPr lang="en-US" dirty="0">
              <a:latin typeface="Helvetica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52879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03188"/>
            <a:ext cx="8229600" cy="5762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Security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60463"/>
            <a:ext cx="8915400" cy="4530725"/>
          </a:xfrm>
        </p:spPr>
        <p:txBody>
          <a:bodyPr/>
          <a:lstStyle/>
          <a:p>
            <a:r>
              <a:rPr lang="en-US" dirty="0">
                <a:latin typeface="Helvetica" charset="0"/>
                <a:ea typeface="MS PGothic" charset="0"/>
              </a:rPr>
              <a:t>The 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pluggable authentication modules </a:t>
            </a:r>
            <a:r>
              <a:rPr lang="en-US" i="1" dirty="0">
                <a:latin typeface="Helvetica" charset="0"/>
                <a:ea typeface="MS PGothic" charset="0"/>
              </a:rPr>
              <a:t>(</a:t>
            </a:r>
            <a:r>
              <a:rPr lang="en-US" b="1" dirty="0">
                <a:solidFill>
                  <a:srgbClr val="3366FF"/>
                </a:solidFill>
                <a:latin typeface="Helvetica" charset="0"/>
                <a:ea typeface="MS PGothic" charset="0"/>
              </a:rPr>
              <a:t>PAM</a:t>
            </a:r>
            <a:r>
              <a:rPr lang="en-US" i="1" dirty="0">
                <a:latin typeface="Helvetica" charset="0"/>
                <a:ea typeface="MS PGothic" charset="0"/>
              </a:rPr>
              <a:t>)</a:t>
            </a:r>
            <a:r>
              <a:rPr lang="en-US" dirty="0">
                <a:latin typeface="Helvetica" charset="0"/>
                <a:ea typeface="MS PGothic" charset="0"/>
              </a:rPr>
              <a:t> system is available under Linux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PAM is based on a shared library that can be used by any system component that needs to authenticate users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Access control under UNIX systems, including Linux, is performed through the use of unique numeric identifiers (</a:t>
            </a:r>
            <a:r>
              <a:rPr lang="en-US" b="1" dirty="0" err="1">
                <a:latin typeface="Helvetica" charset="0"/>
                <a:ea typeface="MS PGothic" charset="0"/>
              </a:rPr>
              <a:t>uid</a:t>
            </a:r>
            <a:r>
              <a:rPr lang="en-US" dirty="0">
                <a:latin typeface="Helvetica" charset="0"/>
                <a:ea typeface="MS PGothic" charset="0"/>
              </a:rPr>
              <a:t> and </a:t>
            </a:r>
            <a:r>
              <a:rPr lang="en-US" b="1" dirty="0" err="1">
                <a:latin typeface="Helvetica" charset="0"/>
                <a:ea typeface="MS PGothic" charset="0"/>
              </a:rPr>
              <a:t>gid</a:t>
            </a:r>
            <a:r>
              <a:rPr lang="en-US" dirty="0">
                <a:latin typeface="Helvetica" charset="0"/>
                <a:ea typeface="MS PGothic" charset="0"/>
              </a:rPr>
              <a:t>)</a:t>
            </a:r>
          </a:p>
          <a:p>
            <a:r>
              <a:rPr lang="en-US" dirty="0">
                <a:latin typeface="Helvetica" charset="0"/>
                <a:ea typeface="MS PGothic" charset="0"/>
              </a:rPr>
              <a:t>Access control is performed by assigning objects a </a:t>
            </a:r>
            <a:r>
              <a:rPr lang="en-US" i="1" dirty="0">
                <a:latin typeface="Helvetica" charset="0"/>
                <a:ea typeface="MS PGothic" charset="0"/>
              </a:rPr>
              <a:t>protections mask</a:t>
            </a:r>
            <a:r>
              <a:rPr lang="en-US" dirty="0">
                <a:latin typeface="Helvetica" charset="0"/>
                <a:ea typeface="MS PGothic" charset="0"/>
              </a:rPr>
              <a:t>, which specifies which access modes—read, write, or execute—are to be granted to processes with owner, group, or world access</a:t>
            </a:r>
          </a:p>
        </p:txBody>
      </p:sp>
    </p:spTree>
    <p:extLst>
      <p:ext uri="{BB962C8B-B14F-4D97-AF65-F5344CB8AC3E}">
        <p14:creationId xmlns:p14="http://schemas.microsoft.com/office/powerpoint/2010/main" val="36007880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47638"/>
            <a:ext cx="8229600" cy="576262"/>
          </a:xfrm>
        </p:spPr>
        <p:txBody>
          <a:bodyPr/>
          <a:lstStyle/>
          <a:p>
            <a:pPr eaLnBrk="1" hangingPunct="1"/>
            <a:r>
              <a:rPr lang="en-US">
                <a:latin typeface="Arial" charset="0"/>
                <a:ea typeface="MS PGothic" charset="0"/>
              </a:rPr>
              <a:t>Security (Cont.)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5188" y="1160463"/>
            <a:ext cx="7016750" cy="4530725"/>
          </a:xfrm>
        </p:spPr>
        <p:txBody>
          <a:bodyPr/>
          <a:lstStyle/>
          <a:p>
            <a:r>
              <a:rPr lang="en-US">
                <a:latin typeface="Helvetica" charset="0"/>
                <a:ea typeface="MS PGothic" charset="0"/>
              </a:rPr>
              <a:t>Linux augments the standard UNIX </a:t>
            </a:r>
            <a:r>
              <a:rPr lang="en-US" b="1">
                <a:solidFill>
                  <a:srgbClr val="3366FF"/>
                </a:solidFill>
                <a:latin typeface="Helvetica" charset="0"/>
                <a:ea typeface="MS PGothic" charset="0"/>
              </a:rPr>
              <a:t>setuid</a:t>
            </a:r>
            <a:r>
              <a:rPr lang="en-US">
                <a:solidFill>
                  <a:srgbClr val="3366FF"/>
                </a:solidFill>
                <a:latin typeface="Helvetica" charset="0"/>
                <a:ea typeface="MS PGothic" charset="0"/>
              </a:rPr>
              <a:t> </a:t>
            </a:r>
            <a:r>
              <a:rPr lang="en-US">
                <a:latin typeface="Helvetica" charset="0"/>
                <a:ea typeface="MS PGothic" charset="0"/>
              </a:rPr>
              <a:t>mechanism in two ways:</a:t>
            </a:r>
          </a:p>
          <a:p>
            <a:pPr lvl="1"/>
            <a:r>
              <a:rPr lang="en-US">
                <a:latin typeface="Helvetica" charset="0"/>
                <a:ea typeface="MS PGothic" charset="0"/>
              </a:rPr>
              <a:t>It implements the POSIX specification</a:t>
            </a:r>
            <a:r>
              <a:rPr lang="ja-JP" altLang="en-US">
                <a:latin typeface="Helvetica" charset="0"/>
                <a:ea typeface="MS PGothic" charset="0"/>
              </a:rPr>
              <a:t>’</a:t>
            </a:r>
            <a:r>
              <a:rPr lang="en-US" altLang="ja-JP">
                <a:latin typeface="Helvetica" charset="0"/>
                <a:ea typeface="MS PGothic" charset="0"/>
              </a:rPr>
              <a:t>s saved </a:t>
            </a:r>
            <a:r>
              <a:rPr lang="en-US" altLang="ja-JP" b="1" i="1">
                <a:latin typeface="Helvetica" charset="0"/>
                <a:ea typeface="MS PGothic" charset="0"/>
              </a:rPr>
              <a:t>user-id</a:t>
            </a:r>
            <a:r>
              <a:rPr lang="en-US" altLang="ja-JP" b="1">
                <a:latin typeface="Helvetica" charset="0"/>
                <a:ea typeface="MS PGothic" charset="0"/>
              </a:rPr>
              <a:t> </a:t>
            </a:r>
            <a:r>
              <a:rPr lang="en-US" altLang="ja-JP">
                <a:latin typeface="Helvetica" charset="0"/>
                <a:ea typeface="MS PGothic" charset="0"/>
              </a:rPr>
              <a:t>mechanism, which allows a process to repeatedly drop and reacquire its effective uid</a:t>
            </a:r>
          </a:p>
          <a:p>
            <a:pPr lvl="1"/>
            <a:r>
              <a:rPr lang="en-US">
                <a:latin typeface="Helvetica" charset="0"/>
                <a:ea typeface="MS PGothic" charset="0"/>
              </a:rPr>
              <a:t>It has added a process characteristic that grants just a subset of the rights of the effective uid</a:t>
            </a:r>
          </a:p>
          <a:p>
            <a:r>
              <a:rPr lang="en-US">
                <a:latin typeface="Helvetica" charset="0"/>
                <a:ea typeface="MS PGothic" charset="0"/>
              </a:rPr>
              <a:t>Linux provides another mechanism that allows a client to selectively pass access to a single file to some server process without granting it any other privileges</a:t>
            </a:r>
          </a:p>
        </p:txBody>
      </p:sp>
    </p:spTree>
    <p:extLst>
      <p:ext uri="{BB962C8B-B14F-4D97-AF65-F5344CB8AC3E}">
        <p14:creationId xmlns:p14="http://schemas.microsoft.com/office/powerpoint/2010/main" val="247743786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56350</TotalTime>
  <Words>5264</Words>
  <Application>Microsoft Macintosh PowerPoint</Application>
  <PresentationFormat>On-screen Show (4:3)</PresentationFormat>
  <Paragraphs>428</Paragraphs>
  <Slides>60</Slides>
  <Notes>59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1" baseType="lpstr">
      <vt:lpstr>Blueprint</vt:lpstr>
      <vt:lpstr>The Linux System</vt:lpstr>
      <vt:lpstr>History</vt:lpstr>
      <vt:lpstr>The Linux Kernel</vt:lpstr>
      <vt:lpstr>Linux 2.0</vt:lpstr>
      <vt:lpstr>The Linux System</vt:lpstr>
      <vt:lpstr>Linux Distributions</vt:lpstr>
      <vt:lpstr>Linux Licensing</vt:lpstr>
      <vt:lpstr>Design Principles</vt:lpstr>
      <vt:lpstr>Components of a Linux System</vt:lpstr>
      <vt:lpstr>Components of a Linux System</vt:lpstr>
      <vt:lpstr>Components of a Linux System (Cont.)</vt:lpstr>
      <vt:lpstr>Kernel Modules</vt:lpstr>
      <vt:lpstr>Module Management</vt:lpstr>
      <vt:lpstr>Driver Registration</vt:lpstr>
      <vt:lpstr>Conflict Resolution</vt:lpstr>
      <vt:lpstr>Process Management</vt:lpstr>
      <vt:lpstr>Process Identity</vt:lpstr>
      <vt:lpstr>Process Environment</vt:lpstr>
      <vt:lpstr>Process Context</vt:lpstr>
      <vt:lpstr>Process Context (Cont.)</vt:lpstr>
      <vt:lpstr>Processes and Threads</vt:lpstr>
      <vt:lpstr>Scheduling</vt:lpstr>
      <vt:lpstr>CFS</vt:lpstr>
      <vt:lpstr>CFS (Cont.)</vt:lpstr>
      <vt:lpstr>Kernel Synchronization</vt:lpstr>
      <vt:lpstr>Kernel Synchronization (Cont.)</vt:lpstr>
      <vt:lpstr>Kernel Synchronization (Cont.)</vt:lpstr>
      <vt:lpstr>Interrupt Protection Levels</vt:lpstr>
      <vt:lpstr>Symmetric Multiprocessing</vt:lpstr>
      <vt:lpstr>Memory Management</vt:lpstr>
      <vt:lpstr>Managing Physical Memory</vt:lpstr>
      <vt:lpstr>Managing Physical Memory (Cont.)</vt:lpstr>
      <vt:lpstr>Splitting of Memory in a Buddy Heap</vt:lpstr>
      <vt:lpstr>Slab Allocator in Linux</vt:lpstr>
      <vt:lpstr>Virtual Memory</vt:lpstr>
      <vt:lpstr>Virtual Memory (Cont.)</vt:lpstr>
      <vt:lpstr>Virtual Memory (Cont.)</vt:lpstr>
      <vt:lpstr>Swapping and Paging</vt:lpstr>
      <vt:lpstr>Kernel Virtual Memory</vt:lpstr>
      <vt:lpstr>Executing and Loading User Programs</vt:lpstr>
      <vt:lpstr>Memory Layout for ELF Programs</vt:lpstr>
      <vt:lpstr>Static and Dynamic Linking</vt:lpstr>
      <vt:lpstr>Static and Dynamic Linking (Cont.)</vt:lpstr>
      <vt:lpstr>File Systems</vt:lpstr>
      <vt:lpstr>File Systems (Cont.)</vt:lpstr>
      <vt:lpstr>The Linux ext3 File System</vt:lpstr>
      <vt:lpstr>The Linux ext3 File System (Cont.)</vt:lpstr>
      <vt:lpstr>Ext2fs Block-Allocation Policies</vt:lpstr>
      <vt:lpstr>Journaling</vt:lpstr>
      <vt:lpstr>The Linux Proc File System</vt:lpstr>
      <vt:lpstr>Input and Output</vt:lpstr>
      <vt:lpstr>Block Devices</vt:lpstr>
      <vt:lpstr>Device-Driver Block Structure</vt:lpstr>
      <vt:lpstr>Character Devices</vt:lpstr>
      <vt:lpstr>Character Devices (Cont.)</vt:lpstr>
      <vt:lpstr>Interprocess Communication</vt:lpstr>
      <vt:lpstr>Passing Data Between Processes</vt:lpstr>
      <vt:lpstr>Network Structure</vt:lpstr>
      <vt:lpstr>Security</vt:lpstr>
      <vt:lpstr>Security (Cont.)</vt:lpstr>
    </vt:vector>
  </TitlesOfParts>
  <Company>Stanford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Games and the Impossibility of Realizable Ideal Functionality</dc:title>
  <dc:creator>Ante Derek</dc:creator>
  <cp:lastModifiedBy>Yinzhi Cao</cp:lastModifiedBy>
  <cp:revision>6987</cp:revision>
  <cp:lastPrinted>1998-03-10T18:42:22Z</cp:lastPrinted>
  <dcterms:created xsi:type="dcterms:W3CDTF">1997-09-07T20:51:32Z</dcterms:created>
  <dcterms:modified xsi:type="dcterms:W3CDTF">2015-12-01T17:18:43Z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1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3</vt:i4>
  </property>
  <property fmtid="{D5CDD505-2E9C-101B-9397-08002B2CF9AE}" pid="21" name="OutputDir">
    <vt:lpwstr>C:\Documents\cs242\notes\web-slides</vt:lpwstr>
  </property>
</Properties>
</file>