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76"/>
  </p:notesMasterIdLst>
  <p:handoutMasterIdLst>
    <p:handoutMasterId r:id="rId77"/>
  </p:handoutMasterIdLst>
  <p:sldIdLst>
    <p:sldId id="560" r:id="rId2"/>
    <p:sldId id="561" r:id="rId3"/>
    <p:sldId id="562" r:id="rId4"/>
    <p:sldId id="563" r:id="rId5"/>
    <p:sldId id="564" r:id="rId6"/>
    <p:sldId id="565" r:id="rId7"/>
    <p:sldId id="566" r:id="rId8"/>
    <p:sldId id="567" r:id="rId9"/>
    <p:sldId id="568" r:id="rId10"/>
    <p:sldId id="569" r:id="rId11"/>
    <p:sldId id="570" r:id="rId12"/>
    <p:sldId id="571" r:id="rId13"/>
    <p:sldId id="572" r:id="rId14"/>
    <p:sldId id="573" r:id="rId15"/>
    <p:sldId id="574" r:id="rId16"/>
    <p:sldId id="575" r:id="rId17"/>
    <p:sldId id="576" r:id="rId18"/>
    <p:sldId id="577" r:id="rId19"/>
    <p:sldId id="578" r:id="rId20"/>
    <p:sldId id="579" r:id="rId21"/>
    <p:sldId id="580" r:id="rId22"/>
    <p:sldId id="581" r:id="rId23"/>
    <p:sldId id="582" r:id="rId24"/>
    <p:sldId id="583" r:id="rId25"/>
    <p:sldId id="584" r:id="rId26"/>
    <p:sldId id="585" r:id="rId27"/>
    <p:sldId id="586" r:id="rId28"/>
    <p:sldId id="587" r:id="rId29"/>
    <p:sldId id="588" r:id="rId30"/>
    <p:sldId id="589" r:id="rId31"/>
    <p:sldId id="590" r:id="rId32"/>
    <p:sldId id="591" r:id="rId33"/>
    <p:sldId id="592" r:id="rId34"/>
    <p:sldId id="593" r:id="rId35"/>
    <p:sldId id="594" r:id="rId36"/>
    <p:sldId id="595" r:id="rId37"/>
    <p:sldId id="596" r:id="rId38"/>
    <p:sldId id="597" r:id="rId39"/>
    <p:sldId id="598" r:id="rId40"/>
    <p:sldId id="599" r:id="rId41"/>
    <p:sldId id="600" r:id="rId42"/>
    <p:sldId id="601" r:id="rId43"/>
    <p:sldId id="602" r:id="rId44"/>
    <p:sldId id="603" r:id="rId45"/>
    <p:sldId id="604" r:id="rId46"/>
    <p:sldId id="605" r:id="rId47"/>
    <p:sldId id="606" r:id="rId48"/>
    <p:sldId id="607" r:id="rId49"/>
    <p:sldId id="608" r:id="rId50"/>
    <p:sldId id="610" r:id="rId51"/>
    <p:sldId id="611" r:id="rId52"/>
    <p:sldId id="612" r:id="rId53"/>
    <p:sldId id="613" r:id="rId54"/>
    <p:sldId id="614" r:id="rId55"/>
    <p:sldId id="615" r:id="rId56"/>
    <p:sldId id="616" r:id="rId57"/>
    <p:sldId id="617" r:id="rId58"/>
    <p:sldId id="618" r:id="rId59"/>
    <p:sldId id="619" r:id="rId60"/>
    <p:sldId id="620" r:id="rId61"/>
    <p:sldId id="621" r:id="rId62"/>
    <p:sldId id="622" r:id="rId63"/>
    <p:sldId id="623" r:id="rId64"/>
    <p:sldId id="624" r:id="rId65"/>
    <p:sldId id="625" r:id="rId66"/>
    <p:sldId id="626" r:id="rId67"/>
    <p:sldId id="627" r:id="rId68"/>
    <p:sldId id="628" r:id="rId69"/>
    <p:sldId id="629" r:id="rId70"/>
    <p:sldId id="630" r:id="rId71"/>
    <p:sldId id="631" r:id="rId72"/>
    <p:sldId id="632" r:id="rId73"/>
    <p:sldId id="633" r:id="rId74"/>
    <p:sldId id="634" r:id="rId7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00"/>
    <a:srgbClr val="CC3300"/>
    <a:srgbClr val="9999FF"/>
    <a:srgbClr val="808080"/>
    <a:srgbClr val="869406"/>
    <a:srgbClr val="6666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8" autoAdjust="0"/>
    <p:restoredTop sz="94643" autoAdjust="0"/>
  </p:normalViewPr>
  <p:slideViewPr>
    <p:cSldViewPr snapToObjects="1">
      <p:cViewPr>
        <p:scale>
          <a:sx n="110" d="100"/>
          <a:sy n="110" d="100"/>
        </p:scale>
        <p:origin x="-3072" y="-1128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1186"/>
    </p:cViewPr>
  </p:sorterViewPr>
  <p:notesViewPr>
    <p:cSldViewPr snapToObjects="1">
      <p:cViewPr varScale="1">
        <p:scale>
          <a:sx n="87" d="100"/>
          <a:sy n="87" d="100"/>
        </p:scale>
        <p:origin x="-1914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handoutMaster" Target="handoutMasters/handoutMaster1.xml"/><Relationship Id="rId78" Type="http://schemas.openxmlformats.org/officeDocument/2006/relationships/printerSettings" Target="printerSettings/printerSettings1.bin"/><Relationship Id="rId79" Type="http://schemas.openxmlformats.org/officeDocument/2006/relationships/presProps" Target="presProp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Relationship Id="rId2" Type="http://schemas.openxmlformats.org/officeDocument/2006/relationships/image" Target="../media/image2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8D74864-EB05-49AA-BA59-F6F5B3173B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88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59300"/>
            <a:ext cx="5362575" cy="432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B35E1360-550A-4529-B4D2-5DC013EF65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3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253D518-D0BA-8948-9745-0868DD79ED9F}" type="slidenum">
              <a:rPr lang="en-US" altLang="en-US">
                <a:latin typeface="Times New Roman" charset="0"/>
              </a:rPr>
              <a:pPr/>
              <a:t>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7369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10865F-C321-D74A-B2E9-BBCA1501E3B4}" type="slidenum">
              <a:rPr lang="en-US" altLang="en-US">
                <a:latin typeface="Times New Roman" charset="0"/>
              </a:rPr>
              <a:pPr/>
              <a:t>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195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1C67210-D45A-1945-B1DB-4818CA614FCF}" type="slidenum">
              <a:rPr lang="en-US" altLang="en-US">
                <a:latin typeface="Times New Roman" charset="0"/>
              </a:rPr>
              <a:pPr/>
              <a:t>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0686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39CD555-2DCB-F54C-ADC0-B0AE25D1FC9D}" type="slidenum">
              <a:rPr lang="en-US" altLang="en-US">
                <a:latin typeface="Times New Roman" charset="0"/>
              </a:rPr>
              <a:pPr/>
              <a:t>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1609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94A2685-6D18-214D-B0EA-720FBCC29404}" type="slidenum">
              <a:rPr lang="en-US" altLang="en-US">
                <a:latin typeface="Times New Roman" charset="0"/>
              </a:rPr>
              <a:pPr/>
              <a:t>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4733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573A2B5-5AC8-9146-AB66-53DBF630458F}" type="slidenum">
              <a:rPr lang="en-US" altLang="en-US">
                <a:latin typeface="Times New Roman" charset="0"/>
              </a:rPr>
              <a:pPr/>
              <a:t>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7972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EA556C1-E1D8-CD4C-A7C1-CC519C32E638}" type="slidenum">
              <a:rPr lang="en-US" altLang="en-US">
                <a:latin typeface="Times New Roman" charset="0"/>
              </a:rPr>
              <a:pPr/>
              <a:t>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8255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B53B2D-150C-3C4A-A6FE-ED45F0707EFC}" type="slidenum">
              <a:rPr lang="en-US" altLang="en-US">
                <a:latin typeface="Times New Roman" charset="0"/>
              </a:rPr>
              <a:pPr/>
              <a:t>10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3291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1180511-2008-F446-B261-00BA1EEABF34}" type="slidenum">
              <a:rPr lang="en-US" altLang="en-US">
                <a:latin typeface="Times New Roman" charset="0"/>
              </a:rPr>
              <a:pPr/>
              <a:t>11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5586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DA7067E5-7C30-1E42-9EE0-04E61D114A43}" type="slidenum">
              <a:rPr lang="en-US" altLang="en-US">
                <a:latin typeface="Times New Roman" charset="0"/>
              </a:rPr>
              <a:pPr/>
              <a:t>12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0716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E3757DF-072A-4B4A-89B7-648881534871}" type="slidenum">
              <a:rPr lang="en-US" altLang="en-US">
                <a:latin typeface="Times New Roman" charset="0"/>
              </a:rPr>
              <a:pPr/>
              <a:t>13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2353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28534FC-B2B0-E94E-8EF3-D8533852DB58}" type="slidenum">
              <a:rPr lang="en-US" altLang="en-US">
                <a:latin typeface="Times New Roman" charset="0"/>
              </a:rPr>
              <a:pPr/>
              <a:t>15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2104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2EDBD2B-FC58-9D41-8429-27C166198C7A}" type="slidenum">
              <a:rPr lang="en-US" altLang="en-US">
                <a:latin typeface="Times New Roman" charset="0"/>
              </a:rPr>
              <a:pPr/>
              <a:t>16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2284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06623FB0-B267-1742-910C-EAB49C963228}" type="slidenum">
              <a:rPr lang="en-US" altLang="en-US">
                <a:latin typeface="Times New Roman" charset="0"/>
              </a:rPr>
              <a:pPr/>
              <a:t>17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9490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00A7A6F-1152-014D-A368-B56E6597A1FE}" type="slidenum">
              <a:rPr lang="en-US" altLang="en-US">
                <a:latin typeface="Times New Roman" charset="0"/>
              </a:rPr>
              <a:pPr/>
              <a:t>18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3416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487BACB4-144D-2640-A680-679E591C70E7}" type="slidenum">
              <a:rPr lang="en-US" altLang="en-US">
                <a:latin typeface="Times New Roman" charset="0"/>
              </a:rPr>
              <a:pPr/>
              <a:t>20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18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6C5D76F-9D89-2541-8A51-0324DDFA2AE6}" type="slidenum">
              <a:rPr lang="en-US" altLang="en-US">
                <a:latin typeface="Times New Roman" charset="0"/>
              </a:rPr>
              <a:pPr/>
              <a:t>21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90090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12F8A3B-5FA7-8A44-AB98-8CD2F2AA7124}" type="slidenum">
              <a:rPr lang="en-US" altLang="en-US">
                <a:latin typeface="Times New Roman" charset="0"/>
              </a:rPr>
              <a:pPr/>
              <a:t>22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765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4412296-8747-B44B-A729-E9AE225D7C85}" type="slidenum">
              <a:rPr lang="en-US" altLang="en-US">
                <a:latin typeface="Times New Roman" charset="0"/>
              </a:rPr>
              <a:pPr/>
              <a:t>23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5397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137A0C5-5F28-DF47-AAA6-3C1913CDEB9B}" type="slidenum">
              <a:rPr lang="en-US" altLang="en-US">
                <a:latin typeface="Times New Roman" charset="0"/>
              </a:rPr>
              <a:pPr/>
              <a:t>24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2957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73A2EC8-F66F-8A4A-AF00-9DA519A3571C}" type="slidenum">
              <a:rPr lang="en-US" altLang="en-US">
                <a:latin typeface="Times New Roman" charset="0"/>
              </a:rPr>
              <a:pPr/>
              <a:t>25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04380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14B3D0F-4B66-0547-A9E2-7C4C7C887FBF}" type="slidenum">
              <a:rPr lang="en-US" altLang="en-US">
                <a:latin typeface="Times New Roman" charset="0"/>
              </a:rPr>
              <a:pPr/>
              <a:t>26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34565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159ECAC-A117-2744-BFF3-6B255D3704EC}" type="slidenum">
              <a:rPr lang="en-US" altLang="en-US">
                <a:latin typeface="Times New Roman" charset="0"/>
              </a:rPr>
              <a:pPr/>
              <a:t>27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1475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614BC75-7B70-EE43-9ED6-F71150C29449}" type="slidenum">
              <a:rPr lang="en-US" altLang="en-US">
                <a:latin typeface="Times New Roman" charset="0"/>
              </a:rPr>
              <a:pPr/>
              <a:t>28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6489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2A9E64BB-1854-5C46-BB6C-2F2FC71F0913}" type="slidenum">
              <a:rPr lang="en-US" altLang="en-US">
                <a:latin typeface="Times New Roman" charset="0"/>
              </a:rPr>
              <a:pPr/>
              <a:t>29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73345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CE9B67D9-4CB7-8841-80A3-49A6731FA584}" type="slidenum">
              <a:rPr lang="en-US" altLang="en-US">
                <a:latin typeface="Times New Roman" charset="0"/>
              </a:rPr>
              <a:pPr/>
              <a:t>30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44465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247CA73-FF9C-4E4C-AFA3-5FF41B7E46F3}" type="slidenum">
              <a:rPr lang="en-US" altLang="en-US">
                <a:latin typeface="Times New Roman" charset="0"/>
              </a:rPr>
              <a:pPr/>
              <a:t>31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67804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FD5A94E-8108-874C-93C6-5AE65F9EA825}" type="slidenum">
              <a:rPr lang="en-US" altLang="en-US">
                <a:latin typeface="Times New Roman" charset="0"/>
              </a:rPr>
              <a:pPr/>
              <a:t>32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29063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B85E00D-342B-6743-A80A-3EF8697118E3}" type="slidenum">
              <a:rPr lang="en-US" altLang="en-US">
                <a:latin typeface="Times New Roman" charset="0"/>
              </a:rPr>
              <a:pPr/>
              <a:t>33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5491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4BD0FE8-1718-0741-9724-A350B5816424}" type="slidenum">
              <a:rPr lang="en-US" altLang="en-US">
                <a:latin typeface="Times New Roman" charset="0"/>
              </a:rPr>
              <a:pPr/>
              <a:t>34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77934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2CB1AF5-72C4-694E-A575-5EB188C17C6D}" type="slidenum">
              <a:rPr lang="en-US" altLang="en-US">
                <a:latin typeface="Times New Roman" charset="0"/>
              </a:rPr>
              <a:pPr/>
              <a:t>35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97427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4184F6B-30F9-DB4F-AF18-59283B309122}" type="slidenum">
              <a:rPr lang="en-US" altLang="en-US">
                <a:latin typeface="Times New Roman" charset="0"/>
              </a:rPr>
              <a:pPr/>
              <a:t>36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18672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0F65B58-C075-6047-A173-520470C2407E}" type="slidenum">
              <a:rPr lang="en-US" altLang="en-US">
                <a:latin typeface="Times New Roman" charset="0"/>
              </a:rPr>
              <a:pPr/>
              <a:t>37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7321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E36BB0D-20C1-954D-9940-B24C3EB2E590}" type="slidenum">
              <a:rPr lang="en-US" altLang="en-US">
                <a:latin typeface="Times New Roman" charset="0"/>
              </a:rPr>
              <a:pPr/>
              <a:t>38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8653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1C364B7-D0C2-EE49-8FB7-3F045218F6D2}" type="slidenum">
              <a:rPr lang="en-US" altLang="en-US">
                <a:latin typeface="Times New Roman" charset="0"/>
              </a:rPr>
              <a:pPr/>
              <a:t>39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44971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EE3004A-9DED-3442-83BB-C4080A9D6E83}" type="slidenum">
              <a:rPr lang="en-US" altLang="en-US">
                <a:latin typeface="Times New Roman" charset="0"/>
              </a:rPr>
              <a:pPr/>
              <a:t>42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78307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40CAB68C-77A9-844F-8971-6685FA296016}" type="slidenum">
              <a:rPr lang="en-US" altLang="en-US">
                <a:latin typeface="Times New Roman" charset="0"/>
              </a:rPr>
              <a:pPr/>
              <a:t>43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85345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48312B7-B624-0C4A-ADD4-07A297DF2372}" type="slidenum">
              <a:rPr lang="en-US" altLang="en-US">
                <a:latin typeface="Times New Roman" charset="0"/>
              </a:rPr>
              <a:pPr/>
              <a:t>44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2863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D7AF3721-A638-FB4F-9CC3-65066414DB6B}" type="slidenum">
              <a:rPr lang="en-US" altLang="en-US">
                <a:latin typeface="Times New Roman" charset="0"/>
              </a:rPr>
              <a:pPr/>
              <a:t>45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61682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47E5BDE1-BEFF-DB4D-900C-41B70207892B}" type="slidenum">
              <a:rPr lang="en-US" altLang="en-US">
                <a:latin typeface="Times New Roman" charset="0"/>
              </a:rPr>
              <a:pPr/>
              <a:t>47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19367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D5D8908B-7013-7240-A27B-00F4A4B90D77}" type="slidenum">
              <a:rPr lang="en-US" altLang="en-US">
                <a:latin typeface="Times New Roman" charset="0"/>
              </a:rPr>
              <a:pPr/>
              <a:t>48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0614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5490B24-FB49-A043-BDCA-E92D8C482828}" type="slidenum">
              <a:rPr lang="en-US" altLang="en-US">
                <a:latin typeface="Times New Roman" charset="0"/>
              </a:rPr>
              <a:pPr/>
              <a:t>49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99479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C6DAFFFF-B0FA-7043-A160-F37AD3EEADA6}" type="slidenum">
              <a:rPr lang="en-US" altLang="en-US">
                <a:latin typeface="Times New Roman" charset="0"/>
              </a:rPr>
              <a:pPr/>
              <a:t>50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55037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43331FB-ECD7-8944-B0BE-3E3A0D7EB843}" type="slidenum">
              <a:rPr lang="en-US" altLang="en-US">
                <a:latin typeface="Times New Roman" charset="0"/>
              </a:rPr>
              <a:pPr/>
              <a:t>51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53899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99C24AD-BFA0-4E4F-A650-4477A3C480D7}" type="slidenum">
              <a:rPr lang="en-US" altLang="en-US">
                <a:latin typeface="Times New Roman" charset="0"/>
              </a:rPr>
              <a:pPr/>
              <a:t>52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71795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33217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5C484DC-47CC-E544-8660-52A9713675B0}" type="slidenum">
              <a:rPr lang="en-US" altLang="en-US">
                <a:latin typeface="Times New Roman" charset="0"/>
              </a:rPr>
              <a:pPr/>
              <a:t>54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46700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DC81398-F58D-5243-B5AF-F5B340652296}" type="slidenum">
              <a:rPr lang="en-US" altLang="en-US">
                <a:latin typeface="Times New Roman" charset="0"/>
              </a:rPr>
              <a:pPr/>
              <a:t>56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1562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29D78CDA-ECA3-4F42-9692-F40D19A21F67}" type="slidenum">
              <a:rPr lang="en-US" altLang="en-US">
                <a:latin typeface="Times New Roman" charset="0"/>
              </a:rPr>
              <a:pPr/>
              <a:t>57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30114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00907CB7-0326-0B47-982D-734C5EDA4BF9}" type="slidenum">
              <a:rPr lang="en-US" altLang="en-US">
                <a:latin typeface="Times New Roman" charset="0"/>
              </a:rPr>
              <a:pPr/>
              <a:t>58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2027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3A3C80E-4E7C-564B-B722-DFFB0CF8664D}" type="slidenum">
              <a:rPr lang="en-US" altLang="en-US">
                <a:latin typeface="Times New Roman" charset="0"/>
              </a:rPr>
              <a:pPr/>
              <a:t>59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20031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C54DA0A-15A0-8A48-9B01-C4AEA3DEF3BF}" type="slidenum">
              <a:rPr lang="en-US" altLang="en-US">
                <a:latin typeface="Times New Roman" charset="0"/>
              </a:rPr>
              <a:pPr/>
              <a:t>60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60491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8BC4D50-D4E3-8346-874F-A011444BF0F7}" type="slidenum">
              <a:rPr lang="en-US" altLang="en-US">
                <a:latin typeface="Times New Roman" charset="0"/>
              </a:rPr>
              <a:pPr/>
              <a:t>61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23589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447D6A4F-B8FE-944F-A1CB-5197B8D8969D}" type="slidenum">
              <a:rPr lang="en-US" altLang="en-US">
                <a:latin typeface="Times New Roman" charset="0"/>
              </a:rPr>
              <a:pPr/>
              <a:t>62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7228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467EBA4F-BFB1-B246-A5D8-D942F12483A0}" type="slidenum">
              <a:rPr lang="en-US" altLang="en-US">
                <a:latin typeface="Times New Roman" charset="0"/>
              </a:rPr>
              <a:pPr/>
              <a:t>63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67710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C82D1B1-C654-6342-B2C7-F1AB6022718D}" type="slidenum">
              <a:rPr lang="en-US" altLang="en-US">
                <a:latin typeface="Times New Roman" charset="0"/>
              </a:rPr>
              <a:pPr/>
              <a:t>64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621953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420C63AD-35DC-D044-B8B2-EAEDA61C5C6E}" type="slidenum">
              <a:rPr lang="en-US" altLang="en-US">
                <a:latin typeface="Times New Roman" charset="0"/>
              </a:rPr>
              <a:pPr/>
              <a:t>65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134292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C957F6DE-2E95-4746-8D09-D3C7DCCED737}" type="slidenum">
              <a:rPr lang="en-US" altLang="en-US">
                <a:latin typeface="Times New Roman" charset="0"/>
              </a:rPr>
              <a:pPr/>
              <a:t>66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44569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A8D9B2B-BFB7-C04D-B565-67AA220ADFFF}" type="slidenum">
              <a:rPr lang="en-US" altLang="en-US">
                <a:latin typeface="Times New Roman" charset="0"/>
              </a:rPr>
              <a:pPr/>
              <a:t>67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992198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C5F1F672-EE4A-3341-8321-1D0B0A2EAB68}" type="slidenum">
              <a:rPr lang="en-US" altLang="en-US">
                <a:latin typeface="Times New Roman" charset="0"/>
              </a:rPr>
              <a:pPr/>
              <a:t>68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872417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4E509F5-94DE-2041-B4C8-7EC7206CD1B1}" type="slidenum">
              <a:rPr lang="en-US" altLang="en-US">
                <a:latin typeface="Times New Roman" charset="0"/>
              </a:rPr>
              <a:pPr/>
              <a:t>69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845300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FFBD4B0-29BE-4142-B235-4F4994C83F18}" type="slidenum">
              <a:rPr lang="en-US" altLang="en-US">
                <a:latin typeface="Times New Roman" charset="0"/>
              </a:rPr>
              <a:pPr/>
              <a:t>70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503083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95DBC66-0ACF-2A4C-9330-C012A0C2151A}" type="slidenum">
              <a:rPr lang="en-US" altLang="en-US">
                <a:latin typeface="Times New Roman" charset="0"/>
              </a:rPr>
              <a:pPr/>
              <a:t>71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87539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2B9B5E3-9A58-664E-A7B2-833CCBE5ABD2}" type="slidenum">
              <a:rPr lang="en-US" altLang="en-US">
                <a:latin typeface="Times New Roman" charset="0"/>
              </a:rPr>
              <a:pPr/>
              <a:t>72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57690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DD59B70-F5F7-8342-837B-6F4551C73239}" type="slidenum">
              <a:rPr lang="en-US" altLang="en-US">
                <a:latin typeface="Times New Roman" charset="0"/>
              </a:rPr>
              <a:pPr/>
              <a:t>73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26536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0DBE515-0539-744A-B8F6-F71931E8EFB0}" type="slidenum">
              <a:rPr lang="en-US" altLang="en-US">
                <a:latin typeface="Times New Roman" charset="0"/>
              </a:rPr>
              <a:pPr/>
              <a:t>74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9209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1028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6" name="Group 1029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1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2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3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4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5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6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7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8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9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0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1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2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3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4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5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6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7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8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9" name="Line 1051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1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2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3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4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5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6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7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8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9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0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1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2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3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4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5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6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7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8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9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0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1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2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3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4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5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6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7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8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17" name="Line 1081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1082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1083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2" name="Line 1084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Line 1085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4" name="Arc 1086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7" name="Group 1087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1088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Line 1089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Arc 1090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069123" name="Rectangle 1091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69124" name="Rectangle 109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" name="Rectangle 1095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020C872-3BC4-4E8F-8435-60B84CF2BB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3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2060" name="Group 4"/>
              <p:cNvGrpSpPr>
                <a:grpSpLocks/>
              </p:cNvGrpSpPr>
              <p:nvPr userDrawn="1"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68037" name="Line 5"/>
                <p:cNvSpPr>
                  <a:spLocks noChangeShapeType="1"/>
                </p:cNvSpPr>
                <p:nvPr userDrawn="1"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38" name="Line 6"/>
                <p:cNvSpPr>
                  <a:spLocks noChangeShapeType="1"/>
                </p:cNvSpPr>
                <p:nvPr userDrawn="1"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39" name="Line 7"/>
                <p:cNvSpPr>
                  <a:spLocks noChangeShapeType="1"/>
                </p:cNvSpPr>
                <p:nvPr userDrawn="1"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0" name="Line 8"/>
                <p:cNvSpPr>
                  <a:spLocks noChangeShapeType="1"/>
                </p:cNvSpPr>
                <p:nvPr userDrawn="1"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1" name="Line 9"/>
                <p:cNvSpPr>
                  <a:spLocks noChangeShapeType="1"/>
                </p:cNvSpPr>
                <p:nvPr userDrawn="1"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2" name="Line 10"/>
                <p:cNvSpPr>
                  <a:spLocks noChangeShapeType="1"/>
                </p:cNvSpPr>
                <p:nvPr userDrawn="1"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3" name="Line 11"/>
                <p:cNvSpPr>
                  <a:spLocks noChangeShapeType="1"/>
                </p:cNvSpPr>
                <p:nvPr userDrawn="1"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4" name="Line 12"/>
                <p:cNvSpPr>
                  <a:spLocks noChangeShapeType="1"/>
                </p:cNvSpPr>
                <p:nvPr userDrawn="1"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5" name="Line 13"/>
                <p:cNvSpPr>
                  <a:spLocks noChangeShapeType="1"/>
                </p:cNvSpPr>
                <p:nvPr userDrawn="1"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6" name="Line 14"/>
                <p:cNvSpPr>
                  <a:spLocks noChangeShapeType="1"/>
                </p:cNvSpPr>
                <p:nvPr userDrawn="1"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7" name="Line 15"/>
                <p:cNvSpPr>
                  <a:spLocks noChangeShapeType="1"/>
                </p:cNvSpPr>
                <p:nvPr userDrawn="1"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8" name="Line 16"/>
                <p:cNvSpPr>
                  <a:spLocks noChangeShapeType="1"/>
                </p:cNvSpPr>
                <p:nvPr userDrawn="1"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9" name="Line 17"/>
                <p:cNvSpPr>
                  <a:spLocks noChangeShapeType="1"/>
                </p:cNvSpPr>
                <p:nvPr userDrawn="1"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0" name="Line 18"/>
                <p:cNvSpPr>
                  <a:spLocks noChangeShapeType="1"/>
                </p:cNvSpPr>
                <p:nvPr userDrawn="1"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1" name="Line 19"/>
                <p:cNvSpPr>
                  <a:spLocks noChangeShapeType="1"/>
                </p:cNvSpPr>
                <p:nvPr userDrawn="1"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2" name="Line 20"/>
                <p:cNvSpPr>
                  <a:spLocks noChangeShapeType="1"/>
                </p:cNvSpPr>
                <p:nvPr userDrawn="1"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3" name="Line 21"/>
                <p:cNvSpPr>
                  <a:spLocks noChangeShapeType="1"/>
                </p:cNvSpPr>
                <p:nvPr userDrawn="1"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4" name="Line 22"/>
                <p:cNvSpPr>
                  <a:spLocks noChangeShapeType="1"/>
                </p:cNvSpPr>
                <p:nvPr userDrawn="1"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5" name="Line 23"/>
                <p:cNvSpPr>
                  <a:spLocks noChangeShapeType="1"/>
                </p:cNvSpPr>
                <p:nvPr userDrawn="1"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6" name="Line 24"/>
                <p:cNvSpPr>
                  <a:spLocks noChangeShapeType="1"/>
                </p:cNvSpPr>
                <p:nvPr userDrawn="1"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7" name="Line 25"/>
                <p:cNvSpPr>
                  <a:spLocks noChangeShapeType="1"/>
                </p:cNvSpPr>
                <p:nvPr userDrawn="1"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8" name="Line 26"/>
                <p:cNvSpPr>
                  <a:spLocks noChangeShapeType="1"/>
                </p:cNvSpPr>
                <p:nvPr userDrawn="1"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2061" name="Group 27"/>
              <p:cNvGrpSpPr>
                <a:grpSpLocks/>
              </p:cNvGrpSpPr>
              <p:nvPr userDrawn="1"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68060" name="Line 28"/>
                <p:cNvSpPr>
                  <a:spLocks noChangeShapeType="1"/>
                </p:cNvSpPr>
                <p:nvPr userDrawn="1"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1" name="Line 29"/>
                <p:cNvSpPr>
                  <a:spLocks noChangeShapeType="1"/>
                </p:cNvSpPr>
                <p:nvPr userDrawn="1"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2" name="Line 30"/>
                <p:cNvSpPr>
                  <a:spLocks noChangeShapeType="1"/>
                </p:cNvSpPr>
                <p:nvPr userDrawn="1"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3" name="Line 31"/>
                <p:cNvSpPr>
                  <a:spLocks noChangeShapeType="1"/>
                </p:cNvSpPr>
                <p:nvPr userDrawn="1"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4" name="Line 32"/>
                <p:cNvSpPr>
                  <a:spLocks noChangeShapeType="1"/>
                </p:cNvSpPr>
                <p:nvPr userDrawn="1"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5" name="Line 33"/>
                <p:cNvSpPr>
                  <a:spLocks noChangeShapeType="1"/>
                </p:cNvSpPr>
                <p:nvPr userDrawn="1"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6" name="Line 34"/>
                <p:cNvSpPr>
                  <a:spLocks noChangeShapeType="1"/>
                </p:cNvSpPr>
                <p:nvPr userDrawn="1"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7" name="Line 35"/>
                <p:cNvSpPr>
                  <a:spLocks noChangeShapeType="1"/>
                </p:cNvSpPr>
                <p:nvPr userDrawn="1"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8" name="Line 36"/>
                <p:cNvSpPr>
                  <a:spLocks noChangeShapeType="1"/>
                </p:cNvSpPr>
                <p:nvPr userDrawn="1"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9" name="Line 37"/>
                <p:cNvSpPr>
                  <a:spLocks noChangeShapeType="1"/>
                </p:cNvSpPr>
                <p:nvPr userDrawn="1"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0" name="Line 38"/>
                <p:cNvSpPr>
                  <a:spLocks noChangeShapeType="1"/>
                </p:cNvSpPr>
                <p:nvPr userDrawn="1"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1" name="Line 39"/>
                <p:cNvSpPr>
                  <a:spLocks noChangeShapeType="1"/>
                </p:cNvSpPr>
                <p:nvPr userDrawn="1"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2" name="Line 40"/>
                <p:cNvSpPr>
                  <a:spLocks noChangeShapeType="1"/>
                </p:cNvSpPr>
                <p:nvPr userDrawn="1"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3" name="Line 41"/>
                <p:cNvSpPr>
                  <a:spLocks noChangeShapeType="1"/>
                </p:cNvSpPr>
                <p:nvPr userDrawn="1"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4" name="Line 42"/>
                <p:cNvSpPr>
                  <a:spLocks noChangeShapeType="1"/>
                </p:cNvSpPr>
                <p:nvPr userDrawn="1"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5" name="Line 43"/>
                <p:cNvSpPr>
                  <a:spLocks noChangeShapeType="1"/>
                </p:cNvSpPr>
                <p:nvPr userDrawn="1"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6" name="Line 44"/>
                <p:cNvSpPr>
                  <a:spLocks noChangeShapeType="1"/>
                </p:cNvSpPr>
                <p:nvPr userDrawn="1"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7" name="Line 45"/>
                <p:cNvSpPr>
                  <a:spLocks noChangeShapeType="1"/>
                </p:cNvSpPr>
                <p:nvPr userDrawn="1"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8" name="Line 46"/>
                <p:cNvSpPr>
                  <a:spLocks noChangeShapeType="1"/>
                </p:cNvSpPr>
                <p:nvPr userDrawn="1"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9" name="Line 47"/>
                <p:cNvSpPr>
                  <a:spLocks noChangeShapeType="1"/>
                </p:cNvSpPr>
                <p:nvPr userDrawn="1"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0" name="Line 48"/>
                <p:cNvSpPr>
                  <a:spLocks noChangeShapeType="1"/>
                </p:cNvSpPr>
                <p:nvPr userDrawn="1"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1" name="Line 49"/>
                <p:cNvSpPr>
                  <a:spLocks noChangeShapeType="1"/>
                </p:cNvSpPr>
                <p:nvPr userDrawn="1"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2" name="Line 50"/>
                <p:cNvSpPr>
                  <a:spLocks noChangeShapeType="1"/>
                </p:cNvSpPr>
                <p:nvPr userDrawn="1"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3" name="Line 51"/>
                <p:cNvSpPr>
                  <a:spLocks noChangeShapeType="1"/>
                </p:cNvSpPr>
                <p:nvPr userDrawn="1"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4" name="Line 52"/>
                <p:cNvSpPr>
                  <a:spLocks noChangeShapeType="1"/>
                </p:cNvSpPr>
                <p:nvPr userDrawn="1"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5" name="Line 53"/>
                <p:cNvSpPr>
                  <a:spLocks noChangeShapeType="1"/>
                </p:cNvSpPr>
                <p:nvPr userDrawn="1"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6" name="Line 54"/>
                <p:cNvSpPr>
                  <a:spLocks noChangeShapeType="1"/>
                </p:cNvSpPr>
                <p:nvPr userDrawn="1"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7" name="Line 55"/>
                <p:cNvSpPr>
                  <a:spLocks noChangeShapeType="1"/>
                </p:cNvSpPr>
                <p:nvPr userDrawn="1"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8" name="Line 56"/>
                <p:cNvSpPr>
                  <a:spLocks noChangeShapeType="1"/>
                </p:cNvSpPr>
                <p:nvPr userDrawn="1"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</p:grpSp>
        <p:sp>
          <p:nvSpPr>
            <p:cNvPr id="1068089" name="Rectangle 57" descr="60%"/>
            <p:cNvSpPr>
              <a:spLocks noChangeArrowheads="1"/>
            </p:cNvSpPr>
            <p:nvPr userDrawn="1"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8090" name="Line 58"/>
            <p:cNvSpPr>
              <a:spLocks noChangeShapeType="1"/>
            </p:cNvSpPr>
            <p:nvPr userDrawn="1"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2056" name="Group 59"/>
            <p:cNvGrpSpPr>
              <a:grpSpLocks/>
            </p:cNvGrpSpPr>
            <p:nvPr userDrawn="1"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68092" name="Line 60"/>
              <p:cNvSpPr>
                <a:spLocks noChangeShapeType="1"/>
              </p:cNvSpPr>
              <p:nvPr userDrawn="1"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8093" name="Line 61"/>
              <p:cNvSpPr>
                <a:spLocks noChangeShapeType="1"/>
              </p:cNvSpPr>
              <p:nvPr userDrawn="1"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8094" name="Arc 62"/>
              <p:cNvSpPr>
                <a:spLocks/>
              </p:cNvSpPr>
              <p:nvPr userDrawn="1"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2051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2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21.w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2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e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9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0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1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Virtual Memory</a:t>
            </a:r>
            <a:endParaRPr lang="en-US" dirty="0" smtClean="0"/>
          </a:p>
        </p:txBody>
      </p:sp>
      <p:sp>
        <p:nvSpPr>
          <p:cNvPr id="4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309938"/>
            <a:ext cx="5410200" cy="1752600"/>
          </a:xfrm>
        </p:spPr>
        <p:txBody>
          <a:bodyPr/>
          <a:lstStyle/>
          <a:p>
            <a:pPr algn="ctr"/>
            <a:r>
              <a:rPr lang="en-US" dirty="0" smtClean="0"/>
              <a:t>Presenter: Yinzhi Cao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228600" y="147638"/>
            <a:ext cx="4572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>
                <a:latin typeface="Arial" charset="0"/>
              </a:rPr>
              <a:t>CSE403 Lehigh University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101" name="Text Box 8"/>
          <p:cNvSpPr txBox="1">
            <a:spLocks noChangeArrowheads="1"/>
          </p:cNvSpPr>
          <p:nvPr/>
        </p:nvSpPr>
        <p:spPr bwMode="auto">
          <a:xfrm>
            <a:off x="6477000" y="147638"/>
            <a:ext cx="2286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dirty="0">
                <a:latin typeface="Arial" charset="0"/>
              </a:rPr>
              <a:t> </a:t>
            </a:r>
            <a:r>
              <a:rPr lang="en-US" dirty="0" smtClean="0">
                <a:latin typeface="Arial" charset="0"/>
              </a:rPr>
              <a:t>Spring </a:t>
            </a:r>
            <a:r>
              <a:rPr lang="en-US" dirty="0" smtClean="0">
                <a:latin typeface="Arial" charset="0"/>
              </a:rPr>
              <a:t>201</a:t>
            </a:r>
            <a:r>
              <a:rPr lang="en-US" altLang="zh-CN" dirty="0" smtClean="0">
                <a:latin typeface="Arial" charset="0"/>
              </a:rPr>
              <a:t>6</a:t>
            </a:r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12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Background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14400"/>
            <a:ext cx="8229600" cy="4530725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Code needs to be in memory to execute, but entire program rarely used</a:t>
            </a:r>
          </a:p>
          <a:p>
            <a:pPr lvl="1"/>
            <a:r>
              <a:rPr lang="en-US" altLang="en-US" dirty="0">
                <a:ea typeface="MS PGothic" charset="-128"/>
              </a:rPr>
              <a:t>Error code, unusual routines, large data structures</a:t>
            </a:r>
          </a:p>
          <a:p>
            <a:r>
              <a:rPr lang="en-US" altLang="en-US" dirty="0">
                <a:ea typeface="MS PGothic" charset="-128"/>
              </a:rPr>
              <a:t>Entire program code not needed at same time</a:t>
            </a:r>
          </a:p>
          <a:p>
            <a:r>
              <a:rPr lang="en-US" altLang="en-US" dirty="0">
                <a:ea typeface="MS PGothic" charset="-128"/>
              </a:rPr>
              <a:t>Consider ability to execute partially-loaded program</a:t>
            </a:r>
          </a:p>
          <a:p>
            <a:pPr lvl="1"/>
            <a:r>
              <a:rPr lang="en-US" altLang="en-US" dirty="0">
                <a:ea typeface="MS PGothic" charset="-128"/>
              </a:rPr>
              <a:t>Program no longer constrained by limits of physical memory</a:t>
            </a:r>
          </a:p>
          <a:p>
            <a:pPr lvl="1"/>
            <a:r>
              <a:rPr lang="en-US" altLang="en-US" dirty="0">
                <a:ea typeface="MS PGothic" charset="-128"/>
              </a:rPr>
              <a:t>Each program takes less memory while running -&gt; more programs run at the same time</a:t>
            </a:r>
          </a:p>
          <a:p>
            <a:pPr lvl="2"/>
            <a:r>
              <a:rPr lang="en-US" altLang="en-US" dirty="0">
                <a:ea typeface="MS PGothic" charset="-128"/>
              </a:rPr>
              <a:t>Increased CPU utilization and throughput with no increase in response time or turnaround time</a:t>
            </a:r>
          </a:p>
          <a:p>
            <a:pPr lvl="1"/>
            <a:r>
              <a:rPr lang="en-US" altLang="en-US" dirty="0">
                <a:ea typeface="MS PGothic" charset="-128"/>
              </a:rPr>
              <a:t>Less I/O needed to load or swap programs into memory -&gt; each user program runs faster</a:t>
            </a:r>
          </a:p>
          <a:p>
            <a:pPr lvl="1"/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96263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Background 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313" y="1566862"/>
            <a:ext cx="7177087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Virtual memory</a:t>
            </a:r>
            <a:r>
              <a:rPr lang="en-US" altLang="en-US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dirty="0">
                <a:ea typeface="MS PGothic" charset="-128"/>
              </a:rPr>
              <a:t>– separation of user logical memory from physical memory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Only part of the program needs to be in memory for execution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Logical address space can therefore be much larger than physical address space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Allows address spaces to be shared by several processes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Allows for more efficient process creation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More programs running concurrently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Less I/O needed to load or swap processes</a:t>
            </a:r>
          </a:p>
          <a:p>
            <a:endParaRPr lang="en-US" altLang="en-US" sz="16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4516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Background (Cont.)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4713" y="1490662"/>
            <a:ext cx="7431087" cy="4529138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  <a:ea typeface="MS PGothic" charset="-128"/>
              </a:rPr>
              <a:t>Virtual address space</a:t>
            </a:r>
            <a:r>
              <a:rPr lang="en-US" altLang="en-US">
                <a:ea typeface="MS PGothic" charset="-128"/>
              </a:rPr>
              <a:t> – logical view of how process is stored in memory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Usually start at address 0, contiguous addresses until end of space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Meanwhile, physical memory organized in page frames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MMU must map logical to physical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Virtual memory can be implemented via: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Demand paging </a:t>
            </a:r>
          </a:p>
          <a:p>
            <a:pPr lvl="1"/>
            <a:r>
              <a:rPr lang="en-US" altLang="en-US" sz="1600" dirty="0">
                <a:ea typeface="MS PGothic" charset="-128"/>
              </a:rPr>
              <a:t>Demand segmentation</a:t>
            </a:r>
          </a:p>
        </p:txBody>
      </p:sp>
    </p:spTree>
    <p:extLst>
      <p:ext uri="{BB962C8B-B14F-4D97-AF65-F5344CB8AC3E}">
        <p14:creationId xmlns:p14="http://schemas.microsoft.com/office/powerpoint/2010/main" val="7056021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76200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>
                <a:ea typeface="MS PGothic" charset="-128"/>
              </a:rPr>
              <a:t>Virtual Memory That is Larger Than Physical Memory</a:t>
            </a:r>
          </a:p>
        </p:txBody>
      </p:sp>
      <p:pic>
        <p:nvPicPr>
          <p:cNvPr id="10243" name="Picture 5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185863"/>
            <a:ext cx="53609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5258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1762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Virtual-address Space</a:t>
            </a:r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2747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/>
          <p:cNvSpPr txBox="1">
            <a:spLocks noChangeArrowheads="1"/>
          </p:cNvSpPr>
          <p:nvPr/>
        </p:nvSpPr>
        <p:spPr bwMode="auto">
          <a:xfrm>
            <a:off x="811213" y="1119188"/>
            <a:ext cx="4370387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 altLang="en-US" sz="1600" dirty="0">
                <a:latin typeface="Helvetica" charset="0"/>
              </a:rPr>
              <a:t>Usually design logical address space for stack to start at Max logical address and grow “down” while heap grows “up”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</a:pPr>
            <a:r>
              <a:rPr kumimoji="1" lang="en-US" altLang="en-US" sz="1600" dirty="0">
                <a:latin typeface="Helvetica" charset="0"/>
              </a:rPr>
              <a:t>Maximizes address space use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</a:pPr>
            <a:r>
              <a:rPr kumimoji="1" lang="en-US" altLang="en-US" sz="1600" dirty="0">
                <a:latin typeface="Helvetica" charset="0"/>
              </a:rPr>
              <a:t>Unused address space between the two is hole</a:t>
            </a: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charset="2"/>
              <a:buChar char="4"/>
            </a:pPr>
            <a:r>
              <a:rPr kumimoji="1" lang="en-US" altLang="en-US" sz="1600" dirty="0">
                <a:latin typeface="Helvetica" charset="0"/>
              </a:rPr>
              <a:t>No physical memory needed until heap or stack grows to a given new page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 altLang="en-US" sz="1600" dirty="0">
                <a:latin typeface="Helvetica" charset="0"/>
              </a:rPr>
              <a:t>Enables </a:t>
            </a:r>
            <a:r>
              <a:rPr kumimoji="1" lang="en-US" altLang="en-US" sz="1600" b="1" dirty="0">
                <a:solidFill>
                  <a:srgbClr val="3366FF"/>
                </a:solidFill>
                <a:latin typeface="Helvetica" charset="0"/>
              </a:rPr>
              <a:t>sparse </a:t>
            </a:r>
            <a:r>
              <a:rPr kumimoji="1" lang="en-US" altLang="en-US" sz="1600" dirty="0">
                <a:latin typeface="Helvetica" charset="0"/>
              </a:rPr>
              <a:t>address spaces with holes left for growth, dynamically linked libraries, </a:t>
            </a:r>
            <a:r>
              <a:rPr kumimoji="1" lang="en-US" altLang="en-US" sz="1600" dirty="0" err="1">
                <a:latin typeface="Helvetica" charset="0"/>
              </a:rPr>
              <a:t>etc</a:t>
            </a:r>
            <a:endParaRPr kumimoji="1" lang="en-US" altLang="en-US" sz="1600" dirty="0">
              <a:latin typeface="Helvetica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 altLang="en-US" sz="1600" dirty="0">
                <a:latin typeface="Helvetica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 altLang="en-US" sz="1600" dirty="0">
                <a:latin typeface="Helvetica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 altLang="en-US" sz="1600" dirty="0">
                <a:latin typeface="Helvetica" charset="0"/>
              </a:rPr>
              <a:t>Pages can be shared during </a:t>
            </a:r>
            <a:r>
              <a:rPr kumimoji="1" lang="en-US" altLang="en-US" sz="1600" dirty="0">
                <a:latin typeface="Courier New" charset="0"/>
              </a:rPr>
              <a:t>fork()</a:t>
            </a:r>
            <a:r>
              <a:rPr kumimoji="1" lang="en-US" altLang="en-US" sz="1600" dirty="0">
                <a:latin typeface="Helvetica" charset="0"/>
              </a:rPr>
              <a:t>, speeding process creation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None/>
            </a:pPr>
            <a:r>
              <a:rPr kumimoji="1" lang="en-US" altLang="en-US" sz="1600" dirty="0">
                <a:latin typeface="Helvetica" charset="0"/>
              </a:rPr>
              <a:t> 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None/>
            </a:pPr>
            <a:endParaRPr kumimoji="1" lang="en-US" altLang="en-US" dirty="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2712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95338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Shared Library Using Virtual Memory</a:t>
            </a:r>
          </a:p>
        </p:txBody>
      </p:sp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785938"/>
            <a:ext cx="6296025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5563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Demand Paging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4850" y="960438"/>
            <a:ext cx="4184650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600">
                <a:ea typeface="MS PGothic" charset="-128"/>
              </a:rPr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sz="1600">
                <a:ea typeface="MS PGothic" charset="-128"/>
              </a:rPr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ea typeface="MS PGothic" charset="-128"/>
              </a:rPr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ea typeface="MS PGothic" charset="-128"/>
              </a:rPr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ea typeface="MS PGothic" charset="-128"/>
              </a:rPr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ea typeface="MS PGothic" charset="-128"/>
              </a:rPr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sz="1600">
                <a:ea typeface="MS PGothic" charset="-128"/>
              </a:rPr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sz="1600">
                <a:ea typeface="MS PGothic" charset="-128"/>
              </a:rPr>
              <a:t>Page is needed </a:t>
            </a:r>
            <a:r>
              <a:rPr lang="en-US" altLang="en-US" sz="1600">
                <a:ea typeface="MS PGothic" charset="-128"/>
                <a:sym typeface="Symbol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ea typeface="MS PGothic" charset="-128"/>
              </a:rPr>
              <a:t>invalid reference </a:t>
            </a:r>
            <a:r>
              <a:rPr lang="en-US" altLang="en-US" sz="1600">
                <a:ea typeface="MS PGothic" charset="-128"/>
                <a:sym typeface="Symbol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ea typeface="MS PGothic" charset="-128"/>
                <a:sym typeface="Symbol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sz="1600" b="1">
                <a:solidFill>
                  <a:srgbClr val="3366FF"/>
                </a:solidFill>
                <a:ea typeface="MS PGothic" charset="-128"/>
                <a:sym typeface="Symbol" charset="2"/>
              </a:rPr>
              <a:t>Lazy swapper</a:t>
            </a:r>
            <a:r>
              <a:rPr lang="en-US" altLang="en-US" sz="1600">
                <a:solidFill>
                  <a:srgbClr val="3366FF"/>
                </a:solidFill>
                <a:ea typeface="MS PGothic" charset="-128"/>
                <a:sym typeface="Symbol" charset="2"/>
              </a:rPr>
              <a:t> </a:t>
            </a:r>
            <a:r>
              <a:rPr lang="en-US" altLang="en-US" sz="1600">
                <a:ea typeface="MS PGothic" charset="-128"/>
                <a:sym typeface="Symbol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ea typeface="MS PGothic" charset="-128"/>
                <a:sym typeface="Symbol" charset="2"/>
              </a:rPr>
              <a:t>Swapper that deals with pages is a </a:t>
            </a:r>
            <a:r>
              <a:rPr lang="en-US" altLang="en-US" sz="1600" b="1">
                <a:solidFill>
                  <a:srgbClr val="3366FF"/>
                </a:solidFill>
                <a:ea typeface="MS PGothic" charset="-128"/>
                <a:sym typeface="Symbol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endParaRPr lang="en-US" altLang="en-US">
              <a:ea typeface="MS PGothic" charset="-128"/>
              <a:sym typeface="Symbol" charset="2"/>
            </a:endParaRPr>
          </a:p>
        </p:txBody>
      </p:sp>
      <p:pic>
        <p:nvPicPr>
          <p:cNvPr id="13316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6687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Basic Concepts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305800" cy="4530725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With swapping, pager guesses which pages will be used before swapping out again</a:t>
            </a:r>
          </a:p>
          <a:p>
            <a:r>
              <a:rPr lang="en-US" altLang="en-US" dirty="0">
                <a:ea typeface="MS PGothic" charset="-128"/>
              </a:rPr>
              <a:t>Instead, pager brings in only those pages into memory</a:t>
            </a:r>
          </a:p>
          <a:p>
            <a:r>
              <a:rPr lang="en-US" altLang="en-US" dirty="0">
                <a:ea typeface="MS PGothic" charset="-128"/>
              </a:rPr>
              <a:t>How to determine that set of pages?</a:t>
            </a:r>
          </a:p>
          <a:p>
            <a:pPr lvl="1"/>
            <a:r>
              <a:rPr lang="en-US" altLang="en-US" dirty="0">
                <a:ea typeface="MS PGothic" charset="-128"/>
              </a:rPr>
              <a:t>Need new MMU functionality to implement demand paging</a:t>
            </a:r>
          </a:p>
          <a:p>
            <a:r>
              <a:rPr lang="en-US" altLang="en-US" dirty="0">
                <a:ea typeface="MS PGothic" charset="-128"/>
              </a:rPr>
              <a:t>If pages needed are already 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memory resident</a:t>
            </a:r>
          </a:p>
          <a:p>
            <a:pPr lvl="1"/>
            <a:r>
              <a:rPr lang="en-US" altLang="en-US" dirty="0">
                <a:ea typeface="MS PGothic" charset="-128"/>
              </a:rPr>
              <a:t>No difference from non demand-paging</a:t>
            </a:r>
          </a:p>
          <a:p>
            <a:r>
              <a:rPr lang="en-US" altLang="en-US" dirty="0">
                <a:ea typeface="MS PGothic" charset="-128"/>
              </a:rPr>
              <a:t>If page needed and not memory resident</a:t>
            </a:r>
          </a:p>
          <a:p>
            <a:pPr lvl="1"/>
            <a:r>
              <a:rPr lang="en-US" altLang="en-US" dirty="0">
                <a:ea typeface="MS PGothic" charset="-128"/>
              </a:rPr>
              <a:t>Need to detect and load the page into memory from storage</a:t>
            </a:r>
          </a:p>
          <a:p>
            <a:pPr lvl="2"/>
            <a:r>
              <a:rPr lang="en-US" altLang="en-US" dirty="0">
                <a:ea typeface="MS PGothic" charset="-128"/>
              </a:rPr>
              <a:t>Without changing program behavior</a:t>
            </a:r>
          </a:p>
          <a:p>
            <a:pPr lvl="2"/>
            <a:r>
              <a:rPr lang="en-US" altLang="en-US" dirty="0">
                <a:ea typeface="MS PGothic" charset="-128"/>
              </a:rPr>
              <a:t>Without programmer needing to change code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28170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Valid-Invalid Bit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0750" y="609600"/>
            <a:ext cx="7410450" cy="54721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ea typeface="MS PGothic" charset="-128"/>
              </a:rPr>
              <a:t>With each page table entry a valid–invalid bit is associated</a:t>
            </a:r>
            <a:br>
              <a:rPr lang="en-US" altLang="en-US" sz="2400" dirty="0">
                <a:ea typeface="MS PGothic" charset="-128"/>
              </a:rPr>
            </a:br>
            <a:r>
              <a:rPr lang="en-US" altLang="en-US" sz="2400" dirty="0">
                <a:ea typeface="MS PGothic" charset="-128"/>
              </a:rPr>
              <a:t>(</a:t>
            </a:r>
            <a:r>
              <a:rPr lang="en-US" altLang="en-US" sz="2400" b="1" dirty="0">
                <a:solidFill>
                  <a:srgbClr val="FF0000"/>
                </a:solidFill>
                <a:ea typeface="MS PGothic" charset="-128"/>
              </a:rPr>
              <a:t>v</a:t>
            </a:r>
            <a:r>
              <a:rPr lang="en-US" altLang="en-US" sz="2400" dirty="0">
                <a:ea typeface="MS PGothic" charset="-128"/>
              </a:rPr>
              <a:t> </a:t>
            </a:r>
            <a:r>
              <a:rPr lang="en-US" altLang="en-US" sz="2400" dirty="0">
                <a:ea typeface="MS PGothic" charset="-128"/>
                <a:sym typeface="Symbol" charset="2"/>
              </a:rPr>
              <a:t> in-memory – </a:t>
            </a:r>
            <a:r>
              <a:rPr lang="en-US" altLang="en-US" sz="2400" b="1" dirty="0">
                <a:solidFill>
                  <a:srgbClr val="3366FF"/>
                </a:solidFill>
                <a:ea typeface="MS PGothic" charset="-128"/>
                <a:sym typeface="Symbol" charset="2"/>
              </a:rPr>
              <a:t>memory resident</a:t>
            </a:r>
            <a:r>
              <a:rPr lang="en-US" altLang="en-US" sz="2400" dirty="0">
                <a:ea typeface="MS PGothic" charset="-128"/>
                <a:sym typeface="Symbol" charset="2"/>
              </a:rPr>
              <a:t>,</a:t>
            </a:r>
            <a:r>
              <a:rPr lang="en-US" altLang="en-US" sz="2400" dirty="0">
                <a:solidFill>
                  <a:srgbClr val="FF0000"/>
                </a:solidFill>
                <a:ea typeface="MS PGothic" charset="-128"/>
                <a:sym typeface="Symbol" charset="2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ea typeface="MS PGothic" charset="-128"/>
                <a:sym typeface="Symbol" charset="2"/>
              </a:rPr>
              <a:t>i</a:t>
            </a:r>
            <a:r>
              <a:rPr lang="en-US" altLang="en-US" sz="2400" dirty="0">
                <a:ea typeface="MS PGothic" charset="-128"/>
                <a:sym typeface="Symbol" charset="2"/>
              </a:rPr>
              <a:t>  not-in-memory)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MS PGothic" charset="-128"/>
                <a:sym typeface="Symbol" charset="2"/>
              </a:rPr>
              <a:t>Initially valid–invalid bit is set to</a:t>
            </a:r>
            <a:r>
              <a:rPr lang="en-US" altLang="en-US" sz="2400" b="1" dirty="0">
                <a:solidFill>
                  <a:srgbClr val="FF0000"/>
                </a:solidFill>
                <a:ea typeface="MS PGothic" charset="-128"/>
                <a:sym typeface="Symbol" charset="2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ea typeface="MS PGothic" charset="-128"/>
                <a:sym typeface="Symbol" charset="2"/>
              </a:rPr>
              <a:t>i</a:t>
            </a:r>
            <a:r>
              <a:rPr lang="en-US" altLang="en-US" sz="2400" b="1" dirty="0">
                <a:solidFill>
                  <a:srgbClr val="FF0000"/>
                </a:solidFill>
                <a:ea typeface="MS PGothic" charset="-128"/>
                <a:sym typeface="Symbol" charset="2"/>
              </a:rPr>
              <a:t> </a:t>
            </a:r>
            <a:r>
              <a:rPr lang="en-US" altLang="en-US" sz="2400" dirty="0">
                <a:ea typeface="MS PGothic" charset="-128"/>
                <a:sym typeface="Symbol" charset="2"/>
              </a:rPr>
              <a:t>on all entries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MS PGothic" charset="-128"/>
                <a:sym typeface="Symbol" charset="2"/>
              </a:rPr>
              <a:t>Example of a page table snapshot</a:t>
            </a:r>
            <a:r>
              <a:rPr lang="en-US" altLang="en-US" sz="2400" dirty="0" smtClean="0">
                <a:ea typeface="MS PGothic" charset="-128"/>
                <a:sym typeface="Symbol" charset="2"/>
              </a:rPr>
              <a:t>:</a:t>
            </a:r>
            <a:r>
              <a:rPr lang="en-US" altLang="en-US" sz="2400" dirty="0">
                <a:ea typeface="MS PGothic" charset="-128"/>
                <a:sym typeface="Symbol" charset="2"/>
              </a:rPr>
              <a:t/>
            </a:r>
            <a:br>
              <a:rPr lang="en-US" altLang="en-US" sz="2400" dirty="0">
                <a:ea typeface="MS PGothic" charset="-128"/>
                <a:sym typeface="Symbol" charset="2"/>
              </a:rPr>
            </a:br>
            <a:r>
              <a:rPr lang="en-US" altLang="en-US" sz="2400" dirty="0">
                <a:ea typeface="MS PGothic" charset="-128"/>
                <a:sym typeface="Symbol" charset="2"/>
              </a:rPr>
              <a:t/>
            </a:r>
            <a:br>
              <a:rPr lang="en-US" altLang="en-US" sz="2400" dirty="0">
                <a:ea typeface="MS PGothic" charset="-128"/>
                <a:sym typeface="Symbol" charset="2"/>
              </a:rPr>
            </a:br>
            <a:r>
              <a:rPr lang="en-US" altLang="en-US" sz="2400" dirty="0">
                <a:ea typeface="MS PGothic" charset="-128"/>
                <a:sym typeface="Symbol" charset="2"/>
              </a:rPr>
              <a:t/>
            </a:r>
            <a:br>
              <a:rPr lang="en-US" altLang="en-US" sz="2400" dirty="0">
                <a:ea typeface="MS PGothic" charset="-128"/>
                <a:sym typeface="Symbol" charset="2"/>
              </a:rPr>
            </a:br>
            <a:r>
              <a:rPr lang="en-US" altLang="en-US" sz="2400" dirty="0">
                <a:ea typeface="MS PGothic" charset="-128"/>
                <a:sym typeface="Symbol" charset="2"/>
              </a:rPr>
              <a:t/>
            </a:r>
            <a:br>
              <a:rPr lang="en-US" altLang="en-US" sz="2400" dirty="0">
                <a:ea typeface="MS PGothic" charset="-128"/>
                <a:sym typeface="Symbol" charset="2"/>
              </a:rPr>
            </a:br>
            <a:r>
              <a:rPr lang="en-US" altLang="en-US" sz="2400" dirty="0">
                <a:ea typeface="MS PGothic" charset="-128"/>
                <a:sym typeface="Symbol" charset="2"/>
              </a:rPr>
              <a:t/>
            </a:r>
            <a:br>
              <a:rPr lang="en-US" altLang="en-US" sz="2400" dirty="0">
                <a:ea typeface="MS PGothic" charset="-128"/>
                <a:sym typeface="Symbol" charset="2"/>
              </a:rPr>
            </a:br>
            <a:r>
              <a:rPr lang="en-US" altLang="en-US" sz="2400" dirty="0">
                <a:ea typeface="MS PGothic" charset="-128"/>
                <a:sym typeface="Symbol" charset="2"/>
              </a:rPr>
              <a:t/>
            </a:r>
            <a:br>
              <a:rPr lang="en-US" altLang="en-US" sz="2400" dirty="0">
                <a:ea typeface="MS PGothic" charset="-128"/>
                <a:sym typeface="Symbol" charset="2"/>
              </a:rPr>
            </a:br>
            <a:r>
              <a:rPr lang="en-US" altLang="en-US" sz="2400" dirty="0">
                <a:ea typeface="MS PGothic" charset="-128"/>
                <a:sym typeface="Symbol" charset="2"/>
              </a:rPr>
              <a:t/>
            </a:r>
            <a:br>
              <a:rPr lang="en-US" altLang="en-US" sz="2400" dirty="0">
                <a:ea typeface="MS PGothic" charset="-128"/>
                <a:sym typeface="Symbol" charset="2"/>
              </a:rPr>
            </a:br>
            <a:r>
              <a:rPr lang="en-US" altLang="en-US" sz="2400" dirty="0">
                <a:ea typeface="MS PGothic" charset="-128"/>
                <a:sym typeface="Symbol" charset="2"/>
              </a:rPr>
              <a:t/>
            </a:r>
            <a:br>
              <a:rPr lang="en-US" altLang="en-US" sz="2400" dirty="0">
                <a:ea typeface="MS PGothic" charset="-128"/>
                <a:sym typeface="Symbol" charset="2"/>
              </a:rPr>
            </a:br>
            <a:r>
              <a:rPr lang="en-US" altLang="en-US" sz="2400" dirty="0">
                <a:ea typeface="MS PGothic" charset="-128"/>
                <a:sym typeface="Symbol" charset="2"/>
              </a:rPr>
              <a:t/>
            </a:r>
            <a:br>
              <a:rPr lang="en-US" altLang="en-US" sz="2400" dirty="0">
                <a:ea typeface="MS PGothic" charset="-128"/>
                <a:sym typeface="Symbol" charset="2"/>
              </a:rPr>
            </a:br>
            <a:endParaRPr lang="en-US" altLang="en-US" sz="2400" dirty="0">
              <a:ea typeface="MS PGothic" charset="-128"/>
              <a:sym typeface="Symbol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MS PGothic" charset="-128"/>
                <a:sym typeface="Symbol" charset="2"/>
              </a:rPr>
              <a:t>During MMU address translation, if valid–invalid bit in page table entry is</a:t>
            </a:r>
            <a:r>
              <a:rPr lang="en-US" altLang="en-US" sz="2400" b="1" dirty="0">
                <a:solidFill>
                  <a:srgbClr val="FF0000"/>
                </a:solidFill>
                <a:ea typeface="MS PGothic" charset="-128"/>
                <a:sym typeface="Symbol" charset="2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ea typeface="MS PGothic" charset="-128"/>
                <a:sym typeface="Symbol" charset="2"/>
              </a:rPr>
              <a:t>i</a:t>
            </a:r>
            <a:r>
              <a:rPr lang="en-US" altLang="en-US" sz="2400" dirty="0">
                <a:ea typeface="MS PGothic" charset="-128"/>
                <a:sym typeface="Symbol" charset="2"/>
              </a:rPr>
              <a:t>  page fault</a:t>
            </a: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323" y="2514600"/>
            <a:ext cx="2828925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57568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139700"/>
            <a:ext cx="8296275" cy="501650"/>
          </a:xfrm>
        </p:spPr>
        <p:txBody>
          <a:bodyPr/>
          <a:lstStyle/>
          <a:p>
            <a:pPr eaLnBrk="1" hangingPunct="1"/>
            <a:r>
              <a:rPr lang="en-US" altLang="en-US" sz="2000">
                <a:ea typeface="MS PGothic" charset="-128"/>
              </a:rPr>
              <a:t>Page Table When Some Pages Are Not in Main Memory</a:t>
            </a:r>
          </a:p>
        </p:txBody>
      </p:sp>
      <p:pic>
        <p:nvPicPr>
          <p:cNvPr id="1638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174750"/>
            <a:ext cx="4967288" cy="4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26240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0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Page Fault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138987" cy="421005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2000" dirty="0">
              <a:ea typeface="MS PGothic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charset="-128"/>
              </a:rPr>
              <a:t>If there is a reference to a page, first reference to that page will trap to operating system: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2000" dirty="0">
                <a:solidFill>
                  <a:srgbClr val="3366FF"/>
                </a:solidFill>
                <a:ea typeface="MS PGothic" charset="-128"/>
                <a:sym typeface="Symbol" charset="2"/>
              </a:rPr>
              <a:t>              </a:t>
            </a:r>
            <a:r>
              <a:rPr lang="en-US" altLang="en-US" sz="2000" b="1" dirty="0">
                <a:solidFill>
                  <a:srgbClr val="3366FF"/>
                </a:solidFill>
                <a:ea typeface="MS PGothic" charset="-128"/>
                <a:sym typeface="Symbol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en-US" sz="2000" dirty="0">
                <a:ea typeface="MS PGothic" charset="-128"/>
                <a:sym typeface="Symbol" charset="2"/>
              </a:rPr>
              <a:t>Operating system looks at another table to decide:</a:t>
            </a:r>
          </a:p>
          <a:p>
            <a:pPr marL="798513" lvl="1" indent="-341313">
              <a:lnSpc>
                <a:spcPct val="90000"/>
              </a:lnSpc>
            </a:pPr>
            <a:r>
              <a:rPr lang="en-US" altLang="en-US" sz="2000" dirty="0">
                <a:ea typeface="MS PGothic" charset="-128"/>
              </a:rPr>
              <a:t>Invalid reference </a:t>
            </a:r>
            <a:r>
              <a:rPr lang="en-US" altLang="en-US" sz="2000" dirty="0">
                <a:ea typeface="MS PGothic" charset="-128"/>
                <a:sym typeface="Symbol" charset="2"/>
              </a:rPr>
              <a:t> abort</a:t>
            </a:r>
          </a:p>
          <a:p>
            <a:pPr marL="798513" lvl="1" indent="-341313">
              <a:lnSpc>
                <a:spcPct val="90000"/>
              </a:lnSpc>
            </a:pPr>
            <a:r>
              <a:rPr lang="en-US" altLang="en-US" sz="2000" dirty="0">
                <a:ea typeface="MS PGothic" charset="-128"/>
                <a:sym typeface="Symbol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en-US" sz="2000" dirty="0">
                <a:ea typeface="MS PGothic" charset="-128"/>
                <a:sym typeface="Symbol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en-US" sz="2000" dirty="0">
                <a:ea typeface="MS PGothic" charset="-128"/>
                <a:sym typeface="Symbol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en-US" sz="2000" dirty="0">
                <a:ea typeface="MS PGothic" charset="-128"/>
                <a:sym typeface="Symbol" charset="2"/>
              </a:rPr>
              <a:t>Reset tables to indicate page now in memory</a:t>
            </a:r>
            <a:br>
              <a:rPr lang="en-US" altLang="en-US" sz="2000" dirty="0">
                <a:ea typeface="MS PGothic" charset="-128"/>
                <a:sym typeface="Symbol" charset="2"/>
              </a:rPr>
            </a:br>
            <a:r>
              <a:rPr lang="en-US" altLang="en-US" sz="2000" dirty="0">
                <a:ea typeface="MS PGothic" charset="-128"/>
                <a:sym typeface="Symbol" charset="2"/>
              </a:rPr>
              <a:t>Set validation bit = </a:t>
            </a:r>
            <a:r>
              <a:rPr lang="en-US" altLang="en-US" sz="2000" b="1" dirty="0">
                <a:solidFill>
                  <a:srgbClr val="FF0000"/>
                </a:solidFill>
                <a:ea typeface="MS PGothic" charset="-128"/>
                <a:sym typeface="Symbol" charset="2"/>
              </a:rPr>
              <a:t>v</a:t>
            </a:r>
            <a:endParaRPr lang="en-US" altLang="en-US" sz="2000" dirty="0">
              <a:ea typeface="MS PGothic" charset="-128"/>
              <a:sym typeface="Symbol" charset="2"/>
            </a:endParaRP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en-US" sz="2000" dirty="0">
                <a:ea typeface="MS PGothic" charset="-128"/>
                <a:sym typeface="Symbol" charset="2"/>
              </a:rPr>
              <a:t>Restart the instruction that caused the page fault</a:t>
            </a:r>
          </a:p>
        </p:txBody>
      </p:sp>
    </p:spTree>
    <p:extLst>
      <p:ext uri="{BB962C8B-B14F-4D97-AF65-F5344CB8AC3E}">
        <p14:creationId xmlns:p14="http://schemas.microsoft.com/office/powerpoint/2010/main" val="1697193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90563" y="188913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Steps in Handling a Page Fault</a:t>
            </a:r>
          </a:p>
        </p:txBody>
      </p:sp>
      <p:pic>
        <p:nvPicPr>
          <p:cNvPr id="1843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65008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566738"/>
            <a:ext cx="8229600" cy="576262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Aspects of Demand Paging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838200" y="1589088"/>
            <a:ext cx="7740650" cy="4887912"/>
          </a:xfrm>
        </p:spPr>
        <p:txBody>
          <a:bodyPr/>
          <a:lstStyle/>
          <a:p>
            <a:r>
              <a:rPr lang="en-US" altLang="en-US" sz="2000" dirty="0">
                <a:ea typeface="MS PGothic" charset="-128"/>
              </a:rPr>
              <a:t>Extreme case – start process with </a:t>
            </a:r>
            <a:r>
              <a:rPr lang="en-US" altLang="en-US" sz="2000" i="1" dirty="0">
                <a:ea typeface="MS PGothic" charset="-128"/>
              </a:rPr>
              <a:t>no</a:t>
            </a:r>
            <a:r>
              <a:rPr lang="en-US" altLang="en-US" sz="2000" dirty="0">
                <a:ea typeface="MS PGothic" charset="-128"/>
              </a:rPr>
              <a:t> pages in memory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OS sets instruction pointer to first instruction of process, non-memory-resident -&gt; page fault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And for every other process pages on first access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Pure demand paging</a:t>
            </a:r>
          </a:p>
          <a:p>
            <a:r>
              <a:rPr lang="en-US" altLang="en-US" sz="2000" dirty="0">
                <a:ea typeface="MS PGothic" charset="-128"/>
              </a:rPr>
              <a:t>Actually, a given instruction could access multiple pages -&gt; multiple page faults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Consider fetch and decode of instruction which adds 2 numbers from memory and stores result back to memory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Pain decreased because of </a:t>
            </a:r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locality of reference</a:t>
            </a:r>
          </a:p>
          <a:p>
            <a:r>
              <a:rPr lang="en-US" altLang="en-US" sz="2000" dirty="0">
                <a:ea typeface="MS PGothic" charset="-128"/>
              </a:rPr>
              <a:t>Hardware support needed for demand paging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Page table with valid / invalid bit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Secondary memory (swap device with </a:t>
            </a:r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swap space</a:t>
            </a:r>
            <a:r>
              <a:rPr lang="en-US" altLang="en-US" sz="2000" dirty="0">
                <a:ea typeface="MS PGothic" charset="-128"/>
              </a:rPr>
              <a:t>)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Instruction restart</a:t>
            </a:r>
          </a:p>
        </p:txBody>
      </p:sp>
    </p:spTree>
    <p:extLst>
      <p:ext uri="{BB962C8B-B14F-4D97-AF65-F5344CB8AC3E}">
        <p14:creationId xmlns:p14="http://schemas.microsoft.com/office/powerpoint/2010/main" val="14314050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Instruction Restart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13" y="1157288"/>
            <a:ext cx="7702550" cy="4114800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Consider an instruction that could access several different locations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a typeface="MS PGothic" charset="-128"/>
                <a:sym typeface="Symbol" charset="2"/>
              </a:rPr>
              <a:t>block move</a:t>
            </a:r>
            <a:br>
              <a:rPr lang="en-US" altLang="en-US">
                <a:ea typeface="MS PGothic" charset="-128"/>
                <a:sym typeface="Symbol" charset="2"/>
              </a:rPr>
            </a:br>
            <a:r>
              <a:rPr lang="en-US" altLang="en-US" sz="1600">
                <a:ea typeface="MS PGothic" charset="-128"/>
                <a:sym typeface="Symbol" charset="2"/>
              </a:rPr>
              <a:t/>
            </a:r>
            <a:br>
              <a:rPr lang="en-US" altLang="en-US" sz="1600">
                <a:ea typeface="MS PGothic" charset="-128"/>
                <a:sym typeface="Symbol" charset="2"/>
              </a:rPr>
            </a:br>
            <a:r>
              <a:rPr lang="en-US" altLang="en-US" sz="1600">
                <a:ea typeface="MS PGothic" charset="-128"/>
                <a:sym typeface="Symbol" charset="2"/>
              </a:rPr>
              <a:t/>
            </a:r>
            <a:br>
              <a:rPr lang="en-US" altLang="en-US" sz="1600">
                <a:ea typeface="MS PGothic" charset="-128"/>
                <a:sym typeface="Symbol" charset="2"/>
              </a:rPr>
            </a:br>
            <a:r>
              <a:rPr lang="en-US" altLang="en-US" sz="1600">
                <a:ea typeface="MS PGothic" charset="-128"/>
                <a:sym typeface="Symbol" charset="2"/>
              </a:rPr>
              <a:t/>
            </a:r>
            <a:br>
              <a:rPr lang="en-US" altLang="en-US" sz="1600">
                <a:ea typeface="MS PGothic" charset="-128"/>
                <a:sym typeface="Symbol" charset="2"/>
              </a:rPr>
            </a:br>
            <a:r>
              <a:rPr lang="en-US" altLang="en-US" sz="1600">
                <a:ea typeface="MS PGothic" charset="-128"/>
                <a:sym typeface="Symbol" charset="2"/>
              </a:rPr>
              <a:t/>
            </a:r>
            <a:br>
              <a:rPr lang="en-US" altLang="en-US" sz="1600">
                <a:ea typeface="MS PGothic" charset="-128"/>
                <a:sym typeface="Symbol" charset="2"/>
              </a:rPr>
            </a:br>
            <a:endParaRPr lang="en-US" altLang="en-US" sz="1600">
              <a:ea typeface="MS PGothic" charset="-128"/>
              <a:sym typeface="Symbol" charset="2"/>
            </a:endParaRPr>
          </a:p>
          <a:p>
            <a:pPr lvl="1">
              <a:lnSpc>
                <a:spcPct val="90000"/>
              </a:lnSpc>
              <a:buFont typeface="Monotype Sorts" charset="2"/>
              <a:buNone/>
            </a:pPr>
            <a:endParaRPr lang="en-US" altLang="en-US" sz="1600">
              <a:ea typeface="MS PGothic" charset="-128"/>
              <a:sym typeface="Symbol" charset="2"/>
            </a:endParaRPr>
          </a:p>
          <a:p>
            <a:pPr lvl="1">
              <a:lnSpc>
                <a:spcPct val="90000"/>
              </a:lnSpc>
              <a:buFont typeface="Monotype Sorts" charset="2"/>
              <a:buNone/>
            </a:pPr>
            <a:endParaRPr lang="en-US" altLang="en-US" sz="1600">
              <a:ea typeface="MS PGothic" charset="-128"/>
              <a:sym typeface="Symbol" charset="2"/>
            </a:endParaRPr>
          </a:p>
          <a:p>
            <a:pPr lvl="1">
              <a:lnSpc>
                <a:spcPct val="90000"/>
              </a:lnSpc>
              <a:buFont typeface="Monotype Sorts" charset="2"/>
              <a:buNone/>
            </a:pPr>
            <a:endParaRPr lang="en-US" altLang="en-US" sz="1600">
              <a:ea typeface="MS PGothic" charset="-128"/>
              <a:sym typeface="Symbol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>
                <a:ea typeface="MS PGothic" charset="-128"/>
                <a:sym typeface="Symbol" charset="2"/>
              </a:rPr>
              <a:t>auto increment/decrement location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a typeface="MS PGothic" charset="-128"/>
                <a:sym typeface="Symbol" charset="2"/>
              </a:rPr>
              <a:t>Restart the whole operation?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ea typeface="MS PGothic" charset="-128"/>
                <a:sym typeface="Symbol" charset="2"/>
              </a:rPr>
              <a:t>What if source and destination overlap?</a:t>
            </a:r>
          </a:p>
        </p:txBody>
      </p:sp>
      <p:pic>
        <p:nvPicPr>
          <p:cNvPr id="2048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313" y="2514600"/>
            <a:ext cx="1563687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27608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016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Performance of Demand Paging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081088"/>
            <a:ext cx="7791450" cy="48498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>
                <a:ea typeface="MS PGothic" charset="-128"/>
              </a:rPr>
              <a:t>Stages in Demand Paging (worse case)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Trap to the operating system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Save the user registers and process state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Determine that the interrupt was a page fault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Check that the page reference was legal and determine the location of the page on the disk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Issue a read from the disk to a free frame:</a:t>
            </a:r>
          </a:p>
          <a:p>
            <a:pPr marL="798513" lvl="1" indent="-341313"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Wait in a queue for this device until the read request is serviced</a:t>
            </a:r>
          </a:p>
          <a:p>
            <a:pPr marL="798513" lvl="1" indent="-341313"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Wait for the device seek and/or latency time</a:t>
            </a:r>
          </a:p>
          <a:p>
            <a:pPr marL="798513" lvl="1" indent="-341313"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Begin the transfer of the page to a free frame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While waiting, allocate the CPU to some other user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Receive an interrupt from the disk I/O subsystem (I/O completed)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Save the registers and process state for the other user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Determine that the interrupt was from the disk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Correct the page table and other tables to show page is now in memory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Wait for the CPU to be allocated to this process again</a:t>
            </a:r>
          </a:p>
          <a:p>
            <a:pPr>
              <a:buFont typeface="Arial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>
                <a:ea typeface="MS PGothic" charset="-128"/>
              </a:rPr>
              <a:t>Restore the user registers, process state, and new page table, and then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>
              <a:ea typeface="MS PGothic" charset="-128"/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947481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1" y="188913"/>
            <a:ext cx="9170988" cy="576262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Performance of Demand Paging (Cont.)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8299450" cy="46466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 sz="2400" dirty="0">
                <a:ea typeface="MS PGothic" charset="-128"/>
              </a:rPr>
              <a:t>Three major activities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ea typeface="MS PGothic" charset="-128"/>
              </a:rPr>
              <a:t>Service the interrupt – careful coding means just several hundred instructions needed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ea typeface="MS PGothic" charset="-128"/>
              </a:rPr>
              <a:t>Read the page – lots of time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ea typeface="MS PGothic" charset="-128"/>
              </a:rPr>
              <a:t>Restart the process – again just a small amount of time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sz="2400" dirty="0">
                <a:ea typeface="MS PGothic" charset="-128"/>
              </a:rPr>
              <a:t>Page Fault Rate 0 </a:t>
            </a:r>
            <a:r>
              <a:rPr lang="en-US" altLang="en-US" sz="2400" dirty="0">
                <a:ea typeface="MS PGothic" charset="-128"/>
                <a:sym typeface="Symbol" charset="2"/>
              </a:rPr>
              <a:t> </a:t>
            </a:r>
            <a:r>
              <a:rPr lang="en-US" altLang="en-US" sz="2400" i="1" dirty="0">
                <a:ea typeface="MS PGothic" charset="-128"/>
                <a:sym typeface="Symbol" charset="2"/>
              </a:rPr>
              <a:t>p</a:t>
            </a:r>
            <a:r>
              <a:rPr lang="en-US" altLang="en-US" sz="2400" dirty="0">
                <a:ea typeface="MS PGothic" charset="-128"/>
                <a:sym typeface="Symbol" charset="2"/>
              </a:rPr>
              <a:t>  1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ea typeface="MS PGothic" charset="-128"/>
                <a:sym typeface="Symbol" charset="2"/>
              </a:rPr>
              <a:t>if </a:t>
            </a:r>
            <a:r>
              <a:rPr lang="en-US" altLang="en-US" i="1" dirty="0">
                <a:ea typeface="MS PGothic" charset="-128"/>
                <a:sym typeface="Symbol" charset="2"/>
              </a:rPr>
              <a:t>p</a:t>
            </a:r>
            <a:r>
              <a:rPr lang="en-US" altLang="en-US" dirty="0">
                <a:ea typeface="MS PGothic" charset="-128"/>
                <a:sym typeface="Symbol" charset="2"/>
              </a:rPr>
              <a:t> = 0 no page faults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ea typeface="MS PGothic" charset="-128"/>
                <a:sym typeface="Symbol" charset="2"/>
              </a:rPr>
              <a:t>if </a:t>
            </a:r>
            <a:r>
              <a:rPr lang="en-US" altLang="en-US" i="1" dirty="0">
                <a:ea typeface="MS PGothic" charset="-128"/>
                <a:sym typeface="Symbol" charset="2"/>
              </a:rPr>
              <a:t>p</a:t>
            </a:r>
            <a:r>
              <a:rPr lang="en-US" altLang="en-US" dirty="0">
                <a:ea typeface="MS PGothic" charset="-128"/>
                <a:sym typeface="Symbol" charset="2"/>
              </a:rPr>
              <a:t> = 1, every reference is a fault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sz="2400" dirty="0">
                <a:ea typeface="MS PGothic" charset="-128"/>
                <a:sym typeface="Symbol" charset="2"/>
              </a:rPr>
              <a:t>Effective Access Time (EAT)</a:t>
            </a:r>
          </a:p>
          <a:p>
            <a:pPr>
              <a:buFont typeface="Monotype Sorts" charset="2"/>
              <a:buNone/>
              <a:tabLst>
                <a:tab pos="2163763" algn="l"/>
                <a:tab pos="2855913" algn="l"/>
              </a:tabLst>
            </a:pPr>
            <a:r>
              <a:rPr lang="en-US" altLang="en-US" sz="2400" dirty="0">
                <a:ea typeface="MS PGothic" charset="-128"/>
                <a:sym typeface="Symbol" charset="2"/>
              </a:rPr>
              <a:t>		EAT = (1 – </a:t>
            </a:r>
            <a:r>
              <a:rPr lang="en-US" altLang="en-US" sz="2400" i="1" dirty="0">
                <a:ea typeface="MS PGothic" charset="-128"/>
                <a:sym typeface="Symbol" charset="2"/>
              </a:rPr>
              <a:t>p</a:t>
            </a:r>
            <a:r>
              <a:rPr lang="en-US" altLang="en-US" sz="2400" dirty="0">
                <a:ea typeface="MS PGothic" charset="-128"/>
                <a:sym typeface="Symbol" charset="2"/>
              </a:rPr>
              <a:t>) x memory access</a:t>
            </a:r>
          </a:p>
          <a:p>
            <a:pPr>
              <a:buFont typeface="Monotype Sorts" charset="2"/>
              <a:buNone/>
              <a:tabLst>
                <a:tab pos="2163763" algn="l"/>
                <a:tab pos="2855913" algn="l"/>
              </a:tabLst>
            </a:pPr>
            <a:r>
              <a:rPr lang="en-US" altLang="en-US" sz="2400" dirty="0">
                <a:ea typeface="MS PGothic" charset="-128"/>
                <a:sym typeface="Symbol" charset="2"/>
              </a:rPr>
              <a:t>			+ </a:t>
            </a:r>
            <a:r>
              <a:rPr lang="en-US" altLang="en-US" sz="2400" i="1" dirty="0">
                <a:ea typeface="MS PGothic" charset="-128"/>
                <a:sym typeface="Symbol" charset="2"/>
              </a:rPr>
              <a:t>p</a:t>
            </a:r>
            <a:r>
              <a:rPr lang="en-US" altLang="en-US" sz="2400" dirty="0">
                <a:ea typeface="MS PGothic" charset="-128"/>
                <a:sym typeface="Symbol" charset="2"/>
              </a:rPr>
              <a:t> (page fault overhead</a:t>
            </a:r>
          </a:p>
          <a:p>
            <a:pPr>
              <a:buFont typeface="Monotype Sorts" charset="2"/>
              <a:buNone/>
              <a:tabLst>
                <a:tab pos="2163763" algn="l"/>
                <a:tab pos="2855913" algn="l"/>
              </a:tabLst>
            </a:pPr>
            <a:r>
              <a:rPr lang="en-US" altLang="en-US" sz="2400" dirty="0">
                <a:ea typeface="MS PGothic" charset="-128"/>
                <a:sym typeface="Symbol" charset="2"/>
              </a:rPr>
              <a:t>			           + swap page out</a:t>
            </a:r>
          </a:p>
          <a:p>
            <a:pPr>
              <a:buFont typeface="Monotype Sorts" charset="2"/>
              <a:buNone/>
              <a:tabLst>
                <a:tab pos="2163763" algn="l"/>
                <a:tab pos="2855913" algn="l"/>
              </a:tabLst>
            </a:pPr>
            <a:r>
              <a:rPr lang="en-US" altLang="en-US" sz="2400" dirty="0">
                <a:ea typeface="MS PGothic" charset="-128"/>
                <a:sym typeface="Symbol" charset="2"/>
              </a:rPr>
              <a:t>			           + swap page in )</a:t>
            </a:r>
          </a:p>
          <a:p>
            <a:pPr>
              <a:buFont typeface="Monotype Sorts" charset="2"/>
              <a:buNone/>
              <a:tabLst>
                <a:tab pos="2163763" algn="l"/>
                <a:tab pos="2855913" algn="l"/>
              </a:tabLst>
            </a:pPr>
            <a:r>
              <a:rPr lang="en-US" altLang="en-US" sz="2400" dirty="0">
                <a:ea typeface="MS PGothic" charset="-128"/>
                <a:sym typeface="Symbol" charset="2"/>
              </a:rPr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19536185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214313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Demand Paging 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685800"/>
            <a:ext cx="7715250" cy="4849812"/>
          </a:xfrm>
        </p:spPr>
        <p:txBody>
          <a:bodyPr/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EAT = (1 – p) x 200 + p (8 milliseconds) </a:t>
            </a:r>
          </a:p>
          <a:p>
            <a:pPr>
              <a:buFont typeface="Monotype Sorts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	        = (1 – </a:t>
            </a:r>
            <a:r>
              <a:rPr lang="en-US" altLang="en-US" sz="2400" dirty="0" smtClean="0">
                <a:ea typeface="MS PGothic" charset="-128"/>
              </a:rPr>
              <a:t>p)  </a:t>
            </a:r>
            <a:r>
              <a:rPr lang="en-US" altLang="en-US" sz="2400" dirty="0">
                <a:ea typeface="MS PGothic" charset="-128"/>
              </a:rPr>
              <a:t>x 200 + p x 8,000,000 </a:t>
            </a:r>
          </a:p>
          <a:p>
            <a:pPr>
              <a:buFont typeface="Monotype Sorts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If one access out of 1,000 causes a page fault, then</a:t>
            </a:r>
          </a:p>
          <a:p>
            <a:pPr>
              <a:buFont typeface="Monotype Sorts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         EAT = 8.2 microseconds. </a:t>
            </a:r>
          </a:p>
          <a:p>
            <a:pPr>
              <a:buFont typeface="Monotype Sorts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      This is a slowdown by a factor of 40!!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If want performance degradation &lt; 10 percent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>
                <a:ea typeface="MS PGothic" charset="-128"/>
              </a:rPr>
              <a:t>220 &gt; 200 + 7,999,800 x p</a:t>
            </a:r>
            <a:br>
              <a:rPr lang="en-US" altLang="en-US" dirty="0">
                <a:ea typeface="MS PGothic" charset="-128"/>
              </a:rPr>
            </a:br>
            <a:r>
              <a:rPr lang="en-US" altLang="en-US" dirty="0">
                <a:ea typeface="MS PGothic" charset="-128"/>
              </a:rPr>
              <a:t>20 &gt; 7,999,800 x p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>
                <a:ea typeface="MS PGothic" charset="-128"/>
              </a:rPr>
              <a:t>p &lt; .0000025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>
                <a:ea typeface="MS PGothic" charset="-128"/>
              </a:rPr>
              <a:t>&lt; one page fault in every 400,000 memory accesses</a:t>
            </a:r>
          </a:p>
          <a:p>
            <a:pPr>
              <a:buFont typeface="Monotype Sorts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400" dirty="0">
                <a:ea typeface="MS PGothic" charset="-128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239166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520700" y="163513"/>
            <a:ext cx="8229600" cy="576262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Demand Paging Optimizations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806450" y="1028700"/>
            <a:ext cx="7575550" cy="5232400"/>
          </a:xfrm>
        </p:spPr>
        <p:txBody>
          <a:bodyPr/>
          <a:lstStyle/>
          <a:p>
            <a:r>
              <a:rPr lang="en-US" altLang="en-US" sz="1600">
                <a:ea typeface="MS PGothic" charset="-128"/>
              </a:rPr>
              <a:t>Swap space I/O faster than file system I/O even if on the same device</a:t>
            </a:r>
          </a:p>
          <a:p>
            <a:pPr lvl="1"/>
            <a:r>
              <a:rPr lang="en-US" altLang="en-US" sz="1600">
                <a:ea typeface="MS PGothic" charset="-128"/>
              </a:rPr>
              <a:t>Swap allocated in larger chunks, less management needed than file system</a:t>
            </a:r>
          </a:p>
          <a:p>
            <a:r>
              <a:rPr lang="en-US" altLang="en-US" sz="1600">
                <a:ea typeface="MS PGothic" charset="-128"/>
              </a:rPr>
              <a:t>Copy entire process image to swap space at process load time</a:t>
            </a:r>
          </a:p>
          <a:p>
            <a:pPr lvl="1"/>
            <a:r>
              <a:rPr lang="en-US" altLang="en-US" sz="1600">
                <a:ea typeface="MS PGothic" charset="-128"/>
              </a:rPr>
              <a:t>Then page in and out of swap space</a:t>
            </a:r>
          </a:p>
          <a:p>
            <a:pPr lvl="1"/>
            <a:r>
              <a:rPr lang="en-US" altLang="en-US" sz="1600">
                <a:ea typeface="MS PGothic" charset="-128"/>
              </a:rPr>
              <a:t>Used in older BSD Unix</a:t>
            </a:r>
          </a:p>
          <a:p>
            <a:r>
              <a:rPr lang="en-US" altLang="en-US" sz="1600">
                <a:ea typeface="MS PGothic" charset="-128"/>
              </a:rPr>
              <a:t>Demand page in from program binary on disk, but discard rather than paging out when freeing frame</a:t>
            </a:r>
          </a:p>
          <a:p>
            <a:pPr lvl="1"/>
            <a:r>
              <a:rPr lang="en-US" altLang="en-US" sz="1600">
                <a:ea typeface="MS PGothic" charset="-128"/>
              </a:rPr>
              <a:t>Used in Solaris and current BSD</a:t>
            </a:r>
          </a:p>
          <a:p>
            <a:pPr lvl="1"/>
            <a:r>
              <a:rPr lang="en-US" altLang="en-US" sz="1600">
                <a:ea typeface="MS PGothic" charset="-128"/>
              </a:rPr>
              <a:t>Still need to write to swap space</a:t>
            </a:r>
          </a:p>
          <a:p>
            <a:pPr lvl="2"/>
            <a:r>
              <a:rPr lang="en-US" altLang="en-US" sz="1600">
                <a:ea typeface="MS PGothic" charset="-128"/>
              </a:rPr>
              <a:t>Pages not associated with a file (like stack and heap) – </a:t>
            </a:r>
            <a:r>
              <a:rPr lang="en-US" altLang="en-US" sz="1600" b="1">
                <a:solidFill>
                  <a:srgbClr val="3366FF"/>
                </a:solidFill>
                <a:ea typeface="MS PGothic" charset="-128"/>
              </a:rPr>
              <a:t>anonymous</a:t>
            </a:r>
            <a:r>
              <a:rPr lang="en-US" altLang="en-US" sz="1600">
                <a:ea typeface="MS PGothic" charset="-128"/>
              </a:rPr>
              <a:t> </a:t>
            </a:r>
            <a:r>
              <a:rPr lang="en-US" altLang="en-US" sz="1600" b="1">
                <a:solidFill>
                  <a:srgbClr val="3366FF"/>
                </a:solidFill>
                <a:ea typeface="MS PGothic" charset="-128"/>
              </a:rPr>
              <a:t>memory</a:t>
            </a:r>
          </a:p>
          <a:p>
            <a:pPr lvl="2"/>
            <a:r>
              <a:rPr lang="en-US" altLang="en-US" sz="1600">
                <a:ea typeface="MS PGothic" charset="-128"/>
              </a:rPr>
              <a:t>Pages modified in memory but not yet written back to the file system</a:t>
            </a:r>
          </a:p>
          <a:p>
            <a:r>
              <a:rPr lang="en-US" altLang="en-US" sz="1600">
                <a:ea typeface="MS PGothic" charset="-128"/>
              </a:rPr>
              <a:t>Mobile systems</a:t>
            </a:r>
          </a:p>
          <a:p>
            <a:pPr lvl="1"/>
            <a:r>
              <a:rPr lang="en-US" altLang="en-US" sz="1600">
                <a:ea typeface="MS PGothic" charset="-128"/>
              </a:rPr>
              <a:t>Typically don’t support swapping</a:t>
            </a:r>
          </a:p>
          <a:p>
            <a:pPr lvl="1"/>
            <a:r>
              <a:rPr lang="en-US" altLang="en-US" sz="1600">
                <a:ea typeface="MS PGothic" charset="-128"/>
              </a:rPr>
              <a:t>Instead, demand page from file system and reclaim read-only pages (such as code)</a:t>
            </a:r>
          </a:p>
        </p:txBody>
      </p:sp>
    </p:spTree>
    <p:extLst>
      <p:ext uri="{BB962C8B-B14F-4D97-AF65-F5344CB8AC3E}">
        <p14:creationId xmlns:p14="http://schemas.microsoft.com/office/powerpoint/2010/main" val="1472309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Copy-on-Write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06488"/>
            <a:ext cx="7334250" cy="4530725"/>
          </a:xfrm>
        </p:spPr>
        <p:txBody>
          <a:bodyPr/>
          <a:lstStyle/>
          <a:p>
            <a:r>
              <a:rPr lang="en-US" altLang="en-US" sz="1600" b="1">
                <a:solidFill>
                  <a:srgbClr val="3366FF"/>
                </a:solidFill>
                <a:ea typeface="MS PGothic" charset="-128"/>
              </a:rPr>
              <a:t>Copy-on-Write </a:t>
            </a:r>
            <a:r>
              <a:rPr lang="en-US" altLang="en-US" sz="1600">
                <a:ea typeface="MS PGothic" charset="-128"/>
              </a:rPr>
              <a:t>(COW) allows both parent and child processes to initially </a:t>
            </a:r>
            <a:r>
              <a:rPr lang="en-US" altLang="en-US" sz="1600" b="1" i="1">
                <a:ea typeface="MS PGothic" charset="-128"/>
              </a:rPr>
              <a:t>share</a:t>
            </a:r>
            <a:r>
              <a:rPr lang="en-US" altLang="en-US" sz="1600">
                <a:ea typeface="MS PGothic" charset="-128"/>
              </a:rPr>
              <a:t> the same pages in memory</a:t>
            </a:r>
          </a:p>
          <a:p>
            <a:pPr lvl="1"/>
            <a:r>
              <a:rPr lang="en-US" altLang="en-US" sz="1600">
                <a:ea typeface="MS PGothic" charset="-128"/>
              </a:rPr>
              <a:t>If either process modifies a shared page, only then is the page copied</a:t>
            </a:r>
          </a:p>
          <a:p>
            <a:r>
              <a:rPr lang="en-US" altLang="en-US" sz="1600">
                <a:ea typeface="MS PGothic" charset="-128"/>
              </a:rPr>
              <a:t>COW allows more efficient process creation as only modified pages are copied</a:t>
            </a:r>
          </a:p>
          <a:p>
            <a:r>
              <a:rPr lang="en-US" altLang="en-US" sz="1600">
                <a:ea typeface="MS PGothic" charset="-128"/>
              </a:rPr>
              <a:t>In general, free pages are allocated from a </a:t>
            </a:r>
            <a:r>
              <a:rPr lang="en-US" altLang="en-US" sz="1600" b="1">
                <a:solidFill>
                  <a:srgbClr val="3366FF"/>
                </a:solidFill>
                <a:ea typeface="MS PGothic" charset="-128"/>
              </a:rPr>
              <a:t>pool</a:t>
            </a:r>
            <a:r>
              <a:rPr lang="en-US" altLang="en-US" sz="160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sz="1600">
                <a:ea typeface="MS PGothic" charset="-128"/>
              </a:rPr>
              <a:t>of </a:t>
            </a:r>
            <a:r>
              <a:rPr lang="en-US" altLang="en-US" sz="1600" b="1">
                <a:solidFill>
                  <a:srgbClr val="3366FF"/>
                </a:solidFill>
                <a:ea typeface="MS PGothic" charset="-128"/>
              </a:rPr>
              <a:t>zero-fill-on-demand </a:t>
            </a:r>
            <a:r>
              <a:rPr lang="en-US" altLang="en-US" sz="1600">
                <a:ea typeface="MS PGothic" charset="-128"/>
              </a:rPr>
              <a:t>pages</a:t>
            </a:r>
          </a:p>
          <a:p>
            <a:pPr lvl="1"/>
            <a:r>
              <a:rPr lang="en-US" altLang="en-US" sz="1600">
                <a:ea typeface="MS PGothic" charset="-128"/>
              </a:rPr>
              <a:t>Pool should always have free frames for fast demand page execution</a:t>
            </a:r>
          </a:p>
          <a:p>
            <a:pPr lvl="2"/>
            <a:r>
              <a:rPr lang="en-US" altLang="en-US" sz="1600">
                <a:ea typeface="MS PGothic" charset="-128"/>
              </a:rPr>
              <a:t>Don’t want to have to free a frame as well as other processing on page fault</a:t>
            </a:r>
          </a:p>
          <a:p>
            <a:pPr lvl="1"/>
            <a:r>
              <a:rPr lang="en-US" altLang="en-US" sz="1600">
                <a:ea typeface="MS PGothic" charset="-128"/>
              </a:rPr>
              <a:t>Why zero-out a page before allocating it?</a:t>
            </a:r>
          </a:p>
          <a:p>
            <a:r>
              <a:rPr lang="en-US" altLang="en-US" sz="1600">
                <a:latin typeface="Courier New" charset="0"/>
                <a:ea typeface="MS PGothic" charset="-128"/>
              </a:rPr>
              <a:t>vfork()</a:t>
            </a:r>
            <a:r>
              <a:rPr lang="en-US" altLang="en-US" sz="1600">
                <a:ea typeface="MS PGothic" charset="-128"/>
              </a:rPr>
              <a:t> variation on </a:t>
            </a:r>
            <a:r>
              <a:rPr lang="en-US" altLang="en-US" sz="1600">
                <a:latin typeface="Courier New" charset="0"/>
                <a:ea typeface="MS PGothic" charset="-128"/>
              </a:rPr>
              <a:t>fork() </a:t>
            </a:r>
            <a:r>
              <a:rPr lang="en-US" altLang="en-US" sz="1600">
                <a:ea typeface="MS PGothic" charset="-128"/>
              </a:rPr>
              <a:t>system call has parent suspend and child using copy-on-write address space of parent</a:t>
            </a:r>
          </a:p>
          <a:p>
            <a:pPr lvl="1"/>
            <a:r>
              <a:rPr lang="en-US" altLang="en-US" sz="1600">
                <a:ea typeface="MS PGothic" charset="-128"/>
              </a:rPr>
              <a:t>Designed to have child call </a:t>
            </a:r>
            <a:r>
              <a:rPr lang="en-US" altLang="en-US" sz="1600">
                <a:latin typeface="Courier New" charset="0"/>
                <a:ea typeface="MS PGothic" charset="-128"/>
              </a:rPr>
              <a:t>exec()</a:t>
            </a:r>
          </a:p>
          <a:p>
            <a:pPr lvl="1"/>
            <a:r>
              <a:rPr lang="en-US" altLang="en-US" sz="1600">
                <a:ea typeface="MS PGothic" charset="-128"/>
              </a:rPr>
              <a:t>Very efficient</a:t>
            </a:r>
          </a:p>
        </p:txBody>
      </p:sp>
    </p:spTree>
    <p:extLst>
      <p:ext uri="{BB962C8B-B14F-4D97-AF65-F5344CB8AC3E}">
        <p14:creationId xmlns:p14="http://schemas.microsoft.com/office/powerpoint/2010/main" val="18053203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0" y="227013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Before Process 1 Modifies Page C</a:t>
            </a:r>
          </a:p>
        </p:txBody>
      </p:sp>
      <p:pic>
        <p:nvPicPr>
          <p:cNvPr id="2662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33388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13811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After Process 1 Modifies Page C</a:t>
            </a:r>
          </a:p>
        </p:txBody>
      </p:sp>
      <p:pic>
        <p:nvPicPr>
          <p:cNvPr id="27651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319213"/>
            <a:ext cx="6403975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90944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14446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2800">
                <a:ea typeface="MS PGothic" charset="-128"/>
              </a:rPr>
              <a:t>What Happens if There is no Free Frame?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133475"/>
            <a:ext cx="7300912" cy="4511675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Used up by process pages</a:t>
            </a:r>
          </a:p>
          <a:p>
            <a:r>
              <a:rPr lang="en-US" altLang="en-US">
                <a:ea typeface="MS PGothic" charset="-128"/>
              </a:rPr>
              <a:t>Also in demand from the kernel, I/O buffers, etc</a:t>
            </a:r>
          </a:p>
          <a:p>
            <a:r>
              <a:rPr lang="en-US" altLang="en-US">
                <a:ea typeface="MS PGothic" charset="-128"/>
              </a:rPr>
              <a:t>How much to allocate to each?</a:t>
            </a:r>
          </a:p>
          <a:p>
            <a:r>
              <a:rPr lang="en-US" altLang="en-US">
                <a:ea typeface="MS PGothic" charset="-128"/>
              </a:rPr>
              <a:t>Page replacement – find some page in memory, but not really in use, page it out</a:t>
            </a:r>
          </a:p>
          <a:p>
            <a:pPr lvl="1"/>
            <a:r>
              <a:rPr lang="en-US" altLang="en-US">
                <a:ea typeface="MS PGothic" charset="-128"/>
              </a:rPr>
              <a:t>Algorithm – terminate? swap out? replace the page?</a:t>
            </a:r>
          </a:p>
          <a:p>
            <a:pPr lvl="1"/>
            <a:r>
              <a:rPr lang="en-US" altLang="en-US">
                <a:ea typeface="MS PGothic" charset="-128"/>
              </a:rPr>
              <a:t>Performance – want an algorithm which will result in minimum number of page faults</a:t>
            </a:r>
          </a:p>
          <a:p>
            <a:r>
              <a:rPr lang="en-US" altLang="en-US">
                <a:ea typeface="MS PGothic" charset="-128"/>
              </a:rPr>
              <a:t>Same page may be brought into memory several times</a:t>
            </a:r>
          </a:p>
          <a:p>
            <a:pPr>
              <a:buFont typeface="Monotype Sorts" charset="2"/>
              <a:buNone/>
            </a:pPr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62345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62025" y="188913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Page Replacement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233488"/>
            <a:ext cx="6508750" cy="4530725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Prevent </a:t>
            </a:r>
            <a:r>
              <a:rPr lang="en-US" altLang="en-US" b="1">
                <a:solidFill>
                  <a:srgbClr val="3366FF"/>
                </a:solidFill>
                <a:ea typeface="MS PGothic" charset="-128"/>
              </a:rPr>
              <a:t>over-allocation</a:t>
            </a:r>
            <a:r>
              <a:rPr lang="en-US" altLang="en-US">
                <a:ea typeface="MS PGothic" charset="-128"/>
              </a:rPr>
              <a:t> of memory by modifying page-fault service routine to include page replacement</a:t>
            </a:r>
          </a:p>
          <a:p>
            <a:r>
              <a:rPr lang="en-US" altLang="en-US">
                <a:ea typeface="MS PGothic" charset="-128"/>
              </a:rPr>
              <a:t>Use </a:t>
            </a:r>
            <a:r>
              <a:rPr lang="en-US" altLang="en-US" b="1">
                <a:solidFill>
                  <a:srgbClr val="3366FF"/>
                </a:solidFill>
                <a:ea typeface="MS PGothic" charset="-128"/>
              </a:rPr>
              <a:t>modify </a:t>
            </a:r>
            <a:r>
              <a:rPr lang="en-US" altLang="en-US">
                <a:ea typeface="MS PGothic" charset="-128"/>
              </a:rPr>
              <a:t>(</a:t>
            </a:r>
            <a:r>
              <a:rPr lang="en-US" altLang="en-US" b="1">
                <a:solidFill>
                  <a:srgbClr val="3366FF"/>
                </a:solidFill>
                <a:ea typeface="MS PGothic" charset="-128"/>
              </a:rPr>
              <a:t>dirty</a:t>
            </a:r>
            <a:r>
              <a:rPr lang="en-US" altLang="en-US">
                <a:ea typeface="MS PGothic" charset="-128"/>
              </a:rPr>
              <a:t>)</a:t>
            </a:r>
            <a:r>
              <a:rPr lang="en-US" altLang="en-US" b="1">
                <a:solidFill>
                  <a:srgbClr val="3366FF"/>
                </a:solidFill>
                <a:ea typeface="MS PGothic" charset="-128"/>
              </a:rPr>
              <a:t> bit </a:t>
            </a:r>
            <a:r>
              <a:rPr lang="en-US" altLang="en-US">
                <a:ea typeface="MS PGothic" charset="-128"/>
              </a:rPr>
              <a:t>to reduce overhead of page transfers – only modified pages are written to disk</a:t>
            </a:r>
          </a:p>
          <a:p>
            <a:r>
              <a:rPr lang="en-US" altLang="en-US">
                <a:ea typeface="MS PGothic" charset="-128"/>
              </a:rPr>
              <a:t>Page replacement completes separation between logical memory and physical memory – large virtual memory can be provided on a smaller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1228978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3775" y="188913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Need For Page Replacement</a:t>
            </a:r>
          </a:p>
        </p:txBody>
      </p:sp>
      <p:pic>
        <p:nvPicPr>
          <p:cNvPr id="3072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192213"/>
            <a:ext cx="6192838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0720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0" y="163513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Basic Page Replacement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762000"/>
            <a:ext cx="7653338" cy="4457700"/>
          </a:xfrm>
        </p:spPr>
        <p:txBody>
          <a:bodyPr/>
          <a:lstStyle/>
          <a:p>
            <a:pPr marL="379413" indent="-379413">
              <a:buFont typeface="Monotype Sorts" charset="2"/>
              <a:buAutoNum type="arabicPeriod"/>
            </a:pPr>
            <a:r>
              <a:rPr lang="en-US" altLang="en-US" dirty="0">
                <a:ea typeface="MS PGothic" charset="-128"/>
              </a:rPr>
              <a:t>Find the location of the desired page on </a:t>
            </a:r>
            <a:r>
              <a:rPr lang="en-US" altLang="en-US" dirty="0" smtClean="0">
                <a:ea typeface="MS PGothic" charset="-128"/>
              </a:rPr>
              <a:t>disk</a:t>
            </a:r>
            <a:endParaRPr lang="en-US" altLang="en-US" dirty="0">
              <a:ea typeface="MS PGothic" charset="-128"/>
            </a:endParaRPr>
          </a:p>
          <a:p>
            <a:pPr marL="379413" indent="-379413">
              <a:buFont typeface="Monotype Sorts" charset="2"/>
              <a:buAutoNum type="arabicPeriod"/>
            </a:pPr>
            <a:r>
              <a:rPr lang="en-US" altLang="en-US" dirty="0">
                <a:ea typeface="MS PGothic" charset="-128"/>
              </a:rPr>
              <a:t>Find a free frame:</a:t>
            </a:r>
            <a:br>
              <a:rPr lang="en-US" altLang="en-US" dirty="0">
                <a:ea typeface="MS PGothic" charset="-128"/>
              </a:rPr>
            </a:br>
            <a:r>
              <a:rPr lang="en-US" altLang="en-US" dirty="0">
                <a:ea typeface="MS PGothic" charset="-128"/>
              </a:rPr>
              <a:t>   -  If there is a free frame, use it</a:t>
            </a:r>
            <a:br>
              <a:rPr lang="en-US" altLang="en-US" dirty="0">
                <a:ea typeface="MS PGothic" charset="-128"/>
              </a:rPr>
            </a:br>
            <a:r>
              <a:rPr lang="en-US" altLang="en-US" dirty="0">
                <a:ea typeface="MS PGothic" charset="-128"/>
              </a:rPr>
              <a:t>   -  If there is no free frame, use a page replacement algorithm to select a 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victim</a:t>
            </a:r>
            <a:r>
              <a:rPr lang="en-US" altLang="en-US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frame</a:t>
            </a:r>
            <a:br>
              <a:rPr lang="en-US" altLang="en-US" b="1" dirty="0">
                <a:solidFill>
                  <a:srgbClr val="3366FF"/>
                </a:solidFill>
                <a:ea typeface="MS PGothic" charset="-128"/>
              </a:rPr>
            </a:b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	- </a:t>
            </a:r>
            <a:r>
              <a:rPr lang="en-US" altLang="en-US" dirty="0">
                <a:ea typeface="MS PGothic" charset="-128"/>
              </a:rPr>
              <a:t>Write victim frame to disk if </a:t>
            </a:r>
            <a:r>
              <a:rPr lang="en-US" altLang="en-US" dirty="0" smtClean="0">
                <a:ea typeface="MS PGothic" charset="-128"/>
              </a:rPr>
              <a:t>dirty</a:t>
            </a:r>
            <a:endParaRPr lang="en-US" altLang="en-US" dirty="0">
              <a:ea typeface="MS PGothic" charset="-128"/>
            </a:endParaRPr>
          </a:p>
          <a:p>
            <a:pPr marL="379413" indent="-379413">
              <a:buFont typeface="Monotype Sorts" charset="2"/>
              <a:buAutoNum type="arabicPeriod"/>
            </a:pPr>
            <a:r>
              <a:rPr lang="en-US" altLang="en-US" dirty="0">
                <a:ea typeface="MS PGothic" charset="-128"/>
              </a:rPr>
              <a:t>Bring  the desired page into the (newly) free frame; update the page and frame </a:t>
            </a:r>
            <a:r>
              <a:rPr lang="en-US" altLang="en-US" dirty="0" smtClean="0">
                <a:ea typeface="MS PGothic" charset="-128"/>
              </a:rPr>
              <a:t>tables</a:t>
            </a:r>
            <a:endParaRPr lang="en-US" altLang="en-US" dirty="0">
              <a:ea typeface="MS PGothic" charset="-128"/>
            </a:endParaRPr>
          </a:p>
          <a:p>
            <a:pPr marL="379413" indent="-379413">
              <a:buFont typeface="Monotype Sorts" charset="2"/>
              <a:buAutoNum type="arabicPeriod"/>
            </a:pPr>
            <a:r>
              <a:rPr lang="en-US" altLang="en-US" dirty="0">
                <a:ea typeface="MS PGothic" charset="-128"/>
              </a:rPr>
              <a:t>Continue the process by restarting the instruction that caused the </a:t>
            </a:r>
            <a:r>
              <a:rPr lang="en-US" altLang="en-US" dirty="0" smtClean="0">
                <a:ea typeface="MS PGothic" charset="-128"/>
              </a:rPr>
              <a:t>trap</a:t>
            </a:r>
            <a:endParaRPr lang="en-US" altLang="en-US" dirty="0">
              <a:ea typeface="MS PGothic" charset="-128"/>
            </a:endParaRPr>
          </a:p>
          <a:p>
            <a:pPr marL="379413" indent="-379413">
              <a:buFont typeface="Monotype Sorts" charset="2"/>
              <a:buNone/>
            </a:pPr>
            <a:r>
              <a:rPr lang="en-US" altLang="en-US" dirty="0">
                <a:ea typeface="MS PGothic" charset="-128"/>
              </a:rPr>
              <a:t>Note now potentially 2 page transfers for page fault – increasing EAT</a:t>
            </a:r>
          </a:p>
        </p:txBody>
      </p:sp>
    </p:spTree>
    <p:extLst>
      <p:ext uri="{BB962C8B-B14F-4D97-AF65-F5344CB8AC3E}">
        <p14:creationId xmlns:p14="http://schemas.microsoft.com/office/powerpoint/2010/main" val="11905116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17621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Page Replacement</a:t>
            </a:r>
          </a:p>
        </p:txBody>
      </p:sp>
      <p:pic>
        <p:nvPicPr>
          <p:cNvPr id="32771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9732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14338"/>
            <a:ext cx="7675562" cy="576262"/>
          </a:xfrm>
        </p:spPr>
        <p:txBody>
          <a:bodyPr/>
          <a:lstStyle/>
          <a:p>
            <a:pPr eaLnBrk="1" hangingPunct="1"/>
            <a:r>
              <a:rPr lang="en-US" altLang="en-US" sz="2800">
                <a:ea typeface="MS PGothic" charset="-128"/>
              </a:rPr>
              <a:t>Page and Frame Replacement Algorithms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20775"/>
            <a:ext cx="7486650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Frame-allocation algorithm </a:t>
            </a:r>
            <a:r>
              <a:rPr lang="en-US" altLang="en-US" sz="2000" dirty="0">
                <a:ea typeface="MS PGothic" charset="-128"/>
              </a:rPr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 sz="2000" dirty="0">
                <a:ea typeface="MS PGothic" charset="-128"/>
              </a:rPr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sz="2000" dirty="0">
                <a:ea typeface="MS PGothic" charset="-128"/>
              </a:rPr>
              <a:t>Which frames to replace</a:t>
            </a:r>
          </a:p>
          <a:p>
            <a:pPr>
              <a:tabLst>
                <a:tab pos="3144838" algn="ctr"/>
              </a:tabLst>
            </a:pPr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 sz="2000" dirty="0">
                <a:ea typeface="MS PGothic" charset="-128"/>
              </a:rPr>
              <a:t>Want lowest page-fault rate on both first access and re-access</a:t>
            </a:r>
          </a:p>
          <a:p>
            <a:pPr>
              <a:tabLst>
                <a:tab pos="3144838" algn="ctr"/>
              </a:tabLst>
            </a:pPr>
            <a:r>
              <a:rPr lang="en-US" altLang="en-US" sz="2000" dirty="0">
                <a:ea typeface="MS PGothic" charset="-128"/>
              </a:rPr>
              <a:t>Evaluate algorithm by running it on a particular string of memory references (reference string) and computing the number of page faults on that string</a:t>
            </a:r>
          </a:p>
          <a:p>
            <a:pPr lvl="1">
              <a:tabLst>
                <a:tab pos="3144838" algn="ctr"/>
              </a:tabLst>
            </a:pPr>
            <a:r>
              <a:rPr lang="en-US" altLang="en-US" sz="2000" dirty="0">
                <a:ea typeface="MS PGothic" charset="-128"/>
              </a:rPr>
              <a:t>String is just page numbers, not full addresses</a:t>
            </a:r>
          </a:p>
          <a:p>
            <a:pPr lvl="1">
              <a:tabLst>
                <a:tab pos="3144838" algn="ctr"/>
              </a:tabLst>
            </a:pPr>
            <a:r>
              <a:rPr lang="en-US" altLang="en-US" sz="2000" dirty="0">
                <a:ea typeface="MS PGothic" charset="-128"/>
              </a:rPr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 sz="2000" dirty="0">
                <a:ea typeface="MS PGothic" charset="-128"/>
              </a:rPr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r>
              <a:rPr lang="en-US" altLang="en-US" sz="2000" dirty="0">
                <a:ea typeface="MS PGothic" charset="-128"/>
              </a:rPr>
              <a:t>In all our examples, the </a:t>
            </a:r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reference string </a:t>
            </a:r>
            <a:r>
              <a:rPr lang="en-US" altLang="en-US" sz="2000" dirty="0">
                <a:ea typeface="MS PGothic" charset="-128"/>
              </a:rPr>
              <a:t>of referenced page numbers is </a:t>
            </a:r>
          </a:p>
          <a:p>
            <a:pPr>
              <a:buFont typeface="Monotype Sorts" charset="2"/>
              <a:buNone/>
              <a:tabLst>
                <a:tab pos="3144838" algn="ctr"/>
              </a:tabLst>
            </a:pPr>
            <a:r>
              <a:rPr lang="en-US" altLang="en-US" sz="2000" dirty="0">
                <a:ea typeface="MS PGothic" charset="-128"/>
              </a:rPr>
              <a:t>	               </a:t>
            </a:r>
            <a:r>
              <a:rPr lang="en-US" altLang="en-US" sz="2000" b="1" dirty="0">
                <a:solidFill>
                  <a:srgbClr val="FF0000"/>
                </a:solidFill>
                <a:ea typeface="MS PGothic" charset="-128"/>
              </a:rPr>
              <a:t>7,0,1,2,0,3,0,4,2,3,0,3,0,3,2,1,2,0,1,7,0,1</a:t>
            </a:r>
          </a:p>
        </p:txBody>
      </p:sp>
    </p:spTree>
    <p:extLst>
      <p:ext uri="{BB962C8B-B14F-4D97-AF65-F5344CB8AC3E}">
        <p14:creationId xmlns:p14="http://schemas.microsoft.com/office/powerpoint/2010/main" val="1408700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4900" y="984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400">
                <a:ea typeface="MS PGothic" charset="-128"/>
              </a:rPr>
              <a:t>Graph of Page Faults Versus The Number of Frames</a:t>
            </a:r>
          </a:p>
        </p:txBody>
      </p:sp>
      <p:pic>
        <p:nvPicPr>
          <p:cNvPr id="3481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22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76213"/>
            <a:ext cx="8610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First-In-First-Out (FIFO)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854950" cy="5762625"/>
          </a:xfrm>
        </p:spPr>
        <p:txBody>
          <a:bodyPr/>
          <a:lstStyle/>
          <a:p>
            <a:r>
              <a:rPr lang="en-US" altLang="en-US" sz="2400" dirty="0">
                <a:ea typeface="MS PGothic" charset="-128"/>
              </a:rPr>
              <a:t>Reference string: </a:t>
            </a:r>
            <a:r>
              <a:rPr lang="en-US" altLang="en-US" sz="2400" b="1" dirty="0">
                <a:solidFill>
                  <a:srgbClr val="FF0000"/>
                </a:solidFill>
                <a:ea typeface="MS PGothic" charset="-128"/>
              </a:rPr>
              <a:t>7,0,1,2,0,3,0,4,2,3,0,3,0,3,2,1,2,0,1,7,0,1</a:t>
            </a:r>
            <a:endParaRPr lang="en-US" altLang="en-US" sz="2400" dirty="0">
              <a:ea typeface="MS PGothic" charset="-128"/>
            </a:endParaRPr>
          </a:p>
          <a:p>
            <a:r>
              <a:rPr lang="en-US" altLang="en-US" sz="2400" dirty="0">
                <a:ea typeface="MS PGothic" charset="-128"/>
              </a:rPr>
              <a:t>3 frames (3 pages can be in memory at a time per process)</a:t>
            </a:r>
          </a:p>
          <a:p>
            <a:pPr>
              <a:buFont typeface="Monotype Sorts" charset="2"/>
              <a:buNone/>
            </a:pPr>
            <a:endParaRPr lang="en-US" altLang="en-US" sz="2400" dirty="0">
              <a:ea typeface="MS PGothic" charset="-128"/>
            </a:endParaRPr>
          </a:p>
          <a:p>
            <a:pPr>
              <a:buFont typeface="Monotype Sorts" charset="2"/>
              <a:buNone/>
            </a:pPr>
            <a:endParaRPr lang="en-US" altLang="en-US" sz="2400" dirty="0">
              <a:ea typeface="MS PGothic" charset="-128"/>
            </a:endParaRPr>
          </a:p>
          <a:p>
            <a:pPr>
              <a:buFont typeface="Monotype Sorts" charset="2"/>
              <a:buNone/>
            </a:pPr>
            <a:r>
              <a:rPr lang="en-US" altLang="en-US" sz="2400" dirty="0">
                <a:ea typeface="MS PGothic" charset="-128"/>
              </a:rPr>
              <a:t/>
            </a:r>
            <a:br>
              <a:rPr lang="en-US" altLang="en-US" sz="2400" dirty="0">
                <a:ea typeface="MS PGothic" charset="-128"/>
              </a:rPr>
            </a:br>
            <a:endParaRPr lang="en-US" altLang="en-US" sz="2400" dirty="0">
              <a:ea typeface="MS PGothic" charset="-128"/>
            </a:endParaRPr>
          </a:p>
          <a:p>
            <a:r>
              <a:rPr lang="en-US" altLang="en-US" sz="2400" dirty="0">
                <a:ea typeface="MS PGothic" charset="-128"/>
              </a:rPr>
              <a:t>Can vary by reference string: consider 1,2,3,4,1,2,5,1,2,3,4,5</a:t>
            </a:r>
          </a:p>
          <a:p>
            <a:pPr lvl="1"/>
            <a:r>
              <a:rPr lang="en-US" altLang="en-US" dirty="0">
                <a:ea typeface="MS PGothic" charset="-128"/>
              </a:rPr>
              <a:t>Adding more frames can cause more page faults!</a:t>
            </a:r>
          </a:p>
          <a:p>
            <a:pPr lvl="2"/>
            <a:r>
              <a:rPr lang="en-US" altLang="en-US" sz="2400" b="1" dirty="0" err="1">
                <a:solidFill>
                  <a:srgbClr val="3366FF"/>
                </a:solidFill>
                <a:ea typeface="MS PGothic" charset="-128"/>
              </a:rPr>
              <a:t>Belady</a:t>
            </a:r>
            <a:r>
              <a:rPr lang="ja-JP" altLang="en-US" sz="2400" b="1" dirty="0">
                <a:solidFill>
                  <a:srgbClr val="3366FF"/>
                </a:solidFill>
                <a:ea typeface="MS PGothic" charset="-128"/>
              </a:rPr>
              <a:t>’</a:t>
            </a:r>
            <a:r>
              <a:rPr lang="en-US" altLang="ja-JP" sz="2400" b="1" dirty="0">
                <a:solidFill>
                  <a:srgbClr val="3366FF"/>
                </a:solidFill>
                <a:ea typeface="MS PGothic" charset="-128"/>
              </a:rPr>
              <a:t>s Anomaly</a:t>
            </a:r>
            <a:endParaRPr lang="en-US" altLang="en-US" sz="2400" dirty="0">
              <a:ea typeface="MS PGothic" charset="-128"/>
            </a:endParaRPr>
          </a:p>
          <a:p>
            <a:r>
              <a:rPr lang="en-US" altLang="en-US" sz="2400" dirty="0">
                <a:ea typeface="MS PGothic" charset="-128"/>
              </a:rPr>
              <a:t>How to track ages of pages? </a:t>
            </a:r>
          </a:p>
          <a:p>
            <a:pPr lvl="1"/>
            <a:r>
              <a:rPr lang="en-US" altLang="en-US" dirty="0">
                <a:ea typeface="MS PGothic" charset="-128"/>
              </a:rPr>
              <a:t>Just use a FIFO queue</a:t>
            </a:r>
          </a:p>
        </p:txBody>
      </p:sp>
      <p:sp>
        <p:nvSpPr>
          <p:cNvPr id="35844" name="Text Box 16"/>
          <p:cNvSpPr txBox="1">
            <a:spLocks noChangeArrowheads="1"/>
          </p:cNvSpPr>
          <p:nvPr/>
        </p:nvSpPr>
        <p:spPr bwMode="auto">
          <a:xfrm>
            <a:off x="609600" y="2743200"/>
            <a:ext cx="163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charset="0"/>
              </a:rPr>
              <a:t>15 page faults</a:t>
            </a:r>
          </a:p>
        </p:txBody>
      </p:sp>
      <p:pic>
        <p:nvPicPr>
          <p:cNvPr id="3584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665" y="25908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89945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4313"/>
            <a:ext cx="8902700" cy="576262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FIFO Illustrating </a:t>
            </a:r>
            <a:r>
              <a:rPr lang="en-US" altLang="en-US" dirty="0" err="1">
                <a:ea typeface="MS PGothic" charset="-128"/>
              </a:rPr>
              <a:t>Belady</a:t>
            </a:r>
            <a:r>
              <a:rPr lang="ja-JP" altLang="en-US" dirty="0">
                <a:ea typeface="MS PGothic" charset="-128"/>
              </a:rPr>
              <a:t>’</a:t>
            </a:r>
            <a:r>
              <a:rPr lang="en-US" altLang="ja-JP" dirty="0">
                <a:ea typeface="MS PGothic" charset="-128"/>
              </a:rPr>
              <a:t>s Anomaly</a:t>
            </a:r>
            <a:endParaRPr lang="en-US" altLang="en-US" dirty="0">
              <a:ea typeface="MS PGothic" charset="-128"/>
            </a:endParaRPr>
          </a:p>
        </p:txBody>
      </p:sp>
      <p:pic>
        <p:nvPicPr>
          <p:cNvPr id="36867" name="Picture 1" descr="9_1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39459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138113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Optimal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119188"/>
            <a:ext cx="8229600" cy="4530725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>
                <a:ea typeface="MS PGothic" charset="-128"/>
              </a:rPr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>
                <a:ea typeface="MS PGothic" charset="-128"/>
              </a:rPr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>
                <a:ea typeface="MS PGothic" charset="-128"/>
              </a:rPr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>
                <a:ea typeface="MS PGothic" charset="-128"/>
              </a:rPr>
              <a:t>Can</a:t>
            </a:r>
            <a:r>
              <a:rPr lang="ja-JP" altLang="en-US">
                <a:ea typeface="MS PGothic" charset="-128"/>
              </a:rPr>
              <a:t>’</a:t>
            </a:r>
            <a:r>
              <a:rPr lang="en-US" altLang="ja-JP">
                <a:ea typeface="MS PGothic" charset="-128"/>
              </a:rPr>
              <a:t>t read the future</a:t>
            </a:r>
            <a:endParaRPr lang="en-US" altLang="en-US">
              <a:ea typeface="MS PGothic" charset="-128"/>
            </a:endParaRPr>
          </a:p>
          <a:p>
            <a:pPr>
              <a:tabLst>
                <a:tab pos="1889125" algn="l"/>
              </a:tabLst>
            </a:pPr>
            <a:r>
              <a:rPr lang="en-US" altLang="en-US">
                <a:ea typeface="MS PGothic" charset="-128"/>
              </a:rPr>
              <a:t>Used for measuring how well your algorithm performs</a:t>
            </a:r>
          </a:p>
        </p:txBody>
      </p:sp>
      <p:pic>
        <p:nvPicPr>
          <p:cNvPr id="3789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495800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32799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1" y="163513"/>
            <a:ext cx="88900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Least Recently Used (LRU)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1275"/>
            <a:ext cx="7454900" cy="4835525"/>
          </a:xfrm>
        </p:spPr>
        <p:txBody>
          <a:bodyPr/>
          <a:lstStyle/>
          <a:p>
            <a:pPr>
              <a:buFont typeface="Monotype Sorts" pitchFamily="-84" charset="2"/>
              <a:buNone/>
              <a:defRPr/>
            </a:pPr>
            <a:endParaRPr lang="en-US" altLang="en-US" dirty="0" smtClean="0"/>
          </a:p>
          <a:p>
            <a:pPr>
              <a:buFont typeface="Monotype Sorts" pitchFamily="-84" charset="2"/>
              <a:buChar char="n"/>
              <a:defRPr/>
            </a:pPr>
            <a:r>
              <a:rPr lang="en-US" altLang="en-US" dirty="0" smtClean="0"/>
              <a:t>Use past knowledge rather than future</a:t>
            </a:r>
          </a:p>
          <a:p>
            <a:pPr>
              <a:buFont typeface="Monotype Sorts" pitchFamily="-84" charset="2"/>
              <a:buChar char="n"/>
              <a:defRPr/>
            </a:pPr>
            <a:r>
              <a:rPr lang="en-US" altLang="en-US" dirty="0" smtClean="0"/>
              <a:t>Replace page that has not been used in the most amount of time</a:t>
            </a:r>
          </a:p>
          <a:p>
            <a:pPr>
              <a:buFont typeface="Monotype Sorts" pitchFamily="-84" charset="2"/>
              <a:buChar char="n"/>
              <a:defRPr/>
            </a:pPr>
            <a:r>
              <a:rPr lang="en-US" altLang="en-US" dirty="0" smtClean="0"/>
              <a:t>Associate time of last use with each page</a:t>
            </a:r>
          </a:p>
          <a:p>
            <a:pPr>
              <a:buFont typeface="Monotype Sorts" pitchFamily="-84" charset="2"/>
              <a:buChar char="n"/>
              <a:defRPr/>
            </a:pPr>
            <a:endParaRPr lang="en-US" altLang="en-US" dirty="0" smtClean="0"/>
          </a:p>
          <a:p>
            <a:pPr>
              <a:buFont typeface="Monotype Sorts" pitchFamily="-84" charset="2"/>
              <a:buChar char="n"/>
              <a:defRPr/>
            </a:pPr>
            <a:endParaRPr lang="en-US" altLang="en-US" dirty="0" smtClean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 smtClean="0"/>
          </a:p>
          <a:p>
            <a:pPr>
              <a:buFont typeface="Monotype Sorts" pitchFamily="-84" charset="2"/>
              <a:buChar char="n"/>
              <a:defRPr/>
            </a:pPr>
            <a:endParaRPr lang="en-US" altLang="en-US" dirty="0" smtClean="0"/>
          </a:p>
          <a:p>
            <a:pPr>
              <a:buFont typeface="Monotype Sorts" pitchFamily="-84" charset="2"/>
              <a:buChar char="n"/>
              <a:defRPr/>
            </a:pPr>
            <a:r>
              <a:rPr lang="en-US" altLang="en-US" dirty="0" smtClean="0"/>
              <a:t>12 faults – better than FIFO but worse than OPT</a:t>
            </a:r>
          </a:p>
          <a:p>
            <a:pPr>
              <a:buFont typeface="Monotype Sorts" pitchFamily="-84" charset="2"/>
              <a:buChar char="n"/>
              <a:defRPr/>
            </a:pPr>
            <a:r>
              <a:rPr lang="en-US" altLang="en-US" dirty="0" smtClean="0"/>
              <a:t>Generally good algorithm and frequently used</a:t>
            </a:r>
          </a:p>
          <a:p>
            <a:pPr>
              <a:buFont typeface="Monotype Sorts" pitchFamily="-84" charset="2"/>
              <a:buChar char="n"/>
              <a:defRPr/>
            </a:pPr>
            <a:r>
              <a:rPr lang="en-US" altLang="en-US" dirty="0" smtClean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 smtClean="0"/>
          </a:p>
        </p:txBody>
      </p:sp>
      <p:pic>
        <p:nvPicPr>
          <p:cNvPr id="38916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6902450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41493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LRU Algorithm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154113"/>
            <a:ext cx="8343900" cy="5246687"/>
          </a:xfrm>
        </p:spPr>
        <p:txBody>
          <a:bodyPr/>
          <a:lstStyle/>
          <a:p>
            <a:r>
              <a:rPr lang="en-US" altLang="en-US" sz="2000" dirty="0">
                <a:ea typeface="MS PGothic" charset="-128"/>
              </a:rPr>
              <a:t>Counter implementation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When a page needs to be changed, look at the counters to find smallest value</a:t>
            </a:r>
          </a:p>
          <a:p>
            <a:pPr lvl="2"/>
            <a:r>
              <a:rPr lang="en-US" altLang="en-US" dirty="0">
                <a:ea typeface="MS PGothic" charset="-128"/>
              </a:rPr>
              <a:t>Search through table needed</a:t>
            </a:r>
          </a:p>
          <a:p>
            <a:r>
              <a:rPr lang="en-US" altLang="en-US" sz="2000" dirty="0">
                <a:ea typeface="MS PGothic" charset="-128"/>
              </a:rPr>
              <a:t>Stack implementation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Keep a stack of page numbers in a double link form: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Page referenced:</a:t>
            </a:r>
          </a:p>
          <a:p>
            <a:pPr lvl="2"/>
            <a:r>
              <a:rPr lang="en-US" altLang="en-US" dirty="0">
                <a:ea typeface="MS PGothic" charset="-128"/>
              </a:rPr>
              <a:t>move it to the top</a:t>
            </a:r>
          </a:p>
          <a:p>
            <a:pPr lvl="2"/>
            <a:r>
              <a:rPr lang="en-US" altLang="en-US" dirty="0">
                <a:ea typeface="MS PGothic" charset="-128"/>
              </a:rPr>
              <a:t>requires 6 pointers to be changed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But each update more expensive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No search for replacement</a:t>
            </a:r>
          </a:p>
          <a:p>
            <a:r>
              <a:rPr lang="en-US" altLang="en-US" sz="2000" dirty="0">
                <a:ea typeface="MS PGothic" charset="-128"/>
              </a:rPr>
              <a:t>LRU and OPT are cases of </a:t>
            </a:r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stack algorithms </a:t>
            </a:r>
            <a:r>
              <a:rPr lang="en-US" altLang="en-US" sz="2000" dirty="0">
                <a:ea typeface="MS PGothic" charset="-128"/>
              </a:rPr>
              <a:t>that don</a:t>
            </a:r>
            <a:r>
              <a:rPr lang="ja-JP" altLang="en-US" sz="2000" dirty="0">
                <a:ea typeface="MS PGothic" charset="-128"/>
              </a:rPr>
              <a:t>’</a:t>
            </a:r>
            <a:r>
              <a:rPr lang="en-US" altLang="ja-JP" sz="2000" dirty="0">
                <a:ea typeface="MS PGothic" charset="-128"/>
              </a:rPr>
              <a:t>t have </a:t>
            </a:r>
            <a:r>
              <a:rPr lang="en-US" altLang="ja-JP" sz="2000" dirty="0" err="1">
                <a:ea typeface="MS PGothic" charset="-128"/>
              </a:rPr>
              <a:t>Belady</a:t>
            </a:r>
            <a:r>
              <a:rPr lang="ja-JP" altLang="en-US" sz="2000" dirty="0">
                <a:ea typeface="MS PGothic" charset="-128"/>
              </a:rPr>
              <a:t>’</a:t>
            </a:r>
            <a:r>
              <a:rPr lang="en-US" altLang="ja-JP" sz="2000" dirty="0">
                <a:ea typeface="MS PGothic" charset="-128"/>
              </a:rPr>
              <a:t>s Anomaly</a:t>
            </a:r>
            <a:endParaRPr lang="en-US" altLang="en-US" sz="20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71853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3650" y="103188"/>
            <a:ext cx="7626350" cy="576262"/>
          </a:xfrm>
        </p:spPr>
        <p:txBody>
          <a:bodyPr/>
          <a:lstStyle/>
          <a:p>
            <a:pPr eaLnBrk="1" hangingPunct="1"/>
            <a:r>
              <a:rPr lang="en-US" altLang="en-US" sz="2000">
                <a:ea typeface="MS PGothic" charset="-128"/>
              </a:rPr>
              <a:t>Use Of A Stack to Record Most Recent Page References</a:t>
            </a:r>
          </a:p>
        </p:txBody>
      </p:sp>
      <p:pic>
        <p:nvPicPr>
          <p:cNvPr id="40963" name="Picture 1" descr="9_1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1141413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4575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08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LRU Approximation Algorithms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763000" cy="5146675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LRU needs special hardware and still slow</a:t>
            </a:r>
          </a:p>
          <a:p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Reference bit</a:t>
            </a:r>
          </a:p>
          <a:p>
            <a:pPr lvl="1"/>
            <a:r>
              <a:rPr lang="en-US" altLang="en-US" dirty="0">
                <a:ea typeface="MS PGothic" charset="-128"/>
              </a:rPr>
              <a:t>With each page associate a bit, initially = 0</a:t>
            </a:r>
          </a:p>
          <a:p>
            <a:pPr lvl="1"/>
            <a:r>
              <a:rPr lang="en-US" altLang="en-US" dirty="0">
                <a:ea typeface="MS PGothic" charset="-128"/>
              </a:rPr>
              <a:t>When page is referenced bit set to 1</a:t>
            </a:r>
          </a:p>
          <a:p>
            <a:pPr lvl="1"/>
            <a:r>
              <a:rPr lang="en-US" altLang="en-US" dirty="0">
                <a:ea typeface="MS PGothic" charset="-128"/>
              </a:rPr>
              <a:t>Replace any with reference bit = 0 (if one exists)</a:t>
            </a:r>
          </a:p>
          <a:p>
            <a:pPr lvl="2"/>
            <a:r>
              <a:rPr lang="en-US" altLang="en-US" dirty="0">
                <a:ea typeface="MS PGothic" charset="-128"/>
              </a:rPr>
              <a:t>We do not know the order, however</a:t>
            </a:r>
            <a:endParaRPr lang="en-US" altLang="en-US" sz="800" dirty="0">
              <a:ea typeface="MS PGothic" charset="-128"/>
            </a:endParaRPr>
          </a:p>
          <a:p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Second-chance algorithm</a:t>
            </a:r>
          </a:p>
          <a:p>
            <a:pPr lvl="1"/>
            <a:r>
              <a:rPr lang="en-US" altLang="en-US" dirty="0">
                <a:ea typeface="MS PGothic" charset="-128"/>
              </a:rPr>
              <a:t>Generally FIFO, plus hardware-provided reference bit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Clock</a:t>
            </a:r>
            <a:r>
              <a:rPr lang="en-US" altLang="en-US" dirty="0">
                <a:ea typeface="MS PGothic" charset="-128"/>
              </a:rPr>
              <a:t> replacement</a:t>
            </a:r>
          </a:p>
          <a:p>
            <a:pPr lvl="1"/>
            <a:r>
              <a:rPr lang="en-US" altLang="en-US" dirty="0">
                <a:ea typeface="MS PGothic" charset="-128"/>
              </a:rPr>
              <a:t>If page to be replaced has </a:t>
            </a:r>
          </a:p>
          <a:p>
            <a:pPr lvl="2"/>
            <a:r>
              <a:rPr lang="en-US" altLang="en-US" dirty="0">
                <a:ea typeface="MS PGothic" charset="-128"/>
              </a:rPr>
              <a:t>Reference bit = 0 -&gt; replace it</a:t>
            </a:r>
          </a:p>
          <a:p>
            <a:pPr lvl="2"/>
            <a:r>
              <a:rPr lang="en-US" altLang="en-US" dirty="0">
                <a:ea typeface="MS PGothic" charset="-128"/>
              </a:rPr>
              <a:t>reference bit = 1 then:</a:t>
            </a:r>
          </a:p>
          <a:p>
            <a:pPr lvl="3"/>
            <a:r>
              <a:rPr lang="en-US" altLang="en-US" dirty="0">
                <a:ea typeface="MS PGothic" charset="-128"/>
              </a:rPr>
              <a:t>set reference bit 0, leave page in memory</a:t>
            </a:r>
          </a:p>
          <a:p>
            <a:pPr lvl="3"/>
            <a:r>
              <a:rPr lang="en-US" altLang="en-US" dirty="0">
                <a:ea typeface="MS PGothic" charset="-128"/>
              </a:rPr>
              <a:t>replace next page, subject to same rules</a:t>
            </a:r>
          </a:p>
        </p:txBody>
      </p:sp>
    </p:spTree>
    <p:extLst>
      <p:ext uri="{BB962C8B-B14F-4D97-AF65-F5344CB8AC3E}">
        <p14:creationId xmlns:p14="http://schemas.microsoft.com/office/powerpoint/2010/main" val="1439974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27100" y="177800"/>
            <a:ext cx="8010525" cy="463550"/>
          </a:xfrm>
        </p:spPr>
        <p:txBody>
          <a:bodyPr/>
          <a:lstStyle/>
          <a:p>
            <a:pPr eaLnBrk="1" hangingPunct="1"/>
            <a:r>
              <a:rPr lang="en-US" altLang="en-US" sz="2000">
                <a:ea typeface="MS PGothic" charset="-128"/>
              </a:rPr>
              <a:t>Second-Chance (clock) Page-Replacement Algorithm</a:t>
            </a:r>
          </a:p>
        </p:txBody>
      </p:sp>
      <p:pic>
        <p:nvPicPr>
          <p:cNvPr id="43011" name="Picture 1" descr="9_1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7445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1381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>
                <a:ea typeface="MS PGothic" charset="-128"/>
              </a:rPr>
              <a:t>Enhanced Second-Chance Algorithm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1" y="609600"/>
            <a:ext cx="8305799" cy="5146675"/>
          </a:xfrm>
        </p:spPr>
        <p:txBody>
          <a:bodyPr/>
          <a:lstStyle/>
          <a:p>
            <a:r>
              <a:rPr lang="en-US" altLang="en-US" sz="2400" dirty="0">
                <a:ea typeface="MS PGothic" charset="-128"/>
              </a:rPr>
              <a:t>Improve algorithm by using reference bit and modify bit (if available) in concert</a:t>
            </a:r>
          </a:p>
          <a:p>
            <a:r>
              <a:rPr lang="en-US" altLang="en-US" sz="2400" dirty="0">
                <a:ea typeface="MS PGothic" charset="-128"/>
              </a:rPr>
              <a:t>Take ordered pair (reference, modify)</a:t>
            </a:r>
          </a:p>
          <a:p>
            <a:pPr>
              <a:buFont typeface="Arial" charset="0"/>
              <a:buAutoNum type="arabicPeriod"/>
            </a:pPr>
            <a:r>
              <a:rPr lang="en-US" altLang="en-US" sz="2400" dirty="0">
                <a:ea typeface="MS PGothic" charset="-128"/>
              </a:rPr>
              <a:t>(0, 0) neither recently used not modified – best page to replace</a:t>
            </a:r>
          </a:p>
          <a:p>
            <a:pPr>
              <a:buFont typeface="Arial" charset="0"/>
              <a:buAutoNum type="arabicPeriod"/>
            </a:pPr>
            <a:r>
              <a:rPr lang="en-US" altLang="en-US" sz="2400" dirty="0">
                <a:ea typeface="MS PGothic" charset="-128"/>
              </a:rPr>
              <a:t>(0, 1) not recently used but modified – not quite as good, must write out before replacement</a:t>
            </a:r>
          </a:p>
          <a:p>
            <a:pPr>
              <a:buFont typeface="Arial" charset="0"/>
              <a:buAutoNum type="arabicPeriod"/>
            </a:pPr>
            <a:r>
              <a:rPr lang="en-US" altLang="en-US" sz="2400" dirty="0">
                <a:ea typeface="MS PGothic" charset="-128"/>
              </a:rPr>
              <a:t>(1, 0) recently used but clean – probably will be used again soon</a:t>
            </a:r>
          </a:p>
          <a:p>
            <a:pPr>
              <a:buFont typeface="Arial" charset="0"/>
              <a:buAutoNum type="arabicPeriod"/>
            </a:pPr>
            <a:r>
              <a:rPr lang="en-US" altLang="en-US" sz="2400" dirty="0">
                <a:ea typeface="MS PGothic" charset="-128"/>
              </a:rPr>
              <a:t>(1, 1) recently used and modified – probably will be used again soon and need to write out before replacement</a:t>
            </a:r>
          </a:p>
          <a:p>
            <a:r>
              <a:rPr lang="en-US" altLang="en-US" sz="2400" dirty="0">
                <a:ea typeface="MS PGothic" charset="-128"/>
              </a:rPr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 dirty="0">
                <a:ea typeface="MS PGothic" charset="-128"/>
              </a:rPr>
              <a:t>Might need to search circular queue several times</a:t>
            </a:r>
          </a:p>
        </p:txBody>
      </p:sp>
    </p:spTree>
    <p:extLst>
      <p:ext uri="{BB962C8B-B14F-4D97-AF65-F5344CB8AC3E}">
        <p14:creationId xmlns:p14="http://schemas.microsoft.com/office/powerpoint/2010/main" val="1031443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Counting Algorithms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0812" cy="4551363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Keep a counter of the number of references that have been made to each page</a:t>
            </a:r>
          </a:p>
          <a:p>
            <a:pPr lvl="1"/>
            <a:r>
              <a:rPr lang="en-US" altLang="en-US" dirty="0">
                <a:ea typeface="MS PGothic" charset="-128"/>
              </a:rPr>
              <a:t>Not common</a:t>
            </a:r>
            <a:br>
              <a:rPr lang="en-US" altLang="en-US" dirty="0">
                <a:ea typeface="MS PGothic" charset="-128"/>
              </a:rPr>
            </a:br>
            <a:endParaRPr lang="en-US" altLang="en-US" dirty="0">
              <a:ea typeface="MS PGothic" charset="-128"/>
            </a:endParaRPr>
          </a:p>
          <a:p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Lease Frequently Used </a:t>
            </a:r>
            <a:r>
              <a:rPr lang="en-US" altLang="en-US" dirty="0">
                <a:ea typeface="MS PGothic" charset="-128"/>
              </a:rPr>
              <a:t>(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LFU</a:t>
            </a:r>
            <a:r>
              <a:rPr lang="en-US" altLang="en-US" dirty="0">
                <a:ea typeface="MS PGothic" charset="-128"/>
              </a:rPr>
              <a:t>)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 Algorithm</a:t>
            </a:r>
            <a:r>
              <a:rPr lang="en-US" altLang="en-US" dirty="0">
                <a:ea typeface="MS PGothic" charset="-128"/>
              </a:rPr>
              <a:t>:  replaces page with smallest count</a:t>
            </a:r>
            <a:br>
              <a:rPr lang="en-US" altLang="en-US" dirty="0">
                <a:ea typeface="MS PGothic" charset="-128"/>
              </a:rPr>
            </a:br>
            <a:endParaRPr lang="en-US" altLang="en-US" dirty="0">
              <a:ea typeface="MS PGothic" charset="-128"/>
            </a:endParaRPr>
          </a:p>
          <a:p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Most Frequently Used </a:t>
            </a:r>
            <a:r>
              <a:rPr lang="en-US" altLang="en-US" dirty="0">
                <a:ea typeface="MS PGothic" charset="-128"/>
              </a:rPr>
              <a:t>(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MFU</a:t>
            </a:r>
            <a:r>
              <a:rPr lang="en-US" altLang="en-US" dirty="0">
                <a:ea typeface="MS PGothic" charset="-128"/>
              </a:rPr>
              <a:t>)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 Algorithm</a:t>
            </a:r>
            <a:r>
              <a:rPr lang="en-US" altLang="en-US" dirty="0">
                <a:ea typeface="MS PGothic" charset="-128"/>
              </a:rPr>
              <a:t>: based on the argument that the page with the smallest count was probably just brought in and has yet to be used</a:t>
            </a:r>
          </a:p>
        </p:txBody>
      </p:sp>
    </p:spTree>
    <p:extLst>
      <p:ext uri="{BB962C8B-B14F-4D97-AF65-F5344CB8AC3E}">
        <p14:creationId xmlns:p14="http://schemas.microsoft.com/office/powerpoint/2010/main" val="6562398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76262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Page-Buffering Algorithms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76200" y="609600"/>
            <a:ext cx="9067800" cy="5078412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Keep a pool of free frames, always</a:t>
            </a:r>
          </a:p>
          <a:p>
            <a:pPr lvl="1"/>
            <a:r>
              <a:rPr lang="en-US" altLang="en-US" dirty="0">
                <a:ea typeface="MS PGothic" charset="-128"/>
              </a:rPr>
              <a:t>Then frame available when needed, not found at fault time</a:t>
            </a:r>
          </a:p>
          <a:p>
            <a:pPr lvl="1"/>
            <a:r>
              <a:rPr lang="en-US" altLang="en-US" dirty="0">
                <a:ea typeface="MS PGothic" charset="-128"/>
              </a:rPr>
              <a:t>Read page into free frame and select victim to evict and add to free pool</a:t>
            </a:r>
          </a:p>
          <a:p>
            <a:pPr lvl="1"/>
            <a:r>
              <a:rPr lang="en-US" altLang="en-US" dirty="0">
                <a:ea typeface="MS PGothic" charset="-128"/>
              </a:rPr>
              <a:t>When convenient, evict victim</a:t>
            </a:r>
          </a:p>
          <a:p>
            <a:r>
              <a:rPr lang="en-US" altLang="en-US" dirty="0">
                <a:ea typeface="MS PGothic" charset="-128"/>
              </a:rPr>
              <a:t>Possibly, keep list of modified pages</a:t>
            </a:r>
          </a:p>
          <a:p>
            <a:pPr lvl="1"/>
            <a:r>
              <a:rPr lang="en-US" altLang="en-US" dirty="0">
                <a:ea typeface="MS PGothic" charset="-128"/>
              </a:rPr>
              <a:t>When backing store otherwise idle, write pages there and set to non-dirty</a:t>
            </a:r>
          </a:p>
          <a:p>
            <a:r>
              <a:rPr lang="en-US" altLang="en-US" dirty="0">
                <a:ea typeface="MS PGothic" charset="-128"/>
              </a:rPr>
              <a:t>Possibly, keep free frame contents intact and note what is in them</a:t>
            </a:r>
          </a:p>
          <a:p>
            <a:pPr lvl="1"/>
            <a:r>
              <a:rPr lang="en-US" altLang="en-US" dirty="0">
                <a:ea typeface="MS PGothic" charset="-128"/>
              </a:rPr>
              <a:t>If referenced again before reused, no need to load contents again from disk</a:t>
            </a:r>
          </a:p>
          <a:p>
            <a:pPr lvl="1"/>
            <a:r>
              <a:rPr lang="en-US" altLang="en-US" dirty="0">
                <a:ea typeface="MS PGothic" charset="-128"/>
              </a:rPr>
              <a:t>Generally useful to reduce penalty if wrong victim frame selected  </a:t>
            </a:r>
          </a:p>
        </p:txBody>
      </p:sp>
    </p:spTree>
    <p:extLst>
      <p:ext uri="{BB962C8B-B14F-4D97-AF65-F5344CB8AC3E}">
        <p14:creationId xmlns:p14="http://schemas.microsoft.com/office/powerpoint/2010/main" val="6616416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831850" y="138113"/>
            <a:ext cx="7867650" cy="576262"/>
          </a:xfrm>
        </p:spPr>
        <p:txBody>
          <a:bodyPr/>
          <a:lstStyle/>
          <a:p>
            <a:r>
              <a:rPr lang="en-US" altLang="en-US" sz="2800">
                <a:ea typeface="MS PGothic" charset="-128"/>
              </a:rPr>
              <a:t>Applications and Page Replacement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292100" y="1031875"/>
            <a:ext cx="8470900" cy="4530725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All of these algorithms have OS guessing about future page access</a:t>
            </a:r>
          </a:p>
          <a:p>
            <a:r>
              <a:rPr lang="en-US" altLang="en-US" dirty="0">
                <a:ea typeface="MS PGothic" charset="-128"/>
              </a:rPr>
              <a:t>Some applications have better knowledge – i.e. databases</a:t>
            </a:r>
          </a:p>
          <a:p>
            <a:r>
              <a:rPr lang="en-US" altLang="en-US" dirty="0">
                <a:ea typeface="MS PGothic" charset="-128"/>
              </a:rPr>
              <a:t>Memory intensive applications can cause double buffering</a:t>
            </a:r>
          </a:p>
          <a:p>
            <a:pPr lvl="1"/>
            <a:r>
              <a:rPr lang="en-US" altLang="en-US" dirty="0">
                <a:ea typeface="MS PGothic" charset="-128"/>
              </a:rPr>
              <a:t>OS keeps copy of page in memory as I/O buffer</a:t>
            </a:r>
          </a:p>
          <a:p>
            <a:pPr lvl="1"/>
            <a:r>
              <a:rPr lang="en-US" altLang="en-US" dirty="0">
                <a:ea typeface="MS PGothic" charset="-128"/>
              </a:rPr>
              <a:t>Application keeps page in memory for its own work</a:t>
            </a:r>
          </a:p>
          <a:p>
            <a:r>
              <a:rPr lang="en-US" altLang="en-US" dirty="0">
                <a:ea typeface="MS PGothic" charset="-128"/>
              </a:rPr>
              <a:t>Operating system can given direct access to the disk, getting out of the way of the applications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Raw</a:t>
            </a:r>
            <a:r>
              <a:rPr lang="en-US" altLang="en-US" b="1" dirty="0">
                <a:ea typeface="MS PGothic" charset="-128"/>
              </a:rPr>
              <a:t> 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disk</a:t>
            </a:r>
            <a:r>
              <a:rPr lang="en-US" altLang="en-US" b="1" dirty="0">
                <a:ea typeface="MS PGothic" charset="-128"/>
              </a:rPr>
              <a:t> </a:t>
            </a:r>
            <a:r>
              <a:rPr lang="en-US" altLang="en-US" dirty="0">
                <a:ea typeface="MS PGothic" charset="-128"/>
              </a:rPr>
              <a:t>mode</a:t>
            </a:r>
          </a:p>
          <a:p>
            <a:r>
              <a:rPr lang="en-US" altLang="en-US" dirty="0">
                <a:ea typeface="MS PGothic" charset="-128"/>
              </a:rPr>
              <a:t>Bypasses buffering, locking, </a:t>
            </a:r>
            <a:r>
              <a:rPr lang="en-US" altLang="en-US" dirty="0" err="1">
                <a:ea typeface="MS PGothic" charset="-128"/>
              </a:rPr>
              <a:t>etc</a:t>
            </a:r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03663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163513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Allocation of Frames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03300"/>
            <a:ext cx="8458200" cy="4483100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Each process needs </a:t>
            </a:r>
            <a:r>
              <a:rPr lang="en-US" altLang="en-US" b="1" i="1">
                <a:ea typeface="MS PGothic" charset="-128"/>
              </a:rPr>
              <a:t>minimum</a:t>
            </a:r>
            <a:r>
              <a:rPr lang="en-US" altLang="en-US">
                <a:ea typeface="MS PGothic" charset="-128"/>
              </a:rPr>
              <a:t> number of frames</a:t>
            </a:r>
          </a:p>
          <a:p>
            <a:r>
              <a:rPr lang="en-US" altLang="en-US" dirty="0">
                <a:ea typeface="MS PGothic" charset="-128"/>
              </a:rPr>
              <a:t>Example:  IBM 370 – 6 pages to handle SS MOVE instruction:</a:t>
            </a:r>
          </a:p>
          <a:p>
            <a:pPr lvl="1"/>
            <a:r>
              <a:rPr lang="en-US" altLang="en-US" dirty="0">
                <a:ea typeface="MS PGothic" charset="-128"/>
              </a:rPr>
              <a:t>instruction is 6 bytes, might span 2 pages</a:t>
            </a:r>
          </a:p>
          <a:p>
            <a:pPr lvl="1"/>
            <a:r>
              <a:rPr lang="en-US" altLang="en-US" dirty="0">
                <a:ea typeface="MS PGothic" charset="-128"/>
              </a:rPr>
              <a:t>2 pages to handle </a:t>
            </a:r>
            <a:r>
              <a:rPr lang="en-US" altLang="en-US" i="1" dirty="0">
                <a:ea typeface="MS PGothic" charset="-128"/>
              </a:rPr>
              <a:t>from</a:t>
            </a:r>
          </a:p>
          <a:p>
            <a:pPr lvl="1"/>
            <a:r>
              <a:rPr lang="en-US" altLang="en-US" dirty="0">
                <a:ea typeface="MS PGothic" charset="-128"/>
              </a:rPr>
              <a:t>2 pages to handle </a:t>
            </a:r>
            <a:r>
              <a:rPr lang="en-US" altLang="en-US" i="1" dirty="0">
                <a:ea typeface="MS PGothic" charset="-128"/>
              </a:rPr>
              <a:t>to</a:t>
            </a:r>
          </a:p>
          <a:p>
            <a:r>
              <a:rPr lang="en-US" altLang="en-US" b="1" i="1" dirty="0">
                <a:ea typeface="MS PGothic" charset="-128"/>
              </a:rPr>
              <a:t>Maximum</a:t>
            </a:r>
            <a:r>
              <a:rPr lang="en-US" altLang="en-US" i="1" dirty="0">
                <a:ea typeface="MS PGothic" charset="-128"/>
              </a:rPr>
              <a:t> </a:t>
            </a:r>
            <a:r>
              <a:rPr lang="en-US" altLang="en-US" dirty="0">
                <a:ea typeface="MS PGothic" charset="-128"/>
              </a:rPr>
              <a:t>of course is total frames in the system</a:t>
            </a:r>
          </a:p>
          <a:p>
            <a:r>
              <a:rPr lang="en-US" altLang="en-US" dirty="0">
                <a:ea typeface="MS PGothic" charset="-128"/>
              </a:rPr>
              <a:t>Two major allocation schemes</a:t>
            </a:r>
          </a:p>
          <a:p>
            <a:pPr lvl="1"/>
            <a:r>
              <a:rPr lang="en-US" altLang="en-US" dirty="0">
                <a:ea typeface="MS PGothic" charset="-128"/>
              </a:rPr>
              <a:t>fixed allocation</a:t>
            </a:r>
          </a:p>
          <a:p>
            <a:pPr lvl="1"/>
            <a:r>
              <a:rPr lang="en-US" altLang="en-US" dirty="0">
                <a:ea typeface="MS PGothic" charset="-128"/>
              </a:rPr>
              <a:t>priority allocation</a:t>
            </a:r>
          </a:p>
          <a:p>
            <a:r>
              <a:rPr lang="en-US" altLang="en-US" dirty="0">
                <a:ea typeface="MS PGothic" charset="-128"/>
              </a:rPr>
              <a:t>Many variations</a:t>
            </a:r>
          </a:p>
        </p:txBody>
      </p:sp>
    </p:spTree>
    <p:extLst>
      <p:ext uri="{BB962C8B-B14F-4D97-AF65-F5344CB8AC3E}">
        <p14:creationId xmlns:p14="http://schemas.microsoft.com/office/powerpoint/2010/main" val="2291870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88913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Fixed Allocation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82675"/>
            <a:ext cx="7226300" cy="4645025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Equal allocation – For example, if there are 100 frames (after allocating frames for the OS) and 5 processes, give each process 20 frames</a:t>
            </a:r>
          </a:p>
          <a:p>
            <a:pPr lvl="1"/>
            <a:r>
              <a:rPr lang="en-US" altLang="en-US" dirty="0">
                <a:ea typeface="MS PGothic" charset="-128"/>
              </a:rPr>
              <a:t>Keep some as free frame buffer pool</a:t>
            </a:r>
          </a:p>
          <a:p>
            <a:endParaRPr lang="en-US" altLang="en-US" sz="800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Proportional allocation – Allocate according to the size of process</a:t>
            </a:r>
          </a:p>
          <a:p>
            <a:pPr lvl="1"/>
            <a:r>
              <a:rPr lang="en-US" altLang="en-US" dirty="0">
                <a:ea typeface="MS PGothic" charset="-128"/>
              </a:rPr>
              <a:t>Dynamic as degree of multiprogramming, process sizes change</a:t>
            </a:r>
          </a:p>
          <a:p>
            <a:pPr lvl="1">
              <a:buFont typeface="Monotype Sorts" charset="2"/>
              <a:buNone/>
            </a:pPr>
            <a:endParaRPr lang="en-US" altLang="en-US" dirty="0">
              <a:ea typeface="MS PGothic" charset="-128"/>
            </a:endParaRPr>
          </a:p>
          <a:p>
            <a:pPr lvl="1"/>
            <a:endParaRPr lang="en-US" altLang="en-US" dirty="0">
              <a:ea typeface="MS PGothic" charset="-128"/>
            </a:endParaRPr>
          </a:p>
          <a:p>
            <a:pPr lvl="1"/>
            <a:endParaRPr lang="en-US" altLang="en-US" dirty="0">
              <a:ea typeface="MS PGothic" charset="-128"/>
            </a:endParaRPr>
          </a:p>
          <a:p>
            <a:pPr lvl="1"/>
            <a:endParaRPr lang="en-US" altLang="en-US" dirty="0">
              <a:ea typeface="MS PGothic" charset="-128"/>
            </a:endParaRPr>
          </a:p>
          <a:p>
            <a:pPr lvl="1"/>
            <a:endParaRPr lang="en-US" altLang="en-US" dirty="0">
              <a:ea typeface="MS PGothic" charset="-128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01604"/>
              </p:ext>
            </p:extLst>
          </p:nvPr>
        </p:nvGraphicFramePr>
        <p:xfrm>
          <a:off x="1420813" y="5188744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1" name="Equation" r:id="rId4" imgW="2857500" imgH="1612900" progId="Equation.3">
                  <p:embed/>
                </p:oleObj>
              </mc:Choice>
              <mc:Fallback>
                <p:oleObj name="Equation" r:id="rId4" imgW="2857500" imgH="161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5188744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/>
          <p:cNvSpPr>
            <a:spLocks noChangeShapeType="1"/>
          </p:cNvSpPr>
          <p:nvPr/>
        </p:nvSpPr>
        <p:spPr bwMode="auto">
          <a:xfrm>
            <a:off x="1143000" y="5334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/>
          <p:cNvSpPr>
            <a:spLocks noChangeShapeType="1"/>
          </p:cNvSpPr>
          <p:nvPr/>
        </p:nvSpPr>
        <p:spPr bwMode="auto">
          <a:xfrm>
            <a:off x="1150014" y="566675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1122705" y="6553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/>
          <p:cNvSpPr>
            <a:spLocks noChangeShapeType="1"/>
          </p:cNvSpPr>
          <p:nvPr/>
        </p:nvSpPr>
        <p:spPr bwMode="auto">
          <a:xfrm>
            <a:off x="1173565" y="5994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88149"/>
              </p:ext>
            </p:extLst>
          </p:nvPr>
        </p:nvGraphicFramePr>
        <p:xfrm>
          <a:off x="6621463" y="4765675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2" name="Equation" r:id="rId6" imgW="1143000" imgH="1460500" progId="Equation.3">
                  <p:embed/>
                </p:oleObj>
              </mc:Choice>
              <mc:Fallback>
                <p:oleObj name="Equation" r:id="rId6" imgW="11430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1463" y="4765675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47335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66775" y="201613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Priority Allocation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0750" y="1190625"/>
            <a:ext cx="6851650" cy="4394200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Use a proportional allocation scheme using priorities rather than size</a:t>
            </a:r>
            <a:br>
              <a:rPr lang="en-US" altLang="en-US">
                <a:ea typeface="MS PGothic" charset="-128"/>
              </a:rPr>
            </a:br>
            <a:endParaRPr lang="en-US" altLang="en-US">
              <a:ea typeface="MS PGothic" charset="-128"/>
            </a:endParaRPr>
          </a:p>
          <a:p>
            <a:r>
              <a:rPr lang="en-US" altLang="en-US">
                <a:ea typeface="MS PGothic" charset="-128"/>
              </a:rPr>
              <a:t>If process </a:t>
            </a:r>
            <a:r>
              <a:rPr lang="en-US" altLang="en-US" b="1" i="1">
                <a:ea typeface="MS PGothic" charset="-128"/>
              </a:rPr>
              <a:t>P</a:t>
            </a:r>
            <a:r>
              <a:rPr lang="en-US" altLang="en-US" b="1" i="1" baseline="-25000">
                <a:ea typeface="MS PGothic" charset="-128"/>
              </a:rPr>
              <a:t>i</a:t>
            </a:r>
            <a:r>
              <a:rPr lang="en-US" altLang="en-US">
                <a:ea typeface="MS PGothic" charset="-128"/>
              </a:rPr>
              <a:t> generates a page fault,</a:t>
            </a:r>
          </a:p>
          <a:p>
            <a:pPr lvl="1"/>
            <a:r>
              <a:rPr lang="en-US" altLang="en-US">
                <a:ea typeface="MS PGothic" charset="-128"/>
              </a:rPr>
              <a:t>select for replacement one of its frames</a:t>
            </a:r>
          </a:p>
          <a:p>
            <a:pPr lvl="1"/>
            <a:r>
              <a:rPr lang="en-US" altLang="en-US">
                <a:ea typeface="MS PGothic" charset="-128"/>
              </a:rPr>
              <a:t>select for replacement a frame from a process with lower priority number</a:t>
            </a:r>
          </a:p>
        </p:txBody>
      </p:sp>
    </p:spTree>
    <p:extLst>
      <p:ext uri="{BB962C8B-B14F-4D97-AF65-F5344CB8AC3E}">
        <p14:creationId xmlns:p14="http://schemas.microsoft.com/office/powerpoint/2010/main" val="11532853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0288" y="188913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Global vs. Local Allocation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116013"/>
            <a:ext cx="6958012" cy="4470400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Global replacement</a:t>
            </a:r>
            <a:r>
              <a:rPr lang="en-US" altLang="en-US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dirty="0">
                <a:ea typeface="MS PGothic" charset="-128"/>
              </a:rPr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 dirty="0">
                <a:ea typeface="MS PGothic" charset="-128"/>
              </a:rPr>
              <a:t>But then process execution time can vary greatly</a:t>
            </a:r>
          </a:p>
          <a:p>
            <a:pPr lvl="1"/>
            <a:r>
              <a:rPr lang="en-US" altLang="en-US" dirty="0">
                <a:ea typeface="MS PGothic" charset="-128"/>
              </a:rPr>
              <a:t>But greater throughput so more common</a:t>
            </a:r>
          </a:p>
          <a:p>
            <a:pPr>
              <a:buFont typeface="Monotype Sorts" charset="2"/>
              <a:buNone/>
            </a:pPr>
            <a:endParaRPr lang="en-US" altLang="en-US" dirty="0">
              <a:ea typeface="MS PGothic" charset="-128"/>
            </a:endParaRPr>
          </a:p>
          <a:p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Local replacement</a:t>
            </a:r>
            <a:r>
              <a:rPr lang="en-US" altLang="en-US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dirty="0">
                <a:ea typeface="MS PGothic" charset="-128"/>
              </a:rPr>
              <a:t>– each process selects from only its own set of allocated frames</a:t>
            </a:r>
          </a:p>
          <a:p>
            <a:pPr lvl="1"/>
            <a:r>
              <a:rPr lang="en-US" altLang="en-US" dirty="0">
                <a:ea typeface="MS PGothic" charset="-128"/>
              </a:rPr>
              <a:t>More consistent per-process performance</a:t>
            </a:r>
          </a:p>
          <a:p>
            <a:pPr lvl="1"/>
            <a:r>
              <a:rPr lang="en-US" altLang="en-US" dirty="0">
                <a:ea typeface="MS PGothic" charset="-128"/>
              </a:rPr>
              <a:t>But possibly underutilized memory</a:t>
            </a:r>
          </a:p>
          <a:p>
            <a:pPr lvl="1"/>
            <a:endParaRPr lang="en-US" altLang="en-US" dirty="0">
              <a:ea typeface="MS PGothic" charset="-128"/>
            </a:endParaRPr>
          </a:p>
          <a:p>
            <a:pPr lvl="1"/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31894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495300" y="201613"/>
            <a:ext cx="8229600" cy="576262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Non-Uniform Memory Access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304800" y="955675"/>
            <a:ext cx="8763000" cy="4530725"/>
          </a:xfrm>
        </p:spPr>
        <p:txBody>
          <a:bodyPr/>
          <a:lstStyle/>
          <a:p>
            <a:r>
              <a:rPr lang="en-US" altLang="en-US" sz="2400" dirty="0">
                <a:ea typeface="MS PGothic" charset="-128"/>
              </a:rPr>
              <a:t>So far all memory accessed equally</a:t>
            </a:r>
          </a:p>
          <a:p>
            <a:r>
              <a:rPr lang="en-US" altLang="en-US" sz="2400" dirty="0">
                <a:ea typeface="MS PGothic" charset="-128"/>
              </a:rPr>
              <a:t>Many systems are </a:t>
            </a:r>
            <a:r>
              <a:rPr lang="en-US" altLang="en-US" sz="2400" b="1" dirty="0">
                <a:solidFill>
                  <a:srgbClr val="3366FF"/>
                </a:solidFill>
                <a:ea typeface="MS PGothic" charset="-128"/>
              </a:rPr>
              <a:t>NUMA</a:t>
            </a:r>
            <a:r>
              <a:rPr lang="en-US" altLang="en-US" sz="2400" dirty="0">
                <a:ea typeface="MS PGothic" charset="-128"/>
              </a:rPr>
              <a:t> – speed of access to memory varies</a:t>
            </a:r>
          </a:p>
          <a:p>
            <a:pPr lvl="1"/>
            <a:r>
              <a:rPr lang="en-US" altLang="en-US" dirty="0">
                <a:ea typeface="MS PGothic" charset="-128"/>
              </a:rPr>
              <a:t>Consider system boards containing CPUs and memory, interconnected over a system bus</a:t>
            </a:r>
          </a:p>
          <a:p>
            <a:r>
              <a:rPr lang="en-US" altLang="en-US" sz="2400" dirty="0">
                <a:ea typeface="MS PGothic" charset="-128"/>
              </a:rPr>
              <a:t>Optimal performance comes from allocating memory </a:t>
            </a:r>
            <a:r>
              <a:rPr lang="ja-JP" altLang="en-US" sz="2400" dirty="0">
                <a:ea typeface="MS PGothic" charset="-128"/>
              </a:rPr>
              <a:t>“</a:t>
            </a:r>
            <a:r>
              <a:rPr lang="en-US" altLang="ja-JP" sz="2400" dirty="0">
                <a:ea typeface="MS PGothic" charset="-128"/>
              </a:rPr>
              <a:t>close to</a:t>
            </a:r>
            <a:r>
              <a:rPr lang="ja-JP" altLang="en-US" sz="2400" dirty="0">
                <a:ea typeface="MS PGothic" charset="-128"/>
              </a:rPr>
              <a:t>”</a:t>
            </a:r>
            <a:r>
              <a:rPr lang="en-US" altLang="ja-JP" sz="2400" dirty="0">
                <a:ea typeface="MS PGothic" charset="-128"/>
              </a:rPr>
              <a:t> the CPU on which the thread is scheduled</a:t>
            </a:r>
          </a:p>
          <a:p>
            <a:pPr lvl="1"/>
            <a:r>
              <a:rPr lang="en-US" altLang="en-US" dirty="0">
                <a:ea typeface="MS PGothic" charset="-128"/>
              </a:rPr>
              <a:t>And modifying the scheduler to schedule the thread on the same system board when possible</a:t>
            </a:r>
          </a:p>
          <a:p>
            <a:pPr lvl="1"/>
            <a:r>
              <a:rPr lang="en-US" altLang="en-US" dirty="0">
                <a:ea typeface="MS PGothic" charset="-128"/>
              </a:rPr>
              <a:t>Solved by Solaris by creating </a:t>
            </a:r>
            <a:r>
              <a:rPr lang="en-US" altLang="en-US" b="1" dirty="0" err="1">
                <a:solidFill>
                  <a:srgbClr val="3366FF"/>
                </a:solidFill>
                <a:ea typeface="MS PGothic" charset="-128"/>
              </a:rPr>
              <a:t>lgroups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 </a:t>
            </a:r>
          </a:p>
          <a:p>
            <a:pPr lvl="2"/>
            <a:r>
              <a:rPr lang="en-US" altLang="en-US" sz="2400" dirty="0">
                <a:ea typeface="MS PGothic" charset="-128"/>
              </a:rPr>
              <a:t>Structure to track CPU / Memory low latency groups</a:t>
            </a:r>
          </a:p>
          <a:p>
            <a:pPr lvl="2"/>
            <a:r>
              <a:rPr lang="en-US" altLang="en-US" sz="2400" dirty="0">
                <a:ea typeface="MS PGothic" charset="-128"/>
              </a:rPr>
              <a:t>Used my schedule and pager</a:t>
            </a:r>
          </a:p>
          <a:p>
            <a:pPr lvl="2"/>
            <a:r>
              <a:rPr lang="en-US" altLang="en-US" sz="2400" dirty="0">
                <a:ea typeface="MS PGothic" charset="-128"/>
              </a:rPr>
              <a:t>When possible schedule all threads of a process and allocate all memory for that process within the </a:t>
            </a:r>
            <a:r>
              <a:rPr lang="en-US" altLang="en-US" sz="2400" dirty="0" err="1">
                <a:ea typeface="MS PGothic" charset="-128"/>
              </a:rPr>
              <a:t>lgroup</a:t>
            </a:r>
            <a:endParaRPr lang="en-US" altLang="en-US" sz="2400" dirty="0">
              <a:ea typeface="MS PGothic" charset="-128"/>
            </a:endParaRPr>
          </a:p>
          <a:p>
            <a:endParaRPr lang="en-US" altLang="en-US" sz="24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45280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Thrashing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131888"/>
            <a:ext cx="7353300" cy="4483100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If a process does not have </a:t>
            </a:r>
            <a:r>
              <a:rPr lang="ja-JP" altLang="en-US">
                <a:ea typeface="MS PGothic" charset="-128"/>
              </a:rPr>
              <a:t>“</a:t>
            </a:r>
            <a:r>
              <a:rPr lang="en-US" altLang="ja-JP">
                <a:ea typeface="MS PGothic" charset="-128"/>
              </a:rPr>
              <a:t>enough</a:t>
            </a:r>
            <a:r>
              <a:rPr lang="ja-JP" altLang="en-US">
                <a:ea typeface="MS PGothic" charset="-128"/>
              </a:rPr>
              <a:t>”</a:t>
            </a:r>
            <a:r>
              <a:rPr lang="en-US" altLang="ja-JP">
                <a:ea typeface="MS PGothic" charset="-128"/>
              </a:rPr>
              <a:t> pages, the page-fault rate is very high</a:t>
            </a:r>
          </a:p>
          <a:p>
            <a:pPr lvl="1"/>
            <a:r>
              <a:rPr lang="en-US" altLang="en-US">
                <a:ea typeface="MS PGothic" charset="-128"/>
              </a:rPr>
              <a:t>Page fault to get page</a:t>
            </a:r>
          </a:p>
          <a:p>
            <a:pPr lvl="1"/>
            <a:r>
              <a:rPr lang="en-US" altLang="en-US">
                <a:ea typeface="MS PGothic" charset="-128"/>
              </a:rPr>
              <a:t>Replace existing frame</a:t>
            </a:r>
          </a:p>
          <a:p>
            <a:pPr lvl="1"/>
            <a:r>
              <a:rPr lang="en-US" altLang="en-US">
                <a:ea typeface="MS PGothic" charset="-128"/>
              </a:rPr>
              <a:t>But quickly need replaced frame back</a:t>
            </a:r>
          </a:p>
          <a:p>
            <a:pPr lvl="1"/>
            <a:r>
              <a:rPr lang="en-US" altLang="en-US">
                <a:ea typeface="MS PGothic" charset="-128"/>
              </a:rPr>
              <a:t>This leads to:</a:t>
            </a:r>
          </a:p>
          <a:p>
            <a:pPr lvl="2"/>
            <a:r>
              <a:rPr lang="en-US" altLang="en-US">
                <a:ea typeface="MS PGothic" charset="-128"/>
              </a:rPr>
              <a:t>Low CPU utilization</a:t>
            </a:r>
          </a:p>
          <a:p>
            <a:pPr lvl="2"/>
            <a:r>
              <a:rPr lang="en-US" altLang="en-US">
                <a:ea typeface="MS PGothic" charset="-128"/>
              </a:rPr>
              <a:t>Operating system thinking that it needs to increase the degree of multiprogramming</a:t>
            </a:r>
          </a:p>
          <a:p>
            <a:pPr lvl="2"/>
            <a:r>
              <a:rPr lang="en-US" altLang="en-US">
                <a:ea typeface="MS PGothic" charset="-128"/>
              </a:rPr>
              <a:t>Another process added to the system</a:t>
            </a:r>
            <a:br>
              <a:rPr lang="en-US" altLang="en-US">
                <a:ea typeface="MS PGothic" charset="-128"/>
              </a:rPr>
            </a:br>
            <a:endParaRPr lang="en-US" altLang="en-US">
              <a:ea typeface="MS PGothic" charset="-128"/>
            </a:endParaRPr>
          </a:p>
          <a:p>
            <a:r>
              <a:rPr lang="en-US" altLang="en-US" b="1">
                <a:solidFill>
                  <a:srgbClr val="3366FF"/>
                </a:solidFill>
                <a:ea typeface="MS PGothic" charset="-128"/>
              </a:rPr>
              <a:t>Thrashing</a:t>
            </a:r>
            <a:r>
              <a:rPr lang="en-US" altLang="en-US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>
                <a:ea typeface="MS PGothic" charset="-128"/>
                <a:sym typeface="Symbol" charset="2"/>
              </a:rPr>
              <a:t> a process is busy swapping pages in and out</a:t>
            </a:r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5438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944563" y="163513"/>
            <a:ext cx="6923087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Thrashing (Cont.)</a:t>
            </a:r>
            <a:endParaRPr lang="en-US" altLang="en-US" sz="2400">
              <a:ea typeface="MS PGothic" charset="-128"/>
            </a:endParaRPr>
          </a:p>
        </p:txBody>
      </p:sp>
      <p:pic>
        <p:nvPicPr>
          <p:cNvPr id="53251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206500"/>
            <a:ext cx="6678613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72119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2063" y="188913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Demand Paging and Thrashing </a:t>
            </a:r>
            <a:endParaRPr lang="en-US" altLang="en-US" sz="2400">
              <a:ea typeface="MS PGothic" charset="-128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13" y="1084263"/>
            <a:ext cx="7100887" cy="3001962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Why does demand paging work?</a:t>
            </a:r>
            <a:br>
              <a:rPr lang="en-US" altLang="en-US">
                <a:ea typeface="MS PGothic" charset="-128"/>
              </a:rPr>
            </a:br>
            <a:r>
              <a:rPr lang="en-US" altLang="en-US" b="1">
                <a:solidFill>
                  <a:srgbClr val="3366FF"/>
                </a:solidFill>
                <a:ea typeface="MS PGothic" charset="-128"/>
              </a:rPr>
              <a:t>Locality model</a:t>
            </a:r>
          </a:p>
          <a:p>
            <a:pPr lvl="1"/>
            <a:r>
              <a:rPr lang="en-US" altLang="en-US">
                <a:ea typeface="MS PGothic" charset="-128"/>
              </a:rPr>
              <a:t>Process migrates from one locality to another</a:t>
            </a:r>
          </a:p>
          <a:p>
            <a:pPr lvl="1"/>
            <a:r>
              <a:rPr lang="en-US" altLang="en-US">
                <a:ea typeface="MS PGothic" charset="-128"/>
              </a:rPr>
              <a:t>Localities may overlap</a:t>
            </a:r>
          </a:p>
          <a:p>
            <a:pPr lvl="1">
              <a:buFont typeface="Monotype Sorts" charset="2"/>
              <a:buNone/>
            </a:pPr>
            <a:endParaRPr lang="en-US" altLang="en-US">
              <a:ea typeface="MS PGothic" charset="-128"/>
            </a:endParaRPr>
          </a:p>
          <a:p>
            <a:r>
              <a:rPr lang="en-US" altLang="en-US">
                <a:ea typeface="MS PGothic" charset="-128"/>
              </a:rPr>
              <a:t>Why does thrashing occur?</a:t>
            </a:r>
            <a:br>
              <a:rPr lang="en-US" altLang="en-US">
                <a:ea typeface="MS PGothic" charset="-128"/>
              </a:rPr>
            </a:br>
            <a:r>
              <a:rPr lang="en-US" altLang="en-US">
                <a:ea typeface="MS PGothic" charset="-128"/>
                <a:sym typeface="Symbol" charset="2"/>
              </a:rPr>
              <a:t> size of locality &gt; total memory size</a:t>
            </a:r>
          </a:p>
          <a:p>
            <a:pPr lvl="1"/>
            <a:r>
              <a:rPr lang="en-US" altLang="en-US">
                <a:ea typeface="MS PGothic" charset="-128"/>
                <a:sym typeface="Symbol" charset="2"/>
              </a:rPr>
              <a:t>Limit effects by using local or priority page replacement</a:t>
            </a:r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33549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Working-Set Model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609600"/>
            <a:ext cx="8083550" cy="4881562"/>
          </a:xfrm>
        </p:spPr>
        <p:txBody>
          <a:bodyPr/>
          <a:lstStyle/>
          <a:p>
            <a:r>
              <a:rPr lang="en-US" altLang="en-US" sz="2000" dirty="0">
                <a:ea typeface="MS PGothic" charset="-128"/>
                <a:sym typeface="Symbol" charset="2"/>
              </a:rPr>
              <a:t>  working-set window  a fixed number of page references </a:t>
            </a:r>
            <a:br>
              <a:rPr lang="en-US" altLang="en-US" sz="2000" dirty="0">
                <a:ea typeface="MS PGothic" charset="-128"/>
                <a:sym typeface="Symbol" charset="2"/>
              </a:rPr>
            </a:br>
            <a:r>
              <a:rPr lang="en-US" altLang="en-US" sz="2000" dirty="0">
                <a:ea typeface="MS PGothic" charset="-128"/>
                <a:sym typeface="Symbol" charset="2"/>
              </a:rPr>
              <a:t>Example:  10,000 instructions</a:t>
            </a:r>
          </a:p>
          <a:p>
            <a:r>
              <a:rPr lang="en-US" altLang="en-US" sz="2000" i="1" dirty="0" err="1">
                <a:ea typeface="MS PGothic" charset="-128"/>
                <a:sym typeface="Symbol" charset="2"/>
              </a:rPr>
              <a:t>WSS</a:t>
            </a:r>
            <a:r>
              <a:rPr lang="en-US" altLang="en-US" sz="2000" i="1" baseline="-25000" dirty="0" err="1">
                <a:ea typeface="MS PGothic" charset="-128"/>
                <a:sym typeface="Symbol" charset="2"/>
              </a:rPr>
              <a:t>i</a:t>
            </a:r>
            <a:r>
              <a:rPr lang="en-US" altLang="en-US" sz="2000" dirty="0">
                <a:ea typeface="MS PGothic" charset="-128"/>
                <a:sym typeface="Symbol" charset="2"/>
              </a:rPr>
              <a:t> (working set of Process </a:t>
            </a:r>
            <a:r>
              <a:rPr lang="en-US" altLang="en-US" sz="2000" i="1" dirty="0">
                <a:ea typeface="MS PGothic" charset="-128"/>
                <a:sym typeface="Symbol" charset="2"/>
              </a:rPr>
              <a:t>P</a:t>
            </a:r>
            <a:r>
              <a:rPr lang="en-US" altLang="en-US" sz="2000" i="1" baseline="-25000" dirty="0">
                <a:ea typeface="MS PGothic" charset="-128"/>
                <a:sym typeface="Symbol" charset="2"/>
              </a:rPr>
              <a:t>i</a:t>
            </a:r>
            <a:r>
              <a:rPr lang="en-US" altLang="en-US" sz="2000" dirty="0">
                <a:ea typeface="MS PGothic" charset="-128"/>
                <a:sym typeface="Symbol" charset="2"/>
              </a:rPr>
              <a:t>) =</a:t>
            </a:r>
            <a:br>
              <a:rPr lang="en-US" altLang="en-US" sz="2000" dirty="0">
                <a:ea typeface="MS PGothic" charset="-128"/>
                <a:sym typeface="Symbol" charset="2"/>
              </a:rPr>
            </a:br>
            <a:r>
              <a:rPr lang="en-US" altLang="en-US" sz="2000" dirty="0">
                <a:ea typeface="MS PGothic" charset="-128"/>
                <a:sym typeface="Symbol" charset="2"/>
              </a:rPr>
              <a:t>total number of pages referenced in the most recent  (varies in time)</a:t>
            </a:r>
          </a:p>
          <a:p>
            <a:pPr lvl="1"/>
            <a:r>
              <a:rPr lang="en-US" altLang="en-US" sz="2000" dirty="0">
                <a:ea typeface="MS PGothic" charset="-128"/>
                <a:sym typeface="Symbol" charset="2"/>
              </a:rPr>
              <a:t>if  too small will not encompass entire locality</a:t>
            </a:r>
          </a:p>
          <a:p>
            <a:pPr lvl="1"/>
            <a:r>
              <a:rPr lang="en-US" altLang="en-US" sz="2000" dirty="0">
                <a:ea typeface="MS PGothic" charset="-128"/>
                <a:sym typeface="Symbol" charset="2"/>
              </a:rPr>
              <a:t>if  too large will encompass several localities</a:t>
            </a:r>
          </a:p>
          <a:p>
            <a:pPr lvl="1"/>
            <a:r>
              <a:rPr lang="en-US" altLang="en-US" sz="2000" dirty="0">
                <a:ea typeface="MS PGothic" charset="-128"/>
                <a:sym typeface="Symbol" charset="2"/>
              </a:rPr>
              <a:t>if  =   will encompass entire program</a:t>
            </a:r>
          </a:p>
          <a:p>
            <a:r>
              <a:rPr lang="en-US" altLang="en-US" sz="2000" i="1" dirty="0">
                <a:ea typeface="MS PGothic" charset="-128"/>
                <a:sym typeface="Symbol" charset="2"/>
              </a:rPr>
              <a:t>D</a:t>
            </a:r>
            <a:r>
              <a:rPr lang="en-US" altLang="en-US" sz="2000" dirty="0">
                <a:ea typeface="MS PGothic" charset="-128"/>
                <a:sym typeface="Symbol" charset="2"/>
              </a:rPr>
              <a:t> =  </a:t>
            </a:r>
            <a:r>
              <a:rPr lang="en-US" altLang="en-US" sz="2000" i="1" dirty="0" err="1">
                <a:ea typeface="MS PGothic" charset="-128"/>
                <a:sym typeface="Symbol" charset="2"/>
              </a:rPr>
              <a:t>WSS</a:t>
            </a:r>
            <a:r>
              <a:rPr lang="en-US" altLang="en-US" sz="2000" i="1" baseline="-25000" dirty="0" err="1">
                <a:ea typeface="MS PGothic" charset="-128"/>
                <a:sym typeface="Symbol" charset="2"/>
              </a:rPr>
              <a:t>i</a:t>
            </a:r>
            <a:r>
              <a:rPr lang="en-US" altLang="en-US" sz="2000" dirty="0">
                <a:ea typeface="MS PGothic" charset="-128"/>
                <a:sym typeface="Symbol" charset="2"/>
              </a:rPr>
              <a:t>  total demand frames </a:t>
            </a:r>
          </a:p>
          <a:p>
            <a:pPr lvl="1"/>
            <a:r>
              <a:rPr lang="en-US" altLang="en-US" sz="2000" dirty="0">
                <a:ea typeface="MS PGothic" charset="-128"/>
                <a:sym typeface="Symbol" charset="2"/>
              </a:rPr>
              <a:t>Approximation of locality</a:t>
            </a:r>
          </a:p>
          <a:p>
            <a:r>
              <a:rPr lang="en-US" altLang="en-US" sz="2000" dirty="0">
                <a:ea typeface="MS PGothic" charset="-128"/>
                <a:sym typeface="Symbol" charset="2"/>
              </a:rPr>
              <a:t>if </a:t>
            </a:r>
            <a:r>
              <a:rPr lang="en-US" altLang="en-US" sz="2000" i="1" dirty="0">
                <a:ea typeface="MS PGothic" charset="-128"/>
                <a:sym typeface="Symbol" charset="2"/>
              </a:rPr>
              <a:t>D</a:t>
            </a:r>
            <a:r>
              <a:rPr lang="en-US" altLang="en-US" sz="2000" dirty="0">
                <a:ea typeface="MS PGothic" charset="-128"/>
                <a:sym typeface="Symbol" charset="2"/>
              </a:rPr>
              <a:t> &gt; </a:t>
            </a:r>
            <a:r>
              <a:rPr lang="en-US" altLang="en-US" sz="2000" i="1" dirty="0">
                <a:ea typeface="MS PGothic" charset="-128"/>
                <a:sym typeface="Symbol" charset="2"/>
              </a:rPr>
              <a:t>m</a:t>
            </a:r>
            <a:r>
              <a:rPr lang="en-US" altLang="en-US" sz="2000" dirty="0">
                <a:ea typeface="MS PGothic" charset="-128"/>
                <a:sym typeface="Symbol" charset="2"/>
              </a:rPr>
              <a:t>  Thrashing</a:t>
            </a:r>
          </a:p>
          <a:p>
            <a:r>
              <a:rPr lang="en-US" altLang="en-US" sz="2000" dirty="0">
                <a:ea typeface="MS PGothic" charset="-128"/>
                <a:sym typeface="Symbol" charset="2"/>
              </a:rPr>
              <a:t>Policy if </a:t>
            </a:r>
            <a:r>
              <a:rPr lang="en-US" altLang="en-US" sz="2000" i="1" dirty="0">
                <a:ea typeface="MS PGothic" charset="-128"/>
                <a:sym typeface="Symbol" charset="2"/>
              </a:rPr>
              <a:t>D</a:t>
            </a:r>
            <a:r>
              <a:rPr lang="en-US" altLang="en-US" sz="2000" dirty="0">
                <a:ea typeface="MS PGothic" charset="-128"/>
                <a:sym typeface="Symbol" charset="2"/>
              </a:rPr>
              <a:t> &gt; m, then suspend or swap out one of the processes </a:t>
            </a:r>
          </a:p>
        </p:txBody>
      </p:sp>
      <p:pic>
        <p:nvPicPr>
          <p:cNvPr id="563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4800600"/>
            <a:ext cx="6707188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58220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163513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Keeping Track of the Working Set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19188"/>
            <a:ext cx="7743825" cy="4530725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Approximate with interval timer + a reference bit</a:t>
            </a:r>
          </a:p>
          <a:p>
            <a:r>
              <a:rPr lang="en-US" altLang="en-US">
                <a:ea typeface="MS PGothic" charset="-128"/>
              </a:rPr>
              <a:t>Example: </a:t>
            </a:r>
            <a:r>
              <a:rPr lang="en-US" altLang="en-US">
                <a:ea typeface="MS PGothic" charset="-128"/>
                <a:sym typeface="Symbol" charset="2"/>
              </a:rPr>
              <a:t> = 10,000</a:t>
            </a:r>
          </a:p>
          <a:p>
            <a:pPr lvl="1"/>
            <a:r>
              <a:rPr lang="en-US" altLang="en-US">
                <a:ea typeface="MS PGothic" charset="-128"/>
                <a:sym typeface="Symbol" charset="2"/>
              </a:rPr>
              <a:t>Timer interrupts after every 5000 time units</a:t>
            </a:r>
          </a:p>
          <a:p>
            <a:pPr lvl="1"/>
            <a:r>
              <a:rPr lang="en-US" altLang="en-US">
                <a:ea typeface="MS PGothic" charset="-128"/>
                <a:sym typeface="Symbol" charset="2"/>
              </a:rPr>
              <a:t>Keep in memory 2 bits for each page</a:t>
            </a:r>
          </a:p>
          <a:p>
            <a:pPr lvl="1"/>
            <a:r>
              <a:rPr lang="en-US" altLang="en-US">
                <a:ea typeface="MS PGothic" charset="-128"/>
                <a:sym typeface="Symbol" charset="2"/>
              </a:rPr>
              <a:t>Whenever a timer interrupts copy and sets the values of all reference bits to 0</a:t>
            </a:r>
          </a:p>
          <a:p>
            <a:pPr lvl="1"/>
            <a:r>
              <a:rPr lang="en-US" altLang="en-US">
                <a:ea typeface="MS PGothic" charset="-128"/>
                <a:sym typeface="Symbol" charset="2"/>
              </a:rPr>
              <a:t>If one of the bits in memory = 1  page in working set</a:t>
            </a:r>
          </a:p>
          <a:p>
            <a:r>
              <a:rPr lang="en-US" altLang="en-US">
                <a:ea typeface="MS PGothic" charset="-128"/>
                <a:sym typeface="Symbol" charset="2"/>
              </a:rPr>
              <a:t>Why is this not completely accurate?</a:t>
            </a:r>
          </a:p>
          <a:p>
            <a:r>
              <a:rPr lang="en-US" altLang="en-US">
                <a:ea typeface="MS PGothic" charset="-128"/>
                <a:sym typeface="Symbol" charset="2"/>
              </a:rPr>
              <a:t>Improvement = 10 bits and interrupt every 1000 time units</a:t>
            </a:r>
          </a:p>
        </p:txBody>
      </p:sp>
    </p:spTree>
    <p:extLst>
      <p:ext uri="{BB962C8B-B14F-4D97-AF65-F5344CB8AC3E}">
        <p14:creationId xmlns:p14="http://schemas.microsoft.com/office/powerpoint/2010/main" val="1074944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163513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Page-Fault Frequency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100" y="1049338"/>
            <a:ext cx="6604000" cy="1668462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More direct approach than WSS</a:t>
            </a:r>
          </a:p>
          <a:p>
            <a:r>
              <a:rPr lang="en-US" altLang="en-US">
                <a:ea typeface="MS PGothic" charset="-128"/>
              </a:rPr>
              <a:t>Establish </a:t>
            </a:r>
            <a:r>
              <a:rPr lang="ja-JP" altLang="en-US">
                <a:ea typeface="MS PGothic" charset="-128"/>
              </a:rPr>
              <a:t>“</a:t>
            </a:r>
            <a:r>
              <a:rPr lang="en-US" altLang="ja-JP">
                <a:ea typeface="MS PGothic" charset="-128"/>
              </a:rPr>
              <a:t>acceptable</a:t>
            </a:r>
            <a:r>
              <a:rPr lang="ja-JP" altLang="en-US">
                <a:ea typeface="MS PGothic" charset="-128"/>
              </a:rPr>
              <a:t>”</a:t>
            </a:r>
            <a:r>
              <a:rPr lang="en-US" altLang="ja-JP">
                <a:ea typeface="MS PGothic" charset="-128"/>
              </a:rPr>
              <a:t> </a:t>
            </a:r>
            <a:r>
              <a:rPr lang="en-US" altLang="ja-JP" b="1">
                <a:solidFill>
                  <a:srgbClr val="3366FF"/>
                </a:solidFill>
                <a:ea typeface="MS PGothic" charset="-128"/>
              </a:rPr>
              <a:t>page-fault frequency </a:t>
            </a:r>
            <a:r>
              <a:rPr lang="en-US" altLang="ja-JP">
                <a:ea typeface="MS PGothic" charset="-128"/>
              </a:rPr>
              <a:t>(</a:t>
            </a:r>
            <a:r>
              <a:rPr lang="en-US" altLang="ja-JP" b="1">
                <a:solidFill>
                  <a:srgbClr val="3366FF"/>
                </a:solidFill>
                <a:ea typeface="MS PGothic" charset="-128"/>
              </a:rPr>
              <a:t>PFF</a:t>
            </a:r>
            <a:r>
              <a:rPr lang="en-US" altLang="ja-JP">
                <a:ea typeface="MS PGothic" charset="-128"/>
              </a:rPr>
              <a:t>)</a:t>
            </a:r>
            <a:r>
              <a:rPr lang="en-US" altLang="ja-JP" b="1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ja-JP">
                <a:ea typeface="MS PGothic" charset="-128"/>
              </a:rPr>
              <a:t>rate and use local replacement policy</a:t>
            </a:r>
          </a:p>
          <a:p>
            <a:pPr lvl="1"/>
            <a:r>
              <a:rPr lang="en-US" altLang="en-US">
                <a:ea typeface="MS PGothic" charset="-128"/>
              </a:rPr>
              <a:t>If actual rate too low, process loses frame</a:t>
            </a:r>
          </a:p>
          <a:p>
            <a:pPr lvl="1"/>
            <a:r>
              <a:rPr lang="en-US" altLang="en-US">
                <a:ea typeface="MS PGothic" charset="-128"/>
              </a:rPr>
              <a:t>If actual rate too high, process gains frame</a:t>
            </a:r>
          </a:p>
        </p:txBody>
      </p:sp>
      <p:pic>
        <p:nvPicPr>
          <p:cNvPr id="58372" name="Picture 1" descr="9_2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733800"/>
            <a:ext cx="51038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5598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1063625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Working Sets and Page Fault Rates</a:t>
            </a:r>
          </a:p>
        </p:txBody>
      </p:sp>
      <p:pic>
        <p:nvPicPr>
          <p:cNvPr id="5939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684463"/>
            <a:ext cx="5802313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08050" y="1042988"/>
            <a:ext cx="7194550" cy="2071687"/>
          </a:xfrm>
          <a:prstGeom prst="rect">
            <a:avLst/>
          </a:prstGeom>
          <a:noFill/>
          <a:ln>
            <a:noFill/>
          </a:ln>
          <a:extLst/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Peaks and valleys over time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 smtClean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6621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67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Memory-Mapped Files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39888"/>
            <a:ext cx="7943850" cy="4684712"/>
          </a:xfrm>
        </p:spPr>
        <p:txBody>
          <a:bodyPr/>
          <a:lstStyle/>
          <a:p>
            <a:r>
              <a:rPr lang="en-US" altLang="en-US" sz="2000" dirty="0">
                <a:ea typeface="MS PGothic" charset="-128"/>
              </a:rPr>
              <a:t>Memory-mapped file I/O allows file I/O to be treated as routine memory access by </a:t>
            </a:r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mapping</a:t>
            </a:r>
            <a:r>
              <a:rPr lang="en-US" altLang="en-US" sz="2000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sz="2000" dirty="0">
                <a:ea typeface="MS PGothic" charset="-128"/>
              </a:rPr>
              <a:t>a disk block to a page in memory</a:t>
            </a:r>
          </a:p>
          <a:p>
            <a:r>
              <a:rPr lang="en-US" altLang="en-US" sz="2000" dirty="0">
                <a:ea typeface="MS PGothic" charset="-128"/>
              </a:rPr>
              <a:t>A file is initially read using demand paging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A page-sized portion of the file is read from the file system into a physical page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Subsequent reads/writes to/from the file are treated as ordinary memory accesses</a:t>
            </a:r>
          </a:p>
          <a:p>
            <a:r>
              <a:rPr lang="en-US" altLang="en-US" sz="2000" dirty="0">
                <a:ea typeface="MS PGothic" charset="-128"/>
              </a:rPr>
              <a:t>Simplifies and speeds file access by driving file I/O through memory rather than 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read()</a:t>
            </a:r>
            <a:r>
              <a:rPr lang="en-US" altLang="en-US" sz="2000" b="1" dirty="0">
                <a:latin typeface="Courier New" charset="0"/>
                <a:ea typeface="MS PGothic" charset="-128"/>
              </a:rPr>
              <a:t> </a:t>
            </a:r>
            <a:r>
              <a:rPr lang="en-US" altLang="en-US" sz="2000" dirty="0">
                <a:ea typeface="MS PGothic" charset="-128"/>
              </a:rPr>
              <a:t>and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 write()</a:t>
            </a:r>
            <a:r>
              <a:rPr lang="en-US" altLang="en-US" sz="2000" dirty="0">
                <a:ea typeface="MS PGothic" charset="-128"/>
              </a:rPr>
              <a:t> system calls</a:t>
            </a:r>
          </a:p>
          <a:p>
            <a:r>
              <a:rPr lang="en-US" altLang="en-US" sz="2000" dirty="0">
                <a:ea typeface="MS PGothic" charset="-128"/>
              </a:rPr>
              <a:t>Also allows several processes to map the same file allowing the pages in memory to be shared</a:t>
            </a:r>
          </a:p>
          <a:p>
            <a:r>
              <a:rPr lang="en-US" altLang="en-US" sz="2000" dirty="0">
                <a:ea typeface="MS PGothic" charset="-128"/>
              </a:rPr>
              <a:t>But when does written data make it to disk?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Periodically and / or at file 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close()</a:t>
            </a:r>
            <a:r>
              <a:rPr lang="en-US" altLang="en-US" sz="2000" dirty="0">
                <a:ea typeface="MS PGothic" charset="-128"/>
              </a:rPr>
              <a:t> time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For example, when the pager scans for dirty pages</a:t>
            </a:r>
          </a:p>
        </p:txBody>
      </p:sp>
    </p:spTree>
    <p:extLst>
      <p:ext uri="{BB962C8B-B14F-4D97-AF65-F5344CB8AC3E}">
        <p14:creationId xmlns:p14="http://schemas.microsoft.com/office/powerpoint/2010/main" val="4552443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1497013" y="138113"/>
            <a:ext cx="7431087" cy="576262"/>
          </a:xfrm>
        </p:spPr>
        <p:txBody>
          <a:bodyPr/>
          <a:lstStyle/>
          <a:p>
            <a:r>
              <a:rPr lang="en-US" altLang="en-US" sz="2800">
                <a:ea typeface="MS PGothic" charset="-128"/>
              </a:rPr>
              <a:t>Memory-Mapped File Technique for all I/O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228600" y="738188"/>
            <a:ext cx="8699500" cy="4900612"/>
          </a:xfrm>
        </p:spPr>
        <p:txBody>
          <a:bodyPr/>
          <a:lstStyle/>
          <a:p>
            <a:r>
              <a:rPr lang="en-US" altLang="en-US" sz="2400" dirty="0">
                <a:ea typeface="MS PGothic" charset="-128"/>
              </a:rPr>
              <a:t>Some </a:t>
            </a:r>
            <a:r>
              <a:rPr lang="en-US" altLang="en-US" sz="2400" dirty="0" err="1">
                <a:ea typeface="MS PGothic" charset="-128"/>
              </a:rPr>
              <a:t>OSes</a:t>
            </a:r>
            <a:r>
              <a:rPr lang="en-US" altLang="en-US" sz="2400" dirty="0">
                <a:ea typeface="MS PGothic" charset="-128"/>
              </a:rPr>
              <a:t>  uses memory mapped files for standard I/O</a:t>
            </a:r>
          </a:p>
          <a:p>
            <a:r>
              <a:rPr lang="en-US" altLang="en-US" sz="2400" dirty="0">
                <a:ea typeface="MS PGothic" charset="-128"/>
              </a:rPr>
              <a:t>Process can explicitly request memory mapping a file via </a:t>
            </a:r>
            <a:r>
              <a:rPr lang="en-US" altLang="en-US" sz="2400" dirty="0" err="1">
                <a:latin typeface="Courier New" charset="0"/>
                <a:ea typeface="MS PGothic" charset="-128"/>
              </a:rPr>
              <a:t>mmap</a:t>
            </a:r>
            <a:r>
              <a:rPr lang="en-US" altLang="en-US" sz="2400" dirty="0">
                <a:latin typeface="Courier New" charset="0"/>
                <a:ea typeface="MS PGothic" charset="-128"/>
              </a:rPr>
              <a:t>()</a:t>
            </a:r>
            <a:r>
              <a:rPr lang="en-US" altLang="en-US" sz="2400" dirty="0">
                <a:ea typeface="MS PGothic" charset="-128"/>
              </a:rPr>
              <a:t> system call</a:t>
            </a:r>
          </a:p>
          <a:p>
            <a:pPr lvl="1"/>
            <a:r>
              <a:rPr lang="en-US" altLang="en-US" dirty="0">
                <a:ea typeface="MS PGothic" charset="-128"/>
              </a:rPr>
              <a:t>Now file mapped into process address space</a:t>
            </a:r>
          </a:p>
          <a:p>
            <a:r>
              <a:rPr lang="en-US" altLang="en-US" sz="2400" dirty="0">
                <a:ea typeface="MS PGothic" charset="-128"/>
              </a:rPr>
              <a:t>For standard I/O (</a:t>
            </a:r>
            <a:r>
              <a:rPr lang="en-US" altLang="en-US" sz="2400" dirty="0">
                <a:latin typeface="Courier New" charset="0"/>
                <a:ea typeface="MS PGothic" charset="-128"/>
              </a:rPr>
              <a:t>open(), read(), write(), close()</a:t>
            </a:r>
            <a:r>
              <a:rPr lang="en-US" altLang="en-US" sz="2400" dirty="0">
                <a:ea typeface="MS PGothic" charset="-128"/>
              </a:rPr>
              <a:t>), </a:t>
            </a:r>
            <a:r>
              <a:rPr lang="en-US" altLang="en-US" sz="2400" dirty="0" err="1">
                <a:ea typeface="MS PGothic" charset="-128"/>
              </a:rPr>
              <a:t>mmap</a:t>
            </a:r>
            <a:r>
              <a:rPr lang="en-US" altLang="en-US" sz="2400" dirty="0">
                <a:ea typeface="MS PGothic" charset="-128"/>
              </a:rPr>
              <a:t> anyway</a:t>
            </a:r>
          </a:p>
          <a:p>
            <a:pPr lvl="1"/>
            <a:r>
              <a:rPr lang="en-US" altLang="en-US" dirty="0">
                <a:ea typeface="MS PGothic" charset="-128"/>
              </a:rPr>
              <a:t>But map file into kernel address space</a:t>
            </a:r>
          </a:p>
          <a:p>
            <a:pPr lvl="1"/>
            <a:r>
              <a:rPr lang="en-US" altLang="en-US" dirty="0">
                <a:ea typeface="MS PGothic" charset="-128"/>
              </a:rPr>
              <a:t>Process still does read() and write()</a:t>
            </a:r>
          </a:p>
          <a:p>
            <a:pPr lvl="2"/>
            <a:r>
              <a:rPr lang="en-US" altLang="en-US" sz="2400" dirty="0">
                <a:ea typeface="MS PGothic" charset="-128"/>
              </a:rPr>
              <a:t>Copies data to and from kernel space and user space</a:t>
            </a:r>
          </a:p>
          <a:p>
            <a:pPr lvl="1"/>
            <a:r>
              <a:rPr lang="en-US" altLang="en-US" dirty="0">
                <a:ea typeface="MS PGothic" charset="-128"/>
              </a:rPr>
              <a:t>Uses efficient memory management subsystem</a:t>
            </a:r>
          </a:p>
          <a:p>
            <a:pPr lvl="2"/>
            <a:r>
              <a:rPr lang="en-US" altLang="en-US" sz="2400" dirty="0">
                <a:ea typeface="MS PGothic" charset="-128"/>
              </a:rPr>
              <a:t>Avoids needing separate subsystem</a:t>
            </a:r>
          </a:p>
          <a:p>
            <a:r>
              <a:rPr lang="en-US" altLang="en-US" sz="2400" dirty="0">
                <a:ea typeface="MS PGothic" charset="-128"/>
              </a:rPr>
              <a:t>COW can be used for read/write non-shared pages</a:t>
            </a:r>
          </a:p>
          <a:p>
            <a:r>
              <a:rPr lang="en-US" altLang="en-US" sz="2400" dirty="0">
                <a:ea typeface="MS PGothic" charset="-128"/>
              </a:rPr>
              <a:t>Memory mapped files can be  used for shared memory (although again via separate system calls)</a:t>
            </a:r>
          </a:p>
        </p:txBody>
      </p:sp>
    </p:spTree>
    <p:extLst>
      <p:ext uri="{BB962C8B-B14F-4D97-AF65-F5344CB8AC3E}">
        <p14:creationId xmlns:p14="http://schemas.microsoft.com/office/powerpoint/2010/main" val="20827200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Memory Mapped Files</a:t>
            </a:r>
          </a:p>
        </p:txBody>
      </p:sp>
      <p:pic>
        <p:nvPicPr>
          <p:cNvPr id="62467" name="Picture 1" descr="9_2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173163"/>
            <a:ext cx="5149850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8460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103188"/>
            <a:ext cx="7658100" cy="576262"/>
          </a:xfrm>
        </p:spPr>
        <p:txBody>
          <a:bodyPr/>
          <a:lstStyle/>
          <a:p>
            <a:pPr eaLnBrk="1" hangingPunct="1"/>
            <a:r>
              <a:rPr lang="en-US" altLang="en-US" sz="2800">
                <a:ea typeface="MS PGothic" charset="-128"/>
              </a:rPr>
              <a:t>Shared Memory via Memory-Mapped I/O</a:t>
            </a:r>
          </a:p>
        </p:txBody>
      </p:sp>
      <p:pic>
        <p:nvPicPr>
          <p:cNvPr id="63491" name="Picture 1" descr="9_2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1320800"/>
            <a:ext cx="60706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6200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584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Shared Memory in Windows API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131888"/>
            <a:ext cx="7385050" cy="4530725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First create a 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file mapping</a:t>
            </a:r>
            <a:r>
              <a:rPr lang="en-US" altLang="en-US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dirty="0">
                <a:ea typeface="MS PGothic" charset="-128"/>
              </a:rPr>
              <a:t>for file to be mapped</a:t>
            </a:r>
          </a:p>
          <a:p>
            <a:pPr lvl="1"/>
            <a:r>
              <a:rPr lang="en-US" altLang="en-US" dirty="0">
                <a:ea typeface="MS PGothic" charset="-128"/>
              </a:rPr>
              <a:t>Then establish a view of the mapped file in process’s virtual address space</a:t>
            </a:r>
          </a:p>
          <a:p>
            <a:r>
              <a:rPr lang="en-US" altLang="en-US" dirty="0">
                <a:ea typeface="MS PGothic" charset="-128"/>
              </a:rPr>
              <a:t>Consider producer / consumer</a:t>
            </a:r>
          </a:p>
          <a:p>
            <a:pPr lvl="1"/>
            <a:r>
              <a:rPr lang="en-US" altLang="en-US" dirty="0">
                <a:ea typeface="MS PGothic" charset="-128"/>
              </a:rPr>
              <a:t>Producer create shared-memory object using memory mapping features</a:t>
            </a:r>
          </a:p>
          <a:p>
            <a:pPr lvl="1"/>
            <a:r>
              <a:rPr lang="en-US" altLang="en-US" dirty="0">
                <a:ea typeface="MS PGothic" charset="-128"/>
              </a:rPr>
              <a:t>Open file via </a:t>
            </a:r>
            <a:r>
              <a:rPr lang="en-US" altLang="en-US" dirty="0" err="1">
                <a:latin typeface="Courier New" charset="0"/>
                <a:ea typeface="MS PGothic" charset="-128"/>
              </a:rPr>
              <a:t>CreateFile</a:t>
            </a:r>
            <a:r>
              <a:rPr lang="en-US" altLang="en-US" dirty="0">
                <a:latin typeface="Courier New" charset="0"/>
                <a:ea typeface="MS PGothic" charset="-128"/>
              </a:rPr>
              <a:t>(), </a:t>
            </a:r>
            <a:r>
              <a:rPr lang="en-US" altLang="en-US" dirty="0">
                <a:ea typeface="MS PGothic" charset="-128"/>
              </a:rPr>
              <a:t>returning a</a:t>
            </a:r>
            <a:r>
              <a:rPr lang="en-US" altLang="en-US" dirty="0">
                <a:latin typeface="Courier New" charset="0"/>
                <a:ea typeface="MS PGothic" charset="-128"/>
              </a:rPr>
              <a:t> HANDLE</a:t>
            </a:r>
          </a:p>
          <a:p>
            <a:pPr lvl="1"/>
            <a:r>
              <a:rPr lang="en-US" altLang="en-US" dirty="0">
                <a:ea typeface="MS PGothic" charset="-128"/>
              </a:rPr>
              <a:t>Create mapping via </a:t>
            </a:r>
            <a:r>
              <a:rPr lang="en-US" altLang="en-US" dirty="0" err="1">
                <a:latin typeface="Courier New" charset="0"/>
                <a:ea typeface="MS PGothic" charset="-128"/>
              </a:rPr>
              <a:t>CreateFileMapping</a:t>
            </a:r>
            <a:r>
              <a:rPr lang="en-US" altLang="en-US" dirty="0">
                <a:latin typeface="Courier New" charset="0"/>
                <a:ea typeface="MS PGothic" charset="-128"/>
              </a:rPr>
              <a:t>() </a:t>
            </a:r>
            <a:r>
              <a:rPr lang="en-US" altLang="en-US" dirty="0">
                <a:ea typeface="MS PGothic" charset="-128"/>
              </a:rPr>
              <a:t>creating a</a:t>
            </a:r>
            <a:r>
              <a:rPr lang="en-US" altLang="en-US" dirty="0">
                <a:latin typeface="Courier New" charset="0"/>
                <a:ea typeface="MS PGothic" charset="-128"/>
              </a:rPr>
              <a:t> 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named shared-memory object</a:t>
            </a:r>
          </a:p>
          <a:p>
            <a:pPr lvl="1"/>
            <a:r>
              <a:rPr lang="en-US" altLang="en-US" dirty="0">
                <a:ea typeface="MS PGothic" charset="-128"/>
              </a:rPr>
              <a:t>Create view via </a:t>
            </a:r>
            <a:r>
              <a:rPr lang="en-US" altLang="en-US" dirty="0" err="1">
                <a:latin typeface="Courier New" charset="0"/>
                <a:ea typeface="MS PGothic" charset="-128"/>
              </a:rPr>
              <a:t>MapViewOfFile</a:t>
            </a:r>
            <a:r>
              <a:rPr lang="en-US" altLang="en-US" dirty="0" smtClean="0">
                <a:latin typeface="Courier New" charset="0"/>
                <a:ea typeface="MS PGothic" charset="-128"/>
              </a:rPr>
              <a:t>()</a:t>
            </a:r>
            <a:endParaRPr lang="en-US" altLang="en-US" dirty="0">
              <a:latin typeface="Courier New" charset="0"/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16027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163513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Allocating Kernel Memory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093788"/>
            <a:ext cx="7677150" cy="4530725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Treated differently from user memory</a:t>
            </a:r>
          </a:p>
          <a:p>
            <a:r>
              <a:rPr lang="en-US" altLang="en-US">
                <a:ea typeface="MS PGothic" charset="-128"/>
              </a:rPr>
              <a:t>Often allocated from a free-memory pool</a:t>
            </a:r>
          </a:p>
          <a:p>
            <a:pPr lvl="1"/>
            <a:r>
              <a:rPr lang="en-US" altLang="en-US">
                <a:ea typeface="MS PGothic" charset="-128"/>
              </a:rPr>
              <a:t>Kernel requests memory for structures of varying sizes</a:t>
            </a:r>
          </a:p>
          <a:p>
            <a:pPr lvl="1"/>
            <a:r>
              <a:rPr lang="en-US" altLang="en-US">
                <a:ea typeface="MS PGothic" charset="-128"/>
              </a:rPr>
              <a:t>Some kernel memory needs to be contiguous</a:t>
            </a:r>
          </a:p>
          <a:p>
            <a:pPr lvl="2"/>
            <a:r>
              <a:rPr lang="en-US" altLang="en-US">
                <a:ea typeface="MS PGothic" charset="-128"/>
              </a:rPr>
              <a:t>I.e. for device I/O</a:t>
            </a:r>
          </a:p>
          <a:p>
            <a:pPr>
              <a:buFont typeface="Monotype Sorts" charset="2"/>
              <a:buNone/>
            </a:pPr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20104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81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Buddy System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04888"/>
            <a:ext cx="7854950" cy="5243512"/>
          </a:xfrm>
        </p:spPr>
        <p:txBody>
          <a:bodyPr/>
          <a:lstStyle/>
          <a:p>
            <a:r>
              <a:rPr lang="en-US" altLang="en-US" sz="2000" dirty="0">
                <a:ea typeface="MS PGothic" charset="-128"/>
              </a:rPr>
              <a:t>Allocates memory from fixed-size segment consisting of physically-contiguous pages</a:t>
            </a:r>
          </a:p>
          <a:p>
            <a:r>
              <a:rPr lang="en-US" altLang="en-US" sz="2000" dirty="0">
                <a:ea typeface="MS PGothic" charset="-128"/>
              </a:rPr>
              <a:t>Memory allocated using </a:t>
            </a:r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power-of-2 allocator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Satisfies requests in units sized as power of 2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Request rounded up to next highest power of 2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When smaller allocation needed than is available, current chunk split into two buddies of next-lower power of 2</a:t>
            </a:r>
          </a:p>
          <a:p>
            <a:pPr lvl="2"/>
            <a:r>
              <a:rPr lang="en-US" altLang="en-US" dirty="0">
                <a:ea typeface="MS PGothic" charset="-128"/>
              </a:rPr>
              <a:t>Continue until appropriate sized chunk available</a:t>
            </a:r>
          </a:p>
          <a:p>
            <a:r>
              <a:rPr lang="en-US" altLang="en-US" sz="2000" dirty="0">
                <a:ea typeface="MS PGothic" charset="-128"/>
              </a:rPr>
              <a:t>For example, assume 256KB chunk available, kernel requests 21KB</a:t>
            </a:r>
          </a:p>
          <a:p>
            <a:pPr lvl="1"/>
            <a:r>
              <a:rPr lang="en-US" altLang="en-US" sz="2000" dirty="0">
                <a:ea typeface="MS PGothic" charset="-128"/>
              </a:rPr>
              <a:t>Split into A</a:t>
            </a:r>
            <a:r>
              <a:rPr lang="en-US" altLang="en-US" sz="2000" baseline="-25000" dirty="0">
                <a:ea typeface="MS PGothic" charset="-128"/>
              </a:rPr>
              <a:t>L</a:t>
            </a:r>
            <a:r>
              <a:rPr lang="en-US" altLang="en-US" sz="2000" dirty="0">
                <a:ea typeface="MS PGothic" charset="-128"/>
              </a:rPr>
              <a:t> </a:t>
            </a:r>
            <a:r>
              <a:rPr lang="en-US" altLang="en-US" sz="2000" baseline="-25000" dirty="0">
                <a:ea typeface="MS PGothic" charset="-128"/>
              </a:rPr>
              <a:t>and</a:t>
            </a:r>
            <a:r>
              <a:rPr lang="en-US" altLang="en-US" sz="2000" dirty="0">
                <a:ea typeface="MS PGothic" charset="-128"/>
              </a:rPr>
              <a:t> A</a:t>
            </a:r>
            <a:r>
              <a:rPr lang="en-US" altLang="en-US" sz="2000" baseline="-25000" dirty="0">
                <a:ea typeface="MS PGothic" charset="-128"/>
              </a:rPr>
              <a:t>R</a:t>
            </a:r>
            <a:r>
              <a:rPr lang="en-US" altLang="en-US" sz="2000" dirty="0">
                <a:ea typeface="MS PGothic" charset="-128"/>
              </a:rPr>
              <a:t> of 128KB each</a:t>
            </a:r>
          </a:p>
          <a:p>
            <a:pPr lvl="2"/>
            <a:r>
              <a:rPr lang="en-US" altLang="en-US" dirty="0">
                <a:ea typeface="MS PGothic" charset="-128"/>
              </a:rPr>
              <a:t>One further divided into B</a:t>
            </a:r>
            <a:r>
              <a:rPr lang="en-US" altLang="en-US" baseline="-25000" dirty="0">
                <a:ea typeface="MS PGothic" charset="-128"/>
              </a:rPr>
              <a:t>L</a:t>
            </a:r>
            <a:r>
              <a:rPr lang="en-US" altLang="en-US" dirty="0">
                <a:ea typeface="MS PGothic" charset="-128"/>
              </a:rPr>
              <a:t> and B</a:t>
            </a:r>
            <a:r>
              <a:rPr lang="en-US" altLang="en-US" baseline="-25000" dirty="0">
                <a:ea typeface="MS PGothic" charset="-128"/>
              </a:rPr>
              <a:t>R</a:t>
            </a:r>
            <a:r>
              <a:rPr lang="en-US" altLang="en-US" dirty="0">
                <a:ea typeface="MS PGothic" charset="-128"/>
              </a:rPr>
              <a:t> of 64KB</a:t>
            </a:r>
          </a:p>
          <a:p>
            <a:pPr lvl="3"/>
            <a:r>
              <a:rPr lang="en-US" altLang="en-US" dirty="0">
                <a:ea typeface="MS PGothic" charset="-128"/>
              </a:rPr>
              <a:t>One further into C</a:t>
            </a:r>
            <a:r>
              <a:rPr lang="en-US" altLang="en-US" baseline="-25000" dirty="0">
                <a:ea typeface="MS PGothic" charset="-128"/>
              </a:rPr>
              <a:t>L</a:t>
            </a:r>
            <a:r>
              <a:rPr lang="en-US" altLang="en-US" dirty="0">
                <a:ea typeface="MS PGothic" charset="-128"/>
              </a:rPr>
              <a:t> and C</a:t>
            </a:r>
            <a:r>
              <a:rPr lang="en-US" altLang="en-US" baseline="-25000" dirty="0">
                <a:ea typeface="MS PGothic" charset="-128"/>
              </a:rPr>
              <a:t>R</a:t>
            </a:r>
            <a:r>
              <a:rPr lang="en-US" altLang="en-US" dirty="0">
                <a:ea typeface="MS PGothic" charset="-128"/>
              </a:rPr>
              <a:t> of 32KB each – one used to satisfy request</a:t>
            </a:r>
          </a:p>
          <a:p>
            <a:r>
              <a:rPr lang="en-US" altLang="en-US" sz="2000" dirty="0">
                <a:ea typeface="MS PGothic" charset="-128"/>
              </a:rPr>
              <a:t>Advantage – quickly </a:t>
            </a:r>
            <a:r>
              <a:rPr lang="en-US" altLang="en-US" sz="2000" b="1" dirty="0">
                <a:solidFill>
                  <a:srgbClr val="3366FF"/>
                </a:solidFill>
                <a:ea typeface="MS PGothic" charset="-128"/>
              </a:rPr>
              <a:t>coalesce</a:t>
            </a:r>
            <a:r>
              <a:rPr lang="en-US" altLang="en-US" sz="2000" dirty="0">
                <a:ea typeface="MS PGothic" charset="-128"/>
              </a:rPr>
              <a:t> unused chunks into larger chunk</a:t>
            </a:r>
          </a:p>
          <a:p>
            <a:r>
              <a:rPr lang="en-US" altLang="en-US" sz="2000" dirty="0">
                <a:ea typeface="MS PGothic" charset="-128"/>
              </a:rPr>
              <a:t>Disadvantage - fragmentation</a:t>
            </a:r>
          </a:p>
        </p:txBody>
      </p:sp>
    </p:spTree>
    <p:extLst>
      <p:ext uri="{BB962C8B-B14F-4D97-AF65-F5344CB8AC3E}">
        <p14:creationId xmlns:p14="http://schemas.microsoft.com/office/powerpoint/2010/main" val="11885785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Buddy System Allocator</a:t>
            </a:r>
          </a:p>
        </p:txBody>
      </p:sp>
      <p:pic>
        <p:nvPicPr>
          <p:cNvPr id="67587" name="Picture 1" descr="9_2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1111250"/>
            <a:ext cx="4589463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0289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Slab Allocator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762000"/>
            <a:ext cx="7924800" cy="5046662"/>
          </a:xfrm>
        </p:spPr>
        <p:txBody>
          <a:bodyPr/>
          <a:lstStyle/>
          <a:p>
            <a:r>
              <a:rPr lang="en-US" altLang="en-US" sz="2400" dirty="0">
                <a:ea typeface="MS PGothic" charset="-128"/>
              </a:rPr>
              <a:t>Alternate strategy</a:t>
            </a:r>
          </a:p>
          <a:p>
            <a:r>
              <a:rPr lang="en-US" altLang="en-US" sz="2400" b="1" dirty="0">
                <a:solidFill>
                  <a:srgbClr val="3366FF"/>
                </a:solidFill>
                <a:ea typeface="MS PGothic" charset="-128"/>
              </a:rPr>
              <a:t>Slab</a:t>
            </a:r>
            <a:r>
              <a:rPr lang="en-US" altLang="en-US" sz="2400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sz="2400" dirty="0">
                <a:ea typeface="MS PGothic" charset="-128"/>
              </a:rPr>
              <a:t>is one or more physically contiguous pages</a:t>
            </a:r>
          </a:p>
          <a:p>
            <a:r>
              <a:rPr lang="en-US" altLang="en-US" sz="2400" b="1" dirty="0">
                <a:solidFill>
                  <a:srgbClr val="3366FF"/>
                </a:solidFill>
                <a:ea typeface="MS PGothic" charset="-128"/>
              </a:rPr>
              <a:t>Cache</a:t>
            </a:r>
            <a:r>
              <a:rPr lang="en-US" altLang="en-US" sz="2400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sz="2400" dirty="0">
                <a:ea typeface="MS PGothic" charset="-128"/>
              </a:rPr>
              <a:t>consists of one or more slabs</a:t>
            </a:r>
          </a:p>
          <a:p>
            <a:r>
              <a:rPr lang="en-US" altLang="en-US" sz="2400" dirty="0">
                <a:ea typeface="MS PGothic" charset="-128"/>
              </a:rPr>
              <a:t>Single cache for each unique kernel data structure</a:t>
            </a:r>
          </a:p>
          <a:p>
            <a:pPr lvl="1"/>
            <a:r>
              <a:rPr lang="en-US" altLang="en-US" dirty="0">
                <a:ea typeface="MS PGothic" charset="-128"/>
              </a:rPr>
              <a:t>Each cache filled with </a:t>
            </a:r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objects</a:t>
            </a:r>
            <a:r>
              <a:rPr lang="en-US" altLang="en-US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dirty="0">
                <a:ea typeface="MS PGothic" charset="-128"/>
              </a:rPr>
              <a:t>– instantiations of the data structure</a:t>
            </a:r>
          </a:p>
          <a:p>
            <a:r>
              <a:rPr lang="en-US" altLang="en-US" sz="2400" dirty="0">
                <a:ea typeface="MS PGothic" charset="-128"/>
              </a:rPr>
              <a:t>When cache created, filled with objects marked as </a:t>
            </a:r>
            <a:r>
              <a:rPr lang="en-US" altLang="en-US" sz="2400" b="1" dirty="0">
                <a:latin typeface="Courier New" charset="0"/>
                <a:ea typeface="MS PGothic" charset="-128"/>
              </a:rPr>
              <a:t>free</a:t>
            </a:r>
            <a:endParaRPr lang="en-US" altLang="en-US" sz="2400" b="1" dirty="0">
              <a:ea typeface="MS PGothic" charset="-128"/>
            </a:endParaRPr>
          </a:p>
          <a:p>
            <a:r>
              <a:rPr lang="en-US" altLang="en-US" sz="2400" dirty="0">
                <a:ea typeface="MS PGothic" charset="-128"/>
              </a:rPr>
              <a:t>When structures stored, objects marked as </a:t>
            </a:r>
            <a:r>
              <a:rPr lang="en-US" altLang="en-US" sz="2400" b="1" dirty="0">
                <a:latin typeface="Courier New" charset="0"/>
                <a:ea typeface="MS PGothic" charset="-128"/>
              </a:rPr>
              <a:t>used</a:t>
            </a:r>
            <a:endParaRPr lang="en-US" altLang="en-US" sz="2400" b="1" dirty="0">
              <a:ea typeface="MS PGothic" charset="-128"/>
            </a:endParaRPr>
          </a:p>
          <a:p>
            <a:r>
              <a:rPr lang="en-US" altLang="en-US" sz="2400" dirty="0">
                <a:ea typeface="MS PGothic" charset="-128"/>
              </a:rPr>
              <a:t>If slab is full of used objects, next object allocated from empty slab</a:t>
            </a:r>
          </a:p>
          <a:p>
            <a:pPr lvl="1"/>
            <a:r>
              <a:rPr lang="en-US" altLang="en-US" dirty="0">
                <a:ea typeface="MS PGothic" charset="-128"/>
              </a:rPr>
              <a:t>If no empty slabs, new slab allocated</a:t>
            </a:r>
          </a:p>
          <a:p>
            <a:r>
              <a:rPr lang="en-US" altLang="en-US" sz="2400" dirty="0">
                <a:ea typeface="MS PGothic" charset="-128"/>
              </a:rPr>
              <a:t>Benefits include no fragmentation, fast memory request satisfaction</a:t>
            </a:r>
          </a:p>
          <a:p>
            <a:pPr>
              <a:buFont typeface="Monotype Sorts" charset="2"/>
              <a:buNone/>
            </a:pPr>
            <a:endParaRPr lang="en-US" altLang="en-US" sz="2400" dirty="0">
              <a:ea typeface="MS PGothic" charset="-128"/>
            </a:endParaRPr>
          </a:p>
          <a:p>
            <a:endParaRPr lang="en-US" altLang="en-US" sz="24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8951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0925" y="163513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Slab Allocation</a:t>
            </a:r>
          </a:p>
        </p:txBody>
      </p:sp>
      <p:pic>
        <p:nvPicPr>
          <p:cNvPr id="69635" name="Picture 1" descr="9_2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82688"/>
            <a:ext cx="5129213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4134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Slab Allocator in Linux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609600"/>
            <a:ext cx="7704138" cy="5214937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For example process descriptor is of type </a:t>
            </a:r>
            <a:r>
              <a:rPr lang="en-US" altLang="en-US" dirty="0" err="1">
                <a:latin typeface="Courier New" charset="0"/>
                <a:ea typeface="MS PGothic" charset="-128"/>
              </a:rPr>
              <a:t>struct</a:t>
            </a:r>
            <a:r>
              <a:rPr lang="en-US" altLang="en-US" dirty="0">
                <a:latin typeface="Courier New" charset="0"/>
                <a:ea typeface="MS PGothic" charset="-128"/>
              </a:rPr>
              <a:t> </a:t>
            </a:r>
            <a:r>
              <a:rPr lang="en-US" altLang="en-US" dirty="0" err="1">
                <a:latin typeface="Courier New" charset="0"/>
                <a:ea typeface="MS PGothic" charset="-128"/>
              </a:rPr>
              <a:t>task_struct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err="1">
                <a:ea typeface="MS PGothic" charset="-128"/>
              </a:rPr>
              <a:t>Approx</a:t>
            </a:r>
            <a:r>
              <a:rPr lang="en-US" altLang="en-US" dirty="0">
                <a:ea typeface="MS PGothic" charset="-128"/>
              </a:rPr>
              <a:t> 1.7KB of memory</a:t>
            </a:r>
          </a:p>
          <a:p>
            <a:r>
              <a:rPr lang="en-US" altLang="en-US" dirty="0">
                <a:ea typeface="MS PGothic" charset="-128"/>
              </a:rPr>
              <a:t>New task -&gt; allocate new </a:t>
            </a:r>
            <a:r>
              <a:rPr lang="en-US" altLang="en-US" dirty="0" err="1">
                <a:ea typeface="MS PGothic" charset="-128"/>
              </a:rPr>
              <a:t>struct</a:t>
            </a:r>
            <a:r>
              <a:rPr lang="en-US" altLang="en-US" dirty="0">
                <a:ea typeface="MS PGothic" charset="-128"/>
              </a:rPr>
              <a:t> from cache</a:t>
            </a:r>
          </a:p>
          <a:p>
            <a:pPr lvl="1"/>
            <a:r>
              <a:rPr lang="en-US" altLang="en-US" dirty="0">
                <a:ea typeface="MS PGothic" charset="-128"/>
              </a:rPr>
              <a:t>Will use existing free </a:t>
            </a:r>
            <a:r>
              <a:rPr lang="en-US" altLang="en-US" dirty="0" err="1">
                <a:latin typeface="Courier New" charset="0"/>
                <a:ea typeface="MS PGothic" charset="-128"/>
              </a:rPr>
              <a:t>struct</a:t>
            </a:r>
            <a:r>
              <a:rPr lang="en-US" altLang="en-US" dirty="0">
                <a:latin typeface="Courier New" charset="0"/>
                <a:ea typeface="MS PGothic" charset="-128"/>
              </a:rPr>
              <a:t> </a:t>
            </a:r>
            <a:r>
              <a:rPr lang="en-US" altLang="en-US" dirty="0" err="1">
                <a:latin typeface="Courier New" charset="0"/>
                <a:ea typeface="MS PGothic" charset="-128"/>
              </a:rPr>
              <a:t>task_struct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Slab can be in three possible states</a:t>
            </a:r>
          </a:p>
          <a:p>
            <a:pPr lvl="1">
              <a:buFont typeface="Arial" charset="0"/>
              <a:buAutoNum type="arabicPeriod"/>
            </a:pPr>
            <a:r>
              <a:rPr lang="en-US" altLang="en-US" dirty="0">
                <a:ea typeface="MS PGothic" charset="-128"/>
              </a:rPr>
              <a:t>Full – all used</a:t>
            </a:r>
          </a:p>
          <a:p>
            <a:pPr lvl="1">
              <a:buFont typeface="Arial" charset="0"/>
              <a:buAutoNum type="arabicPeriod"/>
            </a:pPr>
            <a:r>
              <a:rPr lang="en-US" altLang="en-US" dirty="0">
                <a:ea typeface="MS PGothic" charset="-128"/>
              </a:rPr>
              <a:t>Empty – all free</a:t>
            </a:r>
          </a:p>
          <a:p>
            <a:pPr lvl="1">
              <a:buFont typeface="Arial" charset="0"/>
              <a:buAutoNum type="arabicPeriod"/>
            </a:pPr>
            <a:r>
              <a:rPr lang="en-US" altLang="en-US" dirty="0">
                <a:ea typeface="MS PGothic" charset="-128"/>
              </a:rPr>
              <a:t>Partial – mix of free and used</a:t>
            </a:r>
          </a:p>
          <a:p>
            <a:r>
              <a:rPr lang="en-US" altLang="en-US" dirty="0">
                <a:ea typeface="MS PGothic" charset="-128"/>
              </a:rPr>
              <a:t>Upon request, slab allocator</a:t>
            </a:r>
          </a:p>
          <a:p>
            <a:pPr lvl="1">
              <a:buFont typeface="Arial" charset="0"/>
              <a:buAutoNum type="arabicPeriod"/>
            </a:pPr>
            <a:r>
              <a:rPr lang="en-US" altLang="en-US" dirty="0">
                <a:ea typeface="MS PGothic" charset="-128"/>
              </a:rPr>
              <a:t>Uses free </a:t>
            </a:r>
            <a:r>
              <a:rPr lang="en-US" altLang="en-US" dirty="0" err="1">
                <a:ea typeface="MS PGothic" charset="-128"/>
              </a:rPr>
              <a:t>struct</a:t>
            </a:r>
            <a:r>
              <a:rPr lang="en-US" altLang="en-US" dirty="0">
                <a:ea typeface="MS PGothic" charset="-128"/>
              </a:rPr>
              <a:t> in partial slab</a:t>
            </a:r>
          </a:p>
          <a:p>
            <a:pPr lvl="1">
              <a:buFont typeface="Arial" charset="0"/>
              <a:buAutoNum type="arabicPeriod"/>
            </a:pPr>
            <a:r>
              <a:rPr lang="en-US" altLang="en-US" dirty="0">
                <a:ea typeface="MS PGothic" charset="-128"/>
              </a:rPr>
              <a:t>If none, takes one from empty slab</a:t>
            </a:r>
          </a:p>
          <a:p>
            <a:pPr lvl="1">
              <a:buFont typeface="Arial" charset="0"/>
              <a:buAutoNum type="arabicPeriod"/>
            </a:pPr>
            <a:r>
              <a:rPr lang="en-US" altLang="en-US" dirty="0">
                <a:ea typeface="MS PGothic" charset="-128"/>
              </a:rPr>
              <a:t>If no empty slab, create new empty</a:t>
            </a:r>
          </a:p>
        </p:txBody>
      </p:sp>
    </p:spTree>
    <p:extLst>
      <p:ext uri="{BB962C8B-B14F-4D97-AF65-F5344CB8AC3E}">
        <p14:creationId xmlns:p14="http://schemas.microsoft.com/office/powerpoint/2010/main" val="5853929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Slab Allocator in Linux (Cont.)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03313"/>
            <a:ext cx="7321550" cy="5214937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Slab started in Solaris, now wide-spread for both kernel mode and user memory in various OSes</a:t>
            </a:r>
          </a:p>
          <a:p>
            <a:r>
              <a:rPr lang="en-US" altLang="en-US">
                <a:ea typeface="MS PGothic" charset="-128"/>
              </a:rPr>
              <a:t>Linux  2.2 had SLAB, now has both SLOB and SLUB allocators</a:t>
            </a:r>
          </a:p>
          <a:p>
            <a:pPr lvl="1"/>
            <a:r>
              <a:rPr lang="en-US" altLang="en-US">
                <a:ea typeface="MS PGothic" charset="-128"/>
              </a:rPr>
              <a:t>SLOB for systems with limited memory</a:t>
            </a:r>
          </a:p>
          <a:p>
            <a:pPr lvl="2"/>
            <a:r>
              <a:rPr lang="en-US" altLang="en-US">
                <a:ea typeface="MS PGothic" charset="-128"/>
              </a:rPr>
              <a:t>Simple List of Blocks – maintains 3 list objects for small, medium, large objects</a:t>
            </a:r>
          </a:p>
          <a:p>
            <a:pPr lvl="1"/>
            <a:r>
              <a:rPr lang="en-US" altLang="en-US">
                <a:ea typeface="MS PGothic" charset="-128"/>
              </a:rPr>
              <a:t>SLUB is performance-optimized SLAB removes per-CPU queues, metadata stored in page structure</a:t>
            </a:r>
          </a:p>
        </p:txBody>
      </p:sp>
    </p:spTree>
    <p:extLst>
      <p:ext uri="{BB962C8B-B14F-4D97-AF65-F5344CB8AC3E}">
        <p14:creationId xmlns:p14="http://schemas.microsoft.com/office/powerpoint/2010/main" val="19144160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85800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Other Considerations -- </a:t>
            </a:r>
            <a:r>
              <a:rPr lang="en-US" altLang="en-US" dirty="0" err="1">
                <a:ea typeface="MS PGothic" charset="-128"/>
              </a:rPr>
              <a:t>Prepaging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427912" cy="4908550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Prepaging </a:t>
            </a:r>
          </a:p>
          <a:p>
            <a:pPr lvl="1"/>
            <a:r>
              <a:rPr lang="en-US" altLang="en-US">
                <a:ea typeface="MS PGothic" charset="-128"/>
              </a:rPr>
              <a:t>To reduce the large number of page faults that occurs at process startup</a:t>
            </a:r>
          </a:p>
          <a:p>
            <a:pPr lvl="1"/>
            <a:r>
              <a:rPr lang="en-US" altLang="en-US">
                <a:ea typeface="MS PGothic" charset="-128"/>
              </a:rPr>
              <a:t>Prepage all or some of the pages a process will need, before they are referenced</a:t>
            </a:r>
          </a:p>
          <a:p>
            <a:pPr lvl="1"/>
            <a:r>
              <a:rPr lang="en-US" altLang="en-US">
                <a:ea typeface="MS PGothic" charset="-128"/>
              </a:rPr>
              <a:t>But if prepaged pages are unused, I/O and memory was wasted</a:t>
            </a:r>
          </a:p>
          <a:p>
            <a:pPr lvl="1"/>
            <a:r>
              <a:rPr lang="en-US" altLang="en-US">
                <a:ea typeface="MS PGothic" charset="-128"/>
              </a:rPr>
              <a:t>Assume </a:t>
            </a:r>
            <a:r>
              <a:rPr lang="en-US" altLang="en-US" i="1">
                <a:ea typeface="MS PGothic" charset="-128"/>
              </a:rPr>
              <a:t>s</a:t>
            </a:r>
            <a:r>
              <a:rPr lang="en-US" altLang="en-US">
                <a:ea typeface="MS PGothic" charset="-128"/>
              </a:rPr>
              <a:t> pages are prepaged and </a:t>
            </a:r>
            <a:r>
              <a:rPr lang="el-GR" altLang="en-US" i="1">
                <a:ea typeface="MS PGothic" charset="-128"/>
              </a:rPr>
              <a:t>α</a:t>
            </a:r>
            <a:r>
              <a:rPr lang="en-US" altLang="en-US" i="1">
                <a:ea typeface="MS PGothic" charset="-128"/>
              </a:rPr>
              <a:t> </a:t>
            </a:r>
            <a:r>
              <a:rPr lang="en-US" altLang="en-US">
                <a:ea typeface="MS PGothic" charset="-128"/>
              </a:rPr>
              <a:t>of the pages is used</a:t>
            </a:r>
          </a:p>
          <a:p>
            <a:pPr lvl="2"/>
            <a:r>
              <a:rPr lang="en-US" altLang="en-US">
                <a:ea typeface="MS PGothic" charset="-128"/>
              </a:rPr>
              <a:t>Is cost of </a:t>
            </a:r>
            <a:r>
              <a:rPr lang="en-US" altLang="en-US" b="1" i="1">
                <a:ea typeface="MS PGothic" charset="-128"/>
              </a:rPr>
              <a:t>s * </a:t>
            </a:r>
            <a:r>
              <a:rPr lang="el-GR" altLang="en-US" b="1" i="1">
                <a:ea typeface="MS PGothic" charset="-128"/>
              </a:rPr>
              <a:t>α</a:t>
            </a:r>
            <a:r>
              <a:rPr lang="en-US" altLang="en-US" b="1" i="1">
                <a:ea typeface="MS PGothic" charset="-128"/>
              </a:rPr>
              <a:t>  </a:t>
            </a:r>
            <a:r>
              <a:rPr lang="en-US" altLang="en-US">
                <a:ea typeface="MS PGothic" charset="-128"/>
              </a:rPr>
              <a:t>save pages faults &gt; or &lt; than the cost of prepaging</a:t>
            </a:r>
            <a:r>
              <a:rPr lang="en-US" altLang="en-US" i="1">
                <a:ea typeface="MS PGothic" charset="-128"/>
              </a:rPr>
              <a:t> </a:t>
            </a:r>
            <a:br>
              <a:rPr lang="en-US" altLang="en-US" i="1">
                <a:ea typeface="MS PGothic" charset="-128"/>
              </a:rPr>
            </a:br>
            <a:r>
              <a:rPr lang="en-US" altLang="en-US" b="1" i="1">
                <a:ea typeface="MS PGothic" charset="-128"/>
              </a:rPr>
              <a:t>s * (1- </a:t>
            </a:r>
            <a:r>
              <a:rPr lang="el-GR" altLang="en-US" b="1" i="1">
                <a:ea typeface="MS PGothic" charset="-128"/>
              </a:rPr>
              <a:t>α</a:t>
            </a:r>
            <a:r>
              <a:rPr lang="en-US" altLang="en-US" b="1" i="1">
                <a:ea typeface="MS PGothic" charset="-128"/>
              </a:rPr>
              <a:t>) </a:t>
            </a:r>
            <a:r>
              <a:rPr lang="en-US" altLang="en-US">
                <a:ea typeface="MS PGothic" charset="-128"/>
              </a:rPr>
              <a:t>unnecessary pages</a:t>
            </a:r>
            <a:r>
              <a:rPr lang="en-US" altLang="en-US" i="1">
                <a:ea typeface="MS PGothic" charset="-128"/>
              </a:rPr>
              <a:t>?  </a:t>
            </a:r>
          </a:p>
          <a:p>
            <a:pPr lvl="2"/>
            <a:r>
              <a:rPr lang="el-GR" altLang="en-US" b="1" i="1">
                <a:ea typeface="MS PGothic" charset="-128"/>
              </a:rPr>
              <a:t>α</a:t>
            </a:r>
            <a:r>
              <a:rPr lang="en-US" altLang="en-US" i="1">
                <a:ea typeface="MS PGothic" charset="-128"/>
              </a:rPr>
              <a:t> </a:t>
            </a:r>
            <a:r>
              <a:rPr lang="en-US" altLang="en-US">
                <a:ea typeface="MS PGothic" charset="-128"/>
              </a:rPr>
              <a:t>near zero </a:t>
            </a:r>
            <a:r>
              <a:rPr lang="en-US" altLang="en-US">
                <a:ea typeface="MS PGothic" charset="-128"/>
                <a:sym typeface="Symbol" charset="2"/>
              </a:rPr>
              <a:t> prepaging loses</a:t>
            </a:r>
            <a:r>
              <a:rPr lang="en-US" altLang="en-US">
                <a:ea typeface="MS PGothic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53856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5713" y="163513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Other Issues – Page Size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0750" y="1031875"/>
            <a:ext cx="7994650" cy="4759325"/>
          </a:xfrm>
        </p:spPr>
        <p:txBody>
          <a:bodyPr/>
          <a:lstStyle/>
          <a:p>
            <a:r>
              <a:rPr lang="en-US" altLang="en-US" sz="2400" dirty="0">
                <a:ea typeface="MS PGothic" charset="-128"/>
              </a:rPr>
              <a:t>Sometimes OS designers have a choice</a:t>
            </a:r>
          </a:p>
          <a:p>
            <a:pPr lvl="1"/>
            <a:r>
              <a:rPr lang="en-US" altLang="en-US" dirty="0">
                <a:ea typeface="MS PGothic" charset="-128"/>
              </a:rPr>
              <a:t>Especially if running on custom-built CPU</a:t>
            </a:r>
          </a:p>
          <a:p>
            <a:r>
              <a:rPr lang="en-US" altLang="en-US" sz="2400" dirty="0">
                <a:ea typeface="MS PGothic" charset="-128"/>
              </a:rPr>
              <a:t>Page size selection must take into consideration:</a:t>
            </a:r>
          </a:p>
          <a:p>
            <a:pPr lvl="1"/>
            <a:r>
              <a:rPr lang="en-US" altLang="en-US" dirty="0">
                <a:ea typeface="MS PGothic" charset="-128"/>
              </a:rPr>
              <a:t>Fragmentation</a:t>
            </a:r>
          </a:p>
          <a:p>
            <a:pPr lvl="1"/>
            <a:r>
              <a:rPr lang="en-US" altLang="en-US" dirty="0">
                <a:ea typeface="MS PGothic" charset="-128"/>
              </a:rPr>
              <a:t>Page table size 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  <a:ea typeface="MS PGothic" charset="-128"/>
              </a:rPr>
              <a:t>Resolution</a:t>
            </a:r>
          </a:p>
          <a:p>
            <a:pPr lvl="1"/>
            <a:r>
              <a:rPr lang="en-US" altLang="en-US" dirty="0">
                <a:ea typeface="MS PGothic" charset="-128"/>
              </a:rPr>
              <a:t>I/O overhead</a:t>
            </a:r>
          </a:p>
          <a:p>
            <a:pPr lvl="1"/>
            <a:r>
              <a:rPr lang="en-US" altLang="en-US" dirty="0">
                <a:ea typeface="MS PGothic" charset="-128"/>
              </a:rPr>
              <a:t>Number of page faults</a:t>
            </a:r>
          </a:p>
          <a:p>
            <a:pPr lvl="1"/>
            <a:r>
              <a:rPr lang="en-US" altLang="en-US" dirty="0">
                <a:ea typeface="MS PGothic" charset="-128"/>
              </a:rPr>
              <a:t>Locality</a:t>
            </a:r>
          </a:p>
          <a:p>
            <a:pPr lvl="1"/>
            <a:r>
              <a:rPr lang="en-US" altLang="en-US" dirty="0">
                <a:ea typeface="MS PGothic" charset="-128"/>
              </a:rPr>
              <a:t>TLB size and effectiveness</a:t>
            </a:r>
          </a:p>
          <a:p>
            <a:r>
              <a:rPr lang="en-US" altLang="en-US" sz="2400" dirty="0">
                <a:ea typeface="MS PGothic" charset="-128"/>
              </a:rPr>
              <a:t>Always power of 2, usually in the range 2</a:t>
            </a:r>
            <a:r>
              <a:rPr lang="en-US" altLang="en-US" sz="2400" baseline="30000" dirty="0">
                <a:ea typeface="MS PGothic" charset="-128"/>
              </a:rPr>
              <a:t>12</a:t>
            </a:r>
            <a:r>
              <a:rPr lang="en-US" altLang="en-US" sz="2400" dirty="0">
                <a:ea typeface="MS PGothic" charset="-128"/>
              </a:rPr>
              <a:t> (4,096 bytes) to 2</a:t>
            </a:r>
            <a:r>
              <a:rPr lang="en-US" altLang="en-US" sz="2400" baseline="30000" dirty="0">
                <a:ea typeface="MS PGothic" charset="-128"/>
              </a:rPr>
              <a:t>22</a:t>
            </a:r>
            <a:r>
              <a:rPr lang="en-US" altLang="en-US" sz="2400" dirty="0">
                <a:ea typeface="MS PGothic" charset="-128"/>
              </a:rPr>
              <a:t> (4,194,304 bytes)</a:t>
            </a:r>
          </a:p>
          <a:p>
            <a:r>
              <a:rPr lang="en-US" altLang="en-US" sz="2400" dirty="0">
                <a:ea typeface="MS PGothic" charset="-128"/>
              </a:rPr>
              <a:t>On average, growing over time</a:t>
            </a:r>
          </a:p>
        </p:txBody>
      </p:sp>
    </p:spTree>
    <p:extLst>
      <p:ext uri="{BB962C8B-B14F-4D97-AF65-F5344CB8AC3E}">
        <p14:creationId xmlns:p14="http://schemas.microsoft.com/office/powerpoint/2010/main" val="9565426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992188" y="76200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Other Issues – TLB Reach 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34987"/>
            <a:ext cx="7631112" cy="4418013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TLB Reach - The amount of memory accessible from the TLB</a:t>
            </a:r>
          </a:p>
          <a:p>
            <a:endParaRPr lang="en-US" altLang="en-US" sz="800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TLB Reach = (TLB Size) X (Page Size)</a:t>
            </a:r>
          </a:p>
          <a:p>
            <a:endParaRPr lang="en-US" altLang="en-US" sz="800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Ideally, the working set of each process is stored in the TLB</a:t>
            </a:r>
          </a:p>
          <a:p>
            <a:pPr lvl="1"/>
            <a:r>
              <a:rPr lang="en-US" altLang="en-US" dirty="0">
                <a:ea typeface="MS PGothic" charset="-128"/>
              </a:rPr>
              <a:t>Otherwise there is a high degree of page faults</a:t>
            </a:r>
          </a:p>
          <a:p>
            <a:pPr lvl="1"/>
            <a:endParaRPr lang="en-US" altLang="en-US" sz="800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Increase the Page Size</a:t>
            </a:r>
          </a:p>
          <a:p>
            <a:pPr lvl="1"/>
            <a:r>
              <a:rPr lang="en-US" altLang="en-US" dirty="0">
                <a:ea typeface="MS PGothic" charset="-128"/>
              </a:rPr>
              <a:t>This may lead to an increase in fragmentation as not all applications require a large page size</a:t>
            </a:r>
          </a:p>
          <a:p>
            <a:pPr lvl="1"/>
            <a:endParaRPr lang="en-US" altLang="en-US" sz="800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Provide Multiple Page Sizes</a:t>
            </a:r>
          </a:p>
          <a:p>
            <a:pPr lvl="1"/>
            <a:r>
              <a:rPr lang="en-US" altLang="en-US" dirty="0">
                <a:ea typeface="MS PGothic" charset="-128"/>
              </a:rPr>
              <a:t>This allows applications that require larger page sizes the opportunity to use them without an increase in fragmentation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66688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63513"/>
            <a:ext cx="83439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Other Issues – Program Structure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176337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sz="2000" dirty="0">
                <a:ea typeface="MS PGothic" charset="-128"/>
              </a:rPr>
              <a:t>Program structure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sz="2000" dirty="0" err="1">
                <a:latin typeface="Courier New" charset="0"/>
                <a:ea typeface="MS PGothic" charset="-128"/>
              </a:rPr>
              <a:t>int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[128,128] data;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sz="2000" dirty="0">
                <a:ea typeface="MS PGothic" charset="-128"/>
              </a:rPr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sz="2000" dirty="0">
                <a:ea typeface="MS PGothic" charset="-128"/>
              </a:rPr>
              <a:t>Program 1 	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317875" algn="l"/>
                <a:tab pos="3649663" algn="l"/>
              </a:tabLst>
            </a:pPr>
            <a:r>
              <a:rPr lang="en-US" altLang="en-US" sz="2000" dirty="0">
                <a:latin typeface="Courier New" charset="0"/>
                <a:ea typeface="MS PGothic" charset="-128"/>
              </a:rPr>
              <a:t>                for (j = 0; j &lt;128; j++)</a:t>
            </a:r>
            <a:br>
              <a:rPr lang="en-US" altLang="en-US" sz="2000" dirty="0">
                <a:latin typeface="Courier New" charset="0"/>
                <a:ea typeface="MS PGothic" charset="-128"/>
              </a:rPr>
            </a:br>
            <a:r>
              <a:rPr lang="en-US" altLang="en-US" sz="2000" dirty="0">
                <a:latin typeface="Courier New" charset="0"/>
                <a:ea typeface="MS PGothic" charset="-128"/>
              </a:rPr>
              <a:t>                  for (</a:t>
            </a:r>
            <a:r>
              <a:rPr lang="en-US" altLang="en-US" sz="2000" dirty="0" err="1">
                <a:latin typeface="Courier New" charset="0"/>
                <a:ea typeface="MS PGothic" charset="-128"/>
              </a:rPr>
              <a:t>i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 = 0; </a:t>
            </a:r>
            <a:r>
              <a:rPr lang="en-US" altLang="en-US" sz="2000" dirty="0" err="1">
                <a:latin typeface="Courier New" charset="0"/>
                <a:ea typeface="MS PGothic" charset="-128"/>
              </a:rPr>
              <a:t>i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 &lt; 128; </a:t>
            </a:r>
            <a:r>
              <a:rPr lang="en-US" altLang="en-US" sz="2000" dirty="0" err="1">
                <a:latin typeface="Courier New" charset="0"/>
                <a:ea typeface="MS PGothic" charset="-128"/>
              </a:rPr>
              <a:t>i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++)</a:t>
            </a:r>
            <a:br>
              <a:rPr lang="en-US" altLang="en-US" sz="2000" dirty="0">
                <a:latin typeface="Courier New" charset="0"/>
                <a:ea typeface="MS PGothic" charset="-128"/>
              </a:rPr>
            </a:br>
            <a:r>
              <a:rPr lang="en-US" altLang="en-US" sz="2000" dirty="0">
                <a:latin typeface="Courier New" charset="0"/>
                <a:ea typeface="MS PGothic" charset="-128"/>
              </a:rPr>
              <a:t>                        data[</a:t>
            </a:r>
            <a:r>
              <a:rPr lang="en-US" altLang="en-US" sz="2000" dirty="0" err="1">
                <a:latin typeface="Courier New" charset="0"/>
                <a:ea typeface="MS PGothic" charset="-128"/>
              </a:rPr>
              <a:t>i,j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] = 0;</a:t>
            </a:r>
            <a:br>
              <a:rPr lang="en-US" altLang="en-US" sz="2000" dirty="0">
                <a:latin typeface="Courier New" charset="0"/>
                <a:ea typeface="MS PGothic" charset="-128"/>
              </a:rPr>
            </a:br>
            <a:endParaRPr lang="en-US" altLang="en-US" sz="2000" dirty="0">
              <a:latin typeface="Courier New" charset="0"/>
              <a:ea typeface="MS PGothic" charset="-128"/>
            </a:endParaRPr>
          </a:p>
          <a:p>
            <a:pPr lvl="1">
              <a:lnSpc>
                <a:spcPct val="90000"/>
              </a:lnSpc>
              <a:buFont typeface="Monotype Sorts" charset="2"/>
              <a:buNone/>
              <a:tabLst>
                <a:tab pos="3317875" algn="l"/>
                <a:tab pos="3649663" algn="l"/>
              </a:tabLst>
            </a:pPr>
            <a:r>
              <a:rPr lang="en-US" altLang="en-US" sz="2000" dirty="0">
                <a:ea typeface="MS PGothic" charset="-128"/>
              </a:rPr>
              <a:t>     128 x 128 = 16,384 page faults </a:t>
            </a:r>
            <a:br>
              <a:rPr lang="en-US" altLang="en-US" sz="2000" dirty="0">
                <a:ea typeface="MS PGothic" charset="-128"/>
              </a:rPr>
            </a:br>
            <a:endParaRPr lang="en-US" altLang="en-US" sz="2000" dirty="0">
              <a:ea typeface="MS PGothic" charset="-128"/>
            </a:endParaRP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sz="2000" dirty="0">
                <a:ea typeface="MS PGothic" charset="-128"/>
              </a:rPr>
              <a:t>Program 2 	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tabLst>
                <a:tab pos="3317875" algn="l"/>
                <a:tab pos="3649663" algn="l"/>
              </a:tabLst>
            </a:pPr>
            <a:r>
              <a:rPr lang="en-US" altLang="en-US" sz="2000" dirty="0">
                <a:latin typeface="Courier New" charset="0"/>
                <a:ea typeface="MS PGothic" charset="-128"/>
              </a:rPr>
              <a:t>             for (</a:t>
            </a:r>
            <a:r>
              <a:rPr lang="en-US" altLang="en-US" sz="2000" dirty="0" err="1">
                <a:latin typeface="Courier New" charset="0"/>
                <a:ea typeface="MS PGothic" charset="-128"/>
              </a:rPr>
              <a:t>i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 = 0; </a:t>
            </a:r>
            <a:r>
              <a:rPr lang="en-US" altLang="en-US" sz="2000" dirty="0" err="1">
                <a:latin typeface="Courier New" charset="0"/>
                <a:ea typeface="MS PGothic" charset="-128"/>
              </a:rPr>
              <a:t>i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 &lt; 128; </a:t>
            </a:r>
            <a:r>
              <a:rPr lang="en-US" altLang="en-US" sz="2000" dirty="0" err="1">
                <a:latin typeface="Courier New" charset="0"/>
                <a:ea typeface="MS PGothic" charset="-128"/>
              </a:rPr>
              <a:t>i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++)</a:t>
            </a:r>
            <a:br>
              <a:rPr lang="en-US" altLang="en-US" sz="2000" dirty="0">
                <a:latin typeface="Courier New" charset="0"/>
                <a:ea typeface="MS PGothic" charset="-128"/>
              </a:rPr>
            </a:br>
            <a:r>
              <a:rPr lang="en-US" altLang="en-US" sz="2000" dirty="0">
                <a:latin typeface="Courier New" charset="0"/>
                <a:ea typeface="MS PGothic" charset="-128"/>
              </a:rPr>
              <a:t>               for (j = 0; j &lt; 128; j++)</a:t>
            </a:r>
            <a:br>
              <a:rPr lang="en-US" altLang="en-US" sz="2000" dirty="0">
                <a:latin typeface="Courier New" charset="0"/>
                <a:ea typeface="MS PGothic" charset="-128"/>
              </a:rPr>
            </a:br>
            <a:r>
              <a:rPr lang="en-US" altLang="en-US" sz="2000" dirty="0">
                <a:latin typeface="Courier New" charset="0"/>
                <a:ea typeface="MS PGothic" charset="-128"/>
              </a:rPr>
              <a:t>                     data[</a:t>
            </a:r>
            <a:r>
              <a:rPr lang="en-US" altLang="en-US" sz="2000" dirty="0" err="1">
                <a:latin typeface="Courier New" charset="0"/>
                <a:ea typeface="MS PGothic" charset="-128"/>
              </a:rPr>
              <a:t>i,j</a:t>
            </a:r>
            <a:r>
              <a:rPr lang="en-US" altLang="en-US" sz="2000" dirty="0">
                <a:latin typeface="Courier New" charset="0"/>
                <a:ea typeface="MS PGothic" charset="-128"/>
              </a:rPr>
              <a:t>] = 0;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tabLst>
                <a:tab pos="3317875" algn="l"/>
                <a:tab pos="3649663" algn="l"/>
              </a:tabLst>
            </a:pPr>
            <a:r>
              <a:rPr lang="en-US" altLang="en-US" sz="2000" dirty="0">
                <a:ea typeface="MS PGothic" charset="-128"/>
              </a:rPr>
              <a:t/>
            </a:r>
            <a:br>
              <a:rPr lang="en-US" altLang="en-US" sz="2000" dirty="0">
                <a:ea typeface="MS PGothic" charset="-128"/>
              </a:rPr>
            </a:br>
            <a:r>
              <a:rPr lang="en-US" altLang="en-US" sz="2000" dirty="0">
                <a:ea typeface="MS PGothic" charset="-128"/>
              </a:rPr>
              <a:t>128 page faults</a:t>
            </a:r>
          </a:p>
        </p:txBody>
      </p:sp>
    </p:spTree>
    <p:extLst>
      <p:ext uri="{BB962C8B-B14F-4D97-AF65-F5344CB8AC3E}">
        <p14:creationId xmlns:p14="http://schemas.microsoft.com/office/powerpoint/2010/main" val="14131671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15081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Other Issues – I/O interlock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93800"/>
            <a:ext cx="4176712" cy="4459288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  <a:ea typeface="MS PGothic" charset="-128"/>
              </a:rPr>
              <a:t>I/O Interlock</a:t>
            </a:r>
            <a:r>
              <a:rPr lang="en-US" altLang="en-US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>
                <a:ea typeface="MS PGothic" charset="-128"/>
              </a:rPr>
              <a:t>– Pages must sometimes be locked into memory</a:t>
            </a:r>
          </a:p>
          <a:p>
            <a:r>
              <a:rPr lang="en-US" altLang="en-US">
                <a:ea typeface="MS PGothic" charset="-128"/>
              </a:rPr>
              <a:t>Consider I/O - Pages that are used for copying a file from a device must be locked from being selected for eviction by a page replacement algorithm</a:t>
            </a:r>
          </a:p>
          <a:p>
            <a:r>
              <a:rPr lang="en-US" altLang="en-US" b="1">
                <a:solidFill>
                  <a:srgbClr val="3366FF"/>
                </a:solidFill>
                <a:ea typeface="MS PGothic" charset="-128"/>
              </a:rPr>
              <a:t>Pinning</a:t>
            </a:r>
            <a:r>
              <a:rPr lang="en-US" altLang="en-US">
                <a:ea typeface="MS PGothic" charset="-128"/>
              </a:rPr>
              <a:t> of pages to lock into memory</a:t>
            </a:r>
          </a:p>
        </p:txBody>
      </p:sp>
      <p:pic>
        <p:nvPicPr>
          <p:cNvPr id="7680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1677988"/>
            <a:ext cx="2914650" cy="33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05688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17621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Operating System Examples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35100"/>
            <a:ext cx="7351712" cy="4483100"/>
          </a:xfrm>
        </p:spPr>
        <p:txBody>
          <a:bodyPr/>
          <a:lstStyle/>
          <a:p>
            <a:r>
              <a:rPr lang="en-US" altLang="en-US">
                <a:ea typeface="MS PGothic" charset="-128"/>
              </a:rPr>
              <a:t>Windows</a:t>
            </a:r>
          </a:p>
          <a:p>
            <a:endParaRPr lang="en-US" altLang="en-US">
              <a:ea typeface="MS PGothic" charset="-128"/>
            </a:endParaRPr>
          </a:p>
          <a:p>
            <a:r>
              <a:rPr lang="en-US" altLang="en-US">
                <a:ea typeface="MS PGothic" charset="-128"/>
              </a:rPr>
              <a:t>Solaris </a:t>
            </a:r>
          </a:p>
        </p:txBody>
      </p:sp>
    </p:spTree>
    <p:extLst>
      <p:ext uri="{BB962C8B-B14F-4D97-AF65-F5344CB8AC3E}">
        <p14:creationId xmlns:p14="http://schemas.microsoft.com/office/powerpoint/2010/main" val="15724592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Windows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720725"/>
            <a:ext cx="7804150" cy="5299075"/>
          </a:xfrm>
        </p:spPr>
        <p:txBody>
          <a:bodyPr/>
          <a:lstStyle/>
          <a:p>
            <a:r>
              <a:rPr lang="en-US" altLang="en-US" sz="2400" dirty="0">
                <a:ea typeface="MS PGothic" charset="-128"/>
              </a:rPr>
              <a:t>Uses demand paging with </a:t>
            </a:r>
            <a:r>
              <a:rPr lang="en-US" altLang="en-US" sz="2400" b="1" dirty="0">
                <a:solidFill>
                  <a:srgbClr val="3366FF"/>
                </a:solidFill>
                <a:ea typeface="MS PGothic" charset="-128"/>
              </a:rPr>
              <a:t>clustering</a:t>
            </a:r>
            <a:r>
              <a:rPr lang="en-US" altLang="en-US" sz="2400" dirty="0">
                <a:ea typeface="MS PGothic" charset="-128"/>
              </a:rPr>
              <a:t>. Clustering brings in pages surrounding the faulting page</a:t>
            </a:r>
          </a:p>
          <a:p>
            <a:r>
              <a:rPr lang="en-US" altLang="en-US" sz="2400" dirty="0">
                <a:ea typeface="MS PGothic" charset="-128"/>
              </a:rPr>
              <a:t>Processes are assigned </a:t>
            </a:r>
            <a:r>
              <a:rPr lang="en-US" altLang="en-US" sz="2400" b="1" dirty="0">
                <a:solidFill>
                  <a:srgbClr val="3366FF"/>
                </a:solidFill>
                <a:ea typeface="MS PGothic" charset="-128"/>
              </a:rPr>
              <a:t>working set minimum</a:t>
            </a:r>
            <a:r>
              <a:rPr lang="en-US" altLang="en-US" sz="2400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sz="2400" dirty="0">
                <a:ea typeface="MS PGothic" charset="-128"/>
              </a:rPr>
              <a:t>and </a:t>
            </a:r>
            <a:r>
              <a:rPr lang="en-US" altLang="en-US" sz="2400" b="1" dirty="0">
                <a:solidFill>
                  <a:srgbClr val="3366FF"/>
                </a:solidFill>
                <a:ea typeface="MS PGothic" charset="-128"/>
              </a:rPr>
              <a:t>working set maximum</a:t>
            </a:r>
            <a:endParaRPr lang="en-US" altLang="en-US" sz="2400" dirty="0">
              <a:solidFill>
                <a:srgbClr val="3366FF"/>
              </a:solidFill>
              <a:ea typeface="MS PGothic" charset="-128"/>
            </a:endParaRPr>
          </a:p>
          <a:p>
            <a:r>
              <a:rPr lang="en-US" altLang="en-US" sz="2400" dirty="0">
                <a:ea typeface="MS PGothic" charset="-128"/>
              </a:rPr>
              <a:t>Working set minimum is the minimum number of pages the process is guaranteed to have in memory</a:t>
            </a:r>
          </a:p>
          <a:p>
            <a:r>
              <a:rPr lang="en-US" altLang="en-US" sz="2400" dirty="0">
                <a:ea typeface="MS PGothic" charset="-128"/>
              </a:rPr>
              <a:t>A process may be assigned as many pages up to its working set maximum</a:t>
            </a:r>
          </a:p>
          <a:p>
            <a:r>
              <a:rPr lang="en-US" altLang="en-US" sz="2400" dirty="0">
                <a:ea typeface="MS PGothic" charset="-128"/>
              </a:rPr>
              <a:t>When the amount of free memory in the system falls below a threshold, </a:t>
            </a:r>
            <a:r>
              <a:rPr lang="en-US" altLang="en-US" sz="2400" b="1" dirty="0">
                <a:solidFill>
                  <a:srgbClr val="3366FF"/>
                </a:solidFill>
                <a:ea typeface="MS PGothic" charset="-128"/>
              </a:rPr>
              <a:t>automatic working set trimming</a:t>
            </a:r>
            <a:r>
              <a:rPr lang="en-US" altLang="en-US" sz="2400" dirty="0">
                <a:solidFill>
                  <a:srgbClr val="3366FF"/>
                </a:solidFill>
                <a:ea typeface="MS PGothic" charset="-128"/>
              </a:rPr>
              <a:t> </a:t>
            </a:r>
            <a:r>
              <a:rPr lang="en-US" altLang="en-US" sz="2400" dirty="0">
                <a:ea typeface="MS PGothic" charset="-128"/>
              </a:rPr>
              <a:t>is performed to restore the amount of free memory</a:t>
            </a:r>
          </a:p>
          <a:p>
            <a:r>
              <a:rPr lang="en-US" altLang="en-US" sz="2400" dirty="0">
                <a:ea typeface="MS PGothic" charset="-128"/>
              </a:rPr>
              <a:t>Working set trimming removes pages from processes that have pages in excess of their working set minimum</a:t>
            </a:r>
          </a:p>
        </p:txBody>
      </p:sp>
    </p:spTree>
    <p:extLst>
      <p:ext uri="{BB962C8B-B14F-4D97-AF65-F5344CB8AC3E}">
        <p14:creationId xmlns:p14="http://schemas.microsoft.com/office/powerpoint/2010/main" val="19349586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Solaris 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0" y="762000"/>
            <a:ext cx="7975600" cy="5386387"/>
          </a:xfrm>
        </p:spPr>
        <p:txBody>
          <a:bodyPr/>
          <a:lstStyle/>
          <a:p>
            <a:r>
              <a:rPr lang="en-US" altLang="en-US" sz="2400" dirty="0">
                <a:ea typeface="MS PGothic" charset="-128"/>
              </a:rPr>
              <a:t>Maintains a list of free pages to assign faulting processes</a:t>
            </a:r>
          </a:p>
          <a:p>
            <a:r>
              <a:rPr lang="en-US" altLang="en-US" sz="2400" b="1" dirty="0" err="1">
                <a:latin typeface="Courier New" charset="0"/>
                <a:ea typeface="MS PGothic" charset="-128"/>
              </a:rPr>
              <a:t>Lotsfree</a:t>
            </a:r>
            <a:r>
              <a:rPr lang="en-US" altLang="en-US" sz="2400" dirty="0">
                <a:ea typeface="MS PGothic" charset="-128"/>
              </a:rPr>
              <a:t> – threshold parameter (amount of free memory) to begin paging</a:t>
            </a:r>
          </a:p>
          <a:p>
            <a:r>
              <a:rPr lang="en-US" altLang="en-US" sz="2400" b="1" dirty="0" err="1">
                <a:latin typeface="Courier New" charset="0"/>
                <a:ea typeface="MS PGothic" charset="-128"/>
              </a:rPr>
              <a:t>Desfree</a:t>
            </a:r>
            <a:r>
              <a:rPr lang="en-US" altLang="en-US" sz="2400" dirty="0">
                <a:ea typeface="MS PGothic" charset="-128"/>
              </a:rPr>
              <a:t> – threshold parameter to increasing paging</a:t>
            </a:r>
          </a:p>
          <a:p>
            <a:r>
              <a:rPr lang="en-US" altLang="en-US" sz="2400" b="1" dirty="0" err="1">
                <a:latin typeface="Courier New" charset="0"/>
                <a:ea typeface="MS PGothic" charset="-128"/>
              </a:rPr>
              <a:t>Minfree</a:t>
            </a:r>
            <a:r>
              <a:rPr lang="en-US" altLang="en-US" sz="2400" dirty="0">
                <a:ea typeface="MS PGothic" charset="-128"/>
              </a:rPr>
              <a:t> – threshold parameter to being swapping</a:t>
            </a:r>
          </a:p>
          <a:p>
            <a:r>
              <a:rPr lang="en-US" altLang="en-US" sz="2400" dirty="0">
                <a:ea typeface="MS PGothic" charset="-128"/>
              </a:rPr>
              <a:t>Paging is performed by </a:t>
            </a:r>
            <a:r>
              <a:rPr lang="en-US" altLang="en-US" sz="2400" b="1" dirty="0" err="1">
                <a:latin typeface="Courier New" charset="0"/>
                <a:ea typeface="MS PGothic" charset="-128"/>
              </a:rPr>
              <a:t>pageout</a:t>
            </a:r>
            <a:r>
              <a:rPr lang="en-US" altLang="en-US" sz="2400" dirty="0">
                <a:ea typeface="MS PGothic" charset="-128"/>
              </a:rPr>
              <a:t> process</a:t>
            </a:r>
          </a:p>
          <a:p>
            <a:r>
              <a:rPr lang="en-US" altLang="en-US" sz="2400" b="1" dirty="0" err="1">
                <a:latin typeface="Courier New" charset="0"/>
                <a:ea typeface="MS PGothic" charset="-128"/>
              </a:rPr>
              <a:t>Pageout</a:t>
            </a:r>
            <a:r>
              <a:rPr lang="en-US" altLang="en-US" sz="2400" dirty="0">
                <a:ea typeface="MS PGothic" charset="-128"/>
              </a:rPr>
              <a:t> scans pages using modified clock algorithm</a:t>
            </a:r>
          </a:p>
          <a:p>
            <a:r>
              <a:rPr lang="en-US" altLang="en-US" sz="2400" b="1" dirty="0" err="1">
                <a:latin typeface="Courier New" charset="0"/>
                <a:ea typeface="MS PGothic" charset="-128"/>
              </a:rPr>
              <a:t>Scanrate</a:t>
            </a:r>
            <a:r>
              <a:rPr lang="en-US" altLang="en-US" sz="2400" dirty="0">
                <a:ea typeface="MS PGothic" charset="-128"/>
              </a:rPr>
              <a:t> is the rate at which pages are scanned. This ranges from </a:t>
            </a:r>
            <a:r>
              <a:rPr lang="en-US" altLang="en-US" sz="2400" b="1" dirty="0" err="1">
                <a:latin typeface="Courier New" charset="0"/>
                <a:ea typeface="MS PGothic" charset="-128"/>
              </a:rPr>
              <a:t>slowscan</a:t>
            </a:r>
            <a:r>
              <a:rPr lang="en-US" altLang="en-US" sz="2400" dirty="0">
                <a:ea typeface="MS PGothic" charset="-128"/>
              </a:rPr>
              <a:t> to </a:t>
            </a:r>
            <a:r>
              <a:rPr lang="en-US" altLang="en-US" sz="2400" b="1" dirty="0" err="1">
                <a:latin typeface="Courier New" charset="0"/>
                <a:ea typeface="MS PGothic" charset="-128"/>
              </a:rPr>
              <a:t>fastscan</a:t>
            </a:r>
            <a:endParaRPr lang="en-US" altLang="en-US" sz="2400" b="1" dirty="0">
              <a:latin typeface="Courier New" charset="0"/>
              <a:ea typeface="MS PGothic" charset="-128"/>
            </a:endParaRPr>
          </a:p>
          <a:p>
            <a:r>
              <a:rPr lang="en-US" altLang="en-US" sz="2400" b="1" dirty="0" err="1">
                <a:latin typeface="Courier New" charset="0"/>
                <a:ea typeface="MS PGothic" charset="-128"/>
              </a:rPr>
              <a:t>Pageout</a:t>
            </a:r>
            <a:r>
              <a:rPr lang="en-US" altLang="en-US" sz="2400" dirty="0">
                <a:ea typeface="MS PGothic" charset="-128"/>
              </a:rPr>
              <a:t> is called more frequently depending upon the amount of free memory available</a:t>
            </a:r>
          </a:p>
          <a:p>
            <a:r>
              <a:rPr lang="en-US" altLang="en-US" sz="2400" b="1" dirty="0">
                <a:solidFill>
                  <a:srgbClr val="3366FF"/>
                </a:solidFill>
                <a:ea typeface="MS PGothic" charset="-128"/>
              </a:rPr>
              <a:t>Priority paging </a:t>
            </a:r>
            <a:r>
              <a:rPr lang="en-US" altLang="en-US" sz="2400" dirty="0">
                <a:ea typeface="MS PGothic" charset="-128"/>
              </a:rPr>
              <a:t>gives priority to process code pages</a:t>
            </a:r>
          </a:p>
          <a:p>
            <a:endParaRPr lang="en-US" altLang="en-US" sz="24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36481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Solaris 2 Page Scanner</a:t>
            </a:r>
          </a:p>
        </p:txBody>
      </p:sp>
      <p:pic>
        <p:nvPicPr>
          <p:cNvPr id="80899" name="Picture 1" descr="9_29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189038"/>
            <a:ext cx="54546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9186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55542</TotalTime>
  <Words>4194</Words>
  <Application>Microsoft Macintosh PowerPoint</Application>
  <PresentationFormat>On-screen Show (4:3)</PresentationFormat>
  <Paragraphs>610</Paragraphs>
  <Slides>74</Slides>
  <Notes>66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6" baseType="lpstr">
      <vt:lpstr>Blueprint</vt:lpstr>
      <vt:lpstr>Equation</vt:lpstr>
      <vt:lpstr>Virtual Memory</vt:lpstr>
      <vt:lpstr>Background</vt:lpstr>
      <vt:lpstr>Background (Cont.)</vt:lpstr>
      <vt:lpstr>Background (Cont.)</vt:lpstr>
      <vt:lpstr>Virtual Memory That is Larger Than Physical Memory</vt:lpstr>
      <vt:lpstr>Virtual-address Space</vt:lpstr>
      <vt:lpstr>Shared Library Using Virtual Memory</vt:lpstr>
      <vt:lpstr>Demand Paging</vt:lpstr>
      <vt:lpstr>Basic Concepts</vt:lpstr>
      <vt:lpstr>Valid-Invalid Bit</vt:lpstr>
      <vt:lpstr>Page Table When Some Pages Are Not in Main Memory</vt:lpstr>
      <vt:lpstr>Page Fault</vt:lpstr>
      <vt:lpstr>Steps in Handling a Page Fault</vt:lpstr>
      <vt:lpstr>Aspects of Demand Paging</vt:lpstr>
      <vt:lpstr>Instruction Restart</vt:lpstr>
      <vt:lpstr>Performance of Demand Paging</vt:lpstr>
      <vt:lpstr>Performance of Demand Paging (Cont.)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Use Of A Stack to Record Most Recent Page References</vt:lpstr>
      <vt:lpstr>LRU Approximation Algorithms</vt:lpstr>
      <vt:lpstr>Second-Chance (clock) Page-Replacement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Priority Allocation</vt:lpstr>
      <vt:lpstr>Global vs. Local Allocation</vt:lpstr>
      <vt:lpstr>Non-Uniform Memory Access</vt:lpstr>
      <vt:lpstr>Thrashing</vt:lpstr>
      <vt:lpstr>Thrashing (Cont.)</vt:lpstr>
      <vt:lpstr>Demand Paging and Thrashing </vt:lpstr>
      <vt:lpstr>Working-Set Model</vt:lpstr>
      <vt:lpstr>Keeping Track of the Working Set</vt:lpstr>
      <vt:lpstr>Page-Fault Frequency</vt:lpstr>
      <vt:lpstr>Working Sets and Page Fault Rates</vt:lpstr>
      <vt:lpstr>Memory-Mapped Files</vt:lpstr>
      <vt:lpstr>Memory-Mapped File Technique for all I/O</vt:lpstr>
      <vt:lpstr>Memory Mapped Files</vt:lpstr>
      <vt:lpstr>Shared Memory via Memory-Mapped I/O</vt:lpstr>
      <vt:lpstr>Shared Memory in Windows API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  <vt:lpstr>Other Considerations -- Prepaging</vt:lpstr>
      <vt:lpstr>Other Issues – Page Size</vt:lpstr>
      <vt:lpstr>Other Issues – TLB Reach </vt:lpstr>
      <vt:lpstr>Other Issues – Program Structure</vt:lpstr>
      <vt:lpstr>Other Issues – I/O interlock</vt:lpstr>
      <vt:lpstr>Operating System Examples</vt:lpstr>
      <vt:lpstr>Windows</vt:lpstr>
      <vt:lpstr>Solaris </vt:lpstr>
      <vt:lpstr>Solaris 2 Page Scanner</vt:lpstr>
    </vt:vector>
  </TitlesOfParts>
  <Company>Stanford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Games and the Impossibility of Realizable Ideal Functionality</dc:title>
  <dc:creator>Ante Derek</dc:creator>
  <cp:lastModifiedBy>Yinzhi Cao</cp:lastModifiedBy>
  <cp:revision>7109</cp:revision>
  <cp:lastPrinted>1998-03-10T18:42:22Z</cp:lastPrinted>
  <dcterms:created xsi:type="dcterms:W3CDTF">1997-09-07T20:51:32Z</dcterms:created>
  <dcterms:modified xsi:type="dcterms:W3CDTF">2016-02-17T19:28:32Z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C:\Documents\cs242\notes\web-slides</vt:lpwstr>
  </property>
</Properties>
</file>