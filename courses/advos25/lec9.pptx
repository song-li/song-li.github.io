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</p:sldMasterIdLst>
  <p:notesMasterIdLst>
    <p:notesMasterId r:id="rId40"/>
  </p:notesMasterIdLst>
  <p:handoutMasterIdLst>
    <p:handoutMasterId r:id="rId41"/>
  </p:handoutMasterIdLst>
  <p:sldIdLst>
    <p:sldId id="560" r:id="rId2"/>
    <p:sldId id="561" r:id="rId3"/>
    <p:sldId id="562" r:id="rId4"/>
    <p:sldId id="563" r:id="rId5"/>
    <p:sldId id="564" r:id="rId6"/>
    <p:sldId id="565" r:id="rId7"/>
    <p:sldId id="566" r:id="rId8"/>
    <p:sldId id="567" r:id="rId9"/>
    <p:sldId id="568" r:id="rId10"/>
    <p:sldId id="569" r:id="rId11"/>
    <p:sldId id="570" r:id="rId12"/>
    <p:sldId id="571" r:id="rId13"/>
    <p:sldId id="572" r:id="rId14"/>
    <p:sldId id="573" r:id="rId15"/>
    <p:sldId id="574" r:id="rId16"/>
    <p:sldId id="575" r:id="rId17"/>
    <p:sldId id="576" r:id="rId18"/>
    <p:sldId id="577" r:id="rId19"/>
    <p:sldId id="578" r:id="rId20"/>
    <p:sldId id="579" r:id="rId21"/>
    <p:sldId id="580" r:id="rId22"/>
    <p:sldId id="581" r:id="rId23"/>
    <p:sldId id="582" r:id="rId24"/>
    <p:sldId id="583" r:id="rId25"/>
    <p:sldId id="584" r:id="rId26"/>
    <p:sldId id="585" r:id="rId27"/>
    <p:sldId id="586" r:id="rId28"/>
    <p:sldId id="587" r:id="rId29"/>
    <p:sldId id="588" r:id="rId30"/>
    <p:sldId id="589" r:id="rId31"/>
    <p:sldId id="590" r:id="rId32"/>
    <p:sldId id="591" r:id="rId33"/>
    <p:sldId id="592" r:id="rId34"/>
    <p:sldId id="593" r:id="rId35"/>
    <p:sldId id="594" r:id="rId36"/>
    <p:sldId id="595" r:id="rId37"/>
    <p:sldId id="596" r:id="rId38"/>
    <p:sldId id="597" r:id="rId39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FF9900"/>
    <a:srgbClr val="CC3300"/>
    <a:srgbClr val="9999FF"/>
    <a:srgbClr val="808080"/>
    <a:srgbClr val="869406"/>
    <a:srgbClr val="666699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52" autoAdjust="0"/>
    <p:restoredTop sz="94618" autoAdjust="0"/>
  </p:normalViewPr>
  <p:slideViewPr>
    <p:cSldViewPr snapToObjects="1">
      <p:cViewPr>
        <p:scale>
          <a:sx n="110" d="100"/>
          <a:sy n="110" d="100"/>
        </p:scale>
        <p:origin x="920" y="144"/>
      </p:cViewPr>
      <p:guideLst>
        <p:guide orient="horz" pos="2160"/>
        <p:guide pos="2880"/>
      </p:guideLst>
    </p:cSldViewPr>
  </p:slideViewPr>
  <p:outlineViewPr>
    <p:cViewPr>
      <p:scale>
        <a:sx n="66" d="100"/>
        <a:sy n="66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1186"/>
    </p:cViewPr>
  </p:sorterViewPr>
  <p:notesViewPr>
    <p:cSldViewPr snapToObjects="1">
      <p:cViewPr varScale="1">
        <p:scale>
          <a:sx n="87" d="100"/>
          <a:sy n="87" d="100"/>
        </p:scale>
        <p:origin x="-1914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t" anchorCtr="0" compatLnSpc="1">
            <a:prstTxWarp prst="textNoShape">
              <a:avLst/>
            </a:prstTxWarp>
          </a:bodyPr>
          <a:lstStyle>
            <a:lvl1pPr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t" anchorCtr="0" compatLnSpc="1">
            <a:prstTxWarp prst="textNoShape">
              <a:avLst/>
            </a:prstTxWarp>
          </a:bodyPr>
          <a:lstStyle>
            <a:lvl1pPr algn="r"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b" anchorCtr="0" compatLnSpc="1">
            <a:prstTxWarp prst="textNoShape">
              <a:avLst/>
            </a:prstTxWarp>
          </a:bodyPr>
          <a:lstStyle>
            <a:lvl1pPr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b" anchorCtr="0" compatLnSpc="1">
            <a:prstTxWarp prst="textNoShape">
              <a:avLst/>
            </a:prstTxWarp>
          </a:bodyPr>
          <a:lstStyle>
            <a:lvl1pPr algn="r"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8D74864-EB05-49AA-BA59-F6F5B3173B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883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t" anchorCtr="0" compatLnSpc="1">
            <a:prstTxWarp prst="textNoShape">
              <a:avLst/>
            </a:prstTxWarp>
          </a:bodyPr>
          <a:lstStyle>
            <a:lvl1pPr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t" anchorCtr="0" compatLnSpc="1">
            <a:prstTxWarp prst="textNoShape">
              <a:avLst/>
            </a:prstTxWarp>
          </a:bodyPr>
          <a:lstStyle>
            <a:lvl1pPr algn="r"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59300"/>
            <a:ext cx="5362575" cy="432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b" anchorCtr="0" compatLnSpc="1">
            <a:prstTxWarp prst="textNoShape">
              <a:avLst/>
            </a:prstTxWarp>
          </a:bodyPr>
          <a:lstStyle>
            <a:lvl1pPr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b" anchorCtr="0" compatLnSpc="1">
            <a:prstTxWarp prst="textNoShape">
              <a:avLst/>
            </a:prstTxWarp>
          </a:bodyPr>
          <a:lstStyle>
            <a:lvl1pPr algn="r"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B35E1360-550A-4529-B4D2-5DC013EF65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36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78161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3211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68690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99925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15435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95126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98565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45752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63794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765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48448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87952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829" y="9119892"/>
            <a:ext cx="3170162" cy="47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fld id="{451D3CDA-00AD-428F-9C63-C487C6B34200}" type="slidenum">
              <a:rPr lang="en-US"/>
              <a:pPr/>
              <a:t>23</a:t>
            </a:fld>
            <a:endParaRPr 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smtClean="0"/>
              <a:t>Challenge: can we make it robust? Small state? Actually find stuff in a changing system?</a:t>
            </a:r>
          </a:p>
          <a:p>
            <a:r>
              <a:rPr lang="en-US" smtClean="0"/>
              <a:t>Consistent rendezvous point, between publisher and client.</a:t>
            </a:r>
          </a:p>
        </p:txBody>
      </p:sp>
    </p:spTree>
    <p:extLst>
      <p:ext uri="{BB962C8B-B14F-4D97-AF65-F5344CB8AC3E}">
        <p14:creationId xmlns:p14="http://schemas.microsoft.com/office/powerpoint/2010/main" val="11383655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829" y="9119892"/>
            <a:ext cx="3170162" cy="47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fld id="{8E01899C-C07F-46BF-8C4D-70CBBA433C32}" type="slidenum">
              <a:rPr lang="en-US"/>
              <a:pPr/>
              <a:t>24</a:t>
            </a:fld>
            <a:endParaRPr 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64229" y="720923"/>
            <a:ext cx="2786743" cy="3600450"/>
          </a:xfrm>
          <a:solidFill>
            <a:srgbClr val="FFFFFF"/>
          </a:solidFill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877" y="4560989"/>
            <a:ext cx="5365448" cy="4319289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smtClean="0"/>
              <a:t>Ids live in a single circular space.</a:t>
            </a:r>
          </a:p>
        </p:txBody>
      </p:sp>
    </p:spTree>
    <p:extLst>
      <p:ext uri="{BB962C8B-B14F-4D97-AF65-F5344CB8AC3E}">
        <p14:creationId xmlns:p14="http://schemas.microsoft.com/office/powerpoint/2010/main" val="577483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1031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829" y="9119892"/>
            <a:ext cx="3170162" cy="47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fld id="{2AE07D92-03E3-4918-A221-44DF4D53EC6B}" type="slidenum">
              <a:rPr lang="en-US"/>
              <a:pPr/>
              <a:t>25</a:t>
            </a:fld>
            <a:endParaRPr lang="en-US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64229" y="720923"/>
            <a:ext cx="2786743" cy="3600450"/>
          </a:xfrm>
          <a:solidFill>
            <a:srgbClr val="FFFFFF"/>
          </a:solidFill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877" y="4560989"/>
            <a:ext cx="5365448" cy="4319289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Char char="-"/>
            </a:pPr>
            <a:r>
              <a:rPr lang="en-US" dirty="0" smtClean="0"/>
              <a:t>Each node is assigned an ID randomly</a:t>
            </a:r>
          </a:p>
          <a:p>
            <a:pPr>
              <a:buFontTx/>
              <a:buChar char="-"/>
            </a:pPr>
            <a:r>
              <a:rPr lang="en-US" dirty="0" smtClean="0"/>
              <a:t>IDs are arranged into a ring by numerical order, top ID wraps around to 0</a:t>
            </a:r>
          </a:p>
          <a:p>
            <a:pPr>
              <a:buFontTx/>
              <a:buChar char="-"/>
            </a:pPr>
            <a:r>
              <a:rPr lang="en-US" dirty="0" smtClean="0"/>
              <a:t>Each node maintains two sets of neighbors, its leaf set and routing table</a:t>
            </a:r>
          </a:p>
          <a:p>
            <a:pPr>
              <a:buFontTx/>
              <a:buChar char="-"/>
            </a:pPr>
            <a:r>
              <a:rPr lang="en-US" dirty="0" smtClean="0"/>
              <a:t>Leaf set is immediate predecessor and successor</a:t>
            </a:r>
          </a:p>
          <a:p>
            <a:pPr>
              <a:buFontTx/>
              <a:buChar char="-"/>
            </a:pPr>
            <a:r>
              <a:rPr lang="en-US" dirty="0" smtClean="0"/>
              <a:t>Routing table neighbors resolve successively longer matching prefixes of node’s own ID</a:t>
            </a:r>
          </a:p>
          <a:p>
            <a:pPr>
              <a:buFontTx/>
              <a:buChar char="-"/>
            </a:pPr>
            <a:r>
              <a:rPr lang="en-US" dirty="0" smtClean="0"/>
              <a:t>Lookup queries are routed greedily to node with closest matching ID (numerically, not </a:t>
            </a:r>
            <a:r>
              <a:rPr lang="en-US" dirty="0" err="1" smtClean="0"/>
              <a:t>lexigraphically</a:t>
            </a:r>
            <a:r>
              <a:rPr lang="en-US" dirty="0" smtClean="0"/>
              <a:t>)</a:t>
            </a:r>
          </a:p>
          <a:p>
            <a:pPr>
              <a:buFontTx/>
              <a:buChar char="-"/>
            </a:pPr>
            <a:r>
              <a:rPr lang="en-US" dirty="0" smtClean="0"/>
              <a:t>Response is sent directly to querying node</a:t>
            </a:r>
          </a:p>
          <a:p>
            <a:pPr>
              <a:buFontTx/>
              <a:buChar char="-"/>
            </a:pPr>
            <a:r>
              <a:rPr lang="en-US" dirty="0" smtClean="0"/>
              <a:t>Lookup handled differently in other DHTs; see </a:t>
            </a:r>
            <a:r>
              <a:rPr lang="en-US" dirty="0" err="1" smtClean="0"/>
              <a:t>Gummadi</a:t>
            </a:r>
            <a:r>
              <a:rPr lang="en-US" dirty="0" smtClean="0"/>
              <a:t> et al.’s SIGCOMM paper for details</a:t>
            </a:r>
          </a:p>
        </p:txBody>
      </p:sp>
    </p:spTree>
    <p:extLst>
      <p:ext uri="{BB962C8B-B14F-4D97-AF65-F5344CB8AC3E}">
        <p14:creationId xmlns:p14="http://schemas.microsoft.com/office/powerpoint/2010/main" val="12868694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ln/>
        </p:spPr>
        <p:txBody>
          <a:bodyPr/>
          <a:lstStyle/>
          <a:p>
            <a:fld id="{E0AC0854-3D27-4D1B-B0E1-A95492B4D542}" type="slidenum">
              <a:rPr lang="en-US"/>
              <a:pPr/>
              <a:t>28</a:t>
            </a:fld>
            <a:endParaRPr lang="en-US"/>
          </a:p>
        </p:txBody>
      </p:sp>
      <p:sp>
        <p:nvSpPr>
          <p:cNvPr id="509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9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338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ln/>
        </p:spPr>
        <p:txBody>
          <a:bodyPr/>
          <a:lstStyle/>
          <a:p>
            <a:fld id="{629B6399-5148-4B70-A466-ABC45CA2CAED}" type="slidenum">
              <a:rPr lang="en-US"/>
              <a:pPr/>
              <a:t>29</a:t>
            </a:fld>
            <a:endParaRPr lang="en-US"/>
          </a:p>
        </p:txBody>
      </p:sp>
      <p:sp>
        <p:nvSpPr>
          <p:cNvPr id="525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498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ln/>
        </p:spPr>
        <p:txBody>
          <a:bodyPr/>
          <a:lstStyle/>
          <a:p>
            <a:fld id="{C216071F-2D6F-45CD-9618-5E966238A056}" type="slidenum">
              <a:rPr lang="en-US"/>
              <a:pPr/>
              <a:t>30</a:t>
            </a:fld>
            <a:endParaRPr lang="en-US"/>
          </a:p>
        </p:txBody>
      </p:sp>
      <p:sp>
        <p:nvSpPr>
          <p:cNvPr id="530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0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  <a:ln/>
        </p:spPr>
        <p:txBody>
          <a:bodyPr/>
          <a:lstStyle/>
          <a:p>
            <a:fld id="{15786B6B-0343-4B37-912B-406EBB0E6397}" type="slidenum">
              <a:rPr lang="en-US"/>
              <a:pPr/>
              <a:t>31</a:t>
            </a:fld>
            <a:endParaRPr lang="en-US"/>
          </a:p>
        </p:txBody>
      </p:sp>
      <p:sp>
        <p:nvSpPr>
          <p:cNvPr id="539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9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1027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1028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16" name="Group 1029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1030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9" name="Line 1031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0" name="Line 1032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1" name="Line 1033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2" name="Line 1034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3" name="Line 1035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4" name="Line 1036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5" name="Line 1037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6" name="Line 1038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7" name="Line 1039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8" name="Line 1040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9" name="Line 1041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0" name="Line 1042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1" name="Line 1043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2" name="Line 1044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3" name="Line 1045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4" name="Line 1046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5" name="Line 1047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6" name="Line 1048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7" name="Line 1049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8" name="Line 1050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9" name="Line 1051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" name="Line 1052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1" name="Line 1053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2" name="Line 1054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3" name="Line 1055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4" name="Line 1056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5" name="Line 1057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6" name="Line 1058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7" name="Line 1059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8" name="Line 1060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9" name="Line 1061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0" name="Line 1062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1" name="Line 1063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2" name="Line 1064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3" name="Line 1065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4" name="Line 1066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5" name="Line 1067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6" name="Line 1068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7" name="Line 1069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8" name="Line 1070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9" name="Line 1071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0" name="Line 1072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1" name="Line 1073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2" name="Line 1074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3" name="Line 1075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4" name="Line 1076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5" name="Line 1077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6" name="Line 1078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7" name="Line 1079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8" name="Line 1080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17" name="Line 1081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6" name="Group 1082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1083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2" name="Line 1084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Line 1085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4" name="Arc 1086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7" name="Group 1087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1088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Line 1089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Arc 1090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069123" name="Rectangle 1091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069124" name="Rectangle 1092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1093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109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" name="Rectangle 1095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020C872-3BC4-4E8F-8435-60B84CF2BB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90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772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914400"/>
            <a:ext cx="38862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862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514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 userDrawn="1"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2053" name="Group 3"/>
            <p:cNvGrpSpPr>
              <a:grpSpLocks/>
            </p:cNvGrpSpPr>
            <p:nvPr userDrawn="1"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2060" name="Group 4"/>
              <p:cNvGrpSpPr>
                <a:grpSpLocks/>
              </p:cNvGrpSpPr>
              <p:nvPr userDrawn="1"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68037" name="Line 5"/>
                <p:cNvSpPr>
                  <a:spLocks noChangeShapeType="1"/>
                </p:cNvSpPr>
                <p:nvPr userDrawn="1"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38" name="Line 6"/>
                <p:cNvSpPr>
                  <a:spLocks noChangeShapeType="1"/>
                </p:cNvSpPr>
                <p:nvPr userDrawn="1"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39" name="Line 7"/>
                <p:cNvSpPr>
                  <a:spLocks noChangeShapeType="1"/>
                </p:cNvSpPr>
                <p:nvPr userDrawn="1"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0" name="Line 8"/>
                <p:cNvSpPr>
                  <a:spLocks noChangeShapeType="1"/>
                </p:cNvSpPr>
                <p:nvPr userDrawn="1"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1" name="Line 9"/>
                <p:cNvSpPr>
                  <a:spLocks noChangeShapeType="1"/>
                </p:cNvSpPr>
                <p:nvPr userDrawn="1"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2" name="Line 10"/>
                <p:cNvSpPr>
                  <a:spLocks noChangeShapeType="1"/>
                </p:cNvSpPr>
                <p:nvPr userDrawn="1"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3" name="Line 11"/>
                <p:cNvSpPr>
                  <a:spLocks noChangeShapeType="1"/>
                </p:cNvSpPr>
                <p:nvPr userDrawn="1"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4" name="Line 12"/>
                <p:cNvSpPr>
                  <a:spLocks noChangeShapeType="1"/>
                </p:cNvSpPr>
                <p:nvPr userDrawn="1"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5" name="Line 13"/>
                <p:cNvSpPr>
                  <a:spLocks noChangeShapeType="1"/>
                </p:cNvSpPr>
                <p:nvPr userDrawn="1"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6" name="Line 14"/>
                <p:cNvSpPr>
                  <a:spLocks noChangeShapeType="1"/>
                </p:cNvSpPr>
                <p:nvPr userDrawn="1"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7" name="Line 15"/>
                <p:cNvSpPr>
                  <a:spLocks noChangeShapeType="1"/>
                </p:cNvSpPr>
                <p:nvPr userDrawn="1"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8" name="Line 16"/>
                <p:cNvSpPr>
                  <a:spLocks noChangeShapeType="1"/>
                </p:cNvSpPr>
                <p:nvPr userDrawn="1"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9" name="Line 17"/>
                <p:cNvSpPr>
                  <a:spLocks noChangeShapeType="1"/>
                </p:cNvSpPr>
                <p:nvPr userDrawn="1"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0" name="Line 18"/>
                <p:cNvSpPr>
                  <a:spLocks noChangeShapeType="1"/>
                </p:cNvSpPr>
                <p:nvPr userDrawn="1"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1" name="Line 19"/>
                <p:cNvSpPr>
                  <a:spLocks noChangeShapeType="1"/>
                </p:cNvSpPr>
                <p:nvPr userDrawn="1"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2" name="Line 20"/>
                <p:cNvSpPr>
                  <a:spLocks noChangeShapeType="1"/>
                </p:cNvSpPr>
                <p:nvPr userDrawn="1"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3" name="Line 21"/>
                <p:cNvSpPr>
                  <a:spLocks noChangeShapeType="1"/>
                </p:cNvSpPr>
                <p:nvPr userDrawn="1"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4" name="Line 22"/>
                <p:cNvSpPr>
                  <a:spLocks noChangeShapeType="1"/>
                </p:cNvSpPr>
                <p:nvPr userDrawn="1"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5" name="Line 23"/>
                <p:cNvSpPr>
                  <a:spLocks noChangeShapeType="1"/>
                </p:cNvSpPr>
                <p:nvPr userDrawn="1"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6" name="Line 24"/>
                <p:cNvSpPr>
                  <a:spLocks noChangeShapeType="1"/>
                </p:cNvSpPr>
                <p:nvPr userDrawn="1"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7" name="Line 25"/>
                <p:cNvSpPr>
                  <a:spLocks noChangeShapeType="1"/>
                </p:cNvSpPr>
                <p:nvPr userDrawn="1"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8" name="Line 26"/>
                <p:cNvSpPr>
                  <a:spLocks noChangeShapeType="1"/>
                </p:cNvSpPr>
                <p:nvPr userDrawn="1"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2061" name="Group 27"/>
              <p:cNvGrpSpPr>
                <a:grpSpLocks/>
              </p:cNvGrpSpPr>
              <p:nvPr userDrawn="1"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68060" name="Line 28"/>
                <p:cNvSpPr>
                  <a:spLocks noChangeShapeType="1"/>
                </p:cNvSpPr>
                <p:nvPr userDrawn="1"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1" name="Line 29"/>
                <p:cNvSpPr>
                  <a:spLocks noChangeShapeType="1"/>
                </p:cNvSpPr>
                <p:nvPr userDrawn="1"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2" name="Line 30"/>
                <p:cNvSpPr>
                  <a:spLocks noChangeShapeType="1"/>
                </p:cNvSpPr>
                <p:nvPr userDrawn="1"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3" name="Line 31"/>
                <p:cNvSpPr>
                  <a:spLocks noChangeShapeType="1"/>
                </p:cNvSpPr>
                <p:nvPr userDrawn="1"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4" name="Line 32"/>
                <p:cNvSpPr>
                  <a:spLocks noChangeShapeType="1"/>
                </p:cNvSpPr>
                <p:nvPr userDrawn="1"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5" name="Line 33"/>
                <p:cNvSpPr>
                  <a:spLocks noChangeShapeType="1"/>
                </p:cNvSpPr>
                <p:nvPr userDrawn="1"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6" name="Line 34"/>
                <p:cNvSpPr>
                  <a:spLocks noChangeShapeType="1"/>
                </p:cNvSpPr>
                <p:nvPr userDrawn="1"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7" name="Line 35"/>
                <p:cNvSpPr>
                  <a:spLocks noChangeShapeType="1"/>
                </p:cNvSpPr>
                <p:nvPr userDrawn="1"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8" name="Line 36"/>
                <p:cNvSpPr>
                  <a:spLocks noChangeShapeType="1"/>
                </p:cNvSpPr>
                <p:nvPr userDrawn="1"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9" name="Line 37"/>
                <p:cNvSpPr>
                  <a:spLocks noChangeShapeType="1"/>
                </p:cNvSpPr>
                <p:nvPr userDrawn="1"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0" name="Line 38"/>
                <p:cNvSpPr>
                  <a:spLocks noChangeShapeType="1"/>
                </p:cNvSpPr>
                <p:nvPr userDrawn="1"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1" name="Line 39"/>
                <p:cNvSpPr>
                  <a:spLocks noChangeShapeType="1"/>
                </p:cNvSpPr>
                <p:nvPr userDrawn="1"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2" name="Line 40"/>
                <p:cNvSpPr>
                  <a:spLocks noChangeShapeType="1"/>
                </p:cNvSpPr>
                <p:nvPr userDrawn="1"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3" name="Line 41"/>
                <p:cNvSpPr>
                  <a:spLocks noChangeShapeType="1"/>
                </p:cNvSpPr>
                <p:nvPr userDrawn="1"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4" name="Line 42"/>
                <p:cNvSpPr>
                  <a:spLocks noChangeShapeType="1"/>
                </p:cNvSpPr>
                <p:nvPr userDrawn="1"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5" name="Line 43"/>
                <p:cNvSpPr>
                  <a:spLocks noChangeShapeType="1"/>
                </p:cNvSpPr>
                <p:nvPr userDrawn="1"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6" name="Line 44"/>
                <p:cNvSpPr>
                  <a:spLocks noChangeShapeType="1"/>
                </p:cNvSpPr>
                <p:nvPr userDrawn="1"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7" name="Line 45"/>
                <p:cNvSpPr>
                  <a:spLocks noChangeShapeType="1"/>
                </p:cNvSpPr>
                <p:nvPr userDrawn="1"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8" name="Line 46"/>
                <p:cNvSpPr>
                  <a:spLocks noChangeShapeType="1"/>
                </p:cNvSpPr>
                <p:nvPr userDrawn="1"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9" name="Line 47"/>
                <p:cNvSpPr>
                  <a:spLocks noChangeShapeType="1"/>
                </p:cNvSpPr>
                <p:nvPr userDrawn="1"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0" name="Line 48"/>
                <p:cNvSpPr>
                  <a:spLocks noChangeShapeType="1"/>
                </p:cNvSpPr>
                <p:nvPr userDrawn="1"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1" name="Line 49"/>
                <p:cNvSpPr>
                  <a:spLocks noChangeShapeType="1"/>
                </p:cNvSpPr>
                <p:nvPr userDrawn="1"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2" name="Line 50"/>
                <p:cNvSpPr>
                  <a:spLocks noChangeShapeType="1"/>
                </p:cNvSpPr>
                <p:nvPr userDrawn="1"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3" name="Line 51"/>
                <p:cNvSpPr>
                  <a:spLocks noChangeShapeType="1"/>
                </p:cNvSpPr>
                <p:nvPr userDrawn="1"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4" name="Line 52"/>
                <p:cNvSpPr>
                  <a:spLocks noChangeShapeType="1"/>
                </p:cNvSpPr>
                <p:nvPr userDrawn="1"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5" name="Line 53"/>
                <p:cNvSpPr>
                  <a:spLocks noChangeShapeType="1"/>
                </p:cNvSpPr>
                <p:nvPr userDrawn="1"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6" name="Line 54"/>
                <p:cNvSpPr>
                  <a:spLocks noChangeShapeType="1"/>
                </p:cNvSpPr>
                <p:nvPr userDrawn="1"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7" name="Line 55"/>
                <p:cNvSpPr>
                  <a:spLocks noChangeShapeType="1"/>
                </p:cNvSpPr>
                <p:nvPr userDrawn="1"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8" name="Line 56"/>
                <p:cNvSpPr>
                  <a:spLocks noChangeShapeType="1"/>
                </p:cNvSpPr>
                <p:nvPr userDrawn="1"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</p:grpSp>
        <p:sp>
          <p:nvSpPr>
            <p:cNvPr id="1068089" name="Rectangle 57" descr="60%"/>
            <p:cNvSpPr>
              <a:spLocks noChangeArrowheads="1"/>
            </p:cNvSpPr>
            <p:nvPr userDrawn="1"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8090" name="Line 58"/>
            <p:cNvSpPr>
              <a:spLocks noChangeShapeType="1"/>
            </p:cNvSpPr>
            <p:nvPr userDrawn="1"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2056" name="Group 59"/>
            <p:cNvGrpSpPr>
              <a:grpSpLocks/>
            </p:cNvGrpSpPr>
            <p:nvPr userDrawn="1"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68092" name="Line 60"/>
              <p:cNvSpPr>
                <a:spLocks noChangeShapeType="1"/>
              </p:cNvSpPr>
              <p:nvPr userDrawn="1"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68093" name="Line 61"/>
              <p:cNvSpPr>
                <a:spLocks noChangeShapeType="1"/>
              </p:cNvSpPr>
              <p:nvPr userDrawn="1"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68094" name="Arc 62"/>
              <p:cNvSpPr>
                <a:spLocks/>
              </p:cNvSpPr>
              <p:nvPr userDrawn="1"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2051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2052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50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5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3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4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3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Distributed File Systems</a:t>
            </a:r>
          </a:p>
        </p:txBody>
      </p:sp>
      <p:sp>
        <p:nvSpPr>
          <p:cNvPr id="40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309938"/>
            <a:ext cx="5410200" cy="1752600"/>
          </a:xfrm>
        </p:spPr>
        <p:txBody>
          <a:bodyPr/>
          <a:lstStyle/>
          <a:p>
            <a:pPr algn="ctr"/>
            <a:r>
              <a:rPr lang="en-US" dirty="0" smtClean="0"/>
              <a:t>Presenter: Yinzhi Cao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228600" y="147638"/>
            <a:ext cx="4572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smtClean="0">
                <a:latin typeface="Arial" charset="0"/>
              </a:rPr>
              <a:t>CSE403 Lehigh University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4101" name="Text Box 8"/>
          <p:cNvSpPr txBox="1">
            <a:spLocks noChangeArrowheads="1"/>
          </p:cNvSpPr>
          <p:nvPr/>
        </p:nvSpPr>
        <p:spPr bwMode="auto">
          <a:xfrm>
            <a:off x="6477000" y="147638"/>
            <a:ext cx="2286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dirty="0">
                <a:latin typeface="Arial" charset="0"/>
              </a:rPr>
              <a:t> </a:t>
            </a:r>
            <a:r>
              <a:rPr lang="en-US" smtClean="0">
                <a:latin typeface="Arial" charset="0"/>
              </a:rPr>
              <a:t>Spring 2016</a:t>
            </a:r>
            <a:endParaRPr lang="en-US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9220200" cy="533400"/>
          </a:xfrm>
        </p:spPr>
        <p:txBody>
          <a:bodyPr/>
          <a:lstStyle/>
          <a:p>
            <a:r>
              <a:rPr lang="en-US" sz="2800" dirty="0" smtClean="0"/>
              <a:t>Recall: Network-Attached Storage and the CAP Theorem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615997"/>
            <a:ext cx="8991600" cy="316580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Consistency: </a:t>
            </a:r>
          </a:p>
          <a:p>
            <a:pPr lvl="1"/>
            <a:r>
              <a:rPr lang="en-US" dirty="0" smtClean="0"/>
              <a:t>Changes appear to everyone in the same serial order</a:t>
            </a:r>
          </a:p>
          <a:p>
            <a:r>
              <a:rPr lang="en-US" dirty="0" smtClean="0"/>
              <a:t>Availability:</a:t>
            </a:r>
          </a:p>
          <a:p>
            <a:pPr lvl="1"/>
            <a:r>
              <a:rPr lang="en-US" dirty="0" smtClean="0"/>
              <a:t>Can get a result at any time</a:t>
            </a:r>
          </a:p>
          <a:p>
            <a:r>
              <a:rPr lang="en-US" dirty="0" smtClean="0"/>
              <a:t>Partition-Tolerance</a:t>
            </a:r>
          </a:p>
          <a:p>
            <a:pPr lvl="1"/>
            <a:r>
              <a:rPr lang="en-US" dirty="0" smtClean="0"/>
              <a:t>System continues to work even when network becomes partitioned</a:t>
            </a:r>
          </a:p>
          <a:p>
            <a:r>
              <a:rPr lang="en-US" dirty="0" smtClean="0"/>
              <a:t>Consistency, Availability, Partition-Tolerance (CAP) Theorem: </a:t>
            </a:r>
            <a:r>
              <a:rPr lang="en-US" dirty="0" smtClean="0">
                <a:solidFill>
                  <a:srgbClr val="FF0000"/>
                </a:solidFill>
              </a:rPr>
              <a:t>Cannot have all three at same time</a:t>
            </a:r>
          </a:p>
          <a:p>
            <a:pPr lvl="1"/>
            <a:r>
              <a:rPr lang="en-US" dirty="0" smtClean="0"/>
              <a:t>Otherwise known as “Brewer’s Theorem”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Cloud 3"/>
          <p:cNvSpPr/>
          <p:nvPr/>
        </p:nvSpPr>
        <p:spPr bwMode="auto">
          <a:xfrm>
            <a:off x="2590800" y="838200"/>
            <a:ext cx="3657600" cy="2362200"/>
          </a:xfrm>
          <a:prstGeom prst="cloud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 smtClean="0"/>
              <a:t>Network</a:t>
            </a: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grpSp>
        <p:nvGrpSpPr>
          <p:cNvPr id="10" name="Group 26"/>
          <p:cNvGrpSpPr>
            <a:grpSpLocks/>
          </p:cNvGrpSpPr>
          <p:nvPr/>
        </p:nvGrpSpPr>
        <p:grpSpPr bwMode="auto">
          <a:xfrm>
            <a:off x="3886200" y="582699"/>
            <a:ext cx="1772653" cy="1027644"/>
            <a:chOff x="2304" y="672"/>
            <a:chExt cx="1824" cy="912"/>
          </a:xfrm>
        </p:grpSpPr>
        <p:pic>
          <p:nvPicPr>
            <p:cNvPr id="17" name="Picture 5" descr="MCj03984350000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672"/>
              <a:ext cx="981" cy="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25"/>
            <p:cNvGrpSpPr>
              <a:grpSpLocks/>
            </p:cNvGrpSpPr>
            <p:nvPr/>
          </p:nvGrpSpPr>
          <p:grpSpPr bwMode="auto">
            <a:xfrm>
              <a:off x="3600" y="720"/>
              <a:ext cx="528" cy="864"/>
              <a:chOff x="3600" y="720"/>
              <a:chExt cx="528" cy="864"/>
            </a:xfrm>
          </p:grpSpPr>
          <p:sp>
            <p:nvSpPr>
              <p:cNvPr id="14" name="AutoShape 20"/>
              <p:cNvSpPr>
                <a:spLocks noChangeArrowheads="1"/>
              </p:cNvSpPr>
              <p:nvPr/>
            </p:nvSpPr>
            <p:spPr bwMode="auto">
              <a:xfrm>
                <a:off x="3600" y="720"/>
                <a:ext cx="336" cy="480"/>
              </a:xfrm>
              <a:prstGeom prst="can">
                <a:avLst>
                  <a:gd name="adj" fmla="val 35714"/>
                </a:avLst>
              </a:prstGeom>
              <a:solidFill>
                <a:srgbClr val="FF66CC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  <p:sp>
            <p:nvSpPr>
              <p:cNvPr id="15" name="AutoShape 21"/>
              <p:cNvSpPr>
                <a:spLocks noChangeArrowheads="1"/>
              </p:cNvSpPr>
              <p:nvPr/>
            </p:nvSpPr>
            <p:spPr bwMode="auto">
              <a:xfrm>
                <a:off x="3696" y="912"/>
                <a:ext cx="336" cy="480"/>
              </a:xfrm>
              <a:prstGeom prst="can">
                <a:avLst>
                  <a:gd name="adj" fmla="val 35714"/>
                </a:avLst>
              </a:prstGeom>
              <a:solidFill>
                <a:srgbClr val="FF66CC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  <p:sp>
            <p:nvSpPr>
              <p:cNvPr id="16" name="AutoShape 22"/>
              <p:cNvSpPr>
                <a:spLocks noChangeArrowheads="1"/>
              </p:cNvSpPr>
              <p:nvPr/>
            </p:nvSpPr>
            <p:spPr bwMode="auto">
              <a:xfrm>
                <a:off x="3792" y="1104"/>
                <a:ext cx="336" cy="480"/>
              </a:xfrm>
              <a:prstGeom prst="can">
                <a:avLst>
                  <a:gd name="adj" fmla="val 35714"/>
                </a:avLst>
              </a:prstGeom>
              <a:solidFill>
                <a:srgbClr val="FF66CC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</p:grpSp>
        <p:sp>
          <p:nvSpPr>
            <p:cNvPr id="13" name="AutoShape 23"/>
            <p:cNvSpPr>
              <a:spLocks noChangeArrowheads="1"/>
            </p:cNvSpPr>
            <p:nvPr/>
          </p:nvSpPr>
          <p:spPr bwMode="auto">
            <a:xfrm>
              <a:off x="3072" y="1008"/>
              <a:ext cx="432" cy="336"/>
            </a:xfrm>
            <a:prstGeom prst="leftRightArrow">
              <a:avLst>
                <a:gd name="adj1" fmla="val 50000"/>
                <a:gd name="adj2" fmla="val 25714"/>
              </a:avLst>
            </a:prstGeom>
            <a:solidFill>
              <a:srgbClr val="00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</p:grpSp>
      <p:grpSp>
        <p:nvGrpSpPr>
          <p:cNvPr id="20" name="Group 26"/>
          <p:cNvGrpSpPr>
            <a:grpSpLocks/>
          </p:cNvGrpSpPr>
          <p:nvPr/>
        </p:nvGrpSpPr>
        <p:grpSpPr bwMode="auto">
          <a:xfrm>
            <a:off x="3226785" y="2728499"/>
            <a:ext cx="1772653" cy="1027644"/>
            <a:chOff x="2304" y="672"/>
            <a:chExt cx="1824" cy="912"/>
          </a:xfrm>
        </p:grpSpPr>
        <p:pic>
          <p:nvPicPr>
            <p:cNvPr id="21" name="Picture 5" descr="MCj03984350000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672"/>
              <a:ext cx="981" cy="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2" name="Group 25"/>
            <p:cNvGrpSpPr>
              <a:grpSpLocks/>
            </p:cNvGrpSpPr>
            <p:nvPr/>
          </p:nvGrpSpPr>
          <p:grpSpPr bwMode="auto">
            <a:xfrm>
              <a:off x="3600" y="720"/>
              <a:ext cx="528" cy="864"/>
              <a:chOff x="3600" y="720"/>
              <a:chExt cx="528" cy="864"/>
            </a:xfrm>
          </p:grpSpPr>
          <p:sp>
            <p:nvSpPr>
              <p:cNvPr id="24" name="AutoShape 20"/>
              <p:cNvSpPr>
                <a:spLocks noChangeArrowheads="1"/>
              </p:cNvSpPr>
              <p:nvPr/>
            </p:nvSpPr>
            <p:spPr bwMode="auto">
              <a:xfrm>
                <a:off x="3600" y="720"/>
                <a:ext cx="336" cy="480"/>
              </a:xfrm>
              <a:prstGeom prst="can">
                <a:avLst>
                  <a:gd name="adj" fmla="val 35714"/>
                </a:avLst>
              </a:prstGeom>
              <a:solidFill>
                <a:srgbClr val="FF66CC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  <p:sp>
            <p:nvSpPr>
              <p:cNvPr id="25" name="AutoShape 21"/>
              <p:cNvSpPr>
                <a:spLocks noChangeArrowheads="1"/>
              </p:cNvSpPr>
              <p:nvPr/>
            </p:nvSpPr>
            <p:spPr bwMode="auto">
              <a:xfrm>
                <a:off x="3696" y="912"/>
                <a:ext cx="336" cy="480"/>
              </a:xfrm>
              <a:prstGeom prst="can">
                <a:avLst>
                  <a:gd name="adj" fmla="val 35714"/>
                </a:avLst>
              </a:prstGeom>
              <a:solidFill>
                <a:srgbClr val="FF66CC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  <p:sp>
            <p:nvSpPr>
              <p:cNvPr id="26" name="AutoShape 22"/>
              <p:cNvSpPr>
                <a:spLocks noChangeArrowheads="1"/>
              </p:cNvSpPr>
              <p:nvPr/>
            </p:nvSpPr>
            <p:spPr bwMode="auto">
              <a:xfrm>
                <a:off x="3792" y="1104"/>
                <a:ext cx="336" cy="480"/>
              </a:xfrm>
              <a:prstGeom prst="can">
                <a:avLst>
                  <a:gd name="adj" fmla="val 35714"/>
                </a:avLst>
              </a:prstGeom>
              <a:solidFill>
                <a:srgbClr val="FF66CC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</p:grpSp>
        <p:sp>
          <p:nvSpPr>
            <p:cNvPr id="23" name="AutoShape 23"/>
            <p:cNvSpPr>
              <a:spLocks noChangeArrowheads="1"/>
            </p:cNvSpPr>
            <p:nvPr/>
          </p:nvSpPr>
          <p:spPr bwMode="auto">
            <a:xfrm>
              <a:off x="3072" y="1008"/>
              <a:ext cx="432" cy="336"/>
            </a:xfrm>
            <a:prstGeom prst="leftRightArrow">
              <a:avLst>
                <a:gd name="adj1" fmla="val 50000"/>
                <a:gd name="adj2" fmla="val 25714"/>
              </a:avLst>
            </a:prstGeom>
            <a:solidFill>
              <a:srgbClr val="00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</p:grpSp>
      <p:grpSp>
        <p:nvGrpSpPr>
          <p:cNvPr id="34" name="Group 26"/>
          <p:cNvGrpSpPr>
            <a:grpSpLocks/>
          </p:cNvGrpSpPr>
          <p:nvPr/>
        </p:nvGrpSpPr>
        <p:grpSpPr bwMode="auto">
          <a:xfrm>
            <a:off x="5085347" y="2248956"/>
            <a:ext cx="1772653" cy="1027644"/>
            <a:chOff x="2304" y="672"/>
            <a:chExt cx="1824" cy="912"/>
          </a:xfrm>
        </p:grpSpPr>
        <p:pic>
          <p:nvPicPr>
            <p:cNvPr id="35" name="Picture 5" descr="MCj03984350000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672"/>
              <a:ext cx="981" cy="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6" name="Group 25"/>
            <p:cNvGrpSpPr>
              <a:grpSpLocks/>
            </p:cNvGrpSpPr>
            <p:nvPr/>
          </p:nvGrpSpPr>
          <p:grpSpPr bwMode="auto">
            <a:xfrm>
              <a:off x="3600" y="720"/>
              <a:ext cx="528" cy="864"/>
              <a:chOff x="3600" y="720"/>
              <a:chExt cx="528" cy="864"/>
            </a:xfrm>
          </p:grpSpPr>
          <p:sp>
            <p:nvSpPr>
              <p:cNvPr id="38" name="AutoShape 20"/>
              <p:cNvSpPr>
                <a:spLocks noChangeArrowheads="1"/>
              </p:cNvSpPr>
              <p:nvPr/>
            </p:nvSpPr>
            <p:spPr bwMode="auto">
              <a:xfrm>
                <a:off x="3600" y="720"/>
                <a:ext cx="336" cy="480"/>
              </a:xfrm>
              <a:prstGeom prst="can">
                <a:avLst>
                  <a:gd name="adj" fmla="val 35714"/>
                </a:avLst>
              </a:prstGeom>
              <a:solidFill>
                <a:srgbClr val="FF66CC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  <p:sp>
            <p:nvSpPr>
              <p:cNvPr id="39" name="AutoShape 21"/>
              <p:cNvSpPr>
                <a:spLocks noChangeArrowheads="1"/>
              </p:cNvSpPr>
              <p:nvPr/>
            </p:nvSpPr>
            <p:spPr bwMode="auto">
              <a:xfrm>
                <a:off x="3696" y="912"/>
                <a:ext cx="336" cy="480"/>
              </a:xfrm>
              <a:prstGeom prst="can">
                <a:avLst>
                  <a:gd name="adj" fmla="val 35714"/>
                </a:avLst>
              </a:prstGeom>
              <a:solidFill>
                <a:srgbClr val="FF66CC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  <p:sp>
            <p:nvSpPr>
              <p:cNvPr id="40" name="AutoShape 22"/>
              <p:cNvSpPr>
                <a:spLocks noChangeArrowheads="1"/>
              </p:cNvSpPr>
              <p:nvPr/>
            </p:nvSpPr>
            <p:spPr bwMode="auto">
              <a:xfrm>
                <a:off x="3792" y="1104"/>
                <a:ext cx="336" cy="480"/>
              </a:xfrm>
              <a:prstGeom prst="can">
                <a:avLst>
                  <a:gd name="adj" fmla="val 35714"/>
                </a:avLst>
              </a:prstGeom>
              <a:solidFill>
                <a:srgbClr val="FF66CC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</p:grpSp>
        <p:sp>
          <p:nvSpPr>
            <p:cNvPr id="37" name="AutoShape 23"/>
            <p:cNvSpPr>
              <a:spLocks noChangeArrowheads="1"/>
            </p:cNvSpPr>
            <p:nvPr/>
          </p:nvSpPr>
          <p:spPr bwMode="auto">
            <a:xfrm>
              <a:off x="3072" y="1008"/>
              <a:ext cx="432" cy="336"/>
            </a:xfrm>
            <a:prstGeom prst="leftRightArrow">
              <a:avLst>
                <a:gd name="adj1" fmla="val 50000"/>
                <a:gd name="adj2" fmla="val 25714"/>
              </a:avLst>
            </a:prstGeom>
            <a:solidFill>
              <a:srgbClr val="00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</p:grpSp>
      <p:pic>
        <p:nvPicPr>
          <p:cNvPr id="4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804862"/>
            <a:ext cx="1219200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905000"/>
            <a:ext cx="1219200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771525"/>
            <a:ext cx="1219200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339" y="2607324"/>
            <a:ext cx="1219200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2679"/>
            <a:ext cx="1219200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Left-Right Arrow 10"/>
          <p:cNvSpPr/>
          <p:nvPr/>
        </p:nvSpPr>
        <p:spPr bwMode="auto">
          <a:xfrm>
            <a:off x="1272208" y="1878495"/>
            <a:ext cx="1742661" cy="283743"/>
          </a:xfrm>
          <a:prstGeom prst="leftRightArrow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47" name="Left-Right Arrow 46"/>
          <p:cNvSpPr/>
          <p:nvPr/>
        </p:nvSpPr>
        <p:spPr bwMode="auto">
          <a:xfrm rot="20023723">
            <a:off x="1792144" y="2601915"/>
            <a:ext cx="1467402" cy="296566"/>
          </a:xfrm>
          <a:prstGeom prst="leftRightArrow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48" name="Left-Right Arrow 47"/>
          <p:cNvSpPr/>
          <p:nvPr/>
        </p:nvSpPr>
        <p:spPr bwMode="auto">
          <a:xfrm rot="1829678">
            <a:off x="2450831" y="1489235"/>
            <a:ext cx="839688" cy="277873"/>
          </a:xfrm>
          <a:prstGeom prst="leftRightArrow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49" name="Left-Right Arrow 48"/>
          <p:cNvSpPr/>
          <p:nvPr/>
        </p:nvSpPr>
        <p:spPr bwMode="auto">
          <a:xfrm rot="20773327">
            <a:off x="5840443" y="1391320"/>
            <a:ext cx="1742661" cy="283743"/>
          </a:xfrm>
          <a:prstGeom prst="leftRightArrow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50" name="Left-Right Arrow 49"/>
          <p:cNvSpPr/>
          <p:nvPr/>
        </p:nvSpPr>
        <p:spPr bwMode="auto">
          <a:xfrm rot="738253">
            <a:off x="5894585" y="2009112"/>
            <a:ext cx="1409183" cy="259184"/>
          </a:xfrm>
          <a:prstGeom prst="leftRightArrow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78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304800"/>
            <a:ext cx="7772400" cy="990600"/>
          </a:xfrm>
        </p:spPr>
        <p:txBody>
          <a:bodyPr/>
          <a:lstStyle/>
          <a:p>
            <a:r>
              <a:rPr lang="en-US" altLang="ko-KR" smtClean="0">
                <a:ea typeface="굴림" charset="-127"/>
              </a:rPr>
              <a:t>Network File System (NFS)</a:t>
            </a:r>
          </a:p>
        </p:txBody>
      </p:sp>
      <p:sp>
        <p:nvSpPr>
          <p:cNvPr id="100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85800"/>
            <a:ext cx="8839200" cy="60960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15000"/>
              </a:spcBef>
            </a:pPr>
            <a:r>
              <a:rPr lang="en-US" altLang="ko-KR" dirty="0" smtClean="0">
                <a:ea typeface="굴림" charset="-127"/>
              </a:rPr>
              <a:t>Three Layers for NFS system</a:t>
            </a:r>
          </a:p>
          <a:p>
            <a:pPr lvl="1">
              <a:lnSpc>
                <a:spcPct val="80000"/>
              </a:lnSpc>
              <a:spcBef>
                <a:spcPct val="15000"/>
              </a:spcBef>
            </a:pPr>
            <a:r>
              <a:rPr lang="en-US" altLang="ko-KR" dirty="0" smtClean="0">
                <a:solidFill>
                  <a:schemeClr val="hlink"/>
                </a:solidFill>
                <a:ea typeface="굴림" charset="-127"/>
              </a:rPr>
              <a:t>UNIX file-system interface:</a:t>
            </a:r>
            <a:r>
              <a:rPr lang="en-US" altLang="ko-KR" dirty="0" smtClean="0">
                <a:ea typeface="굴림" charset="-127"/>
              </a:rPr>
              <a:t> open, read, write, close calls + file descriptors</a:t>
            </a:r>
          </a:p>
          <a:p>
            <a:pPr lvl="1">
              <a:lnSpc>
                <a:spcPct val="80000"/>
              </a:lnSpc>
              <a:spcBef>
                <a:spcPct val="15000"/>
              </a:spcBef>
            </a:pPr>
            <a:r>
              <a:rPr lang="en-US" altLang="ko-KR" dirty="0" smtClean="0">
                <a:solidFill>
                  <a:schemeClr val="hlink"/>
                </a:solidFill>
                <a:ea typeface="굴림" charset="-127"/>
              </a:rPr>
              <a:t>VFS layer:</a:t>
            </a:r>
            <a:r>
              <a:rPr lang="en-US" altLang="ko-KR" dirty="0" smtClean="0">
                <a:ea typeface="굴림" charset="-127"/>
              </a:rPr>
              <a:t> distinguishes local from remote files</a:t>
            </a:r>
          </a:p>
          <a:p>
            <a:pPr lvl="2">
              <a:lnSpc>
                <a:spcPct val="80000"/>
              </a:lnSpc>
              <a:spcBef>
                <a:spcPct val="15000"/>
              </a:spcBef>
            </a:pPr>
            <a:r>
              <a:rPr lang="en-US" altLang="ko-KR" dirty="0" smtClean="0">
                <a:ea typeface="굴림" charset="-127"/>
              </a:rPr>
              <a:t>Calls the NFS protocol procedures for remote requests</a:t>
            </a:r>
          </a:p>
          <a:p>
            <a:pPr lvl="1">
              <a:lnSpc>
                <a:spcPct val="80000"/>
              </a:lnSpc>
              <a:spcBef>
                <a:spcPct val="15000"/>
              </a:spcBef>
            </a:pPr>
            <a:r>
              <a:rPr lang="en-US" altLang="ko-KR" dirty="0" smtClean="0">
                <a:solidFill>
                  <a:schemeClr val="hlink"/>
                </a:solidFill>
                <a:ea typeface="굴림" charset="-127"/>
              </a:rPr>
              <a:t>NFS service layer:</a:t>
            </a:r>
            <a:r>
              <a:rPr lang="en-US" altLang="ko-KR" dirty="0" smtClean="0">
                <a:ea typeface="굴림" charset="-127"/>
              </a:rPr>
              <a:t> bottom layer of the architecture</a:t>
            </a:r>
          </a:p>
          <a:p>
            <a:pPr lvl="2">
              <a:lnSpc>
                <a:spcPct val="80000"/>
              </a:lnSpc>
              <a:spcBef>
                <a:spcPct val="15000"/>
              </a:spcBef>
            </a:pPr>
            <a:r>
              <a:rPr lang="en-US" altLang="ko-KR" dirty="0" smtClean="0">
                <a:ea typeface="굴림" charset="-127"/>
              </a:rPr>
              <a:t>Implements the NFS protocol</a:t>
            </a:r>
          </a:p>
          <a:p>
            <a:pPr>
              <a:lnSpc>
                <a:spcPct val="80000"/>
              </a:lnSpc>
              <a:spcBef>
                <a:spcPct val="15000"/>
              </a:spcBef>
            </a:pPr>
            <a:r>
              <a:rPr lang="en-US" altLang="ko-KR" dirty="0" smtClean="0">
                <a:ea typeface="굴림" charset="-127"/>
              </a:rPr>
              <a:t>NFS Protocol: RPC for file operations on server</a:t>
            </a:r>
          </a:p>
          <a:p>
            <a:pPr lvl="1">
              <a:lnSpc>
                <a:spcPct val="80000"/>
              </a:lnSpc>
              <a:spcBef>
                <a:spcPct val="15000"/>
              </a:spcBef>
            </a:pPr>
            <a:r>
              <a:rPr lang="en-US" altLang="ko-KR" dirty="0" smtClean="0">
                <a:ea typeface="굴림" charset="-127"/>
              </a:rPr>
              <a:t>Reading/searching a directory </a:t>
            </a:r>
          </a:p>
          <a:p>
            <a:pPr lvl="1">
              <a:lnSpc>
                <a:spcPct val="80000"/>
              </a:lnSpc>
              <a:spcBef>
                <a:spcPct val="15000"/>
              </a:spcBef>
            </a:pPr>
            <a:r>
              <a:rPr lang="en-US" altLang="ko-KR" dirty="0" smtClean="0">
                <a:ea typeface="굴림" charset="-127"/>
              </a:rPr>
              <a:t>manipulating links and directories </a:t>
            </a:r>
          </a:p>
          <a:p>
            <a:pPr lvl="1">
              <a:lnSpc>
                <a:spcPct val="80000"/>
              </a:lnSpc>
              <a:spcBef>
                <a:spcPct val="15000"/>
              </a:spcBef>
            </a:pPr>
            <a:r>
              <a:rPr lang="en-US" altLang="ko-KR" dirty="0" smtClean="0">
                <a:ea typeface="굴림" charset="-127"/>
              </a:rPr>
              <a:t>accessing file attributes/reading and writing files</a:t>
            </a:r>
          </a:p>
          <a:p>
            <a:pPr>
              <a:lnSpc>
                <a:spcPct val="80000"/>
              </a:lnSpc>
              <a:spcBef>
                <a:spcPct val="15000"/>
              </a:spcBef>
            </a:pPr>
            <a:r>
              <a:rPr lang="en-US" altLang="ko-KR" dirty="0" smtClean="0">
                <a:solidFill>
                  <a:schemeClr val="hlink"/>
                </a:solidFill>
                <a:ea typeface="굴림" charset="-127"/>
              </a:rPr>
              <a:t>Write-through caching:</a:t>
            </a:r>
            <a:r>
              <a:rPr lang="en-US" altLang="ko-KR" dirty="0" smtClean="0">
                <a:ea typeface="굴림" charset="-127"/>
              </a:rPr>
              <a:t> Modified data committed to server’s disk before results are returned to the client </a:t>
            </a:r>
          </a:p>
          <a:p>
            <a:pPr lvl="1">
              <a:lnSpc>
                <a:spcPct val="80000"/>
              </a:lnSpc>
              <a:spcBef>
                <a:spcPct val="15000"/>
              </a:spcBef>
            </a:pPr>
            <a:r>
              <a:rPr lang="en-US" altLang="ko-KR" dirty="0" smtClean="0">
                <a:ea typeface="굴림" charset="-127"/>
              </a:rPr>
              <a:t>lose some of the advantages of caching</a:t>
            </a:r>
          </a:p>
          <a:p>
            <a:pPr lvl="1">
              <a:lnSpc>
                <a:spcPct val="80000"/>
              </a:lnSpc>
              <a:spcBef>
                <a:spcPct val="15000"/>
              </a:spcBef>
            </a:pPr>
            <a:r>
              <a:rPr lang="en-US" altLang="ko-KR" dirty="0" smtClean="0">
                <a:ea typeface="굴림" charset="-127"/>
              </a:rPr>
              <a:t>time to perform write() can be long</a:t>
            </a:r>
          </a:p>
          <a:p>
            <a:pPr lvl="1">
              <a:lnSpc>
                <a:spcPct val="80000"/>
              </a:lnSpc>
              <a:spcBef>
                <a:spcPct val="15000"/>
              </a:spcBef>
            </a:pPr>
            <a:r>
              <a:rPr lang="en-US" altLang="ko-KR" dirty="0" smtClean="0">
                <a:ea typeface="굴림" charset="-127"/>
              </a:rPr>
              <a:t>Need some mechanism for readers to eventually notice changes! (more on this later)</a:t>
            </a:r>
          </a:p>
          <a:p>
            <a:pPr>
              <a:lnSpc>
                <a:spcPct val="80000"/>
              </a:lnSpc>
              <a:spcBef>
                <a:spcPct val="15000"/>
              </a:spcBef>
            </a:pPr>
            <a:endParaRPr lang="ko-KR" altLang="en-US" dirty="0" smtClean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386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9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9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9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9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09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09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09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09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09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09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09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09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09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09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09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09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09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09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09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09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096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096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096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096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096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096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096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096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966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381000"/>
            <a:ext cx="7772400" cy="990600"/>
          </a:xfrm>
        </p:spPr>
        <p:txBody>
          <a:bodyPr/>
          <a:lstStyle/>
          <a:p>
            <a:r>
              <a:rPr lang="en-US" altLang="ko-KR" dirty="0" smtClean="0">
                <a:ea typeface="굴림" charset="-127"/>
              </a:rPr>
              <a:t>NFS Continued</a:t>
            </a:r>
          </a:p>
        </p:txBody>
      </p:sp>
      <p:sp>
        <p:nvSpPr>
          <p:cNvPr id="1019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457200"/>
            <a:ext cx="9144000" cy="6034088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en-US" altLang="ko-KR" sz="2400" dirty="0" smtClean="0">
                <a:ea typeface="굴림" charset="-127"/>
              </a:rPr>
              <a:t>NFS servers are </a:t>
            </a:r>
            <a:r>
              <a:rPr lang="en-US" altLang="ko-KR" sz="2400" dirty="0" smtClean="0">
                <a:solidFill>
                  <a:schemeClr val="hlink"/>
                </a:solidFill>
                <a:ea typeface="굴림" charset="-127"/>
              </a:rPr>
              <a:t>stateless</a:t>
            </a:r>
            <a:r>
              <a:rPr lang="en-US" altLang="ko-KR" sz="2400" dirty="0" smtClean="0">
                <a:ea typeface="굴림" charset="-127"/>
              </a:rPr>
              <a:t>; each request provides all arguments require for execution</a:t>
            </a: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dirty="0" smtClean="0">
                <a:ea typeface="굴림" charset="-127"/>
              </a:rPr>
              <a:t>E.g. reads include information for entire operation, such as </a:t>
            </a:r>
            <a:r>
              <a:rPr lang="en-US" altLang="ko-KR" dirty="0" err="1" smtClean="0">
                <a:latin typeface="Courier New" pitchFamily="49" charset="0"/>
                <a:ea typeface="굴림" charset="-127"/>
              </a:rPr>
              <a:t>ReadAt</a:t>
            </a:r>
            <a:r>
              <a:rPr lang="en-US" altLang="ko-KR" dirty="0" smtClean="0">
                <a:latin typeface="Courier New" pitchFamily="49" charset="0"/>
                <a:ea typeface="굴림" charset="-127"/>
              </a:rPr>
              <a:t>(</a:t>
            </a:r>
            <a:r>
              <a:rPr lang="en-US" altLang="ko-KR" dirty="0" err="1" smtClean="0">
                <a:latin typeface="Courier New" pitchFamily="49" charset="0"/>
                <a:ea typeface="굴림" charset="-127"/>
              </a:rPr>
              <a:t>inumber,position</a:t>
            </a:r>
            <a:r>
              <a:rPr lang="en-US" altLang="ko-KR" dirty="0" smtClean="0">
                <a:latin typeface="Courier New" pitchFamily="49" charset="0"/>
                <a:ea typeface="굴림" charset="-127"/>
              </a:rPr>
              <a:t>)</a:t>
            </a:r>
            <a:r>
              <a:rPr lang="en-US" altLang="ko-KR" dirty="0" smtClean="0">
                <a:ea typeface="굴림" charset="-127"/>
              </a:rPr>
              <a:t>, not </a:t>
            </a:r>
            <a:r>
              <a:rPr lang="en-US" altLang="ko-KR" dirty="0" smtClean="0">
                <a:latin typeface="Courier New" pitchFamily="49" charset="0"/>
                <a:ea typeface="굴림" charset="-127"/>
              </a:rPr>
              <a:t>Read(</a:t>
            </a:r>
            <a:r>
              <a:rPr lang="en-US" altLang="ko-KR" dirty="0" err="1" smtClean="0">
                <a:latin typeface="Courier New" pitchFamily="49" charset="0"/>
                <a:ea typeface="굴림" charset="-127"/>
              </a:rPr>
              <a:t>openfile</a:t>
            </a:r>
            <a:r>
              <a:rPr lang="en-US" altLang="ko-KR" dirty="0" smtClean="0">
                <a:latin typeface="Courier New" pitchFamily="49" charset="0"/>
                <a:ea typeface="굴림" charset="-127"/>
              </a:rPr>
              <a:t>)</a:t>
            </a: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dirty="0" smtClean="0">
                <a:ea typeface="굴림" charset="-127"/>
              </a:rPr>
              <a:t>No need to perform network open() or close() on file – each operation stands on its own</a:t>
            </a: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en-US" altLang="ko-KR" sz="2400" dirty="0" smtClean="0">
                <a:solidFill>
                  <a:schemeClr val="hlink"/>
                </a:solidFill>
                <a:ea typeface="굴림" charset="-127"/>
              </a:rPr>
              <a:t>Idempotent:</a:t>
            </a:r>
            <a:r>
              <a:rPr lang="en-US" altLang="ko-KR" sz="2400" dirty="0" smtClean="0">
                <a:ea typeface="굴림" charset="-127"/>
              </a:rPr>
              <a:t> Performing requests multiple times has same effect as performing it exactly once</a:t>
            </a: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dirty="0" smtClean="0">
                <a:ea typeface="굴림" charset="-127"/>
              </a:rPr>
              <a:t>Example: Server crashes between disk I/O and message send, client resend read, server does operation again</a:t>
            </a: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dirty="0" smtClean="0">
                <a:ea typeface="굴림" charset="-127"/>
              </a:rPr>
              <a:t>Example: Read and write file blocks: just re-read or re-write file block – no side effects</a:t>
            </a: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dirty="0" smtClean="0">
                <a:ea typeface="굴림" charset="-127"/>
              </a:rPr>
              <a:t>Example: What about “remove”?  NFS does operation twice and second time returns an advisory error </a:t>
            </a: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en-US" altLang="ko-KR" sz="2400" dirty="0" smtClean="0">
                <a:ea typeface="굴림" charset="-127"/>
              </a:rPr>
              <a:t>Failure Model: Transparent to client system</a:t>
            </a: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dirty="0" smtClean="0">
                <a:ea typeface="굴림" charset="-127"/>
              </a:rPr>
              <a:t>Is this a good idea?  What if you are in the middle of reading a file and server crashes? </a:t>
            </a: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dirty="0" smtClean="0">
                <a:ea typeface="굴림" charset="-127"/>
              </a:rPr>
              <a:t>Options (NFS Provides both):</a:t>
            </a:r>
          </a:p>
          <a:p>
            <a:pPr lvl="2">
              <a:lnSpc>
                <a:spcPct val="80000"/>
              </a:lnSpc>
              <a:spcBef>
                <a:spcPct val="5000"/>
              </a:spcBef>
            </a:pPr>
            <a:r>
              <a:rPr lang="en-US" altLang="ko-KR" sz="2400" dirty="0" smtClean="0">
                <a:ea typeface="굴림" charset="-127"/>
              </a:rPr>
              <a:t>Hang until server comes back up (next week?)</a:t>
            </a:r>
          </a:p>
          <a:p>
            <a:pPr lvl="2">
              <a:lnSpc>
                <a:spcPct val="80000"/>
              </a:lnSpc>
              <a:spcBef>
                <a:spcPct val="5000"/>
              </a:spcBef>
            </a:pPr>
            <a:r>
              <a:rPr lang="en-US" altLang="ko-KR" sz="2400" dirty="0" smtClean="0">
                <a:ea typeface="굴림" charset="-127"/>
              </a:rPr>
              <a:t>Return an error. (Of course, most applications don’t know they are talking over network)</a:t>
            </a:r>
          </a:p>
        </p:txBody>
      </p:sp>
    </p:spTree>
    <p:extLst>
      <p:ext uri="{BB962C8B-B14F-4D97-AF65-F5344CB8AC3E}">
        <p14:creationId xmlns:p14="http://schemas.microsoft.com/office/powerpoint/2010/main" val="1412934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9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1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1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1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1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1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1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1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1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1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1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1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1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1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1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1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1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19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19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19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19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19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19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990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350" y="685800"/>
            <a:ext cx="8877300" cy="6130925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 smtClean="0">
                <a:ea typeface="굴림" charset="-127"/>
              </a:rPr>
              <a:t>NFS protocol: weak consistency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 smtClean="0">
                <a:ea typeface="굴림" charset="-127"/>
              </a:rPr>
              <a:t>Client polls server periodically to check for changes</a:t>
            </a:r>
          </a:p>
          <a:p>
            <a:pPr lvl="2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 smtClean="0">
                <a:ea typeface="굴림" charset="-127"/>
              </a:rPr>
              <a:t>Polls server if data hasn’t been checked in last 3-30 seconds (exact timeout it tunable parameter).</a:t>
            </a:r>
          </a:p>
          <a:p>
            <a:pPr lvl="2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 smtClean="0">
                <a:ea typeface="굴림" charset="-127"/>
              </a:rPr>
              <a:t>Thus, when file is changed on one client, server is notified, but other clients use old version of file until timeout.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 smtClean="0">
              <a:ea typeface="굴림" charset="-127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 smtClean="0">
              <a:ea typeface="굴림" charset="-127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 smtClean="0">
              <a:ea typeface="굴림" charset="-127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 smtClean="0">
              <a:ea typeface="굴림" charset="-127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 smtClean="0">
              <a:ea typeface="굴림" charset="-127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 smtClean="0">
              <a:ea typeface="굴림" charset="-127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 smtClean="0">
              <a:ea typeface="굴림" charset="-127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 smtClean="0">
              <a:ea typeface="굴림" charset="-127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endParaRPr lang="en-US" altLang="ko-KR" dirty="0" smtClean="0">
              <a:ea typeface="굴림" charset="-127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 smtClean="0">
                <a:ea typeface="굴림" charset="-127"/>
              </a:rPr>
              <a:t>What if multiple clients write to same file? </a:t>
            </a:r>
          </a:p>
          <a:p>
            <a:pPr lvl="2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 smtClean="0">
                <a:ea typeface="굴림" charset="-127"/>
              </a:rPr>
              <a:t>In NFS, can get either version (or parts of both)</a:t>
            </a:r>
          </a:p>
          <a:p>
            <a:pPr lvl="2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 smtClean="0">
                <a:ea typeface="굴림" charset="-127"/>
              </a:rPr>
              <a:t>Completely arbitrary!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Tx/>
              <a:buNone/>
            </a:pPr>
            <a:endParaRPr lang="ko-KR" altLang="en-US" dirty="0" smtClean="0">
              <a:ea typeface="굴림" charset="-127"/>
            </a:endParaRPr>
          </a:p>
        </p:txBody>
      </p:sp>
      <p:grpSp>
        <p:nvGrpSpPr>
          <p:cNvPr id="1020969" name="Group 41"/>
          <p:cNvGrpSpPr>
            <a:grpSpLocks/>
          </p:cNvGrpSpPr>
          <p:nvPr/>
        </p:nvGrpSpPr>
        <p:grpSpPr bwMode="auto">
          <a:xfrm>
            <a:off x="1295400" y="2595563"/>
            <a:ext cx="6773863" cy="2890837"/>
            <a:chOff x="816" y="1635"/>
            <a:chExt cx="4267" cy="1821"/>
          </a:xfrm>
        </p:grpSpPr>
        <p:sp>
          <p:nvSpPr>
            <p:cNvPr id="25612" name="Rectangle 5"/>
            <p:cNvSpPr>
              <a:spLocks noChangeArrowheads="1"/>
            </p:cNvSpPr>
            <p:nvPr/>
          </p:nvSpPr>
          <p:spPr bwMode="auto">
            <a:xfrm>
              <a:off x="4128" y="2420"/>
              <a:ext cx="528" cy="576"/>
            </a:xfrm>
            <a:prstGeom prst="rect">
              <a:avLst/>
            </a:pr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/>
            <a:lstStyle/>
            <a:p>
              <a:pPr marL="228600" indent="-228600"/>
              <a:r>
                <a:rPr lang="en-US"/>
                <a:t>cache</a:t>
              </a:r>
            </a:p>
          </p:txBody>
        </p:sp>
        <p:sp>
          <p:nvSpPr>
            <p:cNvPr id="25613" name="Rectangle 6"/>
            <p:cNvSpPr>
              <a:spLocks noChangeArrowheads="1"/>
            </p:cNvSpPr>
            <p:nvPr/>
          </p:nvSpPr>
          <p:spPr bwMode="auto">
            <a:xfrm>
              <a:off x="4163" y="2660"/>
              <a:ext cx="440" cy="232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/>
              <a:r>
                <a:rPr lang="en-US" sz="1600"/>
                <a:t>F1:V2</a:t>
              </a:r>
            </a:p>
          </p:txBody>
        </p:sp>
        <p:grpSp>
          <p:nvGrpSpPr>
            <p:cNvPr id="25614" name="Group 7"/>
            <p:cNvGrpSpPr>
              <a:grpSpLocks/>
            </p:cNvGrpSpPr>
            <p:nvPr/>
          </p:nvGrpSpPr>
          <p:grpSpPr bwMode="auto">
            <a:xfrm>
              <a:off x="3552" y="1796"/>
              <a:ext cx="1531" cy="887"/>
              <a:chOff x="2304" y="672"/>
              <a:chExt cx="1824" cy="1082"/>
            </a:xfrm>
          </p:grpSpPr>
          <p:grpSp>
            <p:nvGrpSpPr>
              <p:cNvPr id="25632" name="Group 8"/>
              <p:cNvGrpSpPr>
                <a:grpSpLocks/>
              </p:cNvGrpSpPr>
              <p:nvPr/>
            </p:nvGrpSpPr>
            <p:grpSpPr bwMode="auto">
              <a:xfrm>
                <a:off x="2304" y="672"/>
                <a:ext cx="981" cy="1082"/>
                <a:chOff x="2043" y="624"/>
                <a:chExt cx="981" cy="1082"/>
              </a:xfrm>
            </p:grpSpPr>
            <p:pic>
              <p:nvPicPr>
                <p:cNvPr id="25638" name="Picture 9" descr="MCj03984350000[1]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43" y="624"/>
                  <a:ext cx="981" cy="85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5639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060" y="1469"/>
                  <a:ext cx="696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66CC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3810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78" tIns="44445" rIns="90478" bIns="44445">
                  <a:spAutoFit/>
                </a:bodyPr>
                <a:lstStyle>
                  <a:lvl1pPr marL="228600" indent="-228600">
                    <a:defRPr sz="2200" b="1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200" b="1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200" b="1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200" b="1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200" b="1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defRPr sz="2200" b="1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defRPr sz="2200" b="1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defRPr sz="2200" b="1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algn="ctr" eaLnBrk="0" fontAlgn="base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defRPr sz="2200" b="1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r>
                    <a:rPr lang="en-US" sz="1800"/>
                    <a:t>Server</a:t>
                  </a:r>
                </a:p>
              </p:txBody>
            </p:sp>
          </p:grpSp>
          <p:grpSp>
            <p:nvGrpSpPr>
              <p:cNvPr id="25633" name="Group 11"/>
              <p:cNvGrpSpPr>
                <a:grpSpLocks/>
              </p:cNvGrpSpPr>
              <p:nvPr/>
            </p:nvGrpSpPr>
            <p:grpSpPr bwMode="auto">
              <a:xfrm>
                <a:off x="3600" y="720"/>
                <a:ext cx="528" cy="864"/>
                <a:chOff x="3600" y="720"/>
                <a:chExt cx="528" cy="864"/>
              </a:xfrm>
            </p:grpSpPr>
            <p:sp>
              <p:nvSpPr>
                <p:cNvPr id="25635" name="AutoShape 12"/>
                <p:cNvSpPr>
                  <a:spLocks noChangeArrowheads="1"/>
                </p:cNvSpPr>
                <p:nvPr/>
              </p:nvSpPr>
              <p:spPr bwMode="auto">
                <a:xfrm>
                  <a:off x="3600" y="720"/>
                  <a:ext cx="336" cy="480"/>
                </a:xfrm>
                <a:prstGeom prst="can">
                  <a:avLst>
                    <a:gd name="adj" fmla="val 35714"/>
                  </a:avLst>
                </a:prstGeom>
                <a:solidFill>
                  <a:srgbClr val="FF66CC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78" tIns="44445" rIns="90478" bIns="44445" anchor="ctr"/>
                <a:lstStyle/>
                <a:p>
                  <a:endParaRPr lang="en-US"/>
                </a:p>
              </p:txBody>
            </p:sp>
            <p:sp>
              <p:nvSpPr>
                <p:cNvPr id="25636" name="AutoShape 13"/>
                <p:cNvSpPr>
                  <a:spLocks noChangeArrowheads="1"/>
                </p:cNvSpPr>
                <p:nvPr/>
              </p:nvSpPr>
              <p:spPr bwMode="auto">
                <a:xfrm>
                  <a:off x="3696" y="912"/>
                  <a:ext cx="336" cy="480"/>
                </a:xfrm>
                <a:prstGeom prst="can">
                  <a:avLst>
                    <a:gd name="adj" fmla="val 35714"/>
                  </a:avLst>
                </a:prstGeom>
                <a:solidFill>
                  <a:srgbClr val="FF66CC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78" tIns="44445" rIns="90478" bIns="44445" anchor="ctr"/>
                <a:lstStyle/>
                <a:p>
                  <a:endParaRPr lang="en-US"/>
                </a:p>
              </p:txBody>
            </p:sp>
            <p:sp>
              <p:nvSpPr>
                <p:cNvPr id="25637" name="AutoShape 14"/>
                <p:cNvSpPr>
                  <a:spLocks noChangeArrowheads="1"/>
                </p:cNvSpPr>
                <p:nvPr/>
              </p:nvSpPr>
              <p:spPr bwMode="auto">
                <a:xfrm>
                  <a:off x="3792" y="1104"/>
                  <a:ext cx="336" cy="480"/>
                </a:xfrm>
                <a:prstGeom prst="can">
                  <a:avLst>
                    <a:gd name="adj" fmla="val 35714"/>
                  </a:avLst>
                </a:prstGeom>
                <a:solidFill>
                  <a:srgbClr val="FF66CC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78" tIns="44445" rIns="90478" bIns="44445" anchor="ctr"/>
                <a:lstStyle/>
                <a:p>
                  <a:endParaRPr lang="en-US"/>
                </a:p>
              </p:txBody>
            </p:sp>
          </p:grpSp>
          <p:sp>
            <p:nvSpPr>
              <p:cNvPr id="25634" name="AutoShape 15"/>
              <p:cNvSpPr>
                <a:spLocks noChangeArrowheads="1"/>
              </p:cNvSpPr>
              <p:nvPr/>
            </p:nvSpPr>
            <p:spPr bwMode="auto">
              <a:xfrm>
                <a:off x="3072" y="1008"/>
                <a:ext cx="432" cy="336"/>
              </a:xfrm>
              <a:prstGeom prst="leftRightArrow">
                <a:avLst>
                  <a:gd name="adj1" fmla="val 50000"/>
                  <a:gd name="adj2" fmla="val 25714"/>
                </a:avLst>
              </a:prstGeom>
              <a:solidFill>
                <a:srgbClr val="00FFFF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</p:grpSp>
        <p:sp>
          <p:nvSpPr>
            <p:cNvPr id="25615" name="Cloud"/>
            <p:cNvSpPr>
              <a:spLocks noChangeAspect="1" noEditPoints="1" noChangeArrowheads="1"/>
            </p:cNvSpPr>
            <p:nvPr/>
          </p:nvSpPr>
          <p:spPr bwMode="auto">
            <a:xfrm>
              <a:off x="2112" y="1652"/>
              <a:ext cx="1440" cy="1632"/>
            </a:xfrm>
            <a:custGeom>
              <a:avLst/>
              <a:gdLst>
                <a:gd name="T0" fmla="*/ 4 w 21600"/>
                <a:gd name="T1" fmla="*/ 816 h 21600"/>
                <a:gd name="T2" fmla="*/ 720 w 21600"/>
                <a:gd name="T3" fmla="*/ 1630 h 21600"/>
                <a:gd name="T4" fmla="*/ 1439 w 21600"/>
                <a:gd name="T5" fmla="*/ 816 h 21600"/>
                <a:gd name="T6" fmla="*/ 720 w 21600"/>
                <a:gd name="T7" fmla="*/ 93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0 w 21600"/>
                <a:gd name="T13" fmla="*/ 3256 h 21600"/>
                <a:gd name="T14" fmla="*/ 17085 w 21600"/>
                <a:gd name="T15" fmla="*/ 1733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25616" name="Group 23"/>
            <p:cNvGrpSpPr>
              <a:grpSpLocks/>
            </p:cNvGrpSpPr>
            <p:nvPr/>
          </p:nvGrpSpPr>
          <p:grpSpPr bwMode="auto">
            <a:xfrm rot="-1562509">
              <a:off x="2292" y="2465"/>
              <a:ext cx="1249" cy="194"/>
              <a:chOff x="2016" y="1341"/>
              <a:chExt cx="1036" cy="194"/>
            </a:xfrm>
          </p:grpSpPr>
          <p:sp>
            <p:nvSpPr>
              <p:cNvPr id="25630" name="Text Box 24"/>
              <p:cNvSpPr txBox="1">
                <a:spLocks noChangeArrowheads="1"/>
              </p:cNvSpPr>
              <p:nvPr/>
            </p:nvSpPr>
            <p:spPr bwMode="auto">
              <a:xfrm>
                <a:off x="2164" y="1341"/>
                <a:ext cx="787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>
                <a:spAutoFit/>
              </a:bodyPr>
              <a:lstStyle>
                <a:lvl1pPr marL="2286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r>
                  <a:rPr lang="en-US" sz="1800"/>
                  <a:t>Write (RPC)</a:t>
                </a:r>
              </a:p>
            </p:txBody>
          </p:sp>
          <p:sp>
            <p:nvSpPr>
              <p:cNvPr id="25631" name="Line 25"/>
              <p:cNvSpPr>
                <a:spLocks noChangeShapeType="1"/>
              </p:cNvSpPr>
              <p:nvPr/>
            </p:nvSpPr>
            <p:spPr bwMode="auto">
              <a:xfrm flipV="1">
                <a:off x="2016" y="1533"/>
                <a:ext cx="10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</p:grpSp>
        <p:grpSp>
          <p:nvGrpSpPr>
            <p:cNvPr id="25617" name="Group 26"/>
            <p:cNvGrpSpPr>
              <a:grpSpLocks/>
            </p:cNvGrpSpPr>
            <p:nvPr/>
          </p:nvGrpSpPr>
          <p:grpSpPr bwMode="auto">
            <a:xfrm rot="-1590130">
              <a:off x="2358" y="2748"/>
              <a:ext cx="1279" cy="219"/>
              <a:chOff x="2016" y="1844"/>
              <a:chExt cx="1036" cy="219"/>
            </a:xfrm>
          </p:grpSpPr>
          <p:sp>
            <p:nvSpPr>
              <p:cNvPr id="25628" name="Text Box 27"/>
              <p:cNvSpPr txBox="1">
                <a:spLocks noChangeArrowheads="1"/>
              </p:cNvSpPr>
              <p:nvPr/>
            </p:nvSpPr>
            <p:spPr bwMode="auto">
              <a:xfrm>
                <a:off x="2032" y="1869"/>
                <a:ext cx="1006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78" tIns="44445" rIns="90478" bIns="44445">
                <a:spAutoFit/>
              </a:bodyPr>
              <a:lstStyle>
                <a:lvl1pPr marL="2286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r>
                  <a:rPr lang="en-US" sz="1800"/>
                  <a:t>ACK</a:t>
                </a:r>
              </a:p>
            </p:txBody>
          </p:sp>
          <p:sp>
            <p:nvSpPr>
              <p:cNvPr id="25629" name="Line 28"/>
              <p:cNvSpPr>
                <a:spLocks noChangeShapeType="1"/>
              </p:cNvSpPr>
              <p:nvPr/>
            </p:nvSpPr>
            <p:spPr bwMode="auto">
              <a:xfrm flipH="1" flipV="1">
                <a:off x="2016" y="1844"/>
                <a:ext cx="10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</p:grpSp>
        <p:grpSp>
          <p:nvGrpSpPr>
            <p:cNvPr id="25618" name="Group 29"/>
            <p:cNvGrpSpPr>
              <a:grpSpLocks/>
            </p:cNvGrpSpPr>
            <p:nvPr/>
          </p:nvGrpSpPr>
          <p:grpSpPr bwMode="auto">
            <a:xfrm>
              <a:off x="1344" y="1635"/>
              <a:ext cx="816" cy="844"/>
              <a:chOff x="528" y="768"/>
              <a:chExt cx="973" cy="1030"/>
            </a:xfrm>
          </p:grpSpPr>
          <p:pic>
            <p:nvPicPr>
              <p:cNvPr id="25626" name="Picture 30" descr="MCj03985050000[1]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8" y="768"/>
                <a:ext cx="973" cy="7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27" name="Text Box 31"/>
              <p:cNvSpPr txBox="1">
                <a:spLocks noChangeArrowheads="1"/>
              </p:cNvSpPr>
              <p:nvPr/>
            </p:nvSpPr>
            <p:spPr bwMode="auto">
              <a:xfrm>
                <a:off x="627" y="1562"/>
                <a:ext cx="603" cy="2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>
                <a:spAutoFit/>
              </a:bodyPr>
              <a:lstStyle>
                <a:lvl1pPr marL="2286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r>
                  <a:rPr lang="en-US" sz="1800"/>
                  <a:t>Client</a:t>
                </a:r>
              </a:p>
            </p:txBody>
          </p:sp>
        </p:grpSp>
        <p:sp>
          <p:nvSpPr>
            <p:cNvPr id="25619" name="Rectangle 32"/>
            <p:cNvSpPr>
              <a:spLocks noChangeArrowheads="1"/>
            </p:cNvSpPr>
            <p:nvPr/>
          </p:nvSpPr>
          <p:spPr bwMode="auto">
            <a:xfrm>
              <a:off x="816" y="1844"/>
              <a:ext cx="528" cy="528"/>
            </a:xfrm>
            <a:prstGeom prst="rect">
              <a:avLst/>
            </a:pr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/>
            <a:lstStyle/>
            <a:p>
              <a:pPr marL="228600" indent="-228600"/>
              <a:r>
                <a:rPr lang="en-US"/>
                <a:t>cache</a:t>
              </a:r>
            </a:p>
          </p:txBody>
        </p:sp>
        <p:grpSp>
          <p:nvGrpSpPr>
            <p:cNvPr id="25620" name="Group 33"/>
            <p:cNvGrpSpPr>
              <a:grpSpLocks/>
            </p:cNvGrpSpPr>
            <p:nvPr/>
          </p:nvGrpSpPr>
          <p:grpSpPr bwMode="auto">
            <a:xfrm>
              <a:off x="1536" y="2612"/>
              <a:ext cx="817" cy="844"/>
              <a:chOff x="528" y="768"/>
              <a:chExt cx="973" cy="1029"/>
            </a:xfrm>
          </p:grpSpPr>
          <p:pic>
            <p:nvPicPr>
              <p:cNvPr id="25624" name="Picture 34" descr="MCj03985050000[1]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8" y="768"/>
                <a:ext cx="973" cy="7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25" name="Text Box 35"/>
              <p:cNvSpPr txBox="1">
                <a:spLocks noChangeArrowheads="1"/>
              </p:cNvSpPr>
              <p:nvPr/>
            </p:nvSpPr>
            <p:spPr bwMode="auto">
              <a:xfrm>
                <a:off x="627" y="1561"/>
                <a:ext cx="602" cy="2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>
                <a:spAutoFit/>
              </a:bodyPr>
              <a:lstStyle>
                <a:lvl1pPr marL="2286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r>
                  <a:rPr lang="en-US" sz="1800"/>
                  <a:t>Client</a:t>
                </a:r>
              </a:p>
            </p:txBody>
          </p:sp>
        </p:grpSp>
        <p:sp>
          <p:nvSpPr>
            <p:cNvPr id="25621" name="Rectangle 36"/>
            <p:cNvSpPr>
              <a:spLocks noChangeArrowheads="1"/>
            </p:cNvSpPr>
            <p:nvPr/>
          </p:nvSpPr>
          <p:spPr bwMode="auto">
            <a:xfrm>
              <a:off x="1008" y="2900"/>
              <a:ext cx="528" cy="528"/>
            </a:xfrm>
            <a:prstGeom prst="rect">
              <a:avLst/>
            </a:pr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/>
            <a:lstStyle/>
            <a:p>
              <a:pPr marL="228600" indent="-228600"/>
              <a:r>
                <a:rPr lang="en-US"/>
                <a:t>cache</a:t>
              </a:r>
            </a:p>
          </p:txBody>
        </p:sp>
        <p:sp>
          <p:nvSpPr>
            <p:cNvPr id="25622" name="Rectangle 37"/>
            <p:cNvSpPr>
              <a:spLocks noChangeArrowheads="1"/>
            </p:cNvSpPr>
            <p:nvPr/>
          </p:nvSpPr>
          <p:spPr bwMode="auto">
            <a:xfrm>
              <a:off x="859" y="2084"/>
              <a:ext cx="440" cy="232"/>
            </a:xfrm>
            <a:prstGeom prst="rect">
              <a:avLst/>
            </a:prstGeom>
            <a:solidFill>
              <a:srgbClr val="FF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/>
              <a:r>
                <a:rPr lang="en-US" sz="1600"/>
                <a:t>F1:V1</a:t>
              </a:r>
            </a:p>
          </p:txBody>
        </p:sp>
        <p:sp>
          <p:nvSpPr>
            <p:cNvPr id="25623" name="Rectangle 38"/>
            <p:cNvSpPr>
              <a:spLocks noChangeArrowheads="1"/>
            </p:cNvSpPr>
            <p:nvPr/>
          </p:nvSpPr>
          <p:spPr bwMode="auto">
            <a:xfrm>
              <a:off x="1091" y="3140"/>
              <a:ext cx="392" cy="232"/>
            </a:xfrm>
            <a:prstGeom prst="rect">
              <a:avLst/>
            </a:prstGeom>
            <a:solidFill>
              <a:srgbClr val="FFFF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/>
              <a:r>
                <a:rPr lang="en-US" sz="1600"/>
                <a:t>F1:V2</a:t>
              </a:r>
            </a:p>
          </p:txBody>
        </p:sp>
      </p:grpSp>
      <p:sp>
        <p:nvSpPr>
          <p:cNvPr id="1020967" name="Rectangle 39"/>
          <p:cNvSpPr>
            <a:spLocks noChangeArrowheads="1"/>
          </p:cNvSpPr>
          <p:nvPr/>
        </p:nvSpPr>
        <p:spPr bwMode="auto">
          <a:xfrm>
            <a:off x="1363663" y="3294063"/>
            <a:ext cx="698500" cy="368300"/>
          </a:xfrm>
          <a:prstGeom prst="rect">
            <a:avLst/>
          </a:prstGeom>
          <a:solidFill>
            <a:srgbClr val="FFFF00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pPr marL="228600" indent="-228600"/>
            <a:r>
              <a:rPr lang="en-US" sz="1600"/>
              <a:t>F1:V2</a:t>
            </a:r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228600"/>
            <a:ext cx="7772400" cy="990600"/>
          </a:xfrm>
        </p:spPr>
        <p:txBody>
          <a:bodyPr/>
          <a:lstStyle/>
          <a:p>
            <a:r>
              <a:rPr lang="en-US" altLang="ko-KR" dirty="0" smtClean="0">
                <a:ea typeface="굴림" charset="-127"/>
              </a:rPr>
              <a:t>NFS Cache consistency</a:t>
            </a:r>
          </a:p>
        </p:txBody>
      </p:sp>
      <p:grpSp>
        <p:nvGrpSpPr>
          <p:cNvPr id="1020945" name="Group 17"/>
          <p:cNvGrpSpPr>
            <a:grpSpLocks/>
          </p:cNvGrpSpPr>
          <p:nvPr/>
        </p:nvGrpSpPr>
        <p:grpSpPr bwMode="auto">
          <a:xfrm>
            <a:off x="3497263" y="2924175"/>
            <a:ext cx="2058987" cy="307975"/>
            <a:chOff x="1877" y="446"/>
            <a:chExt cx="1060" cy="194"/>
          </a:xfrm>
        </p:grpSpPr>
        <p:sp>
          <p:nvSpPr>
            <p:cNvPr id="25610" name="Line 18"/>
            <p:cNvSpPr>
              <a:spLocks noChangeShapeType="1"/>
            </p:cNvSpPr>
            <p:nvPr/>
          </p:nvSpPr>
          <p:spPr bwMode="auto">
            <a:xfrm flipV="1">
              <a:off x="1877" y="628"/>
              <a:ext cx="10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25611" name="Text Box 19"/>
            <p:cNvSpPr txBox="1">
              <a:spLocks noChangeArrowheads="1"/>
            </p:cNvSpPr>
            <p:nvPr/>
          </p:nvSpPr>
          <p:spPr bwMode="auto">
            <a:xfrm>
              <a:off x="2058" y="446"/>
              <a:ext cx="73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 sz="1800"/>
                <a:t>F1 still ok?</a:t>
              </a:r>
            </a:p>
          </p:txBody>
        </p:sp>
      </p:grpSp>
      <p:grpSp>
        <p:nvGrpSpPr>
          <p:cNvPr id="1020948" name="Group 20"/>
          <p:cNvGrpSpPr>
            <a:grpSpLocks/>
          </p:cNvGrpSpPr>
          <p:nvPr/>
        </p:nvGrpSpPr>
        <p:grpSpPr bwMode="auto">
          <a:xfrm>
            <a:off x="3436938" y="3308350"/>
            <a:ext cx="2043112" cy="307975"/>
            <a:chOff x="1877" y="912"/>
            <a:chExt cx="1060" cy="194"/>
          </a:xfrm>
        </p:grpSpPr>
        <p:sp>
          <p:nvSpPr>
            <p:cNvPr id="25608" name="Line 21"/>
            <p:cNvSpPr>
              <a:spLocks noChangeShapeType="1"/>
            </p:cNvSpPr>
            <p:nvPr/>
          </p:nvSpPr>
          <p:spPr bwMode="auto">
            <a:xfrm flipH="1" flipV="1">
              <a:off x="1877" y="932"/>
              <a:ext cx="10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25609" name="Text Box 22"/>
            <p:cNvSpPr txBox="1">
              <a:spLocks noChangeArrowheads="1"/>
            </p:cNvSpPr>
            <p:nvPr/>
          </p:nvSpPr>
          <p:spPr bwMode="auto">
            <a:xfrm>
              <a:off x="2043" y="912"/>
              <a:ext cx="789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 sz="1800"/>
                <a:t>No: (F1:V2)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616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0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0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0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0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0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0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0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020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09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209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209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09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209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209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0931" grpId="0" build="p"/>
      <p:bldP spid="102096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363" y="685800"/>
            <a:ext cx="8931275" cy="5989638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What sort of cache coherence might we expect?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i.e. what if one CPU changes file, and before it’s done, another CPU reads file?</a:t>
            </a:r>
          </a:p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Example: Start with file contents = “A”</a:t>
            </a:r>
          </a:p>
          <a:p>
            <a:pPr>
              <a:lnSpc>
                <a:spcPct val="80000"/>
              </a:lnSpc>
              <a:spcBef>
                <a:spcPct val="10000"/>
              </a:spcBef>
            </a:pPr>
            <a:endParaRPr lang="en-US" altLang="ko-KR" dirty="0" smtClean="0">
              <a:ea typeface="굴림" charset="-127"/>
            </a:endParaRPr>
          </a:p>
          <a:p>
            <a:pPr>
              <a:lnSpc>
                <a:spcPct val="80000"/>
              </a:lnSpc>
              <a:spcBef>
                <a:spcPct val="10000"/>
              </a:spcBef>
            </a:pPr>
            <a:endParaRPr lang="en-US" altLang="ko-KR" dirty="0" smtClean="0">
              <a:ea typeface="굴림" charset="-127"/>
            </a:endParaRPr>
          </a:p>
          <a:p>
            <a:pPr>
              <a:lnSpc>
                <a:spcPct val="80000"/>
              </a:lnSpc>
              <a:spcBef>
                <a:spcPct val="10000"/>
              </a:spcBef>
            </a:pPr>
            <a:endParaRPr lang="en-US" altLang="ko-KR" dirty="0" smtClean="0">
              <a:ea typeface="굴림" charset="-127"/>
            </a:endParaRPr>
          </a:p>
          <a:p>
            <a:pPr marL="0" indent="0">
              <a:lnSpc>
                <a:spcPct val="80000"/>
              </a:lnSpc>
              <a:spcBef>
                <a:spcPct val="10000"/>
              </a:spcBef>
              <a:buNone/>
            </a:pPr>
            <a:endParaRPr lang="en-US" altLang="ko-KR" dirty="0" smtClean="0">
              <a:ea typeface="굴림" charset="-127"/>
            </a:endParaRPr>
          </a:p>
          <a:p>
            <a:pPr>
              <a:lnSpc>
                <a:spcPct val="80000"/>
              </a:lnSpc>
              <a:spcBef>
                <a:spcPct val="10000"/>
              </a:spcBef>
            </a:pPr>
            <a:endParaRPr lang="en-US" altLang="ko-KR" dirty="0" smtClean="0">
              <a:ea typeface="굴림" charset="-127"/>
            </a:endParaRPr>
          </a:p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What would we actually want?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Assume we want distributed system to behave exactly the same as if all processes are running on single system</a:t>
            </a: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If read finishes before write starts, get old copy</a:t>
            </a: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If read starts after write finishes, get new copy</a:t>
            </a: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Otherwise, get either new or old copy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For NFS:</a:t>
            </a: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If read starts more than 30 seconds after write, get new copy; otherwise, could get partial update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228600"/>
            <a:ext cx="7772400" cy="990600"/>
          </a:xfrm>
        </p:spPr>
        <p:txBody>
          <a:bodyPr/>
          <a:lstStyle/>
          <a:p>
            <a:r>
              <a:rPr lang="en-US" altLang="ko-KR" dirty="0" smtClean="0">
                <a:ea typeface="굴림" charset="-127"/>
              </a:rPr>
              <a:t>Sequential Ordering Constraints</a:t>
            </a:r>
          </a:p>
        </p:txBody>
      </p:sp>
      <p:grpSp>
        <p:nvGrpSpPr>
          <p:cNvPr id="1024021" name="Group 21"/>
          <p:cNvGrpSpPr>
            <a:grpSpLocks/>
          </p:cNvGrpSpPr>
          <p:nvPr/>
        </p:nvGrpSpPr>
        <p:grpSpPr bwMode="auto">
          <a:xfrm>
            <a:off x="381000" y="2057400"/>
            <a:ext cx="8531225" cy="1728788"/>
            <a:chOff x="50" y="2016"/>
            <a:chExt cx="5374" cy="1237"/>
          </a:xfrm>
        </p:grpSpPr>
        <p:sp>
          <p:nvSpPr>
            <p:cNvPr id="26629" name="Rectangle 5"/>
            <p:cNvSpPr>
              <a:spLocks noChangeArrowheads="1"/>
            </p:cNvSpPr>
            <p:nvPr/>
          </p:nvSpPr>
          <p:spPr bwMode="auto">
            <a:xfrm>
              <a:off x="1008" y="2037"/>
              <a:ext cx="1248" cy="192"/>
            </a:xfrm>
            <a:prstGeom prst="rect">
              <a:avLst/>
            </a:prstGeom>
            <a:solidFill>
              <a:srgbClr val="00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/>
              <a:r>
                <a:rPr lang="en-US" sz="1800"/>
                <a:t>Read: gets A</a:t>
              </a:r>
            </a:p>
          </p:txBody>
        </p:sp>
        <p:sp>
          <p:nvSpPr>
            <p:cNvPr id="26630" name="Rectangle 6"/>
            <p:cNvSpPr>
              <a:spLocks noChangeArrowheads="1"/>
            </p:cNvSpPr>
            <p:nvPr/>
          </p:nvSpPr>
          <p:spPr bwMode="auto">
            <a:xfrm>
              <a:off x="1296" y="2325"/>
              <a:ext cx="1344" cy="192"/>
            </a:xfrm>
            <a:prstGeom prst="rect">
              <a:avLst/>
            </a:prstGeom>
            <a:solidFill>
              <a:srgbClr val="00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/>
              <a:r>
                <a:rPr lang="en-US" sz="1800"/>
                <a:t>Read: gets A or B</a:t>
              </a:r>
            </a:p>
          </p:txBody>
        </p:sp>
        <p:sp>
          <p:nvSpPr>
            <p:cNvPr id="26631" name="Rectangle 7"/>
            <p:cNvSpPr>
              <a:spLocks noChangeArrowheads="1"/>
            </p:cNvSpPr>
            <p:nvPr/>
          </p:nvSpPr>
          <p:spPr bwMode="auto">
            <a:xfrm>
              <a:off x="2304" y="2037"/>
              <a:ext cx="1008" cy="192"/>
            </a:xfrm>
            <a:prstGeom prst="rect">
              <a:avLst/>
            </a:prstGeom>
            <a:solidFill>
              <a:srgbClr val="00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/>
              <a:r>
                <a:rPr lang="en-US" sz="1800"/>
                <a:t>Write B</a:t>
              </a:r>
            </a:p>
          </p:txBody>
        </p:sp>
        <p:sp>
          <p:nvSpPr>
            <p:cNvPr id="26632" name="Rectangle 8"/>
            <p:cNvSpPr>
              <a:spLocks noChangeArrowheads="1"/>
            </p:cNvSpPr>
            <p:nvPr/>
          </p:nvSpPr>
          <p:spPr bwMode="auto">
            <a:xfrm>
              <a:off x="2688" y="2325"/>
              <a:ext cx="1008" cy="192"/>
            </a:xfrm>
            <a:prstGeom prst="rect">
              <a:avLst/>
            </a:prstGeom>
            <a:solidFill>
              <a:srgbClr val="00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/>
              <a:r>
                <a:rPr lang="en-US" sz="1800"/>
                <a:t>Write C</a:t>
              </a:r>
            </a:p>
          </p:txBody>
        </p:sp>
        <p:sp>
          <p:nvSpPr>
            <p:cNvPr id="26633" name="Rectangle 11"/>
            <p:cNvSpPr>
              <a:spLocks noChangeArrowheads="1"/>
            </p:cNvSpPr>
            <p:nvPr/>
          </p:nvSpPr>
          <p:spPr bwMode="auto">
            <a:xfrm>
              <a:off x="3840" y="2016"/>
              <a:ext cx="1584" cy="213"/>
            </a:xfrm>
            <a:prstGeom prst="rect">
              <a:avLst/>
            </a:prstGeom>
            <a:solidFill>
              <a:srgbClr val="00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/>
              <a:r>
                <a:rPr lang="en-US" sz="1800"/>
                <a:t>Read: parts of B or C</a:t>
              </a:r>
            </a:p>
          </p:txBody>
        </p:sp>
        <p:sp>
          <p:nvSpPr>
            <p:cNvPr id="26634" name="Text Box 13"/>
            <p:cNvSpPr txBox="1">
              <a:spLocks noChangeArrowheads="1"/>
            </p:cNvSpPr>
            <p:nvPr/>
          </p:nvSpPr>
          <p:spPr bwMode="auto">
            <a:xfrm>
              <a:off x="50" y="2052"/>
              <a:ext cx="852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/>
                <a:t>Client 1:</a:t>
              </a:r>
            </a:p>
          </p:txBody>
        </p:sp>
        <p:sp>
          <p:nvSpPr>
            <p:cNvPr id="26635" name="Text Box 14"/>
            <p:cNvSpPr txBox="1">
              <a:spLocks noChangeArrowheads="1"/>
            </p:cNvSpPr>
            <p:nvPr/>
          </p:nvSpPr>
          <p:spPr bwMode="auto">
            <a:xfrm>
              <a:off x="50" y="2325"/>
              <a:ext cx="852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/>
                <a:t>Client 2:</a:t>
              </a:r>
            </a:p>
          </p:txBody>
        </p:sp>
        <p:sp>
          <p:nvSpPr>
            <p:cNvPr id="26636" name="Text Box 15"/>
            <p:cNvSpPr txBox="1">
              <a:spLocks noChangeArrowheads="1"/>
            </p:cNvSpPr>
            <p:nvPr/>
          </p:nvSpPr>
          <p:spPr bwMode="auto">
            <a:xfrm>
              <a:off x="50" y="2565"/>
              <a:ext cx="852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/>
                <a:t>Client 3:</a:t>
              </a:r>
            </a:p>
          </p:txBody>
        </p:sp>
        <p:sp>
          <p:nvSpPr>
            <p:cNvPr id="26637" name="Rectangle 16"/>
            <p:cNvSpPr>
              <a:spLocks noChangeArrowheads="1"/>
            </p:cNvSpPr>
            <p:nvPr/>
          </p:nvSpPr>
          <p:spPr bwMode="auto">
            <a:xfrm>
              <a:off x="3360" y="2613"/>
              <a:ext cx="1584" cy="213"/>
            </a:xfrm>
            <a:prstGeom prst="rect">
              <a:avLst/>
            </a:prstGeom>
            <a:solidFill>
              <a:srgbClr val="00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/>
              <a:r>
                <a:rPr lang="en-US" sz="1800"/>
                <a:t>Read: parts of B or C</a:t>
              </a:r>
            </a:p>
          </p:txBody>
        </p:sp>
        <p:grpSp>
          <p:nvGrpSpPr>
            <p:cNvPr id="26638" name="Group 20"/>
            <p:cNvGrpSpPr>
              <a:grpSpLocks/>
            </p:cNvGrpSpPr>
            <p:nvPr/>
          </p:nvGrpSpPr>
          <p:grpSpPr bwMode="auto">
            <a:xfrm>
              <a:off x="1008" y="2949"/>
              <a:ext cx="4128" cy="304"/>
              <a:chOff x="1008" y="3072"/>
              <a:chExt cx="4128" cy="304"/>
            </a:xfrm>
          </p:grpSpPr>
          <p:sp>
            <p:nvSpPr>
              <p:cNvPr id="26639" name="Line 17"/>
              <p:cNvSpPr>
                <a:spLocks noChangeShapeType="1"/>
              </p:cNvSpPr>
              <p:nvPr/>
            </p:nvSpPr>
            <p:spPr bwMode="auto">
              <a:xfrm>
                <a:off x="1008" y="3072"/>
                <a:ext cx="41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  <p:sp>
            <p:nvSpPr>
              <p:cNvPr id="26640" name="Text Box 18"/>
              <p:cNvSpPr txBox="1">
                <a:spLocks noChangeArrowheads="1"/>
              </p:cNvSpPr>
              <p:nvPr/>
            </p:nvSpPr>
            <p:spPr bwMode="auto">
              <a:xfrm>
                <a:off x="2736" y="3120"/>
                <a:ext cx="520" cy="2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>
                <a:spAutoFit/>
              </a:bodyPr>
              <a:lstStyle>
                <a:lvl1pPr marL="2286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defRPr sz="2200"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r>
                  <a:rPr lang="en-US"/>
                  <a:t>Time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006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4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4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24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24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0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0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240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240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240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240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40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40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240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240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0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>
                <a:ea typeface="굴림" charset="-127"/>
              </a:rPr>
              <a:t>Schematic View of NFS Architecture </a:t>
            </a:r>
            <a:endParaRPr lang="en-US" altLang="ko-KR" sz="1800" smtClean="0">
              <a:ea typeface="굴림" charset="-127"/>
            </a:endParaRP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" t="5208" r="1151" b="5527"/>
          <a:stretch>
            <a:fillRect/>
          </a:stretch>
        </p:blipFill>
        <p:spPr bwMode="auto">
          <a:xfrm>
            <a:off x="914400" y="1495425"/>
            <a:ext cx="7431088" cy="50577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027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304800"/>
            <a:ext cx="7772400" cy="990600"/>
          </a:xfrm>
        </p:spPr>
        <p:txBody>
          <a:bodyPr/>
          <a:lstStyle/>
          <a:p>
            <a:r>
              <a:rPr lang="en-US" altLang="ko-KR" smtClean="0">
                <a:ea typeface="굴림" charset="-127"/>
              </a:rPr>
              <a:t>Remote Procedure Call</a:t>
            </a:r>
          </a:p>
        </p:txBody>
      </p:sp>
      <p:sp>
        <p:nvSpPr>
          <p:cNvPr id="994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3363" y="609600"/>
            <a:ext cx="8677275" cy="59436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sz="2400" dirty="0" smtClean="0">
                <a:ea typeface="굴림" charset="-127"/>
              </a:rPr>
              <a:t>Raw messaging is a bit too low-level for programming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Must wrap up information into message at source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Must decide what to do with message at destination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May need to sit and wait for multiple messages to arrive</a:t>
            </a:r>
          </a:p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sz="2400" dirty="0" smtClean="0">
                <a:ea typeface="굴림" charset="-127"/>
              </a:rPr>
              <a:t>Better option: Remote Procedure Call (RPC)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Calls a procedure on a remote machine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Client calls: </a:t>
            </a:r>
            <a:br>
              <a:rPr lang="en-US" altLang="ko-KR" dirty="0" smtClean="0">
                <a:ea typeface="굴림" charset="-127"/>
              </a:rPr>
            </a:br>
            <a:r>
              <a:rPr lang="en-US" altLang="ko-KR" dirty="0" smtClean="0">
                <a:ea typeface="굴림" charset="-127"/>
              </a:rPr>
              <a:t>	</a:t>
            </a:r>
            <a:r>
              <a:rPr lang="en-US" altLang="ko-KR" dirty="0" err="1" smtClean="0">
                <a:latin typeface="Courier New" pitchFamily="49" charset="0"/>
                <a:ea typeface="굴림" charset="-127"/>
              </a:rPr>
              <a:t>remoteFileSystem</a:t>
            </a:r>
            <a:r>
              <a:rPr lang="en-US" altLang="ko-KR" dirty="0" err="1" smtClean="0">
                <a:latin typeface="Courier New" pitchFamily="49" charset="0"/>
                <a:ea typeface="굴림" charset="-127"/>
                <a:sym typeface="Symbol" pitchFamily="18" charset="2"/>
              </a:rPr>
              <a:t>Read</a:t>
            </a:r>
            <a:r>
              <a:rPr lang="en-US" altLang="ko-KR" dirty="0" smtClean="0">
                <a:latin typeface="Courier New" pitchFamily="49" charset="0"/>
                <a:ea typeface="굴림" charset="-127"/>
                <a:sym typeface="Symbol" pitchFamily="18" charset="2"/>
              </a:rPr>
              <a:t>(“rutabaga”);</a:t>
            </a:r>
            <a:endParaRPr lang="en-US" altLang="ko-KR" dirty="0" smtClean="0">
              <a:ea typeface="굴림" charset="-127"/>
              <a:sym typeface="Symbol" pitchFamily="18" charset="2"/>
            </a:endParaRP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Translated automatically into call on server:</a:t>
            </a:r>
            <a:br>
              <a:rPr lang="en-US" altLang="ko-KR" dirty="0" smtClean="0">
                <a:ea typeface="굴림" charset="-127"/>
              </a:rPr>
            </a:br>
            <a:r>
              <a:rPr lang="en-US" altLang="ko-KR" dirty="0" smtClean="0">
                <a:ea typeface="굴림" charset="-127"/>
              </a:rPr>
              <a:t>	</a:t>
            </a:r>
            <a:r>
              <a:rPr lang="en-US" altLang="ko-KR" dirty="0" err="1" smtClean="0">
                <a:latin typeface="Courier New" pitchFamily="49" charset="0"/>
                <a:ea typeface="굴림" charset="-127"/>
              </a:rPr>
              <a:t>fileSys</a:t>
            </a:r>
            <a:r>
              <a:rPr lang="en-US" altLang="ko-KR" dirty="0" err="1" smtClean="0">
                <a:latin typeface="Courier New" pitchFamily="49" charset="0"/>
                <a:ea typeface="굴림" charset="-127"/>
                <a:sym typeface="Symbol" pitchFamily="18" charset="2"/>
              </a:rPr>
              <a:t>Read</a:t>
            </a:r>
            <a:r>
              <a:rPr lang="en-US" altLang="ko-KR" dirty="0" smtClean="0">
                <a:latin typeface="Courier New" pitchFamily="49" charset="0"/>
                <a:ea typeface="굴림" charset="-127"/>
                <a:sym typeface="Symbol" pitchFamily="18" charset="2"/>
              </a:rPr>
              <a:t>(“rutabaga”);</a:t>
            </a:r>
          </a:p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sz="2400" dirty="0" smtClean="0">
                <a:ea typeface="굴림" charset="-127"/>
                <a:sym typeface="Symbol" pitchFamily="18" charset="2"/>
              </a:rPr>
              <a:t>Implementation: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  <a:sym typeface="Symbol" pitchFamily="18" charset="2"/>
              </a:rPr>
              <a:t>Request-response message passing (under covers!)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  <a:sym typeface="Symbol" pitchFamily="18" charset="2"/>
              </a:rPr>
              <a:t>“Stub” provides glue on client/server</a:t>
            </a: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  <a:sym typeface="Symbol" pitchFamily="18" charset="2"/>
              </a:rPr>
              <a:t>Client stub is responsible for “</a:t>
            </a:r>
            <a:r>
              <a:rPr lang="en-US" altLang="ko-KR" dirty="0" err="1" smtClean="0">
                <a:ea typeface="굴림" charset="-127"/>
                <a:sym typeface="Symbol" pitchFamily="18" charset="2"/>
              </a:rPr>
              <a:t>marshalling</a:t>
            </a:r>
            <a:r>
              <a:rPr lang="en-US" altLang="ko-KR" dirty="0" smtClean="0">
                <a:ea typeface="굴림" charset="-127"/>
                <a:sym typeface="Symbol" pitchFamily="18" charset="2"/>
              </a:rPr>
              <a:t>” arguments and “</a:t>
            </a:r>
            <a:r>
              <a:rPr lang="en-US" altLang="ko-KR" dirty="0" err="1" smtClean="0">
                <a:ea typeface="굴림" charset="-127"/>
                <a:sym typeface="Symbol" pitchFamily="18" charset="2"/>
              </a:rPr>
              <a:t>unmarshalling</a:t>
            </a:r>
            <a:r>
              <a:rPr lang="en-US" altLang="ko-KR" dirty="0" smtClean="0">
                <a:ea typeface="굴림" charset="-127"/>
                <a:sym typeface="Symbol" pitchFamily="18" charset="2"/>
              </a:rPr>
              <a:t>” the return values</a:t>
            </a: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  <a:sym typeface="Symbol" pitchFamily="18" charset="2"/>
              </a:rPr>
              <a:t>Server-side stub is responsible for “</a:t>
            </a:r>
            <a:r>
              <a:rPr lang="en-US" altLang="ko-KR" dirty="0" err="1" smtClean="0">
                <a:ea typeface="굴림" charset="-127"/>
                <a:sym typeface="Symbol" pitchFamily="18" charset="2"/>
              </a:rPr>
              <a:t>unmarshalling</a:t>
            </a:r>
            <a:r>
              <a:rPr lang="en-US" altLang="ko-KR" dirty="0" smtClean="0">
                <a:ea typeface="굴림" charset="-127"/>
                <a:sym typeface="Symbol" pitchFamily="18" charset="2"/>
              </a:rPr>
              <a:t>” arguments and “</a:t>
            </a:r>
            <a:r>
              <a:rPr lang="en-US" altLang="ko-KR" dirty="0" err="1" smtClean="0">
                <a:ea typeface="굴림" charset="-127"/>
                <a:sym typeface="Symbol" pitchFamily="18" charset="2"/>
              </a:rPr>
              <a:t>marshalling</a:t>
            </a:r>
            <a:r>
              <a:rPr lang="en-US" altLang="ko-KR" dirty="0" smtClean="0">
                <a:ea typeface="굴림" charset="-127"/>
                <a:sym typeface="Symbol" pitchFamily="18" charset="2"/>
              </a:rPr>
              <a:t>” the return values.</a:t>
            </a:r>
          </a:p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sz="2400" dirty="0" err="1" smtClean="0">
                <a:solidFill>
                  <a:schemeClr val="hlink"/>
                </a:solidFill>
                <a:ea typeface="굴림" charset="-127"/>
                <a:sym typeface="Symbol" pitchFamily="18" charset="2"/>
              </a:rPr>
              <a:t>Marshalling</a:t>
            </a:r>
            <a:r>
              <a:rPr lang="en-US" altLang="ko-KR" sz="2400" dirty="0" smtClean="0">
                <a:ea typeface="굴림" charset="-127"/>
                <a:sym typeface="Symbol" pitchFamily="18" charset="2"/>
              </a:rPr>
              <a:t> involves (depending on system)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  <a:sym typeface="Symbol" pitchFamily="18" charset="2"/>
              </a:rPr>
              <a:t>Converting values to a canonical form, serializing objects, copying arguments passed by reference, etc. </a:t>
            </a:r>
          </a:p>
        </p:txBody>
      </p:sp>
    </p:spTree>
    <p:extLst>
      <p:ext uri="{BB962C8B-B14F-4D97-AF65-F5344CB8AC3E}">
        <p14:creationId xmlns:p14="http://schemas.microsoft.com/office/powerpoint/2010/main" val="307625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94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94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94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94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4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4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4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94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94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94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94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94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94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94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94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94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94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94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943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943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943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943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943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943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943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943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430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Line 63"/>
          <p:cNvSpPr>
            <a:spLocks noChangeShapeType="1"/>
          </p:cNvSpPr>
          <p:nvPr/>
        </p:nvSpPr>
        <p:spPr bwMode="auto">
          <a:xfrm>
            <a:off x="381000" y="3429000"/>
            <a:ext cx="8534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/>
          </a:p>
        </p:txBody>
      </p:sp>
      <p:sp>
        <p:nvSpPr>
          <p:cNvPr id="10243" name="Cloud"/>
          <p:cNvSpPr>
            <a:spLocks noChangeAspect="1" noEditPoints="1" noChangeArrowheads="1"/>
          </p:cNvSpPr>
          <p:nvPr/>
        </p:nvSpPr>
        <p:spPr bwMode="auto">
          <a:xfrm>
            <a:off x="6781800" y="2590800"/>
            <a:ext cx="1905000" cy="1746250"/>
          </a:xfrm>
          <a:custGeom>
            <a:avLst/>
            <a:gdLst>
              <a:gd name="T0" fmla="*/ 5909 w 21600"/>
              <a:gd name="T1" fmla="*/ 873125 h 21600"/>
              <a:gd name="T2" fmla="*/ 952500 w 21600"/>
              <a:gd name="T3" fmla="*/ 1744391 h 21600"/>
              <a:gd name="T4" fmla="*/ 1903413 w 21600"/>
              <a:gd name="T5" fmla="*/ 873125 h 21600"/>
              <a:gd name="T6" fmla="*/ 952500 w 21600"/>
              <a:gd name="T7" fmla="*/ 99843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anchor="ctr"/>
          <a:lstStyle/>
          <a:p>
            <a:endParaRPr lang="en-US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990600"/>
          </a:xfrm>
        </p:spPr>
        <p:txBody>
          <a:bodyPr/>
          <a:lstStyle/>
          <a:p>
            <a:r>
              <a:rPr lang="en-US" altLang="ko-KR" dirty="0" smtClean="0">
                <a:ea typeface="굴림" charset="-127"/>
              </a:rPr>
              <a:t>RPC Information Flow</a:t>
            </a:r>
          </a:p>
        </p:txBody>
      </p:sp>
      <p:sp>
        <p:nvSpPr>
          <p:cNvPr id="996356" name="Rectangle 4"/>
          <p:cNvSpPr>
            <a:spLocks noChangeArrowheads="1"/>
          </p:cNvSpPr>
          <p:nvPr/>
        </p:nvSpPr>
        <p:spPr bwMode="auto">
          <a:xfrm>
            <a:off x="1676400" y="1660525"/>
            <a:ext cx="1066800" cy="9144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pPr marL="228600" indent="-228600" algn="ctr"/>
            <a:r>
              <a:rPr lang="en-US"/>
              <a:t>Client</a:t>
            </a:r>
          </a:p>
          <a:p>
            <a:pPr marL="228600" indent="-228600" algn="ctr"/>
            <a:r>
              <a:rPr lang="en-US"/>
              <a:t>(caller)</a:t>
            </a:r>
          </a:p>
        </p:txBody>
      </p:sp>
      <p:sp>
        <p:nvSpPr>
          <p:cNvPr id="996357" name="Rectangle 5"/>
          <p:cNvSpPr>
            <a:spLocks noChangeArrowheads="1"/>
          </p:cNvSpPr>
          <p:nvPr/>
        </p:nvSpPr>
        <p:spPr bwMode="auto">
          <a:xfrm>
            <a:off x="1676400" y="4327525"/>
            <a:ext cx="1066800" cy="9144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pPr marL="228600" indent="-228600" algn="ctr"/>
            <a:r>
              <a:rPr lang="en-US"/>
              <a:t>Server</a:t>
            </a:r>
          </a:p>
          <a:p>
            <a:pPr marL="228600" indent="-228600" algn="ctr"/>
            <a:r>
              <a:rPr lang="en-US"/>
              <a:t>(callee)</a:t>
            </a:r>
          </a:p>
        </p:txBody>
      </p:sp>
      <p:sp>
        <p:nvSpPr>
          <p:cNvPr id="996360" name="Rectangle 8"/>
          <p:cNvSpPr>
            <a:spLocks noChangeArrowheads="1"/>
          </p:cNvSpPr>
          <p:nvPr/>
        </p:nvSpPr>
        <p:spPr bwMode="auto">
          <a:xfrm>
            <a:off x="7162800" y="1660525"/>
            <a:ext cx="1066800" cy="9144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pPr marL="228600" indent="-228600" algn="ctr"/>
            <a:r>
              <a:rPr lang="en-US" dirty="0"/>
              <a:t>Packet</a:t>
            </a:r>
          </a:p>
          <a:p>
            <a:pPr marL="228600" indent="-228600" algn="ctr"/>
            <a:r>
              <a:rPr lang="en-US" dirty="0"/>
              <a:t>Handler</a:t>
            </a:r>
          </a:p>
        </p:txBody>
      </p:sp>
      <p:sp>
        <p:nvSpPr>
          <p:cNvPr id="996362" name="Rectangle 10"/>
          <p:cNvSpPr>
            <a:spLocks noChangeArrowheads="1"/>
          </p:cNvSpPr>
          <p:nvPr/>
        </p:nvSpPr>
        <p:spPr bwMode="auto">
          <a:xfrm>
            <a:off x="7162800" y="4327525"/>
            <a:ext cx="1066800" cy="914400"/>
          </a:xfrm>
          <a:prstGeom prst="rect">
            <a:avLst/>
          </a:prstGeom>
          <a:solidFill>
            <a:srgbClr val="53FB25"/>
          </a:solidFill>
          <a:ln w="381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pPr marL="228600" indent="-228600" algn="ctr"/>
            <a:r>
              <a:rPr lang="en-US"/>
              <a:t>Packet</a:t>
            </a:r>
          </a:p>
          <a:p>
            <a:pPr marL="228600" indent="-228600" algn="ctr"/>
            <a:r>
              <a:rPr lang="en-US"/>
              <a:t>Handler</a:t>
            </a:r>
          </a:p>
        </p:txBody>
      </p:sp>
      <p:grpSp>
        <p:nvGrpSpPr>
          <p:cNvPr id="996392" name="Group 40"/>
          <p:cNvGrpSpPr>
            <a:grpSpLocks/>
          </p:cNvGrpSpPr>
          <p:nvPr/>
        </p:nvGrpSpPr>
        <p:grpSpPr bwMode="auto">
          <a:xfrm>
            <a:off x="2743200" y="1584325"/>
            <a:ext cx="1752600" cy="381000"/>
            <a:chOff x="1344" y="960"/>
            <a:chExt cx="1104" cy="240"/>
          </a:xfrm>
        </p:grpSpPr>
        <p:sp>
          <p:nvSpPr>
            <p:cNvPr id="10291" name="Line 11"/>
            <p:cNvSpPr>
              <a:spLocks noChangeShapeType="1"/>
            </p:cNvSpPr>
            <p:nvPr/>
          </p:nvSpPr>
          <p:spPr bwMode="auto">
            <a:xfrm>
              <a:off x="1344" y="1200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0292" name="Text Box 16"/>
            <p:cNvSpPr txBox="1">
              <a:spLocks noChangeArrowheads="1"/>
            </p:cNvSpPr>
            <p:nvPr/>
          </p:nvSpPr>
          <p:spPr bwMode="auto">
            <a:xfrm>
              <a:off x="1680" y="960"/>
              <a:ext cx="398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/>
                <a:t>call</a:t>
              </a:r>
            </a:p>
          </p:txBody>
        </p:sp>
      </p:grpSp>
      <p:grpSp>
        <p:nvGrpSpPr>
          <p:cNvPr id="996403" name="Group 51"/>
          <p:cNvGrpSpPr>
            <a:grpSpLocks/>
          </p:cNvGrpSpPr>
          <p:nvPr/>
        </p:nvGrpSpPr>
        <p:grpSpPr bwMode="auto">
          <a:xfrm>
            <a:off x="2743200" y="2270125"/>
            <a:ext cx="1752600" cy="357188"/>
            <a:chOff x="1344" y="1392"/>
            <a:chExt cx="1104" cy="225"/>
          </a:xfrm>
        </p:grpSpPr>
        <p:sp>
          <p:nvSpPr>
            <p:cNvPr id="10289" name="Line 12"/>
            <p:cNvSpPr>
              <a:spLocks noChangeShapeType="1"/>
            </p:cNvSpPr>
            <p:nvPr/>
          </p:nvSpPr>
          <p:spPr bwMode="auto">
            <a:xfrm flipH="1">
              <a:off x="1344" y="139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0290" name="Text Box 17"/>
            <p:cNvSpPr txBox="1">
              <a:spLocks noChangeArrowheads="1"/>
            </p:cNvSpPr>
            <p:nvPr/>
          </p:nvSpPr>
          <p:spPr bwMode="auto">
            <a:xfrm>
              <a:off x="1555" y="1392"/>
              <a:ext cx="649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/>
                <a:t>return</a:t>
              </a:r>
            </a:p>
          </p:txBody>
        </p:sp>
      </p:grpSp>
      <p:grpSp>
        <p:nvGrpSpPr>
          <p:cNvPr id="996394" name="Group 42"/>
          <p:cNvGrpSpPr>
            <a:grpSpLocks/>
          </p:cNvGrpSpPr>
          <p:nvPr/>
        </p:nvGrpSpPr>
        <p:grpSpPr bwMode="auto">
          <a:xfrm>
            <a:off x="5410200" y="1584325"/>
            <a:ext cx="1752600" cy="381000"/>
            <a:chOff x="3024" y="960"/>
            <a:chExt cx="1104" cy="240"/>
          </a:xfrm>
        </p:grpSpPr>
        <p:sp>
          <p:nvSpPr>
            <p:cNvPr id="10287" name="Line 13"/>
            <p:cNvSpPr>
              <a:spLocks noChangeShapeType="1"/>
            </p:cNvSpPr>
            <p:nvPr/>
          </p:nvSpPr>
          <p:spPr bwMode="auto">
            <a:xfrm>
              <a:off x="3024" y="1200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0288" name="Text Box 18"/>
            <p:cNvSpPr txBox="1">
              <a:spLocks noChangeArrowheads="1"/>
            </p:cNvSpPr>
            <p:nvPr/>
          </p:nvSpPr>
          <p:spPr bwMode="auto">
            <a:xfrm>
              <a:off x="3265" y="960"/>
              <a:ext cx="493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/>
                <a:t>send</a:t>
              </a:r>
            </a:p>
          </p:txBody>
        </p:sp>
      </p:grpSp>
      <p:grpSp>
        <p:nvGrpSpPr>
          <p:cNvPr id="996402" name="Group 50"/>
          <p:cNvGrpSpPr>
            <a:grpSpLocks/>
          </p:cNvGrpSpPr>
          <p:nvPr/>
        </p:nvGrpSpPr>
        <p:grpSpPr bwMode="auto">
          <a:xfrm>
            <a:off x="5410200" y="2270125"/>
            <a:ext cx="1752600" cy="357188"/>
            <a:chOff x="3024" y="1392"/>
            <a:chExt cx="1104" cy="225"/>
          </a:xfrm>
        </p:grpSpPr>
        <p:sp>
          <p:nvSpPr>
            <p:cNvPr id="10285" name="Line 14"/>
            <p:cNvSpPr>
              <a:spLocks noChangeShapeType="1"/>
            </p:cNvSpPr>
            <p:nvPr/>
          </p:nvSpPr>
          <p:spPr bwMode="auto">
            <a:xfrm flipH="1">
              <a:off x="3024" y="139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0286" name="Text Box 19"/>
            <p:cNvSpPr txBox="1">
              <a:spLocks noChangeArrowheads="1"/>
            </p:cNvSpPr>
            <p:nvPr/>
          </p:nvSpPr>
          <p:spPr bwMode="auto">
            <a:xfrm>
              <a:off x="3152" y="1392"/>
              <a:ext cx="718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/>
                <a:t>receive</a:t>
              </a:r>
            </a:p>
          </p:txBody>
        </p:sp>
      </p:grpSp>
      <p:grpSp>
        <p:nvGrpSpPr>
          <p:cNvPr id="996401" name="Group 49"/>
          <p:cNvGrpSpPr>
            <a:grpSpLocks/>
          </p:cNvGrpSpPr>
          <p:nvPr/>
        </p:nvGrpSpPr>
        <p:grpSpPr bwMode="auto">
          <a:xfrm>
            <a:off x="5410200" y="4275138"/>
            <a:ext cx="1752600" cy="381000"/>
            <a:chOff x="3024" y="2415"/>
            <a:chExt cx="1104" cy="240"/>
          </a:xfrm>
        </p:grpSpPr>
        <p:sp>
          <p:nvSpPr>
            <p:cNvPr id="10283" name="Line 22"/>
            <p:cNvSpPr>
              <a:spLocks noChangeShapeType="1"/>
            </p:cNvSpPr>
            <p:nvPr/>
          </p:nvSpPr>
          <p:spPr bwMode="auto">
            <a:xfrm>
              <a:off x="3024" y="2655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0284" name="Text Box 24"/>
            <p:cNvSpPr txBox="1">
              <a:spLocks noChangeArrowheads="1"/>
            </p:cNvSpPr>
            <p:nvPr/>
          </p:nvSpPr>
          <p:spPr bwMode="auto">
            <a:xfrm>
              <a:off x="3265" y="2415"/>
              <a:ext cx="493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/>
                <a:t>send</a:t>
              </a:r>
            </a:p>
          </p:txBody>
        </p:sp>
      </p:grpSp>
      <p:grpSp>
        <p:nvGrpSpPr>
          <p:cNvPr id="996397" name="Group 45"/>
          <p:cNvGrpSpPr>
            <a:grpSpLocks/>
          </p:cNvGrpSpPr>
          <p:nvPr/>
        </p:nvGrpSpPr>
        <p:grpSpPr bwMode="auto">
          <a:xfrm>
            <a:off x="5410200" y="4960938"/>
            <a:ext cx="1752600" cy="357187"/>
            <a:chOff x="3024" y="2847"/>
            <a:chExt cx="1104" cy="225"/>
          </a:xfrm>
        </p:grpSpPr>
        <p:sp>
          <p:nvSpPr>
            <p:cNvPr id="10281" name="Line 23"/>
            <p:cNvSpPr>
              <a:spLocks noChangeShapeType="1"/>
            </p:cNvSpPr>
            <p:nvPr/>
          </p:nvSpPr>
          <p:spPr bwMode="auto">
            <a:xfrm flipH="1">
              <a:off x="3024" y="2847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0282" name="Text Box 25"/>
            <p:cNvSpPr txBox="1">
              <a:spLocks noChangeArrowheads="1"/>
            </p:cNvSpPr>
            <p:nvPr/>
          </p:nvSpPr>
          <p:spPr bwMode="auto">
            <a:xfrm>
              <a:off x="3152" y="2847"/>
              <a:ext cx="718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/>
                <a:t>receive</a:t>
              </a:r>
            </a:p>
          </p:txBody>
        </p:sp>
      </p:grpSp>
      <p:grpSp>
        <p:nvGrpSpPr>
          <p:cNvPr id="996400" name="Group 48"/>
          <p:cNvGrpSpPr>
            <a:grpSpLocks/>
          </p:cNvGrpSpPr>
          <p:nvPr/>
        </p:nvGrpSpPr>
        <p:grpSpPr bwMode="auto">
          <a:xfrm>
            <a:off x="2743200" y="4251325"/>
            <a:ext cx="1752600" cy="381000"/>
            <a:chOff x="1344" y="2400"/>
            <a:chExt cx="1104" cy="240"/>
          </a:xfrm>
        </p:grpSpPr>
        <p:sp>
          <p:nvSpPr>
            <p:cNvPr id="10279" name="Line 28"/>
            <p:cNvSpPr>
              <a:spLocks noChangeShapeType="1"/>
            </p:cNvSpPr>
            <p:nvPr/>
          </p:nvSpPr>
          <p:spPr bwMode="auto">
            <a:xfrm>
              <a:off x="1344" y="2640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0280" name="Text Box 30"/>
            <p:cNvSpPr txBox="1">
              <a:spLocks noChangeArrowheads="1"/>
            </p:cNvSpPr>
            <p:nvPr/>
          </p:nvSpPr>
          <p:spPr bwMode="auto">
            <a:xfrm>
              <a:off x="1555" y="2400"/>
              <a:ext cx="649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/>
                <a:t>return</a:t>
              </a:r>
            </a:p>
          </p:txBody>
        </p:sp>
      </p:grpSp>
      <p:grpSp>
        <p:nvGrpSpPr>
          <p:cNvPr id="996399" name="Group 47"/>
          <p:cNvGrpSpPr>
            <a:grpSpLocks/>
          </p:cNvGrpSpPr>
          <p:nvPr/>
        </p:nvGrpSpPr>
        <p:grpSpPr bwMode="auto">
          <a:xfrm>
            <a:off x="2743200" y="4937125"/>
            <a:ext cx="1752600" cy="357188"/>
            <a:chOff x="1344" y="2832"/>
            <a:chExt cx="1104" cy="225"/>
          </a:xfrm>
        </p:grpSpPr>
        <p:sp>
          <p:nvSpPr>
            <p:cNvPr id="10277" name="Line 29"/>
            <p:cNvSpPr>
              <a:spLocks noChangeShapeType="1"/>
            </p:cNvSpPr>
            <p:nvPr/>
          </p:nvSpPr>
          <p:spPr bwMode="auto">
            <a:xfrm flipH="1">
              <a:off x="1344" y="28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  <p:sp>
          <p:nvSpPr>
            <p:cNvPr id="10278" name="Text Box 31"/>
            <p:cNvSpPr txBox="1">
              <a:spLocks noChangeArrowheads="1"/>
            </p:cNvSpPr>
            <p:nvPr/>
          </p:nvSpPr>
          <p:spPr bwMode="auto">
            <a:xfrm>
              <a:off x="1680" y="2832"/>
              <a:ext cx="398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/>
                <a:t>call</a:t>
              </a:r>
            </a:p>
          </p:txBody>
        </p:sp>
      </p:grpSp>
      <p:grpSp>
        <p:nvGrpSpPr>
          <p:cNvPr id="996395" name="Group 43"/>
          <p:cNvGrpSpPr>
            <a:grpSpLocks/>
          </p:cNvGrpSpPr>
          <p:nvPr/>
        </p:nvGrpSpPr>
        <p:grpSpPr bwMode="auto">
          <a:xfrm>
            <a:off x="7848600" y="2574925"/>
            <a:ext cx="357188" cy="1768475"/>
            <a:chOff x="4560" y="1584"/>
            <a:chExt cx="225" cy="864"/>
          </a:xfrm>
        </p:grpSpPr>
        <p:sp>
          <p:nvSpPr>
            <p:cNvPr id="10275" name="Text Box 34"/>
            <p:cNvSpPr txBox="1">
              <a:spLocks noChangeArrowheads="1"/>
            </p:cNvSpPr>
            <p:nvPr/>
          </p:nvSpPr>
          <p:spPr bwMode="auto">
            <a:xfrm rot="5400000">
              <a:off x="4350" y="1921"/>
              <a:ext cx="645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/>
                <a:t>Network</a:t>
              </a:r>
            </a:p>
          </p:txBody>
        </p:sp>
        <p:sp>
          <p:nvSpPr>
            <p:cNvPr id="10276" name="Line 32"/>
            <p:cNvSpPr>
              <a:spLocks noChangeShapeType="1"/>
            </p:cNvSpPr>
            <p:nvPr/>
          </p:nvSpPr>
          <p:spPr bwMode="auto">
            <a:xfrm>
              <a:off x="4560" y="158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</p:grpSp>
      <p:grpSp>
        <p:nvGrpSpPr>
          <p:cNvPr id="996396" name="Group 44"/>
          <p:cNvGrpSpPr>
            <a:grpSpLocks/>
          </p:cNvGrpSpPr>
          <p:nvPr/>
        </p:nvGrpSpPr>
        <p:grpSpPr bwMode="auto">
          <a:xfrm>
            <a:off x="7188200" y="2574925"/>
            <a:ext cx="357188" cy="1768475"/>
            <a:chOff x="4144" y="1584"/>
            <a:chExt cx="225" cy="864"/>
          </a:xfrm>
        </p:grpSpPr>
        <p:sp>
          <p:nvSpPr>
            <p:cNvPr id="10273" name="Text Box 35"/>
            <p:cNvSpPr txBox="1">
              <a:spLocks noChangeArrowheads="1"/>
            </p:cNvSpPr>
            <p:nvPr/>
          </p:nvSpPr>
          <p:spPr bwMode="auto">
            <a:xfrm rot="-5400000">
              <a:off x="3935" y="1919"/>
              <a:ext cx="644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/>
                <a:t>Network</a:t>
              </a:r>
            </a:p>
          </p:txBody>
        </p:sp>
        <p:sp>
          <p:nvSpPr>
            <p:cNvPr id="10274" name="Line 33"/>
            <p:cNvSpPr>
              <a:spLocks noChangeShapeType="1"/>
            </p:cNvSpPr>
            <p:nvPr/>
          </p:nvSpPr>
          <p:spPr bwMode="auto">
            <a:xfrm flipV="1">
              <a:off x="4368" y="158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</p:grpSp>
      <p:grpSp>
        <p:nvGrpSpPr>
          <p:cNvPr id="996393" name="Group 41"/>
          <p:cNvGrpSpPr>
            <a:grpSpLocks/>
          </p:cNvGrpSpPr>
          <p:nvPr/>
        </p:nvGrpSpPr>
        <p:grpSpPr bwMode="auto">
          <a:xfrm>
            <a:off x="4437064" y="838200"/>
            <a:ext cx="1042987" cy="1736725"/>
            <a:chOff x="2411" y="490"/>
            <a:chExt cx="657" cy="1094"/>
          </a:xfrm>
        </p:grpSpPr>
        <p:sp>
          <p:nvSpPr>
            <p:cNvPr id="10271" name="Rectangle 6"/>
            <p:cNvSpPr>
              <a:spLocks noChangeArrowheads="1"/>
            </p:cNvSpPr>
            <p:nvPr/>
          </p:nvSpPr>
          <p:spPr bwMode="auto">
            <a:xfrm>
              <a:off x="2448" y="1008"/>
              <a:ext cx="576" cy="576"/>
            </a:xfrm>
            <a:prstGeom prst="rect">
              <a:avLst/>
            </a:pr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 algn="ctr"/>
              <a:r>
                <a:rPr lang="en-US"/>
                <a:t>Client</a:t>
              </a:r>
            </a:p>
            <a:p>
              <a:pPr marL="228600" indent="-228600" algn="ctr"/>
              <a:r>
                <a:rPr lang="en-US"/>
                <a:t>Stub</a:t>
              </a:r>
            </a:p>
          </p:txBody>
        </p:sp>
        <p:sp>
          <p:nvSpPr>
            <p:cNvPr id="10272" name="Text Box 36"/>
            <p:cNvSpPr txBox="1">
              <a:spLocks noChangeArrowheads="1"/>
            </p:cNvSpPr>
            <p:nvPr/>
          </p:nvSpPr>
          <p:spPr bwMode="auto">
            <a:xfrm>
              <a:off x="2411" y="490"/>
              <a:ext cx="657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dirty="0"/>
                <a:t>bundle</a:t>
              </a:r>
            </a:p>
            <a:p>
              <a:pPr algn="ctr">
                <a:spcBef>
                  <a:spcPct val="0"/>
                </a:spcBef>
              </a:pPr>
              <a:r>
                <a:rPr lang="en-US" dirty="0" err="1"/>
                <a:t>args</a:t>
              </a:r>
              <a:endParaRPr lang="en-US" dirty="0"/>
            </a:p>
          </p:txBody>
        </p:sp>
      </p:grpSp>
      <p:sp>
        <p:nvSpPr>
          <p:cNvPr id="996389" name="Text Box 37"/>
          <p:cNvSpPr txBox="1">
            <a:spLocks noChangeArrowheads="1"/>
          </p:cNvSpPr>
          <p:nvPr/>
        </p:nvSpPr>
        <p:spPr bwMode="auto">
          <a:xfrm>
            <a:off x="4327885" y="3581400"/>
            <a:ext cx="1240705" cy="766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 marL="2286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dirty="0"/>
              <a:t>bundle</a:t>
            </a:r>
          </a:p>
          <a:p>
            <a:pPr algn="ctr">
              <a:spcBef>
                <a:spcPct val="0"/>
              </a:spcBef>
            </a:pPr>
            <a:r>
              <a:rPr lang="en-US" dirty="0"/>
              <a:t>ret </a:t>
            </a:r>
            <a:r>
              <a:rPr lang="en-US" dirty="0" err="1"/>
              <a:t>vals</a:t>
            </a:r>
            <a:endParaRPr lang="en-US" dirty="0"/>
          </a:p>
        </p:txBody>
      </p:sp>
      <p:sp>
        <p:nvSpPr>
          <p:cNvPr id="996390" name="Text Box 38"/>
          <p:cNvSpPr txBox="1">
            <a:spLocks noChangeArrowheads="1"/>
          </p:cNvSpPr>
          <p:nvPr/>
        </p:nvSpPr>
        <p:spPr bwMode="auto">
          <a:xfrm>
            <a:off x="4306774" y="2590800"/>
            <a:ext cx="1338489" cy="766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 marL="2286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dirty="0"/>
              <a:t>unbundle</a:t>
            </a:r>
          </a:p>
          <a:p>
            <a:pPr algn="ctr">
              <a:spcBef>
                <a:spcPct val="0"/>
              </a:spcBef>
            </a:pPr>
            <a:r>
              <a:rPr lang="en-US" dirty="0"/>
              <a:t>ret </a:t>
            </a:r>
            <a:r>
              <a:rPr lang="en-US" dirty="0" err="1"/>
              <a:t>vals</a:t>
            </a:r>
            <a:endParaRPr lang="en-US" dirty="0"/>
          </a:p>
        </p:txBody>
      </p:sp>
      <p:grpSp>
        <p:nvGrpSpPr>
          <p:cNvPr id="996398" name="Group 46"/>
          <p:cNvGrpSpPr>
            <a:grpSpLocks/>
          </p:cNvGrpSpPr>
          <p:nvPr/>
        </p:nvGrpSpPr>
        <p:grpSpPr bwMode="auto">
          <a:xfrm>
            <a:off x="4260850" y="4327526"/>
            <a:ext cx="1338263" cy="1681163"/>
            <a:chOff x="2300" y="2448"/>
            <a:chExt cx="843" cy="1059"/>
          </a:xfrm>
        </p:grpSpPr>
        <p:sp>
          <p:nvSpPr>
            <p:cNvPr id="10269" name="Rectangle 7"/>
            <p:cNvSpPr>
              <a:spLocks noChangeArrowheads="1"/>
            </p:cNvSpPr>
            <p:nvPr/>
          </p:nvSpPr>
          <p:spPr bwMode="auto">
            <a:xfrm>
              <a:off x="2448" y="2448"/>
              <a:ext cx="576" cy="576"/>
            </a:xfrm>
            <a:prstGeom prst="rect">
              <a:avLst/>
            </a:prstGeom>
            <a:solidFill>
              <a:srgbClr val="53FB25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pPr marL="228600" indent="-228600" algn="ctr"/>
              <a:r>
                <a:rPr lang="en-US"/>
                <a:t>Server</a:t>
              </a:r>
            </a:p>
            <a:p>
              <a:pPr marL="228600" indent="-228600" algn="ctr"/>
              <a:r>
                <a:rPr lang="en-US"/>
                <a:t>Stub</a:t>
              </a:r>
            </a:p>
          </p:txBody>
        </p:sp>
        <p:sp>
          <p:nvSpPr>
            <p:cNvPr id="10270" name="Text Box 39"/>
            <p:cNvSpPr txBox="1">
              <a:spLocks noChangeArrowheads="1"/>
            </p:cNvSpPr>
            <p:nvPr/>
          </p:nvSpPr>
          <p:spPr bwMode="auto">
            <a:xfrm>
              <a:off x="2300" y="3024"/>
              <a:ext cx="843" cy="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xmlns="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>
              <a:spAutoFit/>
            </a:bodyPr>
            <a:lstStyle>
              <a:lvl1pPr marL="2286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22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dirty="0"/>
                <a:t>unbundle</a:t>
              </a:r>
            </a:p>
            <a:p>
              <a:pPr algn="ctr">
                <a:spcBef>
                  <a:spcPct val="0"/>
                </a:spcBef>
              </a:pPr>
              <a:r>
                <a:rPr lang="en-US" dirty="0" err="1"/>
                <a:t>args</a:t>
              </a:r>
              <a:endParaRPr lang="en-US" dirty="0"/>
            </a:p>
          </p:txBody>
        </p:sp>
      </p:grpSp>
      <p:pic>
        <p:nvPicPr>
          <p:cNvPr id="10263" name="Picture 5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1146175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4" name="Picture 5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343400"/>
            <a:ext cx="1146175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65" name="Text Box 64"/>
          <p:cNvSpPr txBox="1">
            <a:spLocks noChangeArrowheads="1"/>
          </p:cNvSpPr>
          <p:nvPr/>
        </p:nvSpPr>
        <p:spPr bwMode="auto">
          <a:xfrm>
            <a:off x="312738" y="2971800"/>
            <a:ext cx="1592262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 marL="2286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/>
              <a:t>Machine A</a:t>
            </a:r>
          </a:p>
        </p:txBody>
      </p:sp>
      <p:sp>
        <p:nvSpPr>
          <p:cNvPr id="10266" name="Text Box 65"/>
          <p:cNvSpPr txBox="1">
            <a:spLocks noChangeArrowheads="1"/>
          </p:cNvSpPr>
          <p:nvPr/>
        </p:nvSpPr>
        <p:spPr bwMode="auto">
          <a:xfrm>
            <a:off x="341313" y="3505200"/>
            <a:ext cx="1563687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 marL="2286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/>
              <a:t>Machine B</a:t>
            </a:r>
          </a:p>
        </p:txBody>
      </p:sp>
      <p:sp>
        <p:nvSpPr>
          <p:cNvPr id="996418" name="Text Box 66"/>
          <p:cNvSpPr txBox="1">
            <a:spLocks noChangeArrowheads="1"/>
          </p:cNvSpPr>
          <p:nvPr/>
        </p:nvSpPr>
        <p:spPr bwMode="auto">
          <a:xfrm>
            <a:off x="8077200" y="4038600"/>
            <a:ext cx="809625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 marL="2286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1600">
                <a:solidFill>
                  <a:schemeClr val="hlink"/>
                </a:solidFill>
              </a:rPr>
              <a:t>mbox1</a:t>
            </a:r>
          </a:p>
        </p:txBody>
      </p:sp>
      <p:sp>
        <p:nvSpPr>
          <p:cNvPr id="996419" name="Text Box 67"/>
          <p:cNvSpPr txBox="1">
            <a:spLocks noChangeArrowheads="1"/>
          </p:cNvSpPr>
          <p:nvPr/>
        </p:nvSpPr>
        <p:spPr bwMode="auto">
          <a:xfrm>
            <a:off x="6553200" y="2590800"/>
            <a:ext cx="809625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>
            <a:lvl1pPr marL="2286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1600">
                <a:solidFill>
                  <a:schemeClr val="hlink"/>
                </a:solidFill>
              </a:rPr>
              <a:t>mbox2</a:t>
            </a:r>
          </a:p>
        </p:txBody>
      </p:sp>
    </p:spTree>
    <p:extLst>
      <p:ext uri="{BB962C8B-B14F-4D97-AF65-F5344CB8AC3E}">
        <p14:creationId xmlns:p14="http://schemas.microsoft.com/office/powerpoint/2010/main" val="314672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9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9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99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99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9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9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99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99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99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6356" grpId="0" animBg="1"/>
      <p:bldP spid="996357" grpId="0" animBg="1"/>
      <p:bldP spid="996360" grpId="0" animBg="1"/>
      <p:bldP spid="996362" grpId="0" animBg="1"/>
      <p:bldP spid="996389" grpId="0"/>
      <p:bldP spid="996390" grpId="0"/>
      <p:bldP spid="996418" grpId="0"/>
      <p:bldP spid="9964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228600"/>
            <a:ext cx="7772400" cy="990600"/>
          </a:xfrm>
        </p:spPr>
        <p:txBody>
          <a:bodyPr/>
          <a:lstStyle/>
          <a:p>
            <a:r>
              <a:rPr lang="en-US" altLang="ko-KR" smtClean="0">
                <a:ea typeface="굴림" charset="-127"/>
              </a:rPr>
              <a:t>RPC Details</a:t>
            </a:r>
          </a:p>
        </p:txBody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763588"/>
            <a:ext cx="8651875" cy="5789612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en-US" altLang="ko-KR" smtClean="0">
                <a:ea typeface="굴림" charset="-127"/>
              </a:rPr>
              <a:t>Equivalence with regular procedure call</a:t>
            </a: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smtClean="0">
                <a:ea typeface="굴림" charset="-127"/>
              </a:rPr>
              <a:t>Parameters</a:t>
            </a:r>
            <a:r>
              <a:rPr lang="en-US" altLang="ko-KR" smtClean="0">
                <a:ea typeface="굴림" charset="-127"/>
                <a:sym typeface="Symbol" pitchFamily="18" charset="2"/>
              </a:rPr>
              <a:t> Request Message</a:t>
            </a: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Result  Reply message</a:t>
            </a: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Name of Procedure: Passed in request message</a:t>
            </a: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Return Address: mbox2 (client return mail box) </a:t>
            </a: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Stub generator: Compiler that generates stubs</a:t>
            </a: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Input: interface definitions in an “interface definition language (IDL)”</a:t>
            </a:r>
          </a:p>
          <a:p>
            <a:pPr lvl="2">
              <a:lnSpc>
                <a:spcPct val="80000"/>
              </a:lnSpc>
              <a:spcBef>
                <a:spcPct val="5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Contains, among other things, types of arguments/return</a:t>
            </a: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Output: stub code in the appropriate source language</a:t>
            </a:r>
          </a:p>
          <a:p>
            <a:pPr lvl="2">
              <a:lnSpc>
                <a:spcPct val="80000"/>
              </a:lnSpc>
              <a:spcBef>
                <a:spcPct val="5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Code for client to pack message, send it off, wait for result, unpack result and return to caller</a:t>
            </a:r>
          </a:p>
          <a:p>
            <a:pPr lvl="2">
              <a:lnSpc>
                <a:spcPct val="80000"/>
              </a:lnSpc>
              <a:spcBef>
                <a:spcPct val="5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Code for server to unpack message, call procedure, pack results, send them off</a:t>
            </a:r>
          </a:p>
          <a:p>
            <a:pPr>
              <a:lnSpc>
                <a:spcPct val="80000"/>
              </a:lnSpc>
              <a:spcBef>
                <a:spcPct val="5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Cross-platform issues:</a:t>
            </a:r>
          </a:p>
          <a:p>
            <a:pPr lvl="1">
              <a:lnSpc>
                <a:spcPct val="80000"/>
              </a:lnSpc>
              <a:spcBef>
                <a:spcPct val="5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What if client/server machines are different architectures or in different languages?</a:t>
            </a:r>
          </a:p>
          <a:p>
            <a:pPr lvl="2">
              <a:lnSpc>
                <a:spcPct val="80000"/>
              </a:lnSpc>
              <a:spcBef>
                <a:spcPct val="5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Convert everything to/from some canonical form</a:t>
            </a:r>
          </a:p>
          <a:p>
            <a:pPr lvl="2">
              <a:lnSpc>
                <a:spcPct val="80000"/>
              </a:lnSpc>
              <a:spcBef>
                <a:spcPct val="5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Tag every item with an indication of how it is encoded (avoids unnecessary conversions).</a:t>
            </a:r>
          </a:p>
        </p:txBody>
      </p:sp>
    </p:spTree>
    <p:extLst>
      <p:ext uri="{BB962C8B-B14F-4D97-AF65-F5344CB8AC3E}">
        <p14:creationId xmlns:p14="http://schemas.microsoft.com/office/powerpoint/2010/main" val="158385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7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7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97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97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97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97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7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7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97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97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97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97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97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97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97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97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97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97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97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97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97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97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97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973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973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973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973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973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973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973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7379" grpId="0" build="p" bldLvl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304800"/>
            <a:ext cx="7772400" cy="990600"/>
          </a:xfrm>
        </p:spPr>
        <p:txBody>
          <a:bodyPr/>
          <a:lstStyle/>
          <a:p>
            <a:r>
              <a:rPr lang="en-US" altLang="ko-KR" smtClean="0">
                <a:ea typeface="굴림" charset="-127"/>
              </a:rPr>
              <a:t>RPC Details (continued)</a:t>
            </a:r>
          </a:p>
        </p:txBody>
      </p:sp>
      <p:sp>
        <p:nvSpPr>
          <p:cNvPr id="999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09600"/>
            <a:ext cx="8828088" cy="61722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</a:rPr>
              <a:t>How does client know which mbox to send to?</a:t>
            </a:r>
          </a:p>
          <a:p>
            <a:pPr lvl="1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</a:rPr>
              <a:t>Need to translate name of remote service into network endpoint (Remote machine, port, possibly other info)</a:t>
            </a:r>
          </a:p>
          <a:p>
            <a:pPr lvl="1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solidFill>
                  <a:schemeClr val="hlink"/>
                </a:solidFill>
                <a:ea typeface="굴림" charset="-127"/>
              </a:rPr>
              <a:t>Binding:</a:t>
            </a:r>
            <a:r>
              <a:rPr lang="en-US" altLang="ko-KR" smtClean="0">
                <a:ea typeface="굴림" charset="-127"/>
              </a:rPr>
              <a:t> the process of converting a user-visible name into a network endpoint</a:t>
            </a:r>
          </a:p>
          <a:p>
            <a:pPr lvl="2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</a:rPr>
              <a:t>This is another word for “naming” at network level</a:t>
            </a:r>
          </a:p>
          <a:p>
            <a:pPr lvl="2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</a:rPr>
              <a:t>Static: fixed at compile time</a:t>
            </a:r>
          </a:p>
          <a:p>
            <a:pPr lvl="2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</a:rPr>
              <a:t>Dynamic: performed at runtime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</a:rPr>
              <a:t>Dynamic Binding</a:t>
            </a:r>
          </a:p>
          <a:p>
            <a:pPr lvl="1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</a:rPr>
              <a:t>Most RPC systems use dynamic binding via name service</a:t>
            </a:r>
          </a:p>
          <a:p>
            <a:pPr lvl="2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</a:rPr>
              <a:t>Name service provides dynamic translation of service</a:t>
            </a:r>
            <a:r>
              <a:rPr lang="en-US" altLang="ko-KR" smtClean="0">
                <a:ea typeface="굴림" charset="-127"/>
                <a:sym typeface="Symbol" pitchFamily="18" charset="2"/>
              </a:rPr>
              <a:t>mbox</a:t>
            </a:r>
          </a:p>
          <a:p>
            <a:pPr lvl="1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Why dynamic binding?</a:t>
            </a:r>
          </a:p>
          <a:p>
            <a:pPr lvl="2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Access control: check who is permitted to access service</a:t>
            </a:r>
          </a:p>
          <a:p>
            <a:pPr lvl="2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Fail-over: If server fails, use a different one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What if there are multiple servers?</a:t>
            </a:r>
          </a:p>
          <a:p>
            <a:pPr lvl="1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Could give flexibility at binding time</a:t>
            </a:r>
          </a:p>
          <a:p>
            <a:pPr lvl="2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Choose unloaded server for each new client</a:t>
            </a:r>
          </a:p>
          <a:p>
            <a:pPr lvl="1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Could provide same mbox (router level redirect)</a:t>
            </a:r>
          </a:p>
          <a:p>
            <a:pPr lvl="2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Choose unloaded server for each new request</a:t>
            </a:r>
          </a:p>
          <a:p>
            <a:pPr lvl="2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Only works if no state carried from one call to next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What if multiple clients?</a:t>
            </a:r>
          </a:p>
          <a:p>
            <a:pPr lvl="1">
              <a:lnSpc>
                <a:spcPct val="80000"/>
              </a:lnSpc>
              <a:spcBef>
                <a:spcPct val="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Pass pointer to client-specific return mbox in request</a:t>
            </a:r>
            <a:endParaRPr lang="en-US" altLang="ko-KR" smtClean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7605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9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9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9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9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9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9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99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99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99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99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99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99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99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99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99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99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99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994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994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994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994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994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994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994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9942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994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994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994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994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9942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9942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9942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9942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2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99942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99942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942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228600"/>
            <a:ext cx="7772400" cy="990600"/>
          </a:xfrm>
        </p:spPr>
        <p:txBody>
          <a:bodyPr/>
          <a:lstStyle/>
          <a:p>
            <a:r>
              <a:rPr lang="en-US" altLang="ko-KR" smtClean="0">
                <a:ea typeface="굴림" charset="-127"/>
              </a:rPr>
              <a:t>Problems with RPC</a:t>
            </a:r>
          </a:p>
        </p:txBody>
      </p:sp>
      <p:sp>
        <p:nvSpPr>
          <p:cNvPr id="1000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701675"/>
            <a:ext cx="8947150" cy="5851525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Non-Atomic failures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Different failure modes in distributed system than on a single machine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Consider many different types of failures</a:t>
            </a: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User-level bug causes address space to crash</a:t>
            </a: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Machine failure, kernel bug causes all processes on same machine to fail</a:t>
            </a: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Some machine is compromised by malicious party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Before RPC: whole system would crash/die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After RPC: One machine crashes/compromised while others keep working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Can easily result in inconsistent view of the world</a:t>
            </a: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Did my cached data get written back or not?</a:t>
            </a: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Did server do what I requested or not?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Answer? Distributed transactions/Byzantine Commit</a:t>
            </a:r>
          </a:p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Performance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</a:rPr>
              <a:t>Cost of Procedure call </a:t>
            </a:r>
            <a:r>
              <a:rPr lang="en-US" altLang="ko-KR" dirty="0" smtClean="0">
                <a:ea typeface="굴림" charset="-127"/>
                <a:sym typeface="Symbol" pitchFamily="18" charset="2"/>
              </a:rPr>
              <a:t>« same-machine RPC « network RPC</a:t>
            </a:r>
          </a:p>
          <a:p>
            <a:pPr lvl="1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  <a:sym typeface="Symbol" pitchFamily="18" charset="2"/>
              </a:rPr>
              <a:t>Means programmers must be aware that RPC is not free </a:t>
            </a:r>
          </a:p>
          <a:p>
            <a:pPr lvl="2">
              <a:lnSpc>
                <a:spcPct val="80000"/>
              </a:lnSpc>
              <a:spcBef>
                <a:spcPct val="10000"/>
              </a:spcBef>
            </a:pPr>
            <a:r>
              <a:rPr lang="en-US" altLang="ko-KR" dirty="0" smtClean="0">
                <a:ea typeface="굴림" charset="-127"/>
                <a:sym typeface="Symbol" pitchFamily="18" charset="2"/>
              </a:rPr>
              <a:t>Caching can help, but may make failure handling complex</a:t>
            </a:r>
          </a:p>
        </p:txBody>
      </p:sp>
    </p:spTree>
    <p:extLst>
      <p:ext uri="{BB962C8B-B14F-4D97-AF65-F5344CB8AC3E}">
        <p14:creationId xmlns:p14="http://schemas.microsoft.com/office/powerpoint/2010/main" val="362211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0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0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0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0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0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0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0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0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0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0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00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00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00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00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00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00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00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00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00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00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004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004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004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004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004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004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004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0004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004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004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45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152400"/>
            <a:ext cx="7772400" cy="990600"/>
          </a:xfrm>
        </p:spPr>
        <p:txBody>
          <a:bodyPr/>
          <a:lstStyle/>
          <a:p>
            <a:r>
              <a:rPr lang="en-US" altLang="ko-KR" smtClean="0">
                <a:ea typeface="굴림" charset="-127"/>
              </a:rPr>
              <a:t>Andrew File System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363" y="762000"/>
            <a:ext cx="8931275" cy="5410200"/>
          </a:xfrm>
        </p:spPr>
        <p:txBody>
          <a:bodyPr/>
          <a:lstStyle/>
          <a:p>
            <a:r>
              <a:rPr lang="en-US" altLang="ko-KR" smtClean="0">
                <a:ea typeface="굴림" charset="-127"/>
              </a:rPr>
              <a:t>Andrew File System (AFS, late 80’s) </a:t>
            </a:r>
            <a:r>
              <a:rPr lang="en-US" altLang="ko-KR" smtClean="0">
                <a:ea typeface="굴림" charset="-127"/>
                <a:sym typeface="Symbol" pitchFamily="18" charset="2"/>
              </a:rPr>
              <a:t> DCE DFS (commercial product)</a:t>
            </a:r>
          </a:p>
          <a:p>
            <a:r>
              <a:rPr lang="en-US" altLang="ko-KR" smtClean="0">
                <a:solidFill>
                  <a:schemeClr val="hlink"/>
                </a:solidFill>
                <a:ea typeface="굴림" charset="-127"/>
                <a:sym typeface="Symbol" pitchFamily="18" charset="2"/>
              </a:rPr>
              <a:t>Callbacks:</a:t>
            </a:r>
            <a:r>
              <a:rPr lang="en-US" altLang="ko-KR" smtClean="0">
                <a:ea typeface="굴림" charset="-127"/>
                <a:sym typeface="Symbol" pitchFamily="18" charset="2"/>
              </a:rPr>
              <a:t> Server records who has copy of file</a:t>
            </a:r>
          </a:p>
          <a:p>
            <a:pPr lvl="1"/>
            <a:r>
              <a:rPr lang="en-US" altLang="ko-KR" smtClean="0">
                <a:ea typeface="굴림" charset="-127"/>
                <a:sym typeface="Symbol" pitchFamily="18" charset="2"/>
              </a:rPr>
              <a:t>On changes, server immediately tells all with old copy</a:t>
            </a:r>
          </a:p>
          <a:p>
            <a:pPr lvl="1"/>
            <a:r>
              <a:rPr lang="en-US" altLang="ko-KR" smtClean="0">
                <a:ea typeface="굴림" charset="-127"/>
                <a:sym typeface="Symbol" pitchFamily="18" charset="2"/>
              </a:rPr>
              <a:t>No polling bandwidth (continuous checking) needed</a:t>
            </a:r>
          </a:p>
          <a:p>
            <a:r>
              <a:rPr lang="en-US" altLang="ko-KR" smtClean="0">
                <a:ea typeface="굴림" charset="-127"/>
                <a:sym typeface="Symbol" pitchFamily="18" charset="2"/>
              </a:rPr>
              <a:t>Write through on close</a:t>
            </a:r>
          </a:p>
          <a:p>
            <a:pPr lvl="1"/>
            <a:r>
              <a:rPr lang="en-US" altLang="ko-KR" smtClean="0">
                <a:ea typeface="굴림" charset="-127"/>
                <a:sym typeface="Symbol" pitchFamily="18" charset="2"/>
              </a:rPr>
              <a:t>Changes not propagated to server until close()</a:t>
            </a:r>
          </a:p>
          <a:p>
            <a:pPr lvl="1"/>
            <a:r>
              <a:rPr lang="en-US" altLang="ko-KR" smtClean="0">
                <a:ea typeface="굴림" charset="-127"/>
                <a:sym typeface="Symbol" pitchFamily="18" charset="2"/>
              </a:rPr>
              <a:t>Session semantics: updates visible to other clients only after the file is closed</a:t>
            </a:r>
          </a:p>
          <a:p>
            <a:pPr lvl="2"/>
            <a:r>
              <a:rPr lang="en-US" altLang="ko-KR" smtClean="0">
                <a:ea typeface="굴림" charset="-127"/>
                <a:sym typeface="Symbol" pitchFamily="18" charset="2"/>
              </a:rPr>
              <a:t>As a result, do not get partial writes: all or nothing!</a:t>
            </a:r>
          </a:p>
          <a:p>
            <a:pPr lvl="2"/>
            <a:r>
              <a:rPr lang="en-US" altLang="ko-KR" smtClean="0">
                <a:ea typeface="굴림" charset="-127"/>
                <a:sym typeface="Symbol" pitchFamily="18" charset="2"/>
              </a:rPr>
              <a:t>Although, for processes on local machine, updates visible immediately to other programs who have file open</a:t>
            </a:r>
          </a:p>
          <a:p>
            <a:r>
              <a:rPr lang="en-US" altLang="ko-KR" smtClean="0">
                <a:ea typeface="굴림" charset="-127"/>
                <a:sym typeface="Symbol" pitchFamily="18" charset="2"/>
              </a:rPr>
              <a:t>In AFS, everyone who has file open sees old version</a:t>
            </a:r>
          </a:p>
          <a:p>
            <a:pPr lvl="1"/>
            <a:r>
              <a:rPr lang="en-US" altLang="ko-KR" smtClean="0">
                <a:ea typeface="굴림" charset="-127"/>
                <a:sym typeface="Symbol" pitchFamily="18" charset="2"/>
              </a:rPr>
              <a:t>Don’t get newer versions until reopen file</a:t>
            </a:r>
          </a:p>
        </p:txBody>
      </p:sp>
    </p:spTree>
    <p:extLst>
      <p:ext uri="{BB962C8B-B14F-4D97-AF65-F5344CB8AC3E}">
        <p14:creationId xmlns:p14="http://schemas.microsoft.com/office/powerpoint/2010/main" val="203420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304800"/>
            <a:ext cx="7772400" cy="990600"/>
          </a:xfrm>
        </p:spPr>
        <p:txBody>
          <a:bodyPr/>
          <a:lstStyle/>
          <a:p>
            <a:r>
              <a:rPr lang="en-US" altLang="ko-KR" smtClean="0">
                <a:ea typeface="굴림" charset="-127"/>
              </a:rPr>
              <a:t>Andrew File System (con’t)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85800"/>
            <a:ext cx="8839200" cy="58674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ko-KR" smtClean="0">
                <a:ea typeface="굴림" charset="-127"/>
              </a:rPr>
              <a:t>Data cached on local disk of client as well as memory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smtClean="0">
                <a:ea typeface="굴림" charset="-127"/>
              </a:rPr>
              <a:t>On open with a cache miss (file not on local disk):</a:t>
            </a:r>
          </a:p>
          <a:p>
            <a:pPr lvl="2">
              <a:lnSpc>
                <a:spcPct val="80000"/>
              </a:lnSpc>
              <a:spcBef>
                <a:spcPct val="20000"/>
              </a:spcBef>
            </a:pPr>
            <a:r>
              <a:rPr lang="en-US" altLang="ko-KR" smtClean="0">
                <a:ea typeface="굴림" charset="-127"/>
              </a:rPr>
              <a:t>Get file from server, set up callback with server 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smtClean="0">
                <a:ea typeface="굴림" charset="-127"/>
              </a:rPr>
              <a:t>On write followed by close:</a:t>
            </a:r>
          </a:p>
          <a:p>
            <a:pPr lvl="2">
              <a:lnSpc>
                <a:spcPct val="80000"/>
              </a:lnSpc>
              <a:spcBef>
                <a:spcPct val="20000"/>
              </a:spcBef>
            </a:pPr>
            <a:r>
              <a:rPr lang="en-US" altLang="ko-KR" smtClean="0">
                <a:ea typeface="굴림" charset="-127"/>
              </a:rPr>
              <a:t>Send copy to server; tells all clients with copies to fetch new version from server on next open (using callbacks)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ko-KR" smtClean="0">
                <a:ea typeface="굴림" charset="-127"/>
              </a:rPr>
              <a:t>What if server crashes? Lose all callback state!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smtClean="0">
                <a:ea typeface="굴림" charset="-127"/>
              </a:rPr>
              <a:t>Reconstruct callback information from client: go ask everyone “who has which files cached?”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ko-KR" smtClean="0">
                <a:ea typeface="굴림" charset="-127"/>
              </a:rPr>
              <a:t>AFS Pro: Relative to NFS, less server load: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smtClean="0">
                <a:ea typeface="굴림" charset="-127"/>
              </a:rPr>
              <a:t>Disk as cache </a:t>
            </a:r>
            <a:r>
              <a:rPr lang="en-US" altLang="ko-KR" smtClean="0">
                <a:ea typeface="굴림" charset="-127"/>
                <a:sym typeface="Symbol" pitchFamily="18" charset="2"/>
              </a:rPr>
              <a:t> more files can be cached locally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Callbacks  server not involved if file is read-only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For both AFS and NFS: central server is bottleneck!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Performance: all writesserver, cache missesserver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Availability: Server is single point of failure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smtClean="0">
                <a:ea typeface="굴림" charset="-127"/>
                <a:sym typeface="Symbol" pitchFamily="18" charset="2"/>
              </a:rPr>
              <a:t>Cost: server machine’s high cost relative to workstation</a:t>
            </a:r>
          </a:p>
        </p:txBody>
      </p:sp>
    </p:spTree>
    <p:extLst>
      <p:ext uri="{BB962C8B-B14F-4D97-AF65-F5344CB8AC3E}">
        <p14:creationId xmlns:p14="http://schemas.microsoft.com/office/powerpoint/2010/main" val="2020543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</p:spPr>
        <p:txBody>
          <a:bodyPr/>
          <a:lstStyle/>
          <a:p>
            <a:r>
              <a:rPr lang="en-US" dirty="0" smtClean="0"/>
              <a:t>More Relaxed Consistency?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915400" cy="5715000"/>
          </a:xfrm>
        </p:spPr>
        <p:txBody>
          <a:bodyPr/>
          <a:lstStyle/>
          <a:p>
            <a:r>
              <a:rPr lang="en-US" dirty="0" smtClean="0"/>
              <a:t>Can we get better performance by relaxing consistency?</a:t>
            </a:r>
          </a:p>
          <a:p>
            <a:pPr lvl="1"/>
            <a:r>
              <a:rPr lang="en-US" dirty="0" smtClean="0"/>
              <a:t>More extensive use of caching</a:t>
            </a:r>
          </a:p>
          <a:p>
            <a:pPr lvl="1"/>
            <a:r>
              <a:rPr lang="en-US" dirty="0" smtClean="0"/>
              <a:t>No need to check frequently to see if data up to date</a:t>
            </a:r>
          </a:p>
          <a:p>
            <a:pPr lvl="1"/>
            <a:r>
              <a:rPr lang="en-US" dirty="0" smtClean="0"/>
              <a:t>No need to forward changes immediately to readers</a:t>
            </a:r>
          </a:p>
          <a:p>
            <a:pPr lvl="2"/>
            <a:r>
              <a:rPr lang="en-US" dirty="0" smtClean="0"/>
              <a:t>AFS fixes this problem with “update on close” behavior</a:t>
            </a:r>
          </a:p>
          <a:p>
            <a:pPr lvl="1"/>
            <a:r>
              <a:rPr lang="en-US" dirty="0" smtClean="0"/>
              <a:t>Frequent rewriting of an object does not require all changes to be sent to readers</a:t>
            </a:r>
          </a:p>
          <a:p>
            <a:r>
              <a:rPr lang="en-US" smtClean="0"/>
              <a:t>Issues </a:t>
            </a:r>
            <a:r>
              <a:rPr lang="en-US" dirty="0" smtClean="0"/>
              <a:t>with relaxed consistency:</a:t>
            </a:r>
          </a:p>
          <a:p>
            <a:pPr lvl="1"/>
            <a:r>
              <a:rPr lang="en-US" dirty="0" smtClean="0"/>
              <a:t>When updates propagated to other readers?</a:t>
            </a:r>
          </a:p>
          <a:p>
            <a:pPr lvl="1"/>
            <a:r>
              <a:rPr lang="en-US" dirty="0" smtClean="0"/>
              <a:t>Consistent set of updates make it to readers?</a:t>
            </a:r>
          </a:p>
          <a:p>
            <a:pPr lvl="1"/>
            <a:r>
              <a:rPr lang="en-US" dirty="0" smtClean="0"/>
              <a:t>Updates lost when multiple simultaneous writers?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4559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228600"/>
            <a:ext cx="7772400" cy="990600"/>
          </a:xfrm>
        </p:spPr>
        <p:txBody>
          <a:bodyPr/>
          <a:lstStyle/>
          <a:p>
            <a:r>
              <a:rPr lang="en-US" sz="2800" dirty="0" smtClean="0"/>
              <a:t>Possible approaches to relaxed consistency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" y="685800"/>
            <a:ext cx="8890000" cy="6019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Usual requirement: Coherence</a:t>
            </a:r>
          </a:p>
          <a:p>
            <a:pPr lvl="1"/>
            <a:r>
              <a:rPr lang="en-US" dirty="0"/>
              <a:t>Writes viewed by everyone in the same serial order</a:t>
            </a:r>
          </a:p>
          <a:p>
            <a:r>
              <a:rPr lang="en-US" dirty="0" smtClean="0"/>
              <a:t>Free-for-all</a:t>
            </a:r>
          </a:p>
          <a:p>
            <a:pPr lvl="1"/>
            <a:r>
              <a:rPr lang="en-US" dirty="0" smtClean="0"/>
              <a:t>Writes happen at whatever granularity the system chooses: block size,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Update on close</a:t>
            </a:r>
          </a:p>
          <a:p>
            <a:pPr lvl="1"/>
            <a:r>
              <a:rPr lang="en-US" dirty="0" smtClean="0"/>
              <a:t>As in AFS</a:t>
            </a:r>
          </a:p>
          <a:p>
            <a:pPr lvl="1"/>
            <a:r>
              <a:rPr lang="en-US" dirty="0" smtClean="0"/>
              <a:t>Makes sure that writes are consistent </a:t>
            </a:r>
          </a:p>
          <a:p>
            <a:r>
              <a:rPr lang="en-US" dirty="0" smtClean="0"/>
              <a:t>Conflict resolution: Clean up inconsistencies later</a:t>
            </a:r>
          </a:p>
          <a:p>
            <a:pPr lvl="1"/>
            <a:r>
              <a:rPr lang="en-US" dirty="0" smtClean="0"/>
              <a:t>Often includes versioned data solution</a:t>
            </a:r>
          </a:p>
          <a:p>
            <a:pPr lvl="2"/>
            <a:r>
              <a:rPr lang="en-US" dirty="0" smtClean="0"/>
              <a:t>Many branches, someone or something merges branches</a:t>
            </a:r>
          </a:p>
          <a:p>
            <a:pPr lvl="1"/>
            <a:r>
              <a:rPr lang="en-US" dirty="0" smtClean="0"/>
              <a:t>At server or client</a:t>
            </a:r>
          </a:p>
          <a:p>
            <a:pPr lvl="1"/>
            <a:r>
              <a:rPr lang="en-US" dirty="0" smtClean="0"/>
              <a:t>Server side made famous by Coda file system</a:t>
            </a:r>
          </a:p>
          <a:p>
            <a:pPr lvl="2"/>
            <a:r>
              <a:rPr lang="en-US" dirty="0" smtClean="0"/>
              <a:t>Every update that goes to server contains predicate to be run on data before commit</a:t>
            </a:r>
          </a:p>
          <a:p>
            <a:pPr lvl="2"/>
            <a:r>
              <a:rPr lang="en-US" dirty="0" smtClean="0"/>
              <a:t>Provide a set of possible data modifications to be chosen based on predicate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3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52400"/>
            <a:ext cx="7772400" cy="990600"/>
          </a:xfrm>
        </p:spPr>
        <p:txBody>
          <a:bodyPr/>
          <a:lstStyle/>
          <a:p>
            <a:r>
              <a:rPr lang="en-US" dirty="0" smtClean="0"/>
              <a:t>Data </a:t>
            </a:r>
            <a:r>
              <a:rPr lang="en-US" dirty="0" err="1" smtClean="0"/>
              <a:t>Deduplication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" y="1981200"/>
            <a:ext cx="8839200" cy="45720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How to address performance issues with network file systems over wide area?  What about caching?</a:t>
            </a:r>
          </a:p>
          <a:p>
            <a:pPr lvl="1"/>
            <a:r>
              <a:rPr lang="en-US" dirty="0" smtClean="0"/>
              <a:t>Files are often opened multiple times</a:t>
            </a:r>
          </a:p>
          <a:p>
            <a:pPr lvl="2"/>
            <a:r>
              <a:rPr lang="en-US" dirty="0" smtClean="0"/>
              <a:t>Caching works</a:t>
            </a:r>
          </a:p>
          <a:p>
            <a:pPr lvl="1"/>
            <a:r>
              <a:rPr lang="en-US" dirty="0" smtClean="0"/>
              <a:t>Files are often changed incrementally</a:t>
            </a:r>
          </a:p>
          <a:p>
            <a:pPr lvl="2"/>
            <a:r>
              <a:rPr lang="en-US" dirty="0" smtClean="0"/>
              <a:t>Caching less works less well</a:t>
            </a:r>
          </a:p>
          <a:p>
            <a:pPr lvl="1"/>
            <a:r>
              <a:rPr lang="en-US" dirty="0" smtClean="0"/>
              <a:t>Different files often share content or groups of bytes</a:t>
            </a:r>
          </a:p>
          <a:p>
            <a:pPr lvl="2"/>
            <a:r>
              <a:rPr lang="en-US" dirty="0" smtClean="0"/>
              <a:t>Caching doesn’t work well at all!</a:t>
            </a:r>
          </a:p>
          <a:p>
            <a:r>
              <a:rPr lang="en-US" dirty="0" smtClean="0"/>
              <a:t>Why doesn’t file caching work well in many cases?</a:t>
            </a:r>
          </a:p>
          <a:p>
            <a:pPr lvl="1"/>
            <a:r>
              <a:rPr lang="en-US" dirty="0" smtClean="0"/>
              <a:t>Because it is based on </a:t>
            </a:r>
            <a:r>
              <a:rPr lang="en-US" i="1" dirty="0" smtClean="0"/>
              <a:t>names</a:t>
            </a:r>
            <a:r>
              <a:rPr lang="en-US" dirty="0" smtClean="0"/>
              <a:t> rather than </a:t>
            </a:r>
            <a:r>
              <a:rPr lang="en-US" i="1" dirty="0" smtClean="0"/>
              <a:t>data</a:t>
            </a:r>
          </a:p>
          <a:p>
            <a:pPr lvl="2"/>
            <a:r>
              <a:rPr lang="en-US" dirty="0" smtClean="0"/>
              <a:t>Name of file, absolute position within file,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Better option?  Base caching on contents rather than names</a:t>
            </a:r>
          </a:p>
          <a:p>
            <a:pPr lvl="1"/>
            <a:r>
              <a:rPr lang="en-US" dirty="0" smtClean="0"/>
              <a:t>Called “Data de-duplication”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Cloud 3"/>
          <p:cNvSpPr/>
          <p:nvPr/>
        </p:nvSpPr>
        <p:spPr bwMode="auto">
          <a:xfrm>
            <a:off x="2667000" y="972078"/>
            <a:ext cx="2667000" cy="838200"/>
          </a:xfrm>
          <a:prstGeom prst="cloud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Wide Area Network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6609347" y="877356"/>
            <a:ext cx="1772653" cy="1027644"/>
            <a:chOff x="2304" y="672"/>
            <a:chExt cx="1824" cy="912"/>
          </a:xfrm>
        </p:grpSpPr>
        <p:pic>
          <p:nvPicPr>
            <p:cNvPr id="6" name="Picture 5" descr="MCj03984350000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672"/>
              <a:ext cx="981" cy="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" name="Group 25"/>
            <p:cNvGrpSpPr>
              <a:grpSpLocks/>
            </p:cNvGrpSpPr>
            <p:nvPr/>
          </p:nvGrpSpPr>
          <p:grpSpPr bwMode="auto">
            <a:xfrm>
              <a:off x="3600" y="720"/>
              <a:ext cx="528" cy="864"/>
              <a:chOff x="3600" y="720"/>
              <a:chExt cx="528" cy="864"/>
            </a:xfrm>
          </p:grpSpPr>
          <p:sp>
            <p:nvSpPr>
              <p:cNvPr id="9" name="AutoShape 20"/>
              <p:cNvSpPr>
                <a:spLocks noChangeArrowheads="1"/>
              </p:cNvSpPr>
              <p:nvPr/>
            </p:nvSpPr>
            <p:spPr bwMode="auto">
              <a:xfrm>
                <a:off x="3600" y="720"/>
                <a:ext cx="336" cy="480"/>
              </a:xfrm>
              <a:prstGeom prst="can">
                <a:avLst>
                  <a:gd name="adj" fmla="val 35714"/>
                </a:avLst>
              </a:prstGeom>
              <a:solidFill>
                <a:srgbClr val="FF66CC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  <p:sp>
            <p:nvSpPr>
              <p:cNvPr id="10" name="AutoShape 21"/>
              <p:cNvSpPr>
                <a:spLocks noChangeArrowheads="1"/>
              </p:cNvSpPr>
              <p:nvPr/>
            </p:nvSpPr>
            <p:spPr bwMode="auto">
              <a:xfrm>
                <a:off x="3696" y="912"/>
                <a:ext cx="336" cy="480"/>
              </a:xfrm>
              <a:prstGeom prst="can">
                <a:avLst>
                  <a:gd name="adj" fmla="val 35714"/>
                </a:avLst>
              </a:prstGeom>
              <a:solidFill>
                <a:srgbClr val="FF66CC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  <p:sp>
            <p:nvSpPr>
              <p:cNvPr id="11" name="AutoShape 22"/>
              <p:cNvSpPr>
                <a:spLocks noChangeArrowheads="1"/>
              </p:cNvSpPr>
              <p:nvPr/>
            </p:nvSpPr>
            <p:spPr bwMode="auto">
              <a:xfrm>
                <a:off x="3792" y="1104"/>
                <a:ext cx="336" cy="480"/>
              </a:xfrm>
              <a:prstGeom prst="can">
                <a:avLst>
                  <a:gd name="adj" fmla="val 35714"/>
                </a:avLst>
              </a:prstGeom>
              <a:solidFill>
                <a:srgbClr val="FF66CC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78" tIns="44445" rIns="90478" bIns="44445" anchor="ctr"/>
              <a:lstStyle/>
              <a:p>
                <a:endParaRPr lang="en-US"/>
              </a:p>
            </p:txBody>
          </p:sp>
        </p:grpSp>
        <p:sp>
          <p:nvSpPr>
            <p:cNvPr id="8" name="AutoShape 23"/>
            <p:cNvSpPr>
              <a:spLocks noChangeArrowheads="1"/>
            </p:cNvSpPr>
            <p:nvPr/>
          </p:nvSpPr>
          <p:spPr bwMode="auto">
            <a:xfrm>
              <a:off x="3072" y="1008"/>
              <a:ext cx="432" cy="336"/>
            </a:xfrm>
            <a:prstGeom prst="leftRightArrow">
              <a:avLst>
                <a:gd name="adj1" fmla="val 50000"/>
                <a:gd name="adj2" fmla="val 25714"/>
              </a:avLst>
            </a:prstGeom>
            <a:solidFill>
              <a:srgbClr val="00FFFF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78" tIns="44445" rIns="90478" bIns="44445" anchor="ctr"/>
            <a:lstStyle/>
            <a:p>
              <a:endParaRPr lang="en-US"/>
            </a:p>
          </p:txBody>
        </p:sp>
      </p:grp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00641"/>
            <a:ext cx="1219200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Left-Right Arrow 12"/>
          <p:cNvSpPr/>
          <p:nvPr/>
        </p:nvSpPr>
        <p:spPr bwMode="auto">
          <a:xfrm>
            <a:off x="1524000" y="1097083"/>
            <a:ext cx="1066800" cy="588191"/>
          </a:xfrm>
          <a:prstGeom prst="leftRightArrow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4" name="Left-Right Arrow 13"/>
          <p:cNvSpPr/>
          <p:nvPr/>
        </p:nvSpPr>
        <p:spPr bwMode="auto">
          <a:xfrm>
            <a:off x="5410200" y="1097083"/>
            <a:ext cx="1066800" cy="588191"/>
          </a:xfrm>
          <a:prstGeom prst="leftRightArrow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08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304800"/>
            <a:ext cx="7772400" cy="990600"/>
          </a:xfrm>
        </p:spPr>
        <p:txBody>
          <a:bodyPr/>
          <a:lstStyle/>
          <a:p>
            <a:r>
              <a:rPr lang="en-US" sz="2800" dirty="0" smtClean="0"/>
              <a:t>Data-based Caching (Data “De-Duplication”)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733800"/>
            <a:ext cx="8991600" cy="2819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Use a sliding-window hash function to break files into chunks</a:t>
            </a:r>
          </a:p>
          <a:p>
            <a:pPr lvl="1"/>
            <a:r>
              <a:rPr lang="en-US" dirty="0" smtClean="0"/>
              <a:t>Rabin Fingerprint: randomized function of data window</a:t>
            </a:r>
          </a:p>
          <a:p>
            <a:pPr lvl="2"/>
            <a:r>
              <a:rPr lang="en-US" dirty="0" smtClean="0"/>
              <a:t>Pick sensitivity: e.g. 48 bytes at a time, lower 13 bits = 0 </a:t>
            </a:r>
            <a:r>
              <a:rPr lang="en-US" dirty="0" smtClean="0">
                <a:sym typeface="Symbol"/>
              </a:rPr>
              <a:t> </a:t>
            </a:r>
            <a:r>
              <a:rPr lang="en-US" dirty="0" smtClean="0"/>
              <a:t>2</a:t>
            </a:r>
            <a:r>
              <a:rPr lang="en-US" baseline="30000" dirty="0" smtClean="0"/>
              <a:t>-13</a:t>
            </a:r>
            <a:r>
              <a:rPr lang="en-US" dirty="0" smtClean="0"/>
              <a:t> probability of happening, expected chunk size 8192</a:t>
            </a:r>
          </a:p>
          <a:p>
            <a:pPr lvl="2"/>
            <a:r>
              <a:rPr lang="en-US" dirty="0" smtClean="0"/>
              <a:t>Need minimum and maximum chunk sizes</a:t>
            </a:r>
          </a:p>
          <a:p>
            <a:pPr lvl="1"/>
            <a:r>
              <a:rPr lang="en-US" dirty="0" smtClean="0"/>
              <a:t>Now – if data stays same, chunk stays the same</a:t>
            </a:r>
          </a:p>
          <a:p>
            <a:r>
              <a:rPr lang="en-US" dirty="0" smtClean="0"/>
              <a:t>Blocks named by cryptographic hashes such as SHA-1  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762000"/>
            <a:ext cx="5200650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303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228600"/>
            <a:ext cx="7772400" cy="990600"/>
          </a:xfrm>
        </p:spPr>
        <p:txBody>
          <a:bodyPr/>
          <a:lstStyle/>
          <a:p>
            <a:r>
              <a:rPr lang="en-US" dirty="0" smtClean="0"/>
              <a:t>Low Bandwidth File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4572000"/>
            <a:ext cx="8610600" cy="1828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LBFS (Low Bandwidth File System)</a:t>
            </a:r>
          </a:p>
          <a:p>
            <a:pPr lvl="1"/>
            <a:r>
              <a:rPr lang="en-US" dirty="0" smtClean="0"/>
              <a:t>Based on NFS v3 protocol</a:t>
            </a:r>
          </a:p>
          <a:p>
            <a:pPr lvl="1"/>
            <a:r>
              <a:rPr lang="en-US" dirty="0" smtClean="0"/>
              <a:t>Uses AFS consistency, however</a:t>
            </a:r>
          </a:p>
          <a:p>
            <a:pPr lvl="2"/>
            <a:r>
              <a:rPr lang="en-US" dirty="0" smtClean="0"/>
              <a:t>Writes made visible on close</a:t>
            </a:r>
          </a:p>
          <a:p>
            <a:pPr lvl="1"/>
            <a:r>
              <a:rPr lang="en-US" dirty="0" smtClean="0"/>
              <a:t>All messages passed through de-duplication process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25" y="690287"/>
            <a:ext cx="6924675" cy="372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946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228600"/>
            <a:ext cx="7772400" cy="990600"/>
          </a:xfrm>
        </p:spPr>
        <p:txBody>
          <a:bodyPr/>
          <a:lstStyle/>
          <a:p>
            <a:r>
              <a:rPr lang="en-US" dirty="0" smtClean="0"/>
              <a:t>How Effective is this technique?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0"/>
            <a:ext cx="7924800" cy="2971800"/>
          </a:xfrm>
        </p:spPr>
        <p:txBody>
          <a:bodyPr/>
          <a:lstStyle/>
          <a:p>
            <a:r>
              <a:rPr lang="en-US" dirty="0" smtClean="0"/>
              <a:t>There is a remarkable amount of overlapping content in typical developer file systems</a:t>
            </a:r>
          </a:p>
          <a:p>
            <a:pPr lvl="1"/>
            <a:r>
              <a:rPr lang="en-US" dirty="0" smtClean="0"/>
              <a:t>Great for source trees, compilation,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Less commonality for binary file formats </a:t>
            </a:r>
          </a:p>
          <a:p>
            <a:r>
              <a:rPr lang="en-US" dirty="0" smtClean="0"/>
              <a:t>However, this technique is in use in network optimization appliances </a:t>
            </a:r>
          </a:p>
          <a:p>
            <a:r>
              <a:rPr lang="en-US" dirty="0" smtClean="0"/>
              <a:t>Also works really well for archival backup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800100"/>
            <a:ext cx="7581900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540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01" y="0"/>
            <a:ext cx="8771640" cy="736600"/>
          </a:xfrm>
        </p:spPr>
        <p:txBody>
          <a:bodyPr/>
          <a:lstStyle/>
          <a:p>
            <a:r>
              <a:rPr lang="en-US" sz="2800" dirty="0" smtClean="0"/>
              <a:t>A different take: Why Peer-to-Peer ideas for storage?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12800"/>
            <a:ext cx="9067800" cy="5664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Incremental </a:t>
            </a:r>
            <a:r>
              <a:rPr lang="en-US" dirty="0" smtClean="0"/>
              <a:t>Scalability</a:t>
            </a:r>
          </a:p>
          <a:p>
            <a:pPr lvl="1"/>
            <a:r>
              <a:rPr lang="en-US" dirty="0" smtClean="0"/>
              <a:t>Add or remove nodes as necessary</a:t>
            </a:r>
          </a:p>
          <a:p>
            <a:pPr lvl="2"/>
            <a:r>
              <a:rPr lang="en-US" dirty="0" smtClean="0"/>
              <a:t>Systems stays online during changes</a:t>
            </a:r>
          </a:p>
          <a:p>
            <a:pPr lvl="1"/>
            <a:r>
              <a:rPr lang="en-US" dirty="0" smtClean="0"/>
              <a:t>With many other systems:</a:t>
            </a:r>
          </a:p>
          <a:p>
            <a:pPr lvl="2"/>
            <a:r>
              <a:rPr lang="en-US" dirty="0" smtClean="0"/>
              <a:t>Must add large groups of nodes at once</a:t>
            </a:r>
          </a:p>
          <a:p>
            <a:pPr lvl="2"/>
            <a:r>
              <a:rPr lang="en-US" dirty="0" smtClean="0"/>
              <a:t>System downtime during change in active set of nodes</a:t>
            </a:r>
          </a:p>
          <a:p>
            <a:r>
              <a:rPr lang="en-US" dirty="0" smtClean="0"/>
              <a:t>Low Management Overhead (related to first property)</a:t>
            </a:r>
            <a:endParaRPr lang="en-US" dirty="0"/>
          </a:p>
          <a:p>
            <a:pPr lvl="1"/>
            <a:r>
              <a:rPr lang="en-US" dirty="0" smtClean="0"/>
              <a:t>System automatically adapts as nodes die or are added</a:t>
            </a:r>
          </a:p>
          <a:p>
            <a:pPr lvl="1"/>
            <a:r>
              <a:rPr lang="en-US" dirty="0" smtClean="0"/>
              <a:t>Data automatically migrated to avoid failure or take advantage of new nodes</a:t>
            </a:r>
            <a:endParaRPr lang="en-US" dirty="0"/>
          </a:p>
          <a:p>
            <a:r>
              <a:rPr lang="en-US" dirty="0" smtClean="0"/>
              <a:t>Self Load-Balance</a:t>
            </a:r>
          </a:p>
          <a:p>
            <a:pPr lvl="1"/>
            <a:r>
              <a:rPr lang="en-US" dirty="0" smtClean="0"/>
              <a:t>Automatic partitioning of data among available nodes</a:t>
            </a:r>
          </a:p>
          <a:p>
            <a:pPr lvl="1"/>
            <a:r>
              <a:rPr lang="en-US" dirty="0" smtClean="0"/>
              <a:t>Automatic rearrangement of information or query loads to avoid hot-spots</a:t>
            </a:r>
          </a:p>
          <a:p>
            <a:r>
              <a:rPr lang="en-US" dirty="0" smtClean="0"/>
              <a:t>Not bound by commercial notions of semantics</a:t>
            </a:r>
          </a:p>
          <a:p>
            <a:pPr lvl="1"/>
            <a:r>
              <a:rPr lang="en-US" dirty="0" smtClean="0"/>
              <a:t>Can use weaker consistency when desired</a:t>
            </a:r>
          </a:p>
          <a:p>
            <a:pPr lvl="1"/>
            <a:r>
              <a:rPr lang="en-US" dirty="0" smtClean="0"/>
              <a:t>Provide flexibility to vary semantics on a per-application basis</a:t>
            </a:r>
          </a:p>
          <a:p>
            <a:pPr lvl="1"/>
            <a:r>
              <a:rPr lang="en-US" dirty="0" smtClean="0"/>
              <a:t>Leads to higher efficiency or 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0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924800" cy="685800"/>
          </a:xfrm>
        </p:spPr>
        <p:txBody>
          <a:bodyPr/>
          <a:lstStyle/>
          <a:p>
            <a:r>
              <a:rPr lang="en-US" sz="2800" dirty="0" smtClean="0"/>
              <a:t>Peer-to-Peer: Fully equivalent components</a:t>
            </a:r>
          </a:p>
        </p:txBody>
      </p:sp>
      <p:grpSp>
        <p:nvGrpSpPr>
          <p:cNvPr id="5123" name="Group 40"/>
          <p:cNvGrpSpPr>
            <a:grpSpLocks/>
          </p:cNvGrpSpPr>
          <p:nvPr/>
        </p:nvGrpSpPr>
        <p:grpSpPr bwMode="auto">
          <a:xfrm>
            <a:off x="609600" y="838200"/>
            <a:ext cx="8153400" cy="3733800"/>
            <a:chOff x="384" y="912"/>
            <a:chExt cx="5136" cy="2352"/>
          </a:xfrm>
        </p:grpSpPr>
        <p:grpSp>
          <p:nvGrpSpPr>
            <p:cNvPr id="5125" name="Group 4"/>
            <p:cNvGrpSpPr>
              <a:grpSpLocks/>
            </p:cNvGrpSpPr>
            <p:nvPr/>
          </p:nvGrpSpPr>
          <p:grpSpPr bwMode="auto">
            <a:xfrm>
              <a:off x="432" y="1056"/>
              <a:ext cx="672" cy="624"/>
              <a:chOff x="384" y="2688"/>
              <a:chExt cx="528" cy="528"/>
            </a:xfrm>
          </p:grpSpPr>
          <p:sp>
            <p:nvSpPr>
              <p:cNvPr id="5158" name="Oval 5"/>
              <p:cNvSpPr>
                <a:spLocks noChangeArrowheads="1"/>
              </p:cNvSpPr>
              <p:nvPr/>
            </p:nvSpPr>
            <p:spPr bwMode="auto">
              <a:xfrm>
                <a:off x="384" y="2688"/>
                <a:ext cx="528" cy="528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pic>
            <p:nvPicPr>
              <p:cNvPr id="5159" name="Picture 6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" y="2742"/>
                <a:ext cx="48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6" name="Group 7"/>
            <p:cNvGrpSpPr>
              <a:grpSpLocks/>
            </p:cNvGrpSpPr>
            <p:nvPr/>
          </p:nvGrpSpPr>
          <p:grpSpPr bwMode="auto">
            <a:xfrm>
              <a:off x="384" y="2016"/>
              <a:ext cx="672" cy="624"/>
              <a:chOff x="384" y="2688"/>
              <a:chExt cx="528" cy="528"/>
            </a:xfrm>
          </p:grpSpPr>
          <p:sp>
            <p:nvSpPr>
              <p:cNvPr id="5156" name="Oval 8"/>
              <p:cNvSpPr>
                <a:spLocks noChangeArrowheads="1"/>
              </p:cNvSpPr>
              <p:nvPr/>
            </p:nvSpPr>
            <p:spPr bwMode="auto">
              <a:xfrm>
                <a:off x="384" y="2688"/>
                <a:ext cx="528" cy="528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pic>
            <p:nvPicPr>
              <p:cNvPr id="5157" name="Picture 9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" y="2742"/>
                <a:ext cx="48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7" name="Group 10"/>
            <p:cNvGrpSpPr>
              <a:grpSpLocks/>
            </p:cNvGrpSpPr>
            <p:nvPr/>
          </p:nvGrpSpPr>
          <p:grpSpPr bwMode="auto">
            <a:xfrm>
              <a:off x="1392" y="2640"/>
              <a:ext cx="672" cy="624"/>
              <a:chOff x="384" y="2688"/>
              <a:chExt cx="528" cy="528"/>
            </a:xfrm>
          </p:grpSpPr>
          <p:sp>
            <p:nvSpPr>
              <p:cNvPr id="5154" name="Oval 11"/>
              <p:cNvSpPr>
                <a:spLocks noChangeArrowheads="1"/>
              </p:cNvSpPr>
              <p:nvPr/>
            </p:nvSpPr>
            <p:spPr bwMode="auto">
              <a:xfrm>
                <a:off x="384" y="2688"/>
                <a:ext cx="528" cy="528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pic>
            <p:nvPicPr>
              <p:cNvPr id="5155" name="Picture 1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" y="2742"/>
                <a:ext cx="48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8" name="Group 13"/>
            <p:cNvGrpSpPr>
              <a:grpSpLocks/>
            </p:cNvGrpSpPr>
            <p:nvPr/>
          </p:nvGrpSpPr>
          <p:grpSpPr bwMode="auto">
            <a:xfrm>
              <a:off x="1728" y="1680"/>
              <a:ext cx="672" cy="624"/>
              <a:chOff x="384" y="2688"/>
              <a:chExt cx="528" cy="528"/>
            </a:xfrm>
          </p:grpSpPr>
          <p:sp>
            <p:nvSpPr>
              <p:cNvPr id="5152" name="Oval 14"/>
              <p:cNvSpPr>
                <a:spLocks noChangeArrowheads="1"/>
              </p:cNvSpPr>
              <p:nvPr/>
            </p:nvSpPr>
            <p:spPr bwMode="auto">
              <a:xfrm>
                <a:off x="384" y="2688"/>
                <a:ext cx="528" cy="528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pic>
            <p:nvPicPr>
              <p:cNvPr id="5153" name="Picture 15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" y="2742"/>
                <a:ext cx="48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29" name="Group 16"/>
            <p:cNvGrpSpPr>
              <a:grpSpLocks/>
            </p:cNvGrpSpPr>
            <p:nvPr/>
          </p:nvGrpSpPr>
          <p:grpSpPr bwMode="auto">
            <a:xfrm>
              <a:off x="2544" y="2112"/>
              <a:ext cx="672" cy="624"/>
              <a:chOff x="384" y="2688"/>
              <a:chExt cx="528" cy="528"/>
            </a:xfrm>
          </p:grpSpPr>
          <p:sp>
            <p:nvSpPr>
              <p:cNvPr id="5150" name="Oval 17"/>
              <p:cNvSpPr>
                <a:spLocks noChangeArrowheads="1"/>
              </p:cNvSpPr>
              <p:nvPr/>
            </p:nvSpPr>
            <p:spPr bwMode="auto">
              <a:xfrm>
                <a:off x="384" y="2688"/>
                <a:ext cx="528" cy="528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pic>
            <p:nvPicPr>
              <p:cNvPr id="5151" name="Picture 18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" y="2742"/>
                <a:ext cx="48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30" name="Group 19"/>
            <p:cNvGrpSpPr>
              <a:grpSpLocks/>
            </p:cNvGrpSpPr>
            <p:nvPr/>
          </p:nvGrpSpPr>
          <p:grpSpPr bwMode="auto">
            <a:xfrm>
              <a:off x="3408" y="1440"/>
              <a:ext cx="672" cy="624"/>
              <a:chOff x="384" y="2688"/>
              <a:chExt cx="528" cy="528"/>
            </a:xfrm>
          </p:grpSpPr>
          <p:sp>
            <p:nvSpPr>
              <p:cNvPr id="5148" name="Oval 20"/>
              <p:cNvSpPr>
                <a:spLocks noChangeArrowheads="1"/>
              </p:cNvSpPr>
              <p:nvPr/>
            </p:nvSpPr>
            <p:spPr bwMode="auto">
              <a:xfrm>
                <a:off x="384" y="2688"/>
                <a:ext cx="528" cy="528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pic>
            <p:nvPicPr>
              <p:cNvPr id="5149" name="Picture 21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" y="2742"/>
                <a:ext cx="48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31" name="Group 22"/>
            <p:cNvGrpSpPr>
              <a:grpSpLocks/>
            </p:cNvGrpSpPr>
            <p:nvPr/>
          </p:nvGrpSpPr>
          <p:grpSpPr bwMode="auto">
            <a:xfrm>
              <a:off x="4848" y="2352"/>
              <a:ext cx="672" cy="624"/>
              <a:chOff x="384" y="2688"/>
              <a:chExt cx="528" cy="528"/>
            </a:xfrm>
          </p:grpSpPr>
          <p:sp>
            <p:nvSpPr>
              <p:cNvPr id="5146" name="Oval 23"/>
              <p:cNvSpPr>
                <a:spLocks noChangeArrowheads="1"/>
              </p:cNvSpPr>
              <p:nvPr/>
            </p:nvSpPr>
            <p:spPr bwMode="auto">
              <a:xfrm>
                <a:off x="384" y="2688"/>
                <a:ext cx="528" cy="528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pic>
            <p:nvPicPr>
              <p:cNvPr id="5147" name="Picture 24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" y="2742"/>
                <a:ext cx="48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32" name="Group 25"/>
            <p:cNvGrpSpPr>
              <a:grpSpLocks/>
            </p:cNvGrpSpPr>
            <p:nvPr/>
          </p:nvGrpSpPr>
          <p:grpSpPr bwMode="auto">
            <a:xfrm>
              <a:off x="4464" y="1008"/>
              <a:ext cx="672" cy="624"/>
              <a:chOff x="384" y="2688"/>
              <a:chExt cx="528" cy="528"/>
            </a:xfrm>
          </p:grpSpPr>
          <p:sp>
            <p:nvSpPr>
              <p:cNvPr id="5144" name="Oval 26"/>
              <p:cNvSpPr>
                <a:spLocks noChangeArrowheads="1"/>
              </p:cNvSpPr>
              <p:nvPr/>
            </p:nvSpPr>
            <p:spPr bwMode="auto">
              <a:xfrm>
                <a:off x="384" y="2688"/>
                <a:ext cx="528" cy="528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pic>
            <p:nvPicPr>
              <p:cNvPr id="5145" name="Picture 27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" y="2742"/>
                <a:ext cx="48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5133" name="Group 28"/>
            <p:cNvGrpSpPr>
              <a:grpSpLocks/>
            </p:cNvGrpSpPr>
            <p:nvPr/>
          </p:nvGrpSpPr>
          <p:grpSpPr bwMode="auto">
            <a:xfrm>
              <a:off x="1680" y="912"/>
              <a:ext cx="672" cy="624"/>
              <a:chOff x="384" y="2688"/>
              <a:chExt cx="528" cy="528"/>
            </a:xfrm>
          </p:grpSpPr>
          <p:sp>
            <p:nvSpPr>
              <p:cNvPr id="5142" name="Oval 29"/>
              <p:cNvSpPr>
                <a:spLocks noChangeArrowheads="1"/>
              </p:cNvSpPr>
              <p:nvPr/>
            </p:nvSpPr>
            <p:spPr bwMode="auto">
              <a:xfrm>
                <a:off x="384" y="2688"/>
                <a:ext cx="528" cy="528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pic>
            <p:nvPicPr>
              <p:cNvPr id="5143" name="Picture 30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" y="2742"/>
                <a:ext cx="48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5134" name="Line 31"/>
            <p:cNvSpPr>
              <a:spLocks noChangeShapeType="1"/>
            </p:cNvSpPr>
            <p:nvPr/>
          </p:nvSpPr>
          <p:spPr bwMode="auto">
            <a:xfrm flipV="1">
              <a:off x="1056" y="1296"/>
              <a:ext cx="624" cy="4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5" name="Line 32"/>
            <p:cNvSpPr>
              <a:spLocks noChangeShapeType="1"/>
            </p:cNvSpPr>
            <p:nvPr/>
          </p:nvSpPr>
          <p:spPr bwMode="auto">
            <a:xfrm>
              <a:off x="1104" y="1536"/>
              <a:ext cx="624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6" name="Line 33"/>
            <p:cNvSpPr>
              <a:spLocks noChangeShapeType="1"/>
            </p:cNvSpPr>
            <p:nvPr/>
          </p:nvSpPr>
          <p:spPr bwMode="auto">
            <a:xfrm flipV="1">
              <a:off x="1872" y="2304"/>
              <a:ext cx="96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7" name="Line 34"/>
            <p:cNvSpPr>
              <a:spLocks noChangeShapeType="1"/>
            </p:cNvSpPr>
            <p:nvPr/>
          </p:nvSpPr>
          <p:spPr bwMode="auto">
            <a:xfrm flipV="1">
              <a:off x="1104" y="2112"/>
              <a:ext cx="624" cy="1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8" name="Line 35"/>
            <p:cNvSpPr>
              <a:spLocks noChangeShapeType="1"/>
            </p:cNvSpPr>
            <p:nvPr/>
          </p:nvSpPr>
          <p:spPr bwMode="auto">
            <a:xfrm>
              <a:off x="2400" y="1248"/>
              <a:ext cx="96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9" name="Line 36"/>
            <p:cNvSpPr>
              <a:spLocks noChangeShapeType="1"/>
            </p:cNvSpPr>
            <p:nvPr/>
          </p:nvSpPr>
          <p:spPr bwMode="auto">
            <a:xfrm flipV="1">
              <a:off x="3168" y="2016"/>
              <a:ext cx="336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0" name="Line 37"/>
            <p:cNvSpPr>
              <a:spLocks noChangeShapeType="1"/>
            </p:cNvSpPr>
            <p:nvPr/>
          </p:nvSpPr>
          <p:spPr bwMode="auto">
            <a:xfrm flipV="1">
              <a:off x="4032" y="1488"/>
              <a:ext cx="480" cy="9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1" name="Line 38"/>
            <p:cNvSpPr>
              <a:spLocks noChangeShapeType="1"/>
            </p:cNvSpPr>
            <p:nvPr/>
          </p:nvSpPr>
          <p:spPr bwMode="auto">
            <a:xfrm>
              <a:off x="4032" y="1920"/>
              <a:ext cx="864" cy="57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24" name="Rectangle 39"/>
          <p:cNvSpPr>
            <a:spLocks noGrp="1" noChangeArrowheads="1"/>
          </p:cNvSpPr>
          <p:nvPr>
            <p:ph type="body" idx="1"/>
          </p:nvPr>
        </p:nvSpPr>
        <p:spPr>
          <a:xfrm>
            <a:off x="146050" y="4648200"/>
            <a:ext cx="8851900" cy="21336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15000"/>
              </a:spcBef>
            </a:pPr>
            <a:r>
              <a:rPr lang="en-US" smtClean="0"/>
              <a:t>Peer-to-Peer has many interacting components</a:t>
            </a:r>
          </a:p>
          <a:p>
            <a:pPr lvl="1">
              <a:lnSpc>
                <a:spcPct val="80000"/>
              </a:lnSpc>
              <a:spcBef>
                <a:spcPct val="15000"/>
              </a:spcBef>
            </a:pPr>
            <a:r>
              <a:rPr lang="en-US" smtClean="0"/>
              <a:t>View system as a set of equivalent nodes</a:t>
            </a:r>
          </a:p>
          <a:p>
            <a:pPr lvl="2">
              <a:lnSpc>
                <a:spcPct val="80000"/>
              </a:lnSpc>
              <a:spcBef>
                <a:spcPct val="15000"/>
              </a:spcBef>
            </a:pPr>
            <a:r>
              <a:rPr lang="en-US" smtClean="0"/>
              <a:t>“All nodes are created equal”</a:t>
            </a:r>
          </a:p>
          <a:p>
            <a:pPr lvl="1">
              <a:lnSpc>
                <a:spcPct val="80000"/>
              </a:lnSpc>
              <a:spcBef>
                <a:spcPct val="15000"/>
              </a:spcBef>
            </a:pPr>
            <a:r>
              <a:rPr lang="en-US" smtClean="0"/>
              <a:t>Any structure on system must be self-organizing</a:t>
            </a:r>
          </a:p>
          <a:p>
            <a:pPr lvl="2">
              <a:lnSpc>
                <a:spcPct val="80000"/>
              </a:lnSpc>
              <a:spcBef>
                <a:spcPct val="15000"/>
              </a:spcBef>
            </a:pPr>
            <a:r>
              <a:rPr lang="en-US" smtClean="0"/>
              <a:t>Not based on physical characteristics, location, or ownership</a:t>
            </a:r>
          </a:p>
        </p:txBody>
      </p:sp>
    </p:spTree>
    <p:extLst>
      <p:ext uri="{BB962C8B-B14F-4D97-AF65-F5344CB8AC3E}">
        <p14:creationId xmlns:p14="http://schemas.microsoft.com/office/powerpoint/2010/main" val="89328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ud 20"/>
          <p:cNvSpPr/>
          <p:nvPr/>
        </p:nvSpPr>
        <p:spPr bwMode="auto">
          <a:xfrm>
            <a:off x="2076450" y="675251"/>
            <a:ext cx="4783138" cy="4202113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478" tIns="44445" rIns="90478" bIns="44445" anchor="ctr"/>
          <a:lstStyle/>
          <a:p>
            <a:pPr marL="685800" indent="-228600">
              <a:defRPr/>
            </a:pPr>
            <a:endParaRPr lang="en-US"/>
          </a:p>
        </p:txBody>
      </p:sp>
      <p:sp>
        <p:nvSpPr>
          <p:cNvPr id="1126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40108" cy="447822"/>
          </a:xfrm>
        </p:spPr>
        <p:txBody>
          <a:bodyPr/>
          <a:lstStyle/>
          <a:p>
            <a:r>
              <a:rPr lang="en-US" sz="3200" dirty="0" smtClean="0"/>
              <a:t>Routed queries (</a:t>
            </a:r>
            <a:r>
              <a:rPr lang="en-US" sz="3200" dirty="0" err="1" smtClean="0"/>
              <a:t>Freenet</a:t>
            </a:r>
            <a:r>
              <a:rPr lang="en-US" sz="3200" dirty="0" smtClean="0"/>
              <a:t>, Chord, Tapestry, etc.)</a:t>
            </a:r>
          </a:p>
        </p:txBody>
      </p:sp>
      <p:sp>
        <p:nvSpPr>
          <p:cNvPr id="11268" name="Text Box 1027"/>
          <p:cNvSpPr txBox="1">
            <a:spLocks noChangeArrowheads="1"/>
          </p:cNvSpPr>
          <p:nvPr/>
        </p:nvSpPr>
        <p:spPr bwMode="auto">
          <a:xfrm>
            <a:off x="2076450" y="2489764"/>
            <a:ext cx="554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800">
                <a:solidFill>
                  <a:schemeClr val="accent2"/>
                </a:solidFill>
              </a:rPr>
              <a:t>N</a:t>
            </a:r>
            <a:r>
              <a:rPr lang="en-US" sz="2800" baseline="-25000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11269" name="Text Box 1028"/>
          <p:cNvSpPr txBox="1">
            <a:spLocks noChangeArrowheads="1"/>
          </p:cNvSpPr>
          <p:nvPr/>
        </p:nvSpPr>
        <p:spPr bwMode="auto">
          <a:xfrm>
            <a:off x="609600" y="2542151"/>
            <a:ext cx="1525588" cy="34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000"/>
              <a:t>Publisher@</a:t>
            </a:r>
          </a:p>
        </p:txBody>
      </p:sp>
      <p:sp>
        <p:nvSpPr>
          <p:cNvPr id="11270" name="Text Box 1031"/>
          <p:cNvSpPr txBox="1">
            <a:spLocks noChangeArrowheads="1"/>
          </p:cNvSpPr>
          <p:nvPr/>
        </p:nvSpPr>
        <p:spPr bwMode="auto">
          <a:xfrm>
            <a:off x="6858000" y="2732651"/>
            <a:ext cx="8842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000"/>
              <a:t>Client</a:t>
            </a:r>
          </a:p>
        </p:txBody>
      </p:sp>
      <p:sp>
        <p:nvSpPr>
          <p:cNvPr id="11271" name="Text Box 1032"/>
          <p:cNvSpPr txBox="1">
            <a:spLocks noChangeArrowheads="1"/>
          </p:cNvSpPr>
          <p:nvPr/>
        </p:nvSpPr>
        <p:spPr bwMode="auto">
          <a:xfrm>
            <a:off x="3213100" y="3299389"/>
            <a:ext cx="554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800">
                <a:solidFill>
                  <a:schemeClr val="accent2"/>
                </a:solidFill>
              </a:rPr>
              <a:t>N</a:t>
            </a:r>
            <a:r>
              <a:rPr lang="en-US" sz="2800" baseline="-25000">
                <a:solidFill>
                  <a:schemeClr val="accent2"/>
                </a:solidFill>
              </a:rPr>
              <a:t>6</a:t>
            </a:r>
          </a:p>
        </p:txBody>
      </p:sp>
      <p:sp>
        <p:nvSpPr>
          <p:cNvPr id="11272" name="Text Box 1033"/>
          <p:cNvSpPr txBox="1">
            <a:spLocks noChangeArrowheads="1"/>
          </p:cNvSpPr>
          <p:nvPr/>
        </p:nvSpPr>
        <p:spPr bwMode="auto">
          <a:xfrm>
            <a:off x="4352925" y="2402451"/>
            <a:ext cx="554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800">
                <a:solidFill>
                  <a:schemeClr val="accent2"/>
                </a:solidFill>
              </a:rPr>
              <a:t>N</a:t>
            </a:r>
            <a:r>
              <a:rPr lang="en-US" sz="2800" baseline="-25000">
                <a:solidFill>
                  <a:schemeClr val="accent2"/>
                </a:solidFill>
              </a:rPr>
              <a:t>9</a:t>
            </a:r>
          </a:p>
        </p:txBody>
      </p:sp>
      <p:sp>
        <p:nvSpPr>
          <p:cNvPr id="11273" name="Text Box 1034"/>
          <p:cNvSpPr txBox="1">
            <a:spLocks noChangeArrowheads="1"/>
          </p:cNvSpPr>
          <p:nvPr/>
        </p:nvSpPr>
        <p:spPr bwMode="auto">
          <a:xfrm>
            <a:off x="4389438" y="4274114"/>
            <a:ext cx="5540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800">
                <a:solidFill>
                  <a:schemeClr val="accent2"/>
                </a:solidFill>
              </a:rPr>
              <a:t>N</a:t>
            </a:r>
            <a:r>
              <a:rPr lang="en-US" sz="2800" baseline="-25000">
                <a:solidFill>
                  <a:schemeClr val="accent2"/>
                </a:solidFill>
              </a:rPr>
              <a:t>7</a:t>
            </a:r>
          </a:p>
        </p:txBody>
      </p:sp>
      <p:sp>
        <p:nvSpPr>
          <p:cNvPr id="11274" name="Text Box 1035"/>
          <p:cNvSpPr txBox="1">
            <a:spLocks noChangeArrowheads="1"/>
          </p:cNvSpPr>
          <p:nvPr/>
        </p:nvSpPr>
        <p:spPr bwMode="auto">
          <a:xfrm>
            <a:off x="5438775" y="3755001"/>
            <a:ext cx="554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800">
                <a:solidFill>
                  <a:schemeClr val="accent2"/>
                </a:solidFill>
              </a:rPr>
              <a:t>N</a:t>
            </a:r>
            <a:r>
              <a:rPr lang="en-US" sz="2800" baseline="-25000">
                <a:solidFill>
                  <a:schemeClr val="accent2"/>
                </a:solidFill>
              </a:rPr>
              <a:t>8</a:t>
            </a:r>
          </a:p>
        </p:txBody>
      </p:sp>
      <p:sp>
        <p:nvSpPr>
          <p:cNvPr id="11275" name="Text Box 1036"/>
          <p:cNvSpPr txBox="1">
            <a:spLocks noChangeArrowheads="1"/>
          </p:cNvSpPr>
          <p:nvPr/>
        </p:nvSpPr>
        <p:spPr bwMode="auto">
          <a:xfrm>
            <a:off x="4981575" y="1070539"/>
            <a:ext cx="554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800">
                <a:solidFill>
                  <a:schemeClr val="accent2"/>
                </a:solidFill>
              </a:rPr>
              <a:t>N</a:t>
            </a:r>
            <a:r>
              <a:rPr lang="en-US" sz="2800" baseline="-2500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11276" name="Text Box 1037"/>
          <p:cNvSpPr txBox="1">
            <a:spLocks noChangeArrowheads="1"/>
          </p:cNvSpPr>
          <p:nvPr/>
        </p:nvSpPr>
        <p:spPr bwMode="auto">
          <a:xfrm>
            <a:off x="3887788" y="948301"/>
            <a:ext cx="554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800">
                <a:solidFill>
                  <a:schemeClr val="accent2"/>
                </a:solidFill>
              </a:rPr>
              <a:t>N</a:t>
            </a:r>
            <a:r>
              <a:rPr lang="en-US" sz="2800" baseline="-2500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1277" name="Text Box 1038"/>
          <p:cNvSpPr txBox="1">
            <a:spLocks noChangeArrowheads="1"/>
          </p:cNvSpPr>
          <p:nvPr/>
        </p:nvSpPr>
        <p:spPr bwMode="auto">
          <a:xfrm>
            <a:off x="2668588" y="1376926"/>
            <a:ext cx="554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800">
                <a:solidFill>
                  <a:schemeClr val="accent2"/>
                </a:solidFill>
              </a:rPr>
              <a:t>N</a:t>
            </a:r>
            <a:r>
              <a:rPr lang="en-US" sz="2800" baseline="-2500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1278" name="Freeform 1040"/>
          <p:cNvSpPr>
            <a:spLocks/>
          </p:cNvSpPr>
          <p:nvPr/>
        </p:nvSpPr>
        <p:spPr bwMode="auto">
          <a:xfrm>
            <a:off x="5584825" y="1467414"/>
            <a:ext cx="815975" cy="1130300"/>
          </a:xfrm>
          <a:custGeom>
            <a:avLst/>
            <a:gdLst>
              <a:gd name="T0" fmla="*/ 816615 w 672"/>
              <a:gd name="T1" fmla="*/ 1129924 h 192"/>
              <a:gd name="T2" fmla="*/ 408308 w 672"/>
              <a:gd name="T3" fmla="*/ 282481 h 192"/>
              <a:gd name="T4" fmla="*/ 0 w 672"/>
              <a:gd name="T5" fmla="*/ 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72" h="192">
                <a:moveTo>
                  <a:pt x="672" y="192"/>
                </a:moveTo>
                <a:cubicBezTo>
                  <a:pt x="560" y="136"/>
                  <a:pt x="448" y="80"/>
                  <a:pt x="336" y="48"/>
                </a:cubicBezTo>
                <a:cubicBezTo>
                  <a:pt x="224" y="16"/>
                  <a:pt x="112" y="8"/>
                  <a:pt x="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279" name="Freeform 1048"/>
          <p:cNvSpPr>
            <a:spLocks/>
          </p:cNvSpPr>
          <p:nvPr/>
        </p:nvSpPr>
        <p:spPr bwMode="auto">
          <a:xfrm rot="-944540">
            <a:off x="3222625" y="1427726"/>
            <a:ext cx="1720850" cy="239713"/>
          </a:xfrm>
          <a:custGeom>
            <a:avLst/>
            <a:gdLst>
              <a:gd name="T0" fmla="*/ 1721358 w 1008"/>
              <a:gd name="T1" fmla="*/ 238808 h 144"/>
              <a:gd name="T2" fmla="*/ 655755 w 1008"/>
              <a:gd name="T3" fmla="*/ 159205 h 144"/>
              <a:gd name="T4" fmla="*/ 0 w 1008"/>
              <a:gd name="T5" fmla="*/ 0 h 1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8" h="144">
                <a:moveTo>
                  <a:pt x="1008" y="144"/>
                </a:moveTo>
                <a:cubicBezTo>
                  <a:pt x="780" y="132"/>
                  <a:pt x="552" y="120"/>
                  <a:pt x="384" y="96"/>
                </a:cubicBezTo>
                <a:cubicBezTo>
                  <a:pt x="216" y="72"/>
                  <a:pt x="108" y="36"/>
                  <a:pt x="0" y="0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280" name="Freeform 1049"/>
          <p:cNvSpPr>
            <a:spLocks/>
          </p:cNvSpPr>
          <p:nvPr/>
        </p:nvSpPr>
        <p:spPr bwMode="auto">
          <a:xfrm rot="296211">
            <a:off x="3125788" y="1818251"/>
            <a:ext cx="393700" cy="1447800"/>
          </a:xfrm>
          <a:custGeom>
            <a:avLst/>
            <a:gdLst>
              <a:gd name="T0" fmla="*/ 0 w 392"/>
              <a:gd name="T1" fmla="*/ 0 h 864"/>
              <a:gd name="T2" fmla="*/ 337457 w 392"/>
              <a:gd name="T3" fmla="*/ 643467 h 864"/>
              <a:gd name="T4" fmla="*/ 337457 w 392"/>
              <a:gd name="T5" fmla="*/ 1447800 h 8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2" h="864">
                <a:moveTo>
                  <a:pt x="0" y="0"/>
                </a:moveTo>
                <a:cubicBezTo>
                  <a:pt x="140" y="120"/>
                  <a:pt x="280" y="240"/>
                  <a:pt x="336" y="384"/>
                </a:cubicBezTo>
                <a:cubicBezTo>
                  <a:pt x="392" y="528"/>
                  <a:pt x="364" y="696"/>
                  <a:pt x="336" y="86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1281" name="Text Box 1053"/>
          <p:cNvSpPr txBox="1">
            <a:spLocks noChangeArrowheads="1"/>
          </p:cNvSpPr>
          <p:nvPr/>
        </p:nvSpPr>
        <p:spPr bwMode="auto">
          <a:xfrm>
            <a:off x="6877050" y="3053326"/>
            <a:ext cx="193992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000">
                <a:solidFill>
                  <a:srgbClr val="00CC00"/>
                </a:solidFill>
              </a:rPr>
              <a:t>Lookup(“title”)</a:t>
            </a:r>
          </a:p>
        </p:txBody>
      </p:sp>
      <p:sp>
        <p:nvSpPr>
          <p:cNvPr id="11282" name="Text Box 1054"/>
          <p:cNvSpPr txBox="1">
            <a:spLocks noChangeArrowheads="1"/>
          </p:cNvSpPr>
          <p:nvPr/>
        </p:nvSpPr>
        <p:spPr bwMode="auto">
          <a:xfrm>
            <a:off x="76200" y="2848539"/>
            <a:ext cx="2363788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l"/>
            <a:r>
              <a:rPr lang="en-US" sz="2000">
                <a:solidFill>
                  <a:srgbClr val="00CC00"/>
                </a:solidFill>
              </a:rPr>
              <a:t>Key=“title”</a:t>
            </a:r>
          </a:p>
          <a:p>
            <a:pPr algn="l"/>
            <a:r>
              <a:rPr lang="en-US" sz="2000">
                <a:solidFill>
                  <a:srgbClr val="00CC00"/>
                </a:solidFill>
              </a:rPr>
              <a:t>Value=MP3 data…</a:t>
            </a:r>
          </a:p>
        </p:txBody>
      </p:sp>
      <p:sp>
        <p:nvSpPr>
          <p:cNvPr id="11283" name="Freeform 1056"/>
          <p:cNvSpPr>
            <a:spLocks/>
          </p:cNvSpPr>
          <p:nvPr/>
        </p:nvSpPr>
        <p:spPr bwMode="auto">
          <a:xfrm>
            <a:off x="2592388" y="2896164"/>
            <a:ext cx="609600" cy="609600"/>
          </a:xfrm>
          <a:custGeom>
            <a:avLst/>
            <a:gdLst>
              <a:gd name="T0" fmla="*/ 0 w 384"/>
              <a:gd name="T1" fmla="*/ 0 h 384"/>
              <a:gd name="T2" fmla="*/ 609600 w 384"/>
              <a:gd name="T3" fmla="*/ 609600 h 384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84" h="384">
                <a:moveTo>
                  <a:pt x="0" y="0"/>
                </a:moveTo>
                <a:cubicBezTo>
                  <a:pt x="0" y="0"/>
                  <a:pt x="192" y="192"/>
                  <a:pt x="384" y="38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1284" name="Text Box 1033"/>
          <p:cNvSpPr txBox="1">
            <a:spLocks noChangeArrowheads="1"/>
          </p:cNvSpPr>
          <p:nvPr/>
        </p:nvSpPr>
        <p:spPr bwMode="auto">
          <a:xfrm>
            <a:off x="6224588" y="2594539"/>
            <a:ext cx="622300" cy="44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800">
                <a:solidFill>
                  <a:schemeClr val="accent2"/>
                </a:solidFill>
              </a:rPr>
              <a:t>N</a:t>
            </a:r>
            <a:r>
              <a:rPr lang="en-US" sz="2800" baseline="-25000">
                <a:solidFill>
                  <a:schemeClr val="accent2"/>
                </a:solidFill>
              </a:rPr>
              <a:t>5</a:t>
            </a:r>
          </a:p>
        </p:txBody>
      </p:sp>
      <p:sp>
        <p:nvSpPr>
          <p:cNvPr id="11285" name="Text Box 38"/>
          <p:cNvSpPr txBox="1">
            <a:spLocks noChangeArrowheads="1"/>
          </p:cNvSpPr>
          <p:nvPr/>
        </p:nvSpPr>
        <p:spPr bwMode="auto">
          <a:xfrm>
            <a:off x="-39688" y="5018651"/>
            <a:ext cx="9259888" cy="87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800"/>
              <a:t>Can be O(log </a:t>
            </a:r>
            <a:r>
              <a:rPr lang="en-US" sz="2800" i="1">
                <a:latin typeface="Times New Roman" pitchFamily="18" charset="0"/>
              </a:rPr>
              <a:t>N</a:t>
            </a:r>
            <a:r>
              <a:rPr lang="en-US" sz="2800"/>
              <a:t>) messages per lookup (or even O(1))</a:t>
            </a:r>
          </a:p>
          <a:p>
            <a:r>
              <a:rPr lang="en-US" sz="2800"/>
              <a:t>Potentially complex routing state and maintenance.</a:t>
            </a:r>
          </a:p>
        </p:txBody>
      </p:sp>
    </p:spTree>
    <p:extLst>
      <p:ext uri="{BB962C8B-B14F-4D97-AF65-F5344CB8AC3E}">
        <p14:creationId xmlns:p14="http://schemas.microsoft.com/office/powerpoint/2010/main" val="387533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53244" y="152400"/>
            <a:ext cx="8534400" cy="685800"/>
          </a:xfrm>
        </p:spPr>
        <p:txBody>
          <a:bodyPr/>
          <a:lstStyle/>
          <a:p>
            <a:r>
              <a:rPr lang="en-US" dirty="0" smtClean="0"/>
              <a:t>Consistent hashing [</a:t>
            </a:r>
            <a:r>
              <a:rPr lang="en-US" dirty="0" err="1" smtClean="0"/>
              <a:t>Karger</a:t>
            </a:r>
            <a:r>
              <a:rPr lang="en-US" dirty="0" smtClean="0"/>
              <a:t> 97]</a:t>
            </a:r>
          </a:p>
        </p:txBody>
      </p:sp>
      <p:sp>
        <p:nvSpPr>
          <p:cNvPr id="14339" name="Oval 3"/>
          <p:cNvSpPr>
            <a:spLocks noChangeArrowheads="1"/>
          </p:cNvSpPr>
          <p:nvPr/>
        </p:nvSpPr>
        <p:spPr bwMode="auto">
          <a:xfrm>
            <a:off x="2667000" y="1371600"/>
            <a:ext cx="3810000" cy="3810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6561138" y="3048000"/>
            <a:ext cx="7540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400">
                <a:solidFill>
                  <a:schemeClr val="accent2"/>
                </a:solidFill>
                <a:latin typeface="Helvetica" pitchFamily="34" charset="0"/>
              </a:rPr>
              <a:t>N32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2057400" y="4105275"/>
            <a:ext cx="754063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400">
                <a:solidFill>
                  <a:schemeClr val="accent2"/>
                </a:solidFill>
                <a:latin typeface="Helvetica" pitchFamily="34" charset="0"/>
              </a:rPr>
              <a:t>N90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2057400" y="1676400"/>
            <a:ext cx="9239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400">
                <a:solidFill>
                  <a:schemeClr val="accent2"/>
                </a:solidFill>
                <a:latin typeface="Helvetica" pitchFamily="34" charset="0"/>
              </a:rPr>
              <a:t>N105</a:t>
            </a: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2895600" y="4953000"/>
            <a:ext cx="727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400">
                <a:solidFill>
                  <a:srgbClr val="00BE00"/>
                </a:solidFill>
                <a:latin typeface="Helvetica" pitchFamily="34" charset="0"/>
              </a:rPr>
              <a:t>K80</a:t>
            </a: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5943600" y="1676400"/>
            <a:ext cx="727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400">
                <a:solidFill>
                  <a:srgbClr val="00BE00"/>
                </a:solidFill>
                <a:latin typeface="Helvetica" pitchFamily="34" charset="0"/>
              </a:rPr>
              <a:t>K20</a:t>
            </a: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4572000" y="914400"/>
            <a:ext cx="557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400">
                <a:solidFill>
                  <a:srgbClr val="00BE00"/>
                </a:solidFill>
                <a:latin typeface="Helvetica" pitchFamily="34" charset="0"/>
              </a:rPr>
              <a:t>K5</a:t>
            </a:r>
          </a:p>
        </p:txBody>
      </p:sp>
      <p:sp>
        <p:nvSpPr>
          <p:cNvPr id="14346" name="Text Box 11"/>
          <p:cNvSpPr txBox="1">
            <a:spLocks noChangeArrowheads="1"/>
          </p:cNvSpPr>
          <p:nvPr/>
        </p:nvSpPr>
        <p:spPr bwMode="auto">
          <a:xfrm>
            <a:off x="3262313" y="2827338"/>
            <a:ext cx="2630487" cy="75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400"/>
              <a:t>Circular 160-bit</a:t>
            </a:r>
          </a:p>
          <a:p>
            <a:r>
              <a:rPr lang="en-US" sz="2400"/>
              <a:t>ID space</a:t>
            </a:r>
          </a:p>
        </p:txBody>
      </p:sp>
      <p:sp>
        <p:nvSpPr>
          <p:cNvPr id="14347" name="Line 18"/>
          <p:cNvSpPr>
            <a:spLocks noChangeShapeType="1"/>
          </p:cNvSpPr>
          <p:nvPr/>
        </p:nvSpPr>
        <p:spPr bwMode="auto">
          <a:xfrm flipH="1" flipV="1">
            <a:off x="2819400" y="46482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4348" name="Text Box 19"/>
          <p:cNvSpPr txBox="1">
            <a:spLocks noChangeArrowheads="1"/>
          </p:cNvSpPr>
          <p:nvPr/>
        </p:nvSpPr>
        <p:spPr bwMode="auto">
          <a:xfrm>
            <a:off x="3006725" y="838200"/>
            <a:ext cx="89376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000"/>
              <a:t>Key 5</a:t>
            </a:r>
          </a:p>
        </p:txBody>
      </p:sp>
      <p:sp>
        <p:nvSpPr>
          <p:cNvPr id="14349" name="Line 20"/>
          <p:cNvSpPr>
            <a:spLocks noChangeShapeType="1"/>
          </p:cNvSpPr>
          <p:nvPr/>
        </p:nvSpPr>
        <p:spPr bwMode="auto">
          <a:xfrm>
            <a:off x="3810000" y="1066800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0" name="Text Box 21"/>
          <p:cNvSpPr txBox="1">
            <a:spLocks noChangeArrowheads="1"/>
          </p:cNvSpPr>
          <p:nvPr/>
        </p:nvSpPr>
        <p:spPr bwMode="auto">
          <a:xfrm>
            <a:off x="157163" y="1143000"/>
            <a:ext cx="1401762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000"/>
              <a:t>Node 105</a:t>
            </a:r>
          </a:p>
        </p:txBody>
      </p:sp>
      <p:sp>
        <p:nvSpPr>
          <p:cNvPr id="14351" name="Line 22"/>
          <p:cNvSpPr>
            <a:spLocks noChangeShapeType="1"/>
          </p:cNvSpPr>
          <p:nvPr/>
        </p:nvSpPr>
        <p:spPr bwMode="auto">
          <a:xfrm>
            <a:off x="1447800" y="14478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4352" name="Text Box 23"/>
          <p:cNvSpPr txBox="1">
            <a:spLocks noChangeArrowheads="1"/>
          </p:cNvSpPr>
          <p:nvPr/>
        </p:nvSpPr>
        <p:spPr bwMode="auto">
          <a:xfrm>
            <a:off x="157163" y="5638800"/>
            <a:ext cx="7885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16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400" dirty="0"/>
              <a:t>A key is stored at its </a:t>
            </a:r>
            <a:r>
              <a:rPr lang="en-US" sz="2400" dirty="0">
                <a:solidFill>
                  <a:srgbClr val="FF0000"/>
                </a:solidFill>
              </a:rPr>
              <a:t>successor</a:t>
            </a:r>
            <a:r>
              <a:rPr lang="en-US" sz="2400" dirty="0"/>
              <a:t>: node with next higher ID</a:t>
            </a:r>
          </a:p>
        </p:txBody>
      </p:sp>
      <p:sp>
        <p:nvSpPr>
          <p:cNvPr id="14353" name="Arc 26"/>
          <p:cNvSpPr>
            <a:spLocks/>
          </p:cNvSpPr>
          <p:nvPr/>
        </p:nvSpPr>
        <p:spPr bwMode="auto">
          <a:xfrm>
            <a:off x="5029200" y="1066800"/>
            <a:ext cx="2133600" cy="1981200"/>
          </a:xfrm>
          <a:custGeom>
            <a:avLst/>
            <a:gdLst>
              <a:gd name="T0" fmla="*/ 0 w 21600"/>
              <a:gd name="T1" fmla="*/ 0 h 21600"/>
              <a:gd name="T2" fmla="*/ 2133600 w 21600"/>
              <a:gd name="T3" fmla="*/ 1981200 h 21600"/>
              <a:gd name="T4" fmla="*/ 0 w 21600"/>
              <a:gd name="T5" fmla="*/ 19812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54" name="Arc 27"/>
          <p:cNvSpPr>
            <a:spLocks/>
          </p:cNvSpPr>
          <p:nvPr/>
        </p:nvSpPr>
        <p:spPr bwMode="auto">
          <a:xfrm>
            <a:off x="6324600" y="2057400"/>
            <a:ext cx="457200" cy="914400"/>
          </a:xfrm>
          <a:custGeom>
            <a:avLst/>
            <a:gdLst>
              <a:gd name="T0" fmla="*/ 0 w 21600"/>
              <a:gd name="T1" fmla="*/ 0 h 21600"/>
              <a:gd name="T2" fmla="*/ 457200 w 21600"/>
              <a:gd name="T3" fmla="*/ 914400 h 21600"/>
              <a:gd name="T4" fmla="*/ 0 w 21600"/>
              <a:gd name="T5" fmla="*/ 9144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8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30159" y="193750"/>
            <a:ext cx="7772400" cy="609600"/>
          </a:xfrm>
        </p:spPr>
        <p:txBody>
          <a:bodyPr/>
          <a:lstStyle/>
          <a:p>
            <a:r>
              <a:rPr lang="en-US" dirty="0" smtClean="0"/>
              <a:t>Lookup with Leaf Set</a:t>
            </a:r>
          </a:p>
        </p:txBody>
      </p:sp>
      <p:grpSp>
        <p:nvGrpSpPr>
          <p:cNvPr id="9318" name="Group 102"/>
          <p:cNvGrpSpPr>
            <a:grpSpLocks/>
          </p:cNvGrpSpPr>
          <p:nvPr/>
        </p:nvGrpSpPr>
        <p:grpSpPr bwMode="auto">
          <a:xfrm>
            <a:off x="4705350" y="1647900"/>
            <a:ext cx="3240088" cy="3870325"/>
            <a:chOff x="1584" y="819"/>
            <a:chExt cx="2650" cy="3165"/>
          </a:xfrm>
        </p:grpSpPr>
        <p:sp>
          <p:nvSpPr>
            <p:cNvPr id="27711" name="Freeform 4"/>
            <p:cNvSpPr>
              <a:spLocks/>
            </p:cNvSpPr>
            <p:nvPr/>
          </p:nvSpPr>
          <p:spPr bwMode="auto">
            <a:xfrm>
              <a:off x="2505" y="926"/>
              <a:ext cx="318" cy="245"/>
            </a:xfrm>
            <a:custGeom>
              <a:avLst/>
              <a:gdLst>
                <a:gd name="T0" fmla="*/ 0 w 288"/>
                <a:gd name="T1" fmla="*/ 245 h 222"/>
                <a:gd name="T2" fmla="*/ 13 w 288"/>
                <a:gd name="T3" fmla="*/ 86 h 222"/>
                <a:gd name="T4" fmla="*/ 73 w 288"/>
                <a:gd name="T5" fmla="*/ 13 h 222"/>
                <a:gd name="T6" fmla="*/ 179 w 288"/>
                <a:gd name="T7" fmla="*/ 0 h 222"/>
                <a:gd name="T8" fmla="*/ 272 w 288"/>
                <a:gd name="T9" fmla="*/ 20 h 222"/>
                <a:gd name="T10" fmla="*/ 318 w 288"/>
                <a:gd name="T11" fmla="*/ 113 h 2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8" h="222">
                  <a:moveTo>
                    <a:pt x="0" y="222"/>
                  </a:moveTo>
                  <a:lnTo>
                    <a:pt x="12" y="78"/>
                  </a:lnTo>
                  <a:lnTo>
                    <a:pt x="66" y="12"/>
                  </a:lnTo>
                  <a:lnTo>
                    <a:pt x="162" y="0"/>
                  </a:lnTo>
                  <a:lnTo>
                    <a:pt x="246" y="18"/>
                  </a:lnTo>
                  <a:lnTo>
                    <a:pt x="288" y="102"/>
                  </a:lnTo>
                </a:path>
              </a:pathLst>
            </a:custGeom>
            <a:noFill/>
            <a:ln w="25400">
              <a:solidFill>
                <a:srgbClr val="00FF00"/>
              </a:solidFill>
              <a:round/>
              <a:headEnd type="none" w="med" len="med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2" name="Freeform 6"/>
            <p:cNvSpPr>
              <a:spLocks/>
            </p:cNvSpPr>
            <p:nvPr/>
          </p:nvSpPr>
          <p:spPr bwMode="auto">
            <a:xfrm>
              <a:off x="1584" y="2533"/>
              <a:ext cx="1431" cy="3"/>
            </a:xfrm>
            <a:custGeom>
              <a:avLst/>
              <a:gdLst>
                <a:gd name="T0" fmla="*/ 0 w 1296"/>
                <a:gd name="T1" fmla="*/ 3 h 2"/>
                <a:gd name="T2" fmla="*/ 1431 w 1296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96" h="2">
                  <a:moveTo>
                    <a:pt x="0" y="2"/>
                  </a:moveTo>
                  <a:lnTo>
                    <a:pt x="129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3" name="Line 7"/>
            <p:cNvSpPr>
              <a:spLocks noChangeShapeType="1"/>
            </p:cNvSpPr>
            <p:nvPr/>
          </p:nvSpPr>
          <p:spPr bwMode="auto">
            <a:xfrm flipH="1" flipV="1">
              <a:off x="2007" y="1529"/>
              <a:ext cx="1008" cy="10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4" name="Freeform 11"/>
            <p:cNvSpPr>
              <a:spLocks/>
            </p:cNvSpPr>
            <p:nvPr/>
          </p:nvSpPr>
          <p:spPr bwMode="auto">
            <a:xfrm>
              <a:off x="2041" y="1084"/>
              <a:ext cx="444" cy="318"/>
            </a:xfrm>
            <a:custGeom>
              <a:avLst/>
              <a:gdLst>
                <a:gd name="T0" fmla="*/ 444 w 402"/>
                <a:gd name="T1" fmla="*/ 73 h 288"/>
                <a:gd name="T2" fmla="*/ 278 w 402"/>
                <a:gd name="T3" fmla="*/ 0 h 288"/>
                <a:gd name="T4" fmla="*/ 113 w 402"/>
                <a:gd name="T5" fmla="*/ 46 h 288"/>
                <a:gd name="T6" fmla="*/ 0 w 402"/>
                <a:gd name="T7" fmla="*/ 166 h 288"/>
                <a:gd name="T8" fmla="*/ 7 w 402"/>
                <a:gd name="T9" fmla="*/ 318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2" h="288">
                  <a:moveTo>
                    <a:pt x="402" y="66"/>
                  </a:moveTo>
                  <a:lnTo>
                    <a:pt x="252" y="0"/>
                  </a:lnTo>
                  <a:lnTo>
                    <a:pt x="102" y="42"/>
                  </a:lnTo>
                  <a:lnTo>
                    <a:pt x="0" y="150"/>
                  </a:lnTo>
                  <a:lnTo>
                    <a:pt x="6" y="288"/>
                  </a:lnTo>
                </a:path>
              </a:pathLst>
            </a:custGeom>
            <a:noFill/>
            <a:ln w="25400">
              <a:solidFill>
                <a:srgbClr val="00FF00"/>
              </a:solidFill>
              <a:round/>
              <a:headEnd type="none" w="med" len="med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5" name="Line 8"/>
            <p:cNvSpPr>
              <a:spLocks noChangeShapeType="1"/>
            </p:cNvSpPr>
            <p:nvPr/>
          </p:nvSpPr>
          <p:spPr bwMode="auto">
            <a:xfrm>
              <a:off x="2538" y="1210"/>
              <a:ext cx="1696" cy="69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6" name="Line 9"/>
            <p:cNvSpPr>
              <a:spLocks noChangeShapeType="1"/>
            </p:cNvSpPr>
            <p:nvPr/>
          </p:nvSpPr>
          <p:spPr bwMode="auto">
            <a:xfrm flipH="1">
              <a:off x="2007" y="1210"/>
              <a:ext cx="531" cy="22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7" name="Line 10"/>
            <p:cNvSpPr>
              <a:spLocks noChangeShapeType="1"/>
            </p:cNvSpPr>
            <p:nvPr/>
          </p:nvSpPr>
          <p:spPr bwMode="auto">
            <a:xfrm flipH="1">
              <a:off x="1742" y="1210"/>
              <a:ext cx="796" cy="74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8" name="Line 51"/>
            <p:cNvSpPr>
              <a:spLocks noChangeShapeType="1"/>
            </p:cNvSpPr>
            <p:nvPr/>
          </p:nvSpPr>
          <p:spPr bwMode="auto">
            <a:xfrm>
              <a:off x="3017" y="1104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19" name="Freeform 100"/>
            <p:cNvSpPr>
              <a:spLocks/>
            </p:cNvSpPr>
            <p:nvPr/>
          </p:nvSpPr>
          <p:spPr bwMode="auto">
            <a:xfrm>
              <a:off x="1749" y="1074"/>
              <a:ext cx="747" cy="684"/>
            </a:xfrm>
            <a:custGeom>
              <a:avLst/>
              <a:gdLst>
                <a:gd name="T0" fmla="*/ 747 w 747"/>
                <a:gd name="T1" fmla="*/ 73 h 684"/>
                <a:gd name="T2" fmla="*/ 581 w 747"/>
                <a:gd name="T3" fmla="*/ 0 h 684"/>
                <a:gd name="T4" fmla="*/ 307 w 747"/>
                <a:gd name="T5" fmla="*/ 5 h 684"/>
                <a:gd name="T6" fmla="*/ 83 w 747"/>
                <a:gd name="T7" fmla="*/ 247 h 684"/>
                <a:gd name="T8" fmla="*/ 0 w 747"/>
                <a:gd name="T9" fmla="*/ 684 h 6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7" h="684">
                  <a:moveTo>
                    <a:pt x="747" y="73"/>
                  </a:moveTo>
                  <a:lnTo>
                    <a:pt x="581" y="0"/>
                  </a:lnTo>
                  <a:lnTo>
                    <a:pt x="307" y="5"/>
                  </a:lnTo>
                  <a:lnTo>
                    <a:pt x="83" y="247"/>
                  </a:lnTo>
                  <a:lnTo>
                    <a:pt x="0" y="684"/>
                  </a:lnTo>
                </a:path>
              </a:pathLst>
            </a:custGeom>
            <a:noFill/>
            <a:ln w="25400">
              <a:solidFill>
                <a:srgbClr val="00FF00"/>
              </a:solidFill>
              <a:round/>
              <a:headEnd type="none" w="med" len="med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0" name="Freeform 101"/>
            <p:cNvSpPr>
              <a:spLocks/>
            </p:cNvSpPr>
            <p:nvPr/>
          </p:nvSpPr>
          <p:spPr bwMode="auto">
            <a:xfrm>
              <a:off x="2493" y="819"/>
              <a:ext cx="511" cy="338"/>
            </a:xfrm>
            <a:custGeom>
              <a:avLst/>
              <a:gdLst>
                <a:gd name="T0" fmla="*/ 21 w 511"/>
                <a:gd name="T1" fmla="*/ 338 h 338"/>
                <a:gd name="T2" fmla="*/ 0 w 511"/>
                <a:gd name="T3" fmla="*/ 167 h 338"/>
                <a:gd name="T4" fmla="*/ 28 w 511"/>
                <a:gd name="T5" fmla="*/ 46 h 338"/>
                <a:gd name="T6" fmla="*/ 158 w 511"/>
                <a:gd name="T7" fmla="*/ 0 h 338"/>
                <a:gd name="T8" fmla="*/ 363 w 511"/>
                <a:gd name="T9" fmla="*/ 37 h 338"/>
                <a:gd name="T10" fmla="*/ 511 w 511"/>
                <a:gd name="T11" fmla="*/ 195 h 3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1" h="338">
                  <a:moveTo>
                    <a:pt x="21" y="338"/>
                  </a:moveTo>
                  <a:lnTo>
                    <a:pt x="0" y="167"/>
                  </a:lnTo>
                  <a:lnTo>
                    <a:pt x="28" y="46"/>
                  </a:lnTo>
                  <a:lnTo>
                    <a:pt x="158" y="0"/>
                  </a:lnTo>
                  <a:lnTo>
                    <a:pt x="363" y="37"/>
                  </a:lnTo>
                  <a:lnTo>
                    <a:pt x="511" y="195"/>
                  </a:lnTo>
                </a:path>
              </a:pathLst>
            </a:custGeom>
            <a:noFill/>
            <a:ln w="25400">
              <a:solidFill>
                <a:srgbClr val="00FF00"/>
              </a:solidFill>
              <a:round/>
              <a:headEnd type="none" w="med" len="med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91" name="Group 75"/>
          <p:cNvGrpSpPr>
            <a:grpSpLocks/>
          </p:cNvGrpSpPr>
          <p:nvPr/>
        </p:nvGrpSpPr>
        <p:grpSpPr bwMode="auto">
          <a:xfrm>
            <a:off x="4705350" y="2114625"/>
            <a:ext cx="3584575" cy="3403600"/>
            <a:chOff x="1584" y="1200"/>
            <a:chExt cx="2931" cy="2784"/>
          </a:xfrm>
        </p:grpSpPr>
        <p:sp>
          <p:nvSpPr>
            <p:cNvPr id="27703" name="Line 64"/>
            <p:cNvSpPr>
              <a:spLocks noChangeShapeType="1"/>
            </p:cNvSpPr>
            <p:nvPr/>
          </p:nvSpPr>
          <p:spPr bwMode="auto">
            <a:xfrm flipH="1" flipV="1">
              <a:off x="1728" y="2832"/>
              <a:ext cx="2352" cy="62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4" name="Line 65"/>
            <p:cNvSpPr>
              <a:spLocks noChangeShapeType="1"/>
            </p:cNvSpPr>
            <p:nvPr/>
          </p:nvSpPr>
          <p:spPr bwMode="auto">
            <a:xfrm flipH="1" flipV="1">
              <a:off x="2880" y="1200"/>
              <a:ext cx="1200" cy="225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5" name="Line 66"/>
            <p:cNvSpPr>
              <a:spLocks noChangeShapeType="1"/>
            </p:cNvSpPr>
            <p:nvPr/>
          </p:nvSpPr>
          <p:spPr bwMode="auto">
            <a:xfrm flipH="1">
              <a:off x="3408" y="3456"/>
              <a:ext cx="672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6" name="Freeform 67"/>
            <p:cNvSpPr>
              <a:spLocks/>
            </p:cNvSpPr>
            <p:nvPr/>
          </p:nvSpPr>
          <p:spPr bwMode="auto">
            <a:xfrm>
              <a:off x="3810" y="3456"/>
              <a:ext cx="419" cy="353"/>
            </a:xfrm>
            <a:custGeom>
              <a:avLst/>
              <a:gdLst>
                <a:gd name="T0" fmla="*/ 270 w 419"/>
                <a:gd name="T1" fmla="*/ 0 h 353"/>
                <a:gd name="T2" fmla="*/ 419 w 419"/>
                <a:gd name="T3" fmla="*/ 163 h 353"/>
                <a:gd name="T4" fmla="*/ 305 w 419"/>
                <a:gd name="T5" fmla="*/ 353 h 353"/>
                <a:gd name="T6" fmla="*/ 0 w 419"/>
                <a:gd name="T7" fmla="*/ 353 h 3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9" h="353">
                  <a:moveTo>
                    <a:pt x="270" y="0"/>
                  </a:moveTo>
                  <a:lnTo>
                    <a:pt x="419" y="163"/>
                  </a:lnTo>
                  <a:lnTo>
                    <a:pt x="305" y="353"/>
                  </a:lnTo>
                  <a:lnTo>
                    <a:pt x="0" y="353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7" name="Freeform 68"/>
            <p:cNvSpPr>
              <a:spLocks/>
            </p:cNvSpPr>
            <p:nvPr/>
          </p:nvSpPr>
          <p:spPr bwMode="auto">
            <a:xfrm>
              <a:off x="4067" y="3274"/>
              <a:ext cx="448" cy="278"/>
            </a:xfrm>
            <a:custGeom>
              <a:avLst/>
              <a:gdLst>
                <a:gd name="T0" fmla="*/ 0 w 448"/>
                <a:gd name="T1" fmla="*/ 202 h 278"/>
                <a:gd name="T2" fmla="*/ 295 w 448"/>
                <a:gd name="T3" fmla="*/ 278 h 278"/>
                <a:gd name="T4" fmla="*/ 448 w 448"/>
                <a:gd name="T5" fmla="*/ 192 h 278"/>
                <a:gd name="T6" fmla="*/ 438 w 448"/>
                <a:gd name="T7" fmla="*/ 78 h 278"/>
                <a:gd name="T8" fmla="*/ 253 w 448"/>
                <a:gd name="T9" fmla="*/ 0 h 2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8" h="278">
                  <a:moveTo>
                    <a:pt x="0" y="202"/>
                  </a:moveTo>
                  <a:lnTo>
                    <a:pt x="295" y="278"/>
                  </a:lnTo>
                  <a:lnTo>
                    <a:pt x="448" y="192"/>
                  </a:lnTo>
                  <a:lnTo>
                    <a:pt x="438" y="78"/>
                  </a:lnTo>
                  <a:lnTo>
                    <a:pt x="253" y="0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8" name="Line 72"/>
            <p:cNvSpPr>
              <a:spLocks noChangeShapeType="1"/>
            </p:cNvSpPr>
            <p:nvPr/>
          </p:nvSpPr>
          <p:spPr bwMode="auto">
            <a:xfrm>
              <a:off x="3024" y="2544"/>
              <a:ext cx="100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9" name="Line 73"/>
            <p:cNvSpPr>
              <a:spLocks noChangeShapeType="1"/>
            </p:cNvSpPr>
            <p:nvPr/>
          </p:nvSpPr>
          <p:spPr bwMode="auto">
            <a:xfrm>
              <a:off x="3024" y="254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10" name="Line 74"/>
            <p:cNvSpPr>
              <a:spLocks noChangeShapeType="1"/>
            </p:cNvSpPr>
            <p:nvPr/>
          </p:nvSpPr>
          <p:spPr bwMode="auto">
            <a:xfrm>
              <a:off x="1584" y="2544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78" name="Group 62"/>
          <p:cNvGrpSpPr>
            <a:grpSpLocks/>
          </p:cNvGrpSpPr>
          <p:nvPr/>
        </p:nvGrpSpPr>
        <p:grpSpPr bwMode="auto">
          <a:xfrm>
            <a:off x="4940300" y="1998737"/>
            <a:ext cx="3611563" cy="3498850"/>
            <a:chOff x="1776" y="1105"/>
            <a:chExt cx="2954" cy="2863"/>
          </a:xfrm>
        </p:grpSpPr>
        <p:sp>
          <p:nvSpPr>
            <p:cNvPr id="27695" name="Line 53"/>
            <p:cNvSpPr>
              <a:spLocks noChangeShapeType="1"/>
            </p:cNvSpPr>
            <p:nvPr/>
          </p:nvSpPr>
          <p:spPr bwMode="auto">
            <a:xfrm flipH="1">
              <a:off x="4080" y="1920"/>
              <a:ext cx="240" cy="14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6" name="Line 55"/>
            <p:cNvSpPr>
              <a:spLocks noChangeShapeType="1"/>
            </p:cNvSpPr>
            <p:nvPr/>
          </p:nvSpPr>
          <p:spPr bwMode="auto">
            <a:xfrm flipH="1">
              <a:off x="1776" y="1920"/>
              <a:ext cx="2544" cy="115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7" name="Line 56"/>
            <p:cNvSpPr>
              <a:spLocks noChangeShapeType="1"/>
            </p:cNvSpPr>
            <p:nvPr/>
          </p:nvSpPr>
          <p:spPr bwMode="auto">
            <a:xfrm flipH="1" flipV="1">
              <a:off x="3504" y="1248"/>
              <a:ext cx="816" cy="6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8" name="Freeform 57"/>
            <p:cNvSpPr>
              <a:spLocks/>
            </p:cNvSpPr>
            <p:nvPr/>
          </p:nvSpPr>
          <p:spPr bwMode="auto">
            <a:xfrm>
              <a:off x="4320" y="1920"/>
              <a:ext cx="410" cy="672"/>
            </a:xfrm>
            <a:custGeom>
              <a:avLst/>
              <a:gdLst>
                <a:gd name="T0" fmla="*/ 0 w 410"/>
                <a:gd name="T1" fmla="*/ 0 h 672"/>
                <a:gd name="T2" fmla="*/ 359 w 410"/>
                <a:gd name="T3" fmla="*/ 146 h 672"/>
                <a:gd name="T4" fmla="*/ 410 w 410"/>
                <a:gd name="T5" fmla="*/ 409 h 672"/>
                <a:gd name="T6" fmla="*/ 207 w 410"/>
                <a:gd name="T7" fmla="*/ 672 h 6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0" h="672">
                  <a:moveTo>
                    <a:pt x="0" y="0"/>
                  </a:moveTo>
                  <a:lnTo>
                    <a:pt x="359" y="146"/>
                  </a:lnTo>
                  <a:lnTo>
                    <a:pt x="410" y="409"/>
                  </a:lnTo>
                  <a:lnTo>
                    <a:pt x="207" y="672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9" name="Freeform 58"/>
            <p:cNvSpPr>
              <a:spLocks/>
            </p:cNvSpPr>
            <p:nvPr/>
          </p:nvSpPr>
          <p:spPr bwMode="auto">
            <a:xfrm>
              <a:off x="4112" y="1499"/>
              <a:ext cx="425" cy="425"/>
            </a:xfrm>
            <a:custGeom>
              <a:avLst/>
              <a:gdLst>
                <a:gd name="T0" fmla="*/ 223 w 425"/>
                <a:gd name="T1" fmla="*/ 425 h 425"/>
                <a:gd name="T2" fmla="*/ 425 w 425"/>
                <a:gd name="T3" fmla="*/ 293 h 425"/>
                <a:gd name="T4" fmla="*/ 425 w 425"/>
                <a:gd name="T5" fmla="*/ 71 h 425"/>
                <a:gd name="T6" fmla="*/ 243 w 425"/>
                <a:gd name="T7" fmla="*/ 0 h 425"/>
                <a:gd name="T8" fmla="*/ 0 w 425"/>
                <a:gd name="T9" fmla="*/ 10 h 4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5" h="425">
                  <a:moveTo>
                    <a:pt x="223" y="425"/>
                  </a:moveTo>
                  <a:lnTo>
                    <a:pt x="425" y="293"/>
                  </a:lnTo>
                  <a:lnTo>
                    <a:pt x="425" y="71"/>
                  </a:lnTo>
                  <a:lnTo>
                    <a:pt x="243" y="0"/>
                  </a:lnTo>
                  <a:lnTo>
                    <a:pt x="0" y="10"/>
                  </a:lnTo>
                </a:path>
              </a:pathLst>
            </a:custGeom>
            <a:noFill/>
            <a:ln w="38100">
              <a:solidFill>
                <a:srgbClr val="00FF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0" name="Line 5"/>
            <p:cNvSpPr>
              <a:spLocks noChangeShapeType="1"/>
            </p:cNvSpPr>
            <p:nvPr/>
          </p:nvSpPr>
          <p:spPr bwMode="auto">
            <a:xfrm>
              <a:off x="3022" y="1105"/>
              <a:ext cx="0" cy="2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1" name="Line 50"/>
            <p:cNvSpPr>
              <a:spLocks noChangeShapeType="1"/>
            </p:cNvSpPr>
            <p:nvPr/>
          </p:nvSpPr>
          <p:spPr bwMode="auto">
            <a:xfrm>
              <a:off x="3024" y="2544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02" name="Line 52"/>
            <p:cNvSpPr>
              <a:spLocks noChangeShapeType="1"/>
            </p:cNvSpPr>
            <p:nvPr/>
          </p:nvSpPr>
          <p:spPr bwMode="auto">
            <a:xfrm flipV="1">
              <a:off x="3024" y="1536"/>
              <a:ext cx="1008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54" name="Group 42"/>
          <p:cNvGrpSpPr>
            <a:grpSpLocks/>
          </p:cNvGrpSpPr>
          <p:nvPr/>
        </p:nvGrpSpPr>
        <p:grpSpPr bwMode="auto">
          <a:xfrm>
            <a:off x="4679950" y="1933650"/>
            <a:ext cx="3606800" cy="3629025"/>
            <a:chOff x="1553" y="1052"/>
            <a:chExt cx="2949" cy="2969"/>
          </a:xfrm>
        </p:grpSpPr>
        <p:sp>
          <p:nvSpPr>
            <p:cNvPr id="27672" name="Oval 13"/>
            <p:cNvSpPr>
              <a:spLocks noChangeArrowheads="1"/>
            </p:cNvSpPr>
            <p:nvPr/>
          </p:nvSpPr>
          <p:spPr bwMode="auto">
            <a:xfrm>
              <a:off x="1593" y="1105"/>
              <a:ext cx="2863" cy="286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3" name="Oval 14"/>
            <p:cNvSpPr>
              <a:spLocks noChangeArrowheads="1"/>
            </p:cNvSpPr>
            <p:nvPr/>
          </p:nvSpPr>
          <p:spPr bwMode="auto">
            <a:xfrm>
              <a:off x="1553" y="2278"/>
              <a:ext cx="105" cy="1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4" name="Oval 15"/>
            <p:cNvSpPr>
              <a:spLocks noChangeArrowheads="1"/>
            </p:cNvSpPr>
            <p:nvPr/>
          </p:nvSpPr>
          <p:spPr bwMode="auto">
            <a:xfrm>
              <a:off x="1645" y="1954"/>
              <a:ext cx="106" cy="10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5" name="Oval 16"/>
            <p:cNvSpPr>
              <a:spLocks noChangeArrowheads="1"/>
            </p:cNvSpPr>
            <p:nvPr/>
          </p:nvSpPr>
          <p:spPr bwMode="auto">
            <a:xfrm>
              <a:off x="1559" y="2748"/>
              <a:ext cx="106" cy="1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6" name="Oval 17"/>
            <p:cNvSpPr>
              <a:spLocks noChangeArrowheads="1"/>
            </p:cNvSpPr>
            <p:nvPr/>
          </p:nvSpPr>
          <p:spPr bwMode="auto">
            <a:xfrm>
              <a:off x="1665" y="3067"/>
              <a:ext cx="107" cy="10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7" name="Oval 18"/>
            <p:cNvSpPr>
              <a:spLocks noChangeArrowheads="1"/>
            </p:cNvSpPr>
            <p:nvPr/>
          </p:nvSpPr>
          <p:spPr bwMode="auto">
            <a:xfrm>
              <a:off x="1970" y="3504"/>
              <a:ext cx="107" cy="1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8" name="Oval 19"/>
            <p:cNvSpPr>
              <a:spLocks noChangeArrowheads="1"/>
            </p:cNvSpPr>
            <p:nvPr/>
          </p:nvSpPr>
          <p:spPr bwMode="auto">
            <a:xfrm>
              <a:off x="2760" y="3895"/>
              <a:ext cx="105" cy="1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9" name="Oval 20"/>
            <p:cNvSpPr>
              <a:spLocks noChangeArrowheads="1"/>
            </p:cNvSpPr>
            <p:nvPr/>
          </p:nvSpPr>
          <p:spPr bwMode="auto">
            <a:xfrm>
              <a:off x="2958" y="3915"/>
              <a:ext cx="106" cy="1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0" name="Oval 21"/>
            <p:cNvSpPr>
              <a:spLocks noChangeArrowheads="1"/>
            </p:cNvSpPr>
            <p:nvPr/>
          </p:nvSpPr>
          <p:spPr bwMode="auto">
            <a:xfrm>
              <a:off x="3362" y="3869"/>
              <a:ext cx="106" cy="1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1" name="Oval 22"/>
            <p:cNvSpPr>
              <a:spLocks noChangeArrowheads="1"/>
            </p:cNvSpPr>
            <p:nvPr/>
          </p:nvSpPr>
          <p:spPr bwMode="auto">
            <a:xfrm>
              <a:off x="1712" y="1788"/>
              <a:ext cx="106" cy="10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2" name="Oval 23"/>
            <p:cNvSpPr>
              <a:spLocks noChangeArrowheads="1"/>
            </p:cNvSpPr>
            <p:nvPr/>
          </p:nvSpPr>
          <p:spPr bwMode="auto">
            <a:xfrm>
              <a:off x="2010" y="1417"/>
              <a:ext cx="106" cy="10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3" name="Oval 24"/>
            <p:cNvSpPr>
              <a:spLocks noChangeArrowheads="1"/>
            </p:cNvSpPr>
            <p:nvPr/>
          </p:nvSpPr>
          <p:spPr bwMode="auto">
            <a:xfrm>
              <a:off x="2812" y="1058"/>
              <a:ext cx="106" cy="1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4" name="Oval 25"/>
            <p:cNvSpPr>
              <a:spLocks noChangeArrowheads="1"/>
            </p:cNvSpPr>
            <p:nvPr/>
          </p:nvSpPr>
          <p:spPr bwMode="auto">
            <a:xfrm>
              <a:off x="2939" y="1052"/>
              <a:ext cx="105" cy="1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5" name="Oval 26"/>
            <p:cNvSpPr>
              <a:spLocks noChangeArrowheads="1"/>
            </p:cNvSpPr>
            <p:nvPr/>
          </p:nvSpPr>
          <p:spPr bwMode="auto">
            <a:xfrm>
              <a:off x="3415" y="1132"/>
              <a:ext cx="106" cy="1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6" name="Oval 27"/>
            <p:cNvSpPr>
              <a:spLocks noChangeArrowheads="1"/>
            </p:cNvSpPr>
            <p:nvPr/>
          </p:nvSpPr>
          <p:spPr bwMode="auto">
            <a:xfrm>
              <a:off x="3773" y="1297"/>
              <a:ext cx="106" cy="10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7" name="Oval 28"/>
            <p:cNvSpPr>
              <a:spLocks noChangeArrowheads="1"/>
            </p:cNvSpPr>
            <p:nvPr/>
          </p:nvSpPr>
          <p:spPr bwMode="auto">
            <a:xfrm>
              <a:off x="3999" y="1496"/>
              <a:ext cx="105" cy="1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8" name="Oval 29"/>
            <p:cNvSpPr>
              <a:spLocks noChangeArrowheads="1"/>
            </p:cNvSpPr>
            <p:nvPr/>
          </p:nvSpPr>
          <p:spPr bwMode="auto">
            <a:xfrm>
              <a:off x="4271" y="1887"/>
              <a:ext cx="105" cy="10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9" name="Oval 30"/>
            <p:cNvSpPr>
              <a:spLocks noChangeArrowheads="1"/>
            </p:cNvSpPr>
            <p:nvPr/>
          </p:nvSpPr>
          <p:spPr bwMode="auto">
            <a:xfrm>
              <a:off x="4397" y="2544"/>
              <a:ext cx="105" cy="10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0" name="Oval 31"/>
            <p:cNvSpPr>
              <a:spLocks noChangeArrowheads="1"/>
            </p:cNvSpPr>
            <p:nvPr/>
          </p:nvSpPr>
          <p:spPr bwMode="auto">
            <a:xfrm>
              <a:off x="4376" y="2736"/>
              <a:ext cx="107" cy="10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1" name="Oval 32"/>
            <p:cNvSpPr>
              <a:spLocks noChangeArrowheads="1"/>
            </p:cNvSpPr>
            <p:nvPr/>
          </p:nvSpPr>
          <p:spPr bwMode="auto">
            <a:xfrm>
              <a:off x="4204" y="3212"/>
              <a:ext cx="106" cy="10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2" name="Oval 33"/>
            <p:cNvSpPr>
              <a:spLocks noChangeArrowheads="1"/>
            </p:cNvSpPr>
            <p:nvPr/>
          </p:nvSpPr>
          <p:spPr bwMode="auto">
            <a:xfrm>
              <a:off x="4032" y="3431"/>
              <a:ext cx="106" cy="1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3" name="Oval 34"/>
            <p:cNvSpPr>
              <a:spLocks noChangeArrowheads="1"/>
            </p:cNvSpPr>
            <p:nvPr/>
          </p:nvSpPr>
          <p:spPr bwMode="auto">
            <a:xfrm>
              <a:off x="3721" y="3696"/>
              <a:ext cx="105" cy="10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4" name="Oval 35"/>
            <p:cNvSpPr>
              <a:spLocks noChangeArrowheads="1"/>
            </p:cNvSpPr>
            <p:nvPr/>
          </p:nvSpPr>
          <p:spPr bwMode="auto">
            <a:xfrm>
              <a:off x="2474" y="1145"/>
              <a:ext cx="107" cy="10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655" name="Group 60"/>
          <p:cNvGrpSpPr>
            <a:grpSpLocks/>
          </p:cNvGrpSpPr>
          <p:nvPr/>
        </p:nvGrpSpPr>
        <p:grpSpPr bwMode="auto">
          <a:xfrm>
            <a:off x="4064000" y="1703462"/>
            <a:ext cx="4462463" cy="3541713"/>
            <a:chOff x="1059" y="864"/>
            <a:chExt cx="3650" cy="2897"/>
          </a:xfrm>
        </p:grpSpPr>
        <p:sp>
          <p:nvSpPr>
            <p:cNvPr id="27668" name="Text Box 36"/>
            <p:cNvSpPr txBox="1">
              <a:spLocks noChangeArrowheads="1"/>
            </p:cNvSpPr>
            <p:nvPr/>
          </p:nvSpPr>
          <p:spPr bwMode="auto">
            <a:xfrm>
              <a:off x="4267" y="1607"/>
              <a:ext cx="442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r>
                <a:rPr lang="en-US" sz="1800">
                  <a:latin typeface="Arial" charset="0"/>
                </a:rPr>
                <a:t>0…</a:t>
              </a:r>
            </a:p>
          </p:txBody>
        </p:sp>
        <p:sp>
          <p:nvSpPr>
            <p:cNvPr id="27669" name="Text Box 37"/>
            <p:cNvSpPr txBox="1">
              <a:spLocks noChangeArrowheads="1"/>
            </p:cNvSpPr>
            <p:nvPr/>
          </p:nvSpPr>
          <p:spPr bwMode="auto">
            <a:xfrm>
              <a:off x="1429" y="3461"/>
              <a:ext cx="545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r>
                <a:rPr lang="en-US" sz="1800">
                  <a:latin typeface="Arial" charset="0"/>
                </a:rPr>
                <a:t>10…</a:t>
              </a:r>
            </a:p>
          </p:txBody>
        </p:sp>
        <p:sp>
          <p:nvSpPr>
            <p:cNvPr id="27670" name="Text Box 38"/>
            <p:cNvSpPr txBox="1">
              <a:spLocks noChangeArrowheads="1"/>
            </p:cNvSpPr>
            <p:nvPr/>
          </p:nvSpPr>
          <p:spPr bwMode="auto">
            <a:xfrm>
              <a:off x="1059" y="1791"/>
              <a:ext cx="649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r>
                <a:rPr lang="en-US" sz="1800">
                  <a:latin typeface="Arial" charset="0"/>
                </a:rPr>
                <a:t>110…</a:t>
              </a:r>
            </a:p>
          </p:txBody>
        </p:sp>
        <p:sp>
          <p:nvSpPr>
            <p:cNvPr id="27671" name="Text Box 39"/>
            <p:cNvSpPr txBox="1">
              <a:spLocks noChangeArrowheads="1"/>
            </p:cNvSpPr>
            <p:nvPr/>
          </p:nvSpPr>
          <p:spPr bwMode="auto">
            <a:xfrm>
              <a:off x="2047" y="864"/>
              <a:ext cx="649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r>
                <a:rPr lang="en-US" sz="1800">
                  <a:latin typeface="Arial" charset="0"/>
                </a:rPr>
                <a:t>111…</a:t>
              </a:r>
            </a:p>
          </p:txBody>
        </p:sp>
      </p:grpSp>
      <p:grpSp>
        <p:nvGrpSpPr>
          <p:cNvPr id="9323" name="Group 107"/>
          <p:cNvGrpSpPr>
            <a:grpSpLocks/>
          </p:cNvGrpSpPr>
          <p:nvPr/>
        </p:nvGrpSpPr>
        <p:grpSpPr bwMode="auto">
          <a:xfrm>
            <a:off x="4479925" y="803350"/>
            <a:ext cx="4359275" cy="5440362"/>
            <a:chOff x="2822" y="701"/>
            <a:chExt cx="2746" cy="3427"/>
          </a:xfrm>
        </p:grpSpPr>
        <p:sp>
          <p:nvSpPr>
            <p:cNvPr id="27664" name="Text Box 77"/>
            <p:cNvSpPr txBox="1">
              <a:spLocks noChangeArrowheads="1"/>
            </p:cNvSpPr>
            <p:nvPr/>
          </p:nvSpPr>
          <p:spPr bwMode="auto">
            <a:xfrm>
              <a:off x="4550" y="3840"/>
              <a:ext cx="10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>
                  <a:solidFill>
                    <a:srgbClr val="010BFF"/>
                  </a:solidFill>
                </a:rPr>
                <a:t>Lookup ID</a:t>
              </a:r>
            </a:p>
          </p:txBody>
        </p:sp>
        <p:sp>
          <p:nvSpPr>
            <p:cNvPr id="27665" name="Text Box 78"/>
            <p:cNvSpPr txBox="1">
              <a:spLocks noChangeArrowheads="1"/>
            </p:cNvSpPr>
            <p:nvPr/>
          </p:nvSpPr>
          <p:spPr bwMode="auto">
            <a:xfrm>
              <a:off x="2822" y="701"/>
              <a:ext cx="6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>
                  <a:solidFill>
                    <a:srgbClr val="010BFF"/>
                  </a:solidFill>
                </a:rPr>
                <a:t>Source</a:t>
              </a:r>
            </a:p>
          </p:txBody>
        </p:sp>
        <p:sp>
          <p:nvSpPr>
            <p:cNvPr id="27666" name="Line 79"/>
            <p:cNvSpPr>
              <a:spLocks noChangeShapeType="1"/>
            </p:cNvSpPr>
            <p:nvPr/>
          </p:nvSpPr>
          <p:spPr bwMode="auto">
            <a:xfrm flipH="1" flipV="1">
              <a:off x="3206" y="960"/>
              <a:ext cx="240" cy="31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7" name="Line 82"/>
            <p:cNvSpPr>
              <a:spLocks noChangeShapeType="1"/>
            </p:cNvSpPr>
            <p:nvPr/>
          </p:nvSpPr>
          <p:spPr bwMode="auto">
            <a:xfrm>
              <a:off x="4776" y="3449"/>
              <a:ext cx="206" cy="39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99" name="Freeform 83"/>
          <p:cNvSpPr>
            <a:spLocks/>
          </p:cNvSpPr>
          <p:nvPr/>
        </p:nvSpPr>
        <p:spPr bwMode="auto">
          <a:xfrm>
            <a:off x="5880100" y="2114625"/>
            <a:ext cx="2171700" cy="879475"/>
          </a:xfrm>
          <a:custGeom>
            <a:avLst/>
            <a:gdLst>
              <a:gd name="T0" fmla="*/ 2171700 w 1776"/>
              <a:gd name="T1" fmla="*/ 879475 h 720"/>
              <a:gd name="T2" fmla="*/ 1360981 w 1776"/>
              <a:gd name="T3" fmla="*/ 743889 h 720"/>
              <a:gd name="T4" fmla="*/ 685993 w 1776"/>
              <a:gd name="T5" fmla="*/ 442180 h 720"/>
              <a:gd name="T6" fmla="*/ 0 w 1776"/>
              <a:gd name="T7" fmla="*/ 0 h 7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76" h="720">
                <a:moveTo>
                  <a:pt x="1776" y="720"/>
                </a:moveTo>
                <a:lnTo>
                  <a:pt x="1113" y="609"/>
                </a:lnTo>
                <a:lnTo>
                  <a:pt x="561" y="362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0000FF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00" name="Freeform 84"/>
          <p:cNvSpPr>
            <a:spLocks/>
          </p:cNvSpPr>
          <p:nvPr/>
        </p:nvSpPr>
        <p:spPr bwMode="auto">
          <a:xfrm>
            <a:off x="7742238" y="2994100"/>
            <a:ext cx="309562" cy="1819275"/>
          </a:xfrm>
          <a:custGeom>
            <a:avLst/>
            <a:gdLst>
              <a:gd name="T0" fmla="*/ 15906 w 253"/>
              <a:gd name="T1" fmla="*/ 1819275 h 1488"/>
              <a:gd name="T2" fmla="*/ 0 w 253"/>
              <a:gd name="T3" fmla="*/ 1122375 h 1488"/>
              <a:gd name="T4" fmla="*/ 116239 w 253"/>
              <a:gd name="T5" fmla="*/ 504947 h 1488"/>
              <a:gd name="T6" fmla="*/ 309562 w 253"/>
              <a:gd name="T7" fmla="*/ 0 h 14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3" h="1488">
                <a:moveTo>
                  <a:pt x="13" y="1488"/>
                </a:moveTo>
                <a:lnTo>
                  <a:pt x="0" y="918"/>
                </a:lnTo>
                <a:lnTo>
                  <a:pt x="95" y="413"/>
                </a:lnTo>
                <a:lnTo>
                  <a:pt x="253" y="0"/>
                </a:lnTo>
              </a:path>
            </a:pathLst>
          </a:custGeom>
          <a:noFill/>
          <a:ln w="38100">
            <a:solidFill>
              <a:srgbClr val="0000FF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01" name="Freeform 85"/>
          <p:cNvSpPr>
            <a:spLocks/>
          </p:cNvSpPr>
          <p:nvPr/>
        </p:nvSpPr>
        <p:spPr bwMode="auto">
          <a:xfrm>
            <a:off x="7405688" y="4813375"/>
            <a:ext cx="352425" cy="352425"/>
          </a:xfrm>
          <a:custGeom>
            <a:avLst/>
            <a:gdLst>
              <a:gd name="T0" fmla="*/ 0 w 288"/>
              <a:gd name="T1" fmla="*/ 352425 h 288"/>
              <a:gd name="T2" fmla="*/ 22027 w 288"/>
              <a:gd name="T3" fmla="*/ 118699 h 288"/>
              <a:gd name="T4" fmla="*/ 150515 w 288"/>
              <a:gd name="T5" fmla="*/ 24474 h 288"/>
              <a:gd name="T6" fmla="*/ 352425 w 288"/>
              <a:gd name="T7" fmla="*/ 0 h 2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8" h="288">
                <a:moveTo>
                  <a:pt x="0" y="288"/>
                </a:moveTo>
                <a:lnTo>
                  <a:pt x="18" y="97"/>
                </a:lnTo>
                <a:lnTo>
                  <a:pt x="123" y="20"/>
                </a:lnTo>
                <a:lnTo>
                  <a:pt x="288" y="0"/>
                </a:lnTo>
              </a:path>
            </a:pathLst>
          </a:custGeom>
          <a:noFill/>
          <a:ln w="38100">
            <a:solidFill>
              <a:srgbClr val="0000FF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305" name="Group 89"/>
          <p:cNvGrpSpPr>
            <a:grpSpLocks/>
          </p:cNvGrpSpPr>
          <p:nvPr/>
        </p:nvGrpSpPr>
        <p:grpSpPr bwMode="auto">
          <a:xfrm>
            <a:off x="5880100" y="2232100"/>
            <a:ext cx="1466850" cy="2933700"/>
            <a:chOff x="2544" y="1296"/>
            <a:chExt cx="1200" cy="2400"/>
          </a:xfrm>
        </p:grpSpPr>
        <p:sp>
          <p:nvSpPr>
            <p:cNvPr id="27662" name="Line 86"/>
            <p:cNvSpPr>
              <a:spLocks noChangeShapeType="1"/>
            </p:cNvSpPr>
            <p:nvPr/>
          </p:nvSpPr>
          <p:spPr bwMode="auto">
            <a:xfrm>
              <a:off x="2544" y="1296"/>
              <a:ext cx="1200" cy="24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3" name="Text Box 88"/>
            <p:cNvSpPr txBox="1">
              <a:spLocks noChangeArrowheads="1"/>
            </p:cNvSpPr>
            <p:nvPr/>
          </p:nvSpPr>
          <p:spPr bwMode="auto">
            <a:xfrm rot="3737544">
              <a:off x="2373" y="2504"/>
              <a:ext cx="1148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defRPr sz="16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>
                  <a:solidFill>
                    <a:srgbClr val="010BFF"/>
                  </a:solidFill>
                </a:rPr>
                <a:t>Response</a:t>
              </a:r>
            </a:p>
          </p:txBody>
        </p:sp>
      </p:grpSp>
      <p:sp>
        <p:nvSpPr>
          <p:cNvPr id="9322" name="Rectangle 106"/>
          <p:cNvSpPr>
            <a:spLocks noGrp="1" noChangeArrowheads="1"/>
          </p:cNvSpPr>
          <p:nvPr>
            <p:ph type="body" idx="1"/>
          </p:nvPr>
        </p:nvSpPr>
        <p:spPr>
          <a:xfrm>
            <a:off x="152400" y="727149"/>
            <a:ext cx="4114800" cy="5673651"/>
          </a:xfrm>
          <a:noFill/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Assign IDs to nodes</a:t>
            </a:r>
          </a:p>
          <a:p>
            <a:pPr lvl="1"/>
            <a:r>
              <a:rPr lang="en-US" sz="2400" dirty="0" smtClean="0"/>
              <a:t>Map hash values to node with closest ID</a:t>
            </a:r>
          </a:p>
          <a:p>
            <a:r>
              <a:rPr lang="en-US" sz="2800" dirty="0" smtClean="0"/>
              <a:t>Leaf set is successors and predecessors</a:t>
            </a:r>
          </a:p>
          <a:p>
            <a:pPr lvl="1"/>
            <a:r>
              <a:rPr lang="en-US" sz="2400" dirty="0" smtClean="0"/>
              <a:t>All that’s needed for correctness</a:t>
            </a:r>
          </a:p>
          <a:p>
            <a:r>
              <a:rPr lang="en-US" sz="2800" dirty="0" smtClean="0"/>
              <a:t>Routing table matches successively longer prefixes</a:t>
            </a:r>
          </a:p>
          <a:p>
            <a:pPr lvl="1"/>
            <a:r>
              <a:rPr lang="en-US" sz="2400" dirty="0" smtClean="0"/>
              <a:t>Allows efficient lookups</a:t>
            </a:r>
          </a:p>
          <a:p>
            <a:r>
              <a:rPr lang="en-US" sz="2800" dirty="0" smtClean="0"/>
              <a:t>Data Replication:</a:t>
            </a:r>
          </a:p>
          <a:p>
            <a:pPr lvl="1"/>
            <a:r>
              <a:rPr lang="en-US" dirty="0" smtClean="0"/>
              <a:t>On leaf set</a:t>
            </a:r>
          </a:p>
        </p:txBody>
      </p:sp>
    </p:spTree>
    <p:extLst>
      <p:ext uri="{BB962C8B-B14F-4D97-AF65-F5344CB8AC3E}">
        <p14:creationId xmlns:p14="http://schemas.microsoft.com/office/powerpoint/2010/main" val="265845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3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3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99" grpId="0" animBg="1"/>
      <p:bldP spid="9300" grpId="0" animBg="1"/>
      <p:bldP spid="9301" grpId="0" animBg="1"/>
      <p:bldP spid="932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664" y="76200"/>
            <a:ext cx="8101940" cy="736600"/>
          </a:xfrm>
        </p:spPr>
        <p:txBody>
          <a:bodyPr/>
          <a:lstStyle/>
          <a:p>
            <a:r>
              <a:rPr lang="en-US" sz="2800" dirty="0" smtClean="0"/>
              <a:t>Advantages/Disadvantages of Consistent Hashing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934" y="967934"/>
            <a:ext cx="8768113" cy="5446152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Advantages:</a:t>
            </a:r>
          </a:p>
          <a:p>
            <a:pPr lvl="1"/>
            <a:r>
              <a:rPr lang="en-US" dirty="0" smtClean="0"/>
              <a:t>Automatically adapts data partitioning as node membership changes</a:t>
            </a:r>
          </a:p>
          <a:p>
            <a:pPr lvl="1"/>
            <a:r>
              <a:rPr lang="en-US" dirty="0" smtClean="0"/>
              <a:t>Node given random key value automatically “knows” how to participate in routing and data management</a:t>
            </a:r>
          </a:p>
          <a:p>
            <a:pPr lvl="1"/>
            <a:r>
              <a:rPr lang="en-US" dirty="0" smtClean="0"/>
              <a:t>Random key assignment gives approximation to load balance</a:t>
            </a:r>
            <a:endParaRPr lang="en-US" dirty="0"/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Uneven distribution of key storage natural consequence of random node names </a:t>
            </a:r>
            <a:r>
              <a:rPr lang="en-US" dirty="0" smtClean="0">
                <a:sym typeface="Symbol"/>
              </a:rPr>
              <a:t> Leads to uneven query load</a:t>
            </a:r>
            <a:endParaRPr lang="en-US" dirty="0" smtClean="0"/>
          </a:p>
          <a:p>
            <a:pPr lvl="1"/>
            <a:r>
              <a:rPr lang="en-US" dirty="0" smtClean="0"/>
              <a:t>Key management can be expensive when nodes transiently fail</a:t>
            </a:r>
          </a:p>
          <a:p>
            <a:pPr lvl="2"/>
            <a:r>
              <a:rPr lang="en-US" dirty="0" smtClean="0"/>
              <a:t>Assuming that we immediately respond to node failure, must transfer state to new node set</a:t>
            </a:r>
          </a:p>
          <a:p>
            <a:pPr lvl="2"/>
            <a:r>
              <a:rPr lang="en-US" dirty="0" smtClean="0"/>
              <a:t>Then when node returns, must transfer state back</a:t>
            </a:r>
          </a:p>
          <a:p>
            <a:pPr lvl="2"/>
            <a:r>
              <a:rPr lang="en-US" dirty="0" smtClean="0"/>
              <a:t>Can be a significant cost if transient failure common</a:t>
            </a:r>
          </a:p>
          <a:p>
            <a:r>
              <a:rPr lang="en-US" dirty="0" smtClean="0"/>
              <a:t>Disadvantages of “Scalable” routing algorithms</a:t>
            </a:r>
          </a:p>
          <a:p>
            <a:pPr lvl="1"/>
            <a:r>
              <a:rPr lang="en-US" dirty="0" smtClean="0"/>
              <a:t>More than one hop to find data </a:t>
            </a:r>
            <a:r>
              <a:rPr lang="en-US" dirty="0" smtClean="0">
                <a:sym typeface="Symbol"/>
              </a:rPr>
              <a:t> O(log N) or worse</a:t>
            </a:r>
          </a:p>
          <a:p>
            <a:pPr lvl="1"/>
            <a:r>
              <a:rPr lang="en-US" dirty="0" smtClean="0">
                <a:sym typeface="Symbol"/>
              </a:rPr>
              <a:t>Number of hops unpredictable and almost always &gt; 1</a:t>
            </a:r>
          </a:p>
          <a:p>
            <a:pPr lvl="2"/>
            <a:r>
              <a:rPr lang="en-US" dirty="0" smtClean="0">
                <a:sym typeface="Symbol"/>
              </a:rPr>
              <a:t>Node failure, randomness, </a:t>
            </a:r>
            <a:r>
              <a:rPr lang="en-US" dirty="0" err="1" smtClean="0">
                <a:sym typeface="Symbol"/>
              </a:rPr>
              <a:t>etc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407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52400"/>
            <a:ext cx="7772400" cy="990600"/>
          </a:xfrm>
        </p:spPr>
        <p:txBody>
          <a:bodyPr/>
          <a:lstStyle/>
          <a:p>
            <a:r>
              <a:rPr lang="en-US" dirty="0" smtClean="0"/>
              <a:t>Dynamo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766515" cy="5675142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Query Model – Simple interface exposed to application level</a:t>
            </a:r>
          </a:p>
          <a:p>
            <a:pPr lvl="1"/>
            <a:r>
              <a:rPr lang="en-US" dirty="0" smtClean="0"/>
              <a:t>Get(), Put()</a:t>
            </a:r>
          </a:p>
          <a:p>
            <a:pPr lvl="1"/>
            <a:r>
              <a:rPr lang="en-US" dirty="0" smtClean="0"/>
              <a:t>No Delete()</a:t>
            </a:r>
          </a:p>
          <a:p>
            <a:pPr lvl="1"/>
            <a:r>
              <a:rPr lang="en-US" dirty="0" smtClean="0"/>
              <a:t>No transactions, no complex queries</a:t>
            </a:r>
          </a:p>
          <a:p>
            <a:r>
              <a:rPr lang="en-US" dirty="0" smtClean="0"/>
              <a:t>Atomicity, Consistency, Isolation, Durability</a:t>
            </a:r>
          </a:p>
          <a:p>
            <a:pPr lvl="1"/>
            <a:r>
              <a:rPr lang="en-US" dirty="0" smtClean="0"/>
              <a:t>Operations either succeed or fail, no middle ground</a:t>
            </a:r>
          </a:p>
          <a:p>
            <a:pPr lvl="1"/>
            <a:r>
              <a:rPr lang="en-US" dirty="0" smtClean="0"/>
              <a:t>System will be eventually consistent, no sacrifice of availability to assure consistency</a:t>
            </a:r>
          </a:p>
          <a:p>
            <a:pPr lvl="1"/>
            <a:r>
              <a:rPr lang="en-US" dirty="0" smtClean="0"/>
              <a:t>Conflicts can occur while updates propagate through system</a:t>
            </a:r>
          </a:p>
          <a:p>
            <a:pPr lvl="1"/>
            <a:r>
              <a:rPr lang="en-US" dirty="0" smtClean="0"/>
              <a:t>System can still function while entire sections of network are down</a:t>
            </a:r>
          </a:p>
          <a:p>
            <a:r>
              <a:rPr lang="en-US" dirty="0" smtClean="0"/>
              <a:t>Efficiency – Measure system by the 99.9th percentile</a:t>
            </a:r>
          </a:p>
          <a:p>
            <a:pPr lvl="1"/>
            <a:r>
              <a:rPr lang="en-US" dirty="0" smtClean="0"/>
              <a:t>Important with millions of users, 0.1% can be in the 10,000s</a:t>
            </a:r>
          </a:p>
          <a:p>
            <a:r>
              <a:rPr lang="en-US" dirty="0" smtClean="0"/>
              <a:t>Non Hostile Environment  </a:t>
            </a:r>
          </a:p>
          <a:p>
            <a:pPr lvl="1"/>
            <a:r>
              <a:rPr lang="en-US" dirty="0" smtClean="0"/>
              <a:t>No need to authenticate query, no malicious queries</a:t>
            </a:r>
          </a:p>
          <a:p>
            <a:pPr lvl="1"/>
            <a:r>
              <a:rPr lang="en-US" dirty="0" smtClean="0"/>
              <a:t>Behind web services, not in front of them</a:t>
            </a:r>
          </a:p>
        </p:txBody>
      </p:sp>
    </p:spTree>
    <p:extLst>
      <p:ext uri="{BB962C8B-B14F-4D97-AF65-F5344CB8AC3E}">
        <p14:creationId xmlns:p14="http://schemas.microsoft.com/office/powerpoint/2010/main" val="3918641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Service Level Agreements (SLA)</a:t>
            </a:r>
            <a:endParaRPr lang="en-US" sz="3600" dirty="0"/>
          </a:p>
        </p:txBody>
      </p:sp>
      <p:sp>
        <p:nvSpPr>
          <p:cNvPr id="5089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9489" y="1193800"/>
            <a:ext cx="4684542" cy="4927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Application can deliver its functionality in a bounded time: </a:t>
            </a:r>
          </a:p>
          <a:p>
            <a:pPr lvl="1"/>
            <a:r>
              <a:rPr lang="en-US" dirty="0" smtClean="0"/>
              <a:t>Every dependency in the platform needs to deliver its functionality with even tighter bounds.</a:t>
            </a:r>
          </a:p>
          <a:p>
            <a:r>
              <a:rPr lang="en-US" dirty="0" smtClean="0"/>
              <a:t>Example: service guaranteeing that it will provide a response within 300ms for 99.9% of its requests for a peak client load of 500 requests per second</a:t>
            </a:r>
          </a:p>
          <a:p>
            <a:r>
              <a:rPr lang="en-US" dirty="0" smtClean="0"/>
              <a:t>Contrast to services which focus on mean response time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08934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231300" y="1178286"/>
            <a:ext cx="3618524" cy="4649427"/>
          </a:xfrm>
        </p:spPr>
      </p:pic>
      <p:sp>
        <p:nvSpPr>
          <p:cNvPr id="508936" name="Text Box 8"/>
          <p:cNvSpPr txBox="1">
            <a:spLocks noChangeArrowheads="1"/>
          </p:cNvSpPr>
          <p:nvPr/>
        </p:nvSpPr>
        <p:spPr bwMode="auto">
          <a:xfrm>
            <a:off x="5699125" y="5827713"/>
            <a:ext cx="26828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08937" name="Text Box 9"/>
          <p:cNvSpPr txBox="1">
            <a:spLocks noChangeArrowheads="1"/>
          </p:cNvSpPr>
          <p:nvPr/>
        </p:nvSpPr>
        <p:spPr bwMode="auto">
          <a:xfrm>
            <a:off x="5257800" y="5827713"/>
            <a:ext cx="3689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b="1" dirty="0"/>
              <a:t>Service-oriented architecture of </a:t>
            </a:r>
            <a:r>
              <a:rPr lang="en-US" b="1" dirty="0" smtClean="0"/>
              <a:t>Amazon’s </a:t>
            </a:r>
            <a:r>
              <a:rPr lang="en-US" b="1" dirty="0"/>
              <a:t>platform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517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Replication</a:t>
            </a:r>
          </a:p>
        </p:txBody>
      </p:sp>
      <p:sp>
        <p:nvSpPr>
          <p:cNvPr id="524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6610" y="762000"/>
            <a:ext cx="8834510" cy="6096000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/>
              <a:t>Each data item is replicated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at </a:t>
            </a:r>
            <a:r>
              <a:rPr lang="en-US" sz="2400" dirty="0" smtClean="0">
                <a:solidFill>
                  <a:srgbClr val="FF0000"/>
                </a:solidFill>
              </a:rPr>
              <a:t>N </a:t>
            </a:r>
            <a:r>
              <a:rPr lang="en-US" sz="2400" dirty="0" smtClean="0"/>
              <a:t>hosts</a:t>
            </a:r>
            <a:endParaRPr lang="en-US" sz="2400" dirty="0"/>
          </a:p>
          <a:p>
            <a:r>
              <a:rPr lang="en-US" sz="2400" dirty="0"/>
              <a:t>“</a:t>
            </a:r>
            <a:r>
              <a:rPr lang="en-US" sz="2400" i="1" dirty="0"/>
              <a:t>preference list</a:t>
            </a:r>
            <a:r>
              <a:rPr lang="en-US" sz="2400" dirty="0"/>
              <a:t>”: The list of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nodes responsible </a:t>
            </a:r>
            <a:r>
              <a:rPr lang="en-US" sz="2400" dirty="0"/>
              <a:t>for storing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a </a:t>
            </a:r>
            <a:r>
              <a:rPr lang="en-US" sz="2400" dirty="0"/>
              <a:t>particular </a:t>
            </a:r>
            <a:r>
              <a:rPr lang="en-US" sz="2400" dirty="0" smtClean="0"/>
              <a:t>key</a:t>
            </a:r>
          </a:p>
          <a:p>
            <a:pPr lvl="1"/>
            <a:r>
              <a:rPr lang="en-US" dirty="0" smtClean="0"/>
              <a:t>Successive nodes not guaranteed </a:t>
            </a:r>
            <a:br>
              <a:rPr lang="en-US" dirty="0" smtClean="0"/>
            </a:br>
            <a:r>
              <a:rPr lang="en-US" dirty="0" smtClean="0"/>
              <a:t>to be on different physical nodes</a:t>
            </a:r>
          </a:p>
          <a:p>
            <a:pPr lvl="1"/>
            <a:r>
              <a:rPr lang="en-US" sz="2000" dirty="0" smtClean="0"/>
              <a:t>Thus preference list includes physically distinct nodes</a:t>
            </a:r>
          </a:p>
          <a:p>
            <a:r>
              <a:rPr lang="en-US" sz="2400" dirty="0" smtClean="0"/>
              <a:t>Sloppy Quorum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 (or 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) </a:t>
            </a:r>
            <a:r>
              <a:rPr lang="en-US" dirty="0"/>
              <a:t>is the minimum number of nodes that must participate in a successful </a:t>
            </a:r>
            <a:r>
              <a:rPr lang="en-US" dirty="0" smtClean="0">
                <a:solidFill>
                  <a:srgbClr val="FF0000"/>
                </a:solidFill>
              </a:rPr>
              <a:t>read</a:t>
            </a:r>
            <a:r>
              <a:rPr lang="en-US" dirty="0" smtClean="0"/>
              <a:t> (or </a:t>
            </a:r>
            <a:r>
              <a:rPr lang="en-US" dirty="0" smtClean="0">
                <a:solidFill>
                  <a:srgbClr val="FF0000"/>
                </a:solidFill>
              </a:rPr>
              <a:t>write</a:t>
            </a:r>
            <a:r>
              <a:rPr lang="en-US" dirty="0" smtClean="0"/>
              <a:t>) </a:t>
            </a:r>
            <a:r>
              <a:rPr lang="en-US" dirty="0"/>
              <a:t>operation.</a:t>
            </a:r>
          </a:p>
          <a:p>
            <a:pPr lvl="1"/>
            <a:r>
              <a:rPr lang="en-US" dirty="0"/>
              <a:t>Setting </a:t>
            </a:r>
            <a:r>
              <a:rPr lang="en-US" dirty="0">
                <a:solidFill>
                  <a:srgbClr val="FF0000"/>
                </a:solidFill>
              </a:rPr>
              <a:t>R + W &gt; N </a:t>
            </a:r>
            <a:r>
              <a:rPr lang="en-US" dirty="0"/>
              <a:t>yields a quorum-like system.</a:t>
            </a:r>
          </a:p>
          <a:p>
            <a:pPr lvl="1"/>
            <a:r>
              <a:rPr lang="en-US" dirty="0" smtClean="0"/>
              <a:t>Latency </a:t>
            </a:r>
            <a:r>
              <a:rPr lang="en-US" dirty="0"/>
              <a:t>of a get (or put) </a:t>
            </a:r>
            <a:r>
              <a:rPr lang="en-US" dirty="0" smtClean="0"/>
              <a:t>is </a:t>
            </a:r>
            <a:r>
              <a:rPr lang="en-US" dirty="0"/>
              <a:t>dictated by the slowest of the R (or W) replicas. For this reason, R and W are usually configured to be less than N, to provide better latency.</a:t>
            </a:r>
          </a:p>
          <a:p>
            <a:r>
              <a:rPr lang="en-US" sz="2400" dirty="0" smtClean="0"/>
              <a:t>Replicas synchronized via anti-entropy protocol</a:t>
            </a:r>
          </a:p>
          <a:p>
            <a:pPr lvl="1"/>
            <a:r>
              <a:rPr lang="en-US" sz="2000" dirty="0" smtClean="0"/>
              <a:t>Use of </a:t>
            </a:r>
            <a:r>
              <a:rPr lang="en-US" sz="2000" dirty="0" err="1" smtClean="0"/>
              <a:t>Merkle</a:t>
            </a:r>
            <a:r>
              <a:rPr lang="en-US" sz="2000" dirty="0" smtClean="0"/>
              <a:t> tree for each unique range</a:t>
            </a:r>
          </a:p>
          <a:p>
            <a:pPr lvl="1"/>
            <a:r>
              <a:rPr lang="en-US" dirty="0" smtClean="0"/>
              <a:t>Nodes exchange root of trees for shared key range </a:t>
            </a:r>
            <a:endParaRPr lang="en-US" sz="2000" dirty="0" smtClean="0"/>
          </a:p>
          <a:p>
            <a:pPr lvl="1"/>
            <a:endParaRPr lang="en-US" sz="2000" dirty="0"/>
          </a:p>
          <a:p>
            <a:endParaRPr lang="en-US" sz="2400" i="1" dirty="0"/>
          </a:p>
        </p:txBody>
      </p:sp>
      <p:pic>
        <p:nvPicPr>
          <p:cNvPr id="524296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5321300" y="304800"/>
            <a:ext cx="3670300" cy="2774950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15396430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Versioning</a:t>
            </a:r>
          </a:p>
        </p:txBody>
      </p:sp>
      <p:sp>
        <p:nvSpPr>
          <p:cNvPr id="529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put() call may return to its caller before the update has been applied at all the replicas</a:t>
            </a:r>
          </a:p>
          <a:p>
            <a:r>
              <a:rPr lang="en-US" dirty="0"/>
              <a:t>A get() call may return many versions of the same object.</a:t>
            </a:r>
          </a:p>
          <a:p>
            <a:r>
              <a:rPr lang="en-US" dirty="0"/>
              <a:t>Challenge: </a:t>
            </a:r>
            <a:r>
              <a:rPr lang="en-US" sz="2000" dirty="0"/>
              <a:t>an object having distinct version sub-histories, which the system will need to reconcile in the future.</a:t>
            </a:r>
          </a:p>
          <a:p>
            <a:r>
              <a:rPr lang="en-US" dirty="0"/>
              <a:t>Solution: </a:t>
            </a:r>
            <a:r>
              <a:rPr lang="en-US" sz="2000" dirty="0"/>
              <a:t>uses vector clocks in order to capture causality between different versions of the same </a:t>
            </a:r>
            <a:r>
              <a:rPr lang="en-US" sz="2000" dirty="0" smtClean="0"/>
              <a:t>object</a:t>
            </a:r>
          </a:p>
          <a:p>
            <a:pPr lvl="1"/>
            <a:r>
              <a:rPr lang="en-US" dirty="0"/>
              <a:t>A vector clock is a list of (node, counter) </a:t>
            </a:r>
            <a:r>
              <a:rPr lang="en-US" dirty="0" smtClean="0"/>
              <a:t>pairs</a:t>
            </a:r>
            <a:endParaRPr lang="en-US" dirty="0"/>
          </a:p>
          <a:p>
            <a:pPr lvl="1"/>
            <a:r>
              <a:rPr lang="en-US" dirty="0"/>
              <a:t>Every version of every object is associated with one vector </a:t>
            </a:r>
            <a:r>
              <a:rPr lang="en-US" dirty="0" smtClean="0"/>
              <a:t>clock</a:t>
            </a:r>
            <a:endParaRPr lang="en-US" dirty="0"/>
          </a:p>
          <a:p>
            <a:pPr lvl="1"/>
            <a:r>
              <a:rPr lang="en-US" i="1" dirty="0"/>
              <a:t>If the counters on the first object’s clock are less-than-or-equal to all of the nodes in the second clock, then the first is an ancestor of the second and can be forgotten.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6371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clock example</a:t>
            </a:r>
          </a:p>
        </p:txBody>
      </p:sp>
      <p:pic>
        <p:nvPicPr>
          <p:cNvPr id="538630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743200" y="1219200"/>
            <a:ext cx="3436938" cy="4572000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28825285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0" y="-228600"/>
            <a:ext cx="7772400" cy="990600"/>
          </a:xfrm>
        </p:spPr>
        <p:txBody>
          <a:bodyPr/>
          <a:lstStyle/>
          <a:p>
            <a:r>
              <a:rPr lang="en-US" dirty="0" smtClean="0"/>
              <a:t>Conflicts (</a:t>
            </a:r>
            <a:r>
              <a:rPr lang="en-US" dirty="0" err="1" smtClean="0"/>
              <a:t>multiversion</a:t>
            </a:r>
            <a:r>
              <a:rPr lang="en-US" dirty="0" smtClean="0"/>
              <a:t> data)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21139" y="762000"/>
            <a:ext cx="8557098" cy="5488354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Client must resolve conflicts</a:t>
            </a:r>
          </a:p>
          <a:p>
            <a:pPr lvl="1"/>
            <a:r>
              <a:rPr lang="en-US" dirty="0" smtClean="0"/>
              <a:t>Only resolve conflicts on reads </a:t>
            </a:r>
          </a:p>
          <a:p>
            <a:pPr lvl="1"/>
            <a:r>
              <a:rPr lang="en-US" dirty="0" smtClean="0"/>
              <a:t>Different resolution options:</a:t>
            </a:r>
          </a:p>
          <a:p>
            <a:pPr lvl="2"/>
            <a:r>
              <a:rPr lang="en-US" dirty="0" smtClean="0"/>
              <a:t>Use vector clocks to decide based on history</a:t>
            </a:r>
          </a:p>
          <a:p>
            <a:pPr lvl="2"/>
            <a:r>
              <a:rPr lang="en-US" dirty="0" smtClean="0"/>
              <a:t>Use timestamps to pick latest version</a:t>
            </a:r>
          </a:p>
          <a:p>
            <a:pPr lvl="1"/>
            <a:r>
              <a:rPr lang="en-US" dirty="0" smtClean="0"/>
              <a:t>Examples given in paper:</a:t>
            </a:r>
          </a:p>
          <a:p>
            <a:pPr lvl="2"/>
            <a:r>
              <a:rPr lang="en-US" dirty="0" smtClean="0"/>
              <a:t>For shopping cart, simply merge different versions</a:t>
            </a:r>
          </a:p>
          <a:p>
            <a:pPr lvl="2"/>
            <a:r>
              <a:rPr lang="en-US" dirty="0" smtClean="0"/>
              <a:t>For customer’s session information, use latest version</a:t>
            </a:r>
          </a:p>
          <a:p>
            <a:pPr lvl="1"/>
            <a:r>
              <a:rPr lang="en-US" dirty="0" smtClean="0"/>
              <a:t>Stale versions returned on reads are updated (“read repair”)</a:t>
            </a:r>
          </a:p>
          <a:p>
            <a:r>
              <a:rPr lang="en-US" dirty="0" smtClean="0"/>
              <a:t>Vary N, R, W to match requirements of applications</a:t>
            </a:r>
          </a:p>
          <a:p>
            <a:pPr lvl="1"/>
            <a:r>
              <a:rPr lang="en-US" dirty="0" smtClean="0"/>
              <a:t>High performance reads: R=1, W=N</a:t>
            </a:r>
          </a:p>
          <a:p>
            <a:pPr lvl="1"/>
            <a:r>
              <a:rPr lang="en-US" dirty="0" smtClean="0"/>
              <a:t>Fast writes with possible inconsistency: W=1</a:t>
            </a:r>
          </a:p>
          <a:p>
            <a:pPr lvl="1"/>
            <a:r>
              <a:rPr lang="en-US" dirty="0" smtClean="0"/>
              <a:t>Common configuration: N=3, R=2, W=2</a:t>
            </a:r>
          </a:p>
          <a:p>
            <a:r>
              <a:rPr lang="en-US" dirty="0" smtClean="0"/>
              <a:t>When do branches occur?</a:t>
            </a:r>
          </a:p>
          <a:p>
            <a:pPr lvl="1"/>
            <a:r>
              <a:rPr lang="en-US" dirty="0" smtClean="0"/>
              <a:t>Branches uncommon: 0.06% of requests saw &gt; 1 version over 24 hours</a:t>
            </a:r>
          </a:p>
          <a:p>
            <a:pPr lvl="1"/>
            <a:r>
              <a:rPr lang="en-US" dirty="0" smtClean="0"/>
              <a:t>Divergence occurs because of high write rate (more coordinators), not necessarily because of failure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0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52400"/>
            <a:ext cx="7772400" cy="990600"/>
          </a:xfrm>
        </p:spPr>
        <p:txBody>
          <a:bodyPr/>
          <a:lstStyle/>
          <a:p>
            <a:r>
              <a:rPr lang="en-US" dirty="0" smtClean="0"/>
              <a:t>Haystack File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6096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Does it ever make sense to adapt a file system to a particular usage pattern?</a:t>
            </a:r>
          </a:p>
          <a:p>
            <a:pPr lvl="1"/>
            <a:r>
              <a:rPr lang="en-US" dirty="0" smtClean="0"/>
              <a:t>Perhaps</a:t>
            </a:r>
          </a:p>
          <a:p>
            <a:r>
              <a:rPr lang="en-US" dirty="0" smtClean="0"/>
              <a:t>Good example: Facebook’s “Haystack” </a:t>
            </a:r>
            <a:r>
              <a:rPr lang="en-US" dirty="0" err="1" smtClean="0"/>
              <a:t>filesystem</a:t>
            </a:r>
            <a:endParaRPr lang="en-US" dirty="0" smtClean="0"/>
          </a:p>
          <a:p>
            <a:pPr lvl="1"/>
            <a:r>
              <a:rPr lang="en-US" dirty="0" smtClean="0"/>
              <a:t>Specific </a:t>
            </a:r>
            <a:r>
              <a:rPr lang="en-US" dirty="0"/>
              <a:t>application (Photo Sharing)</a:t>
            </a:r>
          </a:p>
          <a:p>
            <a:pPr lvl="2"/>
            <a:r>
              <a:rPr lang="en-US" dirty="0"/>
              <a:t>Large files!, Many files!</a:t>
            </a:r>
          </a:p>
          <a:p>
            <a:pPr lvl="2"/>
            <a:r>
              <a:rPr lang="en-US" dirty="0"/>
              <a:t>260 Billion images, 20 </a:t>
            </a:r>
            <a:r>
              <a:rPr lang="en-US" dirty="0" err="1"/>
              <a:t>PetaBytes</a:t>
            </a:r>
            <a:r>
              <a:rPr lang="en-US" dirty="0"/>
              <a:t> (10</a:t>
            </a:r>
            <a:r>
              <a:rPr lang="en-US" baseline="30000" dirty="0"/>
              <a:t>15</a:t>
            </a:r>
            <a:r>
              <a:rPr lang="en-US" dirty="0"/>
              <a:t> bytes!)</a:t>
            </a:r>
          </a:p>
          <a:p>
            <a:pPr lvl="2"/>
            <a:r>
              <a:rPr lang="en-US" dirty="0"/>
              <a:t>One billion new photos a week (60 </a:t>
            </a:r>
            <a:r>
              <a:rPr lang="en-US" dirty="0" err="1"/>
              <a:t>TeraBytes</a:t>
            </a:r>
            <a:r>
              <a:rPr lang="en-US" dirty="0"/>
              <a:t>)</a:t>
            </a:r>
          </a:p>
          <a:p>
            <a:pPr lvl="1"/>
            <a:r>
              <a:rPr lang="en-US" dirty="0" smtClean="0"/>
              <a:t>Presence </a:t>
            </a:r>
            <a:r>
              <a:rPr lang="en-US" dirty="0"/>
              <a:t>of Content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Delivery Network (CDN)</a:t>
            </a:r>
          </a:p>
          <a:p>
            <a:pPr lvl="2"/>
            <a:r>
              <a:rPr lang="en-US" dirty="0" smtClean="0"/>
              <a:t>Distributed caching and </a:t>
            </a:r>
            <a:br>
              <a:rPr lang="en-US" dirty="0" smtClean="0"/>
            </a:br>
            <a:r>
              <a:rPr lang="en-US" dirty="0" smtClean="0"/>
              <a:t>distribution network</a:t>
            </a:r>
          </a:p>
          <a:p>
            <a:pPr lvl="2"/>
            <a:r>
              <a:rPr lang="en-US" dirty="0" smtClean="0"/>
              <a:t>Facebook web servers</a:t>
            </a:r>
            <a:r>
              <a:rPr lang="en-US" dirty="0"/>
              <a:t> </a:t>
            </a:r>
            <a:r>
              <a:rPr lang="en-US" dirty="0" smtClean="0"/>
              <a:t>return </a:t>
            </a:r>
            <a:br>
              <a:rPr lang="en-US" dirty="0" smtClean="0"/>
            </a:br>
            <a:r>
              <a:rPr lang="en-US" dirty="0" smtClean="0"/>
              <a:t>special URLs that encode </a:t>
            </a:r>
            <a:br>
              <a:rPr lang="en-US" dirty="0" smtClean="0"/>
            </a:br>
            <a:r>
              <a:rPr lang="en-US" dirty="0" smtClean="0"/>
              <a:t>requests to CDN</a:t>
            </a:r>
          </a:p>
          <a:p>
            <a:pPr lvl="2"/>
            <a:r>
              <a:rPr lang="en-US" dirty="0" smtClean="0"/>
              <a:t>Pay for service by bandwidth</a:t>
            </a:r>
            <a:endParaRPr lang="en-US" dirty="0"/>
          </a:p>
          <a:p>
            <a:pPr lvl="1"/>
            <a:r>
              <a:rPr lang="en-US" dirty="0" smtClean="0"/>
              <a:t>Specific usage </a:t>
            </a:r>
            <a:r>
              <a:rPr lang="en-US" dirty="0"/>
              <a:t>patterns:</a:t>
            </a:r>
          </a:p>
          <a:p>
            <a:pPr lvl="2"/>
            <a:r>
              <a:rPr lang="en-US" dirty="0"/>
              <a:t>New photos accessed a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lot </a:t>
            </a:r>
            <a:r>
              <a:rPr lang="en-US" dirty="0"/>
              <a:t>(caching well)</a:t>
            </a:r>
          </a:p>
          <a:p>
            <a:pPr lvl="2"/>
            <a:r>
              <a:rPr lang="en-US" dirty="0"/>
              <a:t>Old photos accessed little,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but likely </a:t>
            </a:r>
            <a:r>
              <a:rPr lang="en-US" dirty="0"/>
              <a:t>to be requested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at </a:t>
            </a:r>
            <a:r>
              <a:rPr lang="en-US" dirty="0"/>
              <a:t>any </a:t>
            </a:r>
            <a:r>
              <a:rPr lang="en-US" dirty="0" smtClean="0"/>
              <a:t>time </a:t>
            </a:r>
            <a:r>
              <a:rPr lang="en-US" dirty="0">
                <a:sym typeface="Symbol"/>
              </a:rPr>
              <a:t> NEEDLES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029200" y="3276600"/>
            <a:ext cx="3973513" cy="3352800"/>
            <a:chOff x="5094287" y="3200400"/>
            <a:chExt cx="3973513" cy="335280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4287" y="3200400"/>
              <a:ext cx="3973513" cy="2849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5977215" y="5906869"/>
              <a:ext cx="220765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Number of photos</a:t>
              </a:r>
              <a:br>
                <a:rPr lang="en-US" dirty="0" smtClean="0"/>
              </a:br>
              <a:r>
                <a:rPr lang="en-US" dirty="0" smtClean="0"/>
                <a:t>requested in day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308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52400"/>
            <a:ext cx="7772400" cy="990600"/>
          </a:xfrm>
        </p:spPr>
        <p:txBody>
          <a:bodyPr/>
          <a:lstStyle/>
          <a:p>
            <a:r>
              <a:rPr lang="en-US" dirty="0" smtClean="0"/>
              <a:t>Old Solution: NFS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8667749" cy="5943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Issues with this design?</a:t>
            </a:r>
          </a:p>
          <a:p>
            <a:r>
              <a:rPr lang="en-US" dirty="0" smtClean="0"/>
              <a:t>Long Tail </a:t>
            </a:r>
            <a:r>
              <a:rPr lang="en-US" dirty="0" smtClean="0">
                <a:sym typeface="Symbol"/>
              </a:rPr>
              <a:t> Caching does not</a:t>
            </a:r>
            <a:br>
              <a:rPr lang="en-US" dirty="0" smtClean="0">
                <a:sym typeface="Symbol"/>
              </a:rPr>
            </a:br>
            <a:r>
              <a:rPr lang="en-US" dirty="0" smtClean="0">
                <a:sym typeface="Symbol"/>
              </a:rPr>
              <a:t>work for most photos</a:t>
            </a:r>
          </a:p>
          <a:p>
            <a:pPr lvl="1"/>
            <a:r>
              <a:rPr lang="en-US" dirty="0" smtClean="0">
                <a:sym typeface="Symbol"/>
              </a:rPr>
              <a:t>Every access to back end storage</a:t>
            </a:r>
            <a:br>
              <a:rPr lang="en-US" dirty="0" smtClean="0">
                <a:sym typeface="Symbol"/>
              </a:rPr>
            </a:br>
            <a:r>
              <a:rPr lang="en-US" dirty="0" smtClean="0">
                <a:sym typeface="Symbol"/>
              </a:rPr>
              <a:t>must be </a:t>
            </a:r>
            <a:r>
              <a:rPr lang="en-US" i="1" dirty="0" smtClean="0">
                <a:sym typeface="Symbol"/>
              </a:rPr>
              <a:t>fast</a:t>
            </a:r>
            <a:r>
              <a:rPr lang="en-US" dirty="0" smtClean="0">
                <a:sym typeface="Symbol"/>
              </a:rPr>
              <a:t> without benefit of</a:t>
            </a:r>
            <a:br>
              <a:rPr lang="en-US" dirty="0" smtClean="0">
                <a:sym typeface="Symbol"/>
              </a:rPr>
            </a:br>
            <a:r>
              <a:rPr lang="en-US" dirty="0" smtClean="0">
                <a:sym typeface="Symbol"/>
              </a:rPr>
              <a:t>caching!</a:t>
            </a:r>
          </a:p>
          <a:p>
            <a:r>
              <a:rPr lang="en-US" dirty="0">
                <a:sym typeface="Symbol"/>
              </a:rPr>
              <a:t>Linear Directory scheme </a:t>
            </a:r>
            <a:r>
              <a:rPr lang="en-US" dirty="0" smtClean="0">
                <a:sym typeface="Symbol"/>
              </a:rPr>
              <a:t>works</a:t>
            </a:r>
            <a:br>
              <a:rPr lang="en-US" dirty="0" smtClean="0">
                <a:sym typeface="Symbol"/>
              </a:rPr>
            </a:br>
            <a:r>
              <a:rPr lang="en-US" dirty="0" smtClean="0">
                <a:sym typeface="Symbol"/>
              </a:rPr>
              <a:t>badly </a:t>
            </a:r>
            <a:r>
              <a:rPr lang="en-US" dirty="0">
                <a:sym typeface="Symbol"/>
              </a:rPr>
              <a:t>for many </a:t>
            </a:r>
            <a:r>
              <a:rPr lang="en-US" dirty="0" smtClean="0">
                <a:sym typeface="Symbol"/>
              </a:rPr>
              <a:t>photos/directory</a:t>
            </a:r>
          </a:p>
          <a:p>
            <a:pPr lvl="1"/>
            <a:r>
              <a:rPr lang="en-US" dirty="0" smtClean="0">
                <a:sym typeface="Symbol"/>
              </a:rPr>
              <a:t>Many disk operations to find </a:t>
            </a:r>
            <a:br>
              <a:rPr lang="en-US" dirty="0" smtClean="0">
                <a:sym typeface="Symbol"/>
              </a:rPr>
            </a:br>
            <a:r>
              <a:rPr lang="en-US" dirty="0" smtClean="0">
                <a:sym typeface="Symbol"/>
              </a:rPr>
              <a:t>even a single photo</a:t>
            </a:r>
          </a:p>
          <a:p>
            <a:pPr lvl="1"/>
            <a:r>
              <a:rPr lang="en-US" dirty="0" smtClean="0">
                <a:sym typeface="Symbol"/>
              </a:rPr>
              <a:t>Directory’s block map too big to cache in memory</a:t>
            </a:r>
          </a:p>
          <a:p>
            <a:pPr lvl="1"/>
            <a:r>
              <a:rPr lang="en-US" dirty="0" smtClean="0">
                <a:sym typeface="Symbol"/>
              </a:rPr>
              <a:t>“Fixed” by reducing directory size, however still not great</a:t>
            </a:r>
            <a:endParaRPr lang="en-US" dirty="0">
              <a:sym typeface="Symbol"/>
            </a:endParaRPr>
          </a:p>
          <a:p>
            <a:r>
              <a:rPr lang="en-US" dirty="0" smtClean="0">
                <a:sym typeface="Symbol"/>
              </a:rPr>
              <a:t>Meta-Data (FFS) requires ≥ 3 disk accesses per lookup</a:t>
            </a:r>
          </a:p>
          <a:p>
            <a:pPr lvl="1"/>
            <a:r>
              <a:rPr lang="en-US" dirty="0" smtClean="0">
                <a:sym typeface="Symbol"/>
              </a:rPr>
              <a:t>Caching all </a:t>
            </a:r>
            <a:r>
              <a:rPr lang="en-US" dirty="0" err="1" smtClean="0">
                <a:sym typeface="Symbol"/>
              </a:rPr>
              <a:t>iNodes</a:t>
            </a:r>
            <a:r>
              <a:rPr lang="en-US" dirty="0" smtClean="0">
                <a:sym typeface="Symbol"/>
              </a:rPr>
              <a:t> in memory might help, but </a:t>
            </a:r>
            <a:r>
              <a:rPr lang="en-US" dirty="0" err="1" smtClean="0">
                <a:sym typeface="Symbol"/>
              </a:rPr>
              <a:t>iNodes</a:t>
            </a:r>
            <a:r>
              <a:rPr lang="en-US" dirty="0" smtClean="0">
                <a:sym typeface="Symbol"/>
              </a:rPr>
              <a:t> are big</a:t>
            </a:r>
          </a:p>
          <a:p>
            <a:r>
              <a:rPr lang="en-US" dirty="0" smtClean="0">
                <a:sym typeface="Symbol"/>
              </a:rPr>
              <a:t>Fundamentally, Photo Storage different from other storage:</a:t>
            </a:r>
          </a:p>
          <a:p>
            <a:pPr lvl="1"/>
            <a:r>
              <a:rPr lang="en-US" dirty="0" smtClean="0">
                <a:sym typeface="Symbol"/>
              </a:rPr>
              <a:t>Normal file systems fine for developers, databases, </a:t>
            </a:r>
            <a:r>
              <a:rPr lang="en-US" dirty="0" err="1" smtClean="0">
                <a:sym typeface="Symbol"/>
              </a:rPr>
              <a:t>etc</a:t>
            </a:r>
            <a:endParaRPr lang="en-US" dirty="0" smtClean="0">
              <a:sym typeface="Symbol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034" y="771525"/>
            <a:ext cx="4175815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601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304800"/>
            <a:ext cx="7772400" cy="990600"/>
          </a:xfrm>
        </p:spPr>
        <p:txBody>
          <a:bodyPr/>
          <a:lstStyle/>
          <a:p>
            <a:r>
              <a:rPr lang="en-US" dirty="0" smtClean="0"/>
              <a:t>New Solution: Haystack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8955088" cy="6096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Finding a needle </a:t>
            </a:r>
            <a:br>
              <a:rPr lang="en-US" dirty="0" smtClean="0"/>
            </a:br>
            <a:r>
              <a:rPr lang="en-US" dirty="0" smtClean="0"/>
              <a:t>(old photo) in Haystack</a:t>
            </a:r>
          </a:p>
          <a:p>
            <a:r>
              <a:rPr lang="en-US" dirty="0" smtClean="0"/>
              <a:t>Differentiate between old</a:t>
            </a:r>
            <a:br>
              <a:rPr lang="en-US" dirty="0" smtClean="0"/>
            </a:br>
            <a:r>
              <a:rPr lang="en-US" dirty="0" smtClean="0"/>
              <a:t>and new photos</a:t>
            </a:r>
          </a:p>
          <a:p>
            <a:pPr lvl="1"/>
            <a:r>
              <a:rPr lang="en-US" dirty="0" smtClean="0"/>
              <a:t>How? By looking at “Writeable”</a:t>
            </a:r>
            <a:br>
              <a:rPr lang="en-US" dirty="0" smtClean="0"/>
            </a:br>
            <a:r>
              <a:rPr lang="en-US" dirty="0" err="1" smtClean="0"/>
              <a:t>vs</a:t>
            </a:r>
            <a:r>
              <a:rPr lang="en-US" dirty="0" smtClean="0"/>
              <a:t> “Read-only” volumes</a:t>
            </a:r>
          </a:p>
          <a:p>
            <a:pPr lvl="1"/>
            <a:r>
              <a:rPr lang="en-US" dirty="0" smtClean="0"/>
              <a:t>New Photos go to Writeable </a:t>
            </a:r>
            <a:br>
              <a:rPr lang="en-US" dirty="0" smtClean="0"/>
            </a:br>
            <a:r>
              <a:rPr lang="en-US" dirty="0" smtClean="0"/>
              <a:t>volumes</a:t>
            </a:r>
          </a:p>
          <a:p>
            <a:r>
              <a:rPr lang="en-US" dirty="0" smtClean="0"/>
              <a:t>Directory: Help locate photos</a:t>
            </a:r>
          </a:p>
          <a:p>
            <a:pPr lvl="1"/>
            <a:r>
              <a:rPr lang="en-US" dirty="0" smtClean="0"/>
              <a:t>Name (URL) of photo has </a:t>
            </a:r>
            <a:br>
              <a:rPr lang="en-US" dirty="0" smtClean="0"/>
            </a:br>
            <a:r>
              <a:rPr lang="en-US" dirty="0" smtClean="0"/>
              <a:t>embedded volume and photo ID</a:t>
            </a:r>
          </a:p>
          <a:p>
            <a:r>
              <a:rPr lang="en-US" dirty="0" smtClean="0"/>
              <a:t>Let CDN or Haystack Cache</a:t>
            </a:r>
            <a:br>
              <a:rPr lang="en-US" dirty="0" smtClean="0"/>
            </a:br>
            <a:r>
              <a:rPr lang="en-US" dirty="0" smtClean="0"/>
              <a:t>Serve new photos</a:t>
            </a:r>
          </a:p>
          <a:p>
            <a:pPr lvl="1"/>
            <a:r>
              <a:rPr lang="en-US" dirty="0" smtClean="0"/>
              <a:t>rather than forwarding them to </a:t>
            </a:r>
            <a:br>
              <a:rPr lang="en-US" dirty="0" smtClean="0"/>
            </a:br>
            <a:r>
              <a:rPr lang="en-US" dirty="0" smtClean="0"/>
              <a:t>Writeable volumes</a:t>
            </a:r>
          </a:p>
          <a:p>
            <a:r>
              <a:rPr lang="en-US" dirty="0" smtClean="0"/>
              <a:t>Haystack Store: Multiple “Physical Volumes”</a:t>
            </a:r>
          </a:p>
          <a:p>
            <a:pPr lvl="1"/>
            <a:r>
              <a:rPr lang="en-US" dirty="0" smtClean="0"/>
              <a:t>Physical volume is large file (100 GB) which stores millions of photos</a:t>
            </a:r>
          </a:p>
          <a:p>
            <a:pPr lvl="1"/>
            <a:r>
              <a:rPr lang="en-US" dirty="0" smtClean="0"/>
              <a:t>Data Accessed by Volume ID with offset into file</a:t>
            </a:r>
          </a:p>
          <a:p>
            <a:pPr lvl="1"/>
            <a:r>
              <a:rPr lang="en-US" dirty="0" smtClean="0"/>
              <a:t>Since Physical Volumes are large files, use XFS which is optimized for large files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685800"/>
            <a:ext cx="4600575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626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304800"/>
            <a:ext cx="7772400" cy="990600"/>
          </a:xfrm>
        </p:spPr>
        <p:txBody>
          <a:bodyPr/>
          <a:lstStyle/>
          <a:p>
            <a:r>
              <a:rPr lang="en-US" dirty="0" smtClean="0"/>
              <a:t>Haystack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572" y="3360298"/>
            <a:ext cx="8946228" cy="3421502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Each physical volume is stored as single file in XFS</a:t>
            </a:r>
          </a:p>
          <a:p>
            <a:pPr lvl="1"/>
            <a:r>
              <a:rPr lang="en-US" dirty="0" smtClean="0"/>
              <a:t>Superblock: General information about the volume</a:t>
            </a:r>
          </a:p>
          <a:p>
            <a:pPr lvl="1"/>
            <a:r>
              <a:rPr lang="en-US" dirty="0" smtClean="0"/>
              <a:t>Each photo (a “needle”) stored by appending to file</a:t>
            </a:r>
          </a:p>
          <a:p>
            <a:r>
              <a:rPr lang="en-US" dirty="0" smtClean="0"/>
              <a:t>Needles stored sequentially in file</a:t>
            </a:r>
          </a:p>
          <a:p>
            <a:pPr lvl="1"/>
            <a:r>
              <a:rPr lang="en-US" dirty="0" smtClean="0"/>
              <a:t>Naming: [Volume ID, Key, Alternate Key, Cookie]</a:t>
            </a:r>
          </a:p>
          <a:p>
            <a:pPr lvl="1"/>
            <a:r>
              <a:rPr lang="en-US" dirty="0" smtClean="0"/>
              <a:t>Cookie: random value to avoid guessing attacks</a:t>
            </a:r>
          </a:p>
          <a:p>
            <a:pPr lvl="1"/>
            <a:r>
              <a:rPr lang="en-US" dirty="0" smtClean="0"/>
              <a:t>Key: Unique 64-bit photo ID</a:t>
            </a:r>
          </a:p>
          <a:p>
            <a:pPr lvl="1"/>
            <a:r>
              <a:rPr lang="en-US" dirty="0" smtClean="0"/>
              <a:t>Alternate Key: four different sizes, ‘n’, ‘a’, ‘s’, ‘t’</a:t>
            </a:r>
          </a:p>
          <a:p>
            <a:r>
              <a:rPr lang="en-US" dirty="0" smtClean="0"/>
              <a:t>Deleted Needle Simply marked as “deleted”</a:t>
            </a:r>
          </a:p>
          <a:p>
            <a:pPr lvl="1"/>
            <a:r>
              <a:rPr lang="en-US" dirty="0" smtClean="0"/>
              <a:t>Overwritten Needle – new version appended at end</a:t>
            </a:r>
          </a:p>
          <a:p>
            <a:pPr lvl="1"/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609600"/>
            <a:ext cx="4114801" cy="2712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6872" y="690163"/>
            <a:ext cx="4183730" cy="251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9288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228600"/>
            <a:ext cx="7772400" cy="990600"/>
          </a:xfrm>
        </p:spPr>
        <p:txBody>
          <a:bodyPr/>
          <a:lstStyle/>
          <a:p>
            <a:r>
              <a:rPr lang="en-US" dirty="0" smtClean="0"/>
              <a:t>Haystack Details (</a:t>
            </a:r>
            <a:r>
              <a:rPr lang="en-US" dirty="0" err="1" smtClean="0"/>
              <a:t>Con’t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762000"/>
            <a:ext cx="8991600" cy="5867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Replication for reliability </a:t>
            </a:r>
            <a:br>
              <a:rPr lang="en-US" dirty="0" smtClean="0"/>
            </a:br>
            <a:r>
              <a:rPr lang="en-US" dirty="0" smtClean="0"/>
              <a:t>and performance:</a:t>
            </a:r>
          </a:p>
          <a:p>
            <a:pPr lvl="1"/>
            <a:r>
              <a:rPr lang="en-US" dirty="0" smtClean="0"/>
              <a:t>Multiple physical volumes </a:t>
            </a:r>
            <a:br>
              <a:rPr lang="en-US" dirty="0" smtClean="0"/>
            </a:br>
            <a:r>
              <a:rPr lang="en-US" dirty="0" smtClean="0"/>
              <a:t>combined into logical volume</a:t>
            </a:r>
          </a:p>
          <a:p>
            <a:pPr lvl="2"/>
            <a:r>
              <a:rPr lang="en-US" dirty="0" smtClean="0"/>
              <a:t>Factor of 3</a:t>
            </a:r>
          </a:p>
          <a:p>
            <a:pPr lvl="1"/>
            <a:r>
              <a:rPr lang="en-US" dirty="0" smtClean="0"/>
              <a:t>Four different sizes </a:t>
            </a:r>
          </a:p>
          <a:p>
            <a:pPr lvl="2"/>
            <a:r>
              <a:rPr lang="en-US" dirty="0" smtClean="0"/>
              <a:t>Thumbnails, Small, Medium, Large</a:t>
            </a:r>
          </a:p>
          <a:p>
            <a:r>
              <a:rPr lang="en-US" dirty="0" smtClean="0"/>
              <a:t>Lookup</a:t>
            </a:r>
          </a:p>
          <a:p>
            <a:pPr lvl="1"/>
            <a:r>
              <a:rPr lang="en-US" dirty="0" smtClean="0"/>
              <a:t>User requests Webpage</a:t>
            </a:r>
          </a:p>
          <a:p>
            <a:pPr lvl="1"/>
            <a:r>
              <a:rPr lang="en-US" dirty="0" smtClean="0"/>
              <a:t>Webserver returns URL of form:</a:t>
            </a:r>
          </a:p>
          <a:p>
            <a:pPr lvl="2"/>
            <a:r>
              <a:rPr lang="en-US" dirty="0" smtClean="0"/>
              <a:t>http://&lt;CDN&gt;/&lt;Cache&gt;/&lt;Machine id&gt;/&lt;Logical </a:t>
            </a:r>
            <a:r>
              <a:rPr lang="en-US" dirty="0" err="1" smtClean="0"/>
              <a:t>volume,photo</a:t>
            </a:r>
            <a:r>
              <a:rPr lang="en-US" dirty="0" smtClean="0"/>
              <a:t>&gt;</a:t>
            </a:r>
          </a:p>
          <a:p>
            <a:pPr lvl="2"/>
            <a:r>
              <a:rPr lang="en-US" dirty="0" smtClean="0"/>
              <a:t>Possibly reference cache only if old image</a:t>
            </a:r>
          </a:p>
          <a:p>
            <a:pPr lvl="1"/>
            <a:r>
              <a:rPr lang="en-US" dirty="0" smtClean="0"/>
              <a:t>CDN will strip off CDN reference if missing, forward to cache</a:t>
            </a:r>
          </a:p>
          <a:p>
            <a:pPr lvl="1"/>
            <a:r>
              <a:rPr lang="en-US" dirty="0" smtClean="0"/>
              <a:t>Cache will strip off cache reference and forward to Store</a:t>
            </a:r>
          </a:p>
          <a:p>
            <a:r>
              <a:rPr lang="en-US" dirty="0" smtClean="0"/>
              <a:t>In-memory </a:t>
            </a:r>
            <a:r>
              <a:rPr lang="en-US" dirty="0"/>
              <a:t>index </a:t>
            </a:r>
            <a:r>
              <a:rPr lang="en-US" dirty="0" smtClean="0"/>
              <a:t>on Store for </a:t>
            </a:r>
            <a:r>
              <a:rPr lang="en-US" dirty="0"/>
              <a:t>each volume </a:t>
            </a:r>
            <a:r>
              <a:rPr lang="en-US" dirty="0" smtClean="0"/>
              <a:t>map: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[Key, Alternate Key] </a:t>
            </a:r>
            <a:r>
              <a:rPr lang="en-US" dirty="0">
                <a:sym typeface="Symbol"/>
              </a:rPr>
              <a:t> Offset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811696"/>
            <a:ext cx="3886200" cy="3379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7896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52400"/>
            <a:ext cx="7772400" cy="990600"/>
          </a:xfrm>
        </p:spPr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534400" cy="6096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 smtClean="0"/>
              <a:t>Distributed </a:t>
            </a:r>
            <a:r>
              <a:rPr lang="en-US" altLang="ko-KR" dirty="0"/>
              <a:t>File System: </a:t>
            </a:r>
          </a:p>
          <a:p>
            <a:pPr lvl="1">
              <a:defRPr/>
            </a:pPr>
            <a:r>
              <a:rPr lang="en-US" altLang="ko-KR" dirty="0"/>
              <a:t>Transparent access to files stored on a remote disk</a:t>
            </a:r>
          </a:p>
          <a:p>
            <a:pPr lvl="1">
              <a:defRPr/>
            </a:pPr>
            <a:r>
              <a:rPr lang="en-US" altLang="ko-KR" dirty="0"/>
              <a:t>Caching for </a:t>
            </a:r>
            <a:r>
              <a:rPr lang="en-US" altLang="ko-KR" dirty="0" smtClean="0"/>
              <a:t>performance</a:t>
            </a:r>
          </a:p>
          <a:p>
            <a:pPr>
              <a:defRPr/>
            </a:pPr>
            <a:r>
              <a:rPr lang="en-US" altLang="ko-KR" dirty="0" smtClean="0"/>
              <a:t>Data De-Duplication: Caching based on data contents</a:t>
            </a:r>
          </a:p>
          <a:p>
            <a:pPr>
              <a:defRPr/>
            </a:pPr>
            <a:r>
              <a:rPr lang="en-US" altLang="ko-KR" dirty="0" smtClean="0"/>
              <a:t>Peer-to-Peer: </a:t>
            </a:r>
          </a:p>
          <a:p>
            <a:pPr lvl="1">
              <a:defRPr/>
            </a:pPr>
            <a:r>
              <a:rPr lang="en-US" altLang="ko-KR" dirty="0" smtClean="0"/>
              <a:t>Use of 100s or 1000s of nodes to keep higher performance or greater availability</a:t>
            </a:r>
          </a:p>
          <a:p>
            <a:pPr lvl="1">
              <a:defRPr/>
            </a:pPr>
            <a:r>
              <a:rPr lang="en-US" altLang="ko-KR" dirty="0" smtClean="0"/>
              <a:t>May need to relax consistency for better performance</a:t>
            </a:r>
          </a:p>
          <a:p>
            <a:r>
              <a:rPr lang="en-US" altLang="ko-KR" dirty="0"/>
              <a:t>Application-Specific File Systems (e.g. Haystack):</a:t>
            </a:r>
          </a:p>
          <a:p>
            <a:pPr lvl="1"/>
            <a:r>
              <a:rPr lang="en-US" altLang="ko-KR" dirty="0"/>
              <a:t>Optimize system for particular usage </a:t>
            </a:r>
            <a:r>
              <a:rPr lang="en-US" altLang="ko-KR" dirty="0" smtClean="0"/>
              <a:t>pattern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859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63086</TotalTime>
  <Words>3237</Words>
  <Application>Microsoft Macintosh PowerPoint</Application>
  <PresentationFormat>On-screen Show (4:3)</PresentationFormat>
  <Paragraphs>529</Paragraphs>
  <Slides>38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Comic Sans MS</vt:lpstr>
      <vt:lpstr>Courier New</vt:lpstr>
      <vt:lpstr>Helvetica</vt:lpstr>
      <vt:lpstr>Symbol</vt:lpstr>
      <vt:lpstr>Tahoma</vt:lpstr>
      <vt:lpstr>Times New Roman</vt:lpstr>
      <vt:lpstr>Wingdings</vt:lpstr>
      <vt:lpstr>굴림</vt:lpstr>
      <vt:lpstr>Arial</vt:lpstr>
      <vt:lpstr>Blueprint</vt:lpstr>
      <vt:lpstr>Distributed File Systems</vt:lpstr>
      <vt:lpstr>Recall: Network-Attached Storage and the CAP Theorem</vt:lpstr>
      <vt:lpstr>Network File System (NFS)</vt:lpstr>
      <vt:lpstr>NFS Continued</vt:lpstr>
      <vt:lpstr>NFS Cache consistency</vt:lpstr>
      <vt:lpstr>Sequential Ordering Constraints</vt:lpstr>
      <vt:lpstr>Schematic View of NFS Architecture </vt:lpstr>
      <vt:lpstr>Remote Procedure Call</vt:lpstr>
      <vt:lpstr>RPC Information Flow</vt:lpstr>
      <vt:lpstr>RPC Details</vt:lpstr>
      <vt:lpstr>RPC Details (continued)</vt:lpstr>
      <vt:lpstr>Problems with RPC</vt:lpstr>
      <vt:lpstr>Andrew File System</vt:lpstr>
      <vt:lpstr>Andrew File System (con’t)</vt:lpstr>
      <vt:lpstr>More Relaxed Consistency?</vt:lpstr>
      <vt:lpstr>Possible approaches to relaxed consistency</vt:lpstr>
      <vt:lpstr>Data Deduplication</vt:lpstr>
      <vt:lpstr>Data-based Caching (Data “De-Duplication”)</vt:lpstr>
      <vt:lpstr>Low Bandwidth File System</vt:lpstr>
      <vt:lpstr>How Effective is this technique?</vt:lpstr>
      <vt:lpstr>A different take: Why Peer-to-Peer ideas for storage?</vt:lpstr>
      <vt:lpstr>Peer-to-Peer: Fully equivalent components</vt:lpstr>
      <vt:lpstr>Routed queries (Freenet, Chord, Tapestry, etc.)</vt:lpstr>
      <vt:lpstr>Consistent hashing [Karger 97]</vt:lpstr>
      <vt:lpstr>Lookup with Leaf Set</vt:lpstr>
      <vt:lpstr>Advantages/Disadvantages of Consistent Hashing</vt:lpstr>
      <vt:lpstr>Dynamo Assumptions</vt:lpstr>
      <vt:lpstr>Service Level Agreements (SLA)</vt:lpstr>
      <vt:lpstr>Replication</vt:lpstr>
      <vt:lpstr>Data Versioning</vt:lpstr>
      <vt:lpstr>Vector clock example</vt:lpstr>
      <vt:lpstr>Conflicts (multiversion data)</vt:lpstr>
      <vt:lpstr>Haystack File System</vt:lpstr>
      <vt:lpstr>Old Solution: NFS</vt:lpstr>
      <vt:lpstr>New Solution: Haystack</vt:lpstr>
      <vt:lpstr>Haystack Details</vt:lpstr>
      <vt:lpstr>Haystack Details (Con’t)</vt:lpstr>
      <vt:lpstr>Summary</vt:lpstr>
    </vt:vector>
  </TitlesOfParts>
  <Company>Stanford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Games and the Impossibility of Realizable Ideal Functionality</dc:title>
  <dc:creator>Ante Derek</dc:creator>
  <cp:lastModifiedBy>Yinzhi Cao</cp:lastModifiedBy>
  <cp:revision>7065</cp:revision>
  <cp:lastPrinted>1998-03-10T18:42:22Z</cp:lastPrinted>
  <dcterms:created xsi:type="dcterms:W3CDTF">1997-09-07T20:51:32Z</dcterms:created>
  <dcterms:modified xsi:type="dcterms:W3CDTF">2016-03-01T15:50:21Z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C:\Documents\cs242\notes\web-slides</vt:lpwstr>
  </property>
</Properties>
</file>